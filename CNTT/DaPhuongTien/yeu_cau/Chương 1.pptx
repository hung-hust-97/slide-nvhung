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36"/>
  </p:notesMasterIdLst>
  <p:sldIdLst>
    <p:sldId id="267" r:id="rId3"/>
    <p:sldId id="302" r:id="rId4"/>
    <p:sldId id="268" r:id="rId5"/>
    <p:sldId id="269" r:id="rId6"/>
    <p:sldId id="270" r:id="rId7"/>
    <p:sldId id="271"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7" r:id="rId21"/>
    <p:sldId id="288" r:id="rId22"/>
    <p:sldId id="289" r:id="rId23"/>
    <p:sldId id="290" r:id="rId24"/>
    <p:sldId id="291" r:id="rId25"/>
    <p:sldId id="292" r:id="rId26"/>
    <p:sldId id="293" r:id="rId27"/>
    <p:sldId id="294" r:id="rId28"/>
    <p:sldId id="295" r:id="rId29"/>
    <p:sldId id="296" r:id="rId30"/>
    <p:sldId id="297" r:id="rId31"/>
    <p:sldId id="300" r:id="rId32"/>
    <p:sldId id="299" r:id="rId33"/>
    <p:sldId id="298" r:id="rId34"/>
    <p:sldId id="30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4F7"/>
    <a:srgbClr val="3B44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05" d="100"/>
          <a:sy n="105" d="100"/>
        </p:scale>
        <p:origin x="7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4EA69-4B77-4361-A78F-B68DC324DB45}"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3C2F89-9B9E-42F1-857B-F6C04482280F}" type="slidenum">
              <a:rPr lang="en-US" smtClean="0"/>
              <a:t>‹#›</a:t>
            </a:fld>
            <a:endParaRPr lang="en-US"/>
          </a:p>
        </p:txBody>
      </p:sp>
    </p:spTree>
    <p:extLst>
      <p:ext uri="{BB962C8B-B14F-4D97-AF65-F5344CB8AC3E}">
        <p14:creationId xmlns:p14="http://schemas.microsoft.com/office/powerpoint/2010/main" val="181485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F3C2F89-9B9E-42F1-857B-F6C04482280F}" type="slidenum">
              <a:rPr lang="en-US" smtClean="0"/>
              <a:t>3</a:t>
            </a:fld>
            <a:endParaRPr lang="en-US"/>
          </a:p>
        </p:txBody>
      </p:sp>
    </p:spTree>
    <p:extLst>
      <p:ext uri="{BB962C8B-B14F-4D97-AF65-F5344CB8AC3E}">
        <p14:creationId xmlns:p14="http://schemas.microsoft.com/office/powerpoint/2010/main" val="393232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7EA8-8432-6B03-2712-06C878DD29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5937E-CB70-8FC1-6B82-91F68B54F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D4CD3-5B8C-7B0D-67B2-18F3A3C1ED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89E966-DD8E-E7FF-7038-2E957341CC74}"/>
              </a:ext>
            </a:extLst>
          </p:cNvPr>
          <p:cNvSpPr>
            <a:spLocks noGrp="1"/>
          </p:cNvSpPr>
          <p:nvPr>
            <p:ph type="sldNum" sz="quarter" idx="5"/>
          </p:nvPr>
        </p:nvSpPr>
        <p:spPr/>
        <p:txBody>
          <a:bodyPr/>
          <a:lstStyle/>
          <a:p>
            <a:fld id="{9F3C2F89-9B9E-42F1-857B-F6C04482280F}" type="slidenum">
              <a:rPr lang="en-US" smtClean="0"/>
              <a:t>4</a:t>
            </a:fld>
            <a:endParaRPr lang="en-US"/>
          </a:p>
        </p:txBody>
      </p:sp>
    </p:spTree>
    <p:extLst>
      <p:ext uri="{BB962C8B-B14F-4D97-AF65-F5344CB8AC3E}">
        <p14:creationId xmlns:p14="http://schemas.microsoft.com/office/powerpoint/2010/main" val="2920578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F0395-C37F-DD26-FB45-23A389F00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E7467-F56E-10ED-D77E-B0ADD6DCB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AD72F-CC27-FD49-42E7-33AEA4C105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E370F7-552F-1453-628E-BC4A2C55574A}"/>
              </a:ext>
            </a:extLst>
          </p:cNvPr>
          <p:cNvSpPr>
            <a:spLocks noGrp="1"/>
          </p:cNvSpPr>
          <p:nvPr>
            <p:ph type="sldNum" sz="quarter" idx="5"/>
          </p:nvPr>
        </p:nvSpPr>
        <p:spPr/>
        <p:txBody>
          <a:bodyPr/>
          <a:lstStyle/>
          <a:p>
            <a:fld id="{9F3C2F89-9B9E-42F1-857B-F6C04482280F}" type="slidenum">
              <a:rPr lang="en-US" smtClean="0"/>
              <a:t>5</a:t>
            </a:fld>
            <a:endParaRPr lang="en-US"/>
          </a:p>
        </p:txBody>
      </p:sp>
    </p:spTree>
    <p:extLst>
      <p:ext uri="{BB962C8B-B14F-4D97-AF65-F5344CB8AC3E}">
        <p14:creationId xmlns:p14="http://schemas.microsoft.com/office/powerpoint/2010/main" val="3761008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182EA-C526-1747-AFC3-2446E5735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9234C-A2ED-FE52-BDA4-FB328A754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37CCB-C91A-6E53-F6BA-8CA6431613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C5D0E4-EA8B-F4C1-6746-ED9546F55071}"/>
              </a:ext>
            </a:extLst>
          </p:cNvPr>
          <p:cNvSpPr>
            <a:spLocks noGrp="1"/>
          </p:cNvSpPr>
          <p:nvPr>
            <p:ph type="sldNum" sz="quarter" idx="5"/>
          </p:nvPr>
        </p:nvSpPr>
        <p:spPr/>
        <p:txBody>
          <a:bodyPr/>
          <a:lstStyle/>
          <a:p>
            <a:fld id="{9F3C2F89-9B9E-42F1-857B-F6C04482280F}" type="slidenum">
              <a:rPr lang="en-US" smtClean="0"/>
              <a:t>6</a:t>
            </a:fld>
            <a:endParaRPr lang="en-US"/>
          </a:p>
        </p:txBody>
      </p:sp>
    </p:spTree>
    <p:extLst>
      <p:ext uri="{BB962C8B-B14F-4D97-AF65-F5344CB8AC3E}">
        <p14:creationId xmlns:p14="http://schemas.microsoft.com/office/powerpoint/2010/main" val="2783679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26EB-E78E-0E87-A2B1-79202BC45D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CFDFC-9945-F84E-C98C-AA82472A4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F3999-A3ED-3031-2C4F-89331C4DEB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0FFEEF-BD6B-A27E-A73F-9271DDF5A7A0}"/>
              </a:ext>
            </a:extLst>
          </p:cNvPr>
          <p:cNvSpPr>
            <a:spLocks noGrp="1"/>
          </p:cNvSpPr>
          <p:nvPr>
            <p:ph type="sldNum" sz="quarter" idx="5"/>
          </p:nvPr>
        </p:nvSpPr>
        <p:spPr/>
        <p:txBody>
          <a:bodyPr/>
          <a:lstStyle/>
          <a:p>
            <a:fld id="{9F3C2F89-9B9E-42F1-857B-F6C04482280F}" type="slidenum">
              <a:rPr lang="en-US" smtClean="0"/>
              <a:t>8</a:t>
            </a:fld>
            <a:endParaRPr lang="en-US"/>
          </a:p>
        </p:txBody>
      </p:sp>
    </p:spTree>
    <p:extLst>
      <p:ext uri="{BB962C8B-B14F-4D97-AF65-F5344CB8AC3E}">
        <p14:creationId xmlns:p14="http://schemas.microsoft.com/office/powerpoint/2010/main" val="171805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79A90-D87B-12DE-23E5-31C8429E9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EF4BC-4B6F-1C3E-FBF6-0142B27C2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FF84C-5EC2-F160-F90B-9D5277D578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E16F1C-5E5B-C563-2B95-60D605C429B5}"/>
              </a:ext>
            </a:extLst>
          </p:cNvPr>
          <p:cNvSpPr>
            <a:spLocks noGrp="1"/>
          </p:cNvSpPr>
          <p:nvPr>
            <p:ph type="sldNum" sz="quarter" idx="5"/>
          </p:nvPr>
        </p:nvSpPr>
        <p:spPr/>
        <p:txBody>
          <a:bodyPr/>
          <a:lstStyle/>
          <a:p>
            <a:fld id="{9F3C2F89-9B9E-42F1-857B-F6C04482280F}" type="slidenum">
              <a:rPr lang="en-US" smtClean="0"/>
              <a:t>9</a:t>
            </a:fld>
            <a:endParaRPr lang="en-US"/>
          </a:p>
        </p:txBody>
      </p:sp>
    </p:spTree>
    <p:extLst>
      <p:ext uri="{BB962C8B-B14F-4D97-AF65-F5344CB8AC3E}">
        <p14:creationId xmlns:p14="http://schemas.microsoft.com/office/powerpoint/2010/main" val="3939841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497D-8A65-20CF-883E-237E28B70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CF76D-7D5D-160C-E7AD-394697B63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3DF1B-4702-DC24-A291-36D4B9AE3F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67C93B-7D85-7EE2-8C2C-B96B2EE0B35A}"/>
              </a:ext>
            </a:extLst>
          </p:cNvPr>
          <p:cNvSpPr>
            <a:spLocks noGrp="1"/>
          </p:cNvSpPr>
          <p:nvPr>
            <p:ph type="sldNum" sz="quarter" idx="5"/>
          </p:nvPr>
        </p:nvSpPr>
        <p:spPr/>
        <p:txBody>
          <a:bodyPr/>
          <a:lstStyle/>
          <a:p>
            <a:fld id="{9F3C2F89-9B9E-42F1-857B-F6C04482280F}" type="slidenum">
              <a:rPr lang="en-US" smtClean="0"/>
              <a:t>10</a:t>
            </a:fld>
            <a:endParaRPr lang="en-US"/>
          </a:p>
        </p:txBody>
      </p:sp>
    </p:spTree>
    <p:extLst>
      <p:ext uri="{BB962C8B-B14F-4D97-AF65-F5344CB8AC3E}">
        <p14:creationId xmlns:p14="http://schemas.microsoft.com/office/powerpoint/2010/main" val="1715093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F80EB-2B28-10C6-124F-004EDE08A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23B65-12C1-3102-5A76-F9E19D798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B89C0-4FD6-DB1C-9668-85412A6286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C1E3D1-DD6C-5F30-EF4F-B92CB4367192}"/>
              </a:ext>
            </a:extLst>
          </p:cNvPr>
          <p:cNvSpPr>
            <a:spLocks noGrp="1"/>
          </p:cNvSpPr>
          <p:nvPr>
            <p:ph type="sldNum" sz="quarter" idx="5"/>
          </p:nvPr>
        </p:nvSpPr>
        <p:spPr/>
        <p:txBody>
          <a:bodyPr/>
          <a:lstStyle/>
          <a:p>
            <a:fld id="{9F3C2F89-9B9E-42F1-857B-F6C04482280F}" type="slidenum">
              <a:rPr lang="en-US" smtClean="0"/>
              <a:t>11</a:t>
            </a:fld>
            <a:endParaRPr lang="en-US"/>
          </a:p>
        </p:txBody>
      </p:sp>
    </p:spTree>
    <p:extLst>
      <p:ext uri="{BB962C8B-B14F-4D97-AF65-F5344CB8AC3E}">
        <p14:creationId xmlns:p14="http://schemas.microsoft.com/office/powerpoint/2010/main" val="3616035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28571-6678-900A-DE6B-33E9B15D6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3AE33-1DED-1794-4873-708AE38C7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3CF64-FB38-3C19-BB8F-A3AAA69F36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FFB692-03AF-57B9-93BE-B9B289B50E19}"/>
              </a:ext>
            </a:extLst>
          </p:cNvPr>
          <p:cNvSpPr>
            <a:spLocks noGrp="1"/>
          </p:cNvSpPr>
          <p:nvPr>
            <p:ph type="sldNum" sz="quarter" idx="5"/>
          </p:nvPr>
        </p:nvSpPr>
        <p:spPr/>
        <p:txBody>
          <a:bodyPr/>
          <a:lstStyle/>
          <a:p>
            <a:fld id="{9F3C2F89-9B9E-42F1-857B-F6C04482280F}" type="slidenum">
              <a:rPr lang="en-US" smtClean="0"/>
              <a:t>12</a:t>
            </a:fld>
            <a:endParaRPr lang="en-US"/>
          </a:p>
        </p:txBody>
      </p:sp>
    </p:spTree>
    <p:extLst>
      <p:ext uri="{BB962C8B-B14F-4D97-AF65-F5344CB8AC3E}">
        <p14:creationId xmlns:p14="http://schemas.microsoft.com/office/powerpoint/2010/main" val="396806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96980-920C-DA33-2DAB-A9C24C706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F27B7-519F-1087-0A3F-47944C653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9276A-2488-3116-3CEE-61CCCF1AFD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562AC2-1E50-8D3D-4884-A0952D599E14}"/>
              </a:ext>
            </a:extLst>
          </p:cNvPr>
          <p:cNvSpPr>
            <a:spLocks noGrp="1"/>
          </p:cNvSpPr>
          <p:nvPr>
            <p:ph type="sldNum" sz="quarter" idx="5"/>
          </p:nvPr>
        </p:nvSpPr>
        <p:spPr/>
        <p:txBody>
          <a:bodyPr/>
          <a:lstStyle/>
          <a:p>
            <a:fld id="{9F3C2F89-9B9E-42F1-857B-F6C04482280F}" type="slidenum">
              <a:rPr lang="en-US" smtClean="0"/>
              <a:t>13</a:t>
            </a:fld>
            <a:endParaRPr lang="en-US"/>
          </a:p>
        </p:txBody>
      </p:sp>
    </p:spTree>
    <p:extLst>
      <p:ext uri="{BB962C8B-B14F-4D97-AF65-F5344CB8AC3E}">
        <p14:creationId xmlns:p14="http://schemas.microsoft.com/office/powerpoint/2010/main" val="4198573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4E3F-E57C-5237-8501-C1C6FAA24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B79BF-E5EB-FEB0-2431-FB9C7902C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F9C5F-260F-4F39-B74E-3F85A78638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D67C44-CE95-56F3-EE54-38E1BC62486B}"/>
              </a:ext>
            </a:extLst>
          </p:cNvPr>
          <p:cNvSpPr>
            <a:spLocks noGrp="1"/>
          </p:cNvSpPr>
          <p:nvPr>
            <p:ph type="sldNum" sz="quarter" idx="5"/>
          </p:nvPr>
        </p:nvSpPr>
        <p:spPr/>
        <p:txBody>
          <a:bodyPr/>
          <a:lstStyle/>
          <a:p>
            <a:fld id="{9F3C2F89-9B9E-42F1-857B-F6C04482280F}" type="slidenum">
              <a:rPr lang="en-US" smtClean="0"/>
              <a:t>15</a:t>
            </a:fld>
            <a:endParaRPr lang="en-US"/>
          </a:p>
        </p:txBody>
      </p:sp>
    </p:spTree>
    <p:extLst>
      <p:ext uri="{BB962C8B-B14F-4D97-AF65-F5344CB8AC3E}">
        <p14:creationId xmlns:p14="http://schemas.microsoft.com/office/powerpoint/2010/main" val="3650516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7F53A-59B1-B675-4F08-0D61A44CB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D0228-9350-3E2A-D12C-C92261231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D881AB-A8B4-7484-9135-DFC3513543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14C8C6-B77C-8840-2863-1FE4B7733AA0}"/>
              </a:ext>
            </a:extLst>
          </p:cNvPr>
          <p:cNvSpPr>
            <a:spLocks noGrp="1"/>
          </p:cNvSpPr>
          <p:nvPr>
            <p:ph type="sldNum" sz="quarter" idx="5"/>
          </p:nvPr>
        </p:nvSpPr>
        <p:spPr/>
        <p:txBody>
          <a:bodyPr/>
          <a:lstStyle/>
          <a:p>
            <a:fld id="{9F3C2F89-9B9E-42F1-857B-F6C04482280F}" type="slidenum">
              <a:rPr lang="en-US" smtClean="0"/>
              <a:t>16</a:t>
            </a:fld>
            <a:endParaRPr lang="en-US"/>
          </a:p>
        </p:txBody>
      </p:sp>
    </p:spTree>
    <p:extLst>
      <p:ext uri="{BB962C8B-B14F-4D97-AF65-F5344CB8AC3E}">
        <p14:creationId xmlns:p14="http://schemas.microsoft.com/office/powerpoint/2010/main" val="4226861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8D4B-EB80-0FF6-738D-22261AB93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D3D0C-C754-844E-A276-54795679E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BC407-51CF-3D55-F105-2B9FCECC19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B57F15-FDE9-FF1F-9263-F8E3C668884B}"/>
              </a:ext>
            </a:extLst>
          </p:cNvPr>
          <p:cNvSpPr>
            <a:spLocks noGrp="1"/>
          </p:cNvSpPr>
          <p:nvPr>
            <p:ph type="sldNum" sz="quarter" idx="5"/>
          </p:nvPr>
        </p:nvSpPr>
        <p:spPr/>
        <p:txBody>
          <a:bodyPr/>
          <a:lstStyle/>
          <a:p>
            <a:fld id="{9F3C2F89-9B9E-42F1-857B-F6C04482280F}" type="slidenum">
              <a:rPr lang="en-US" smtClean="0"/>
              <a:t>17</a:t>
            </a:fld>
            <a:endParaRPr lang="en-US"/>
          </a:p>
        </p:txBody>
      </p:sp>
    </p:spTree>
    <p:extLst>
      <p:ext uri="{BB962C8B-B14F-4D97-AF65-F5344CB8AC3E}">
        <p14:creationId xmlns:p14="http://schemas.microsoft.com/office/powerpoint/2010/main" val="3070958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384D8-B4A0-A6FC-526B-0950A1692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4D4E5-A9FD-A1B8-6B1D-34BF2AA8E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1868E-A641-A3B6-F9EF-6551F9D504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FD8FCB-DA4E-7B09-D6DB-B7FD4FD5E1CB}"/>
              </a:ext>
            </a:extLst>
          </p:cNvPr>
          <p:cNvSpPr>
            <a:spLocks noGrp="1"/>
          </p:cNvSpPr>
          <p:nvPr>
            <p:ph type="sldNum" sz="quarter" idx="5"/>
          </p:nvPr>
        </p:nvSpPr>
        <p:spPr/>
        <p:txBody>
          <a:bodyPr/>
          <a:lstStyle/>
          <a:p>
            <a:fld id="{9F3C2F89-9B9E-42F1-857B-F6C04482280F}" type="slidenum">
              <a:rPr lang="en-US" smtClean="0"/>
              <a:t>18</a:t>
            </a:fld>
            <a:endParaRPr lang="en-US"/>
          </a:p>
        </p:txBody>
      </p:sp>
    </p:spTree>
    <p:extLst>
      <p:ext uri="{BB962C8B-B14F-4D97-AF65-F5344CB8AC3E}">
        <p14:creationId xmlns:p14="http://schemas.microsoft.com/office/powerpoint/2010/main" val="2602144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1A2B-F406-10F3-5A35-30F4916C1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A441E-4C47-C8FA-2869-0739E46C18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BF7C71-DA90-0631-3E75-43111B983D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C7CB86-288B-5D52-EE58-15EE4D1D2623}"/>
              </a:ext>
            </a:extLst>
          </p:cNvPr>
          <p:cNvSpPr>
            <a:spLocks noGrp="1"/>
          </p:cNvSpPr>
          <p:nvPr>
            <p:ph type="sldNum" sz="quarter" idx="5"/>
          </p:nvPr>
        </p:nvSpPr>
        <p:spPr/>
        <p:txBody>
          <a:bodyPr/>
          <a:lstStyle/>
          <a:p>
            <a:fld id="{9F3C2F89-9B9E-42F1-857B-F6C04482280F}" type="slidenum">
              <a:rPr lang="en-US" smtClean="0"/>
              <a:t>19</a:t>
            </a:fld>
            <a:endParaRPr lang="en-US"/>
          </a:p>
        </p:txBody>
      </p:sp>
    </p:spTree>
    <p:extLst>
      <p:ext uri="{BB962C8B-B14F-4D97-AF65-F5344CB8AC3E}">
        <p14:creationId xmlns:p14="http://schemas.microsoft.com/office/powerpoint/2010/main" val="2446846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25162-7302-9B0C-7CC3-0F7056BC1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90CF3-372F-7813-77C5-9745B0421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DB516-3253-F9F7-0008-4CFB28DA14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044FEE-BB70-436E-8BE1-8EB2207D5A57}"/>
              </a:ext>
            </a:extLst>
          </p:cNvPr>
          <p:cNvSpPr>
            <a:spLocks noGrp="1"/>
          </p:cNvSpPr>
          <p:nvPr>
            <p:ph type="sldNum" sz="quarter" idx="5"/>
          </p:nvPr>
        </p:nvSpPr>
        <p:spPr/>
        <p:txBody>
          <a:bodyPr/>
          <a:lstStyle/>
          <a:p>
            <a:fld id="{9F3C2F89-9B9E-42F1-857B-F6C04482280F}" type="slidenum">
              <a:rPr lang="en-US" smtClean="0"/>
              <a:t>20</a:t>
            </a:fld>
            <a:endParaRPr lang="en-US"/>
          </a:p>
        </p:txBody>
      </p:sp>
    </p:spTree>
    <p:extLst>
      <p:ext uri="{BB962C8B-B14F-4D97-AF65-F5344CB8AC3E}">
        <p14:creationId xmlns:p14="http://schemas.microsoft.com/office/powerpoint/2010/main" val="42540539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C271-B6C8-1222-DFC7-AACA7348A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CF4A2-887E-5E85-56C5-8AAEDE97A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FAE7E-FACB-907C-A7B2-989B71D7AA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3279D5-80BA-E9BE-8CCD-361BDEA06237}"/>
              </a:ext>
            </a:extLst>
          </p:cNvPr>
          <p:cNvSpPr>
            <a:spLocks noGrp="1"/>
          </p:cNvSpPr>
          <p:nvPr>
            <p:ph type="sldNum" sz="quarter" idx="5"/>
          </p:nvPr>
        </p:nvSpPr>
        <p:spPr/>
        <p:txBody>
          <a:bodyPr/>
          <a:lstStyle/>
          <a:p>
            <a:fld id="{9F3C2F89-9B9E-42F1-857B-F6C04482280F}" type="slidenum">
              <a:rPr lang="en-US" smtClean="0"/>
              <a:t>21</a:t>
            </a:fld>
            <a:endParaRPr lang="en-US"/>
          </a:p>
        </p:txBody>
      </p:sp>
    </p:spTree>
    <p:extLst>
      <p:ext uri="{BB962C8B-B14F-4D97-AF65-F5344CB8AC3E}">
        <p14:creationId xmlns:p14="http://schemas.microsoft.com/office/powerpoint/2010/main" val="822906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ECCD6-A80F-A386-4B81-9029DC0A9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32EC4-28E2-DE7F-E4C3-C61116A4F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13E90-5FE0-2937-74A4-24CEE4ED3F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EA72B6-B801-A020-302B-E11419A7DF74}"/>
              </a:ext>
            </a:extLst>
          </p:cNvPr>
          <p:cNvSpPr>
            <a:spLocks noGrp="1"/>
          </p:cNvSpPr>
          <p:nvPr>
            <p:ph type="sldNum" sz="quarter" idx="5"/>
          </p:nvPr>
        </p:nvSpPr>
        <p:spPr/>
        <p:txBody>
          <a:bodyPr/>
          <a:lstStyle/>
          <a:p>
            <a:fld id="{9F3C2F89-9B9E-42F1-857B-F6C04482280F}" type="slidenum">
              <a:rPr lang="en-US" smtClean="0"/>
              <a:t>23</a:t>
            </a:fld>
            <a:endParaRPr lang="en-US"/>
          </a:p>
        </p:txBody>
      </p:sp>
    </p:spTree>
    <p:extLst>
      <p:ext uri="{BB962C8B-B14F-4D97-AF65-F5344CB8AC3E}">
        <p14:creationId xmlns:p14="http://schemas.microsoft.com/office/powerpoint/2010/main" val="2218612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42AE3-288C-94EE-13F0-600754D69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543AE-BE53-6588-1552-0A2BDB9A7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38623-4F1A-18EA-9415-89C54E5464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91D128-DDB6-BEB3-85B5-3FC7FE38F268}"/>
              </a:ext>
            </a:extLst>
          </p:cNvPr>
          <p:cNvSpPr>
            <a:spLocks noGrp="1"/>
          </p:cNvSpPr>
          <p:nvPr>
            <p:ph type="sldNum" sz="quarter" idx="5"/>
          </p:nvPr>
        </p:nvSpPr>
        <p:spPr/>
        <p:txBody>
          <a:bodyPr/>
          <a:lstStyle/>
          <a:p>
            <a:fld id="{9F3C2F89-9B9E-42F1-857B-F6C04482280F}" type="slidenum">
              <a:rPr lang="en-US" smtClean="0"/>
              <a:t>24</a:t>
            </a:fld>
            <a:endParaRPr lang="en-US"/>
          </a:p>
        </p:txBody>
      </p:sp>
    </p:spTree>
    <p:extLst>
      <p:ext uri="{BB962C8B-B14F-4D97-AF65-F5344CB8AC3E}">
        <p14:creationId xmlns:p14="http://schemas.microsoft.com/office/powerpoint/2010/main" val="2968321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54ECE-7526-8B57-614A-2926A5ED6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7554C-BCB7-C7E0-DFB8-900492AFA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E416A-50C4-D0B4-BD96-6B55005FFC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603AFD-467E-467A-07C8-22BFC2F1A0C2}"/>
              </a:ext>
            </a:extLst>
          </p:cNvPr>
          <p:cNvSpPr>
            <a:spLocks noGrp="1"/>
          </p:cNvSpPr>
          <p:nvPr>
            <p:ph type="sldNum" sz="quarter" idx="5"/>
          </p:nvPr>
        </p:nvSpPr>
        <p:spPr/>
        <p:txBody>
          <a:bodyPr/>
          <a:lstStyle/>
          <a:p>
            <a:fld id="{9F3C2F89-9B9E-42F1-857B-F6C04482280F}" type="slidenum">
              <a:rPr lang="en-US" smtClean="0"/>
              <a:t>25</a:t>
            </a:fld>
            <a:endParaRPr lang="en-US"/>
          </a:p>
        </p:txBody>
      </p:sp>
    </p:spTree>
    <p:extLst>
      <p:ext uri="{BB962C8B-B14F-4D97-AF65-F5344CB8AC3E}">
        <p14:creationId xmlns:p14="http://schemas.microsoft.com/office/powerpoint/2010/main" val="3013482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107E9-999A-F99E-EAE1-236F2304D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18EC8-0017-A7B3-881E-291BE6C62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35407-979C-3693-1FCF-CFBEAF6C73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1DF982-61CC-9B18-2594-9EF3584DDCA7}"/>
              </a:ext>
            </a:extLst>
          </p:cNvPr>
          <p:cNvSpPr>
            <a:spLocks noGrp="1"/>
          </p:cNvSpPr>
          <p:nvPr>
            <p:ph type="sldNum" sz="quarter" idx="5"/>
          </p:nvPr>
        </p:nvSpPr>
        <p:spPr/>
        <p:txBody>
          <a:bodyPr/>
          <a:lstStyle/>
          <a:p>
            <a:fld id="{9F3C2F89-9B9E-42F1-857B-F6C04482280F}" type="slidenum">
              <a:rPr lang="en-US" smtClean="0"/>
              <a:t>26</a:t>
            </a:fld>
            <a:endParaRPr lang="en-US"/>
          </a:p>
        </p:txBody>
      </p:sp>
    </p:spTree>
    <p:extLst>
      <p:ext uri="{BB962C8B-B14F-4D97-AF65-F5344CB8AC3E}">
        <p14:creationId xmlns:p14="http://schemas.microsoft.com/office/powerpoint/2010/main" val="3509905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3653-BBF0-53A0-66A8-BD431EFAA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BE174-DF27-4734-8617-4E1B1CAA1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DC820-B6DF-9541-9F36-72CD3D9660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7854F8-D89C-0DCE-9EB9-826F4625B00E}"/>
              </a:ext>
            </a:extLst>
          </p:cNvPr>
          <p:cNvSpPr>
            <a:spLocks noGrp="1"/>
          </p:cNvSpPr>
          <p:nvPr>
            <p:ph type="sldNum" sz="quarter" idx="5"/>
          </p:nvPr>
        </p:nvSpPr>
        <p:spPr/>
        <p:txBody>
          <a:bodyPr/>
          <a:lstStyle/>
          <a:p>
            <a:fld id="{9F3C2F89-9B9E-42F1-857B-F6C04482280F}" type="slidenum">
              <a:rPr lang="en-US" smtClean="0"/>
              <a:t>27</a:t>
            </a:fld>
            <a:endParaRPr lang="en-US"/>
          </a:p>
        </p:txBody>
      </p:sp>
    </p:spTree>
    <p:extLst>
      <p:ext uri="{BB962C8B-B14F-4D97-AF65-F5344CB8AC3E}">
        <p14:creationId xmlns:p14="http://schemas.microsoft.com/office/powerpoint/2010/main" val="2050191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4D496-5725-D191-8AE7-59D818AB4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7D31C-6F1D-ADCB-F082-62413B2F8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9BB79-B818-7AA2-BF40-44456B038B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B2C478-CB78-7697-54C3-6BCD302DA6B2}"/>
              </a:ext>
            </a:extLst>
          </p:cNvPr>
          <p:cNvSpPr>
            <a:spLocks noGrp="1"/>
          </p:cNvSpPr>
          <p:nvPr>
            <p:ph type="sldNum" sz="quarter" idx="5"/>
          </p:nvPr>
        </p:nvSpPr>
        <p:spPr/>
        <p:txBody>
          <a:bodyPr/>
          <a:lstStyle/>
          <a:p>
            <a:fld id="{9F3C2F89-9B9E-42F1-857B-F6C04482280F}" type="slidenum">
              <a:rPr lang="en-US" smtClean="0"/>
              <a:t>28</a:t>
            </a:fld>
            <a:endParaRPr lang="en-US"/>
          </a:p>
        </p:txBody>
      </p:sp>
    </p:spTree>
    <p:extLst>
      <p:ext uri="{BB962C8B-B14F-4D97-AF65-F5344CB8AC3E}">
        <p14:creationId xmlns:p14="http://schemas.microsoft.com/office/powerpoint/2010/main" val="17281042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14B8C-72DF-5A8F-119D-439E89547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BC23E-25BE-C3CA-BEFE-F86998902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82652-8151-F307-37CE-42AEFE5458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AA1F59-99AE-AA79-88F4-541A89243AC3}"/>
              </a:ext>
            </a:extLst>
          </p:cNvPr>
          <p:cNvSpPr>
            <a:spLocks noGrp="1"/>
          </p:cNvSpPr>
          <p:nvPr>
            <p:ph type="sldNum" sz="quarter" idx="5"/>
          </p:nvPr>
        </p:nvSpPr>
        <p:spPr/>
        <p:txBody>
          <a:bodyPr/>
          <a:lstStyle/>
          <a:p>
            <a:fld id="{9F3C2F89-9B9E-42F1-857B-F6C04482280F}" type="slidenum">
              <a:rPr lang="en-US" smtClean="0"/>
              <a:t>29</a:t>
            </a:fld>
            <a:endParaRPr lang="en-US"/>
          </a:p>
        </p:txBody>
      </p:sp>
    </p:spTree>
    <p:extLst>
      <p:ext uri="{BB962C8B-B14F-4D97-AF65-F5344CB8AC3E}">
        <p14:creationId xmlns:p14="http://schemas.microsoft.com/office/powerpoint/2010/main" val="3929459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2B91-F75A-21C2-CBB6-B725ADEE8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BF9AB-F7E8-05E6-3111-C2ECBD653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C52CB-C731-BC50-EE3F-BE0AF4B3CC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8A855C-2773-9190-9B91-15D59629565A}"/>
              </a:ext>
            </a:extLst>
          </p:cNvPr>
          <p:cNvSpPr>
            <a:spLocks noGrp="1"/>
          </p:cNvSpPr>
          <p:nvPr>
            <p:ph type="sldNum" sz="quarter" idx="5"/>
          </p:nvPr>
        </p:nvSpPr>
        <p:spPr/>
        <p:txBody>
          <a:bodyPr/>
          <a:lstStyle/>
          <a:p>
            <a:fld id="{9F3C2F89-9B9E-42F1-857B-F6C04482280F}" type="slidenum">
              <a:rPr lang="en-US" smtClean="0"/>
              <a:t>30</a:t>
            </a:fld>
            <a:endParaRPr lang="en-US"/>
          </a:p>
        </p:txBody>
      </p:sp>
    </p:spTree>
    <p:extLst>
      <p:ext uri="{BB962C8B-B14F-4D97-AF65-F5344CB8AC3E}">
        <p14:creationId xmlns:p14="http://schemas.microsoft.com/office/powerpoint/2010/main" val="3265147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028E7-663E-A20C-8B73-DA84D2D3C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3CC40-C1A0-7A11-82AE-67B3C12A9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7AE6D-E5FD-5294-6F6F-B9C59FC361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CCAA46-FB26-3CC4-35C9-EC00E330CA66}"/>
              </a:ext>
            </a:extLst>
          </p:cNvPr>
          <p:cNvSpPr>
            <a:spLocks noGrp="1"/>
          </p:cNvSpPr>
          <p:nvPr>
            <p:ph type="sldNum" sz="quarter" idx="5"/>
          </p:nvPr>
        </p:nvSpPr>
        <p:spPr/>
        <p:txBody>
          <a:bodyPr/>
          <a:lstStyle/>
          <a:p>
            <a:fld id="{9F3C2F89-9B9E-42F1-857B-F6C04482280F}" type="slidenum">
              <a:rPr lang="en-US" smtClean="0"/>
              <a:t>32</a:t>
            </a:fld>
            <a:endParaRPr lang="en-US"/>
          </a:p>
        </p:txBody>
      </p:sp>
    </p:spTree>
    <p:extLst>
      <p:ext uri="{BB962C8B-B14F-4D97-AF65-F5344CB8AC3E}">
        <p14:creationId xmlns:p14="http://schemas.microsoft.com/office/powerpoint/2010/main" val="14339553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DCBD-D096-EB2E-4AC2-3CAF7F436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7F53C-3B7E-24C0-F047-7D0FA4CF2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584DC-24B8-B29E-D3D3-B54F7CCFA1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933738-8F93-CE3D-B74E-E5C6F293C746}"/>
              </a:ext>
            </a:extLst>
          </p:cNvPr>
          <p:cNvSpPr>
            <a:spLocks noGrp="1"/>
          </p:cNvSpPr>
          <p:nvPr>
            <p:ph type="sldNum" sz="quarter" idx="5"/>
          </p:nvPr>
        </p:nvSpPr>
        <p:spPr/>
        <p:txBody>
          <a:bodyPr/>
          <a:lstStyle/>
          <a:p>
            <a:fld id="{9F3C2F89-9B9E-42F1-857B-F6C04482280F}" type="slidenum">
              <a:rPr lang="en-US" smtClean="0"/>
              <a:t>33</a:t>
            </a:fld>
            <a:endParaRPr lang="en-US"/>
          </a:p>
        </p:txBody>
      </p:sp>
    </p:spTree>
    <p:extLst>
      <p:ext uri="{BB962C8B-B14F-4D97-AF65-F5344CB8AC3E}">
        <p14:creationId xmlns:p14="http://schemas.microsoft.com/office/powerpoint/2010/main" val="2117788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620112" y="2164702"/>
            <a:ext cx="10800557" cy="2194234"/>
          </a:xfrm>
          <a:prstGeom prst="rect">
            <a:avLst/>
          </a:prstGeom>
        </p:spPr>
        <p:txBody>
          <a:bodyPr/>
          <a:lstStyle>
            <a:lvl1pPr marL="0" indent="0" algn="ctr">
              <a:buNone/>
              <a:defRPr sz="480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620112" y="4433672"/>
            <a:ext cx="10800557" cy="412750"/>
          </a:xfrm>
          <a:prstGeom prst="rect">
            <a:avLst/>
          </a:prstGeom>
        </p:spPr>
        <p:txBody>
          <a:bodyPr/>
          <a:lstStyle>
            <a:lvl1pPr marL="0" indent="0" algn="ctr">
              <a:buNone/>
              <a:defRPr sz="20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438041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622500" y="1589103"/>
            <a:ext cx="10962859" cy="4572000"/>
          </a:xfrm>
        </p:spPr>
        <p:txBody>
          <a:bodyPr/>
          <a:lstStyle>
            <a:lvl1pPr marL="0" indent="0" algn="l">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2" y="-11424"/>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0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524238" y="19293"/>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571910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2500" y="1597981"/>
            <a:ext cx="10971737" cy="457898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524238" y="19293"/>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36255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2501" y="1597982"/>
            <a:ext cx="10971737" cy="4580877"/>
          </a:xfrm>
        </p:spPr>
        <p:txBody>
          <a:bodyPr/>
          <a:lstStyle>
            <a:lvl1pPr marL="0" indent="0">
              <a:buNone/>
              <a:defRPr sz="2400">
                <a:solidFill>
                  <a:srgbClr val="0070C0"/>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661472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22500" y="1606858"/>
            <a:ext cx="5473500" cy="457010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105942" y="1606858"/>
            <a:ext cx="5473499" cy="457010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09913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2500" y="1603275"/>
            <a:ext cx="5473500" cy="823912"/>
          </a:xfrm>
        </p:spPr>
        <p:txBody>
          <a:bodyPr anchor="b"/>
          <a:lstStyle>
            <a:lvl1pPr marL="0" indent="0">
              <a:buNone/>
              <a:defRPr sz="2400" b="1">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2500" y="2512382"/>
            <a:ext cx="5473499" cy="367728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6001" y="1603275"/>
            <a:ext cx="5473499"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5999" y="2512382"/>
            <a:ext cx="5473500" cy="367728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8276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2431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4935985" y="1606858"/>
            <a:ext cx="6622644" cy="4563122"/>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2500" y="1606859"/>
            <a:ext cx="4008210" cy="4563122"/>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49207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4882718" y="1606859"/>
            <a:ext cx="6675910" cy="4554244"/>
          </a:xfrm>
        </p:spPr>
        <p:txBody>
          <a:bodyPr>
            <a:normAutofit/>
          </a:bodyPr>
          <a:lstStyle>
            <a:lvl1pPr marL="0" indent="0">
              <a:buNone/>
              <a:defRPr sz="28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2500" y="1606860"/>
            <a:ext cx="3983272" cy="4554244"/>
          </a:xfrm>
        </p:spPr>
        <p:txBody>
          <a:bodyPr>
            <a:normAutofit/>
          </a:bodyPr>
          <a:lstStyle>
            <a:lvl1pPr marL="0" indent="0">
              <a:buNone/>
              <a:defRPr sz="24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524238" y="10921"/>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19258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2500" y="1597982"/>
            <a:ext cx="10962859"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517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2500" y="1589103"/>
            <a:ext cx="10962859" cy="45878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4961013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0758" y="693895"/>
            <a:ext cx="2930486" cy="1316138"/>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9448800" y="6477848"/>
            <a:ext cx="27432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254630908"/>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514713" y="23831"/>
            <a:ext cx="9146651" cy="466725"/>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2500" y="1313896"/>
            <a:ext cx="10947000"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15551" y="128067"/>
            <a:ext cx="1453950" cy="258254"/>
          </a:xfrm>
          <a:prstGeom prst="rect">
            <a:avLst/>
          </a:prstGeom>
        </p:spPr>
      </p:pic>
    </p:spTree>
    <p:extLst>
      <p:ext uri="{BB962C8B-B14F-4D97-AF65-F5344CB8AC3E}">
        <p14:creationId xmlns:p14="http://schemas.microsoft.com/office/powerpoint/2010/main" val="133260952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hf hdr="0" ftr="0"/>
  <p:txStyles>
    <p:titleStyle>
      <a:lvl1pPr algn="l" defTabSz="914363" rtl="0" eaLnBrk="1" latinLnBrk="0" hangingPunct="1">
        <a:lnSpc>
          <a:spcPct val="90000"/>
        </a:lnSpc>
        <a:spcBef>
          <a:spcPct val="0"/>
        </a:spcBef>
        <a:buNone/>
        <a:defRPr sz="2300" b="1" kern="1200" baseline="0">
          <a:solidFill>
            <a:schemeClr val="bg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a:xfrm>
            <a:off x="620112" y="2517788"/>
            <a:ext cx="10800557" cy="2194234"/>
          </a:xfrm>
        </p:spPr>
        <p:txBody>
          <a:bodyPr/>
          <a:lstStyle/>
          <a:p>
            <a:r>
              <a:rPr lang="en-US" dirty="0" err="1"/>
              <a:t>Chương</a:t>
            </a:r>
            <a:r>
              <a:rPr lang="en-US" dirty="0"/>
              <a:t> 1: </a:t>
            </a:r>
          </a:p>
          <a:p>
            <a:r>
              <a:rPr lang="en-US" dirty="0"/>
              <a:t>Các </a:t>
            </a:r>
            <a:r>
              <a:rPr lang="en-US" dirty="0" err="1"/>
              <a:t>khái</a:t>
            </a:r>
            <a:r>
              <a:rPr lang="en-US" dirty="0"/>
              <a:t> </a:t>
            </a:r>
            <a:r>
              <a:rPr lang="en-US" dirty="0" err="1"/>
              <a:t>niệm</a:t>
            </a:r>
            <a:r>
              <a:rPr lang="en-US" dirty="0"/>
              <a:t> </a:t>
            </a:r>
            <a:r>
              <a:rPr lang="en-US" dirty="0" err="1"/>
              <a:t>cơ</a:t>
            </a:r>
            <a:r>
              <a:rPr lang="en-US" dirty="0"/>
              <a:t> </a:t>
            </a:r>
            <a:r>
              <a:rPr lang="en-US" dirty="0" err="1"/>
              <a:t>bản</a:t>
            </a:r>
            <a:endParaRPr lang="en-US" dirty="0"/>
          </a:p>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1</a:t>
            </a:fld>
            <a:endParaRPr lang="en-US" dirty="0">
              <a:solidFill>
                <a:prstClr val="white"/>
              </a:solidFill>
            </a:endParaRPr>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err="1"/>
              <a:t>Mục</a:t>
            </a:r>
            <a:r>
              <a:rPr lang="en-US" sz="2800" dirty="0"/>
              <a:t> </a:t>
            </a:r>
            <a:r>
              <a:rPr lang="en-US" sz="2800" dirty="0" err="1"/>
              <a:t>lục</a:t>
            </a:r>
            <a:endParaRPr sz="2800" dirty="0"/>
          </a:p>
        </p:txBody>
      </p:sp>
      <p:sp>
        <p:nvSpPr>
          <p:cNvPr id="4" name="TextBox 3">
            <a:extLst>
              <a:ext uri="{FF2B5EF4-FFF2-40B4-BE49-F238E27FC236}">
                <a16:creationId xmlns:a16="http://schemas.microsoft.com/office/drawing/2014/main" id="{A3CA1DCC-36BF-5424-1748-DC12B3D63F1A}"/>
              </a:ext>
            </a:extLst>
          </p:cNvPr>
          <p:cNvSpPr txBox="1"/>
          <p:nvPr/>
        </p:nvSpPr>
        <p:spPr>
          <a:xfrm>
            <a:off x="320040" y="1812048"/>
            <a:ext cx="8055864" cy="255454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Khái</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niệm</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cơ</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bản</a:t>
            </a:r>
            <a:endParaRPr kumimoji="0" lang="vi-VN"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Dữ</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liệu</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đa</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phương</a:t>
            </a:r>
            <a:r>
              <a:rPr kumimoji="0" lang="en-US"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rPr>
              <a:t> </a:t>
            </a:r>
            <a:r>
              <a:rPr kumimoji="0" lang="en-US" sz="4000" b="0" i="0"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mn-cs"/>
              </a:rPr>
              <a:t>tiện</a:t>
            </a:r>
            <a:endParaRPr lang="en-US" sz="4000" dirty="0">
              <a:solidFill>
                <a:srgbClr val="0070C0"/>
              </a:solidFill>
              <a:latin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4000" dirty="0"/>
              <a:t>MIRS &amp; MM-DBMS</a:t>
            </a:r>
          </a:p>
          <a:p>
            <a:pPr marL="457200" indent="-457200">
              <a:buFont typeface="Arial" panose="020B0604020202020204" pitchFamily="34" charset="0"/>
              <a:buChar char="•"/>
            </a:pPr>
            <a:r>
              <a:rPr lang="vi-VN" sz="4000" dirty="0"/>
              <a:t>Ví dụ một ứng dụng đa phương tiện</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1</a:t>
            </a:r>
            <a:r>
              <a:rPr lang="en-US" sz="2800"/>
              <a:t>. Khái niệm cơ bản</a:t>
            </a:r>
            <a:endParaRPr sz="2800" dirty="0"/>
          </a:p>
        </p:txBody>
      </p:sp>
      <p:sp>
        <p:nvSpPr>
          <p:cNvPr id="3" name="TextBox 2">
            <a:extLst>
              <a:ext uri="{FF2B5EF4-FFF2-40B4-BE49-F238E27FC236}">
                <a16:creationId xmlns:a16="http://schemas.microsoft.com/office/drawing/2014/main" id="{E37A15A5-5478-B583-C90A-42FF55EAE11A}"/>
              </a:ext>
            </a:extLst>
          </p:cNvPr>
          <p:cNvSpPr txBox="1"/>
          <p:nvPr/>
        </p:nvSpPr>
        <p:spPr>
          <a:xfrm>
            <a:off x="762466" y="809393"/>
            <a:ext cx="10257959" cy="1138773"/>
          </a:xfrm>
          <a:prstGeom prst="rect">
            <a:avLst/>
          </a:prstGeom>
          <a:noFill/>
        </p:spPr>
        <p:txBody>
          <a:bodyPr wrap="square" rtlCol="0">
            <a:spAutoFit/>
          </a:bodyPr>
          <a:lstStyle/>
          <a:p>
            <a:r>
              <a:rPr lang="en-US" sz="2400" b="1">
                <a:latin typeface="+mj-lt"/>
              </a:rPr>
              <a:t>Kiểu Media là gì?</a:t>
            </a:r>
            <a:endParaRPr lang="en-US" sz="2400" b="1" dirty="0">
              <a:latin typeface="+mj-lt"/>
            </a:endParaRPr>
          </a:p>
          <a:p>
            <a:pPr marL="342900" indent="-342900">
              <a:buFont typeface="Arial" panose="020B0604020202020204" pitchFamily="34" charset="0"/>
              <a:buChar char="•"/>
            </a:pPr>
            <a:r>
              <a:rPr lang="vi-VN" sz="2000">
                <a:solidFill>
                  <a:schemeClr val="bg2">
                    <a:lumMod val="25000"/>
                  </a:schemeClr>
                </a:solidFill>
              </a:rPr>
              <a:t>Các kiểu thông tin và biểu diễn thông tin: văn bản, hình ảnh, đồ họa, vid</a:t>
            </a:r>
            <a:r>
              <a:rPr lang="en-US" sz="2000">
                <a:solidFill>
                  <a:schemeClr val="bg2">
                    <a:lumMod val="25000"/>
                  </a:schemeClr>
                </a:solidFill>
              </a:rPr>
              <a:t>e</a:t>
            </a:r>
            <a:r>
              <a:rPr lang="vi-VN" sz="2000">
                <a:solidFill>
                  <a:schemeClr val="bg2">
                    <a:lumMod val="25000"/>
                  </a:schemeClr>
                </a:solidFill>
              </a:rPr>
              <a:t>o, … và tất cả các thông tin có thể biểu diễn, lưu trữ, truyền, xử lý dưới dạng số</a:t>
            </a:r>
            <a:r>
              <a:rPr lang="en-US" sz="2400">
                <a:solidFill>
                  <a:schemeClr val="bg2">
                    <a:lumMod val="25000"/>
                  </a:schemeClr>
                </a:solidFill>
                <a:latin typeface="+mj-lt"/>
              </a:rPr>
              <a:t>.</a:t>
            </a:r>
            <a:endParaRPr lang="en-US" sz="2400" dirty="0">
              <a:solidFill>
                <a:schemeClr val="bg2">
                  <a:lumMod val="25000"/>
                </a:schemeClr>
              </a:solidFill>
              <a:latin typeface="+mj-lt"/>
            </a:endParaRPr>
          </a:p>
        </p:txBody>
      </p:sp>
      <p:sp>
        <p:nvSpPr>
          <p:cNvPr id="5" name="TextBox 4">
            <a:extLst>
              <a:ext uri="{FF2B5EF4-FFF2-40B4-BE49-F238E27FC236}">
                <a16:creationId xmlns:a16="http://schemas.microsoft.com/office/drawing/2014/main" id="{1B2F86B4-C07E-1408-12B5-32B3AEAB6674}"/>
              </a:ext>
            </a:extLst>
          </p:cNvPr>
          <p:cNvSpPr txBox="1"/>
          <p:nvPr/>
        </p:nvSpPr>
        <p:spPr>
          <a:xfrm>
            <a:off x="2861179" y="2511702"/>
            <a:ext cx="1649994" cy="400110"/>
          </a:xfrm>
          <a:prstGeom prst="rect">
            <a:avLst/>
          </a:prstGeom>
          <a:noFill/>
        </p:spPr>
        <p:txBody>
          <a:bodyPr wrap="square">
            <a:spAutoFit/>
          </a:bodyPr>
          <a:lstStyle/>
          <a:p>
            <a:r>
              <a:rPr lang="en-US" sz="2000">
                <a:solidFill>
                  <a:schemeClr val="bg2">
                    <a:lumMod val="25000"/>
                  </a:schemeClr>
                </a:solidFill>
              </a:rPr>
              <a:t>Văn bản</a:t>
            </a:r>
            <a:endParaRPr lang="en-US" sz="2000"/>
          </a:p>
        </p:txBody>
      </p:sp>
      <p:sp>
        <p:nvSpPr>
          <p:cNvPr id="6" name="TextBox 5">
            <a:extLst>
              <a:ext uri="{FF2B5EF4-FFF2-40B4-BE49-F238E27FC236}">
                <a16:creationId xmlns:a16="http://schemas.microsoft.com/office/drawing/2014/main" id="{8D515F71-2A7A-8EFA-E26C-279D8FD4DBC6}"/>
              </a:ext>
            </a:extLst>
          </p:cNvPr>
          <p:cNvSpPr txBox="1"/>
          <p:nvPr/>
        </p:nvSpPr>
        <p:spPr>
          <a:xfrm>
            <a:off x="1969003" y="3759848"/>
            <a:ext cx="1649994" cy="400110"/>
          </a:xfrm>
          <a:prstGeom prst="rect">
            <a:avLst/>
          </a:prstGeom>
          <a:noFill/>
        </p:spPr>
        <p:txBody>
          <a:bodyPr wrap="square">
            <a:spAutoFit/>
          </a:bodyPr>
          <a:lstStyle/>
          <a:p>
            <a:r>
              <a:rPr lang="en-US" sz="2000">
                <a:solidFill>
                  <a:schemeClr val="bg2">
                    <a:lumMod val="25000"/>
                  </a:schemeClr>
                </a:solidFill>
              </a:rPr>
              <a:t>Ảnh tĩnh</a:t>
            </a:r>
            <a:endParaRPr lang="en-US" sz="2000"/>
          </a:p>
        </p:txBody>
      </p:sp>
      <p:sp>
        <p:nvSpPr>
          <p:cNvPr id="7" name="TextBox 6">
            <a:extLst>
              <a:ext uri="{FF2B5EF4-FFF2-40B4-BE49-F238E27FC236}">
                <a16:creationId xmlns:a16="http://schemas.microsoft.com/office/drawing/2014/main" id="{42503938-445A-58C6-21CF-0D277F1CFD4F}"/>
              </a:ext>
            </a:extLst>
          </p:cNvPr>
          <p:cNvSpPr txBox="1"/>
          <p:nvPr/>
        </p:nvSpPr>
        <p:spPr>
          <a:xfrm>
            <a:off x="2808304" y="5211036"/>
            <a:ext cx="1649994" cy="400110"/>
          </a:xfrm>
          <a:prstGeom prst="rect">
            <a:avLst/>
          </a:prstGeom>
          <a:noFill/>
        </p:spPr>
        <p:txBody>
          <a:bodyPr wrap="square">
            <a:spAutoFit/>
          </a:bodyPr>
          <a:lstStyle/>
          <a:p>
            <a:r>
              <a:rPr lang="en-US" sz="2000">
                <a:solidFill>
                  <a:schemeClr val="bg2">
                    <a:lumMod val="25000"/>
                  </a:schemeClr>
                </a:solidFill>
              </a:rPr>
              <a:t>Âm thanh</a:t>
            </a:r>
            <a:endParaRPr lang="en-US" sz="2000"/>
          </a:p>
        </p:txBody>
      </p:sp>
      <p:sp>
        <p:nvSpPr>
          <p:cNvPr id="8" name="TextBox 7">
            <a:extLst>
              <a:ext uri="{FF2B5EF4-FFF2-40B4-BE49-F238E27FC236}">
                <a16:creationId xmlns:a16="http://schemas.microsoft.com/office/drawing/2014/main" id="{AFF36AE8-ECF0-05DE-EAAE-17FA5A006B67}"/>
              </a:ext>
            </a:extLst>
          </p:cNvPr>
          <p:cNvSpPr txBox="1"/>
          <p:nvPr/>
        </p:nvSpPr>
        <p:spPr>
          <a:xfrm>
            <a:off x="7680829" y="2466146"/>
            <a:ext cx="1649994" cy="369332"/>
          </a:xfrm>
          <a:prstGeom prst="rect">
            <a:avLst/>
          </a:prstGeom>
          <a:noFill/>
        </p:spPr>
        <p:txBody>
          <a:bodyPr wrap="square">
            <a:spAutoFit/>
          </a:bodyPr>
          <a:lstStyle/>
          <a:p>
            <a:r>
              <a:rPr lang="en-US" sz="1800">
                <a:solidFill>
                  <a:schemeClr val="bg2">
                    <a:lumMod val="25000"/>
                  </a:schemeClr>
                </a:solidFill>
              </a:rPr>
              <a:t>Hoạt hình</a:t>
            </a:r>
            <a:endParaRPr lang="en-US"/>
          </a:p>
        </p:txBody>
      </p:sp>
      <p:sp>
        <p:nvSpPr>
          <p:cNvPr id="9" name="TextBox 8">
            <a:extLst>
              <a:ext uri="{FF2B5EF4-FFF2-40B4-BE49-F238E27FC236}">
                <a16:creationId xmlns:a16="http://schemas.microsoft.com/office/drawing/2014/main" id="{BECC8DA8-DD68-F5A4-7AF5-AA28ED109EDA}"/>
              </a:ext>
            </a:extLst>
          </p:cNvPr>
          <p:cNvSpPr txBox="1"/>
          <p:nvPr/>
        </p:nvSpPr>
        <p:spPr>
          <a:xfrm>
            <a:off x="8661902" y="3817177"/>
            <a:ext cx="1649994" cy="369332"/>
          </a:xfrm>
          <a:prstGeom prst="rect">
            <a:avLst/>
          </a:prstGeom>
          <a:noFill/>
        </p:spPr>
        <p:txBody>
          <a:bodyPr wrap="square">
            <a:spAutoFit/>
          </a:bodyPr>
          <a:lstStyle/>
          <a:p>
            <a:r>
              <a:rPr lang="en-US">
                <a:solidFill>
                  <a:schemeClr val="bg2">
                    <a:lumMod val="25000"/>
                  </a:schemeClr>
                </a:solidFill>
              </a:rPr>
              <a:t>Video</a:t>
            </a:r>
            <a:endParaRPr lang="en-US"/>
          </a:p>
        </p:txBody>
      </p:sp>
      <p:sp>
        <p:nvSpPr>
          <p:cNvPr id="10" name="TextBox 9">
            <a:extLst>
              <a:ext uri="{FF2B5EF4-FFF2-40B4-BE49-F238E27FC236}">
                <a16:creationId xmlns:a16="http://schemas.microsoft.com/office/drawing/2014/main" id="{57248BD2-C14F-5B6A-0ADE-DA8AB37A161F}"/>
              </a:ext>
            </a:extLst>
          </p:cNvPr>
          <p:cNvSpPr txBox="1"/>
          <p:nvPr/>
        </p:nvSpPr>
        <p:spPr>
          <a:xfrm>
            <a:off x="7772527" y="5211036"/>
            <a:ext cx="1649994" cy="369332"/>
          </a:xfrm>
          <a:prstGeom prst="rect">
            <a:avLst/>
          </a:prstGeom>
          <a:noFill/>
        </p:spPr>
        <p:txBody>
          <a:bodyPr wrap="square">
            <a:spAutoFit/>
          </a:bodyPr>
          <a:lstStyle/>
          <a:p>
            <a:r>
              <a:rPr lang="en-US">
                <a:solidFill>
                  <a:schemeClr val="bg2">
                    <a:lumMod val="25000"/>
                  </a:schemeClr>
                </a:solidFill>
              </a:rPr>
              <a:t>Tính tương tác</a:t>
            </a:r>
            <a:endParaRPr lang="en-US"/>
          </a:p>
        </p:txBody>
      </p:sp>
      <p:pic>
        <p:nvPicPr>
          <p:cNvPr id="25" name="Picture 24" descr="A black and white paper with lines&#10;&#10;AI-generated content may be incorrect.">
            <a:extLst>
              <a:ext uri="{FF2B5EF4-FFF2-40B4-BE49-F238E27FC236}">
                <a16:creationId xmlns:a16="http://schemas.microsoft.com/office/drawing/2014/main" id="{4DB75DDF-34D7-330A-92D7-FB0EC1DCDE4D}"/>
              </a:ext>
            </a:extLst>
          </p:cNvPr>
          <p:cNvPicPr>
            <a:picLocks noChangeAspect="1"/>
          </p:cNvPicPr>
          <p:nvPr/>
        </p:nvPicPr>
        <p:blipFill>
          <a:blip r:embed="rId3"/>
          <a:stretch>
            <a:fillRect/>
          </a:stretch>
        </p:blipFill>
        <p:spPr>
          <a:xfrm>
            <a:off x="2271764" y="2341092"/>
            <a:ext cx="522236" cy="605794"/>
          </a:xfrm>
          <a:prstGeom prst="rect">
            <a:avLst/>
          </a:prstGeom>
        </p:spPr>
      </p:pic>
      <p:pic>
        <p:nvPicPr>
          <p:cNvPr id="27" name="Picture 26" descr="A black and white image&#10;&#10;AI-generated content may be incorrect.">
            <a:extLst>
              <a:ext uri="{FF2B5EF4-FFF2-40B4-BE49-F238E27FC236}">
                <a16:creationId xmlns:a16="http://schemas.microsoft.com/office/drawing/2014/main" id="{A599A974-D563-9CFE-896C-1206642FE1F0}"/>
              </a:ext>
            </a:extLst>
          </p:cNvPr>
          <p:cNvPicPr>
            <a:picLocks noChangeAspect="1"/>
          </p:cNvPicPr>
          <p:nvPr/>
        </p:nvPicPr>
        <p:blipFill>
          <a:blip r:embed="rId4"/>
          <a:stretch>
            <a:fillRect/>
          </a:stretch>
        </p:blipFill>
        <p:spPr>
          <a:xfrm>
            <a:off x="1238603" y="3677738"/>
            <a:ext cx="670142" cy="564330"/>
          </a:xfrm>
          <a:prstGeom prst="rect">
            <a:avLst/>
          </a:prstGeom>
        </p:spPr>
      </p:pic>
      <p:pic>
        <p:nvPicPr>
          <p:cNvPr id="29" name="Picture 28" descr="A black sound wave symbol&#10;&#10;AI-generated content may be incorrect.">
            <a:extLst>
              <a:ext uri="{FF2B5EF4-FFF2-40B4-BE49-F238E27FC236}">
                <a16:creationId xmlns:a16="http://schemas.microsoft.com/office/drawing/2014/main" id="{9E2BD63D-9CC9-4EC3-CA14-DB582B15934A}"/>
              </a:ext>
            </a:extLst>
          </p:cNvPr>
          <p:cNvPicPr>
            <a:picLocks noChangeAspect="1"/>
          </p:cNvPicPr>
          <p:nvPr/>
        </p:nvPicPr>
        <p:blipFill>
          <a:blip r:embed="rId5"/>
          <a:stretch>
            <a:fillRect/>
          </a:stretch>
        </p:blipFill>
        <p:spPr>
          <a:xfrm>
            <a:off x="1638197" y="5137140"/>
            <a:ext cx="1066967" cy="547902"/>
          </a:xfrm>
          <a:prstGeom prst="rect">
            <a:avLst/>
          </a:prstGeom>
        </p:spPr>
      </p:pic>
      <p:pic>
        <p:nvPicPr>
          <p:cNvPr id="31" name="Picture 30" descr="A black and white line drawing of a person running&#10;&#10;AI-generated content may be incorrect.">
            <a:extLst>
              <a:ext uri="{FF2B5EF4-FFF2-40B4-BE49-F238E27FC236}">
                <a16:creationId xmlns:a16="http://schemas.microsoft.com/office/drawing/2014/main" id="{3B5FF7D8-49EB-3FFA-586C-4A3F510208DE}"/>
              </a:ext>
            </a:extLst>
          </p:cNvPr>
          <p:cNvPicPr>
            <a:picLocks noChangeAspect="1"/>
          </p:cNvPicPr>
          <p:nvPr/>
        </p:nvPicPr>
        <p:blipFill>
          <a:blip r:embed="rId6"/>
          <a:srcRect l="10214"/>
          <a:stretch>
            <a:fillRect/>
          </a:stretch>
        </p:blipFill>
        <p:spPr>
          <a:xfrm>
            <a:off x="8796668" y="2250592"/>
            <a:ext cx="706170" cy="739122"/>
          </a:xfrm>
          <a:prstGeom prst="rect">
            <a:avLst/>
          </a:prstGeom>
        </p:spPr>
      </p:pic>
      <p:pic>
        <p:nvPicPr>
          <p:cNvPr id="33" name="Picture 32" descr="A black and white video clip&#10;&#10;AI-generated content may be incorrect.">
            <a:extLst>
              <a:ext uri="{FF2B5EF4-FFF2-40B4-BE49-F238E27FC236}">
                <a16:creationId xmlns:a16="http://schemas.microsoft.com/office/drawing/2014/main" id="{9F948339-F88F-30B9-7A06-14CADC3DB421}"/>
              </a:ext>
            </a:extLst>
          </p:cNvPr>
          <p:cNvPicPr>
            <a:picLocks noChangeAspect="1"/>
          </p:cNvPicPr>
          <p:nvPr/>
        </p:nvPicPr>
        <p:blipFill>
          <a:blip r:embed="rId7"/>
          <a:stretch>
            <a:fillRect/>
          </a:stretch>
        </p:blipFill>
        <p:spPr>
          <a:xfrm>
            <a:off x="9548463" y="3648825"/>
            <a:ext cx="674534" cy="680838"/>
          </a:xfrm>
          <a:prstGeom prst="rect">
            <a:avLst/>
          </a:prstGeom>
        </p:spPr>
      </p:pic>
      <p:pic>
        <p:nvPicPr>
          <p:cNvPr id="35" name="Picture 34" descr="A hand pointing at something&#10;&#10;AI-generated content may be incorrect.">
            <a:extLst>
              <a:ext uri="{FF2B5EF4-FFF2-40B4-BE49-F238E27FC236}">
                <a16:creationId xmlns:a16="http://schemas.microsoft.com/office/drawing/2014/main" id="{C6EE0F55-B001-1932-E3B9-4897508F3508}"/>
              </a:ext>
            </a:extLst>
          </p:cNvPr>
          <p:cNvPicPr>
            <a:picLocks noChangeAspect="1"/>
          </p:cNvPicPr>
          <p:nvPr/>
        </p:nvPicPr>
        <p:blipFill>
          <a:blip r:embed="rId8"/>
          <a:stretch>
            <a:fillRect/>
          </a:stretch>
        </p:blipFill>
        <p:spPr>
          <a:xfrm>
            <a:off x="9333622" y="4990710"/>
            <a:ext cx="674534" cy="726959"/>
          </a:xfrm>
          <a:prstGeom prst="rect">
            <a:avLst/>
          </a:prstGeom>
        </p:spPr>
      </p:pic>
      <p:sp>
        <p:nvSpPr>
          <p:cNvPr id="36" name="TextBox 35">
            <a:extLst>
              <a:ext uri="{FF2B5EF4-FFF2-40B4-BE49-F238E27FC236}">
                <a16:creationId xmlns:a16="http://schemas.microsoft.com/office/drawing/2014/main" id="{6483AB7E-DE5F-3D83-EA94-DDA134545861}"/>
              </a:ext>
            </a:extLst>
          </p:cNvPr>
          <p:cNvSpPr txBox="1"/>
          <p:nvPr/>
        </p:nvSpPr>
        <p:spPr>
          <a:xfrm>
            <a:off x="5097563" y="3698293"/>
            <a:ext cx="1162264" cy="523220"/>
          </a:xfrm>
          <a:prstGeom prst="rect">
            <a:avLst/>
          </a:prstGeom>
          <a:noFill/>
        </p:spPr>
        <p:txBody>
          <a:bodyPr wrap="square">
            <a:spAutoFit/>
          </a:bodyPr>
          <a:lstStyle/>
          <a:p>
            <a:r>
              <a:rPr lang="en-US" sz="2800" b="1"/>
              <a:t>Media</a:t>
            </a:r>
          </a:p>
        </p:txBody>
      </p:sp>
      <p:cxnSp>
        <p:nvCxnSpPr>
          <p:cNvPr id="38" name="Straight Connector 37">
            <a:extLst>
              <a:ext uri="{FF2B5EF4-FFF2-40B4-BE49-F238E27FC236}">
                <a16:creationId xmlns:a16="http://schemas.microsoft.com/office/drawing/2014/main" id="{56AD61D6-3241-9582-8FFB-46AB3F8DC8FF}"/>
              </a:ext>
            </a:extLst>
          </p:cNvPr>
          <p:cNvCxnSpPr>
            <a:cxnSpLocks/>
          </p:cNvCxnSpPr>
          <p:nvPr/>
        </p:nvCxnSpPr>
        <p:spPr>
          <a:xfrm>
            <a:off x="4001632" y="2835478"/>
            <a:ext cx="1076769" cy="862815"/>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48BF1C67-CF87-E2F3-9B1C-9C2D5B00BE3B}"/>
              </a:ext>
            </a:extLst>
          </p:cNvPr>
          <p:cNvCxnSpPr>
            <a:cxnSpLocks/>
          </p:cNvCxnSpPr>
          <p:nvPr/>
        </p:nvCxnSpPr>
        <p:spPr>
          <a:xfrm>
            <a:off x="3395333" y="3959903"/>
            <a:ext cx="1611233" cy="0"/>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E945B0D5-AE12-E525-627C-B7AB06E7BF48}"/>
              </a:ext>
            </a:extLst>
          </p:cNvPr>
          <p:cNvCxnSpPr>
            <a:cxnSpLocks/>
          </p:cNvCxnSpPr>
          <p:nvPr/>
        </p:nvCxnSpPr>
        <p:spPr>
          <a:xfrm flipV="1">
            <a:off x="4072352" y="4221513"/>
            <a:ext cx="1034887" cy="1132676"/>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Straight Connector 53">
            <a:extLst>
              <a:ext uri="{FF2B5EF4-FFF2-40B4-BE49-F238E27FC236}">
                <a16:creationId xmlns:a16="http://schemas.microsoft.com/office/drawing/2014/main" id="{10CC338D-9E40-9F8D-6F6D-EB2D65BDB2B7}"/>
              </a:ext>
            </a:extLst>
          </p:cNvPr>
          <p:cNvCxnSpPr>
            <a:cxnSpLocks/>
          </p:cNvCxnSpPr>
          <p:nvPr/>
        </p:nvCxnSpPr>
        <p:spPr>
          <a:xfrm flipH="1" flipV="1">
            <a:off x="6259827" y="4242068"/>
            <a:ext cx="1182122" cy="1133211"/>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 name="Straight Connector 58">
            <a:extLst>
              <a:ext uri="{FF2B5EF4-FFF2-40B4-BE49-F238E27FC236}">
                <a16:creationId xmlns:a16="http://schemas.microsoft.com/office/drawing/2014/main" id="{39C1A4FA-D09B-1EE2-1A12-D3847FC92016}"/>
              </a:ext>
            </a:extLst>
          </p:cNvPr>
          <p:cNvCxnSpPr>
            <a:cxnSpLocks/>
          </p:cNvCxnSpPr>
          <p:nvPr/>
        </p:nvCxnSpPr>
        <p:spPr>
          <a:xfrm flipH="1">
            <a:off x="6349969" y="3989244"/>
            <a:ext cx="1943005" cy="0"/>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B4F02AF6-9B50-3700-9316-7A9F937E0E0D}"/>
              </a:ext>
            </a:extLst>
          </p:cNvPr>
          <p:cNvCxnSpPr>
            <a:cxnSpLocks/>
          </p:cNvCxnSpPr>
          <p:nvPr/>
        </p:nvCxnSpPr>
        <p:spPr>
          <a:xfrm flipH="1">
            <a:off x="6218854" y="2671491"/>
            <a:ext cx="1223095" cy="1088357"/>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938E-B9D1-6A55-9F2D-A542F3F00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81087-08EC-6DB3-B110-5463D8AA5F5C}"/>
              </a:ext>
            </a:extLst>
          </p:cNvPr>
          <p:cNvSpPr>
            <a:spLocks noGrp="1"/>
          </p:cNvSpPr>
          <p:nvPr>
            <p:ph type="title"/>
          </p:nvPr>
        </p:nvSpPr>
        <p:spPr/>
        <p:txBody>
          <a:bodyPr>
            <a:noAutofit/>
          </a:bodyPr>
          <a:lstStyle/>
          <a:p>
            <a:r>
              <a:rPr lang="en-US" sz="2800" dirty="0"/>
              <a:t>1</a:t>
            </a:r>
            <a:r>
              <a:rPr lang="en-US" sz="2800"/>
              <a:t>. Khái niệm cơ bản</a:t>
            </a:r>
            <a:endParaRPr sz="2800" dirty="0"/>
          </a:p>
        </p:txBody>
      </p:sp>
      <p:sp>
        <p:nvSpPr>
          <p:cNvPr id="3" name="TextBox 2">
            <a:extLst>
              <a:ext uri="{FF2B5EF4-FFF2-40B4-BE49-F238E27FC236}">
                <a16:creationId xmlns:a16="http://schemas.microsoft.com/office/drawing/2014/main" id="{6D0E2612-93E5-50BB-E7E9-DBF5CBF94486}"/>
              </a:ext>
            </a:extLst>
          </p:cNvPr>
          <p:cNvSpPr txBox="1"/>
          <p:nvPr/>
        </p:nvSpPr>
        <p:spPr>
          <a:xfrm>
            <a:off x="762466" y="809393"/>
            <a:ext cx="9433775" cy="1077218"/>
          </a:xfrm>
          <a:prstGeom prst="rect">
            <a:avLst/>
          </a:prstGeom>
          <a:noFill/>
        </p:spPr>
        <p:txBody>
          <a:bodyPr wrap="square" rtlCol="0">
            <a:spAutoFit/>
          </a:bodyPr>
          <a:lstStyle/>
          <a:p>
            <a:r>
              <a:rPr lang="en-US" sz="2400" b="1">
                <a:latin typeface="+mj-lt"/>
              </a:rPr>
              <a:t>Phân loại Media:</a:t>
            </a:r>
            <a:endParaRPr lang="en-US" sz="2400" b="1" dirty="0">
              <a:latin typeface="+mj-lt"/>
            </a:endParaRPr>
          </a:p>
          <a:p>
            <a:pPr marL="342900" indent="-342900">
              <a:buFont typeface="Arial" panose="020B0604020202020204" pitchFamily="34" charset="0"/>
              <a:buChar char="•"/>
            </a:pPr>
            <a:r>
              <a:rPr lang="en-US" sz="2000">
                <a:solidFill>
                  <a:schemeClr val="bg2">
                    <a:lumMod val="25000"/>
                  </a:schemeClr>
                </a:solidFill>
              </a:rPr>
              <a:t>Theo định dạng vật lý</a:t>
            </a:r>
          </a:p>
          <a:p>
            <a:pPr marL="342900" indent="-342900">
              <a:buFont typeface="Arial" panose="020B0604020202020204" pitchFamily="34" charset="0"/>
              <a:buChar char="•"/>
            </a:pPr>
            <a:r>
              <a:rPr lang="en-US" sz="2000">
                <a:solidFill>
                  <a:schemeClr val="bg2">
                    <a:lumMod val="25000"/>
                  </a:schemeClr>
                </a:solidFill>
              </a:rPr>
              <a:t>Theo mối liên hệ với thời gian:</a:t>
            </a:r>
          </a:p>
        </p:txBody>
      </p:sp>
      <p:sp>
        <p:nvSpPr>
          <p:cNvPr id="16" name="TextBox 15">
            <a:extLst>
              <a:ext uri="{FF2B5EF4-FFF2-40B4-BE49-F238E27FC236}">
                <a16:creationId xmlns:a16="http://schemas.microsoft.com/office/drawing/2014/main" id="{3E82198B-B26F-9927-816C-C4A0C2BB98C8}"/>
              </a:ext>
            </a:extLst>
          </p:cNvPr>
          <p:cNvSpPr txBox="1"/>
          <p:nvPr/>
        </p:nvSpPr>
        <p:spPr>
          <a:xfrm>
            <a:off x="762466" y="2173203"/>
            <a:ext cx="4819184" cy="923330"/>
          </a:xfrm>
          <a:prstGeom prst="rect">
            <a:avLst/>
          </a:prstGeom>
          <a:noFill/>
        </p:spPr>
        <p:txBody>
          <a:bodyPr wrap="square">
            <a:spAutoFit/>
          </a:bodyPr>
          <a:lstStyle/>
          <a:p>
            <a:r>
              <a:rPr lang="en-US">
                <a:solidFill>
                  <a:schemeClr val="bg2">
                    <a:lumMod val="25000"/>
                  </a:schemeClr>
                </a:solidFill>
              </a:rPr>
              <a:t>Media tĩnh: (static media): nội dung và ý nghĩa không phụ thuộc vào biểu diễn thời gian: văn bản, ảnh tĩnh, đồ họa</a:t>
            </a:r>
          </a:p>
        </p:txBody>
      </p:sp>
      <p:sp>
        <p:nvSpPr>
          <p:cNvPr id="20" name="TextBox 19">
            <a:extLst>
              <a:ext uri="{FF2B5EF4-FFF2-40B4-BE49-F238E27FC236}">
                <a16:creationId xmlns:a16="http://schemas.microsoft.com/office/drawing/2014/main" id="{5235617B-7D86-CDB0-A5D7-FC030472D800}"/>
              </a:ext>
            </a:extLst>
          </p:cNvPr>
          <p:cNvSpPr txBox="1"/>
          <p:nvPr/>
        </p:nvSpPr>
        <p:spPr>
          <a:xfrm>
            <a:off x="6162675" y="2168029"/>
            <a:ext cx="5266859" cy="923330"/>
          </a:xfrm>
          <a:prstGeom prst="rect">
            <a:avLst/>
          </a:prstGeom>
          <a:noFill/>
        </p:spPr>
        <p:txBody>
          <a:bodyPr wrap="square">
            <a:spAutoFit/>
          </a:bodyPr>
          <a:lstStyle/>
          <a:p>
            <a:r>
              <a:rPr lang="en-US">
                <a:solidFill>
                  <a:schemeClr val="bg2">
                    <a:lumMod val="25000"/>
                  </a:schemeClr>
                </a:solidFill>
              </a:rPr>
              <a:t>Media động (dynamic media, continuous media ou isochronous media): các dữ liệu có chiều thời gian: hoạt hình, âm thanh, video)</a:t>
            </a:r>
          </a:p>
        </p:txBody>
      </p:sp>
      <p:cxnSp>
        <p:nvCxnSpPr>
          <p:cNvPr id="21" name="Straight Connector 20">
            <a:extLst>
              <a:ext uri="{FF2B5EF4-FFF2-40B4-BE49-F238E27FC236}">
                <a16:creationId xmlns:a16="http://schemas.microsoft.com/office/drawing/2014/main" id="{01E48D39-ADFA-65EE-F918-AB0E6FD8EC73}"/>
              </a:ext>
            </a:extLst>
          </p:cNvPr>
          <p:cNvCxnSpPr>
            <a:cxnSpLocks/>
          </p:cNvCxnSpPr>
          <p:nvPr/>
        </p:nvCxnSpPr>
        <p:spPr>
          <a:xfrm>
            <a:off x="5876925" y="2162175"/>
            <a:ext cx="0" cy="4067175"/>
          </a:xfrm>
          <a:prstGeom prst="line">
            <a:avLst/>
          </a:prstGeom>
          <a:ln w="19050" cap="flat" cmpd="sng" algn="ctr">
            <a:solidFill>
              <a:schemeClr val="bg2">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7E32C22F-6606-3D54-AE39-0A397D2BF766}"/>
              </a:ext>
            </a:extLst>
          </p:cNvPr>
          <p:cNvSpPr txBox="1"/>
          <p:nvPr/>
        </p:nvSpPr>
        <p:spPr>
          <a:xfrm>
            <a:off x="2718026" y="3645089"/>
            <a:ext cx="1649994" cy="369332"/>
          </a:xfrm>
          <a:prstGeom prst="rect">
            <a:avLst/>
          </a:prstGeom>
          <a:noFill/>
        </p:spPr>
        <p:txBody>
          <a:bodyPr wrap="square">
            <a:spAutoFit/>
          </a:bodyPr>
          <a:lstStyle/>
          <a:p>
            <a:r>
              <a:rPr lang="en-US">
                <a:solidFill>
                  <a:schemeClr val="bg2">
                    <a:lumMod val="25000"/>
                  </a:schemeClr>
                </a:solidFill>
              </a:rPr>
              <a:t>Văn bản</a:t>
            </a:r>
            <a:endParaRPr lang="en-US"/>
          </a:p>
        </p:txBody>
      </p:sp>
      <p:sp>
        <p:nvSpPr>
          <p:cNvPr id="25" name="TextBox 24">
            <a:extLst>
              <a:ext uri="{FF2B5EF4-FFF2-40B4-BE49-F238E27FC236}">
                <a16:creationId xmlns:a16="http://schemas.microsoft.com/office/drawing/2014/main" id="{58F766FF-D3B1-05AB-9261-36DAAFBCD295}"/>
              </a:ext>
            </a:extLst>
          </p:cNvPr>
          <p:cNvSpPr txBox="1"/>
          <p:nvPr/>
        </p:nvSpPr>
        <p:spPr>
          <a:xfrm>
            <a:off x="2732550" y="4562977"/>
            <a:ext cx="1649994" cy="369332"/>
          </a:xfrm>
          <a:prstGeom prst="rect">
            <a:avLst/>
          </a:prstGeom>
          <a:noFill/>
        </p:spPr>
        <p:txBody>
          <a:bodyPr wrap="square">
            <a:spAutoFit/>
          </a:bodyPr>
          <a:lstStyle/>
          <a:p>
            <a:r>
              <a:rPr lang="en-US">
                <a:solidFill>
                  <a:schemeClr val="bg2">
                    <a:lumMod val="25000"/>
                  </a:schemeClr>
                </a:solidFill>
              </a:rPr>
              <a:t>Ảnh tĩnh</a:t>
            </a:r>
            <a:endParaRPr lang="en-US"/>
          </a:p>
        </p:txBody>
      </p:sp>
      <p:sp>
        <p:nvSpPr>
          <p:cNvPr id="26" name="TextBox 25">
            <a:extLst>
              <a:ext uri="{FF2B5EF4-FFF2-40B4-BE49-F238E27FC236}">
                <a16:creationId xmlns:a16="http://schemas.microsoft.com/office/drawing/2014/main" id="{91DA59B3-D31D-F366-A49E-42C46FF4B4DC}"/>
              </a:ext>
            </a:extLst>
          </p:cNvPr>
          <p:cNvSpPr txBox="1"/>
          <p:nvPr/>
        </p:nvSpPr>
        <p:spPr>
          <a:xfrm>
            <a:off x="8389943" y="5569109"/>
            <a:ext cx="1649994" cy="369332"/>
          </a:xfrm>
          <a:prstGeom prst="rect">
            <a:avLst/>
          </a:prstGeom>
          <a:noFill/>
        </p:spPr>
        <p:txBody>
          <a:bodyPr wrap="square">
            <a:spAutoFit/>
          </a:bodyPr>
          <a:lstStyle/>
          <a:p>
            <a:r>
              <a:rPr lang="en-US">
                <a:solidFill>
                  <a:schemeClr val="bg2">
                    <a:lumMod val="25000"/>
                  </a:schemeClr>
                </a:solidFill>
              </a:rPr>
              <a:t>Âm thanh</a:t>
            </a:r>
            <a:endParaRPr lang="en-US"/>
          </a:p>
        </p:txBody>
      </p:sp>
      <p:pic>
        <p:nvPicPr>
          <p:cNvPr id="27" name="Picture 26" descr="A black and white paper with lines&#10;&#10;AI-generated content may be incorrect.">
            <a:extLst>
              <a:ext uri="{FF2B5EF4-FFF2-40B4-BE49-F238E27FC236}">
                <a16:creationId xmlns:a16="http://schemas.microsoft.com/office/drawing/2014/main" id="{556C2212-1662-1E55-BF69-314C7C7891DF}"/>
              </a:ext>
            </a:extLst>
          </p:cNvPr>
          <p:cNvPicPr>
            <a:picLocks noChangeAspect="1"/>
          </p:cNvPicPr>
          <p:nvPr/>
        </p:nvPicPr>
        <p:blipFill>
          <a:blip r:embed="rId3"/>
          <a:stretch>
            <a:fillRect/>
          </a:stretch>
        </p:blipFill>
        <p:spPr>
          <a:xfrm>
            <a:off x="1966249" y="3474479"/>
            <a:ext cx="493863" cy="572881"/>
          </a:xfrm>
          <a:prstGeom prst="rect">
            <a:avLst/>
          </a:prstGeom>
        </p:spPr>
      </p:pic>
      <p:pic>
        <p:nvPicPr>
          <p:cNvPr id="28" name="Picture 27" descr="A black and white image&#10;&#10;AI-generated content may be incorrect.">
            <a:extLst>
              <a:ext uri="{FF2B5EF4-FFF2-40B4-BE49-F238E27FC236}">
                <a16:creationId xmlns:a16="http://schemas.microsoft.com/office/drawing/2014/main" id="{C1FDBD10-0A9F-3552-C841-265AC4EA292C}"/>
              </a:ext>
            </a:extLst>
          </p:cNvPr>
          <p:cNvPicPr>
            <a:picLocks noChangeAspect="1"/>
          </p:cNvPicPr>
          <p:nvPr/>
        </p:nvPicPr>
        <p:blipFill>
          <a:blip r:embed="rId4"/>
          <a:stretch>
            <a:fillRect/>
          </a:stretch>
        </p:blipFill>
        <p:spPr>
          <a:xfrm>
            <a:off x="1885522" y="4471892"/>
            <a:ext cx="633733" cy="533670"/>
          </a:xfrm>
          <a:prstGeom prst="rect">
            <a:avLst/>
          </a:prstGeom>
        </p:spPr>
      </p:pic>
      <p:pic>
        <p:nvPicPr>
          <p:cNvPr id="29" name="Picture 28" descr="A black sound wave symbol&#10;&#10;AI-generated content may be incorrect.">
            <a:extLst>
              <a:ext uri="{FF2B5EF4-FFF2-40B4-BE49-F238E27FC236}">
                <a16:creationId xmlns:a16="http://schemas.microsoft.com/office/drawing/2014/main" id="{BA5C8765-10F9-2520-537F-6AFA6B5DEBC1}"/>
              </a:ext>
            </a:extLst>
          </p:cNvPr>
          <p:cNvPicPr>
            <a:picLocks noChangeAspect="1"/>
          </p:cNvPicPr>
          <p:nvPr/>
        </p:nvPicPr>
        <p:blipFill>
          <a:blip r:embed="rId5"/>
          <a:stretch>
            <a:fillRect/>
          </a:stretch>
        </p:blipFill>
        <p:spPr>
          <a:xfrm>
            <a:off x="7371307" y="5532161"/>
            <a:ext cx="923064" cy="474006"/>
          </a:xfrm>
          <a:prstGeom prst="rect">
            <a:avLst/>
          </a:prstGeom>
        </p:spPr>
      </p:pic>
      <p:sp>
        <p:nvSpPr>
          <p:cNvPr id="34" name="TextBox 33">
            <a:extLst>
              <a:ext uri="{FF2B5EF4-FFF2-40B4-BE49-F238E27FC236}">
                <a16:creationId xmlns:a16="http://schemas.microsoft.com/office/drawing/2014/main" id="{4E887414-38D4-9622-188E-819303E9DEA4}"/>
              </a:ext>
            </a:extLst>
          </p:cNvPr>
          <p:cNvSpPr txBox="1"/>
          <p:nvPr/>
        </p:nvSpPr>
        <p:spPr>
          <a:xfrm>
            <a:off x="8368279" y="3476551"/>
            <a:ext cx="1649994" cy="369332"/>
          </a:xfrm>
          <a:prstGeom prst="rect">
            <a:avLst/>
          </a:prstGeom>
          <a:noFill/>
        </p:spPr>
        <p:txBody>
          <a:bodyPr wrap="square">
            <a:spAutoFit/>
          </a:bodyPr>
          <a:lstStyle/>
          <a:p>
            <a:r>
              <a:rPr lang="en-US">
                <a:solidFill>
                  <a:schemeClr val="bg2">
                    <a:lumMod val="25000"/>
                  </a:schemeClr>
                </a:solidFill>
              </a:rPr>
              <a:t>Hoạt hình</a:t>
            </a:r>
            <a:endParaRPr lang="en-US"/>
          </a:p>
        </p:txBody>
      </p:sp>
      <p:sp>
        <p:nvSpPr>
          <p:cNvPr id="35" name="TextBox 34">
            <a:extLst>
              <a:ext uri="{FF2B5EF4-FFF2-40B4-BE49-F238E27FC236}">
                <a16:creationId xmlns:a16="http://schemas.microsoft.com/office/drawing/2014/main" id="{BC6DEEEE-ACC9-164D-FD2F-478A21053308}"/>
              </a:ext>
            </a:extLst>
          </p:cNvPr>
          <p:cNvSpPr txBox="1"/>
          <p:nvPr/>
        </p:nvSpPr>
        <p:spPr>
          <a:xfrm>
            <a:off x="8383268" y="4483210"/>
            <a:ext cx="1649994" cy="369332"/>
          </a:xfrm>
          <a:prstGeom prst="rect">
            <a:avLst/>
          </a:prstGeom>
          <a:noFill/>
        </p:spPr>
        <p:txBody>
          <a:bodyPr wrap="square">
            <a:spAutoFit/>
          </a:bodyPr>
          <a:lstStyle/>
          <a:p>
            <a:r>
              <a:rPr lang="en-US">
                <a:solidFill>
                  <a:schemeClr val="bg2">
                    <a:lumMod val="25000"/>
                  </a:schemeClr>
                </a:solidFill>
              </a:rPr>
              <a:t>Video</a:t>
            </a:r>
            <a:endParaRPr lang="en-US"/>
          </a:p>
        </p:txBody>
      </p:sp>
      <p:pic>
        <p:nvPicPr>
          <p:cNvPr id="36" name="Picture 35" descr="A black and white line drawing of a person running&#10;&#10;AI-generated content may be incorrect.">
            <a:extLst>
              <a:ext uri="{FF2B5EF4-FFF2-40B4-BE49-F238E27FC236}">
                <a16:creationId xmlns:a16="http://schemas.microsoft.com/office/drawing/2014/main" id="{BA00EDB5-9BC1-E8F1-5B85-B7D4A34A7172}"/>
              </a:ext>
            </a:extLst>
          </p:cNvPr>
          <p:cNvPicPr>
            <a:picLocks noChangeAspect="1"/>
          </p:cNvPicPr>
          <p:nvPr/>
        </p:nvPicPr>
        <p:blipFill>
          <a:blip r:embed="rId6"/>
          <a:srcRect l="10214"/>
          <a:stretch>
            <a:fillRect/>
          </a:stretch>
        </p:blipFill>
        <p:spPr>
          <a:xfrm>
            <a:off x="7543283" y="3355631"/>
            <a:ext cx="557448" cy="583460"/>
          </a:xfrm>
          <a:prstGeom prst="rect">
            <a:avLst/>
          </a:prstGeom>
        </p:spPr>
      </p:pic>
      <p:pic>
        <p:nvPicPr>
          <p:cNvPr id="37" name="Picture 36" descr="A black and white video clip&#10;&#10;AI-generated content may be incorrect.">
            <a:extLst>
              <a:ext uri="{FF2B5EF4-FFF2-40B4-BE49-F238E27FC236}">
                <a16:creationId xmlns:a16="http://schemas.microsoft.com/office/drawing/2014/main" id="{4FFC9F81-42CB-202C-E0FB-7E1DA67F4D26}"/>
              </a:ext>
            </a:extLst>
          </p:cNvPr>
          <p:cNvPicPr>
            <a:picLocks noChangeAspect="1"/>
          </p:cNvPicPr>
          <p:nvPr/>
        </p:nvPicPr>
        <p:blipFill>
          <a:blip r:embed="rId7"/>
          <a:stretch>
            <a:fillRect/>
          </a:stretch>
        </p:blipFill>
        <p:spPr>
          <a:xfrm>
            <a:off x="7533649" y="4351903"/>
            <a:ext cx="591705" cy="597235"/>
          </a:xfrm>
          <a:prstGeom prst="rect">
            <a:avLst/>
          </a:prstGeom>
        </p:spPr>
      </p:pic>
    </p:spTree>
    <p:extLst>
      <p:ext uri="{BB962C8B-B14F-4D97-AF65-F5344CB8AC3E}">
        <p14:creationId xmlns:p14="http://schemas.microsoft.com/office/powerpoint/2010/main" val="400890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88B82-C8F9-B9FF-5C1D-DDD3BAF8E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9CDAF-606E-348B-30CC-7BED7455E868}"/>
              </a:ext>
            </a:extLst>
          </p:cNvPr>
          <p:cNvSpPr>
            <a:spLocks noGrp="1"/>
          </p:cNvSpPr>
          <p:nvPr>
            <p:ph type="title"/>
          </p:nvPr>
        </p:nvSpPr>
        <p:spPr/>
        <p:txBody>
          <a:bodyPr>
            <a:noAutofit/>
          </a:bodyPr>
          <a:lstStyle/>
          <a:p>
            <a:r>
              <a:rPr lang="en-US" sz="2800" dirty="0"/>
              <a:t>1</a:t>
            </a:r>
            <a:r>
              <a:rPr lang="en-US" sz="2800"/>
              <a:t>. Khái niệm cơ bản</a:t>
            </a:r>
            <a:endParaRPr sz="2800" dirty="0"/>
          </a:p>
        </p:txBody>
      </p:sp>
      <p:sp>
        <p:nvSpPr>
          <p:cNvPr id="3" name="TextBox 2">
            <a:extLst>
              <a:ext uri="{FF2B5EF4-FFF2-40B4-BE49-F238E27FC236}">
                <a16:creationId xmlns:a16="http://schemas.microsoft.com/office/drawing/2014/main" id="{629A42A3-CA92-1B27-F69D-872E43B296C2}"/>
              </a:ext>
            </a:extLst>
          </p:cNvPr>
          <p:cNvSpPr txBox="1"/>
          <p:nvPr/>
        </p:nvSpPr>
        <p:spPr>
          <a:xfrm>
            <a:off x="762466" y="809393"/>
            <a:ext cx="9433775" cy="1692771"/>
          </a:xfrm>
          <a:prstGeom prst="rect">
            <a:avLst/>
          </a:prstGeom>
          <a:noFill/>
        </p:spPr>
        <p:txBody>
          <a:bodyPr wrap="square" rtlCol="0">
            <a:spAutoFit/>
          </a:bodyPr>
          <a:lstStyle/>
          <a:p>
            <a:r>
              <a:rPr lang="en-US" sz="2400" b="1">
                <a:latin typeface="+mj-lt"/>
              </a:rPr>
              <a:t>Multimedia</a:t>
            </a:r>
            <a:r>
              <a:rPr lang="en-US" sz="2000" b="1">
                <a:latin typeface="+mj-lt"/>
              </a:rPr>
              <a:t>:</a:t>
            </a:r>
            <a:endParaRPr lang="en-US" sz="2000" b="1" dirty="0">
              <a:latin typeface="+mj-lt"/>
            </a:endParaRPr>
          </a:p>
          <a:p>
            <a:pPr marL="342900" indent="-342900">
              <a:buFont typeface="Arial" panose="020B0604020202020204" pitchFamily="34" charset="0"/>
              <a:buChar char="•"/>
            </a:pPr>
            <a:r>
              <a:rPr lang="en-US" sz="2000">
                <a:solidFill>
                  <a:schemeClr val="bg2">
                    <a:lumMod val="25000"/>
                  </a:schemeClr>
                </a:solidFill>
              </a:rPr>
              <a:t>T</a:t>
            </a:r>
            <a:r>
              <a:rPr lang="vi-VN" sz="2000">
                <a:solidFill>
                  <a:schemeClr val="bg2">
                    <a:lumMod val="25000"/>
                  </a:schemeClr>
                </a:solidFill>
              </a:rPr>
              <a:t>ập hợp các kiểu media được sử dụng cùng nhau, và trong đó có ít nhất một kiểu dữ liệu không phải là DL dạng văn bản: hoạt hình, âm thanh, video</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Có thể coi là tổ hợp của </a:t>
            </a:r>
            <a:r>
              <a:rPr lang="vi-VN" sz="2000" b="1">
                <a:solidFill>
                  <a:schemeClr val="bg2">
                    <a:lumMod val="25000"/>
                  </a:schemeClr>
                </a:solidFill>
              </a:rPr>
              <a:t>văn bản, âm thanh, ảnh tĩnh, ảnh động, video</a:t>
            </a:r>
            <a:r>
              <a:rPr lang="vi-VN" sz="2000">
                <a:solidFill>
                  <a:schemeClr val="bg2">
                    <a:lumMod val="25000"/>
                  </a:schemeClr>
                </a:solidFill>
              </a:rPr>
              <a:t> và </a:t>
            </a:r>
            <a:r>
              <a:rPr lang="vi-VN" sz="2000" b="1">
                <a:solidFill>
                  <a:schemeClr val="bg2">
                    <a:lumMod val="25000"/>
                  </a:schemeClr>
                </a:solidFill>
              </a:rPr>
              <a:t>các hình thức tương tác </a:t>
            </a:r>
            <a:r>
              <a:rPr lang="vi-VN" sz="2000">
                <a:solidFill>
                  <a:schemeClr val="bg2">
                    <a:lumMod val="25000"/>
                  </a:schemeClr>
                </a:solidFill>
              </a:rPr>
              <a:t>nội dun</a:t>
            </a:r>
            <a:r>
              <a:rPr lang="en-US" sz="2000">
                <a:solidFill>
                  <a:schemeClr val="bg2">
                    <a:lumMod val="25000"/>
                  </a:schemeClr>
                </a:solidFill>
              </a:rPr>
              <a:t>g</a:t>
            </a:r>
            <a:endParaRPr lang="en-US" sz="2000" dirty="0">
              <a:solidFill>
                <a:schemeClr val="bg2">
                  <a:lumMod val="25000"/>
                </a:schemeClr>
              </a:solidFill>
            </a:endParaRPr>
          </a:p>
        </p:txBody>
      </p:sp>
      <p:pic>
        <p:nvPicPr>
          <p:cNvPr id="2050" name="Picture 2" descr="Multimedia Elements/Components:">
            <a:extLst>
              <a:ext uri="{FF2B5EF4-FFF2-40B4-BE49-F238E27FC236}">
                <a16:creationId xmlns:a16="http://schemas.microsoft.com/office/drawing/2014/main" id="{ECC1105C-B038-373C-A056-E29668695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087" y="2835064"/>
            <a:ext cx="9607826" cy="2927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158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8D967-D862-2A3B-9C1A-073ACAE20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9C65C-F45E-8D77-51B6-8EBCF3EA5ECA}"/>
              </a:ext>
            </a:extLst>
          </p:cNvPr>
          <p:cNvSpPr>
            <a:spLocks noGrp="1"/>
          </p:cNvSpPr>
          <p:nvPr>
            <p:ph type="title"/>
          </p:nvPr>
        </p:nvSpPr>
        <p:spPr/>
        <p:txBody>
          <a:bodyPr>
            <a:noAutofit/>
          </a:bodyPr>
          <a:lstStyle/>
          <a:p>
            <a:r>
              <a:rPr lang="en-US" sz="2800" dirty="0"/>
              <a:t>1</a:t>
            </a:r>
            <a:r>
              <a:rPr lang="en-US" sz="2800"/>
              <a:t>. Khái niệm cơ bản</a:t>
            </a:r>
            <a:endParaRPr sz="2800" dirty="0"/>
          </a:p>
        </p:txBody>
      </p:sp>
      <p:sp>
        <p:nvSpPr>
          <p:cNvPr id="3" name="TextBox 2">
            <a:extLst>
              <a:ext uri="{FF2B5EF4-FFF2-40B4-BE49-F238E27FC236}">
                <a16:creationId xmlns:a16="http://schemas.microsoft.com/office/drawing/2014/main" id="{997F07B8-B5FD-D3E9-D477-240F56A28532}"/>
              </a:ext>
            </a:extLst>
          </p:cNvPr>
          <p:cNvSpPr txBox="1"/>
          <p:nvPr/>
        </p:nvSpPr>
        <p:spPr>
          <a:xfrm>
            <a:off x="762466" y="809393"/>
            <a:ext cx="10924709" cy="1692771"/>
          </a:xfrm>
          <a:prstGeom prst="rect">
            <a:avLst/>
          </a:prstGeom>
          <a:noFill/>
        </p:spPr>
        <p:txBody>
          <a:bodyPr wrap="square" rtlCol="0">
            <a:spAutoFit/>
          </a:bodyPr>
          <a:lstStyle/>
          <a:p>
            <a:r>
              <a:rPr lang="en-US" sz="2400" b="1">
                <a:latin typeface="+mj-lt"/>
              </a:rPr>
              <a:t>Multimedia</a:t>
            </a:r>
            <a:r>
              <a:rPr lang="en-US" sz="2000" b="1">
                <a:latin typeface="+mj-lt"/>
              </a:rPr>
              <a:t>:</a:t>
            </a:r>
          </a:p>
          <a:p>
            <a:pPr marL="342900" indent="-342900">
              <a:buFont typeface="Arial" panose="020B0604020202020204" pitchFamily="34" charset="0"/>
              <a:buChar char="•"/>
            </a:pPr>
            <a:r>
              <a:rPr lang="en-US" sz="2000">
                <a:solidFill>
                  <a:schemeClr val="bg2">
                    <a:lumMod val="25000"/>
                  </a:schemeClr>
                </a:solidFill>
              </a:rPr>
              <a:t>Multimedia Data: </a:t>
            </a:r>
            <a:r>
              <a:rPr lang="vi-VN" sz="2000">
                <a:solidFill>
                  <a:schemeClr val="bg2">
                    <a:lumMod val="25000"/>
                  </a:schemeClr>
                </a:solidFill>
              </a:rPr>
              <a:t>biểu diễn của các kiểu dữ liệu media khác nhau mà máy tính có thể đọc được</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Multimedia Database (CSDL đa phương tiện): là tập có cấu trúc nhất định các dữ liệu đa phương tiện</a:t>
            </a:r>
          </a:p>
          <a:p>
            <a:pPr marL="342900" indent="-342900">
              <a:buFont typeface="Arial" panose="020B0604020202020204" pitchFamily="34" charset="0"/>
              <a:buChar char="•"/>
            </a:pPr>
            <a:r>
              <a:rPr lang="en-US" sz="2000">
                <a:solidFill>
                  <a:schemeClr val="bg2">
                    <a:lumMod val="25000"/>
                  </a:schemeClr>
                </a:solidFill>
              </a:rPr>
              <a:t>Multimedia System: một hệ đa phương tiện là hệ thống có khả năng xử lý dữ liệu đa phương tiện và các ứng dụng</a:t>
            </a:r>
            <a:endParaRPr lang="en-US" sz="2000" dirty="0">
              <a:solidFill>
                <a:schemeClr val="bg2">
                  <a:lumMod val="25000"/>
                </a:schemeClr>
              </a:solidFill>
            </a:endParaRPr>
          </a:p>
        </p:txBody>
      </p:sp>
      <p:pic>
        <p:nvPicPr>
          <p:cNvPr id="5" name="Picture 4" descr="A blue icon with a blue background&#10;&#10;AI-generated content may be incorrect.">
            <a:extLst>
              <a:ext uri="{FF2B5EF4-FFF2-40B4-BE49-F238E27FC236}">
                <a16:creationId xmlns:a16="http://schemas.microsoft.com/office/drawing/2014/main" id="{1981DFB5-BA77-326E-2915-A439F0B5F50F}"/>
              </a:ext>
            </a:extLst>
          </p:cNvPr>
          <p:cNvPicPr>
            <a:picLocks noChangeAspect="1"/>
          </p:cNvPicPr>
          <p:nvPr/>
        </p:nvPicPr>
        <p:blipFill>
          <a:blip r:embed="rId3"/>
          <a:stretch>
            <a:fillRect/>
          </a:stretch>
        </p:blipFill>
        <p:spPr>
          <a:xfrm>
            <a:off x="1132824" y="2647950"/>
            <a:ext cx="9926352" cy="3248430"/>
          </a:xfrm>
          <a:prstGeom prst="rect">
            <a:avLst/>
          </a:prstGeom>
        </p:spPr>
      </p:pic>
      <p:sp>
        <p:nvSpPr>
          <p:cNvPr id="7" name="TextBox 6">
            <a:extLst>
              <a:ext uri="{FF2B5EF4-FFF2-40B4-BE49-F238E27FC236}">
                <a16:creationId xmlns:a16="http://schemas.microsoft.com/office/drawing/2014/main" id="{41D68747-85E7-6BA1-C6A1-A87E5B6159B3}"/>
              </a:ext>
            </a:extLst>
          </p:cNvPr>
          <p:cNvSpPr txBox="1"/>
          <p:nvPr/>
        </p:nvSpPr>
        <p:spPr>
          <a:xfrm>
            <a:off x="1695450" y="5679275"/>
            <a:ext cx="2143125" cy="369332"/>
          </a:xfrm>
          <a:prstGeom prst="rect">
            <a:avLst/>
          </a:prstGeom>
          <a:noFill/>
        </p:spPr>
        <p:txBody>
          <a:bodyPr wrap="square">
            <a:spAutoFit/>
          </a:bodyPr>
          <a:lstStyle/>
          <a:p>
            <a:pPr algn="ctr"/>
            <a:r>
              <a:rPr lang="en-US" sz="1800" b="1">
                <a:solidFill>
                  <a:schemeClr val="bg2">
                    <a:lumMod val="25000"/>
                  </a:schemeClr>
                </a:solidFill>
              </a:rPr>
              <a:t>Multimedia Data</a:t>
            </a:r>
            <a:endParaRPr lang="en-US" b="1"/>
          </a:p>
        </p:txBody>
      </p:sp>
      <p:sp>
        <p:nvSpPr>
          <p:cNvPr id="8" name="TextBox 7">
            <a:extLst>
              <a:ext uri="{FF2B5EF4-FFF2-40B4-BE49-F238E27FC236}">
                <a16:creationId xmlns:a16="http://schemas.microsoft.com/office/drawing/2014/main" id="{CAB6C722-FCE9-3B40-50CC-ED3E0480C715}"/>
              </a:ext>
            </a:extLst>
          </p:cNvPr>
          <p:cNvSpPr txBox="1"/>
          <p:nvPr/>
        </p:nvSpPr>
        <p:spPr>
          <a:xfrm>
            <a:off x="5006464" y="5698903"/>
            <a:ext cx="2436712" cy="369332"/>
          </a:xfrm>
          <a:prstGeom prst="rect">
            <a:avLst/>
          </a:prstGeom>
          <a:noFill/>
        </p:spPr>
        <p:txBody>
          <a:bodyPr wrap="square">
            <a:spAutoFit/>
          </a:bodyPr>
          <a:lstStyle/>
          <a:p>
            <a:pPr algn="ctr"/>
            <a:r>
              <a:rPr lang="en-US" sz="1800" b="1">
                <a:solidFill>
                  <a:schemeClr val="bg2">
                    <a:lumMod val="25000"/>
                  </a:schemeClr>
                </a:solidFill>
              </a:rPr>
              <a:t>Multimedia Dat</a:t>
            </a:r>
            <a:r>
              <a:rPr lang="en-US" b="1">
                <a:solidFill>
                  <a:schemeClr val="bg2">
                    <a:lumMod val="25000"/>
                  </a:schemeClr>
                </a:solidFill>
              </a:rPr>
              <a:t>abase</a:t>
            </a:r>
            <a:endParaRPr lang="en-US" b="1"/>
          </a:p>
        </p:txBody>
      </p:sp>
      <p:sp>
        <p:nvSpPr>
          <p:cNvPr id="9" name="TextBox 8">
            <a:extLst>
              <a:ext uri="{FF2B5EF4-FFF2-40B4-BE49-F238E27FC236}">
                <a16:creationId xmlns:a16="http://schemas.microsoft.com/office/drawing/2014/main" id="{BAEEF11B-2DED-03BF-1CB2-846600FBE191}"/>
              </a:ext>
            </a:extLst>
          </p:cNvPr>
          <p:cNvSpPr txBox="1"/>
          <p:nvPr/>
        </p:nvSpPr>
        <p:spPr>
          <a:xfrm>
            <a:off x="8273539" y="5711714"/>
            <a:ext cx="2436712" cy="369332"/>
          </a:xfrm>
          <a:prstGeom prst="rect">
            <a:avLst/>
          </a:prstGeom>
          <a:noFill/>
        </p:spPr>
        <p:txBody>
          <a:bodyPr wrap="square">
            <a:spAutoFit/>
          </a:bodyPr>
          <a:lstStyle/>
          <a:p>
            <a:pPr algn="ctr"/>
            <a:r>
              <a:rPr lang="en-US" sz="1800" b="1">
                <a:solidFill>
                  <a:schemeClr val="bg2">
                    <a:lumMod val="25000"/>
                  </a:schemeClr>
                </a:solidFill>
              </a:rPr>
              <a:t>Multimedia System</a:t>
            </a:r>
            <a:endParaRPr lang="en-US" b="1"/>
          </a:p>
        </p:txBody>
      </p:sp>
    </p:spTree>
    <p:extLst>
      <p:ext uri="{BB962C8B-B14F-4D97-AF65-F5344CB8AC3E}">
        <p14:creationId xmlns:p14="http://schemas.microsoft.com/office/powerpoint/2010/main" val="2824239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61CEE-68A0-A414-14F5-0A70871F41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0DCC02-703B-9784-5313-387B48052872}"/>
              </a:ext>
            </a:extLst>
          </p:cNvPr>
          <p:cNvSpPr>
            <a:spLocks noGrp="1"/>
          </p:cNvSpPr>
          <p:nvPr>
            <p:ph type="body" sz="quarter" idx="10"/>
          </p:nvPr>
        </p:nvSpPr>
        <p:spPr>
          <a:xfrm>
            <a:off x="620112" y="2517788"/>
            <a:ext cx="10800557" cy="2194234"/>
          </a:xfrm>
        </p:spPr>
        <p:txBody>
          <a:bodyPr/>
          <a:lstStyle/>
          <a:p>
            <a:r>
              <a:rPr lang="en-US"/>
              <a:t>Dữ liệu đa phương tiện</a:t>
            </a:r>
            <a:endParaRPr lang="en-US" dirty="0"/>
          </a:p>
        </p:txBody>
      </p:sp>
      <p:sp>
        <p:nvSpPr>
          <p:cNvPr id="4" name="Slide Number Placeholder 3">
            <a:extLst>
              <a:ext uri="{FF2B5EF4-FFF2-40B4-BE49-F238E27FC236}">
                <a16:creationId xmlns:a16="http://schemas.microsoft.com/office/drawing/2014/main" id="{257C05DD-C47E-C992-81B3-7B604176D088}"/>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7</a:t>
            </a:fld>
            <a:endParaRPr lang="en-US" dirty="0">
              <a:solidFill>
                <a:prstClr val="white"/>
              </a:solidFill>
            </a:endParaRPr>
          </a:p>
        </p:txBody>
      </p:sp>
    </p:spTree>
    <p:extLst>
      <p:ext uri="{BB962C8B-B14F-4D97-AF65-F5344CB8AC3E}">
        <p14:creationId xmlns:p14="http://schemas.microsoft.com/office/powerpoint/2010/main" val="298464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41D5-7859-AEC1-F2BA-AD0157D66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4BC52-4973-EC3E-4BB9-70843DAD809D}"/>
              </a:ext>
            </a:extLst>
          </p:cNvPr>
          <p:cNvSpPr>
            <a:spLocks noGrp="1"/>
          </p:cNvSpPr>
          <p:nvPr>
            <p:ph type="title"/>
          </p:nvPr>
        </p:nvSpPr>
        <p:spPr/>
        <p:txBody>
          <a:bodyPr>
            <a:noAutofit/>
          </a:bodyPr>
          <a:lstStyle/>
          <a:p>
            <a:r>
              <a:rPr lang="en-US" sz="2800"/>
              <a:t>2. Multimedia Data (Dữ liệu đa phương tiện)</a:t>
            </a:r>
            <a:endParaRPr sz="2800" dirty="0"/>
          </a:p>
        </p:txBody>
      </p:sp>
      <p:sp>
        <p:nvSpPr>
          <p:cNvPr id="3" name="TextBox 2">
            <a:extLst>
              <a:ext uri="{FF2B5EF4-FFF2-40B4-BE49-F238E27FC236}">
                <a16:creationId xmlns:a16="http://schemas.microsoft.com/office/drawing/2014/main" id="{D2D09712-D494-6E14-6D90-0547BB7776B7}"/>
              </a:ext>
            </a:extLst>
          </p:cNvPr>
          <p:cNvSpPr txBox="1"/>
          <p:nvPr/>
        </p:nvSpPr>
        <p:spPr>
          <a:xfrm>
            <a:off x="762466" y="809393"/>
            <a:ext cx="10924709" cy="5386090"/>
          </a:xfrm>
          <a:prstGeom prst="rect">
            <a:avLst/>
          </a:prstGeom>
          <a:noFill/>
        </p:spPr>
        <p:txBody>
          <a:bodyPr wrap="square" rtlCol="0">
            <a:spAutoFit/>
          </a:bodyPr>
          <a:lstStyle/>
          <a:p>
            <a:r>
              <a:rPr lang="en-US" sz="2400" b="1">
                <a:latin typeface="+mj-lt"/>
              </a:rPr>
              <a:t>Dữ liệu dạng văn bản</a:t>
            </a:r>
            <a:r>
              <a:rPr lang="en-US" sz="2000" b="1">
                <a:latin typeface="+mj-lt"/>
              </a:rPr>
              <a:t>:</a:t>
            </a:r>
          </a:p>
          <a:p>
            <a:pPr marL="342900" indent="-342900">
              <a:buFont typeface="Arial" panose="020B0604020202020204" pitchFamily="34" charset="0"/>
              <a:buChar char="•"/>
            </a:pPr>
            <a:r>
              <a:rPr lang="en-US" sz="2000">
                <a:solidFill>
                  <a:schemeClr val="bg2">
                    <a:lumMod val="25000"/>
                  </a:schemeClr>
                </a:solidFill>
              </a:rPr>
              <a:t>Chứa thông tin chủ đạo</a:t>
            </a:r>
          </a:p>
          <a:p>
            <a:pPr marL="342900" indent="-342900">
              <a:buFont typeface="Arial" panose="020B0604020202020204" pitchFamily="34" charset="0"/>
              <a:buChar char="•"/>
            </a:pPr>
            <a:r>
              <a:rPr lang="en-US" sz="2000">
                <a:solidFill>
                  <a:schemeClr val="bg2">
                    <a:lumMod val="25000"/>
                  </a:schemeClr>
                </a:solidFill>
              </a:rPr>
              <a:t>Đầu vào: bàn phím, các chương trình nhận dạng âm thanh và ký tự, dữ liệu trên đĩa, phụ đề phim</a:t>
            </a: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Định dạng: đa dạng </a:t>
            </a:r>
            <a:r>
              <a:rPr lang="vi-VN" sz="2000">
                <a:solidFill>
                  <a:schemeClr val="bg2">
                    <a:lumMod val="25000"/>
                  </a:schemeClr>
                </a:solidFill>
              </a:rPr>
              <a:t>text thường (file ASCII) hoặc text đã được định dạng (màu sắc, độ bóng, ...) (html, xml, RTF, Word, mã nguồn của chương trình C, Pascal, ... )</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Kích thước lưu trữ: </a:t>
            </a:r>
            <a:r>
              <a:rPr lang="vi-VN" sz="2000">
                <a:solidFill>
                  <a:schemeClr val="bg2">
                    <a:lumMod val="25000"/>
                  </a:schemeClr>
                </a:solidFill>
              </a:rPr>
              <a:t>không đáng kể so với các dữ liệu đa phương tiện khác</a:t>
            </a:r>
            <a:endParaRPr lang="en-US" sz="2000">
              <a:solidFill>
                <a:schemeClr val="bg2">
                  <a:lumMod val="25000"/>
                </a:schemeClr>
              </a:solidFill>
            </a:endParaRPr>
          </a:p>
        </p:txBody>
      </p:sp>
      <p:pic>
        <p:nvPicPr>
          <p:cNvPr id="11" name="Picture 10" descr="A collage of a person holding his arm up&#10;&#10;AI-generated content may be incorrect.">
            <a:extLst>
              <a:ext uri="{FF2B5EF4-FFF2-40B4-BE49-F238E27FC236}">
                <a16:creationId xmlns:a16="http://schemas.microsoft.com/office/drawing/2014/main" id="{6C75E9B9-BCA0-B17A-01FC-AAC3F7E7216B}"/>
              </a:ext>
            </a:extLst>
          </p:cNvPr>
          <p:cNvPicPr>
            <a:picLocks noChangeAspect="1"/>
          </p:cNvPicPr>
          <p:nvPr/>
        </p:nvPicPr>
        <p:blipFill>
          <a:blip r:embed="rId3"/>
          <a:stretch>
            <a:fillRect/>
          </a:stretch>
        </p:blipFill>
        <p:spPr>
          <a:xfrm>
            <a:off x="1937780" y="2066735"/>
            <a:ext cx="7992590" cy="2724530"/>
          </a:xfrm>
          <a:prstGeom prst="rect">
            <a:avLst/>
          </a:prstGeom>
        </p:spPr>
      </p:pic>
    </p:spTree>
    <p:extLst>
      <p:ext uri="{BB962C8B-B14F-4D97-AF65-F5344CB8AC3E}">
        <p14:creationId xmlns:p14="http://schemas.microsoft.com/office/powerpoint/2010/main" val="1130437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FFB34-17B6-BA50-C6AA-27EEDEA24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A1897-8051-C7F9-A70E-419E09584D71}"/>
              </a:ext>
            </a:extLst>
          </p:cNvPr>
          <p:cNvSpPr>
            <a:spLocks noGrp="1"/>
          </p:cNvSpPr>
          <p:nvPr>
            <p:ph type="title"/>
          </p:nvPr>
        </p:nvSpPr>
        <p:spPr/>
        <p:txBody>
          <a:bodyPr>
            <a:noAutofit/>
          </a:bodyPr>
          <a:lstStyle/>
          <a:p>
            <a:r>
              <a:rPr lang="en-US" sz="2800"/>
              <a:t>2. Multimedia Data (Dữ liệu đa phương tiện)</a:t>
            </a:r>
            <a:endParaRPr sz="2800" dirty="0"/>
          </a:p>
        </p:txBody>
      </p:sp>
      <p:sp>
        <p:nvSpPr>
          <p:cNvPr id="3" name="TextBox 2">
            <a:extLst>
              <a:ext uri="{FF2B5EF4-FFF2-40B4-BE49-F238E27FC236}">
                <a16:creationId xmlns:a16="http://schemas.microsoft.com/office/drawing/2014/main" id="{B0A202D7-0735-02BA-5B71-F4A1FE85D424}"/>
              </a:ext>
            </a:extLst>
          </p:cNvPr>
          <p:cNvSpPr txBox="1"/>
          <p:nvPr/>
        </p:nvSpPr>
        <p:spPr>
          <a:xfrm>
            <a:off x="762466" y="809393"/>
            <a:ext cx="10924709" cy="5386090"/>
          </a:xfrm>
          <a:prstGeom prst="rect">
            <a:avLst/>
          </a:prstGeom>
          <a:noFill/>
        </p:spPr>
        <p:txBody>
          <a:bodyPr wrap="square" rtlCol="0">
            <a:spAutoFit/>
          </a:bodyPr>
          <a:lstStyle/>
          <a:p>
            <a:r>
              <a:rPr lang="en-US" sz="2400" b="1">
                <a:latin typeface="+mj-lt"/>
              </a:rPr>
              <a:t>Dữ liệu đồ họa</a:t>
            </a:r>
            <a:r>
              <a:rPr lang="en-US" sz="2000" b="1">
                <a:latin typeface="+mj-lt"/>
              </a:rPr>
              <a:t>:</a:t>
            </a:r>
          </a:p>
          <a:p>
            <a:pPr marL="342900" indent="-342900">
              <a:buFont typeface="Arial" panose="020B0604020202020204" pitchFamily="34" charset="0"/>
              <a:buChar char="•"/>
            </a:pPr>
            <a:r>
              <a:rPr lang="en-US" sz="2000">
                <a:solidFill>
                  <a:schemeClr val="bg2">
                    <a:lumMod val="25000"/>
                  </a:schemeClr>
                </a:solidFill>
              </a:rPr>
              <a:t>Gồm các cấu trúc đặc biệt được xây dựng bởi các đối tượng cơ bản: </a:t>
            </a:r>
            <a:r>
              <a:rPr lang="en-US" sz="2000" b="1">
                <a:solidFill>
                  <a:schemeClr val="bg2">
                    <a:lumMod val="25000"/>
                  </a:schemeClr>
                </a:solidFill>
              </a:rPr>
              <a:t>đường cong, đường thẳng, đa giác, đường tròn</a:t>
            </a:r>
            <a:r>
              <a:rPr lang="en-US" sz="2000">
                <a:solidFill>
                  <a:schemeClr val="bg2">
                    <a:lumMod val="25000"/>
                  </a:schemeClr>
                </a:solidFill>
              </a:rPr>
              <a:t>,... để tạo ra đối tượng 2D, 3D</a:t>
            </a:r>
          </a:p>
          <a:p>
            <a:pPr marL="342900" indent="-342900">
              <a:buFont typeface="Arial" panose="020B0604020202020204" pitchFamily="34" charset="0"/>
              <a:buChar char="•"/>
            </a:pPr>
            <a:r>
              <a:rPr lang="en-US" sz="2000">
                <a:solidFill>
                  <a:schemeClr val="bg2">
                    <a:lumMod val="25000"/>
                  </a:schemeClr>
                </a:solidFill>
              </a:rPr>
              <a:t>Đầu vào: </a:t>
            </a:r>
            <a:r>
              <a:rPr lang="vi-VN" sz="2000">
                <a:solidFill>
                  <a:schemeClr val="bg2">
                    <a:lumMod val="25000"/>
                  </a:schemeClr>
                </a:solidFill>
              </a:rPr>
              <a:t>trình soạn thảo đồ họa (Adobe Illustrator, Autocad, ..) hoặc bởi các chương trình khác (Postscript)</a:t>
            </a: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Dễ sửa đổi</a:t>
            </a:r>
          </a:p>
          <a:p>
            <a:pPr marL="342900" indent="-342900">
              <a:buFont typeface="Arial" panose="020B0604020202020204" pitchFamily="34" charset="0"/>
              <a:buChar char="•"/>
            </a:pPr>
            <a:r>
              <a:rPr lang="en-US" sz="2000">
                <a:solidFill>
                  <a:schemeClr val="bg2">
                    <a:lumMod val="25000"/>
                  </a:schemeClr>
                </a:solidFill>
              </a:rPr>
              <a:t>Chuẩn đồ họa: OpenGL, PHIGS, GKS</a:t>
            </a:r>
          </a:p>
          <a:p>
            <a:pPr marL="342900" indent="-342900">
              <a:buFont typeface="Arial" panose="020B0604020202020204" pitchFamily="34" charset="0"/>
              <a:buChar char="•"/>
            </a:pPr>
            <a:r>
              <a:rPr lang="en-US" sz="2000">
                <a:solidFill>
                  <a:schemeClr val="bg2">
                    <a:lumMod val="25000"/>
                  </a:schemeClr>
                </a:solidFill>
              </a:rPr>
              <a:t>Kích thước lữu trữ: không quá lớn</a:t>
            </a:r>
          </a:p>
        </p:txBody>
      </p:sp>
      <p:pic>
        <p:nvPicPr>
          <p:cNvPr id="5" name="Picture 4" descr="A group of geometric shapes&#10;&#10;AI-generated content may be incorrect.">
            <a:extLst>
              <a:ext uri="{FF2B5EF4-FFF2-40B4-BE49-F238E27FC236}">
                <a16:creationId xmlns:a16="http://schemas.microsoft.com/office/drawing/2014/main" id="{0B3D4E79-3530-EC8A-079B-7FDFC26A6EBF}"/>
              </a:ext>
            </a:extLst>
          </p:cNvPr>
          <p:cNvPicPr>
            <a:picLocks noChangeAspect="1"/>
          </p:cNvPicPr>
          <p:nvPr/>
        </p:nvPicPr>
        <p:blipFill>
          <a:blip r:embed="rId3"/>
          <a:srcRect l="-1" t="9700" r="2890"/>
          <a:stretch>
            <a:fillRect/>
          </a:stretch>
        </p:blipFill>
        <p:spPr>
          <a:xfrm>
            <a:off x="3638550" y="3019425"/>
            <a:ext cx="1257373" cy="1039286"/>
          </a:xfrm>
          <a:prstGeom prst="rect">
            <a:avLst/>
          </a:prstGeom>
        </p:spPr>
      </p:pic>
      <p:pic>
        <p:nvPicPr>
          <p:cNvPr id="8" name="Picture 7" descr="A collage of various objects&#10;&#10;AI-generated content may be incorrect.">
            <a:extLst>
              <a:ext uri="{FF2B5EF4-FFF2-40B4-BE49-F238E27FC236}">
                <a16:creationId xmlns:a16="http://schemas.microsoft.com/office/drawing/2014/main" id="{64640EBA-97DE-4980-1FC9-68B803A0280C}"/>
              </a:ext>
            </a:extLst>
          </p:cNvPr>
          <p:cNvPicPr>
            <a:picLocks noChangeAspect="1"/>
          </p:cNvPicPr>
          <p:nvPr/>
        </p:nvPicPr>
        <p:blipFill>
          <a:blip r:embed="rId4"/>
          <a:stretch>
            <a:fillRect/>
          </a:stretch>
        </p:blipFill>
        <p:spPr>
          <a:xfrm>
            <a:off x="7033967" y="2525163"/>
            <a:ext cx="2338633" cy="2224553"/>
          </a:xfrm>
          <a:prstGeom prst="rect">
            <a:avLst/>
          </a:prstGeom>
        </p:spPr>
      </p:pic>
      <p:cxnSp>
        <p:nvCxnSpPr>
          <p:cNvPr id="10" name="Straight Arrow Connector 9">
            <a:extLst>
              <a:ext uri="{FF2B5EF4-FFF2-40B4-BE49-F238E27FC236}">
                <a16:creationId xmlns:a16="http://schemas.microsoft.com/office/drawing/2014/main" id="{90127773-DC85-7B95-E7F9-6AF36F2062CE}"/>
              </a:ext>
            </a:extLst>
          </p:cNvPr>
          <p:cNvCxnSpPr>
            <a:cxnSpLocks/>
          </p:cNvCxnSpPr>
          <p:nvPr/>
        </p:nvCxnSpPr>
        <p:spPr>
          <a:xfrm>
            <a:off x="5210175" y="3539068"/>
            <a:ext cx="13811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16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3703C-9FA0-F126-6176-5E936C85F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9283B-1B15-511B-5034-8C027A61F1C9}"/>
              </a:ext>
            </a:extLst>
          </p:cNvPr>
          <p:cNvSpPr>
            <a:spLocks noGrp="1"/>
          </p:cNvSpPr>
          <p:nvPr>
            <p:ph type="title"/>
          </p:nvPr>
        </p:nvSpPr>
        <p:spPr/>
        <p:txBody>
          <a:bodyPr>
            <a:noAutofit/>
          </a:bodyPr>
          <a:lstStyle/>
          <a:p>
            <a:r>
              <a:rPr lang="en-US" sz="2800"/>
              <a:t>2. Multimedia Data (Dữ liệu đa phương tiện)</a:t>
            </a:r>
            <a:endParaRPr sz="2800" dirty="0"/>
          </a:p>
        </p:txBody>
      </p:sp>
      <p:sp>
        <p:nvSpPr>
          <p:cNvPr id="3" name="TextBox 2">
            <a:extLst>
              <a:ext uri="{FF2B5EF4-FFF2-40B4-BE49-F238E27FC236}">
                <a16:creationId xmlns:a16="http://schemas.microsoft.com/office/drawing/2014/main" id="{25AE989E-D02E-7846-9755-CFB7C6E7FFED}"/>
              </a:ext>
            </a:extLst>
          </p:cNvPr>
          <p:cNvSpPr txBox="1"/>
          <p:nvPr/>
        </p:nvSpPr>
        <p:spPr>
          <a:xfrm>
            <a:off x="762467" y="809393"/>
            <a:ext cx="10553234" cy="5355312"/>
          </a:xfrm>
          <a:prstGeom prst="rect">
            <a:avLst/>
          </a:prstGeom>
          <a:noFill/>
        </p:spPr>
        <p:txBody>
          <a:bodyPr wrap="square" rtlCol="0">
            <a:spAutoFit/>
          </a:bodyPr>
          <a:lstStyle/>
          <a:p>
            <a:r>
              <a:rPr lang="en-US" sz="2400" b="1">
                <a:latin typeface="+mj-lt"/>
              </a:rPr>
              <a:t>Dữ liệu ảnh</a:t>
            </a:r>
            <a:r>
              <a:rPr lang="en-US" sz="2000" b="1">
                <a:latin typeface="+mj-lt"/>
              </a:rPr>
              <a:t>:</a:t>
            </a:r>
          </a:p>
          <a:p>
            <a:pPr marL="342900" indent="-342900">
              <a:buFont typeface="Arial" panose="020B0604020202020204" pitchFamily="34" charset="0"/>
              <a:buChar char="•"/>
            </a:pPr>
            <a:r>
              <a:rPr lang="vi-VN" sz="2000">
                <a:solidFill>
                  <a:schemeClr val="bg2">
                    <a:lumMod val="25000"/>
                  </a:schemeClr>
                </a:solidFill>
              </a:rPr>
              <a:t>Ảnh số là một chuỗi các điểm ảnh để biểu diễn 1 vùng sẽ được hiển thị trên màn hình của người sử dụng</a:t>
            </a:r>
            <a:r>
              <a:rPr lang="en-US" sz="2000">
                <a:solidFill>
                  <a:schemeClr val="bg2">
                    <a:lumMod val="25000"/>
                  </a:schemeClr>
                </a:solidFill>
              </a:rPr>
              <a:t>. Thông tin đa dạng bao gồm: ảnh tự nhiên, ảnh nhân tạo và từ các thiết bị đặc biệt</a:t>
            </a:r>
          </a:p>
          <a:p>
            <a:pPr marL="342900" indent="-342900">
              <a:buFont typeface="Arial" panose="020B0604020202020204" pitchFamily="34" charset="0"/>
              <a:buChar char="•"/>
            </a:pPr>
            <a:r>
              <a:rPr lang="en-US" sz="2000">
                <a:solidFill>
                  <a:schemeClr val="bg2">
                    <a:lumMod val="25000"/>
                  </a:schemeClr>
                </a:solidFill>
              </a:rPr>
              <a:t>Đầu vào: </a:t>
            </a:r>
            <a:r>
              <a:rPr lang="vi-VN" sz="2000">
                <a:solidFill>
                  <a:schemeClr val="bg2">
                    <a:lumMod val="25000"/>
                  </a:schemeClr>
                </a:solidFill>
              </a:rPr>
              <a:t>cam</a:t>
            </a:r>
            <a:r>
              <a:rPr lang="en-US" sz="2000">
                <a:solidFill>
                  <a:schemeClr val="bg2">
                    <a:lumMod val="25000"/>
                  </a:schemeClr>
                </a:solidFill>
              </a:rPr>
              <a:t>e</a:t>
            </a:r>
            <a:r>
              <a:rPr lang="vi-VN" sz="2000">
                <a:solidFill>
                  <a:schemeClr val="bg2">
                    <a:lumMod val="25000"/>
                  </a:schemeClr>
                </a:solidFill>
              </a:rPr>
              <a:t>ra, scan, sinh ra từ các chương trình mô phỏng hay các phần mềm tạo và xử lý ảnh</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Định dạng: jpg, png, bmp, tiff,...</a:t>
            </a:r>
          </a:p>
          <a:p>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Ảnh thường được nén để giảm không gian lưu trữ</a:t>
            </a:r>
          </a:p>
          <a:p>
            <a:pPr marL="342900" indent="-342900">
              <a:buFont typeface="Arial" panose="020B0604020202020204" pitchFamily="34" charset="0"/>
              <a:buChar char="•"/>
            </a:pPr>
            <a:r>
              <a:rPr lang="en-US" sz="2000">
                <a:solidFill>
                  <a:schemeClr val="bg2">
                    <a:lumMod val="25000"/>
                  </a:schemeClr>
                </a:solidFill>
              </a:rPr>
              <a:t>Kích thước lưu trữ: </a:t>
            </a:r>
            <a:r>
              <a:rPr lang="vi-VN" sz="2000">
                <a:solidFill>
                  <a:schemeClr val="bg2">
                    <a:lumMod val="25000"/>
                  </a:schemeClr>
                </a:solidFill>
              </a:rPr>
              <a:t>phụ thuộc vào kích thước ảnh, độ phân giải, kỹ thuật nén (nếu có). 1 bit / 1 pixel (ảnh nhị phân)</a:t>
            </a:r>
            <a:r>
              <a:rPr lang="en-US" sz="2000">
                <a:solidFill>
                  <a:schemeClr val="bg2">
                    <a:lumMod val="25000"/>
                  </a:schemeClr>
                </a:solidFill>
              </a:rPr>
              <a:t>,</a:t>
            </a:r>
            <a:r>
              <a:rPr lang="vi-VN" sz="2000">
                <a:solidFill>
                  <a:schemeClr val="bg2">
                    <a:lumMod val="25000"/>
                  </a:schemeClr>
                </a:solidFill>
              </a:rPr>
              <a:t> 8 bits/ 1pixel (ảnh đa mức xám)</a:t>
            </a:r>
            <a:r>
              <a:rPr lang="en-US" sz="2000">
                <a:solidFill>
                  <a:schemeClr val="bg2">
                    <a:lumMod val="25000"/>
                  </a:schemeClr>
                </a:solidFill>
              </a:rPr>
              <a:t>,</a:t>
            </a:r>
            <a:r>
              <a:rPr lang="vi-VN" sz="2000">
                <a:solidFill>
                  <a:schemeClr val="bg2">
                    <a:lumMod val="25000"/>
                  </a:schemeClr>
                </a:solidFill>
              </a:rPr>
              <a:t> 24 bits / 1pixel (ảnh màu</a:t>
            </a:r>
            <a:r>
              <a:rPr lang="en-US" sz="2000">
                <a:solidFill>
                  <a:schemeClr val="bg2">
                    <a:lumMod val="25000"/>
                  </a:schemeClr>
                </a:solidFill>
              </a:rPr>
              <a:t>)</a:t>
            </a:r>
          </a:p>
        </p:txBody>
      </p:sp>
      <p:pic>
        <p:nvPicPr>
          <p:cNvPr id="6" name="Picture 5" descr="A hand with a glowing light&#10;&#10;AI-generated content may be incorrect.">
            <a:extLst>
              <a:ext uri="{FF2B5EF4-FFF2-40B4-BE49-F238E27FC236}">
                <a16:creationId xmlns:a16="http://schemas.microsoft.com/office/drawing/2014/main" id="{6EAF3699-F699-8ED8-DF52-AA9C19F55B4D}"/>
              </a:ext>
            </a:extLst>
          </p:cNvPr>
          <p:cNvPicPr>
            <a:picLocks noChangeAspect="1"/>
          </p:cNvPicPr>
          <p:nvPr/>
        </p:nvPicPr>
        <p:blipFill>
          <a:blip r:embed="rId3"/>
          <a:stretch>
            <a:fillRect/>
          </a:stretch>
        </p:blipFill>
        <p:spPr>
          <a:xfrm>
            <a:off x="3824743" y="2793525"/>
            <a:ext cx="2567140" cy="1928158"/>
          </a:xfrm>
          <a:prstGeom prst="rect">
            <a:avLst/>
          </a:prstGeom>
        </p:spPr>
      </p:pic>
      <p:pic>
        <p:nvPicPr>
          <p:cNvPr id="4098" name="Picture 2" descr="Sự thật thú vị về cỏ 3 lá, cỏ 4 lá và ý nghĩa của chúng">
            <a:extLst>
              <a:ext uri="{FF2B5EF4-FFF2-40B4-BE49-F238E27FC236}">
                <a16:creationId xmlns:a16="http://schemas.microsoft.com/office/drawing/2014/main" id="{D7AB048A-E26B-4D7A-155C-4689D4C70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471" y="2854537"/>
            <a:ext cx="2381839" cy="180613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X-ray of a chest and a dna strand&#10;&#10;AI-generated content may be incorrect.">
            <a:extLst>
              <a:ext uri="{FF2B5EF4-FFF2-40B4-BE49-F238E27FC236}">
                <a16:creationId xmlns:a16="http://schemas.microsoft.com/office/drawing/2014/main" id="{3FB473D3-EC61-BD33-AC86-BE3B940C8730}"/>
              </a:ext>
            </a:extLst>
          </p:cNvPr>
          <p:cNvPicPr>
            <a:picLocks noChangeAspect="1"/>
          </p:cNvPicPr>
          <p:nvPr/>
        </p:nvPicPr>
        <p:blipFill>
          <a:blip r:embed="rId5"/>
          <a:stretch>
            <a:fillRect/>
          </a:stretch>
        </p:blipFill>
        <p:spPr>
          <a:xfrm>
            <a:off x="6500815" y="2793525"/>
            <a:ext cx="4928718" cy="1928158"/>
          </a:xfrm>
          <a:prstGeom prst="rect">
            <a:avLst/>
          </a:prstGeom>
        </p:spPr>
      </p:pic>
    </p:spTree>
    <p:extLst>
      <p:ext uri="{BB962C8B-B14F-4D97-AF65-F5344CB8AC3E}">
        <p14:creationId xmlns:p14="http://schemas.microsoft.com/office/powerpoint/2010/main" val="2597025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D246-4BCD-F5C9-1C81-38D049627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3F909-6D7F-281E-8067-2237D9E7D4BB}"/>
              </a:ext>
            </a:extLst>
          </p:cNvPr>
          <p:cNvSpPr>
            <a:spLocks noGrp="1"/>
          </p:cNvSpPr>
          <p:nvPr>
            <p:ph type="title"/>
          </p:nvPr>
        </p:nvSpPr>
        <p:spPr/>
        <p:txBody>
          <a:bodyPr>
            <a:noAutofit/>
          </a:bodyPr>
          <a:lstStyle/>
          <a:p>
            <a:r>
              <a:rPr lang="en-US" sz="2800"/>
              <a:t>2. Multimedia Data (Dữ liệu đa phương tiện)</a:t>
            </a:r>
            <a:endParaRPr sz="2800" dirty="0"/>
          </a:p>
        </p:txBody>
      </p:sp>
      <p:sp>
        <p:nvSpPr>
          <p:cNvPr id="3" name="TextBox 2">
            <a:extLst>
              <a:ext uri="{FF2B5EF4-FFF2-40B4-BE49-F238E27FC236}">
                <a16:creationId xmlns:a16="http://schemas.microsoft.com/office/drawing/2014/main" id="{A2DD4421-19B5-9356-0365-D9B4C57884C5}"/>
              </a:ext>
            </a:extLst>
          </p:cNvPr>
          <p:cNvSpPr txBox="1"/>
          <p:nvPr/>
        </p:nvSpPr>
        <p:spPr>
          <a:xfrm>
            <a:off x="762467" y="809393"/>
            <a:ext cx="10553234" cy="5078313"/>
          </a:xfrm>
          <a:prstGeom prst="rect">
            <a:avLst/>
          </a:prstGeom>
          <a:noFill/>
        </p:spPr>
        <p:txBody>
          <a:bodyPr wrap="square" rtlCol="0">
            <a:spAutoFit/>
          </a:bodyPr>
          <a:lstStyle/>
          <a:p>
            <a:r>
              <a:rPr lang="en-US" sz="2400" b="1">
                <a:latin typeface="+mj-lt"/>
              </a:rPr>
              <a:t>Dữ liệu âm thanh</a:t>
            </a:r>
            <a:r>
              <a:rPr lang="en-US" sz="2000" b="1">
                <a:latin typeface="+mj-lt"/>
              </a:rPr>
              <a:t>:</a:t>
            </a:r>
          </a:p>
          <a:p>
            <a:pPr marL="342900" indent="-342900">
              <a:buFont typeface="Arial" panose="020B0604020202020204" pitchFamily="34" charset="0"/>
              <a:buChar char="•"/>
            </a:pPr>
            <a:r>
              <a:rPr lang="vi-VN" sz="2000">
                <a:solidFill>
                  <a:schemeClr val="bg2">
                    <a:lumMod val="25000"/>
                  </a:schemeClr>
                </a:solidFill>
              </a:rPr>
              <a:t>Tiếng động, tiếng nói (văn bản đi kèm), nhạc, phim, các chương trình dịch tự động từ văn bản,…</a:t>
            </a:r>
            <a:r>
              <a:rPr lang="en-US" sz="2000">
                <a:solidFill>
                  <a:schemeClr val="bg2">
                    <a:lumMod val="25000"/>
                  </a:schemeClr>
                </a:solidFill>
              </a:rPr>
              <a:t> Là các tín hiệu tương tự và liên tục nhau</a:t>
            </a:r>
          </a:p>
          <a:p>
            <a:pPr marL="342900" indent="-342900">
              <a:buFont typeface="Arial" panose="020B0604020202020204" pitchFamily="34" charset="0"/>
              <a:buChar char="•"/>
            </a:pPr>
            <a:r>
              <a:rPr lang="en-US" sz="2000">
                <a:solidFill>
                  <a:schemeClr val="bg2">
                    <a:lumMod val="25000"/>
                  </a:schemeClr>
                </a:solidFill>
              </a:rPr>
              <a:t>Đầu vào: Microphone -&gt; số hóa và lưu trữ</a:t>
            </a:r>
          </a:p>
          <a:p>
            <a:pPr marL="342900" indent="-342900">
              <a:buFont typeface="Arial" panose="020B0604020202020204" pitchFamily="34" charset="0"/>
              <a:buChar char="•"/>
            </a:pPr>
            <a:endParaRPr lang="en-US" sz="2000">
              <a:solidFill>
                <a:schemeClr val="bg2">
                  <a:lumMod val="25000"/>
                </a:schemeClr>
              </a:solidFill>
            </a:endParaRPr>
          </a:p>
          <a:p>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Thường được nén lại để giảm kích thước (mp3, aac, Flac, Ogg Vorbis, …)</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Kích thước lưu trữ: lớn (ví dụ: 1 phút của 1 mono CD: 5MB, 1 phút của stereo CD: 10MB)</a:t>
            </a:r>
          </a:p>
        </p:txBody>
      </p:sp>
      <p:pic>
        <p:nvPicPr>
          <p:cNvPr id="5" name="Picture 4" descr="A close-up of a sound wave&#10;&#10;AI-generated content may be incorrect.">
            <a:extLst>
              <a:ext uri="{FF2B5EF4-FFF2-40B4-BE49-F238E27FC236}">
                <a16:creationId xmlns:a16="http://schemas.microsoft.com/office/drawing/2014/main" id="{25970C7A-1C79-3E88-EF96-B585A4C503BF}"/>
              </a:ext>
            </a:extLst>
          </p:cNvPr>
          <p:cNvPicPr>
            <a:picLocks noChangeAspect="1"/>
          </p:cNvPicPr>
          <p:nvPr/>
        </p:nvPicPr>
        <p:blipFill>
          <a:blip r:embed="rId3"/>
          <a:stretch>
            <a:fillRect/>
          </a:stretch>
        </p:blipFill>
        <p:spPr>
          <a:xfrm>
            <a:off x="5495925" y="2300215"/>
            <a:ext cx="4343400" cy="2703545"/>
          </a:xfrm>
          <a:prstGeom prst="rect">
            <a:avLst/>
          </a:prstGeom>
        </p:spPr>
      </p:pic>
      <p:pic>
        <p:nvPicPr>
          <p:cNvPr id="8" name="Picture 7" descr="A black and white microphone&#10;&#10;AI-generated content may be incorrect.">
            <a:extLst>
              <a:ext uri="{FF2B5EF4-FFF2-40B4-BE49-F238E27FC236}">
                <a16:creationId xmlns:a16="http://schemas.microsoft.com/office/drawing/2014/main" id="{AADBABF7-E4B6-79AC-7B2A-B79FA30BFAA8}"/>
              </a:ext>
            </a:extLst>
          </p:cNvPr>
          <p:cNvPicPr>
            <a:picLocks noChangeAspect="1"/>
          </p:cNvPicPr>
          <p:nvPr/>
        </p:nvPicPr>
        <p:blipFill>
          <a:blip r:embed="rId4"/>
          <a:stretch>
            <a:fillRect/>
          </a:stretch>
        </p:blipFill>
        <p:spPr>
          <a:xfrm>
            <a:off x="2352675" y="2875591"/>
            <a:ext cx="1457528" cy="1552792"/>
          </a:xfrm>
          <a:prstGeom prst="rect">
            <a:avLst/>
          </a:prstGeom>
        </p:spPr>
      </p:pic>
      <p:cxnSp>
        <p:nvCxnSpPr>
          <p:cNvPr id="10" name="Straight Arrow Connector 9">
            <a:extLst>
              <a:ext uri="{FF2B5EF4-FFF2-40B4-BE49-F238E27FC236}">
                <a16:creationId xmlns:a16="http://schemas.microsoft.com/office/drawing/2014/main" id="{D754DDC3-BB0B-6238-8FAC-4CFC36B8943E}"/>
              </a:ext>
            </a:extLst>
          </p:cNvPr>
          <p:cNvCxnSpPr>
            <a:cxnSpLocks/>
          </p:cNvCxnSpPr>
          <p:nvPr/>
        </p:nvCxnSpPr>
        <p:spPr>
          <a:xfrm>
            <a:off x="3914775" y="3643843"/>
            <a:ext cx="13811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604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4B0A8-690D-7805-3792-5664DC450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461F2-C080-5FC0-65FA-6AFF4123D6FE}"/>
              </a:ext>
            </a:extLst>
          </p:cNvPr>
          <p:cNvSpPr>
            <a:spLocks noGrp="1"/>
          </p:cNvSpPr>
          <p:nvPr>
            <p:ph type="title"/>
          </p:nvPr>
        </p:nvSpPr>
        <p:spPr/>
        <p:txBody>
          <a:bodyPr>
            <a:noAutofit/>
          </a:bodyPr>
          <a:lstStyle/>
          <a:p>
            <a:r>
              <a:rPr lang="en-US" sz="2800"/>
              <a:t>2. Multimedia Data (Dữ liệu đa phương tiện)</a:t>
            </a:r>
            <a:endParaRPr sz="2800" dirty="0"/>
          </a:p>
        </p:txBody>
      </p:sp>
      <p:sp>
        <p:nvSpPr>
          <p:cNvPr id="3" name="TextBox 2">
            <a:extLst>
              <a:ext uri="{FF2B5EF4-FFF2-40B4-BE49-F238E27FC236}">
                <a16:creationId xmlns:a16="http://schemas.microsoft.com/office/drawing/2014/main" id="{4BAF4BDA-BAFD-6A19-7F9F-E7EF15C2FFF5}"/>
              </a:ext>
            </a:extLst>
          </p:cNvPr>
          <p:cNvSpPr txBox="1"/>
          <p:nvPr/>
        </p:nvSpPr>
        <p:spPr>
          <a:xfrm>
            <a:off x="762467" y="809393"/>
            <a:ext cx="10553234" cy="4770537"/>
          </a:xfrm>
          <a:prstGeom prst="rect">
            <a:avLst/>
          </a:prstGeom>
          <a:noFill/>
        </p:spPr>
        <p:txBody>
          <a:bodyPr wrap="square" rtlCol="0">
            <a:spAutoFit/>
          </a:bodyPr>
          <a:lstStyle/>
          <a:p>
            <a:r>
              <a:rPr lang="en-US" sz="2400" b="1">
                <a:latin typeface="+mj-lt"/>
              </a:rPr>
              <a:t>Dữ liệu video</a:t>
            </a:r>
            <a:r>
              <a:rPr lang="en-US" sz="2000" b="1">
                <a:latin typeface="+mj-lt"/>
              </a:rPr>
              <a:t>:</a:t>
            </a:r>
          </a:p>
          <a:p>
            <a:pPr marL="342900" indent="-342900">
              <a:buFont typeface="Arial" panose="020B0604020202020204" pitchFamily="34" charset="0"/>
              <a:buChar char="•"/>
            </a:pPr>
            <a:r>
              <a:rPr lang="en-US" sz="2000">
                <a:solidFill>
                  <a:schemeClr val="bg2">
                    <a:lumMod val="25000"/>
                  </a:schemeClr>
                </a:solidFill>
              </a:rPr>
              <a:t>Video số gồm một chuỗi các khung hình (frames) (25, 30, 50 frames /giây)</a:t>
            </a:r>
          </a:p>
          <a:p>
            <a:pPr marL="342900" indent="-342900">
              <a:buFont typeface="Arial" panose="020B0604020202020204" pitchFamily="34" charset="0"/>
              <a:buChar char="•"/>
            </a:pPr>
            <a:r>
              <a:rPr lang="en-US" sz="2000">
                <a:solidFill>
                  <a:schemeClr val="bg2">
                    <a:lumMod val="25000"/>
                  </a:schemeClr>
                </a:solidFill>
              </a:rPr>
              <a:t>Đầu vào: Video camera -&gt; số hóa</a:t>
            </a:r>
          </a:p>
          <a:p>
            <a:pPr marL="342900" indent="-342900">
              <a:buFont typeface="Arial" panose="020B0604020202020204" pitchFamily="34" charset="0"/>
              <a:buChar char="•"/>
            </a:pPr>
            <a:r>
              <a:rPr lang="en-US" sz="2000">
                <a:solidFill>
                  <a:schemeClr val="bg2">
                    <a:lumMod val="25000"/>
                  </a:schemeClr>
                </a:solidFill>
              </a:rPr>
              <a:t>Định dạng: đa dạng (mp4, avi,...)</a:t>
            </a:r>
          </a:p>
          <a:p>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Dữ liệu phải được nén</a:t>
            </a:r>
          </a:p>
          <a:p>
            <a:pPr marL="342900" indent="-342900">
              <a:buFont typeface="Arial" panose="020B0604020202020204" pitchFamily="34" charset="0"/>
              <a:buChar char="•"/>
            </a:pPr>
            <a:r>
              <a:rPr lang="en-US" sz="2000">
                <a:solidFill>
                  <a:schemeClr val="bg2">
                    <a:lumMod val="25000"/>
                  </a:schemeClr>
                </a:solidFill>
              </a:rPr>
              <a:t>Kích thước lưu trữ: lớn nhất </a:t>
            </a:r>
          </a:p>
        </p:txBody>
      </p:sp>
      <p:sp>
        <p:nvSpPr>
          <p:cNvPr id="6" name="TextBox 5">
            <a:extLst>
              <a:ext uri="{FF2B5EF4-FFF2-40B4-BE49-F238E27FC236}">
                <a16:creationId xmlns:a16="http://schemas.microsoft.com/office/drawing/2014/main" id="{8924CBDA-8F8C-01E0-150B-E65FEE0C335B}"/>
              </a:ext>
            </a:extLst>
          </p:cNvPr>
          <p:cNvSpPr txBox="1"/>
          <p:nvPr/>
        </p:nvSpPr>
        <p:spPr>
          <a:xfrm>
            <a:off x="1123949" y="5556304"/>
            <a:ext cx="10553234" cy="830997"/>
          </a:xfrm>
          <a:prstGeom prst="rect">
            <a:avLst/>
          </a:prstGeom>
          <a:noFill/>
        </p:spPr>
        <p:txBody>
          <a:bodyPr wrap="square">
            <a:spAutoFit/>
          </a:bodyPr>
          <a:lstStyle/>
          <a:p>
            <a:r>
              <a:rPr lang="en-US" sz="1600">
                <a:solidFill>
                  <a:schemeClr val="bg2">
                    <a:lumMod val="25000"/>
                  </a:schemeClr>
                </a:solidFill>
              </a:rPr>
              <a:t>(</a:t>
            </a:r>
            <a:r>
              <a:rPr lang="vi-VN" sz="1600">
                <a:solidFill>
                  <a:schemeClr val="bg2">
                    <a:lumMod val="25000"/>
                  </a:schemeClr>
                </a:solidFill>
              </a:rPr>
              <a:t>Tùy thuộc và độ phân giải và kích thước, 1 khung hình có thể cần 1MB Video 512 x 512 đơn sắc : 25 x 0.25 = 6.25 Mb/1giây (chưa nén) PAL video (720x 576 pixel / khung màu) : 1.2 x 25 = 30Mb/giây (chưa nén) High Definition DVD (1440 x1080 = 1.5 Megapixels/frame) : 4.5 x 25 = 112.5Mb /giây (chưa nén)</a:t>
            </a:r>
            <a:endParaRPr lang="en-US" sz="2000">
              <a:solidFill>
                <a:schemeClr val="bg2">
                  <a:lumMod val="25000"/>
                </a:schemeClr>
              </a:solidFill>
            </a:endParaRPr>
          </a:p>
        </p:txBody>
      </p:sp>
      <p:pic>
        <p:nvPicPr>
          <p:cNvPr id="7" name="Picture 6" descr="A black and white image&#10;&#10;AI-generated content may be incorrect.">
            <a:extLst>
              <a:ext uri="{FF2B5EF4-FFF2-40B4-BE49-F238E27FC236}">
                <a16:creationId xmlns:a16="http://schemas.microsoft.com/office/drawing/2014/main" id="{58E65059-A92C-D146-C569-E3C049F4699D}"/>
              </a:ext>
            </a:extLst>
          </p:cNvPr>
          <p:cNvPicPr>
            <a:picLocks noChangeAspect="1"/>
          </p:cNvPicPr>
          <p:nvPr/>
        </p:nvPicPr>
        <p:blipFill>
          <a:blip r:embed="rId3"/>
          <a:stretch>
            <a:fillRect/>
          </a:stretch>
        </p:blipFill>
        <p:spPr>
          <a:xfrm>
            <a:off x="3986800" y="2975228"/>
            <a:ext cx="670142" cy="564330"/>
          </a:xfrm>
          <a:prstGeom prst="rect">
            <a:avLst/>
          </a:prstGeom>
        </p:spPr>
      </p:pic>
      <p:pic>
        <p:nvPicPr>
          <p:cNvPr id="9" name="Picture 8" descr="A black sound wave symbol&#10;&#10;AI-generated content may be incorrect.">
            <a:extLst>
              <a:ext uri="{FF2B5EF4-FFF2-40B4-BE49-F238E27FC236}">
                <a16:creationId xmlns:a16="http://schemas.microsoft.com/office/drawing/2014/main" id="{FDECE18B-0A87-70F5-2290-B7EB10797BCA}"/>
              </a:ext>
            </a:extLst>
          </p:cNvPr>
          <p:cNvPicPr>
            <a:picLocks noChangeAspect="1"/>
          </p:cNvPicPr>
          <p:nvPr/>
        </p:nvPicPr>
        <p:blipFill>
          <a:blip r:embed="rId4"/>
          <a:stretch>
            <a:fillRect/>
          </a:stretch>
        </p:blipFill>
        <p:spPr>
          <a:xfrm>
            <a:off x="1705629" y="2975228"/>
            <a:ext cx="1066967" cy="547902"/>
          </a:xfrm>
          <a:prstGeom prst="rect">
            <a:avLst/>
          </a:prstGeom>
        </p:spPr>
      </p:pic>
      <p:pic>
        <p:nvPicPr>
          <p:cNvPr id="11" name="Picture 10" descr="A black and white image&#10;&#10;AI-generated content may be incorrect.">
            <a:extLst>
              <a:ext uri="{FF2B5EF4-FFF2-40B4-BE49-F238E27FC236}">
                <a16:creationId xmlns:a16="http://schemas.microsoft.com/office/drawing/2014/main" id="{43866897-630F-F910-B4F3-430907471261}"/>
              </a:ext>
            </a:extLst>
          </p:cNvPr>
          <p:cNvPicPr>
            <a:picLocks noChangeAspect="1"/>
          </p:cNvPicPr>
          <p:nvPr/>
        </p:nvPicPr>
        <p:blipFill>
          <a:blip r:embed="rId3"/>
          <a:stretch>
            <a:fillRect/>
          </a:stretch>
        </p:blipFill>
        <p:spPr>
          <a:xfrm>
            <a:off x="4718320" y="2975228"/>
            <a:ext cx="670142" cy="564330"/>
          </a:xfrm>
          <a:prstGeom prst="rect">
            <a:avLst/>
          </a:prstGeom>
        </p:spPr>
      </p:pic>
      <p:pic>
        <p:nvPicPr>
          <p:cNvPr id="12" name="Picture 11" descr="A black and white image&#10;&#10;AI-generated content may be incorrect.">
            <a:extLst>
              <a:ext uri="{FF2B5EF4-FFF2-40B4-BE49-F238E27FC236}">
                <a16:creationId xmlns:a16="http://schemas.microsoft.com/office/drawing/2014/main" id="{86210245-37FD-662F-3C7D-A2DE9AC092B9}"/>
              </a:ext>
            </a:extLst>
          </p:cNvPr>
          <p:cNvPicPr>
            <a:picLocks noChangeAspect="1"/>
          </p:cNvPicPr>
          <p:nvPr/>
        </p:nvPicPr>
        <p:blipFill>
          <a:blip r:embed="rId3"/>
          <a:stretch>
            <a:fillRect/>
          </a:stretch>
        </p:blipFill>
        <p:spPr>
          <a:xfrm>
            <a:off x="5425858" y="2975228"/>
            <a:ext cx="670142" cy="564330"/>
          </a:xfrm>
          <a:prstGeom prst="rect">
            <a:avLst/>
          </a:prstGeom>
        </p:spPr>
      </p:pic>
      <p:sp>
        <p:nvSpPr>
          <p:cNvPr id="13" name="TextBox 12">
            <a:extLst>
              <a:ext uri="{FF2B5EF4-FFF2-40B4-BE49-F238E27FC236}">
                <a16:creationId xmlns:a16="http://schemas.microsoft.com/office/drawing/2014/main" id="{DA118247-3E46-3B9D-D24C-F12CB510BFC0}"/>
              </a:ext>
            </a:extLst>
          </p:cNvPr>
          <p:cNvSpPr txBox="1"/>
          <p:nvPr/>
        </p:nvSpPr>
        <p:spPr>
          <a:xfrm>
            <a:off x="1752599" y="3757538"/>
            <a:ext cx="1066967" cy="338554"/>
          </a:xfrm>
          <a:prstGeom prst="rect">
            <a:avLst/>
          </a:prstGeom>
          <a:noFill/>
        </p:spPr>
        <p:txBody>
          <a:bodyPr wrap="square">
            <a:spAutoFit/>
          </a:bodyPr>
          <a:lstStyle/>
          <a:p>
            <a:r>
              <a:rPr lang="en-US" sz="1600">
                <a:solidFill>
                  <a:schemeClr val="bg2">
                    <a:lumMod val="25000"/>
                  </a:schemeClr>
                </a:solidFill>
              </a:rPr>
              <a:t>Âm thanh</a:t>
            </a:r>
            <a:endParaRPr lang="en-US" sz="2000">
              <a:solidFill>
                <a:schemeClr val="bg2">
                  <a:lumMod val="25000"/>
                </a:schemeClr>
              </a:solidFill>
            </a:endParaRPr>
          </a:p>
        </p:txBody>
      </p:sp>
      <p:sp>
        <p:nvSpPr>
          <p:cNvPr id="14" name="TextBox 13">
            <a:extLst>
              <a:ext uri="{FF2B5EF4-FFF2-40B4-BE49-F238E27FC236}">
                <a16:creationId xmlns:a16="http://schemas.microsoft.com/office/drawing/2014/main" id="{BCB16B8E-28A3-E15F-A751-C626191DF875}"/>
              </a:ext>
            </a:extLst>
          </p:cNvPr>
          <p:cNvSpPr txBox="1"/>
          <p:nvPr/>
        </p:nvSpPr>
        <p:spPr>
          <a:xfrm>
            <a:off x="8689498" y="4096092"/>
            <a:ext cx="1066967" cy="338554"/>
          </a:xfrm>
          <a:prstGeom prst="rect">
            <a:avLst/>
          </a:prstGeom>
          <a:noFill/>
        </p:spPr>
        <p:txBody>
          <a:bodyPr wrap="square">
            <a:spAutoFit/>
          </a:bodyPr>
          <a:lstStyle/>
          <a:p>
            <a:r>
              <a:rPr lang="en-US" sz="1600">
                <a:solidFill>
                  <a:schemeClr val="bg2">
                    <a:lumMod val="25000"/>
                  </a:schemeClr>
                </a:solidFill>
              </a:rPr>
              <a:t>Video</a:t>
            </a:r>
            <a:endParaRPr lang="en-US" sz="2000">
              <a:solidFill>
                <a:schemeClr val="bg2">
                  <a:lumMod val="25000"/>
                </a:schemeClr>
              </a:solidFill>
            </a:endParaRPr>
          </a:p>
        </p:txBody>
      </p:sp>
      <p:sp>
        <p:nvSpPr>
          <p:cNvPr id="15" name="TextBox 14">
            <a:extLst>
              <a:ext uri="{FF2B5EF4-FFF2-40B4-BE49-F238E27FC236}">
                <a16:creationId xmlns:a16="http://schemas.microsoft.com/office/drawing/2014/main" id="{DA5DB0E5-7EF4-8C01-99BA-FA995BD43478}"/>
              </a:ext>
            </a:extLst>
          </p:cNvPr>
          <p:cNvSpPr txBox="1"/>
          <p:nvPr/>
        </p:nvSpPr>
        <p:spPr>
          <a:xfrm>
            <a:off x="3217027" y="2938355"/>
            <a:ext cx="498731" cy="584775"/>
          </a:xfrm>
          <a:prstGeom prst="rect">
            <a:avLst/>
          </a:prstGeom>
          <a:noFill/>
        </p:spPr>
        <p:txBody>
          <a:bodyPr wrap="square">
            <a:spAutoFit/>
          </a:bodyPr>
          <a:lstStyle/>
          <a:p>
            <a:r>
              <a:rPr lang="en-US" sz="3200" b="1">
                <a:solidFill>
                  <a:schemeClr val="tx1">
                    <a:lumMod val="75000"/>
                  </a:schemeClr>
                </a:solidFill>
              </a:rPr>
              <a:t>+</a:t>
            </a:r>
          </a:p>
        </p:txBody>
      </p:sp>
      <p:cxnSp>
        <p:nvCxnSpPr>
          <p:cNvPr id="16" name="Straight Arrow Connector 15">
            <a:extLst>
              <a:ext uri="{FF2B5EF4-FFF2-40B4-BE49-F238E27FC236}">
                <a16:creationId xmlns:a16="http://schemas.microsoft.com/office/drawing/2014/main" id="{9986FF57-ED98-9266-4AE5-E1922091790E}"/>
              </a:ext>
            </a:extLst>
          </p:cNvPr>
          <p:cNvCxnSpPr>
            <a:cxnSpLocks/>
          </p:cNvCxnSpPr>
          <p:nvPr/>
        </p:nvCxnSpPr>
        <p:spPr>
          <a:xfrm>
            <a:off x="6341103" y="3275092"/>
            <a:ext cx="12366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Picture 18" descr="A film reel with a film strip&#10;&#10;AI-generated content may be incorrect.">
            <a:extLst>
              <a:ext uri="{FF2B5EF4-FFF2-40B4-BE49-F238E27FC236}">
                <a16:creationId xmlns:a16="http://schemas.microsoft.com/office/drawing/2014/main" id="{758CB752-E496-BC35-A4EC-1DE374571620}"/>
              </a:ext>
            </a:extLst>
          </p:cNvPr>
          <p:cNvPicPr>
            <a:picLocks noChangeAspect="1"/>
          </p:cNvPicPr>
          <p:nvPr/>
        </p:nvPicPr>
        <p:blipFill>
          <a:blip r:embed="rId5"/>
          <a:stretch>
            <a:fillRect/>
          </a:stretch>
        </p:blipFill>
        <p:spPr>
          <a:xfrm>
            <a:off x="8103738" y="2567562"/>
            <a:ext cx="1894458" cy="1413939"/>
          </a:xfrm>
          <a:prstGeom prst="rect">
            <a:avLst/>
          </a:prstGeom>
        </p:spPr>
      </p:pic>
      <p:sp>
        <p:nvSpPr>
          <p:cNvPr id="22" name="TextBox 21">
            <a:extLst>
              <a:ext uri="{FF2B5EF4-FFF2-40B4-BE49-F238E27FC236}">
                <a16:creationId xmlns:a16="http://schemas.microsoft.com/office/drawing/2014/main" id="{7FA94AE4-BD2A-54DF-7EBE-EA2A08D51481}"/>
              </a:ext>
            </a:extLst>
          </p:cNvPr>
          <p:cNvSpPr txBox="1"/>
          <p:nvPr/>
        </p:nvSpPr>
        <p:spPr>
          <a:xfrm>
            <a:off x="4519907" y="3740554"/>
            <a:ext cx="1066967" cy="338554"/>
          </a:xfrm>
          <a:prstGeom prst="rect">
            <a:avLst/>
          </a:prstGeom>
          <a:noFill/>
        </p:spPr>
        <p:txBody>
          <a:bodyPr wrap="square">
            <a:spAutoFit/>
          </a:bodyPr>
          <a:lstStyle/>
          <a:p>
            <a:r>
              <a:rPr lang="en-US" sz="1600">
                <a:solidFill>
                  <a:schemeClr val="bg2">
                    <a:lumMod val="25000"/>
                  </a:schemeClr>
                </a:solidFill>
              </a:rPr>
              <a:t>Chuỗi ảnh</a:t>
            </a:r>
            <a:endParaRPr lang="en-US" sz="2000">
              <a:solidFill>
                <a:schemeClr val="bg2">
                  <a:lumMod val="25000"/>
                </a:schemeClr>
              </a:solidFill>
            </a:endParaRPr>
          </a:p>
        </p:txBody>
      </p:sp>
    </p:spTree>
    <p:extLst>
      <p:ext uri="{BB962C8B-B14F-4D97-AF65-F5344CB8AC3E}">
        <p14:creationId xmlns:p14="http://schemas.microsoft.com/office/powerpoint/2010/main" val="3069566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BC43F-150A-50CE-73F6-149512916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6E2AE-71A0-41E6-672A-5C93FD1B4C41}"/>
              </a:ext>
            </a:extLst>
          </p:cNvPr>
          <p:cNvSpPr>
            <a:spLocks noGrp="1"/>
          </p:cNvSpPr>
          <p:nvPr>
            <p:ph type="title"/>
          </p:nvPr>
        </p:nvSpPr>
        <p:spPr/>
        <p:txBody>
          <a:bodyPr>
            <a:noAutofit/>
          </a:bodyPr>
          <a:lstStyle/>
          <a:p>
            <a:r>
              <a:rPr lang="en-US" sz="2800"/>
              <a:t>2. Multimedia Data (Dữ liệu đa phương tiện)</a:t>
            </a:r>
            <a:endParaRPr sz="2800" dirty="0"/>
          </a:p>
        </p:txBody>
      </p:sp>
      <p:sp>
        <p:nvSpPr>
          <p:cNvPr id="3" name="TextBox 2">
            <a:extLst>
              <a:ext uri="{FF2B5EF4-FFF2-40B4-BE49-F238E27FC236}">
                <a16:creationId xmlns:a16="http://schemas.microsoft.com/office/drawing/2014/main" id="{9727A572-8D90-D474-0706-3BDBACE4EA6D}"/>
              </a:ext>
            </a:extLst>
          </p:cNvPr>
          <p:cNvSpPr txBox="1"/>
          <p:nvPr/>
        </p:nvSpPr>
        <p:spPr>
          <a:xfrm>
            <a:off x="662221" y="1218968"/>
            <a:ext cx="10867558" cy="3822650"/>
          </a:xfrm>
          <a:prstGeom prst="rect">
            <a:avLst/>
          </a:prstGeom>
          <a:noFill/>
        </p:spPr>
        <p:txBody>
          <a:bodyPr wrap="square" rtlCol="0">
            <a:spAutoFit/>
          </a:bodyPr>
          <a:lstStyle/>
          <a:p>
            <a:pPr>
              <a:lnSpc>
                <a:spcPct val="150000"/>
              </a:lnSpc>
            </a:pPr>
            <a:r>
              <a:rPr lang="en-US" sz="2400" b="1">
                <a:latin typeface="+mj-lt"/>
              </a:rPr>
              <a:t>Đặc điểm của Multimedia Data</a:t>
            </a:r>
            <a:r>
              <a:rPr lang="en-US" sz="2000" b="1">
                <a:latin typeface="+mj-lt"/>
              </a:rPr>
              <a:t>:</a:t>
            </a:r>
          </a:p>
          <a:p>
            <a:pPr marL="342900" indent="-342900">
              <a:lnSpc>
                <a:spcPct val="150000"/>
              </a:lnSpc>
              <a:buFont typeface="Arial" panose="020B0604020202020204" pitchFamily="34" charset="0"/>
              <a:buChar char="•"/>
            </a:pPr>
            <a:r>
              <a:rPr lang="vi-VN" sz="2000">
                <a:solidFill>
                  <a:schemeClr val="tx1">
                    <a:lumMod val="75000"/>
                  </a:schemeClr>
                </a:solidFill>
              </a:rPr>
              <a:t>Kích thước </a:t>
            </a:r>
            <a:r>
              <a:rPr lang="en-US" sz="2000">
                <a:solidFill>
                  <a:schemeClr val="bg2">
                    <a:lumMod val="25000"/>
                  </a:schemeClr>
                </a:solidFill>
              </a:rPr>
              <a:t>dữ liệu</a:t>
            </a:r>
            <a:r>
              <a:rPr lang="vi-VN" sz="2000">
                <a:solidFill>
                  <a:schemeClr val="bg2">
                    <a:lumMod val="25000"/>
                  </a:schemeClr>
                </a:solidFill>
              </a:rPr>
              <a:t> lớn </a:t>
            </a:r>
            <a:r>
              <a:rPr lang="en-US" sz="2000">
                <a:solidFill>
                  <a:schemeClr val="bg2">
                    <a:lumMod val="25000"/>
                  </a:schemeClr>
                </a:solidFill>
              </a:rPr>
              <a:t>=&gt; </a:t>
            </a:r>
            <a:r>
              <a:rPr lang="vi-VN" sz="2000">
                <a:solidFill>
                  <a:schemeClr val="bg2">
                    <a:lumMod val="25000"/>
                  </a:schemeClr>
                </a:solidFill>
              </a:rPr>
              <a:t>cấu</a:t>
            </a:r>
            <a:r>
              <a:rPr lang="en-US" sz="2000">
                <a:solidFill>
                  <a:schemeClr val="bg2">
                    <a:lumMod val="25000"/>
                  </a:schemeClr>
                </a:solidFill>
              </a:rPr>
              <a:t> </a:t>
            </a:r>
            <a:r>
              <a:rPr lang="vi-VN" sz="2000">
                <a:solidFill>
                  <a:schemeClr val="bg2">
                    <a:lumMod val="25000"/>
                  </a:schemeClr>
                </a:solidFill>
              </a:rPr>
              <a:t>trúc </a:t>
            </a:r>
            <a:r>
              <a:rPr lang="en-US" sz="2000">
                <a:solidFill>
                  <a:schemeClr val="bg2">
                    <a:lumMod val="25000"/>
                  </a:schemeClr>
                </a:solidFill>
              </a:rPr>
              <a:t>dữ liệu </a:t>
            </a:r>
            <a:r>
              <a:rPr lang="vi-VN" sz="2000">
                <a:solidFill>
                  <a:schemeClr val="bg2">
                    <a:lumMod val="25000"/>
                  </a:schemeClr>
                </a:solidFill>
              </a:rPr>
              <a:t>đặc biệt: lưu trữ và đánh chỉ mục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Có </a:t>
            </a:r>
            <a:r>
              <a:rPr lang="vi-VN" sz="2000">
                <a:solidFill>
                  <a:schemeClr val="tx1">
                    <a:lumMod val="75000"/>
                  </a:schemeClr>
                </a:solidFill>
              </a:rPr>
              <a:t>chiều thời gian </a:t>
            </a:r>
            <a:r>
              <a:rPr lang="vi-VN" sz="2000">
                <a:solidFill>
                  <a:schemeClr val="bg2">
                    <a:lumMod val="25000"/>
                  </a:schemeClr>
                </a:solidFill>
              </a:rPr>
              <a:t>(audio</a:t>
            </a:r>
            <a:r>
              <a:rPr lang="en-US" sz="2000">
                <a:solidFill>
                  <a:schemeClr val="bg2">
                    <a:lumMod val="25000"/>
                  </a:schemeClr>
                </a:solidFill>
              </a:rPr>
              <a:t>-âm thanh</a:t>
            </a:r>
            <a:r>
              <a:rPr lang="vi-VN" sz="2000">
                <a:solidFill>
                  <a:schemeClr val="bg2">
                    <a:lumMod val="25000"/>
                  </a:schemeClr>
                </a:solidFill>
              </a:rPr>
              <a:t>, vid</a:t>
            </a:r>
            <a:r>
              <a:rPr lang="en-US" sz="2000">
                <a:solidFill>
                  <a:schemeClr val="bg2">
                    <a:lumMod val="25000"/>
                  </a:schemeClr>
                </a:solidFill>
              </a:rPr>
              <a:t>e</a:t>
            </a:r>
            <a:r>
              <a:rPr lang="vi-VN" sz="2000">
                <a:solidFill>
                  <a:schemeClr val="bg2">
                    <a:lumMod val="25000"/>
                  </a:schemeClr>
                </a:solidFill>
              </a:rPr>
              <a:t>o)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D</a:t>
            </a:r>
            <a:r>
              <a:rPr lang="en-US" sz="2000">
                <a:solidFill>
                  <a:schemeClr val="bg2">
                    <a:lumMod val="25000"/>
                  </a:schemeClr>
                </a:solidFill>
              </a:rPr>
              <a:t>ữ liệu</a:t>
            </a:r>
            <a:r>
              <a:rPr lang="vi-VN" sz="2000">
                <a:solidFill>
                  <a:schemeClr val="bg2">
                    <a:lumMod val="25000"/>
                  </a:schemeClr>
                </a:solidFill>
              </a:rPr>
              <a:t> được biểu diễn thông qua chuỗi các giá trị riêng lẻ, </a:t>
            </a:r>
            <a:r>
              <a:rPr lang="vi-VN" sz="2000">
                <a:solidFill>
                  <a:schemeClr val="tx1">
                    <a:lumMod val="75000"/>
                  </a:schemeClr>
                </a:solidFill>
              </a:rPr>
              <a:t>thiếu cấu trúc ngữ nghĩa rõ ràng để máy tính có thể « </a:t>
            </a:r>
            <a:r>
              <a:rPr lang="vi-VN" sz="2000" i="1">
                <a:solidFill>
                  <a:schemeClr val="tx1">
                    <a:lumMod val="75000"/>
                  </a:schemeClr>
                </a:solidFill>
              </a:rPr>
              <a:t>hiểu</a:t>
            </a:r>
            <a:r>
              <a:rPr lang="vi-VN" sz="2000">
                <a:solidFill>
                  <a:schemeClr val="tx1">
                    <a:lumMod val="75000"/>
                  </a:schemeClr>
                </a:solidFill>
              </a:rPr>
              <a:t> » nội dung </a:t>
            </a:r>
            <a:endParaRPr lang="en-US" sz="2000">
              <a:solidFill>
                <a:schemeClr val="tx1">
                  <a:lumMod val="7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Nhiều ứng dụng yêu cầu </a:t>
            </a:r>
            <a:r>
              <a:rPr lang="vi-VN" sz="2000">
                <a:solidFill>
                  <a:schemeClr val="tx1">
                    <a:lumMod val="75000"/>
                  </a:schemeClr>
                </a:solidFill>
              </a:rPr>
              <a:t>biểu diễn nhiều kiểu </a:t>
            </a:r>
            <a:r>
              <a:rPr lang="en-US" sz="2000">
                <a:solidFill>
                  <a:schemeClr val="tx1">
                    <a:lumMod val="75000"/>
                  </a:schemeClr>
                </a:solidFill>
              </a:rPr>
              <a:t>dữ liệu</a:t>
            </a:r>
            <a:r>
              <a:rPr lang="vi-VN" sz="2000">
                <a:solidFill>
                  <a:schemeClr val="tx1">
                    <a:lumMod val="75000"/>
                  </a:schemeClr>
                </a:solidFill>
              </a:rPr>
              <a:t> đồng thời có thông số thời gian và không gian </a:t>
            </a:r>
            <a:endParaRPr lang="en-US" sz="2000">
              <a:solidFill>
                <a:schemeClr val="tx1">
                  <a:lumMod val="75000"/>
                </a:schemeClr>
              </a:solidFill>
            </a:endParaRPr>
          </a:p>
          <a:p>
            <a:pPr marL="342900" indent="-342900">
              <a:lnSpc>
                <a:spcPct val="150000"/>
              </a:lnSpc>
              <a:buFont typeface="Arial" panose="020B0604020202020204" pitchFamily="34" charset="0"/>
              <a:buChar char="•"/>
            </a:pPr>
            <a:r>
              <a:rPr lang="vi-VN" sz="2000">
                <a:solidFill>
                  <a:schemeClr val="tx1">
                    <a:lumMod val="75000"/>
                  </a:schemeClr>
                </a:solidFill>
              </a:rPr>
              <a:t>Ngữ nghĩa: mờ và chủ quan</a:t>
            </a:r>
            <a:r>
              <a:rPr lang="vi-VN" sz="2000">
                <a:solidFill>
                  <a:schemeClr val="bg2">
                    <a:lumMod val="25000"/>
                  </a:schemeClr>
                </a:solidFill>
              </a:rPr>
              <a:t>: cùng 1 bức ảnh, 2 người có thể hiểu theo 2 cách khác nhau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tx1">
                    <a:lumMod val="75000"/>
                  </a:schemeClr>
                </a:solidFill>
              </a:rPr>
              <a:t>Giàu thông tin</a:t>
            </a:r>
            <a:r>
              <a:rPr lang="vi-VN" sz="2000">
                <a:solidFill>
                  <a:schemeClr val="bg2">
                    <a:lumMod val="25000"/>
                  </a:schemeClr>
                </a:solidFill>
              </a:rPr>
              <a:t>: cần </a:t>
            </a:r>
            <a:r>
              <a:rPr lang="vi-VN" sz="2000">
                <a:solidFill>
                  <a:schemeClr val="tx1">
                    <a:lumMod val="75000"/>
                  </a:schemeClr>
                </a:solidFill>
              </a:rPr>
              <a:t>nhiều tham số</a:t>
            </a:r>
            <a:r>
              <a:rPr lang="vi-VN" sz="2000">
                <a:solidFill>
                  <a:schemeClr val="bg2">
                    <a:lumMod val="25000"/>
                  </a:schemeClr>
                </a:solidFill>
              </a:rPr>
              <a:t> để có thể biểu diễn được nội dung</a:t>
            </a:r>
            <a:endParaRPr lang="en-US" sz="2000">
              <a:solidFill>
                <a:schemeClr val="bg2">
                  <a:lumMod val="25000"/>
                </a:schemeClr>
              </a:solidFill>
            </a:endParaRPr>
          </a:p>
        </p:txBody>
      </p:sp>
    </p:spTree>
    <p:extLst>
      <p:ext uri="{BB962C8B-B14F-4D97-AF65-F5344CB8AC3E}">
        <p14:creationId xmlns:p14="http://schemas.microsoft.com/office/powerpoint/2010/main" val="203509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B999B-B82A-A640-350B-35B9926EF4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D6D424-2920-40D2-B945-7042DBDF324E}"/>
              </a:ext>
            </a:extLst>
          </p:cNvPr>
          <p:cNvSpPr>
            <a:spLocks noGrp="1"/>
          </p:cNvSpPr>
          <p:nvPr>
            <p:ph type="body" sz="quarter" idx="10"/>
          </p:nvPr>
        </p:nvSpPr>
        <p:spPr>
          <a:xfrm>
            <a:off x="620112" y="2517788"/>
            <a:ext cx="10800557" cy="2194234"/>
          </a:xfrm>
        </p:spPr>
        <p:txBody>
          <a:bodyPr/>
          <a:lstStyle/>
          <a:p>
            <a:r>
              <a:rPr lang="en-US" dirty="0"/>
              <a:t>MIRS &amp; MM-DBMS</a:t>
            </a:r>
          </a:p>
        </p:txBody>
      </p:sp>
      <p:sp>
        <p:nvSpPr>
          <p:cNvPr id="4" name="Slide Number Placeholder 3">
            <a:extLst>
              <a:ext uri="{FF2B5EF4-FFF2-40B4-BE49-F238E27FC236}">
                <a16:creationId xmlns:a16="http://schemas.microsoft.com/office/drawing/2014/main" id="{6ABDC108-2AED-A924-5AA4-C2CA23E8FC3F}"/>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14</a:t>
            </a:fld>
            <a:endParaRPr lang="en-US" dirty="0">
              <a:solidFill>
                <a:prstClr val="white"/>
              </a:solidFill>
            </a:endParaRPr>
          </a:p>
        </p:txBody>
      </p:sp>
    </p:spTree>
    <p:extLst>
      <p:ext uri="{BB962C8B-B14F-4D97-AF65-F5344CB8AC3E}">
        <p14:creationId xmlns:p14="http://schemas.microsoft.com/office/powerpoint/2010/main" val="177648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086EB-E1B3-473F-68AB-73673D9D9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4F82D-AE08-7BA3-D624-B8EB9093FA81}"/>
              </a:ext>
            </a:extLst>
          </p:cNvPr>
          <p:cNvSpPr>
            <a:spLocks noGrp="1"/>
          </p:cNvSpPr>
          <p:nvPr>
            <p:ph type="title"/>
          </p:nvPr>
        </p:nvSpPr>
        <p:spPr/>
        <p:txBody>
          <a:bodyPr>
            <a:noAutofit/>
          </a:bodyPr>
          <a:lstStyle/>
          <a:p>
            <a:r>
              <a:rPr lang="en-US" sz="2800"/>
              <a:t>3. MIRS &amp; MM-DBMS</a:t>
            </a:r>
            <a:endParaRPr sz="2800" dirty="0"/>
          </a:p>
        </p:txBody>
      </p:sp>
      <p:sp>
        <p:nvSpPr>
          <p:cNvPr id="3" name="TextBox 2">
            <a:extLst>
              <a:ext uri="{FF2B5EF4-FFF2-40B4-BE49-F238E27FC236}">
                <a16:creationId xmlns:a16="http://schemas.microsoft.com/office/drawing/2014/main" id="{8A6352BE-9CB3-15E4-CA6C-4DFC18F42DBD}"/>
              </a:ext>
            </a:extLst>
          </p:cNvPr>
          <p:cNvSpPr txBox="1"/>
          <p:nvPr/>
        </p:nvSpPr>
        <p:spPr>
          <a:xfrm>
            <a:off x="662221" y="1222131"/>
            <a:ext cx="10867558" cy="2862322"/>
          </a:xfrm>
          <a:prstGeom prst="rect">
            <a:avLst/>
          </a:prstGeom>
          <a:noFill/>
        </p:spPr>
        <p:txBody>
          <a:bodyPr wrap="square" rtlCol="0">
            <a:spAutoFit/>
          </a:bodyPr>
          <a:lstStyle/>
          <a:p>
            <a:pPr marL="342900" indent="-342900">
              <a:buFont typeface="Arial" panose="020B0604020202020204" pitchFamily="34" charset="0"/>
              <a:buChar char="•"/>
            </a:pPr>
            <a:r>
              <a:rPr lang="vi-VN" sz="2000" b="1">
                <a:solidFill>
                  <a:schemeClr val="bg2">
                    <a:lumMod val="25000"/>
                  </a:schemeClr>
                </a:solidFill>
              </a:rPr>
              <a:t>Hệ thống cơ sở dữ liệu thông thường</a:t>
            </a:r>
            <a:r>
              <a:rPr lang="en-US" sz="2000" b="1">
                <a:solidFill>
                  <a:schemeClr val="bg2">
                    <a:lumMod val="25000"/>
                  </a:schemeClr>
                </a:solidFill>
              </a:rPr>
              <a:t>: </a:t>
            </a:r>
            <a:r>
              <a:rPr lang="en-US" sz="2000">
                <a:solidFill>
                  <a:schemeClr val="bg2">
                    <a:lumMod val="25000"/>
                  </a:schemeClr>
                </a:solidFill>
              </a:rPr>
              <a:t>quản lý và tìm kiếm dữ liệu có cấu trúc</a:t>
            </a:r>
          </a:p>
          <a:p>
            <a:pPr marL="342900" indent="-342900">
              <a:buFont typeface="Arial" panose="020B0604020202020204" pitchFamily="34" charset="0"/>
              <a:buChar char="•"/>
            </a:pPr>
            <a:r>
              <a:rPr lang="en-US" sz="2000" b="1">
                <a:solidFill>
                  <a:schemeClr val="bg2">
                    <a:lumMod val="25000"/>
                  </a:schemeClr>
                </a:solidFill>
              </a:rPr>
              <a:t>Hệ thống truy xuất thông tin (IR):</a:t>
            </a:r>
          </a:p>
          <a:p>
            <a:pPr marL="800100" lvl="1" indent="-342900">
              <a:buFont typeface="Arial" panose="020B0604020202020204" pitchFamily="34" charset="0"/>
              <a:buChar char="•"/>
            </a:pPr>
            <a:r>
              <a:rPr lang="en-US" sz="2000">
                <a:solidFill>
                  <a:schemeClr val="bg2">
                    <a:lumMod val="25000"/>
                  </a:schemeClr>
                </a:solidFill>
              </a:rPr>
              <a:t>Tìm kiếm dữ liệu trong tập văn bản lớn </a:t>
            </a:r>
          </a:p>
          <a:p>
            <a:pPr marL="800100" lvl="1" indent="-342900">
              <a:buFont typeface="Arial" panose="020B0604020202020204" pitchFamily="34" charset="0"/>
              <a:buChar char="•"/>
            </a:pPr>
            <a:r>
              <a:rPr lang="en-US" sz="2000">
                <a:solidFill>
                  <a:schemeClr val="bg2">
                    <a:lumMod val="25000"/>
                  </a:schemeClr>
                </a:solidFill>
              </a:rPr>
              <a:t>Biểu diễn nội dung: từ khóa, tóm tắt </a:t>
            </a:r>
          </a:p>
          <a:p>
            <a:pPr marL="800100" lvl="1" indent="-342900">
              <a:buFont typeface="Arial" panose="020B0604020202020204" pitchFamily="34" charset="0"/>
              <a:buChar char="•"/>
            </a:pPr>
            <a:r>
              <a:rPr lang="en-US" sz="2000">
                <a:solidFill>
                  <a:schemeClr val="bg2">
                    <a:lumMod val="25000"/>
                  </a:schemeClr>
                </a:solidFill>
              </a:rPr>
              <a:t>Truy vấn: từ khóa, ngôn ngữ tự nhiên</a:t>
            </a:r>
          </a:p>
          <a:p>
            <a:pPr marL="342900" indent="-342900">
              <a:buFont typeface="Arial" panose="020B0604020202020204" pitchFamily="34" charset="0"/>
              <a:buChar char="•"/>
            </a:pPr>
            <a:r>
              <a:rPr lang="en-US" sz="2000" b="1">
                <a:solidFill>
                  <a:schemeClr val="bg2">
                    <a:lumMod val="25000"/>
                  </a:schemeClr>
                </a:solidFill>
              </a:rPr>
              <a:t>Hệ thống truy xuất dựa trên nội dung (CBR):</a:t>
            </a:r>
          </a:p>
          <a:p>
            <a:pPr marL="800100" lvl="1" indent="-342900">
              <a:buFont typeface="Arial" panose="020B0604020202020204" pitchFamily="34" charset="0"/>
              <a:buChar char="•"/>
            </a:pPr>
            <a:r>
              <a:rPr lang="en-US" sz="2000">
                <a:solidFill>
                  <a:schemeClr val="bg2">
                    <a:lumMod val="25000"/>
                  </a:schemeClr>
                </a:solidFill>
              </a:rPr>
              <a:t>Dựa </a:t>
            </a:r>
            <a:r>
              <a:rPr lang="vi-VN" sz="2000">
                <a:solidFill>
                  <a:schemeClr val="bg2">
                    <a:lumMod val="25000"/>
                  </a:schemeClr>
                </a:solidFill>
              </a:rPr>
              <a:t>trên đặc trưng của DL (ảnh, video, ..): màu sắc, hình dạng, kết cấu, … </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Hiệu năng IR </a:t>
            </a:r>
            <a:r>
              <a:rPr lang="en-US" sz="2000">
                <a:solidFill>
                  <a:schemeClr val="bg2">
                    <a:lumMod val="25000"/>
                  </a:schemeClr>
                </a:solidFill>
              </a:rPr>
              <a:t>=</a:t>
            </a:r>
            <a:r>
              <a:rPr lang="vi-VN" sz="2000">
                <a:solidFill>
                  <a:schemeClr val="bg2">
                    <a:lumMod val="25000"/>
                  </a:schemeClr>
                </a:solidFill>
              </a:rPr>
              <a:t>&gt; CBR do keyword có thể diễn tả ngữ nghĩa</a:t>
            </a:r>
            <a:endParaRPr lang="en-US" sz="2000">
              <a:solidFill>
                <a:schemeClr val="bg2">
                  <a:lumMod val="25000"/>
                </a:schemeClr>
              </a:solidFill>
            </a:endParaRPr>
          </a:p>
          <a:p>
            <a:pPr marL="342900" indent="-342900">
              <a:buFont typeface="Arial" panose="020B0604020202020204" pitchFamily="34" charset="0"/>
              <a:buChar char="•"/>
            </a:pPr>
            <a:r>
              <a:rPr lang="en-US" sz="2000" b="1">
                <a:solidFill>
                  <a:schemeClr val="bg2">
                    <a:lumMod val="25000"/>
                  </a:schemeClr>
                </a:solidFill>
              </a:rPr>
              <a:t>So khớp mẫu đồ thị hoặc cây</a:t>
            </a:r>
          </a:p>
        </p:txBody>
      </p:sp>
      <p:pic>
        <p:nvPicPr>
          <p:cNvPr id="5" name="Picture 4" descr="A screenshot of a computer&#10;&#10;AI-generated content may be incorrect.">
            <a:extLst>
              <a:ext uri="{FF2B5EF4-FFF2-40B4-BE49-F238E27FC236}">
                <a16:creationId xmlns:a16="http://schemas.microsoft.com/office/drawing/2014/main" id="{D2C584B7-387C-7E8F-A940-FDAC53F956CB}"/>
              </a:ext>
            </a:extLst>
          </p:cNvPr>
          <p:cNvPicPr>
            <a:picLocks noChangeAspect="1"/>
          </p:cNvPicPr>
          <p:nvPr/>
        </p:nvPicPr>
        <p:blipFill>
          <a:blip r:embed="rId3"/>
          <a:stretch>
            <a:fillRect/>
          </a:stretch>
        </p:blipFill>
        <p:spPr>
          <a:xfrm>
            <a:off x="4366758" y="4171915"/>
            <a:ext cx="3564674" cy="2315541"/>
          </a:xfrm>
          <a:prstGeom prst="rect">
            <a:avLst/>
          </a:prstGeom>
        </p:spPr>
      </p:pic>
      <p:pic>
        <p:nvPicPr>
          <p:cNvPr id="7" name="Picture 6" descr="A screenshot of a cellphone&#10;&#10;AI-generated content may be incorrect.">
            <a:extLst>
              <a:ext uri="{FF2B5EF4-FFF2-40B4-BE49-F238E27FC236}">
                <a16:creationId xmlns:a16="http://schemas.microsoft.com/office/drawing/2014/main" id="{C037BCEF-082D-2466-631E-89FD754C8F0E}"/>
              </a:ext>
            </a:extLst>
          </p:cNvPr>
          <p:cNvPicPr>
            <a:picLocks noChangeAspect="1"/>
          </p:cNvPicPr>
          <p:nvPr/>
        </p:nvPicPr>
        <p:blipFill>
          <a:blip r:embed="rId4"/>
          <a:stretch>
            <a:fillRect/>
          </a:stretch>
        </p:blipFill>
        <p:spPr>
          <a:xfrm>
            <a:off x="8033442" y="3962596"/>
            <a:ext cx="1980446" cy="2524860"/>
          </a:xfrm>
          <a:prstGeom prst="rect">
            <a:avLst/>
          </a:prstGeom>
        </p:spPr>
      </p:pic>
      <p:sp>
        <p:nvSpPr>
          <p:cNvPr id="8" name="TextBox 7">
            <a:extLst>
              <a:ext uri="{FF2B5EF4-FFF2-40B4-BE49-F238E27FC236}">
                <a16:creationId xmlns:a16="http://schemas.microsoft.com/office/drawing/2014/main" id="{0E40263F-C611-AC92-CC16-E4D127224061}"/>
              </a:ext>
            </a:extLst>
          </p:cNvPr>
          <p:cNvSpPr txBox="1"/>
          <p:nvPr/>
        </p:nvSpPr>
        <p:spPr>
          <a:xfrm>
            <a:off x="662221" y="4207358"/>
            <a:ext cx="10867558" cy="707886"/>
          </a:xfrm>
          <a:prstGeom prst="rect">
            <a:avLst/>
          </a:prstGeom>
          <a:noFill/>
        </p:spPr>
        <p:txBody>
          <a:bodyPr wrap="square" rtlCol="0">
            <a:spAutoFit/>
          </a:bodyPr>
          <a:lstStyle/>
          <a:p>
            <a:pPr marL="342900" indent="-342900">
              <a:buFont typeface="Arial" panose="020B0604020202020204" pitchFamily="34" charset="0"/>
              <a:buChar char="•"/>
            </a:pPr>
            <a:r>
              <a:rPr lang="en-US" sz="2000" b="1">
                <a:solidFill>
                  <a:schemeClr val="bg2">
                    <a:lumMod val="25000"/>
                  </a:schemeClr>
                </a:solidFill>
              </a:rPr>
              <a:t>Ví dụ: </a:t>
            </a:r>
            <a:r>
              <a:rPr lang="en-US" sz="2000">
                <a:solidFill>
                  <a:schemeClr val="bg2">
                    <a:lumMod val="25000"/>
                  </a:schemeClr>
                </a:solidFill>
              </a:rPr>
              <a:t>tìm kiếm bằng </a:t>
            </a:r>
          </a:p>
          <a:p>
            <a:r>
              <a:rPr lang="en-US" sz="2000">
                <a:solidFill>
                  <a:schemeClr val="bg2">
                    <a:lumMod val="25000"/>
                  </a:schemeClr>
                </a:solidFill>
              </a:rPr>
              <a:t>	   từ khóa, hình ảnh</a:t>
            </a:r>
          </a:p>
        </p:txBody>
      </p:sp>
      <p:sp>
        <p:nvSpPr>
          <p:cNvPr id="10" name="TextBox 9">
            <a:extLst>
              <a:ext uri="{FF2B5EF4-FFF2-40B4-BE49-F238E27FC236}">
                <a16:creationId xmlns:a16="http://schemas.microsoft.com/office/drawing/2014/main" id="{1E6B2DB6-F645-EBD8-1D3A-6E47023BC8CE}"/>
              </a:ext>
            </a:extLst>
          </p:cNvPr>
          <p:cNvSpPr txBox="1"/>
          <p:nvPr/>
        </p:nvSpPr>
        <p:spPr>
          <a:xfrm>
            <a:off x="662221" y="792872"/>
            <a:ext cx="6097508" cy="400110"/>
          </a:xfrm>
          <a:prstGeom prst="rect">
            <a:avLst/>
          </a:prstGeom>
          <a:noFill/>
        </p:spPr>
        <p:txBody>
          <a:bodyPr wrap="square">
            <a:spAutoFit/>
          </a:bodyPr>
          <a:lstStyle/>
          <a:p>
            <a:r>
              <a:rPr lang="vi-VN" sz="2000" b="1">
                <a:latin typeface="+mj-lt"/>
              </a:rPr>
              <a:t>Phương pháp truy vấn dữ liệu</a:t>
            </a:r>
            <a:endParaRPr lang="en-US" sz="2000" b="1">
              <a:latin typeface="+mj-lt"/>
            </a:endParaRPr>
          </a:p>
        </p:txBody>
      </p:sp>
    </p:spTree>
    <p:extLst>
      <p:ext uri="{BB962C8B-B14F-4D97-AF65-F5344CB8AC3E}">
        <p14:creationId xmlns:p14="http://schemas.microsoft.com/office/powerpoint/2010/main" val="3957685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127E-C2FC-9E67-0A77-C34700ABB48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C311CE56-1D07-8365-22E7-0432AFCDB499}"/>
              </a:ext>
            </a:extLst>
          </p:cNvPr>
          <p:cNvSpPr/>
          <p:nvPr/>
        </p:nvSpPr>
        <p:spPr>
          <a:xfrm>
            <a:off x="6505809" y="3038066"/>
            <a:ext cx="1892760" cy="2267360"/>
          </a:xfrm>
          <a:prstGeom prst="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ysClr val="windowText" lastClr="000000"/>
              </a:solidFill>
            </a:endParaRPr>
          </a:p>
        </p:txBody>
      </p:sp>
      <p:sp>
        <p:nvSpPr>
          <p:cNvPr id="15" name="Rectangle 14">
            <a:extLst>
              <a:ext uri="{FF2B5EF4-FFF2-40B4-BE49-F238E27FC236}">
                <a16:creationId xmlns:a16="http://schemas.microsoft.com/office/drawing/2014/main" id="{A06A2D76-3656-6CE0-1E47-D1C3BB45F103}"/>
              </a:ext>
            </a:extLst>
          </p:cNvPr>
          <p:cNvSpPr/>
          <p:nvPr/>
        </p:nvSpPr>
        <p:spPr>
          <a:xfrm>
            <a:off x="4026413" y="3038067"/>
            <a:ext cx="1892760" cy="2267360"/>
          </a:xfrm>
          <a:prstGeom prst="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ysClr val="windowText" lastClr="000000"/>
              </a:solidFill>
            </a:endParaRPr>
          </a:p>
        </p:txBody>
      </p:sp>
      <p:sp>
        <p:nvSpPr>
          <p:cNvPr id="14" name="Rectangle 13">
            <a:extLst>
              <a:ext uri="{FF2B5EF4-FFF2-40B4-BE49-F238E27FC236}">
                <a16:creationId xmlns:a16="http://schemas.microsoft.com/office/drawing/2014/main" id="{8A0FCBC0-F625-DC31-26FD-2D1CF02BD474}"/>
              </a:ext>
            </a:extLst>
          </p:cNvPr>
          <p:cNvSpPr/>
          <p:nvPr/>
        </p:nvSpPr>
        <p:spPr>
          <a:xfrm>
            <a:off x="1530212" y="3038066"/>
            <a:ext cx="1892760" cy="2267360"/>
          </a:xfrm>
          <a:prstGeom prst="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ysClr val="windowText" lastClr="000000"/>
              </a:solidFill>
            </a:endParaRPr>
          </a:p>
        </p:txBody>
      </p:sp>
      <p:sp>
        <p:nvSpPr>
          <p:cNvPr id="4" name="TextBox 3">
            <a:extLst>
              <a:ext uri="{FF2B5EF4-FFF2-40B4-BE49-F238E27FC236}">
                <a16:creationId xmlns:a16="http://schemas.microsoft.com/office/drawing/2014/main" id="{92BE71C0-0E86-F2C3-8600-654D2F25B215}"/>
              </a:ext>
            </a:extLst>
          </p:cNvPr>
          <p:cNvSpPr txBox="1"/>
          <p:nvPr/>
        </p:nvSpPr>
        <p:spPr>
          <a:xfrm>
            <a:off x="762467" y="809393"/>
            <a:ext cx="10553234" cy="2000548"/>
          </a:xfrm>
          <a:prstGeom prst="rect">
            <a:avLst/>
          </a:prstGeom>
          <a:noFill/>
        </p:spPr>
        <p:txBody>
          <a:bodyPr wrap="square" rtlCol="0">
            <a:spAutoFit/>
          </a:bodyPr>
          <a:lstStyle/>
          <a:p>
            <a:r>
              <a:rPr lang="en-US" sz="2400" b="1">
                <a:latin typeface="+mj-lt"/>
              </a:rPr>
              <a:t>MIRS</a:t>
            </a:r>
            <a:r>
              <a:rPr lang="en-US" sz="2000" b="1">
                <a:latin typeface="+mj-lt"/>
              </a:rPr>
              <a:t>:</a:t>
            </a:r>
          </a:p>
          <a:p>
            <a:pPr marL="342900" indent="-342900">
              <a:buFont typeface="Arial" panose="020B0604020202020204" pitchFamily="34" charset="0"/>
              <a:buChar char="•"/>
            </a:pPr>
            <a:r>
              <a:rPr lang="en-US" sz="2000">
                <a:solidFill>
                  <a:schemeClr val="bg2">
                    <a:lumMod val="25000"/>
                  </a:schemeClr>
                </a:solidFill>
              </a:rPr>
              <a:t>Dữ liệu đa phương tiện:</a:t>
            </a:r>
          </a:p>
          <a:p>
            <a:pPr marL="800100" lvl="1" indent="-342900">
              <a:buFont typeface="Arial" panose="020B0604020202020204" pitchFamily="34" charset="0"/>
              <a:buChar char="•"/>
            </a:pPr>
            <a:r>
              <a:rPr lang="en-US" sz="2000">
                <a:solidFill>
                  <a:schemeClr val="bg2">
                    <a:lumMod val="25000"/>
                  </a:schemeClr>
                </a:solidFill>
              </a:rPr>
              <a:t>Ngày càng </a:t>
            </a:r>
            <a:r>
              <a:rPr lang="en-US" sz="2000" b="1">
                <a:solidFill>
                  <a:schemeClr val="bg2">
                    <a:lumMod val="25000"/>
                  </a:schemeClr>
                </a:solidFill>
              </a:rPr>
              <a:t>được thu thập và lữu trữ nhiều </a:t>
            </a:r>
            <a:r>
              <a:rPr lang="en-US" sz="2000">
                <a:solidFill>
                  <a:schemeClr val="bg2">
                    <a:lumMod val="25000"/>
                  </a:schemeClr>
                </a:solidFill>
              </a:rPr>
              <a:t>(máy tính cá nhân, internet)</a:t>
            </a:r>
          </a:p>
          <a:p>
            <a:pPr marL="800100" lvl="1" indent="-342900">
              <a:buFont typeface="Arial" panose="020B0604020202020204" pitchFamily="34" charset="0"/>
              <a:buChar char="•"/>
            </a:pPr>
            <a:r>
              <a:rPr lang="en-US" sz="2000">
                <a:solidFill>
                  <a:schemeClr val="bg2">
                    <a:lumMod val="25000"/>
                  </a:schemeClr>
                </a:solidFill>
              </a:rPr>
              <a:t>Có các </a:t>
            </a:r>
            <a:r>
              <a:rPr lang="en-US" sz="2000" b="1">
                <a:solidFill>
                  <a:schemeClr val="bg2">
                    <a:lumMod val="25000"/>
                  </a:schemeClr>
                </a:solidFill>
              </a:rPr>
              <a:t>đặc điểm đặc biệt </a:t>
            </a:r>
            <a:r>
              <a:rPr lang="en-US" sz="2000">
                <a:solidFill>
                  <a:schemeClr val="bg2">
                    <a:lumMod val="25000"/>
                  </a:schemeClr>
                </a:solidFill>
              </a:rPr>
              <a:t>so với dữ liệu số truyền thông =&gt; DBMS (</a:t>
            </a:r>
            <a:r>
              <a:rPr lang="en-US" sz="2000"/>
              <a:t>Database Management System)</a:t>
            </a:r>
            <a:r>
              <a:rPr lang="en-US" sz="2000">
                <a:solidFill>
                  <a:schemeClr val="bg2">
                    <a:lumMod val="25000"/>
                  </a:schemeClr>
                </a:solidFill>
              </a:rPr>
              <a:t> truyền thống không phú hợp để xử lý</a:t>
            </a:r>
          </a:p>
          <a:p>
            <a:pPr marL="342900" indent="-342900">
              <a:buFont typeface="Arial" panose="020B0604020202020204" pitchFamily="34" charset="0"/>
              <a:buChar char="•"/>
            </a:pPr>
            <a:r>
              <a:rPr lang="en-US" sz="2000">
                <a:solidFill>
                  <a:schemeClr val="bg2">
                    <a:lumMod val="25000"/>
                  </a:schemeClr>
                </a:solidFill>
              </a:rPr>
              <a:t>Các kỹ thuật IR có thể hỗ trợ nhưng không đủ để xử lý dữ liệu ĐPT hiệu quả</a:t>
            </a:r>
          </a:p>
        </p:txBody>
      </p:sp>
      <p:sp>
        <p:nvSpPr>
          <p:cNvPr id="6" name="TextBox 5">
            <a:extLst>
              <a:ext uri="{FF2B5EF4-FFF2-40B4-BE49-F238E27FC236}">
                <a16:creationId xmlns:a16="http://schemas.microsoft.com/office/drawing/2014/main" id="{0AA07A47-7C88-8DED-C4B6-08AC580B8AE9}"/>
              </a:ext>
            </a:extLst>
          </p:cNvPr>
          <p:cNvSpPr txBox="1"/>
          <p:nvPr/>
        </p:nvSpPr>
        <p:spPr>
          <a:xfrm>
            <a:off x="1888118" y="3324225"/>
            <a:ext cx="1176951" cy="369332"/>
          </a:xfrm>
          <a:prstGeom prst="rect">
            <a:avLst/>
          </a:prstGeom>
          <a:noFill/>
        </p:spPr>
        <p:txBody>
          <a:bodyPr wrap="square" rtlCol="0">
            <a:spAutoFit/>
          </a:bodyPr>
          <a:lstStyle/>
          <a:p>
            <a:pPr algn="ctr"/>
            <a:r>
              <a:rPr lang="en-US" b="1"/>
              <a:t>DBMS</a:t>
            </a:r>
          </a:p>
        </p:txBody>
      </p:sp>
      <p:sp>
        <p:nvSpPr>
          <p:cNvPr id="9" name="TextBox 8">
            <a:extLst>
              <a:ext uri="{FF2B5EF4-FFF2-40B4-BE49-F238E27FC236}">
                <a16:creationId xmlns:a16="http://schemas.microsoft.com/office/drawing/2014/main" id="{81610DA6-E094-A999-9D01-DD2B246861C6}"/>
              </a:ext>
            </a:extLst>
          </p:cNvPr>
          <p:cNvSpPr txBox="1"/>
          <p:nvPr/>
        </p:nvSpPr>
        <p:spPr>
          <a:xfrm>
            <a:off x="1625566" y="3802550"/>
            <a:ext cx="1702053" cy="1077218"/>
          </a:xfrm>
          <a:prstGeom prst="rect">
            <a:avLst/>
          </a:prstGeom>
          <a:noFill/>
        </p:spPr>
        <p:txBody>
          <a:bodyPr wrap="square" rtlCol="0">
            <a:spAutoFit/>
          </a:bodyPr>
          <a:lstStyle/>
          <a:p>
            <a:pPr algn="ctr"/>
            <a:r>
              <a:rPr lang="en-US" sz="1600">
                <a:solidFill>
                  <a:schemeClr val="bg2">
                    <a:lumMod val="25000"/>
                  </a:schemeClr>
                </a:solidFill>
              </a:rPr>
              <a:t>Quản lý dữ liệu có cấu trúc liên quan (tác giả, ngày tạo, metadata)</a:t>
            </a:r>
          </a:p>
        </p:txBody>
      </p:sp>
      <p:sp>
        <p:nvSpPr>
          <p:cNvPr id="10" name="TextBox 9">
            <a:extLst>
              <a:ext uri="{FF2B5EF4-FFF2-40B4-BE49-F238E27FC236}">
                <a16:creationId xmlns:a16="http://schemas.microsoft.com/office/drawing/2014/main" id="{48CE3ADD-AEEB-B23F-F262-05BE25AA024B}"/>
              </a:ext>
            </a:extLst>
          </p:cNvPr>
          <p:cNvSpPr txBox="1"/>
          <p:nvPr/>
        </p:nvSpPr>
        <p:spPr>
          <a:xfrm>
            <a:off x="4358205" y="3324225"/>
            <a:ext cx="1176951" cy="369332"/>
          </a:xfrm>
          <a:prstGeom prst="rect">
            <a:avLst/>
          </a:prstGeom>
          <a:noFill/>
        </p:spPr>
        <p:txBody>
          <a:bodyPr wrap="square" rtlCol="0">
            <a:spAutoFit/>
          </a:bodyPr>
          <a:lstStyle/>
          <a:p>
            <a:pPr algn="ctr"/>
            <a:r>
              <a:rPr lang="en-US" b="1"/>
              <a:t>IR</a:t>
            </a:r>
          </a:p>
        </p:txBody>
      </p:sp>
      <p:sp>
        <p:nvSpPr>
          <p:cNvPr id="11" name="TextBox 10">
            <a:extLst>
              <a:ext uri="{FF2B5EF4-FFF2-40B4-BE49-F238E27FC236}">
                <a16:creationId xmlns:a16="http://schemas.microsoft.com/office/drawing/2014/main" id="{E316075A-B882-7648-6C87-83D79621F93C}"/>
              </a:ext>
            </a:extLst>
          </p:cNvPr>
          <p:cNvSpPr txBox="1"/>
          <p:nvPr/>
        </p:nvSpPr>
        <p:spPr>
          <a:xfrm>
            <a:off x="4095653" y="3802550"/>
            <a:ext cx="1702053" cy="1323439"/>
          </a:xfrm>
          <a:prstGeom prst="rect">
            <a:avLst/>
          </a:prstGeom>
          <a:noFill/>
        </p:spPr>
        <p:txBody>
          <a:bodyPr wrap="square" rtlCol="0">
            <a:spAutoFit/>
          </a:bodyPr>
          <a:lstStyle/>
          <a:p>
            <a:pPr algn="ctr"/>
            <a:r>
              <a:rPr lang="en-US" sz="1600">
                <a:solidFill>
                  <a:schemeClr val="bg2">
                    <a:lumMod val="25000"/>
                  </a:schemeClr>
                </a:solidFill>
              </a:rPr>
              <a:t>Hỗ trợ truy vấn dựa trên văn bản và chú thích (Text-based retrieval)</a:t>
            </a:r>
          </a:p>
        </p:txBody>
      </p:sp>
      <p:sp>
        <p:nvSpPr>
          <p:cNvPr id="12" name="TextBox 11">
            <a:extLst>
              <a:ext uri="{FF2B5EF4-FFF2-40B4-BE49-F238E27FC236}">
                <a16:creationId xmlns:a16="http://schemas.microsoft.com/office/drawing/2014/main" id="{27D1ADA8-9B8D-4D69-CAAD-224FEB1743ED}"/>
              </a:ext>
            </a:extLst>
          </p:cNvPr>
          <p:cNvSpPr txBox="1"/>
          <p:nvPr/>
        </p:nvSpPr>
        <p:spPr>
          <a:xfrm>
            <a:off x="6604181" y="3156219"/>
            <a:ext cx="1696017" cy="646331"/>
          </a:xfrm>
          <a:prstGeom prst="rect">
            <a:avLst/>
          </a:prstGeom>
          <a:noFill/>
        </p:spPr>
        <p:txBody>
          <a:bodyPr wrap="square" rtlCol="0">
            <a:spAutoFit/>
          </a:bodyPr>
          <a:lstStyle/>
          <a:p>
            <a:pPr algn="ctr"/>
            <a:r>
              <a:rPr lang="en-US" b="1"/>
              <a:t>Content-Base Retrieval</a:t>
            </a:r>
          </a:p>
        </p:txBody>
      </p:sp>
      <p:sp>
        <p:nvSpPr>
          <p:cNvPr id="13" name="TextBox 12">
            <a:extLst>
              <a:ext uri="{FF2B5EF4-FFF2-40B4-BE49-F238E27FC236}">
                <a16:creationId xmlns:a16="http://schemas.microsoft.com/office/drawing/2014/main" id="{BA45CA72-12C4-A7E6-2887-A65B68D228BC}"/>
              </a:ext>
            </a:extLst>
          </p:cNvPr>
          <p:cNvSpPr txBox="1"/>
          <p:nvPr/>
        </p:nvSpPr>
        <p:spPr>
          <a:xfrm>
            <a:off x="6604181" y="3802550"/>
            <a:ext cx="1702053" cy="1323439"/>
          </a:xfrm>
          <a:prstGeom prst="rect">
            <a:avLst/>
          </a:prstGeom>
          <a:noFill/>
        </p:spPr>
        <p:txBody>
          <a:bodyPr wrap="square" rtlCol="0">
            <a:spAutoFit/>
          </a:bodyPr>
          <a:lstStyle/>
          <a:p>
            <a:pPr algn="ctr"/>
            <a:r>
              <a:rPr lang="en-US" sz="1600">
                <a:solidFill>
                  <a:schemeClr val="bg2">
                    <a:lumMod val="25000"/>
                  </a:schemeClr>
                </a:solidFill>
              </a:rPr>
              <a:t>Cho phép truy vấn dựa trên đặc trung của chính dữ liệu (màu sắc, hình dạng, kết cấu</a:t>
            </a:r>
          </a:p>
        </p:txBody>
      </p:sp>
      <p:sp>
        <p:nvSpPr>
          <p:cNvPr id="17" name="TextBox 16">
            <a:extLst>
              <a:ext uri="{FF2B5EF4-FFF2-40B4-BE49-F238E27FC236}">
                <a16:creationId xmlns:a16="http://schemas.microsoft.com/office/drawing/2014/main" id="{9E8FA050-387B-8651-1DD4-C5E3974DD921}"/>
              </a:ext>
            </a:extLst>
          </p:cNvPr>
          <p:cNvSpPr txBox="1"/>
          <p:nvPr/>
        </p:nvSpPr>
        <p:spPr>
          <a:xfrm>
            <a:off x="9002010" y="3943285"/>
            <a:ext cx="1696017" cy="461665"/>
          </a:xfrm>
          <a:prstGeom prst="rect">
            <a:avLst/>
          </a:prstGeom>
          <a:noFill/>
        </p:spPr>
        <p:txBody>
          <a:bodyPr wrap="square" rtlCol="0">
            <a:spAutoFit/>
          </a:bodyPr>
          <a:lstStyle/>
          <a:p>
            <a:pPr algn="ctr"/>
            <a:r>
              <a:rPr lang="en-US" sz="2400" b="1"/>
              <a:t>MIRS</a:t>
            </a:r>
          </a:p>
        </p:txBody>
      </p:sp>
      <p:sp>
        <p:nvSpPr>
          <p:cNvPr id="18" name="TextBox 17">
            <a:extLst>
              <a:ext uri="{FF2B5EF4-FFF2-40B4-BE49-F238E27FC236}">
                <a16:creationId xmlns:a16="http://schemas.microsoft.com/office/drawing/2014/main" id="{ECA4CE6C-88B6-EFB6-F998-C2A477C60DC9}"/>
              </a:ext>
            </a:extLst>
          </p:cNvPr>
          <p:cNvSpPr txBox="1"/>
          <p:nvPr/>
        </p:nvSpPr>
        <p:spPr>
          <a:xfrm>
            <a:off x="3511995" y="3879494"/>
            <a:ext cx="411901" cy="584775"/>
          </a:xfrm>
          <a:prstGeom prst="rect">
            <a:avLst/>
          </a:prstGeom>
          <a:noFill/>
        </p:spPr>
        <p:txBody>
          <a:bodyPr wrap="square">
            <a:spAutoFit/>
          </a:bodyPr>
          <a:lstStyle/>
          <a:p>
            <a:r>
              <a:rPr lang="en-US" sz="3200" b="1">
                <a:solidFill>
                  <a:schemeClr val="tx1">
                    <a:lumMod val="75000"/>
                  </a:schemeClr>
                </a:solidFill>
              </a:rPr>
              <a:t>+</a:t>
            </a:r>
          </a:p>
        </p:txBody>
      </p:sp>
      <p:sp>
        <p:nvSpPr>
          <p:cNvPr id="19" name="TextBox 18">
            <a:extLst>
              <a:ext uri="{FF2B5EF4-FFF2-40B4-BE49-F238E27FC236}">
                <a16:creationId xmlns:a16="http://schemas.microsoft.com/office/drawing/2014/main" id="{7157D89E-97DD-9983-C2CF-63B3EF3BBC65}"/>
              </a:ext>
            </a:extLst>
          </p:cNvPr>
          <p:cNvSpPr txBox="1"/>
          <p:nvPr/>
        </p:nvSpPr>
        <p:spPr>
          <a:xfrm>
            <a:off x="6019384" y="3879493"/>
            <a:ext cx="411901" cy="584775"/>
          </a:xfrm>
          <a:prstGeom prst="rect">
            <a:avLst/>
          </a:prstGeom>
          <a:noFill/>
        </p:spPr>
        <p:txBody>
          <a:bodyPr wrap="square">
            <a:spAutoFit/>
          </a:bodyPr>
          <a:lstStyle/>
          <a:p>
            <a:r>
              <a:rPr lang="en-US" sz="3200" b="1">
                <a:solidFill>
                  <a:schemeClr val="tx1">
                    <a:lumMod val="75000"/>
                  </a:schemeClr>
                </a:solidFill>
              </a:rPr>
              <a:t>+</a:t>
            </a:r>
          </a:p>
        </p:txBody>
      </p:sp>
      <p:sp>
        <p:nvSpPr>
          <p:cNvPr id="20" name="TextBox 19">
            <a:extLst>
              <a:ext uri="{FF2B5EF4-FFF2-40B4-BE49-F238E27FC236}">
                <a16:creationId xmlns:a16="http://schemas.microsoft.com/office/drawing/2014/main" id="{FDE2E6F0-695A-45E1-B5D2-651522F44401}"/>
              </a:ext>
            </a:extLst>
          </p:cNvPr>
          <p:cNvSpPr txBox="1"/>
          <p:nvPr/>
        </p:nvSpPr>
        <p:spPr>
          <a:xfrm>
            <a:off x="8674592" y="3879492"/>
            <a:ext cx="411901" cy="584775"/>
          </a:xfrm>
          <a:prstGeom prst="rect">
            <a:avLst/>
          </a:prstGeom>
          <a:noFill/>
        </p:spPr>
        <p:txBody>
          <a:bodyPr wrap="square">
            <a:spAutoFit/>
          </a:bodyPr>
          <a:lstStyle/>
          <a:p>
            <a:r>
              <a:rPr lang="en-US" sz="3200" b="1">
                <a:solidFill>
                  <a:schemeClr val="tx1">
                    <a:lumMod val="75000"/>
                  </a:schemeClr>
                </a:solidFill>
              </a:rPr>
              <a:t>=</a:t>
            </a:r>
          </a:p>
        </p:txBody>
      </p:sp>
      <p:sp>
        <p:nvSpPr>
          <p:cNvPr id="21" name="TextBox 20">
            <a:extLst>
              <a:ext uri="{FF2B5EF4-FFF2-40B4-BE49-F238E27FC236}">
                <a16:creationId xmlns:a16="http://schemas.microsoft.com/office/drawing/2014/main" id="{9091F4BF-857F-71EB-9A81-43880A091FD4}"/>
              </a:ext>
            </a:extLst>
          </p:cNvPr>
          <p:cNvSpPr txBox="1"/>
          <p:nvPr/>
        </p:nvSpPr>
        <p:spPr>
          <a:xfrm>
            <a:off x="819383" y="5746838"/>
            <a:ext cx="10553234" cy="400110"/>
          </a:xfrm>
          <a:prstGeom prst="rect">
            <a:avLst/>
          </a:prstGeom>
          <a:noFill/>
        </p:spPr>
        <p:txBody>
          <a:bodyPr wrap="square" rtlCol="0">
            <a:spAutoFit/>
          </a:bodyPr>
          <a:lstStyle/>
          <a:p>
            <a:pPr marL="342900" indent="-342900">
              <a:buFont typeface="Arial" panose="020B0604020202020204" pitchFamily="34" charset="0"/>
              <a:buChar char="•"/>
            </a:pPr>
            <a:r>
              <a:rPr lang="vi-VN" sz="2000">
                <a:solidFill>
                  <a:schemeClr val="bg2">
                    <a:lumMod val="25000"/>
                  </a:schemeClr>
                </a:solidFill>
              </a:rPr>
              <a:t>Một trong những điểm quan trọng nhất trong MIRS: </a:t>
            </a:r>
            <a:r>
              <a:rPr lang="vi-VN" sz="2000" b="1">
                <a:solidFill>
                  <a:schemeClr val="bg2">
                    <a:lumMod val="25000"/>
                  </a:schemeClr>
                </a:solidFill>
              </a:rPr>
              <a:t>trích chọn đặc trưng/biểu diễn nội dun</a:t>
            </a:r>
            <a:r>
              <a:rPr lang="en-US" sz="2000" b="1">
                <a:solidFill>
                  <a:schemeClr val="bg2">
                    <a:lumMod val="25000"/>
                  </a:schemeClr>
                </a:solidFill>
              </a:rPr>
              <a:t>g</a:t>
            </a:r>
          </a:p>
        </p:txBody>
      </p:sp>
      <p:sp>
        <p:nvSpPr>
          <p:cNvPr id="26" name="Title 1">
            <a:extLst>
              <a:ext uri="{FF2B5EF4-FFF2-40B4-BE49-F238E27FC236}">
                <a16:creationId xmlns:a16="http://schemas.microsoft.com/office/drawing/2014/main" id="{9DEC9934-6DA1-30A3-FF38-B30D75B99A99}"/>
              </a:ext>
            </a:extLst>
          </p:cNvPr>
          <p:cNvSpPr>
            <a:spLocks noGrp="1"/>
          </p:cNvSpPr>
          <p:nvPr>
            <p:ph type="title"/>
          </p:nvPr>
        </p:nvSpPr>
        <p:spPr>
          <a:xfrm>
            <a:off x="523875" y="19050"/>
            <a:ext cx="9147175" cy="457200"/>
          </a:xfrm>
        </p:spPr>
        <p:txBody>
          <a:bodyPr>
            <a:noAutofit/>
          </a:bodyPr>
          <a:lstStyle/>
          <a:p>
            <a:r>
              <a:rPr lang="en-US" sz="2800"/>
              <a:t>3. MIRS &amp; MM-DBMS</a:t>
            </a:r>
            <a:endParaRPr sz="2800" dirty="0"/>
          </a:p>
        </p:txBody>
      </p:sp>
    </p:spTree>
    <p:extLst>
      <p:ext uri="{BB962C8B-B14F-4D97-AF65-F5344CB8AC3E}">
        <p14:creationId xmlns:p14="http://schemas.microsoft.com/office/powerpoint/2010/main" val="126368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7712-2CB8-89E3-D703-2670D7D6A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815AF-D26C-551F-C77C-4E14547DED41}"/>
              </a:ext>
            </a:extLst>
          </p:cNvPr>
          <p:cNvSpPr>
            <a:spLocks noGrp="1"/>
          </p:cNvSpPr>
          <p:nvPr>
            <p:ph type="title"/>
          </p:nvPr>
        </p:nvSpPr>
        <p:spPr/>
        <p:txBody>
          <a:bodyPr>
            <a:noAutofit/>
          </a:bodyPr>
          <a:lstStyle/>
          <a:p>
            <a:r>
              <a:rPr lang="en-US" sz="2800"/>
              <a:t>3. MIRS &amp; MM-DBMS</a:t>
            </a:r>
            <a:endParaRPr sz="2800" dirty="0"/>
          </a:p>
        </p:txBody>
      </p:sp>
      <p:sp>
        <p:nvSpPr>
          <p:cNvPr id="4" name="TextBox 3">
            <a:extLst>
              <a:ext uri="{FF2B5EF4-FFF2-40B4-BE49-F238E27FC236}">
                <a16:creationId xmlns:a16="http://schemas.microsoft.com/office/drawing/2014/main" id="{7479BFA6-FA0C-0E8A-AA9C-DCEABD5536C0}"/>
              </a:ext>
            </a:extLst>
          </p:cNvPr>
          <p:cNvSpPr txBox="1"/>
          <p:nvPr/>
        </p:nvSpPr>
        <p:spPr>
          <a:xfrm>
            <a:off x="762467" y="809393"/>
            <a:ext cx="10553234" cy="461665"/>
          </a:xfrm>
          <a:prstGeom prst="rect">
            <a:avLst/>
          </a:prstGeom>
          <a:noFill/>
        </p:spPr>
        <p:txBody>
          <a:bodyPr wrap="square" rtlCol="0">
            <a:spAutoFit/>
          </a:bodyPr>
          <a:lstStyle/>
          <a:p>
            <a:r>
              <a:rPr lang="en-US" sz="2400" b="1">
                <a:latin typeface="+mj-lt"/>
              </a:rPr>
              <a:t>MIRS mô hình</a:t>
            </a:r>
            <a:r>
              <a:rPr lang="en-US" sz="2000" b="1">
                <a:latin typeface="+mj-lt"/>
              </a:rPr>
              <a:t>:</a:t>
            </a:r>
          </a:p>
        </p:txBody>
      </p:sp>
      <p:pic>
        <p:nvPicPr>
          <p:cNvPr id="5" name="Picture 4" descr="A diagram of a process&#10;&#10;AI-generated content may be incorrect.">
            <a:extLst>
              <a:ext uri="{FF2B5EF4-FFF2-40B4-BE49-F238E27FC236}">
                <a16:creationId xmlns:a16="http://schemas.microsoft.com/office/drawing/2014/main" id="{F177F36D-5E5E-5CAC-84B5-DE0B0540E627}"/>
              </a:ext>
            </a:extLst>
          </p:cNvPr>
          <p:cNvPicPr>
            <a:picLocks noChangeAspect="1"/>
          </p:cNvPicPr>
          <p:nvPr/>
        </p:nvPicPr>
        <p:blipFill>
          <a:blip r:embed="rId3"/>
          <a:stretch>
            <a:fillRect/>
          </a:stretch>
        </p:blipFill>
        <p:spPr>
          <a:xfrm>
            <a:off x="2138054" y="1603958"/>
            <a:ext cx="7653646" cy="4661616"/>
          </a:xfrm>
          <a:prstGeom prst="rect">
            <a:avLst/>
          </a:prstGeom>
        </p:spPr>
      </p:pic>
      <p:sp>
        <p:nvSpPr>
          <p:cNvPr id="7" name="Rectangle 6">
            <a:extLst>
              <a:ext uri="{FF2B5EF4-FFF2-40B4-BE49-F238E27FC236}">
                <a16:creationId xmlns:a16="http://schemas.microsoft.com/office/drawing/2014/main" id="{B7F1778D-BF06-72E9-EEDA-723AB4726AE7}"/>
              </a:ext>
            </a:extLst>
          </p:cNvPr>
          <p:cNvSpPr/>
          <p:nvPr/>
        </p:nvSpPr>
        <p:spPr>
          <a:xfrm>
            <a:off x="1819275" y="5762625"/>
            <a:ext cx="800100" cy="714375"/>
          </a:xfrm>
          <a:prstGeom prst="rect">
            <a:avLst/>
          </a:prstGeom>
          <a:solidFill>
            <a:schemeClr val="bg1"/>
          </a:solidFill>
          <a:ln>
            <a:solidFill>
              <a:schemeClr val="bg1"/>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791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66B0E-5CED-7A90-7A47-6492AE80A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579A9-2425-9D3E-73D3-A6A2B70B1CF8}"/>
              </a:ext>
            </a:extLst>
          </p:cNvPr>
          <p:cNvSpPr>
            <a:spLocks noGrp="1"/>
          </p:cNvSpPr>
          <p:nvPr>
            <p:ph type="title"/>
          </p:nvPr>
        </p:nvSpPr>
        <p:spPr/>
        <p:txBody>
          <a:bodyPr>
            <a:noAutofit/>
          </a:bodyPr>
          <a:lstStyle/>
          <a:p>
            <a:r>
              <a:rPr lang="en-US" sz="2800"/>
              <a:t>3. MIRS &amp; MM-DBMS</a:t>
            </a:r>
            <a:endParaRPr sz="2800" dirty="0"/>
          </a:p>
        </p:txBody>
      </p:sp>
      <p:sp>
        <p:nvSpPr>
          <p:cNvPr id="6" name="TextBox 5">
            <a:extLst>
              <a:ext uri="{FF2B5EF4-FFF2-40B4-BE49-F238E27FC236}">
                <a16:creationId xmlns:a16="http://schemas.microsoft.com/office/drawing/2014/main" id="{65E7AF77-69BF-5988-7635-A72A66C6AA97}"/>
              </a:ext>
            </a:extLst>
          </p:cNvPr>
          <p:cNvSpPr txBox="1"/>
          <p:nvPr/>
        </p:nvSpPr>
        <p:spPr>
          <a:xfrm>
            <a:off x="762467" y="809393"/>
            <a:ext cx="10553234" cy="1077218"/>
          </a:xfrm>
          <a:prstGeom prst="rect">
            <a:avLst/>
          </a:prstGeom>
          <a:noFill/>
        </p:spPr>
        <p:txBody>
          <a:bodyPr wrap="square" rtlCol="0">
            <a:spAutoFit/>
          </a:bodyPr>
          <a:lstStyle/>
          <a:p>
            <a:r>
              <a:rPr lang="en-US" sz="2400" b="1">
                <a:latin typeface="+mj-lt"/>
              </a:rPr>
              <a:t>MM-DBMS</a:t>
            </a:r>
            <a:r>
              <a:rPr lang="en-US" sz="2000" b="1">
                <a:latin typeface="+mj-lt"/>
              </a:rPr>
              <a:t>:</a:t>
            </a:r>
          </a:p>
          <a:p>
            <a:pPr marL="342900" indent="-342900">
              <a:buFont typeface="Arial" panose="020B0604020202020204" pitchFamily="34" charset="0"/>
              <a:buChar char="•"/>
            </a:pPr>
            <a:r>
              <a:rPr lang="en-US" sz="2000"/>
              <a:t>Multimedia Database Management System: </a:t>
            </a:r>
            <a:r>
              <a:rPr lang="vi-VN" sz="2000">
                <a:solidFill>
                  <a:schemeClr val="bg2">
                    <a:lumMod val="25000"/>
                  </a:schemeClr>
                </a:solidFill>
              </a:rPr>
              <a:t>framework quản lý các kiểu dữ liệu khác nhau với định dạng phong phú và được lưu trên nhiều nguồn phương tiện khác nha</a:t>
            </a:r>
            <a:r>
              <a:rPr lang="en-US" sz="2000">
                <a:solidFill>
                  <a:schemeClr val="bg2">
                    <a:lumMod val="25000"/>
                  </a:schemeClr>
                </a:solidFill>
              </a:rPr>
              <a:t>u</a:t>
            </a:r>
          </a:p>
        </p:txBody>
      </p:sp>
      <p:pic>
        <p:nvPicPr>
          <p:cNvPr id="9" name="Picture 8" descr="A close-up of a computer screen&#10;&#10;AI-generated content may be incorrect.">
            <a:extLst>
              <a:ext uri="{FF2B5EF4-FFF2-40B4-BE49-F238E27FC236}">
                <a16:creationId xmlns:a16="http://schemas.microsoft.com/office/drawing/2014/main" id="{5F58A801-5CFC-0C5A-C3D4-506D0B64AE1A}"/>
              </a:ext>
            </a:extLst>
          </p:cNvPr>
          <p:cNvPicPr>
            <a:picLocks noChangeAspect="1"/>
          </p:cNvPicPr>
          <p:nvPr/>
        </p:nvPicPr>
        <p:blipFill>
          <a:blip r:embed="rId3"/>
          <a:stretch>
            <a:fillRect/>
          </a:stretch>
        </p:blipFill>
        <p:spPr>
          <a:xfrm>
            <a:off x="1170733" y="2035783"/>
            <a:ext cx="9509005" cy="4288817"/>
          </a:xfrm>
          <a:prstGeom prst="rect">
            <a:avLst/>
          </a:prstGeom>
        </p:spPr>
      </p:pic>
    </p:spTree>
    <p:extLst>
      <p:ext uri="{BB962C8B-B14F-4D97-AF65-F5344CB8AC3E}">
        <p14:creationId xmlns:p14="http://schemas.microsoft.com/office/powerpoint/2010/main" val="1398975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03909-B5D5-8AC7-B509-0AE8BCC2D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EE8A7-68AA-4909-AD9F-BA906BAFD165}"/>
              </a:ext>
            </a:extLst>
          </p:cNvPr>
          <p:cNvSpPr>
            <a:spLocks noGrp="1"/>
          </p:cNvSpPr>
          <p:nvPr>
            <p:ph type="title"/>
          </p:nvPr>
        </p:nvSpPr>
        <p:spPr/>
        <p:txBody>
          <a:bodyPr>
            <a:noAutofit/>
          </a:bodyPr>
          <a:lstStyle/>
          <a:p>
            <a:r>
              <a:rPr lang="en-US" sz="2800"/>
              <a:t>3. MIRS &amp; MM-DBMS</a:t>
            </a:r>
            <a:endParaRPr sz="2800" dirty="0"/>
          </a:p>
        </p:txBody>
      </p:sp>
      <p:sp>
        <p:nvSpPr>
          <p:cNvPr id="6" name="TextBox 5">
            <a:extLst>
              <a:ext uri="{FF2B5EF4-FFF2-40B4-BE49-F238E27FC236}">
                <a16:creationId xmlns:a16="http://schemas.microsoft.com/office/drawing/2014/main" id="{079519EC-004E-0D35-B4C8-34F2E28F25FE}"/>
              </a:ext>
            </a:extLst>
          </p:cNvPr>
          <p:cNvSpPr txBox="1"/>
          <p:nvPr/>
        </p:nvSpPr>
        <p:spPr>
          <a:xfrm>
            <a:off x="762467" y="927088"/>
            <a:ext cx="10807862" cy="3539430"/>
          </a:xfrm>
          <a:prstGeom prst="rect">
            <a:avLst/>
          </a:prstGeom>
          <a:noFill/>
        </p:spPr>
        <p:txBody>
          <a:bodyPr wrap="square" rtlCol="0">
            <a:spAutoFit/>
          </a:bodyPr>
          <a:lstStyle/>
          <a:p>
            <a:r>
              <a:rPr lang="en-US" sz="2400" b="1">
                <a:latin typeface="+mj-lt"/>
              </a:rPr>
              <a:t>MM-DBMS – Các yêu cầu</a:t>
            </a:r>
            <a:r>
              <a:rPr lang="en-US" sz="2000" b="1">
                <a:latin typeface="+mj-lt"/>
              </a:rPr>
              <a:t>:</a:t>
            </a:r>
          </a:p>
          <a:p>
            <a:pPr marL="342900" indent="-342900">
              <a:buFont typeface="Arial" panose="020B0604020202020204" pitchFamily="34" charset="0"/>
              <a:buChar char="•"/>
            </a:pPr>
            <a:r>
              <a:rPr lang="en-US" sz="2000" b="1">
                <a:solidFill>
                  <a:schemeClr val="bg2">
                    <a:lumMod val="25000"/>
                  </a:schemeClr>
                </a:solidFill>
              </a:rPr>
              <a:t>Tích hợp (integration): </a:t>
            </a:r>
            <a:r>
              <a:rPr lang="vi-VN" sz="2000">
                <a:solidFill>
                  <a:schemeClr val="bg2">
                    <a:lumMod val="25000"/>
                  </a:schemeClr>
                </a:solidFill>
              </a:rPr>
              <a:t>Các mục dữ liệu không cần phải được sao chép cho các chương trình khác nhau</a:t>
            </a:r>
            <a:endParaRPr lang="en-US" sz="2000">
              <a:solidFill>
                <a:schemeClr val="bg2">
                  <a:lumMod val="25000"/>
                </a:schemeClr>
              </a:solidFill>
            </a:endParaRPr>
          </a:p>
          <a:p>
            <a:pPr marL="342900" indent="-342900">
              <a:buFont typeface="Arial" panose="020B0604020202020204" pitchFamily="34" charset="0"/>
              <a:buChar char="•"/>
            </a:pPr>
            <a:r>
              <a:rPr lang="en-US" sz="2000" b="1">
                <a:solidFill>
                  <a:schemeClr val="bg2">
                    <a:lumMod val="25000"/>
                  </a:schemeClr>
                </a:solidFill>
              </a:rPr>
              <a:t>Độc lập dữ liệu (Data independence):</a:t>
            </a:r>
            <a:r>
              <a:rPr lang="en-US" sz="2000">
                <a:solidFill>
                  <a:schemeClr val="bg2">
                    <a:lumMod val="25000"/>
                  </a:schemeClr>
                </a:solidFill>
              </a:rPr>
              <a:t> </a:t>
            </a:r>
            <a:r>
              <a:rPr lang="vi-VN" sz="2000">
                <a:solidFill>
                  <a:schemeClr val="bg2">
                    <a:lumMod val="25000"/>
                  </a:schemeClr>
                </a:solidFill>
              </a:rPr>
              <a:t>Tách cơ sở dữ liệu và quản lý khỏi các chương trình ứng dụng</a:t>
            </a:r>
            <a:endParaRPr lang="en-US" sz="2000">
              <a:solidFill>
                <a:schemeClr val="bg2">
                  <a:lumMod val="25000"/>
                </a:schemeClr>
              </a:solidFill>
            </a:endParaRPr>
          </a:p>
          <a:p>
            <a:pPr marL="342900" indent="-342900">
              <a:buFont typeface="Arial" panose="020B0604020202020204" pitchFamily="34" charset="0"/>
              <a:buChar char="•"/>
            </a:pPr>
            <a:r>
              <a:rPr lang="en-US" sz="2000" b="1">
                <a:solidFill>
                  <a:schemeClr val="bg2">
                    <a:lumMod val="25000"/>
                  </a:schemeClr>
                </a:solidFill>
              </a:rPr>
              <a:t>Điều khiển tương tranh (Concurrency control): </a:t>
            </a:r>
            <a:r>
              <a:rPr lang="en-US" sz="2000">
                <a:solidFill>
                  <a:schemeClr val="bg2">
                    <a:lumMod val="25000"/>
                  </a:schemeClr>
                </a:solidFill>
              </a:rPr>
              <a:t>cho phép giao dịch đồng thời</a:t>
            </a:r>
          </a:p>
          <a:p>
            <a:pPr marL="342900" indent="-342900">
              <a:buFont typeface="Arial" panose="020B0604020202020204" pitchFamily="34" charset="0"/>
              <a:buChar char="•"/>
            </a:pPr>
            <a:r>
              <a:rPr lang="en-US" sz="2000" b="1">
                <a:solidFill>
                  <a:schemeClr val="bg2">
                    <a:lumMod val="25000"/>
                  </a:schemeClr>
                </a:solidFill>
              </a:rPr>
              <a:t>Tính bền vững (Persistence): </a:t>
            </a:r>
            <a:r>
              <a:rPr lang="vi-VN" sz="2000">
                <a:solidFill>
                  <a:schemeClr val="bg2">
                    <a:lumMod val="25000"/>
                  </a:schemeClr>
                </a:solidFill>
              </a:rPr>
              <a:t>Các đối tượng dữ liệu có thể được lưu và sử dụng lại bởi các giao dịch và lệnh gọi chương trình khác nhau</a:t>
            </a:r>
            <a:endParaRPr lang="en-US" sz="2000">
              <a:solidFill>
                <a:schemeClr val="bg2">
                  <a:lumMod val="25000"/>
                </a:schemeClr>
              </a:solidFill>
            </a:endParaRPr>
          </a:p>
          <a:p>
            <a:pPr marL="342900" indent="-342900">
              <a:buFont typeface="Arial" panose="020B0604020202020204" pitchFamily="34" charset="0"/>
              <a:buChar char="•"/>
            </a:pPr>
            <a:r>
              <a:rPr lang="en-US" sz="2000" b="1">
                <a:solidFill>
                  <a:schemeClr val="bg2">
                    <a:lumMod val="25000"/>
                  </a:schemeClr>
                </a:solidFill>
              </a:rPr>
              <a:t>Tính riêng (Privacy):</a:t>
            </a:r>
            <a:r>
              <a:rPr lang="en-US" sz="2000">
                <a:solidFill>
                  <a:schemeClr val="bg2">
                    <a:lumMod val="25000"/>
                  </a:schemeClr>
                </a:solidFill>
              </a:rPr>
              <a:t> Kiểm soát truy cập và ủy quyền</a:t>
            </a:r>
          </a:p>
          <a:p>
            <a:pPr marL="342900" indent="-342900">
              <a:buFont typeface="Arial" panose="020B0604020202020204" pitchFamily="34" charset="0"/>
              <a:buChar char="•"/>
            </a:pPr>
            <a:r>
              <a:rPr lang="en-US" sz="2000" b="1">
                <a:solidFill>
                  <a:schemeClr val="bg2">
                    <a:lumMod val="25000"/>
                  </a:schemeClr>
                </a:solidFill>
              </a:rPr>
              <a:t>Toàn vẹn (Integrity control): </a:t>
            </a:r>
            <a:r>
              <a:rPr lang="vi-VN" sz="2000">
                <a:solidFill>
                  <a:schemeClr val="bg2">
                    <a:lumMod val="25000"/>
                  </a:schemeClr>
                </a:solidFill>
              </a:rPr>
              <a:t>Đảm bảo tính nhất quán của cơ sở dữ liệu giữa các giao dịch</a:t>
            </a:r>
            <a:endParaRPr lang="en-US" sz="2000">
              <a:solidFill>
                <a:schemeClr val="bg2">
                  <a:lumMod val="25000"/>
                </a:schemeClr>
              </a:solidFill>
            </a:endParaRPr>
          </a:p>
          <a:p>
            <a:pPr marL="342900" indent="-342900">
              <a:buFont typeface="Arial" panose="020B0604020202020204" pitchFamily="34" charset="0"/>
              <a:buChar char="•"/>
            </a:pPr>
            <a:r>
              <a:rPr lang="en-US" sz="2000" b="1">
                <a:solidFill>
                  <a:schemeClr val="bg2">
                    <a:lumMod val="25000"/>
                  </a:schemeClr>
                </a:solidFill>
              </a:rPr>
              <a:t>Phục hồi dữ liệu (Recovery): </a:t>
            </a:r>
            <a:r>
              <a:rPr lang="vi-VN" sz="2000">
                <a:solidFill>
                  <a:schemeClr val="bg2">
                    <a:lumMod val="25000"/>
                  </a:schemeClr>
                </a:solidFill>
              </a:rPr>
              <a:t>Lỗi giao dịch không được ảnh hưởng đến việc lưu trữ dữ liệu liên tục</a:t>
            </a:r>
            <a:endParaRPr lang="en-US" sz="2000">
              <a:solidFill>
                <a:schemeClr val="bg2">
                  <a:lumMod val="25000"/>
                </a:schemeClr>
              </a:solidFill>
            </a:endParaRPr>
          </a:p>
        </p:txBody>
      </p:sp>
      <p:sp>
        <p:nvSpPr>
          <p:cNvPr id="3" name="TextBox 2">
            <a:extLst>
              <a:ext uri="{FF2B5EF4-FFF2-40B4-BE49-F238E27FC236}">
                <a16:creationId xmlns:a16="http://schemas.microsoft.com/office/drawing/2014/main" id="{4C59A9D6-C705-DE3E-696D-17DD490DD204}"/>
              </a:ext>
            </a:extLst>
          </p:cNvPr>
          <p:cNvSpPr txBox="1"/>
          <p:nvPr/>
        </p:nvSpPr>
        <p:spPr>
          <a:xfrm>
            <a:off x="762467" y="4645509"/>
            <a:ext cx="10807862" cy="1631216"/>
          </a:xfrm>
          <a:prstGeom prst="rect">
            <a:avLst/>
          </a:prstGeom>
          <a:noFill/>
        </p:spPr>
        <p:txBody>
          <a:bodyPr wrap="square" rtlCol="0">
            <a:spAutoFit/>
          </a:bodyPr>
          <a:lstStyle/>
          <a:p>
            <a:r>
              <a:rPr lang="en-US" sz="1600" b="1">
                <a:solidFill>
                  <a:schemeClr val="accent2"/>
                </a:solidFill>
                <a:latin typeface="+mj-lt"/>
              </a:rPr>
              <a:t>Ngoài ra phải đảm bảo:</a:t>
            </a:r>
          </a:p>
          <a:p>
            <a:pPr marL="342900" indent="-342900">
              <a:buFont typeface="Arial" panose="020B0604020202020204" pitchFamily="34" charset="0"/>
              <a:buChar char="•"/>
            </a:pPr>
            <a:r>
              <a:rPr lang="en-US" sz="1600">
                <a:solidFill>
                  <a:schemeClr val="bg2">
                    <a:lumMod val="25000"/>
                  </a:schemeClr>
                </a:solidFill>
              </a:rPr>
              <a:t>T</a:t>
            </a:r>
            <a:r>
              <a:rPr lang="vi-VN" sz="1600">
                <a:solidFill>
                  <a:schemeClr val="bg2">
                    <a:lumMod val="25000"/>
                  </a:schemeClr>
                </a:solidFill>
              </a:rPr>
              <a:t>ruy vấn dữ liệu đồng nhất với các </a:t>
            </a:r>
            <a:r>
              <a:rPr lang="en-US" sz="1600">
                <a:solidFill>
                  <a:schemeClr val="bg2">
                    <a:lumMod val="25000"/>
                  </a:schemeClr>
                </a:solidFill>
              </a:rPr>
              <a:t>dữ liệu</a:t>
            </a:r>
            <a:r>
              <a:rPr lang="vi-VN" sz="1600">
                <a:solidFill>
                  <a:schemeClr val="bg2">
                    <a:lumMod val="25000"/>
                  </a:schemeClr>
                </a:solidFill>
              </a:rPr>
              <a:t> có định dạng khác nhau </a:t>
            </a:r>
            <a:endParaRPr lang="en-US" sz="1600">
              <a:solidFill>
                <a:schemeClr val="bg2">
                  <a:lumMod val="25000"/>
                </a:schemeClr>
              </a:solidFill>
            </a:endParaRPr>
          </a:p>
          <a:p>
            <a:pPr marL="342900" indent="-342900">
              <a:buFont typeface="Arial" panose="020B0604020202020204" pitchFamily="34" charset="0"/>
              <a:buChar char="•"/>
            </a:pPr>
            <a:r>
              <a:rPr lang="en-US" sz="1600">
                <a:solidFill>
                  <a:schemeClr val="bg2">
                    <a:lumMod val="25000"/>
                  </a:schemeClr>
                </a:solidFill>
              </a:rPr>
              <a:t>T</a:t>
            </a:r>
            <a:r>
              <a:rPr lang="vi-VN" sz="1600">
                <a:solidFill>
                  <a:schemeClr val="bg2">
                    <a:lumMod val="25000"/>
                  </a:schemeClr>
                </a:solidFill>
              </a:rPr>
              <a:t>ruy vấn đồng thời từ nhiều nguồn </a:t>
            </a:r>
            <a:r>
              <a:rPr lang="en-US" sz="1600">
                <a:solidFill>
                  <a:schemeClr val="bg2">
                    <a:lumMod val="25000"/>
                  </a:schemeClr>
                </a:solidFill>
              </a:rPr>
              <a:t>=&gt; </a:t>
            </a:r>
            <a:r>
              <a:rPr lang="vi-VN" sz="1600">
                <a:solidFill>
                  <a:schemeClr val="bg2">
                    <a:lumMod val="25000"/>
                  </a:schemeClr>
                </a:solidFill>
              </a:rPr>
              <a:t>Hỗ trợ truy vấn (query support)</a:t>
            </a:r>
            <a:endParaRPr lang="en-US" sz="1600">
              <a:solidFill>
                <a:schemeClr val="bg2">
                  <a:lumMod val="25000"/>
                </a:schemeClr>
              </a:solidFill>
            </a:endParaRPr>
          </a:p>
          <a:p>
            <a:pPr marL="342900" indent="-342900">
              <a:buFont typeface="Arial" panose="020B0604020202020204" pitchFamily="34" charset="0"/>
              <a:buChar char="•"/>
            </a:pPr>
            <a:r>
              <a:rPr lang="en-US" sz="1600">
                <a:solidFill>
                  <a:schemeClr val="bg2">
                    <a:lumMod val="25000"/>
                  </a:schemeClr>
                </a:solidFill>
              </a:rPr>
              <a:t>T</a:t>
            </a:r>
            <a:r>
              <a:rPr lang="vi-VN" sz="1600">
                <a:solidFill>
                  <a:schemeClr val="bg2">
                    <a:lumMod val="25000"/>
                  </a:schemeClr>
                </a:solidFill>
              </a:rPr>
              <a:t>ruy xuất các đối tượng từ các thiết bị lưu trữ mà không có bị rung/giật (video, audio) </a:t>
            </a:r>
            <a:r>
              <a:rPr lang="en-US" sz="1600">
                <a:solidFill>
                  <a:schemeClr val="bg2">
                    <a:lumMod val="25000"/>
                  </a:schemeClr>
                </a:solidFill>
              </a:rPr>
              <a:t>=&gt; </a:t>
            </a:r>
            <a:r>
              <a:rPr lang="vi-VN" sz="1600">
                <a:solidFill>
                  <a:schemeClr val="bg2">
                    <a:lumMod val="25000"/>
                  </a:schemeClr>
                </a:solidFill>
              </a:rPr>
              <a:t>Hỗ trợ lưu trữ (storage support) </a:t>
            </a:r>
            <a:endParaRPr lang="en-US" sz="1600">
              <a:solidFill>
                <a:schemeClr val="bg2">
                  <a:lumMod val="25000"/>
                </a:schemeClr>
              </a:solidFill>
            </a:endParaRPr>
          </a:p>
          <a:p>
            <a:pPr marL="342900" indent="-342900">
              <a:buFont typeface="Arial" panose="020B0604020202020204" pitchFamily="34" charset="0"/>
              <a:buChar char="•"/>
            </a:pPr>
            <a:r>
              <a:rPr lang="en-US" sz="1600">
                <a:solidFill>
                  <a:schemeClr val="bg2">
                    <a:lumMod val="25000"/>
                  </a:schemeClr>
                </a:solidFill>
              </a:rPr>
              <a:t>C</a:t>
            </a:r>
            <a:r>
              <a:rPr lang="vi-VN" sz="1600">
                <a:solidFill>
                  <a:schemeClr val="bg2">
                    <a:lumMod val="25000"/>
                  </a:schemeClr>
                </a:solidFill>
              </a:rPr>
              <a:t>ó thể biểu diễn, truyền tải câu trả lời dưới dạng phương tiện nghe nhìn, đảm bảo các yêu cầu QoS </a:t>
            </a:r>
            <a:r>
              <a:rPr lang="en-US" sz="1600">
                <a:solidFill>
                  <a:schemeClr val="bg2">
                    <a:lumMod val="25000"/>
                  </a:schemeClr>
                </a:solidFill>
              </a:rPr>
              <a:t>=&gt;</a:t>
            </a:r>
            <a:r>
              <a:rPr lang="vi-VN" sz="1600">
                <a:solidFill>
                  <a:schemeClr val="bg2">
                    <a:lumMod val="25000"/>
                  </a:schemeClr>
                </a:solidFill>
              </a:rPr>
              <a:t> Hỗ trợ trình diễn và truyền DL (presentation and delivery support)</a:t>
            </a:r>
            <a:endParaRPr lang="en-US" sz="1600">
              <a:solidFill>
                <a:schemeClr val="bg2">
                  <a:lumMod val="25000"/>
                </a:schemeClr>
              </a:solidFill>
            </a:endParaRPr>
          </a:p>
        </p:txBody>
      </p:sp>
    </p:spTree>
    <p:extLst>
      <p:ext uri="{BB962C8B-B14F-4D97-AF65-F5344CB8AC3E}">
        <p14:creationId xmlns:p14="http://schemas.microsoft.com/office/powerpoint/2010/main" val="2350830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2429-3D96-AD9A-C77E-A7798298C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A79A9-CBF0-33F6-F1D9-AA7AE200F9E1}"/>
              </a:ext>
            </a:extLst>
          </p:cNvPr>
          <p:cNvSpPr>
            <a:spLocks noGrp="1"/>
          </p:cNvSpPr>
          <p:nvPr>
            <p:ph type="title"/>
          </p:nvPr>
        </p:nvSpPr>
        <p:spPr/>
        <p:txBody>
          <a:bodyPr>
            <a:noAutofit/>
          </a:bodyPr>
          <a:lstStyle/>
          <a:p>
            <a:r>
              <a:rPr lang="en-US" sz="2800"/>
              <a:t>3. MIRS &amp; MM-DBMS</a:t>
            </a:r>
            <a:endParaRPr sz="2800" dirty="0"/>
          </a:p>
        </p:txBody>
      </p:sp>
      <p:sp>
        <p:nvSpPr>
          <p:cNvPr id="6" name="TextBox 5">
            <a:extLst>
              <a:ext uri="{FF2B5EF4-FFF2-40B4-BE49-F238E27FC236}">
                <a16:creationId xmlns:a16="http://schemas.microsoft.com/office/drawing/2014/main" id="{869BA97D-9C85-303B-7D4C-71346F43921E}"/>
              </a:ext>
            </a:extLst>
          </p:cNvPr>
          <p:cNvSpPr txBox="1"/>
          <p:nvPr/>
        </p:nvSpPr>
        <p:spPr>
          <a:xfrm>
            <a:off x="762467" y="827500"/>
            <a:ext cx="10807862" cy="5755422"/>
          </a:xfrm>
          <a:prstGeom prst="rect">
            <a:avLst/>
          </a:prstGeom>
          <a:noFill/>
        </p:spPr>
        <p:txBody>
          <a:bodyPr wrap="square" rtlCol="0">
            <a:spAutoFit/>
          </a:bodyPr>
          <a:lstStyle/>
          <a:p>
            <a:r>
              <a:rPr lang="en-US" sz="2000" b="1">
                <a:latin typeface="+mj-lt"/>
              </a:rPr>
              <a:t>Một số vấn đề chính</a:t>
            </a:r>
            <a:r>
              <a:rPr lang="en-US" b="1">
                <a:latin typeface="+mj-lt"/>
              </a:rPr>
              <a:t>:</a:t>
            </a:r>
          </a:p>
          <a:p>
            <a:pPr marL="342900" indent="-342900">
              <a:buFont typeface="Arial" panose="020B0604020202020204" pitchFamily="34" charset="0"/>
              <a:buChar char="•"/>
            </a:pPr>
            <a:r>
              <a:rPr lang="en-US" sz="2000" b="1">
                <a:solidFill>
                  <a:schemeClr val="bg2">
                    <a:lumMod val="25000"/>
                  </a:schemeClr>
                </a:solidFill>
              </a:rPr>
              <a:t>Mô tả nội dung:</a:t>
            </a:r>
          </a:p>
          <a:p>
            <a:pPr marL="800100" lvl="1" indent="-342900">
              <a:buFont typeface="Arial" panose="020B0604020202020204" pitchFamily="34" charset="0"/>
              <a:buChar char="•"/>
            </a:pPr>
            <a:r>
              <a:rPr lang="en-US">
                <a:solidFill>
                  <a:schemeClr val="bg2">
                    <a:lumMod val="25000"/>
                  </a:schemeClr>
                </a:solidFill>
              </a:rPr>
              <a:t>Nội dung gì và mô tả bằng gì (từ khóa hay nội dung)</a:t>
            </a:r>
          </a:p>
          <a:p>
            <a:pPr marL="800100" lvl="1" indent="-342900">
              <a:buFont typeface="Arial" panose="020B0604020202020204" pitchFamily="34" charset="0"/>
              <a:buChar char="•"/>
            </a:pPr>
            <a:r>
              <a:rPr lang="vi-VN">
                <a:solidFill>
                  <a:schemeClr val="bg2">
                    <a:lumMod val="25000"/>
                  </a:schemeClr>
                </a:solidFill>
              </a:rPr>
              <a:t>Trích chọn đặc trưng và biểu diễn nội dung thế nào từ</a:t>
            </a:r>
            <a:r>
              <a:rPr lang="en-US">
                <a:solidFill>
                  <a:schemeClr val="bg2">
                    <a:lumMod val="25000"/>
                  </a:schemeClr>
                </a:solidFill>
              </a:rPr>
              <a:t>: ảnh, video, audio, văn bản cấu trúc/phi cấu trúc</a:t>
            </a:r>
          </a:p>
          <a:p>
            <a:pPr marL="800100" lvl="1" indent="-342900">
              <a:buFont typeface="Arial" panose="020B0604020202020204" pitchFamily="34" charset="0"/>
              <a:buChar char="•"/>
            </a:pPr>
            <a:r>
              <a:rPr lang="en-US">
                <a:solidFill>
                  <a:schemeClr val="bg2">
                    <a:lumMod val="25000"/>
                  </a:schemeClr>
                </a:solidFill>
              </a:rPr>
              <a:t>Đánh giá chỉ mục (indexing) các nội dung như nào?</a:t>
            </a:r>
          </a:p>
          <a:p>
            <a:pPr marL="800100" lvl="1" indent="-342900">
              <a:buFont typeface="Arial" panose="020B0604020202020204" pitchFamily="34" charset="0"/>
              <a:buChar char="•"/>
            </a:pPr>
            <a:r>
              <a:rPr lang="en-US">
                <a:solidFill>
                  <a:schemeClr val="bg2">
                    <a:lumMod val="25000"/>
                  </a:schemeClr>
                </a:solidFill>
              </a:rPr>
              <a:t>Đo động tương tự?</a:t>
            </a:r>
          </a:p>
          <a:p>
            <a:pPr marL="800100" lvl="1" indent="-342900">
              <a:buFont typeface="Arial" panose="020B0604020202020204" pitchFamily="34" charset="0"/>
              <a:buChar char="•"/>
            </a:pPr>
            <a:r>
              <a:rPr lang="en-US">
                <a:solidFill>
                  <a:schemeClr val="bg2">
                    <a:lumMod val="25000"/>
                  </a:schemeClr>
                </a:solidFill>
              </a:rPr>
              <a:t>Giải thuật cho phép truy vấn hiệu quả?</a:t>
            </a:r>
          </a:p>
          <a:p>
            <a:pPr marL="342900" indent="-342900">
              <a:buFont typeface="Arial" panose="020B0604020202020204" pitchFamily="34" charset="0"/>
              <a:buChar char="•"/>
            </a:pPr>
            <a:r>
              <a:rPr lang="en-US" sz="2000" b="1">
                <a:solidFill>
                  <a:schemeClr val="bg2">
                    <a:lumMod val="25000"/>
                  </a:schemeClr>
                </a:solidFill>
              </a:rPr>
              <a:t>Hỗ trợ lữu trữ:</a:t>
            </a:r>
          </a:p>
          <a:p>
            <a:pPr marL="800100" lvl="1" indent="-342900">
              <a:buFont typeface="Arial" panose="020B0604020202020204" pitchFamily="34" charset="0"/>
              <a:buChar char="•"/>
            </a:pPr>
            <a:r>
              <a:rPr lang="en-US">
                <a:solidFill>
                  <a:schemeClr val="bg2">
                    <a:lumMod val="25000"/>
                  </a:schemeClr>
                </a:solidFill>
              </a:rPr>
              <a:t>Các thiết bị lưu trữ hoạt động như thế nào? (Các ổ đĩa, CD-ROM, Băng từ)</a:t>
            </a:r>
          </a:p>
          <a:p>
            <a:pPr marL="800100" lvl="1" indent="-342900">
              <a:buFont typeface="Arial" panose="020B0604020202020204" pitchFamily="34" charset="0"/>
              <a:buChar char="•"/>
            </a:pPr>
            <a:r>
              <a:rPr lang="en-US">
                <a:solidFill>
                  <a:schemeClr val="bg2">
                    <a:lumMod val="25000"/>
                  </a:schemeClr>
                </a:solidFill>
              </a:rPr>
              <a:t>Dữ liệu được ghi trên các thiết bị như thế nào?</a:t>
            </a:r>
          </a:p>
          <a:p>
            <a:pPr marL="800100" lvl="1" indent="-342900">
              <a:buFont typeface="Arial" panose="020B0604020202020204" pitchFamily="34" charset="0"/>
              <a:buChar char="•"/>
            </a:pPr>
            <a:r>
              <a:rPr lang="vi-VN">
                <a:solidFill>
                  <a:schemeClr val="bg2">
                    <a:lumMod val="25000"/>
                  </a:schemeClr>
                </a:solidFill>
              </a:rPr>
              <a:t>Thiết kế các máy chủ chứa thiết bị lưu trữ nhằm thỏa mãn các yêu cầu ( tgian truy cập dài, đáp ứng thời gian thực thao tác khác nhau đồng thời ) khi từ phía người dùng trên cùng một dữ liệu ?</a:t>
            </a:r>
            <a:r>
              <a:rPr lang="en-US">
                <a:solidFill>
                  <a:schemeClr val="bg2">
                    <a:lumMod val="25000"/>
                  </a:schemeClr>
                </a:solidFill>
              </a:rPr>
              <a:t> (Playback, Rewind, FastForward, Pause)</a:t>
            </a:r>
          </a:p>
          <a:p>
            <a:pPr marL="342900" indent="-342900">
              <a:buFont typeface="Arial" panose="020B0604020202020204" pitchFamily="34" charset="0"/>
              <a:buChar char="•"/>
            </a:pPr>
            <a:r>
              <a:rPr lang="en-US" sz="2000" b="1">
                <a:solidFill>
                  <a:schemeClr val="bg2">
                    <a:lumMod val="25000"/>
                  </a:schemeClr>
                </a:solidFill>
              </a:rPr>
              <a:t>Trình diễn và truyền dữ liệu:</a:t>
            </a:r>
          </a:p>
          <a:p>
            <a:pPr marL="800100" lvl="1" indent="-342900">
              <a:buFont typeface="Arial" panose="020B0604020202020204" pitchFamily="34" charset="0"/>
              <a:buChar char="•"/>
            </a:pPr>
            <a:r>
              <a:rPr lang="en-US">
                <a:solidFill>
                  <a:schemeClr val="bg2">
                    <a:lumMod val="25000"/>
                  </a:schemeClr>
                </a:solidFill>
              </a:rPr>
              <a:t>Làm thế nào để trình chiếu nội dung của dữ liệu?</a:t>
            </a:r>
          </a:p>
          <a:p>
            <a:pPr marL="800100" lvl="1" indent="-342900">
              <a:buFont typeface="Arial" panose="020B0604020202020204" pitchFamily="34" charset="0"/>
              <a:buChar char="•"/>
            </a:pPr>
            <a:r>
              <a:rPr lang="en-US">
                <a:solidFill>
                  <a:schemeClr val="bg2">
                    <a:lumMod val="25000"/>
                  </a:schemeClr>
                </a:solidFill>
              </a:rPr>
              <a:t>Làm</a:t>
            </a:r>
            <a:r>
              <a:rPr lang="vi-VN">
                <a:solidFill>
                  <a:schemeClr val="bg2">
                    <a:lumMod val="25000"/>
                  </a:schemeClr>
                </a:solidFill>
              </a:rPr>
              <a:t> thế nào để truyền phát dữ liệu đến người sử dụng khi: </a:t>
            </a:r>
            <a:endParaRPr lang="en-US">
              <a:solidFill>
                <a:schemeClr val="bg2">
                  <a:lumMod val="25000"/>
                </a:schemeClr>
              </a:solidFill>
            </a:endParaRPr>
          </a:p>
          <a:p>
            <a:pPr marL="1257300" lvl="2" indent="-342900">
              <a:buFont typeface="Arial" panose="020B0604020202020204" pitchFamily="34" charset="0"/>
              <a:buChar char="•"/>
            </a:pPr>
            <a:r>
              <a:rPr lang="vi-VN" sz="1400">
                <a:solidFill>
                  <a:schemeClr val="bg2">
                    <a:lumMod val="25000"/>
                  </a:schemeClr>
                </a:solidFill>
              </a:rPr>
              <a:t>Có nhu cầu tương tác với máy chủ ở xa để tập hợp các thành phần trình chiếu </a:t>
            </a:r>
            <a:endParaRPr lang="en-US" sz="1400">
              <a:solidFill>
                <a:schemeClr val="bg2">
                  <a:lumMod val="25000"/>
                </a:schemeClr>
              </a:solidFill>
            </a:endParaRPr>
          </a:p>
          <a:p>
            <a:pPr marL="1257300" lvl="2" indent="-342900">
              <a:buFont typeface="Arial" panose="020B0604020202020204" pitchFamily="34" charset="0"/>
              <a:buChar char="•"/>
            </a:pPr>
            <a:r>
              <a:rPr lang="vi-VN" sz="1400">
                <a:solidFill>
                  <a:schemeClr val="bg2">
                    <a:lumMod val="25000"/>
                  </a:schemeClr>
                </a:solidFill>
              </a:rPr>
              <a:t>Có ngưỡng về bộ đệm, băng thông và các nguồn tài nguyên khác của hệ thống </a:t>
            </a:r>
            <a:endParaRPr lang="en-US" sz="1400">
              <a:solidFill>
                <a:schemeClr val="bg2">
                  <a:lumMod val="25000"/>
                </a:schemeClr>
              </a:solidFill>
            </a:endParaRPr>
          </a:p>
          <a:p>
            <a:pPr marL="1257300" lvl="2" indent="-342900">
              <a:buFont typeface="Arial" panose="020B0604020202020204" pitchFamily="34" charset="0"/>
              <a:buChar char="•"/>
            </a:pPr>
            <a:r>
              <a:rPr lang="vi-VN" sz="1400">
                <a:solidFill>
                  <a:schemeClr val="bg2">
                    <a:lumMod val="25000"/>
                  </a:schemeClr>
                </a:solidFill>
              </a:rPr>
              <a:t>Có độ không tương thức về khả năng của máy chủ và máy khách</a:t>
            </a:r>
            <a:endParaRPr lang="en-US" sz="1400">
              <a:solidFill>
                <a:schemeClr val="bg2">
                  <a:lumMod val="25000"/>
                </a:schemeClr>
              </a:solidFill>
            </a:endParaRPr>
          </a:p>
          <a:p>
            <a:pPr marL="800100" lvl="1" indent="-342900">
              <a:buFont typeface="Arial" panose="020B0604020202020204" pitchFamily="34" charset="0"/>
              <a:buChar char="•"/>
            </a:pPr>
            <a:r>
              <a:rPr lang="en-US">
                <a:solidFill>
                  <a:schemeClr val="bg2">
                    <a:lumMod val="25000"/>
                  </a:schemeClr>
                </a:solidFill>
              </a:rPr>
              <a:t>Làm thể nào để đảm bảo QoS realtime</a:t>
            </a:r>
          </a:p>
        </p:txBody>
      </p:sp>
    </p:spTree>
    <p:extLst>
      <p:ext uri="{BB962C8B-B14F-4D97-AF65-F5344CB8AC3E}">
        <p14:creationId xmlns:p14="http://schemas.microsoft.com/office/powerpoint/2010/main" val="652207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FDD74-940F-3D4D-1705-182F76034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431FA-77B6-FA8D-7F6C-AAACA34791C2}"/>
              </a:ext>
            </a:extLst>
          </p:cNvPr>
          <p:cNvSpPr>
            <a:spLocks noGrp="1"/>
          </p:cNvSpPr>
          <p:nvPr>
            <p:ph type="title"/>
          </p:nvPr>
        </p:nvSpPr>
        <p:spPr/>
        <p:txBody>
          <a:bodyPr>
            <a:noAutofit/>
          </a:bodyPr>
          <a:lstStyle/>
          <a:p>
            <a:r>
              <a:rPr lang="en-US" sz="2800"/>
              <a:t>3. MIRS &amp; MM-DBMS</a:t>
            </a:r>
            <a:endParaRPr sz="2800" dirty="0"/>
          </a:p>
        </p:txBody>
      </p:sp>
      <p:sp>
        <p:nvSpPr>
          <p:cNvPr id="6" name="TextBox 5">
            <a:extLst>
              <a:ext uri="{FF2B5EF4-FFF2-40B4-BE49-F238E27FC236}">
                <a16:creationId xmlns:a16="http://schemas.microsoft.com/office/drawing/2014/main" id="{5B91BC96-D3F4-5915-22D6-9C3659E9FFB8}"/>
              </a:ext>
            </a:extLst>
          </p:cNvPr>
          <p:cNvSpPr txBox="1"/>
          <p:nvPr/>
        </p:nvSpPr>
        <p:spPr>
          <a:xfrm>
            <a:off x="762467" y="764126"/>
            <a:ext cx="10807862" cy="5490221"/>
          </a:xfrm>
          <a:prstGeom prst="rect">
            <a:avLst/>
          </a:prstGeom>
          <a:noFill/>
        </p:spPr>
        <p:txBody>
          <a:bodyPr wrap="square" rtlCol="0">
            <a:spAutoFit/>
          </a:bodyPr>
          <a:lstStyle/>
          <a:p>
            <a:pPr>
              <a:lnSpc>
                <a:spcPct val="150000"/>
              </a:lnSpc>
            </a:pPr>
            <a:r>
              <a:rPr lang="en-US" sz="2000" b="1">
                <a:latin typeface="+mj-lt"/>
              </a:rPr>
              <a:t>Ngôn ngữ</a:t>
            </a:r>
            <a:r>
              <a:rPr lang="en-US" b="1">
                <a:latin typeface="+mj-lt"/>
              </a:rPr>
              <a:t>:</a:t>
            </a:r>
          </a:p>
          <a:p>
            <a:pPr marL="342900" indent="-342900">
              <a:lnSpc>
                <a:spcPct val="150000"/>
              </a:lnSpc>
              <a:buFont typeface="Arial" panose="020B0604020202020204" pitchFamily="34" charset="0"/>
              <a:buChar char="•"/>
            </a:pPr>
            <a:r>
              <a:rPr lang="en-US">
                <a:solidFill>
                  <a:schemeClr val="bg2">
                    <a:lumMod val="25000"/>
                  </a:schemeClr>
                </a:solidFill>
              </a:rPr>
              <a:t>SQL-based : </a:t>
            </a:r>
          </a:p>
          <a:p>
            <a:pPr marL="800100" lvl="1" indent="-342900">
              <a:lnSpc>
                <a:spcPct val="150000"/>
              </a:lnSpc>
              <a:buFont typeface="Arial" panose="020B0604020202020204" pitchFamily="34" charset="0"/>
              <a:buChar char="•"/>
            </a:pPr>
            <a:r>
              <a:rPr lang="en-US">
                <a:solidFill>
                  <a:schemeClr val="bg2">
                    <a:lumMod val="25000"/>
                  </a:schemeClr>
                </a:solidFill>
              </a:rPr>
              <a:t>HM-SQL: Hybrid-Multimedia SQL </a:t>
            </a:r>
          </a:p>
          <a:p>
            <a:pPr marL="800100" lvl="1" indent="-342900">
              <a:lnSpc>
                <a:spcPct val="150000"/>
              </a:lnSpc>
              <a:buFont typeface="Arial" panose="020B0604020202020204" pitchFamily="34" charset="0"/>
              <a:buChar char="•"/>
            </a:pPr>
            <a:r>
              <a:rPr lang="en-US">
                <a:solidFill>
                  <a:schemeClr val="bg2">
                    <a:lumMod val="25000"/>
                  </a:schemeClr>
                </a:solidFill>
              </a:rPr>
              <a:t>SQL/MM(2000):  SQLMultimedia </a:t>
            </a:r>
          </a:p>
          <a:p>
            <a:pPr marL="800100" lvl="1" indent="-342900">
              <a:lnSpc>
                <a:spcPct val="150000"/>
              </a:lnSpc>
              <a:buFont typeface="Arial" panose="020B0604020202020204" pitchFamily="34" charset="0"/>
              <a:buChar char="•"/>
            </a:pPr>
            <a:r>
              <a:rPr lang="en-US">
                <a:solidFill>
                  <a:schemeClr val="bg2">
                    <a:lumMod val="25000"/>
                  </a:schemeClr>
                </a:solidFill>
              </a:rPr>
              <a:t>QBOE(97): Query-By-Object-Exemple</a:t>
            </a:r>
          </a:p>
          <a:p>
            <a:pPr marL="800100" lvl="1" indent="-342900">
              <a:lnSpc>
                <a:spcPct val="150000"/>
              </a:lnSpc>
              <a:buFont typeface="Arial" panose="020B0604020202020204" pitchFamily="34" charset="0"/>
              <a:buChar char="•"/>
            </a:pPr>
            <a:r>
              <a:rPr lang="en-US">
                <a:solidFill>
                  <a:schemeClr val="bg2">
                    <a:lumMod val="25000"/>
                  </a:schemeClr>
                </a:solidFill>
              </a:rPr>
              <a:t>MQL(94) </a:t>
            </a:r>
          </a:p>
          <a:p>
            <a:pPr marL="800100" lvl="1" indent="-342900">
              <a:lnSpc>
                <a:spcPct val="150000"/>
              </a:lnSpc>
              <a:buFont typeface="Arial" panose="020B0604020202020204" pitchFamily="34" charset="0"/>
              <a:buChar char="•"/>
            </a:pPr>
            <a:r>
              <a:rPr lang="en-US">
                <a:solidFill>
                  <a:schemeClr val="bg2">
                    <a:lumMod val="25000"/>
                  </a:schemeClr>
                </a:solidFill>
              </a:rPr>
              <a:t>MOQL(97): Multimedia Object Query Language</a:t>
            </a:r>
          </a:p>
          <a:p>
            <a:pPr marL="800100" lvl="1" indent="-342900">
              <a:lnSpc>
                <a:spcPct val="150000"/>
              </a:lnSpc>
              <a:buFont typeface="Arial" panose="020B0604020202020204" pitchFamily="34" charset="0"/>
              <a:buChar char="•"/>
            </a:pPr>
            <a:r>
              <a:rPr lang="en-US">
                <a:solidFill>
                  <a:schemeClr val="bg2">
                    <a:lumMod val="25000"/>
                  </a:schemeClr>
                </a:solidFill>
              </a:rPr>
              <a:t>CSQL(98): Cognition and Semantics-based Query Language </a:t>
            </a:r>
          </a:p>
          <a:p>
            <a:pPr marL="342900" indent="-342900">
              <a:lnSpc>
                <a:spcPct val="150000"/>
              </a:lnSpc>
              <a:buFont typeface="Arial" panose="020B0604020202020204" pitchFamily="34" charset="0"/>
              <a:buChar char="•"/>
            </a:pPr>
            <a:r>
              <a:rPr lang="en-US">
                <a:solidFill>
                  <a:schemeClr val="bg2">
                    <a:lumMod val="25000"/>
                  </a:schemeClr>
                </a:solidFill>
              </a:rPr>
              <a:t>XML-based:</a:t>
            </a:r>
          </a:p>
          <a:p>
            <a:pPr marL="800100" lvl="1" indent="-342900">
              <a:lnSpc>
                <a:spcPct val="150000"/>
              </a:lnSpc>
              <a:buFont typeface="Arial" panose="020B0604020202020204" pitchFamily="34" charset="0"/>
              <a:buChar char="•"/>
            </a:pPr>
            <a:r>
              <a:rPr lang="en-US">
                <a:solidFill>
                  <a:schemeClr val="bg2">
                    <a:lumMod val="25000"/>
                  </a:schemeClr>
                </a:solidFill>
              </a:rPr>
              <a:t>MRML(2000): Multimedia Retrieval Markup Language</a:t>
            </a:r>
          </a:p>
          <a:p>
            <a:pPr marL="800100" lvl="1" indent="-342900">
              <a:lnSpc>
                <a:spcPct val="150000"/>
              </a:lnSpc>
              <a:buFont typeface="Arial" panose="020B0604020202020204" pitchFamily="34" charset="0"/>
              <a:buChar char="•"/>
            </a:pPr>
            <a:r>
              <a:rPr lang="en-US">
                <a:solidFill>
                  <a:schemeClr val="bg2">
                    <a:lumMod val="25000"/>
                  </a:schemeClr>
                </a:solidFill>
              </a:rPr>
              <a:t>MQF(2007): Multimedia Query Format (a standard communication language for querying multimedia databases) </a:t>
            </a:r>
          </a:p>
          <a:p>
            <a:pPr marL="800100" lvl="1" indent="-342900">
              <a:lnSpc>
                <a:spcPct val="150000"/>
              </a:lnSpc>
              <a:buFont typeface="Arial" panose="020B0604020202020204" pitchFamily="34" charset="0"/>
              <a:buChar char="•"/>
            </a:pPr>
            <a:r>
              <a:rPr lang="en-US">
                <a:solidFill>
                  <a:schemeClr val="bg2">
                    <a:lumMod val="25000"/>
                  </a:schemeClr>
                </a:solidFill>
              </a:rPr>
              <a:t>Overview: Efficient multimedia query-by-content from mobile devices 2010</a:t>
            </a:r>
            <a:endParaRPr lang="en-US" sz="1600">
              <a:solidFill>
                <a:schemeClr val="bg2">
                  <a:lumMod val="25000"/>
                </a:schemeClr>
              </a:solidFill>
            </a:endParaRPr>
          </a:p>
        </p:txBody>
      </p:sp>
    </p:spTree>
    <p:extLst>
      <p:ext uri="{BB962C8B-B14F-4D97-AF65-F5344CB8AC3E}">
        <p14:creationId xmlns:p14="http://schemas.microsoft.com/office/powerpoint/2010/main" val="1442061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99508-7C40-16FC-35DB-E99FD1C0FF9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44EB59A-FA03-3A31-346C-479385FBAA39}"/>
              </a:ext>
            </a:extLst>
          </p:cNvPr>
          <p:cNvSpPr>
            <a:spLocks noGrp="1"/>
          </p:cNvSpPr>
          <p:nvPr>
            <p:ph type="body" sz="quarter" idx="10"/>
          </p:nvPr>
        </p:nvSpPr>
        <p:spPr>
          <a:xfrm>
            <a:off x="620112" y="2517788"/>
            <a:ext cx="10800557" cy="2194234"/>
          </a:xfrm>
        </p:spPr>
        <p:txBody>
          <a:bodyPr/>
          <a:lstStyle/>
          <a:p>
            <a:r>
              <a:rPr lang="vi-VN" dirty="0"/>
              <a:t>Ví dụ một ứng dụng đa phương tiện</a:t>
            </a:r>
            <a:endParaRPr lang="en-US" dirty="0"/>
          </a:p>
        </p:txBody>
      </p:sp>
      <p:sp>
        <p:nvSpPr>
          <p:cNvPr id="4" name="Slide Number Placeholder 3">
            <a:extLst>
              <a:ext uri="{FF2B5EF4-FFF2-40B4-BE49-F238E27FC236}">
                <a16:creationId xmlns:a16="http://schemas.microsoft.com/office/drawing/2014/main" id="{1636F897-02D4-5EDF-C11E-A2BC43656D3E}"/>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22</a:t>
            </a:fld>
            <a:endParaRPr lang="en-US" dirty="0">
              <a:solidFill>
                <a:prstClr val="white"/>
              </a:solidFill>
            </a:endParaRPr>
          </a:p>
        </p:txBody>
      </p:sp>
    </p:spTree>
    <p:extLst>
      <p:ext uri="{BB962C8B-B14F-4D97-AF65-F5344CB8AC3E}">
        <p14:creationId xmlns:p14="http://schemas.microsoft.com/office/powerpoint/2010/main" val="4130496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49F8E-2D2C-AE60-3B40-8A9A0510ADF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CF9CF44-F3E7-1A5C-5A4C-4930703EE59C}"/>
              </a:ext>
            </a:extLst>
          </p:cNvPr>
          <p:cNvSpPr/>
          <p:nvPr/>
        </p:nvSpPr>
        <p:spPr>
          <a:xfrm>
            <a:off x="0" y="476493"/>
            <a:ext cx="12192000" cy="6362214"/>
          </a:xfrm>
          <a:prstGeom prst="rect">
            <a:avLst/>
          </a:prstGeom>
          <a:solidFill>
            <a:srgbClr val="F0F4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oard with text and icons&#10;&#10;AI-generated content may be incorrect.">
            <a:extLst>
              <a:ext uri="{FF2B5EF4-FFF2-40B4-BE49-F238E27FC236}">
                <a16:creationId xmlns:a16="http://schemas.microsoft.com/office/drawing/2014/main" id="{34B50F87-94BE-5CB1-BD6D-A6527B3A9934}"/>
              </a:ext>
            </a:extLst>
          </p:cNvPr>
          <p:cNvPicPr>
            <a:picLocks noChangeAspect="1"/>
          </p:cNvPicPr>
          <p:nvPr/>
        </p:nvPicPr>
        <p:blipFill>
          <a:blip r:embed="rId3"/>
          <a:srcRect t="1593" b="3076"/>
          <a:stretch>
            <a:fillRect/>
          </a:stretch>
        </p:blipFill>
        <p:spPr>
          <a:xfrm>
            <a:off x="190101" y="581025"/>
            <a:ext cx="11811798" cy="6257682"/>
          </a:xfrm>
          <a:prstGeom prst="rect">
            <a:avLst/>
          </a:prstGeom>
        </p:spPr>
      </p:pic>
      <p:sp>
        <p:nvSpPr>
          <p:cNvPr id="2" name="Title 1">
            <a:extLst>
              <a:ext uri="{FF2B5EF4-FFF2-40B4-BE49-F238E27FC236}">
                <a16:creationId xmlns:a16="http://schemas.microsoft.com/office/drawing/2014/main" id="{CF9BB38B-528D-0B77-CB14-FEACDF00B58C}"/>
              </a:ext>
            </a:extLst>
          </p:cNvPr>
          <p:cNvSpPr>
            <a:spLocks noGrp="1"/>
          </p:cNvSpPr>
          <p:nvPr>
            <p:ph type="title"/>
          </p:nvPr>
        </p:nvSpPr>
        <p:spPr/>
        <p:txBody>
          <a:bodyPr>
            <a:noAutofit/>
          </a:bodyPr>
          <a:lstStyle/>
          <a:p>
            <a:r>
              <a:rPr lang="en-US" sz="2800"/>
              <a:t>4. Tình huống</a:t>
            </a:r>
            <a:endParaRPr sz="2800" dirty="0"/>
          </a:p>
        </p:txBody>
      </p:sp>
    </p:spTree>
    <p:extLst>
      <p:ext uri="{BB962C8B-B14F-4D97-AF65-F5344CB8AC3E}">
        <p14:creationId xmlns:p14="http://schemas.microsoft.com/office/powerpoint/2010/main" val="1036706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5996-1A57-7183-4E1F-4F7BEDC84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83049-9372-898A-93A2-392EFBA985A7}"/>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29270198-6468-AF7A-3414-336A0E48CD42}"/>
              </a:ext>
            </a:extLst>
          </p:cNvPr>
          <p:cNvSpPr txBox="1"/>
          <p:nvPr/>
        </p:nvSpPr>
        <p:spPr>
          <a:xfrm>
            <a:off x="762467" y="1563841"/>
            <a:ext cx="10807862" cy="3730317"/>
          </a:xfrm>
          <a:prstGeom prst="rect">
            <a:avLst/>
          </a:prstGeom>
          <a:noFill/>
        </p:spPr>
        <p:txBody>
          <a:bodyPr wrap="square" rtlCol="0">
            <a:spAutoFit/>
          </a:bodyPr>
          <a:lstStyle/>
          <a:p>
            <a:pPr>
              <a:lnSpc>
                <a:spcPct val="150000"/>
              </a:lnSpc>
            </a:pPr>
            <a:r>
              <a:rPr lang="en-US" sz="2000" b="1">
                <a:latin typeface="+mj-lt"/>
              </a:rPr>
              <a:t>Các nguồn dữ liệu</a:t>
            </a:r>
            <a:r>
              <a:rPr lang="en-US" b="1">
                <a:latin typeface="+mj-lt"/>
              </a:rPr>
              <a:t>:</a:t>
            </a:r>
          </a:p>
          <a:p>
            <a:pPr marL="342900" indent="-342900">
              <a:lnSpc>
                <a:spcPct val="150000"/>
              </a:lnSpc>
              <a:buFont typeface="Arial" panose="020B0604020202020204" pitchFamily="34" charset="0"/>
              <a:buChar char="•"/>
            </a:pPr>
            <a:r>
              <a:rPr lang="vi-VN" sz="2000">
                <a:solidFill>
                  <a:schemeClr val="bg2">
                    <a:lumMod val="25000"/>
                  </a:schemeClr>
                </a:solidFill>
              </a:rPr>
              <a:t>Surveillance video: các camera sẽ thu thập thông tin về các hoạt động đáng nghi liên quan đến ma túy tại một số địa điểm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Audio data : được thu âm từ các cuộc gọi điện thoại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Image data : Các ảnh được chụp bởi một số nhà điều tra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Document data : dữ liệu ghi chép trong lúc điều tra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Relational data: chứa các thông tin chung, dữ liệu ngân hàng, … đối tượng nghi vấn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Geographic info: các dữ liệu địa lý nơi mà các hoạt động điều tra được tiến hành</a:t>
            </a:r>
            <a:endParaRPr lang="en-US">
              <a:solidFill>
                <a:schemeClr val="bg2">
                  <a:lumMod val="25000"/>
                </a:schemeClr>
              </a:solidFill>
            </a:endParaRPr>
          </a:p>
        </p:txBody>
      </p:sp>
    </p:spTree>
    <p:extLst>
      <p:ext uri="{BB962C8B-B14F-4D97-AF65-F5344CB8AC3E}">
        <p14:creationId xmlns:p14="http://schemas.microsoft.com/office/powerpoint/2010/main" val="2633086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D550F-EE7B-DCC5-98CE-2F99DC598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27D1D-7D91-2578-CB10-8C498D782F22}"/>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8BBFAF7D-D568-3461-F7E2-D990867E7CBD}"/>
              </a:ext>
            </a:extLst>
          </p:cNvPr>
          <p:cNvSpPr txBox="1"/>
          <p:nvPr/>
        </p:nvSpPr>
        <p:spPr>
          <a:xfrm>
            <a:off x="762467" y="887566"/>
            <a:ext cx="10807862" cy="1015663"/>
          </a:xfrm>
          <a:prstGeom prst="rect">
            <a:avLst/>
          </a:prstGeom>
          <a:noFill/>
        </p:spPr>
        <p:txBody>
          <a:bodyPr wrap="square" rtlCol="0">
            <a:spAutoFit/>
          </a:bodyPr>
          <a:lstStyle/>
          <a:p>
            <a:r>
              <a:rPr lang="en-US" sz="2000" b="1">
                <a:latin typeface="+mj-lt"/>
              </a:rPr>
              <a:t>Ngữ cảnh 1</a:t>
            </a:r>
            <a:r>
              <a:rPr lang="en-US" b="1">
                <a:latin typeface="+mj-lt"/>
              </a:rPr>
              <a:t>:</a:t>
            </a:r>
          </a:p>
          <a:p>
            <a:pPr marL="342900" indent="-342900">
              <a:buFont typeface="Arial" panose="020B0604020202020204" pitchFamily="34" charset="0"/>
              <a:buChar char="•"/>
            </a:pPr>
            <a:r>
              <a:rPr lang="vi-VN" sz="2000">
                <a:solidFill>
                  <a:schemeClr val="bg2">
                    <a:lumMod val="25000"/>
                  </a:schemeClr>
                </a:solidFill>
              </a:rPr>
              <a:t>Cảnh sảt có ảnh của 1 đối tượng và muốn định danh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Q1: Tìm tất cả các ảnh từ thư viện giống với ảnh đang có</a:t>
            </a:r>
            <a:endParaRPr lang="en-US">
              <a:solidFill>
                <a:schemeClr val="bg2">
                  <a:lumMod val="25000"/>
                </a:schemeClr>
              </a:solidFill>
            </a:endParaRPr>
          </a:p>
        </p:txBody>
      </p:sp>
      <p:pic>
        <p:nvPicPr>
          <p:cNvPr id="5" name="Picture 4" descr="A person with a picture of his face&#10;&#10;AI-generated content may be incorrect.">
            <a:extLst>
              <a:ext uri="{FF2B5EF4-FFF2-40B4-BE49-F238E27FC236}">
                <a16:creationId xmlns:a16="http://schemas.microsoft.com/office/drawing/2014/main" id="{4635C0E6-50E1-B4E6-834B-CF7E54DB2DDA}"/>
              </a:ext>
            </a:extLst>
          </p:cNvPr>
          <p:cNvPicPr>
            <a:picLocks noChangeAspect="1"/>
          </p:cNvPicPr>
          <p:nvPr/>
        </p:nvPicPr>
        <p:blipFill>
          <a:blip r:embed="rId3"/>
          <a:stretch>
            <a:fillRect/>
          </a:stretch>
        </p:blipFill>
        <p:spPr>
          <a:xfrm>
            <a:off x="2179248" y="2209800"/>
            <a:ext cx="7599127" cy="4105275"/>
          </a:xfrm>
          <a:prstGeom prst="rect">
            <a:avLst/>
          </a:prstGeom>
        </p:spPr>
      </p:pic>
    </p:spTree>
    <p:extLst>
      <p:ext uri="{BB962C8B-B14F-4D97-AF65-F5344CB8AC3E}">
        <p14:creationId xmlns:p14="http://schemas.microsoft.com/office/powerpoint/2010/main" val="2551971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27FF1-F6C3-C582-78BA-0C330BB74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066B7-38A6-BD55-B9E5-15825F205D86}"/>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DDE35B9A-992B-A495-2F92-B283C8F1FB94}"/>
              </a:ext>
            </a:extLst>
          </p:cNvPr>
          <p:cNvSpPr txBox="1"/>
          <p:nvPr/>
        </p:nvSpPr>
        <p:spPr>
          <a:xfrm>
            <a:off x="762467" y="887566"/>
            <a:ext cx="10807862" cy="1015663"/>
          </a:xfrm>
          <a:prstGeom prst="rect">
            <a:avLst/>
          </a:prstGeom>
          <a:noFill/>
        </p:spPr>
        <p:txBody>
          <a:bodyPr wrap="square" rtlCol="0">
            <a:spAutoFit/>
          </a:bodyPr>
          <a:lstStyle/>
          <a:p>
            <a:r>
              <a:rPr lang="en-US" sz="2000" b="1">
                <a:latin typeface="+mj-lt"/>
              </a:rPr>
              <a:t>Ngữ cảnh 2</a:t>
            </a:r>
            <a:r>
              <a:rPr lang="en-US" b="1">
                <a:latin typeface="+mj-lt"/>
              </a:rPr>
              <a:t>:</a:t>
            </a:r>
          </a:p>
          <a:p>
            <a:pPr marL="342900" indent="-342900">
              <a:buFont typeface="Arial" panose="020B0604020202020204" pitchFamily="34" charset="0"/>
              <a:buChar char="•"/>
            </a:pPr>
            <a:r>
              <a:rPr lang="vi-VN" sz="2000">
                <a:solidFill>
                  <a:schemeClr val="bg2">
                    <a:lumMod val="25000"/>
                  </a:schemeClr>
                </a:solidFill>
              </a:rPr>
              <a:t>Kiểm tra bức ảnh của JP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Q2: Tìm tất cả các bức ảnh trong thư viện có hình của JP</a:t>
            </a:r>
            <a:endParaRPr lang="en-US">
              <a:solidFill>
                <a:schemeClr val="bg2">
                  <a:lumMod val="25000"/>
                </a:schemeClr>
              </a:solidFill>
            </a:endParaRPr>
          </a:p>
        </p:txBody>
      </p:sp>
      <p:pic>
        <p:nvPicPr>
          <p:cNvPr id="6" name="Picture 5" descr="A diagram of a person's face&#10;&#10;AI-generated content may be incorrect.">
            <a:extLst>
              <a:ext uri="{FF2B5EF4-FFF2-40B4-BE49-F238E27FC236}">
                <a16:creationId xmlns:a16="http://schemas.microsoft.com/office/drawing/2014/main" id="{E8885279-4A6D-5641-57A8-D6726166FDA0}"/>
              </a:ext>
            </a:extLst>
          </p:cNvPr>
          <p:cNvPicPr>
            <a:picLocks noChangeAspect="1"/>
          </p:cNvPicPr>
          <p:nvPr/>
        </p:nvPicPr>
        <p:blipFill>
          <a:blip r:embed="rId3"/>
          <a:stretch>
            <a:fillRect/>
          </a:stretch>
        </p:blipFill>
        <p:spPr>
          <a:xfrm>
            <a:off x="2133222" y="2285727"/>
            <a:ext cx="7334628" cy="3886837"/>
          </a:xfrm>
          <a:prstGeom prst="rect">
            <a:avLst/>
          </a:prstGeom>
        </p:spPr>
      </p:pic>
    </p:spTree>
    <p:extLst>
      <p:ext uri="{BB962C8B-B14F-4D97-AF65-F5344CB8AC3E}">
        <p14:creationId xmlns:p14="http://schemas.microsoft.com/office/powerpoint/2010/main" val="2289859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26E5-E394-ED45-6DA4-E0856515B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057E3-C6C5-D0BB-22B4-E4768F0E80BB}"/>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5B90523F-8AF2-020B-2186-65F5AA8E7D5A}"/>
              </a:ext>
            </a:extLst>
          </p:cNvPr>
          <p:cNvSpPr txBox="1"/>
          <p:nvPr/>
        </p:nvSpPr>
        <p:spPr>
          <a:xfrm>
            <a:off x="762467" y="992341"/>
            <a:ext cx="10807862" cy="2246769"/>
          </a:xfrm>
          <a:prstGeom prst="rect">
            <a:avLst/>
          </a:prstGeom>
          <a:noFill/>
        </p:spPr>
        <p:txBody>
          <a:bodyPr wrap="square" rtlCol="0">
            <a:spAutoFit/>
          </a:bodyPr>
          <a:lstStyle/>
          <a:p>
            <a:r>
              <a:rPr lang="en-US" sz="2000" b="1">
                <a:latin typeface="+mj-lt"/>
              </a:rPr>
              <a:t>Truy vấn trong thư viện ảnh</a:t>
            </a:r>
            <a:r>
              <a:rPr lang="en-US" b="1">
                <a:latin typeface="+mj-lt"/>
              </a:rPr>
              <a:t>:</a:t>
            </a:r>
          </a:p>
          <a:p>
            <a:pPr marL="342900" indent="-342900">
              <a:buFont typeface="Arial" panose="020B0604020202020204" pitchFamily="34" charset="0"/>
              <a:buChar char="•"/>
            </a:pPr>
            <a:r>
              <a:rPr lang="vi-VN" sz="2000">
                <a:solidFill>
                  <a:schemeClr val="bg2">
                    <a:lumMod val="25000"/>
                  </a:schemeClr>
                </a:solidFill>
              </a:rPr>
              <a:t>Truy vấn = ảnh</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Similarity: Độ tương tự giữa 2 ảnh ? </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Ranking: xếp loại ?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Truy vấn = từ khóa:</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 Đối tượng ảnh liên kết với giá trị thuộc tính </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 Đánh chỉ mục và tìm kiếm hiệu quả các thuộc tính</a:t>
            </a:r>
            <a:endParaRPr lang="en-US">
              <a:solidFill>
                <a:schemeClr val="bg2">
                  <a:lumMod val="25000"/>
                </a:schemeClr>
              </a:solidFill>
            </a:endParaRPr>
          </a:p>
        </p:txBody>
      </p:sp>
      <p:sp>
        <p:nvSpPr>
          <p:cNvPr id="4" name="TextBox 3">
            <a:extLst>
              <a:ext uri="{FF2B5EF4-FFF2-40B4-BE49-F238E27FC236}">
                <a16:creationId xmlns:a16="http://schemas.microsoft.com/office/drawing/2014/main" id="{8C0AAEDD-D9E0-6F54-149D-249CAFF45960}"/>
              </a:ext>
            </a:extLst>
          </p:cNvPr>
          <p:cNvSpPr txBox="1"/>
          <p:nvPr/>
        </p:nvSpPr>
        <p:spPr>
          <a:xfrm>
            <a:off x="762467" y="3497783"/>
            <a:ext cx="10807862" cy="2246769"/>
          </a:xfrm>
          <a:prstGeom prst="rect">
            <a:avLst/>
          </a:prstGeom>
          <a:noFill/>
        </p:spPr>
        <p:txBody>
          <a:bodyPr wrap="square" rtlCol="0">
            <a:spAutoFit/>
          </a:bodyPr>
          <a:lstStyle/>
          <a:p>
            <a:r>
              <a:rPr lang="en-US" sz="2000" b="1">
                <a:latin typeface="+mj-lt"/>
              </a:rPr>
              <a:t>Truy vấn dữ liệu âm thanh</a:t>
            </a:r>
            <a:r>
              <a:rPr lang="en-US" b="1">
                <a:latin typeface="+mj-lt"/>
              </a:rPr>
              <a:t>:</a:t>
            </a:r>
          </a:p>
          <a:p>
            <a:pPr marL="342900" indent="-342900">
              <a:buFont typeface="Arial" panose="020B0604020202020204" pitchFamily="34" charset="0"/>
              <a:buChar char="•"/>
            </a:pPr>
            <a:r>
              <a:rPr lang="en-US" sz="2000">
                <a:solidFill>
                  <a:schemeClr val="bg2">
                    <a:lumMod val="25000"/>
                  </a:schemeClr>
                </a:solidFill>
              </a:rPr>
              <a:t>Ngữ cảnh 1:</a:t>
            </a:r>
          </a:p>
          <a:p>
            <a:pPr marL="800100" lvl="1" indent="-342900">
              <a:buFont typeface="Arial" panose="020B0604020202020204" pitchFamily="34" charset="0"/>
              <a:buChar char="•"/>
            </a:pPr>
            <a:r>
              <a:rPr lang="vi-VN" sz="2000">
                <a:solidFill>
                  <a:schemeClr val="bg2">
                    <a:lumMod val="25000"/>
                  </a:schemeClr>
                </a:solidFill>
              </a:rPr>
              <a:t>Đoạn băng ghi âm chứa đoạn hội thoại của 2 người A &amp; B. A</a:t>
            </a:r>
            <a:r>
              <a:rPr lang="en-US" sz="2000">
                <a:solidFill>
                  <a:schemeClr val="bg2">
                    <a:lumMod val="25000"/>
                  </a:schemeClr>
                </a:solidFill>
              </a:rPr>
              <a:t> </a:t>
            </a:r>
            <a:r>
              <a:rPr lang="vi-VN" sz="2000">
                <a:solidFill>
                  <a:schemeClr val="bg2">
                    <a:lumMod val="25000"/>
                  </a:schemeClr>
                </a:solidFill>
              </a:rPr>
              <a:t>là </a:t>
            </a:r>
            <a:r>
              <a:rPr lang="en-US" sz="2000">
                <a:solidFill>
                  <a:schemeClr val="bg2">
                    <a:lumMod val="25000"/>
                  </a:schemeClr>
                </a:solidFill>
              </a:rPr>
              <a:t>Nguyễn Văn A</a:t>
            </a:r>
          </a:p>
          <a:p>
            <a:pPr marL="800100" lvl="1" indent="-342900">
              <a:buFont typeface="Arial" panose="020B0604020202020204" pitchFamily="34" charset="0"/>
              <a:buChar char="•"/>
            </a:pPr>
            <a:r>
              <a:rPr lang="vi-VN" sz="2000">
                <a:solidFill>
                  <a:schemeClr val="bg2">
                    <a:lumMod val="25000"/>
                  </a:schemeClr>
                </a:solidFill>
              </a:rPr>
              <a:t>Q</a:t>
            </a:r>
            <a:r>
              <a:rPr lang="en-US" sz="2000">
                <a:solidFill>
                  <a:schemeClr val="bg2">
                    <a:lumMod val="25000"/>
                  </a:schemeClr>
                </a:solidFill>
              </a:rPr>
              <a:t>1</a:t>
            </a:r>
            <a:r>
              <a:rPr lang="vi-VN" sz="2000">
                <a:solidFill>
                  <a:schemeClr val="bg2">
                    <a:lumMod val="25000"/>
                  </a:schemeClr>
                </a:solidFill>
              </a:rPr>
              <a:t>: Xác định tên của người B</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Ngữ cảnh 2:</a:t>
            </a:r>
          </a:p>
          <a:p>
            <a:pPr marL="800100" lvl="1" indent="-342900">
              <a:buFont typeface="Arial" panose="020B0604020202020204" pitchFamily="34" charset="0"/>
              <a:buChar char="•"/>
            </a:pPr>
            <a:r>
              <a:rPr lang="en-US" sz="2000">
                <a:solidFill>
                  <a:schemeClr val="bg2">
                    <a:lumMod val="25000"/>
                  </a:schemeClr>
                </a:solidFill>
              </a:rPr>
              <a:t>Xem tất cả các đoạn băng có “Nguyễn Văn A” trong 1 khoảng thời gian nào đó </a:t>
            </a:r>
          </a:p>
          <a:p>
            <a:pPr marL="800100" lvl="1" indent="-342900">
              <a:buFont typeface="Arial" panose="020B0604020202020204" pitchFamily="34" charset="0"/>
              <a:buChar char="•"/>
            </a:pPr>
            <a:r>
              <a:rPr lang="en-US" sz="2000">
                <a:solidFill>
                  <a:schemeClr val="bg2">
                    <a:lumMod val="25000"/>
                  </a:schemeClr>
                </a:solidFill>
              </a:rPr>
              <a:t>Q2: Tìm tất cả các băng ghi âm mà “Nguyễn Văn A” có tham dự</a:t>
            </a:r>
            <a:endParaRPr lang="en-US">
              <a:solidFill>
                <a:schemeClr val="bg2">
                  <a:lumMod val="25000"/>
                </a:schemeClr>
              </a:solidFill>
            </a:endParaRPr>
          </a:p>
        </p:txBody>
      </p:sp>
    </p:spTree>
    <p:extLst>
      <p:ext uri="{BB962C8B-B14F-4D97-AF65-F5344CB8AC3E}">
        <p14:creationId xmlns:p14="http://schemas.microsoft.com/office/powerpoint/2010/main" val="717533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45586-810F-0186-0979-41A6660F9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B26FF-5626-FBD9-8D1A-1DBA4FB93601}"/>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EBA0B45B-6B2D-8C9E-B627-7E84ECEE53CC}"/>
              </a:ext>
            </a:extLst>
          </p:cNvPr>
          <p:cNvSpPr txBox="1"/>
          <p:nvPr/>
        </p:nvSpPr>
        <p:spPr>
          <a:xfrm>
            <a:off x="762467" y="806761"/>
            <a:ext cx="10807862" cy="1323439"/>
          </a:xfrm>
          <a:prstGeom prst="rect">
            <a:avLst/>
          </a:prstGeom>
          <a:noFill/>
        </p:spPr>
        <p:txBody>
          <a:bodyPr wrap="square" rtlCol="0">
            <a:spAutoFit/>
          </a:bodyPr>
          <a:lstStyle/>
          <a:p>
            <a:r>
              <a:rPr lang="en-US" sz="2000" b="1">
                <a:latin typeface="+mj-lt"/>
              </a:rPr>
              <a:t>Truy vấn dữ liệu văn bản</a:t>
            </a:r>
            <a:r>
              <a:rPr lang="en-US" b="1">
                <a:latin typeface="+mj-lt"/>
              </a:rPr>
              <a:t>:</a:t>
            </a:r>
          </a:p>
          <a:p>
            <a:pPr marL="342900" indent="-342900">
              <a:buFont typeface="Arial" panose="020B0604020202020204" pitchFamily="34" charset="0"/>
              <a:buChar char="•"/>
            </a:pPr>
            <a:r>
              <a:rPr lang="en-US" sz="2000">
                <a:solidFill>
                  <a:schemeClr val="bg2">
                    <a:lumMod val="25000"/>
                  </a:schemeClr>
                </a:solidFill>
              </a:rPr>
              <a:t>Ng</a:t>
            </a:r>
            <a:r>
              <a:rPr lang="vi-VN" sz="2000">
                <a:solidFill>
                  <a:schemeClr val="bg2">
                    <a:lumMod val="25000"/>
                  </a:schemeClr>
                </a:solidFill>
              </a:rPr>
              <a:t>ữ cảnh:</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Tra cứu tài liệu để điều tra 1 vụ việc chưa được giải quyết </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Q1: Tìm tất cả các tài liệu có giao dịch tài chính giữa công ty X &amp; công ty Y</a:t>
            </a:r>
            <a:endParaRPr lang="en-US">
              <a:solidFill>
                <a:schemeClr val="bg2">
                  <a:lumMod val="25000"/>
                </a:schemeClr>
              </a:solidFill>
            </a:endParaRPr>
          </a:p>
        </p:txBody>
      </p:sp>
      <p:sp>
        <p:nvSpPr>
          <p:cNvPr id="4" name="TextBox 3">
            <a:extLst>
              <a:ext uri="{FF2B5EF4-FFF2-40B4-BE49-F238E27FC236}">
                <a16:creationId xmlns:a16="http://schemas.microsoft.com/office/drawing/2014/main" id="{2A363E0D-DCD1-A1A4-C0DB-0F48DB1D9675}"/>
              </a:ext>
            </a:extLst>
          </p:cNvPr>
          <p:cNvSpPr txBox="1"/>
          <p:nvPr/>
        </p:nvSpPr>
        <p:spPr>
          <a:xfrm>
            <a:off x="762467" y="2273924"/>
            <a:ext cx="10807862" cy="1938992"/>
          </a:xfrm>
          <a:prstGeom prst="rect">
            <a:avLst/>
          </a:prstGeom>
          <a:noFill/>
        </p:spPr>
        <p:txBody>
          <a:bodyPr wrap="square" rtlCol="0">
            <a:spAutoFit/>
          </a:bodyPr>
          <a:lstStyle/>
          <a:p>
            <a:r>
              <a:rPr lang="en-US" sz="2000" b="1">
                <a:latin typeface="+mj-lt"/>
              </a:rPr>
              <a:t>Truy vấn dữ liệu video</a:t>
            </a:r>
            <a:r>
              <a:rPr lang="en-US" b="1">
                <a:latin typeface="+mj-lt"/>
              </a:rPr>
              <a:t>:</a:t>
            </a:r>
          </a:p>
          <a:p>
            <a:pPr marL="342900" indent="-342900">
              <a:buFont typeface="Arial" panose="020B0604020202020204" pitchFamily="34" charset="0"/>
              <a:buChar char="•"/>
            </a:pPr>
            <a:r>
              <a:rPr lang="en-US" sz="2000">
                <a:solidFill>
                  <a:schemeClr val="bg2">
                    <a:lumMod val="25000"/>
                  </a:schemeClr>
                </a:solidFill>
              </a:rPr>
              <a:t>Ngữ cảnh</a:t>
            </a:r>
          </a:p>
          <a:p>
            <a:pPr marL="800100" lvl="1" indent="-342900">
              <a:buFont typeface="Arial" panose="020B0604020202020204" pitchFamily="34" charset="0"/>
              <a:buChar char="•"/>
            </a:pPr>
            <a:r>
              <a:rPr lang="vi-VN" sz="2000">
                <a:solidFill>
                  <a:schemeClr val="bg2">
                    <a:lumMod val="25000"/>
                  </a:schemeClr>
                </a:solidFill>
              </a:rPr>
              <a:t>Cảnh sát đang xem đoạn băng theo dõi 1 vụ tấn công, mặt của kẻ tấn công (B) bị che khuất 1 phần </a:t>
            </a:r>
            <a:r>
              <a:rPr lang="en-US" sz="2000">
                <a:solidFill>
                  <a:schemeClr val="bg2">
                    <a:lumMod val="25000"/>
                  </a:schemeClr>
                </a:solidFill>
              </a:rPr>
              <a:t>=&gt;</a:t>
            </a:r>
            <a:r>
              <a:rPr lang="vi-VN" sz="2000">
                <a:solidFill>
                  <a:schemeClr val="bg2">
                    <a:lumMod val="25000"/>
                  </a:schemeClr>
                </a:solidFill>
              </a:rPr>
              <a:t> giải thuật nhận dạng không cho kết quả tốt </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Phỏng đoán: có thể người bị tấn công (A) quen biết thủ phạm </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Q: Tìm tất cả các đoạn video mà có mặt người bị tấn công </a:t>
            </a:r>
            <a:endParaRPr lang="en-US">
              <a:solidFill>
                <a:schemeClr val="bg2">
                  <a:lumMod val="25000"/>
                </a:schemeClr>
              </a:solidFill>
            </a:endParaRPr>
          </a:p>
        </p:txBody>
      </p:sp>
      <p:pic>
        <p:nvPicPr>
          <p:cNvPr id="6" name="Picture 5" descr="A movie reel with text and arrows&#10;&#10;AI-generated content may be incorrect.">
            <a:extLst>
              <a:ext uri="{FF2B5EF4-FFF2-40B4-BE49-F238E27FC236}">
                <a16:creationId xmlns:a16="http://schemas.microsoft.com/office/drawing/2014/main" id="{ED292519-B1CF-EC6D-42D2-7840BD788508}"/>
              </a:ext>
            </a:extLst>
          </p:cNvPr>
          <p:cNvPicPr>
            <a:picLocks noChangeAspect="1"/>
          </p:cNvPicPr>
          <p:nvPr/>
        </p:nvPicPr>
        <p:blipFill>
          <a:blip r:embed="rId3"/>
          <a:stretch>
            <a:fillRect/>
          </a:stretch>
        </p:blipFill>
        <p:spPr>
          <a:xfrm>
            <a:off x="3766769" y="4428884"/>
            <a:ext cx="3910382" cy="1853028"/>
          </a:xfrm>
          <a:prstGeom prst="rect">
            <a:avLst/>
          </a:prstGeom>
        </p:spPr>
      </p:pic>
    </p:spTree>
    <p:extLst>
      <p:ext uri="{BB962C8B-B14F-4D97-AF65-F5344CB8AC3E}">
        <p14:creationId xmlns:p14="http://schemas.microsoft.com/office/powerpoint/2010/main" val="557725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27AC3-6723-8C06-CE35-CAF117B2E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43527-F928-C73C-52DA-8B71DB2825E5}"/>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62BB4944-36BA-BBB0-0346-12992B5F552C}"/>
              </a:ext>
            </a:extLst>
          </p:cNvPr>
          <p:cNvSpPr txBox="1"/>
          <p:nvPr/>
        </p:nvSpPr>
        <p:spPr>
          <a:xfrm>
            <a:off x="762467" y="806761"/>
            <a:ext cx="10807862" cy="1908215"/>
          </a:xfrm>
          <a:prstGeom prst="rect">
            <a:avLst/>
          </a:prstGeom>
          <a:noFill/>
        </p:spPr>
        <p:txBody>
          <a:bodyPr wrap="square" rtlCol="0">
            <a:spAutoFit/>
          </a:bodyPr>
          <a:lstStyle/>
          <a:p>
            <a:r>
              <a:rPr lang="en-US" sz="2000" b="1">
                <a:latin typeface="+mj-lt"/>
              </a:rPr>
              <a:t>Truy vấn hỗn tạp</a:t>
            </a:r>
            <a:r>
              <a:rPr lang="en-US" b="1">
                <a:latin typeface="+mj-lt"/>
              </a:rPr>
              <a:t>:</a:t>
            </a:r>
          </a:p>
          <a:p>
            <a:r>
              <a:rPr lang="vi-VN" sz="2000">
                <a:solidFill>
                  <a:schemeClr val="bg2">
                    <a:lumMod val="25000"/>
                  </a:schemeClr>
                </a:solidFill>
              </a:rPr>
              <a:t>Truy vấn phức tạp: liên quan đến nhiều nguồn đa phương tiện khác nhau</a:t>
            </a:r>
            <a:r>
              <a:rPr lang="en-US" sz="2000">
                <a:solidFill>
                  <a:schemeClr val="bg2">
                    <a:lumMod val="25000"/>
                  </a:schemeClr>
                </a:solidFill>
              </a:rPr>
              <a:t> =&gt; khó, thậm chí trong trường hợp chỉ có dữ liệu văn bản</a:t>
            </a:r>
          </a:p>
          <a:p>
            <a:endParaRPr lang="en-US" sz="2000">
              <a:solidFill>
                <a:schemeClr val="bg2">
                  <a:lumMod val="25000"/>
                </a:schemeClr>
              </a:solidFill>
            </a:endParaRPr>
          </a:p>
          <a:p>
            <a:r>
              <a:rPr lang="en-US" sz="2000" b="1">
                <a:solidFill>
                  <a:schemeClr val="bg2">
                    <a:lumMod val="25000"/>
                  </a:schemeClr>
                </a:solidFill>
              </a:rPr>
              <a:t>Ví dụ 1: </a:t>
            </a:r>
            <a:r>
              <a:rPr lang="en-US">
                <a:solidFill>
                  <a:schemeClr val="bg2">
                    <a:lumMod val="25000"/>
                  </a:schemeClr>
                </a:solidFill>
              </a:rPr>
              <a:t>Tìm tất cả những kẻ đã bị kết án trong vụ tấn công ở Nam Phi và đã có chuyển khoản vào tài khoản của họ từ công ty ABC</a:t>
            </a:r>
          </a:p>
        </p:txBody>
      </p:sp>
      <p:pic>
        <p:nvPicPr>
          <p:cNvPr id="7" name="Picture 6" descr="A diagram of a different courts&#10;&#10;AI-generated content may be incorrect.">
            <a:extLst>
              <a:ext uri="{FF2B5EF4-FFF2-40B4-BE49-F238E27FC236}">
                <a16:creationId xmlns:a16="http://schemas.microsoft.com/office/drawing/2014/main" id="{A30B7097-F19D-30A3-0876-E35D6650EBEB}"/>
              </a:ext>
            </a:extLst>
          </p:cNvPr>
          <p:cNvPicPr>
            <a:picLocks noChangeAspect="1"/>
          </p:cNvPicPr>
          <p:nvPr/>
        </p:nvPicPr>
        <p:blipFill>
          <a:blip r:embed="rId3"/>
          <a:stretch>
            <a:fillRect/>
          </a:stretch>
        </p:blipFill>
        <p:spPr>
          <a:xfrm>
            <a:off x="6003962" y="2714976"/>
            <a:ext cx="5566367" cy="3152568"/>
          </a:xfrm>
          <a:prstGeom prst="rect">
            <a:avLst/>
          </a:prstGeom>
        </p:spPr>
      </p:pic>
      <p:sp>
        <p:nvSpPr>
          <p:cNvPr id="9" name="TextBox 8">
            <a:extLst>
              <a:ext uri="{FF2B5EF4-FFF2-40B4-BE49-F238E27FC236}">
                <a16:creationId xmlns:a16="http://schemas.microsoft.com/office/drawing/2014/main" id="{ECA2E4A0-6B04-EFBE-46FA-CF627D5ECF0C}"/>
              </a:ext>
            </a:extLst>
          </p:cNvPr>
          <p:cNvSpPr txBox="1"/>
          <p:nvPr/>
        </p:nvSpPr>
        <p:spPr>
          <a:xfrm>
            <a:off x="762467" y="2973474"/>
            <a:ext cx="4504858" cy="2339102"/>
          </a:xfrm>
          <a:prstGeom prst="rect">
            <a:avLst/>
          </a:prstGeom>
          <a:noFill/>
        </p:spPr>
        <p:txBody>
          <a:bodyPr wrap="square">
            <a:spAutoFit/>
          </a:bodyPr>
          <a:lstStyle/>
          <a:p>
            <a:r>
              <a:rPr lang="en-US" sz="2000" b="1">
                <a:solidFill>
                  <a:schemeClr val="bg2">
                    <a:lumMod val="25000"/>
                  </a:schemeClr>
                </a:solidFill>
              </a:rPr>
              <a:t>Vấn đề:</a:t>
            </a:r>
          </a:p>
          <a:p>
            <a:pPr marL="285750" indent="-285750">
              <a:buFont typeface="Arial" panose="020B0604020202020204" pitchFamily="34" charset="0"/>
              <a:buChar char="•"/>
            </a:pPr>
            <a:r>
              <a:rPr lang="en-US">
                <a:solidFill>
                  <a:schemeClr val="bg2">
                    <a:lumMod val="25000"/>
                  </a:schemeClr>
                </a:solidFill>
              </a:rPr>
              <a:t>Việc tìm kiếm tất cả những kẻ đã bị kết án do các tội khác nhau có sẽ cần truy cập đến nhiều CSDL đa dạng thuộc vào các phán xử, tòa án khác nhau </a:t>
            </a:r>
          </a:p>
          <a:p>
            <a:pPr marL="285750" indent="-285750">
              <a:buFont typeface="Arial" panose="020B0604020202020204" pitchFamily="34" charset="0"/>
              <a:buChar char="•"/>
            </a:pPr>
            <a:r>
              <a:rPr lang="en-US">
                <a:solidFill>
                  <a:schemeClr val="bg2">
                    <a:lumMod val="25000"/>
                  </a:schemeClr>
                </a:solidFill>
              </a:rPr>
              <a:t>Cty ABC có thể có nhiều tài khoản ở hàng trăm ngân hàng trên thế giới (định dạng khác nhau, hệ csdl khác nhau)</a:t>
            </a:r>
          </a:p>
        </p:txBody>
      </p:sp>
    </p:spTree>
    <p:extLst>
      <p:ext uri="{BB962C8B-B14F-4D97-AF65-F5344CB8AC3E}">
        <p14:creationId xmlns:p14="http://schemas.microsoft.com/office/powerpoint/2010/main" val="1336467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00CAC-EB4D-2A5E-60AA-A42D44393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FE3BA-0DB9-1522-5991-609E7D3ADE52}"/>
              </a:ext>
            </a:extLst>
          </p:cNvPr>
          <p:cNvSpPr>
            <a:spLocks noGrp="1"/>
          </p:cNvSpPr>
          <p:nvPr>
            <p:ph type="title"/>
          </p:nvPr>
        </p:nvSpPr>
        <p:spPr/>
        <p:txBody>
          <a:bodyPr>
            <a:noAutofit/>
          </a:bodyPr>
          <a:lstStyle/>
          <a:p>
            <a:r>
              <a:rPr lang="en-US" sz="2800"/>
              <a:t>4. Tình huống</a:t>
            </a:r>
            <a:endParaRPr sz="2800" dirty="0"/>
          </a:p>
        </p:txBody>
      </p:sp>
      <p:sp>
        <p:nvSpPr>
          <p:cNvPr id="3" name="TextBox 2">
            <a:extLst>
              <a:ext uri="{FF2B5EF4-FFF2-40B4-BE49-F238E27FC236}">
                <a16:creationId xmlns:a16="http://schemas.microsoft.com/office/drawing/2014/main" id="{78E4251C-4DA1-D11F-4972-2D169199AB68}"/>
              </a:ext>
            </a:extLst>
          </p:cNvPr>
          <p:cNvSpPr txBox="1"/>
          <p:nvPr/>
        </p:nvSpPr>
        <p:spPr>
          <a:xfrm>
            <a:off x="762467" y="806761"/>
            <a:ext cx="10807862" cy="677108"/>
          </a:xfrm>
          <a:prstGeom prst="rect">
            <a:avLst/>
          </a:prstGeom>
          <a:noFill/>
        </p:spPr>
        <p:txBody>
          <a:bodyPr wrap="square" rtlCol="0">
            <a:spAutoFit/>
          </a:bodyPr>
          <a:lstStyle/>
          <a:p>
            <a:r>
              <a:rPr lang="en-US" sz="2000" b="1">
                <a:solidFill>
                  <a:schemeClr val="bg2">
                    <a:lumMod val="25000"/>
                  </a:schemeClr>
                </a:solidFill>
              </a:rPr>
              <a:t>Ví dụ 2: </a:t>
            </a:r>
            <a:r>
              <a:rPr lang="en-US">
                <a:solidFill>
                  <a:schemeClr val="bg2">
                    <a:lumMod val="25000"/>
                  </a:schemeClr>
                </a:solidFill>
              </a:rPr>
              <a:t>Ví dụ truy vấn (HQ2): Tìm tất cả những kẻ đã bị kết án trong vụ tấn công ở Nam Phi và đã có chuyển khoản vào tài khoản của họ từ công ty ABC có chụp chung hình với “Nguyễn Văn A”</a:t>
            </a:r>
          </a:p>
        </p:txBody>
      </p:sp>
      <p:sp>
        <p:nvSpPr>
          <p:cNvPr id="9" name="TextBox 8">
            <a:extLst>
              <a:ext uri="{FF2B5EF4-FFF2-40B4-BE49-F238E27FC236}">
                <a16:creationId xmlns:a16="http://schemas.microsoft.com/office/drawing/2014/main" id="{6751557F-53FB-DC51-9B2C-3C86E61B2D5B}"/>
              </a:ext>
            </a:extLst>
          </p:cNvPr>
          <p:cNvSpPr txBox="1"/>
          <p:nvPr/>
        </p:nvSpPr>
        <p:spPr>
          <a:xfrm>
            <a:off x="762466" y="1814137"/>
            <a:ext cx="4723933" cy="2339102"/>
          </a:xfrm>
          <a:prstGeom prst="rect">
            <a:avLst/>
          </a:prstGeom>
          <a:noFill/>
        </p:spPr>
        <p:txBody>
          <a:bodyPr wrap="square">
            <a:spAutoFit/>
          </a:bodyPr>
          <a:lstStyle/>
          <a:p>
            <a:r>
              <a:rPr lang="en-US" sz="2000" b="1">
                <a:solidFill>
                  <a:schemeClr val="bg2">
                    <a:lumMod val="25000"/>
                  </a:schemeClr>
                </a:solidFill>
              </a:rPr>
              <a:t>Thực hiện truy vấn:</a:t>
            </a:r>
          </a:p>
          <a:p>
            <a:pPr marL="285750" indent="-285750">
              <a:buFont typeface="Arial" panose="020B0604020202020204" pitchFamily="34" charset="0"/>
              <a:buChar char="•"/>
            </a:pPr>
            <a:r>
              <a:rPr lang="vi-VN">
                <a:solidFill>
                  <a:schemeClr val="bg2">
                    <a:lumMod val="25000"/>
                  </a:schemeClr>
                </a:solidFill>
              </a:rPr>
              <a:t>Giống HQ1 </a:t>
            </a:r>
            <a:endParaRPr lang="en-US">
              <a:solidFill>
                <a:schemeClr val="bg2">
                  <a:lumMod val="25000"/>
                </a:schemeClr>
              </a:solidFill>
            </a:endParaRPr>
          </a:p>
          <a:p>
            <a:pPr marL="285750" indent="-285750">
              <a:buFont typeface="Arial" panose="020B0604020202020204" pitchFamily="34" charset="0"/>
              <a:buChar char="•"/>
            </a:pPr>
            <a:r>
              <a:rPr lang="vi-VN">
                <a:solidFill>
                  <a:schemeClr val="bg2">
                    <a:lumMod val="25000"/>
                  </a:schemeClr>
                </a:solidFill>
              </a:rPr>
              <a:t>Truy nhập </a:t>
            </a:r>
            <a:r>
              <a:rPr lang="en-US">
                <a:solidFill>
                  <a:schemeClr val="bg2">
                    <a:lumMod val="25000"/>
                  </a:schemeClr>
                </a:solidFill>
              </a:rPr>
              <a:t>dữ liệu</a:t>
            </a:r>
            <a:r>
              <a:rPr lang="vi-VN">
                <a:solidFill>
                  <a:schemeClr val="bg2">
                    <a:lumMod val="25000"/>
                  </a:schemeClr>
                </a:solidFill>
              </a:rPr>
              <a:t> ảnh có gán nhãn để tìm ảnh của người thỏa HQ1 với tên đã được biết </a:t>
            </a:r>
            <a:endParaRPr lang="en-US">
              <a:solidFill>
                <a:schemeClr val="bg2">
                  <a:lumMod val="25000"/>
                </a:schemeClr>
              </a:solidFill>
            </a:endParaRPr>
          </a:p>
          <a:p>
            <a:pPr marL="285750" indent="-285750">
              <a:buFont typeface="Arial" panose="020B0604020202020204" pitchFamily="34" charset="0"/>
              <a:buChar char="•"/>
            </a:pPr>
            <a:r>
              <a:rPr lang="vi-VN">
                <a:solidFill>
                  <a:schemeClr val="bg2">
                    <a:lumMod val="25000"/>
                  </a:schemeClr>
                </a:solidFill>
              </a:rPr>
              <a:t>Tìm trong CSDL ảnh tĩnh, trong video đối tượng xuất hiện cùng </a:t>
            </a:r>
            <a:r>
              <a:rPr lang="en-US">
                <a:solidFill>
                  <a:schemeClr val="bg2">
                    <a:lumMod val="25000"/>
                  </a:schemeClr>
                </a:solidFill>
              </a:rPr>
              <a:t>Nguyễn Văn A</a:t>
            </a:r>
            <a:r>
              <a:rPr lang="vi-VN">
                <a:solidFill>
                  <a:schemeClr val="bg2">
                    <a:lumMod val="25000"/>
                  </a:schemeClr>
                </a:solidFill>
              </a:rPr>
              <a:t> </a:t>
            </a:r>
            <a:endParaRPr lang="en-US">
              <a:solidFill>
                <a:schemeClr val="bg2">
                  <a:lumMod val="25000"/>
                </a:schemeClr>
              </a:solidFill>
            </a:endParaRPr>
          </a:p>
          <a:p>
            <a:pPr marL="285750" indent="-285750">
              <a:buFont typeface="Arial" panose="020B0604020202020204" pitchFamily="34" charset="0"/>
              <a:buChar char="•"/>
            </a:pPr>
            <a:r>
              <a:rPr lang="vi-VN">
                <a:solidFill>
                  <a:schemeClr val="bg2">
                    <a:lumMod val="25000"/>
                  </a:schemeClr>
                </a:solidFill>
              </a:rPr>
              <a:t>Xác định đối tượng trên ảnh, video nhờ vào giải thuật xử lý ảnh</a:t>
            </a:r>
            <a:endParaRPr lang="en-US">
              <a:solidFill>
                <a:schemeClr val="bg2">
                  <a:lumMod val="25000"/>
                </a:schemeClr>
              </a:solidFill>
            </a:endParaRPr>
          </a:p>
        </p:txBody>
      </p:sp>
      <p:pic>
        <p:nvPicPr>
          <p:cNvPr id="8" name="Picture 7" descr="A diagram of a diagram of a group of people&#10;&#10;AI-generated content may be incorrect.">
            <a:extLst>
              <a:ext uri="{FF2B5EF4-FFF2-40B4-BE49-F238E27FC236}">
                <a16:creationId xmlns:a16="http://schemas.microsoft.com/office/drawing/2014/main" id="{D98D55A5-DA3E-B5E2-3805-5BFCC0FDE2CD}"/>
              </a:ext>
            </a:extLst>
          </p:cNvPr>
          <p:cNvPicPr>
            <a:picLocks noChangeAspect="1"/>
          </p:cNvPicPr>
          <p:nvPr/>
        </p:nvPicPr>
        <p:blipFill>
          <a:blip r:embed="rId3"/>
          <a:stretch>
            <a:fillRect/>
          </a:stretch>
        </p:blipFill>
        <p:spPr>
          <a:xfrm>
            <a:off x="5821393" y="1814137"/>
            <a:ext cx="5748936" cy="3705548"/>
          </a:xfrm>
          <a:prstGeom prst="rect">
            <a:avLst/>
          </a:prstGeom>
        </p:spPr>
      </p:pic>
    </p:spTree>
    <p:extLst>
      <p:ext uri="{BB962C8B-B14F-4D97-AF65-F5344CB8AC3E}">
        <p14:creationId xmlns:p14="http://schemas.microsoft.com/office/powerpoint/2010/main" val="1856063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0493-019C-6668-7EA5-26FF17675AD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C4ADCA-2D87-F89A-2963-703BD6672280}"/>
              </a:ext>
            </a:extLst>
          </p:cNvPr>
          <p:cNvSpPr>
            <a:spLocks noGrp="1"/>
          </p:cNvSpPr>
          <p:nvPr>
            <p:ph type="body" sz="quarter" idx="10"/>
          </p:nvPr>
        </p:nvSpPr>
        <p:spPr>
          <a:xfrm>
            <a:off x="620112" y="2517788"/>
            <a:ext cx="10800557" cy="2194234"/>
          </a:xfrm>
        </p:spPr>
        <p:txBody>
          <a:bodyPr/>
          <a:lstStyle/>
          <a:p>
            <a:r>
              <a:rPr lang="en-US" dirty="0"/>
              <a:t>Các </a:t>
            </a:r>
            <a:r>
              <a:rPr lang="en-US" dirty="0" err="1"/>
              <a:t>ứng</a:t>
            </a:r>
            <a:r>
              <a:rPr lang="en-US" dirty="0"/>
              <a:t> </a:t>
            </a:r>
            <a:r>
              <a:rPr lang="en-US" dirty="0" err="1"/>
              <a:t>dụng</a:t>
            </a:r>
            <a:r>
              <a:rPr lang="en-US" dirty="0"/>
              <a:t> </a:t>
            </a:r>
            <a:r>
              <a:rPr lang="en-US" dirty="0" err="1"/>
              <a:t>đa</a:t>
            </a:r>
            <a:r>
              <a:rPr lang="en-US" dirty="0"/>
              <a:t> </a:t>
            </a:r>
            <a:r>
              <a:rPr lang="en-US" dirty="0" err="1"/>
              <a:t>phương</a:t>
            </a:r>
            <a:r>
              <a:rPr lang="en-US" dirty="0"/>
              <a:t> </a:t>
            </a:r>
            <a:r>
              <a:rPr lang="en-US" dirty="0" err="1"/>
              <a:t>tiện</a:t>
            </a:r>
            <a:endParaRPr lang="en-US" dirty="0"/>
          </a:p>
        </p:txBody>
      </p:sp>
      <p:sp>
        <p:nvSpPr>
          <p:cNvPr id="4" name="Slide Number Placeholder 3">
            <a:extLst>
              <a:ext uri="{FF2B5EF4-FFF2-40B4-BE49-F238E27FC236}">
                <a16:creationId xmlns:a16="http://schemas.microsoft.com/office/drawing/2014/main" id="{212F3216-0C0C-B4D8-1D22-0EF489160DE8}"/>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31</a:t>
            </a:fld>
            <a:endParaRPr lang="en-US" dirty="0">
              <a:solidFill>
                <a:prstClr val="white"/>
              </a:solidFill>
            </a:endParaRPr>
          </a:p>
        </p:txBody>
      </p:sp>
    </p:spTree>
    <p:extLst>
      <p:ext uri="{BB962C8B-B14F-4D97-AF65-F5344CB8AC3E}">
        <p14:creationId xmlns:p14="http://schemas.microsoft.com/office/powerpoint/2010/main" val="3977871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D855E-C2FC-2C30-10A9-7D5C44A3B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16AB7-C5E3-7D16-06FD-2AA83929EB96}"/>
              </a:ext>
            </a:extLst>
          </p:cNvPr>
          <p:cNvSpPr>
            <a:spLocks noGrp="1"/>
          </p:cNvSpPr>
          <p:nvPr>
            <p:ph type="title"/>
          </p:nvPr>
        </p:nvSpPr>
        <p:spPr/>
        <p:txBody>
          <a:bodyPr>
            <a:noAutofit/>
          </a:bodyPr>
          <a:lstStyle/>
          <a:p>
            <a:r>
              <a:rPr lang="en-US" sz="2800"/>
              <a:t>5. Ứng dụng</a:t>
            </a:r>
            <a:endParaRPr sz="2800" dirty="0"/>
          </a:p>
        </p:txBody>
      </p:sp>
      <p:sp>
        <p:nvSpPr>
          <p:cNvPr id="3" name="TextBox 2">
            <a:extLst>
              <a:ext uri="{FF2B5EF4-FFF2-40B4-BE49-F238E27FC236}">
                <a16:creationId xmlns:a16="http://schemas.microsoft.com/office/drawing/2014/main" id="{F6B7373A-CAD9-C652-1DAF-46065ADECDA2}"/>
              </a:ext>
            </a:extLst>
          </p:cNvPr>
          <p:cNvSpPr txBox="1"/>
          <p:nvPr/>
        </p:nvSpPr>
        <p:spPr>
          <a:xfrm>
            <a:off x="762467" y="806761"/>
            <a:ext cx="10807862" cy="557697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a:solidFill>
                  <a:schemeClr val="bg2">
                    <a:lumMod val="25000"/>
                  </a:schemeClr>
                </a:solidFill>
              </a:rPr>
              <a:t>World Wide Web </a:t>
            </a:r>
          </a:p>
          <a:p>
            <a:pPr marL="342900" indent="-342900">
              <a:lnSpc>
                <a:spcPct val="150000"/>
              </a:lnSpc>
              <a:buFont typeface="Arial" panose="020B0604020202020204" pitchFamily="34" charset="0"/>
              <a:buChar char="•"/>
            </a:pPr>
            <a:r>
              <a:rPr lang="en-US" sz="2000">
                <a:solidFill>
                  <a:schemeClr val="bg2">
                    <a:lumMod val="25000"/>
                  </a:schemeClr>
                </a:solidFill>
              </a:rPr>
              <a:t>Digital Library </a:t>
            </a:r>
          </a:p>
          <a:p>
            <a:pPr marL="342900" indent="-342900">
              <a:lnSpc>
                <a:spcPct val="150000"/>
              </a:lnSpc>
              <a:buFont typeface="Arial" panose="020B0604020202020204" pitchFamily="34" charset="0"/>
              <a:buChar char="•"/>
            </a:pPr>
            <a:r>
              <a:rPr lang="en-US" sz="2000">
                <a:solidFill>
                  <a:schemeClr val="bg2">
                    <a:lumMod val="25000"/>
                  </a:schemeClr>
                </a:solidFill>
              </a:rPr>
              <a:t>News-On-Demand </a:t>
            </a:r>
          </a:p>
          <a:p>
            <a:pPr marL="342900" indent="-342900">
              <a:lnSpc>
                <a:spcPct val="150000"/>
              </a:lnSpc>
              <a:buFont typeface="Arial" panose="020B0604020202020204" pitchFamily="34" charset="0"/>
              <a:buChar char="•"/>
            </a:pPr>
            <a:r>
              <a:rPr lang="en-US" sz="2000">
                <a:solidFill>
                  <a:schemeClr val="bg2">
                    <a:lumMod val="25000"/>
                  </a:schemeClr>
                </a:solidFill>
              </a:rPr>
              <a:t>Demo: http://67.214.99.203/MediaLibraryKCVideo/–––––––– 57 </a:t>
            </a:r>
          </a:p>
          <a:p>
            <a:pPr marL="342900" indent="-342900">
              <a:lnSpc>
                <a:spcPct val="150000"/>
              </a:lnSpc>
              <a:buFont typeface="Arial" panose="020B0604020202020204" pitchFamily="34" charset="0"/>
              <a:buChar char="•"/>
            </a:pPr>
            <a:r>
              <a:rPr lang="en-US" sz="2000">
                <a:solidFill>
                  <a:schemeClr val="bg2">
                    <a:lumMod val="25000"/>
                  </a:schemeClr>
                </a:solidFill>
              </a:rPr>
              <a:t>Video-On-Demand </a:t>
            </a:r>
          </a:p>
          <a:p>
            <a:pPr marL="342900" indent="-342900">
              <a:lnSpc>
                <a:spcPct val="150000"/>
              </a:lnSpc>
              <a:buFont typeface="Arial" panose="020B0604020202020204" pitchFamily="34" charset="0"/>
              <a:buChar char="•"/>
            </a:pPr>
            <a:r>
              <a:rPr lang="en-US" sz="2000">
                <a:solidFill>
                  <a:schemeClr val="bg2">
                    <a:lumMod val="25000"/>
                  </a:schemeClr>
                </a:solidFill>
              </a:rPr>
              <a:t>Music Database </a:t>
            </a:r>
          </a:p>
          <a:p>
            <a:pPr marL="342900" indent="-342900">
              <a:lnSpc>
                <a:spcPct val="150000"/>
              </a:lnSpc>
              <a:buFont typeface="Arial" panose="020B0604020202020204" pitchFamily="34" charset="0"/>
              <a:buChar char="•"/>
            </a:pPr>
            <a:r>
              <a:rPr lang="en-US" sz="2000">
                <a:solidFill>
                  <a:schemeClr val="bg2">
                    <a:lumMod val="25000"/>
                  </a:schemeClr>
                </a:solidFill>
              </a:rPr>
              <a:t>Telemedicine </a:t>
            </a:r>
          </a:p>
          <a:p>
            <a:pPr marL="342900" indent="-342900">
              <a:lnSpc>
                <a:spcPct val="150000"/>
              </a:lnSpc>
              <a:buFont typeface="Arial" panose="020B0604020202020204" pitchFamily="34" charset="0"/>
              <a:buChar char="•"/>
            </a:pPr>
            <a:r>
              <a:rPr lang="en-US" sz="2000">
                <a:solidFill>
                  <a:schemeClr val="bg2">
                    <a:lumMod val="25000"/>
                  </a:schemeClr>
                </a:solidFill>
              </a:rPr>
              <a:t>Geographic Information System </a:t>
            </a:r>
          </a:p>
          <a:p>
            <a:pPr marL="342900" indent="-342900">
              <a:lnSpc>
                <a:spcPct val="150000"/>
              </a:lnSpc>
              <a:buFont typeface="Arial" panose="020B0604020202020204" pitchFamily="34" charset="0"/>
              <a:buChar char="•"/>
            </a:pPr>
            <a:r>
              <a:rPr lang="en-US" sz="2000">
                <a:solidFill>
                  <a:schemeClr val="bg2">
                    <a:lumMod val="25000"/>
                  </a:schemeClr>
                </a:solidFill>
              </a:rPr>
              <a:t>Interactive TV </a:t>
            </a:r>
          </a:p>
          <a:p>
            <a:pPr marL="342900" indent="-342900">
              <a:lnSpc>
                <a:spcPct val="150000"/>
              </a:lnSpc>
              <a:buFont typeface="Arial" panose="020B0604020202020204" pitchFamily="34" charset="0"/>
              <a:buChar char="•"/>
            </a:pPr>
            <a:r>
              <a:rPr lang="en-US" sz="2000">
                <a:solidFill>
                  <a:schemeClr val="bg2">
                    <a:lumMod val="25000"/>
                  </a:schemeClr>
                </a:solidFill>
              </a:rPr>
              <a:t>Computer Games </a:t>
            </a:r>
          </a:p>
          <a:p>
            <a:pPr marL="342900" indent="-342900">
              <a:lnSpc>
                <a:spcPct val="150000"/>
              </a:lnSpc>
              <a:buFont typeface="Arial" panose="020B0604020202020204" pitchFamily="34" charset="0"/>
              <a:buChar char="•"/>
            </a:pPr>
            <a:r>
              <a:rPr lang="en-US" sz="2000">
                <a:solidFill>
                  <a:schemeClr val="bg2">
                    <a:lumMod val="25000"/>
                  </a:schemeClr>
                </a:solidFill>
              </a:rPr>
              <a:t>Virtual reality </a:t>
            </a:r>
          </a:p>
          <a:p>
            <a:pPr marL="342900" indent="-342900">
              <a:lnSpc>
                <a:spcPct val="150000"/>
              </a:lnSpc>
              <a:buFont typeface="Arial" panose="020B0604020202020204" pitchFamily="34" charset="0"/>
              <a:buChar char="•"/>
            </a:pPr>
            <a:r>
              <a:rPr lang="en-US" sz="2000">
                <a:solidFill>
                  <a:schemeClr val="bg2">
                    <a:lumMod val="25000"/>
                  </a:schemeClr>
                </a:solidFill>
              </a:rPr>
              <a:t>Digital video editing and production systems</a:t>
            </a:r>
            <a:endParaRPr lang="en-US">
              <a:solidFill>
                <a:schemeClr val="bg2">
                  <a:lumMod val="25000"/>
                </a:schemeClr>
              </a:solidFill>
            </a:endParaRPr>
          </a:p>
        </p:txBody>
      </p:sp>
    </p:spTree>
    <p:extLst>
      <p:ext uri="{BB962C8B-B14F-4D97-AF65-F5344CB8AC3E}">
        <p14:creationId xmlns:p14="http://schemas.microsoft.com/office/powerpoint/2010/main" val="2395476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B4B6-5DD6-25BE-E941-7CAFFF63E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0C491-84A0-A81F-77AA-92DFD70A5C6D}"/>
              </a:ext>
            </a:extLst>
          </p:cNvPr>
          <p:cNvSpPr>
            <a:spLocks noGrp="1"/>
          </p:cNvSpPr>
          <p:nvPr>
            <p:ph type="title"/>
          </p:nvPr>
        </p:nvSpPr>
        <p:spPr/>
        <p:txBody>
          <a:bodyPr>
            <a:noAutofit/>
          </a:bodyPr>
          <a:lstStyle/>
          <a:p>
            <a:r>
              <a:rPr lang="en-US" sz="2800"/>
              <a:t>5. Ứng dụng</a:t>
            </a:r>
            <a:endParaRPr sz="2800" dirty="0"/>
          </a:p>
        </p:txBody>
      </p:sp>
      <p:sp>
        <p:nvSpPr>
          <p:cNvPr id="3" name="TextBox 2">
            <a:extLst>
              <a:ext uri="{FF2B5EF4-FFF2-40B4-BE49-F238E27FC236}">
                <a16:creationId xmlns:a16="http://schemas.microsoft.com/office/drawing/2014/main" id="{2865DA63-DFF4-E691-5C29-9D1E6974D723}"/>
              </a:ext>
            </a:extLst>
          </p:cNvPr>
          <p:cNvSpPr txBox="1"/>
          <p:nvPr/>
        </p:nvSpPr>
        <p:spPr>
          <a:xfrm>
            <a:off x="762467" y="806761"/>
            <a:ext cx="10807862" cy="2345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a:solidFill>
                  <a:schemeClr val="bg2">
                    <a:lumMod val="25000"/>
                  </a:schemeClr>
                </a:solidFill>
              </a:rPr>
              <a:t>IBM’s MARVEL </a:t>
            </a:r>
            <a:r>
              <a:rPr lang="en-US" sz="2000">
                <a:solidFill>
                  <a:schemeClr val="bg2">
                    <a:lumMod val="25000"/>
                  </a:schemeClr>
                </a:solidFill>
              </a:rPr>
              <a:t>(Multimedia Analysis and Retrieval): Searching service đang thử nghiệm: (automatic and semi-automatic description generation) </a:t>
            </a:r>
            <a:r>
              <a:rPr lang="en-US" sz="2000"/>
              <a:t>http://www.alphaworks.ibm.com/tech/marvels </a:t>
            </a:r>
          </a:p>
          <a:p>
            <a:pPr marL="342900" indent="-342900">
              <a:lnSpc>
                <a:spcPct val="150000"/>
              </a:lnSpc>
              <a:buFont typeface="Arial" panose="020B0604020202020204" pitchFamily="34" charset="0"/>
              <a:buChar char="•"/>
            </a:pPr>
            <a:r>
              <a:rPr lang="en-US" sz="2000" b="1">
                <a:solidFill>
                  <a:schemeClr val="bg2">
                    <a:lumMod val="25000"/>
                  </a:schemeClr>
                </a:solidFill>
              </a:rPr>
              <a:t>Discovir: </a:t>
            </a:r>
            <a:r>
              <a:rPr lang="en-US" sz="2000">
                <a:solidFill>
                  <a:schemeClr val="bg2">
                    <a:lumMod val="25000"/>
                  </a:schemeClr>
                </a:solidFill>
              </a:rPr>
              <a:t>Distributed Content-based Visual Information Retrieval System </a:t>
            </a:r>
            <a:r>
              <a:rPr lang="en-US" sz="2000"/>
              <a:t>http://appsrv.cse.cuhk.edu.hk/~miplab/discovir/</a:t>
            </a:r>
            <a:endParaRPr lang="en-US"/>
          </a:p>
        </p:txBody>
      </p:sp>
    </p:spTree>
    <p:extLst>
      <p:ext uri="{BB962C8B-B14F-4D97-AF65-F5344CB8AC3E}">
        <p14:creationId xmlns:p14="http://schemas.microsoft.com/office/powerpoint/2010/main" val="2266208915"/>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TotalTime>
  <Words>2909</Words>
  <Application>Microsoft Office PowerPoint</Application>
  <PresentationFormat>Widescreen</PresentationFormat>
  <Paragraphs>324</Paragraphs>
  <Slides>33</Slides>
  <Notes>27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Aptos</vt:lpstr>
      <vt:lpstr>Arial</vt:lpstr>
      <vt:lpstr>Times New Roman</vt:lpstr>
      <vt:lpstr>Opening slide</vt:lpstr>
      <vt:lpstr>Body slide</vt:lpstr>
      <vt:lpstr>PowerPoint Presentation</vt:lpstr>
      <vt:lpstr>Mục lục</vt:lpstr>
      <vt:lpstr>1. Khái niệm cơ bản</vt:lpstr>
      <vt:lpstr>1. Khái niệm cơ bản</vt:lpstr>
      <vt:lpstr>1. Khái niệm cơ bản</vt:lpstr>
      <vt:lpstr>1. Khái niệm cơ bản</vt:lpstr>
      <vt:lpstr>PowerPoint Presentation</vt:lpstr>
      <vt:lpstr>2. Multimedia Data (Dữ liệu đa phương tiện)</vt:lpstr>
      <vt:lpstr>2. Multimedia Data (Dữ liệu đa phương tiện)</vt:lpstr>
      <vt:lpstr>2. Multimedia Data (Dữ liệu đa phương tiện)</vt:lpstr>
      <vt:lpstr>2. Multimedia Data (Dữ liệu đa phương tiện)</vt:lpstr>
      <vt:lpstr>2. Multimedia Data (Dữ liệu đa phương tiện)</vt:lpstr>
      <vt:lpstr>2. Multimedia Data (Dữ liệu đa phương tiện)</vt:lpstr>
      <vt:lpstr>PowerPoint Presentation</vt:lpstr>
      <vt:lpstr>3. MIRS &amp; MM-DBMS</vt:lpstr>
      <vt:lpstr>3. MIRS &amp; MM-DBMS</vt:lpstr>
      <vt:lpstr>3. MIRS &amp; MM-DBMS</vt:lpstr>
      <vt:lpstr>3. MIRS &amp; MM-DBMS</vt:lpstr>
      <vt:lpstr>3. MIRS &amp; MM-DBMS</vt:lpstr>
      <vt:lpstr>3. MIRS &amp; MM-DBMS</vt:lpstr>
      <vt:lpstr>3. MIRS &amp; MM-DBMS</vt:lpstr>
      <vt:lpstr>PowerPoint Presentation</vt:lpstr>
      <vt:lpstr>4. Tình huống</vt:lpstr>
      <vt:lpstr>4. Tình huống</vt:lpstr>
      <vt:lpstr>4. Tình huống</vt:lpstr>
      <vt:lpstr>4. Tình huống</vt:lpstr>
      <vt:lpstr>4. Tình huống</vt:lpstr>
      <vt:lpstr>4. Tình huống</vt:lpstr>
      <vt:lpstr>4. Tình huống</vt:lpstr>
      <vt:lpstr>4. Tình huống</vt:lpstr>
      <vt:lpstr>PowerPoint Presentation</vt:lpstr>
      <vt:lpstr>5. Ứng dụng</vt:lpstr>
      <vt:lpstr>5. Ứng dụng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Hai Ngo</dc:creator>
  <cp:lastModifiedBy>Hung. Nguyen Viet - CMC ATI</cp:lastModifiedBy>
  <cp:revision>40</cp:revision>
  <dcterms:created xsi:type="dcterms:W3CDTF">2025-04-30T14:15:42Z</dcterms:created>
  <dcterms:modified xsi:type="dcterms:W3CDTF">2025-12-12T03:37:31Z</dcterms:modified>
</cp:coreProperties>
</file>