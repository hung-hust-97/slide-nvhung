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</p:sldMasterIdLst>
  <p:sldIdLst>
    <p:sldId id="267" r:id="rId6"/>
    <p:sldId id="268" r:id="rId7"/>
    <p:sldId id="298" r:id="rId8"/>
    <p:sldId id="270" r:id="rId9"/>
    <p:sldId id="271" r:id="rId10"/>
    <p:sldId id="272" r:id="rId11"/>
    <p:sldId id="273" r:id="rId12"/>
    <p:sldId id="275" r:id="rId13"/>
    <p:sldId id="276" r:id="rId14"/>
    <p:sldId id="277" r:id="rId15"/>
    <p:sldId id="278" r:id="rId16"/>
    <p:sldId id="279" r:id="rId17"/>
    <p:sldId id="280" r:id="rId18"/>
    <p:sldId id="297" r:id="rId19"/>
    <p:sldId id="281" r:id="rId20"/>
    <p:sldId id="282" r:id="rId21"/>
    <p:sldId id="283" r:id="rId22"/>
    <p:sldId id="288" r:id="rId23"/>
    <p:sldId id="284" r:id="rId24"/>
    <p:sldId id="285" r:id="rId25"/>
    <p:sldId id="286" r:id="rId26"/>
    <p:sldId id="287" r:id="rId27"/>
    <p:sldId id="299" r:id="rId28"/>
    <p:sldId id="274" r:id="rId29"/>
    <p:sldId id="289" r:id="rId30"/>
    <p:sldId id="290" r:id="rId31"/>
    <p:sldId id="295" r:id="rId32"/>
    <p:sldId id="296" r:id="rId33"/>
    <p:sldId id="294" r:id="rId34"/>
    <p:sldId id="306" r:id="rId35"/>
    <p:sldId id="307" r:id="rId36"/>
    <p:sldId id="308" r:id="rId37"/>
    <p:sldId id="309" r:id="rId38"/>
    <p:sldId id="301" r:id="rId39"/>
    <p:sldId id="300" r:id="rId40"/>
    <p:sldId id="302" r:id="rId41"/>
    <p:sldId id="303" r:id="rId42"/>
    <p:sldId id="304" r:id="rId43"/>
    <p:sldId id="305" r:id="rId44"/>
    <p:sldId id="31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9FEC1-483B-425E-B0C1-B8B1F2119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112" y="2164702"/>
            <a:ext cx="10800557" cy="21942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B98C62-0FD9-4624-8D35-0215614328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112" y="4433672"/>
            <a:ext cx="10800557" cy="412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EB812CF-FC02-4C33-A206-BCF1436A3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4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957C91-5AD0-4461-941C-245F03436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500" y="1589103"/>
            <a:ext cx="10962859" cy="4572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181B04-7A0A-4201-BF8A-A7E924267571}"/>
              </a:ext>
            </a:extLst>
          </p:cNvPr>
          <p:cNvSpPr txBox="1">
            <a:spLocks/>
          </p:cNvSpPr>
          <p:nvPr userDrawn="1"/>
        </p:nvSpPr>
        <p:spPr>
          <a:xfrm>
            <a:off x="3311372" y="-11424"/>
            <a:ext cx="8880629" cy="789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000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BAE61E2-5E8A-4CA1-8C1E-1106F4E46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DA09F63-7F7A-4F6B-8B0F-50384B01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9293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1910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51A7-6B22-4874-8FC5-ED388E5D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00" y="1597981"/>
            <a:ext cx="10971737" cy="457898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F4D43A2-E4DB-497D-9B5D-E32D9E64B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B04073-83B8-47CB-9F12-D7CD4B66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9293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25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E213-C056-49F2-8A77-C3C4C25F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1" y="1597982"/>
            <a:ext cx="10971737" cy="4580877"/>
          </a:xfrm>
        </p:spPr>
        <p:txBody>
          <a:bodyPr/>
          <a:lstStyle>
            <a:lvl1pPr marL="0" indent="0">
              <a:buNone/>
              <a:defRPr sz="2400">
                <a:solidFill>
                  <a:srgbClr val="0070C0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A76B584-4F94-4DD1-9943-77A2F3AF1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40D9B5B-D231-4612-89E6-B4776226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147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5726-7887-4ED4-A172-AF9307881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500" y="1606858"/>
            <a:ext cx="5473500" cy="4570105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0F843-3E9A-4C49-A1AC-A3FA71EF7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5942" y="1606858"/>
            <a:ext cx="5473499" cy="4570105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6FCE726-79EE-487F-9798-E531C3475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FB126F2-FBF5-4556-AAF5-1ECB22E1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91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CF06-6B06-4E7F-82EA-7C5047EA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0" y="1603275"/>
            <a:ext cx="5473500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9E841-81B0-403F-B4A9-7ACB7AAF8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500" y="2512382"/>
            <a:ext cx="5473499" cy="3677281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B9AEE-2F75-43DB-921D-43380FB8C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1" y="1603275"/>
            <a:ext cx="54734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1E4C2-CBB6-4430-BE56-3BF9E9AA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5999" y="2512382"/>
            <a:ext cx="5473500" cy="3677281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DD1D7D5-B40B-4404-87A7-8074677D8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01B562F-EFD8-422F-B98E-C48C0F73A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276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972AD-1D52-4C38-A4F1-BA8AAFF97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0797FE1-3F5B-4DD2-B196-B7AAF662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31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3D6C-BEF2-4E06-A9B0-9A309DB3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5985" y="1606858"/>
            <a:ext cx="6622644" cy="4563122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CDB52-24E0-4CBA-AE63-33BD3EF65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2500" y="1606859"/>
            <a:ext cx="4008210" cy="4563122"/>
          </a:xfrm>
        </p:spPr>
        <p:txBody>
          <a:bodyPr/>
          <a:lstStyle>
            <a:lvl1pPr marL="0" indent="0">
              <a:buNone/>
              <a:defRPr sz="16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EEB6E2B-6FA2-4169-B497-FAE2CD95A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79BEDD5-9D69-4F36-BBA7-2ED62B0A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0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3D43A-8744-40D7-AFFD-6F0B4A4EC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82718" y="1606859"/>
            <a:ext cx="6675910" cy="455424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82" indent="0">
              <a:buNone/>
              <a:defRPr sz="2800"/>
            </a:lvl2pPr>
            <a:lvl3pPr marL="914363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0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C3DD-CC1C-4A73-BCDA-09DF7D09C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2500" y="1606860"/>
            <a:ext cx="3983272" cy="45542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22E68E5-0D29-4AF4-99F7-1F5BCDCEB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BED9312-A7F8-456D-9D54-D034D097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0921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586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93FDE-0843-445A-8B34-9092D666F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2500" y="1597982"/>
            <a:ext cx="10962859" cy="45789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3D0DE23-B8AD-4136-812D-27D46B8AD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A661BC8-CBE6-40B1-BF65-3DDC3730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1CC48-27A5-4590-A158-B24464D8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2500" y="1589103"/>
            <a:ext cx="10962859" cy="45878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F7114A3-57EF-412A-8AEB-90C1FF86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91FBA3B-7B9C-4B9A-93C5-F00783BA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0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166A51-751E-4C91-AF12-35FEA5D26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758" y="693895"/>
            <a:ext cx="2930486" cy="1316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40CFA-9026-435C-9897-175C51B6B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78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63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6BAF0-010B-4DE2-BDEA-F2879C62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23831"/>
            <a:ext cx="9146651" cy="466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B290-2494-4607-B867-D433D753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0" y="1313896"/>
            <a:ext cx="10947000" cy="4863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278EBD5-1C90-47B8-ADFB-BF109E3CF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EC741C-2937-40DA-B5CD-6BDD68A49B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551" y="128067"/>
            <a:ext cx="1453950" cy="25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09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230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EACC5C-4747-42C2-9BF5-D1B4A98474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3: </a:t>
            </a:r>
          </a:p>
          <a:p>
            <a:r>
              <a:rPr lang="en-US" dirty="0"/>
              <a:t>Các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8CFE-703F-41E2-8287-366117133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761970"/>
            <a:fld id="{31D26D55-0A22-487A-A687-61FB58A6F16A}" type="slidenum">
              <a:rPr lang="en-US">
                <a:solidFill>
                  <a:prstClr val="white"/>
                </a:solidFill>
              </a:rPr>
              <a:pPr defTabSz="761970"/>
              <a:t>1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84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Mục</a:t>
            </a:r>
            <a:r>
              <a:rPr lang="en-US" sz="2800" dirty="0"/>
              <a:t> </a:t>
            </a:r>
            <a:r>
              <a:rPr lang="en-US" sz="2800" dirty="0" err="1"/>
              <a:t>lục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A1DCC-36BF-5424-1748-DC12B3D63F1A}"/>
              </a:ext>
            </a:extLst>
          </p:cNvPr>
          <p:cNvSpPr txBox="1"/>
          <p:nvPr/>
        </p:nvSpPr>
        <p:spPr>
          <a:xfrm>
            <a:off x="320040" y="751344"/>
            <a:ext cx="631615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Lưu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dạng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endParaRPr lang="en-US" sz="28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K-D trees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Point Quadtrees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MX-Quadtrees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Lưu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dạng</a:t>
            </a:r>
            <a:r>
              <a:rPr lang="en-US" sz="2800" dirty="0"/>
              <a:t> </a:t>
            </a:r>
            <a:r>
              <a:rPr lang="en-US" sz="2800" dirty="0" err="1"/>
              <a:t>vùng</a:t>
            </a:r>
            <a:r>
              <a:rPr lang="en-US" sz="2800" dirty="0"/>
              <a:t> (</a:t>
            </a:r>
            <a:r>
              <a:rPr lang="en-US" sz="2800" dirty="0" err="1"/>
              <a:t>chữ</a:t>
            </a:r>
            <a:r>
              <a:rPr lang="en-US" sz="2800" dirty="0"/>
              <a:t> </a:t>
            </a:r>
            <a:r>
              <a:rPr lang="en-US" sz="2800" dirty="0" err="1"/>
              <a:t>nhật</a:t>
            </a:r>
            <a:r>
              <a:rPr lang="en-US" sz="2800" dirty="0"/>
              <a:t>):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R-trees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Tìm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xấp</a:t>
            </a:r>
            <a:r>
              <a:rPr lang="en-US" sz="2800" dirty="0"/>
              <a:t> </a:t>
            </a:r>
            <a:r>
              <a:rPr lang="en-US" sz="2800" dirty="0" err="1"/>
              <a:t>xỉ</a:t>
            </a:r>
            <a:r>
              <a:rPr lang="en-US" sz="2800" dirty="0"/>
              <a:t> </a:t>
            </a:r>
            <a:r>
              <a:rPr lang="en-US" sz="2800" dirty="0" err="1"/>
              <a:t>lân</a:t>
            </a:r>
            <a:r>
              <a:rPr lang="en-US" sz="2800" dirty="0"/>
              <a:t> </a:t>
            </a:r>
            <a:r>
              <a:rPr lang="en-US" sz="2800" dirty="0" err="1"/>
              <a:t>cận</a:t>
            </a:r>
            <a:r>
              <a:rPr lang="en-US" sz="2800" dirty="0"/>
              <a:t> (ANN Search)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78B6-BEDA-4411-1AD2-BA41BBBF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2BC7FA-90DB-0785-3516-3FC71779AB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r>
              <a:rPr lang="en-US" dirty="0"/>
              <a:t>K-D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3532D-E357-23BA-23FE-DD463298C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818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B0185-D623-9E6B-DE96-5BDBB468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43D49-6D6C-3CCB-4010-DA5724B9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K-D trees</a:t>
            </a:r>
            <a:endParaRPr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9407C-47F9-B136-39C8-82F769A0EA26}"/>
              </a:ext>
            </a:extLst>
          </p:cNvPr>
          <p:cNvSpPr txBox="1"/>
          <p:nvPr/>
        </p:nvSpPr>
        <p:spPr>
          <a:xfrm>
            <a:off x="441198" y="1170539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D</a:t>
            </a:r>
            <a:r>
              <a:rPr lang="en-US" dirty="0" err="1"/>
              <a:t>ạng</a:t>
            </a:r>
            <a:r>
              <a:rPr lang="vi-VN" dirty="0"/>
              <a:t> lưu trữ dữ liệu điểm đa chiều (k-dimension)</a:t>
            </a:r>
            <a:r>
              <a:rPr lang="en-US" dirty="0"/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dirty="0"/>
              <a:t>2-tree: lưu DL điểm 2 chiều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dirty="0"/>
              <a:t>3-tree: lưu DL điểm 3 chiều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dirty="0"/>
              <a:t>…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dirty="0"/>
              <a:t>Mỗi điểm là vector có k phần tử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Không</a:t>
            </a:r>
            <a:r>
              <a:rPr lang="vi-VN" dirty="0"/>
              <a:t> lưu DL vùng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EB144E-EF6D-4F4A-8C74-713C62AF6FEA}"/>
              </a:ext>
            </a:extLst>
          </p:cNvPr>
          <p:cNvSpPr txBox="1"/>
          <p:nvPr/>
        </p:nvSpPr>
        <p:spPr>
          <a:xfrm>
            <a:off x="441198" y="3283233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Là mở rộng của cây nhị phân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Ở mỗi mức, các bản ghi sẽ được chia theo giá trị của 1 chiều nhất định: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dirty="0"/>
              <a:t>Mức 0: giá trị chiều 0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dirty="0"/>
              <a:t>Mức 1: giá trị chiều 1, …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dirty="0"/>
              <a:t>Mức k-1: giá trị chiều k-1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dirty="0"/>
              <a:t>Mức k: giá trị chiều 0, …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351EA6-F304-4BA0-8A26-EAFB34B3F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84" y="3263940"/>
            <a:ext cx="5362151" cy="35747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A043F1-1D86-A6F9-C2B5-9FB9C3892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500" y="676389"/>
            <a:ext cx="4128917" cy="27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5A142-A63F-210D-7230-DE73BF28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7C01-4EF9-9F5A-C483-9B91FCDE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2-D trees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EA869-5046-0F9A-0A19-59E9C9EC58A0}"/>
              </a:ext>
            </a:extLst>
          </p:cNvPr>
          <p:cNvSpPr txBox="1"/>
          <p:nvPr/>
        </p:nvSpPr>
        <p:spPr>
          <a:xfrm>
            <a:off x="524238" y="1105568"/>
            <a:ext cx="2366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1 </a:t>
            </a:r>
            <a:r>
              <a:rPr lang="en-US" sz="2400" dirty="0" err="1"/>
              <a:t>nút</a:t>
            </a:r>
            <a:r>
              <a:rPr lang="en-US" sz="2400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33C249-9ECC-29EB-A270-B474530FC2B3}"/>
              </a:ext>
            </a:extLst>
          </p:cNvPr>
          <p:cNvSpPr txBox="1"/>
          <p:nvPr/>
        </p:nvSpPr>
        <p:spPr>
          <a:xfrm>
            <a:off x="524238" y="2566535"/>
            <a:ext cx="106405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Định </a:t>
            </a:r>
            <a:r>
              <a:rPr lang="en-US" sz="2400" dirty="0" err="1"/>
              <a:t>nghĩa</a:t>
            </a:r>
            <a:r>
              <a:rPr lang="en-US" sz="2400" dirty="0"/>
              <a:t>: 2-d tree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nhị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thỏa</a:t>
            </a:r>
            <a:r>
              <a:rPr lang="en-US" sz="2400" dirty="0"/>
              <a:t> </a:t>
            </a:r>
            <a:r>
              <a:rPr lang="en-US" sz="2400" dirty="0" err="1"/>
              <a:t>mãn</a:t>
            </a:r>
            <a:r>
              <a:rPr lang="en-US" sz="2400" dirty="0"/>
              <a:t>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N ở </a:t>
            </a:r>
            <a:r>
              <a:rPr lang="en-US" sz="2400" dirty="0" err="1"/>
              <a:t>mức</a:t>
            </a:r>
            <a:r>
              <a:rPr lang="en-US" sz="2400" dirty="0"/>
              <a:t> </a:t>
            </a:r>
            <a:r>
              <a:rPr lang="en-US" sz="2400" dirty="0" err="1"/>
              <a:t>chẵn</a:t>
            </a:r>
            <a:r>
              <a:rPr lang="en-US" sz="2400" dirty="0"/>
              <a:t>:</a:t>
            </a:r>
          </a:p>
          <a:p>
            <a:pPr lvl="2"/>
            <a:r>
              <a:rPr lang="en-US" sz="2400" dirty="0"/>
              <a:t>∀M∈N.LLINK:M.XVAL&lt;N.XVAL &amp; ∀P∈N.RLINK:P.XVAL≥N.XVAL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N ở </a:t>
            </a:r>
            <a:r>
              <a:rPr lang="en-US" sz="2400" dirty="0" err="1"/>
              <a:t>mức</a:t>
            </a:r>
            <a:r>
              <a:rPr lang="en-US" sz="2400" dirty="0"/>
              <a:t> </a:t>
            </a:r>
            <a:r>
              <a:rPr lang="en-US" sz="2400" dirty="0" err="1"/>
              <a:t>lẻ</a:t>
            </a:r>
            <a:r>
              <a:rPr lang="en-US" sz="2400" dirty="0"/>
              <a:t>:</a:t>
            </a:r>
          </a:p>
          <a:p>
            <a:pPr lvl="1"/>
            <a:r>
              <a:rPr lang="en-US" sz="2400" dirty="0"/>
              <a:t>	∀M∈N.LLINK:M.YVAL&lt;N.YVAL &amp; ∀P∈N.RLINK:P.YVAL≥N.YVAL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4D41FD-139F-58C5-8D6D-CF2BBE904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386747"/>
              </p:ext>
            </p:extLst>
          </p:nvPr>
        </p:nvGraphicFramePr>
        <p:xfrm>
          <a:off x="1780531" y="1698584"/>
          <a:ext cx="8127999" cy="73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4890575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271654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03057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1085071"/>
                  </a:ext>
                </a:extLst>
              </a:tr>
              <a:tr h="3387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6541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35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7F696-2E4D-CA68-B92B-09777F1C9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4B17-258B-5E78-3103-EE9FAAAE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2-D trees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24A8C-825E-F72E-030F-185066BC0EF9}"/>
              </a:ext>
            </a:extLst>
          </p:cNvPr>
          <p:cNvSpPr txBox="1"/>
          <p:nvPr/>
        </p:nvSpPr>
        <p:spPr>
          <a:xfrm>
            <a:off x="524238" y="1105568"/>
            <a:ext cx="1308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803256-252D-C4B6-05C7-7A917D7352E8}"/>
              </a:ext>
            </a:extLst>
          </p:cNvPr>
          <p:cNvSpPr txBox="1"/>
          <p:nvPr/>
        </p:nvSpPr>
        <p:spPr>
          <a:xfrm>
            <a:off x="524238" y="2566535"/>
            <a:ext cx="10640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insert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DA6320-E9C7-0831-06DC-F4A04128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14" b="5585"/>
          <a:stretch>
            <a:fillRect/>
          </a:stretch>
        </p:blipFill>
        <p:spPr>
          <a:xfrm>
            <a:off x="4102608" y="740664"/>
            <a:ext cx="4572000" cy="587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3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C0A0F-34AF-5CE4-124F-72D857B0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AE59-C9A6-904A-67B5-D5D39030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Insertion/ Search in 2-D trees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00B76-80DF-EA43-9F58-ED6D9028AF17}"/>
              </a:ext>
            </a:extLst>
          </p:cNvPr>
          <p:cNvSpPr txBox="1"/>
          <p:nvPr/>
        </p:nvSpPr>
        <p:spPr>
          <a:xfrm>
            <a:off x="103614" y="974497"/>
            <a:ext cx="733960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: P(info, x, 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Lặp</a:t>
            </a:r>
            <a:r>
              <a:rPr lang="en-US" sz="2400" dirty="0"/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đang</a:t>
            </a: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: 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Nếu</a:t>
            </a:r>
            <a:r>
              <a:rPr lang="en-US" sz="2400" dirty="0"/>
              <a:t> N.XVAL = x </a:t>
            </a:r>
            <a:r>
              <a:rPr lang="en-US" sz="2400" dirty="0" err="1"/>
              <a:t>và</a:t>
            </a:r>
            <a:r>
              <a:rPr lang="en-US" sz="2400" dirty="0"/>
              <a:t> N.YVAL = y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ghi</a:t>
            </a:r>
            <a:r>
              <a:rPr lang="en-US" sz="2400" dirty="0"/>
              <a:t> </a:t>
            </a:r>
            <a:r>
              <a:rPr lang="en-US" sz="2400" dirty="0" err="1"/>
              <a:t>đè</a:t>
            </a:r>
            <a:r>
              <a:rPr lang="en-US" sz="2400" dirty="0"/>
              <a:t> N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thúc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Nếu</a:t>
            </a:r>
            <a:r>
              <a:rPr lang="en-US" sz="2400" dirty="0"/>
              <a:t> N ở </a:t>
            </a:r>
            <a:r>
              <a:rPr lang="en-US" sz="2400" dirty="0" err="1"/>
              <a:t>mức</a:t>
            </a:r>
            <a:r>
              <a:rPr lang="en-US" sz="2400" dirty="0"/>
              <a:t> </a:t>
            </a:r>
            <a:r>
              <a:rPr lang="en-US" sz="2400" dirty="0" err="1"/>
              <a:t>chẵn</a:t>
            </a:r>
            <a:r>
              <a:rPr lang="en-US" sz="2400" dirty="0"/>
              <a:t> (0, 2, 4, ...):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Nếu</a:t>
            </a:r>
            <a:r>
              <a:rPr lang="en-US" sz="2400" dirty="0"/>
              <a:t> x &lt; N.XVAL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trái</a:t>
            </a:r>
            <a:r>
              <a:rPr lang="en-US" sz="2400" dirty="0"/>
              <a:t>,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con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Nếu</a:t>
            </a:r>
            <a:r>
              <a:rPr lang="en-US" sz="2400" dirty="0"/>
              <a:t> N ở </a:t>
            </a:r>
            <a:r>
              <a:rPr lang="en-US" sz="2400" dirty="0" err="1"/>
              <a:t>mức</a:t>
            </a:r>
            <a:r>
              <a:rPr lang="en-US" sz="2400" dirty="0"/>
              <a:t> </a:t>
            </a:r>
            <a:r>
              <a:rPr lang="en-US" sz="2400" dirty="0" err="1"/>
              <a:t>lẻ</a:t>
            </a:r>
            <a:r>
              <a:rPr lang="en-US" sz="2400" dirty="0"/>
              <a:t> (1, 3, 5, ...):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Nếu</a:t>
            </a:r>
            <a:r>
              <a:rPr lang="en-US" sz="2400" dirty="0"/>
              <a:t> y &lt; N.YVAL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trái</a:t>
            </a:r>
            <a:r>
              <a:rPr lang="en-US" sz="2400" dirty="0"/>
              <a:t>,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con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64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D1802-5EB0-F12F-0574-6B4C4EF2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47AC-A286-D817-1DBB-425F6119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Deletion in 2-D trees</a:t>
            </a:r>
            <a:endParaRPr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EAC7A-A22F-B069-91CA-2D243AF97B8B}"/>
              </a:ext>
            </a:extLst>
          </p:cNvPr>
          <p:cNvSpPr txBox="1"/>
          <p:nvPr/>
        </p:nvSpPr>
        <p:spPr>
          <a:xfrm>
            <a:off x="524238" y="1166521"/>
            <a:ext cx="84734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T: 2-D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xóa</a:t>
            </a:r>
            <a:r>
              <a:rPr lang="en-US" sz="2400" dirty="0"/>
              <a:t>: (XVAL, YVAL) = (x, 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Tìm</a:t>
            </a:r>
            <a:r>
              <a:rPr lang="en-US" sz="2400" dirty="0"/>
              <a:t> N: N.XVAL = x &amp; N.YVAL = 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Nếu</a:t>
            </a:r>
            <a:r>
              <a:rPr lang="en-US" sz="2400" dirty="0"/>
              <a:t> 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lá</a:t>
            </a:r>
            <a:r>
              <a:rPr lang="en-US" sz="2400" dirty="0"/>
              <a:t>: </a:t>
            </a:r>
            <a:r>
              <a:rPr lang="en-US" sz="2400" dirty="0" err="1"/>
              <a:t>đặt</a:t>
            </a:r>
            <a:r>
              <a:rPr lang="en-US" sz="2400" dirty="0"/>
              <a:t> LLINK or RLINK </a:t>
            </a:r>
            <a:r>
              <a:rPr lang="en-US" sz="2400" dirty="0" err="1"/>
              <a:t>của</a:t>
            </a:r>
            <a:r>
              <a:rPr lang="en-US" sz="2400" dirty="0"/>
              <a:t> cha N </a:t>
            </a:r>
            <a:r>
              <a:rPr lang="en-US" sz="2400" dirty="0" err="1"/>
              <a:t>về</a:t>
            </a:r>
            <a:r>
              <a:rPr lang="en-US" sz="2400" dirty="0"/>
              <a:t> NULL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phóng</a:t>
            </a:r>
            <a:r>
              <a:rPr lang="en-US" sz="2400" dirty="0"/>
              <a:t> N.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thúc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Nếu</a:t>
            </a:r>
            <a:r>
              <a:rPr lang="en-US" sz="2400" dirty="0"/>
              <a:t> 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(R) ở </a:t>
            </a:r>
            <a:r>
              <a:rPr lang="en-US" sz="2400" dirty="0" err="1"/>
              <a:t>trong</a:t>
            </a:r>
            <a:r>
              <a:rPr lang="en-US" sz="2400" dirty="0"/>
              <a:t> 2 </a:t>
            </a:r>
            <a:r>
              <a:rPr lang="en-US" sz="2400" dirty="0" err="1"/>
              <a:t>cây</a:t>
            </a:r>
            <a:r>
              <a:rPr lang="en-US" sz="2400" dirty="0"/>
              <a:t> con ($</a:t>
            </a:r>
            <a:r>
              <a:rPr lang="en-US" sz="2400" dirty="0" err="1"/>
              <a:t>T_l</a:t>
            </a:r>
            <a:r>
              <a:rPr lang="en-US" sz="2400" dirty="0"/>
              <a:t>$ </a:t>
            </a:r>
            <a:r>
              <a:rPr lang="en-US" sz="2400" dirty="0" err="1"/>
              <a:t>và</a:t>
            </a:r>
            <a:r>
              <a:rPr lang="en-US" sz="2400" dirty="0"/>
              <a:t> $</a:t>
            </a:r>
            <a:r>
              <a:rPr lang="en-US" sz="2400" dirty="0" err="1"/>
              <a:t>T_r</a:t>
            </a:r>
            <a:r>
              <a:rPr lang="en-US" sz="2400" dirty="0"/>
              <a:t>$)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400" dirty="0"/>
              <a:t>Thay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con </a:t>
            </a:r>
            <a:r>
              <a:rPr lang="en-US" sz="2400" dirty="0" err="1"/>
              <a:t>trỏ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R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Lặp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xóa</a:t>
            </a:r>
            <a:r>
              <a:rPr lang="en-US" sz="2400" dirty="0"/>
              <a:t> R</a:t>
            </a:r>
          </a:p>
        </p:txBody>
      </p:sp>
    </p:spTree>
    <p:extLst>
      <p:ext uri="{BB962C8B-B14F-4D97-AF65-F5344CB8AC3E}">
        <p14:creationId xmlns:p14="http://schemas.microsoft.com/office/powerpoint/2010/main" val="78011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57B9-D82E-8DC0-655D-733DF3B7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9D68-1421-84D1-7739-6CE046D5C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</a:t>
            </a:r>
            <a:r>
              <a:rPr lang="en-US" sz="2800" dirty="0" err="1"/>
              <a:t>thay</a:t>
            </a:r>
            <a:r>
              <a:rPr lang="en-US" sz="2800" dirty="0"/>
              <a:t> </a:t>
            </a:r>
            <a:r>
              <a:rPr lang="en-US" sz="2800" dirty="0" err="1"/>
              <a:t>thế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xóa</a:t>
            </a:r>
            <a:endParaRPr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6A2B52-DC08-AF25-4A49-1A77DDFDAD0F}"/>
              </a:ext>
            </a:extLst>
          </p:cNvPr>
          <p:cNvSpPr txBox="1"/>
          <p:nvPr/>
        </p:nvSpPr>
        <p:spPr>
          <a:xfrm>
            <a:off x="642366" y="1975211"/>
            <a:ext cx="103670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Nếu xóa N → tìm nút thay thế R:</a:t>
            </a:r>
            <a:r>
              <a:rPr lang="en-US" sz="2400" dirty="0"/>
              <a:t> m</a:t>
            </a:r>
            <a:r>
              <a:rPr lang="vi-VN" sz="2400" dirty="0"/>
              <a:t>ọi nút thuộc cây con trái (N.LLINK) hoặc phải của N cũng thuộc cây con trái (R.LLINK) hoặc phải tương ứng của R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N ở </a:t>
            </a:r>
            <a:r>
              <a:rPr lang="en-US" sz="2400" dirty="0" err="1"/>
              <a:t>mức</a:t>
            </a:r>
            <a:r>
              <a:rPr lang="en-US" sz="2400" dirty="0"/>
              <a:t> </a:t>
            </a:r>
            <a:r>
              <a:rPr lang="en-US" sz="2400" dirty="0" err="1"/>
              <a:t>chẵn</a:t>
            </a:r>
            <a:r>
              <a:rPr lang="en-US" sz="2400" dirty="0"/>
              <a:t>: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2400" dirty="0"/>
              <a:t>∀M∈N.LLINK:M.XVAL&lt;R.XVAL &amp; ∀P∈N.RLINK:P.XVAL≥R.XVAL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Nếu nút N ở mức lẻ:</a:t>
            </a:r>
            <a:endParaRPr lang="en-US" sz="24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2400" dirty="0"/>
              <a:t>∀M∈N.LLINK:M.YVAL&lt;R.YVAL &amp; ∀P∈N.RLINK:P.YVAL≥R.YVAL</a:t>
            </a:r>
          </a:p>
        </p:txBody>
      </p:sp>
    </p:spTree>
    <p:extLst>
      <p:ext uri="{BB962C8B-B14F-4D97-AF65-F5344CB8AC3E}">
        <p14:creationId xmlns:p14="http://schemas.microsoft.com/office/powerpoint/2010/main" val="162495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45440-4475-FA0D-6DD3-2E7E0A6F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2BCD-6876-4BA0-4AC2-538665C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</a:t>
            </a:r>
            <a:r>
              <a:rPr lang="en-US" sz="2800" dirty="0" err="1"/>
              <a:t>thay</a:t>
            </a:r>
            <a:r>
              <a:rPr lang="en-US" sz="2800" dirty="0"/>
              <a:t> </a:t>
            </a:r>
            <a:r>
              <a:rPr lang="en-US" sz="2800" dirty="0" err="1"/>
              <a:t>thế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xóa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855B9D-B724-A555-95EA-056689AAEBF4}"/>
                  </a:ext>
                </a:extLst>
              </p:cNvPr>
              <p:cNvSpPr txBox="1"/>
              <p:nvPr/>
            </p:nvSpPr>
            <p:spPr>
              <a:xfrm>
                <a:off x="441198" y="1302342"/>
                <a:ext cx="7230618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vi-VN" sz="2400" dirty="0"/>
                  <a:t>Nếu N: mức chẵn</a:t>
                </a:r>
                <a:endParaRPr lang="en-US" sz="2400" dirty="0"/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vi-VN" sz="2400" dirty="0"/>
                  <a:t>: không rỗng →</a:t>
                </a:r>
                <a:r>
                  <a:rPr lang="en-US" sz="2400" dirty="0"/>
                  <a:t> </a:t>
                </a:r>
                <a:r>
                  <a:rPr lang="vi-VN" sz="2400" dirty="0"/>
                  <a:t>nút R trong cây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2400" dirty="0"/>
                  <a:t>có giá trị XVAL nhỏ nhất là nút thay thế</a:t>
                </a:r>
                <a:endParaRPr lang="en-US" sz="2400" dirty="0"/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vi-VN" sz="2400" dirty="0"/>
                  <a:t> : rỗng → tìm nút thay thế bên cây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vi-VN" sz="2400" dirty="0"/>
                  <a:t>(How ?)</a:t>
                </a:r>
                <a:endParaRPr lang="en-US" sz="2400" dirty="0"/>
              </a:p>
              <a:p>
                <a:pPr marL="1200150" lvl="2" indent="-285750">
                  <a:buFont typeface="Wingdings" panose="05000000000000000000" pitchFamily="2" charset="2"/>
                  <a:buChar char="§"/>
                </a:pPr>
                <a:r>
                  <a:rPr lang="vi-VN" sz="2400" dirty="0"/>
                  <a:t>Tìm nút R’ bên cây trái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vi-VN" sz="2400" dirty="0"/>
                  <a:t> có XVAL nhỏ nhất</a:t>
                </a:r>
                <a:endParaRPr lang="en-US" sz="2400" dirty="0"/>
              </a:p>
              <a:p>
                <a:pPr marL="1200150" lvl="2" indent="-285750">
                  <a:buFont typeface="Wingdings" panose="05000000000000000000" pitchFamily="2" charset="2"/>
                  <a:buChar char="§"/>
                </a:pPr>
                <a:r>
                  <a:rPr lang="vi-VN" sz="2400" dirty="0"/>
                  <a:t>Đặt N.RLINK = N.LLINK, sau đó N.LLINK = NULL (chuyển nhánh trái sang phải để duy trì tính chất cây)</a:t>
                </a: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vi-VN" sz="2400" dirty="0"/>
                  <a:t>Tương tự nếu N ở mức lẻ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855B9D-B724-A555-95EA-056689AA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98" y="1302342"/>
                <a:ext cx="7230618" cy="3416320"/>
              </a:xfrm>
              <a:prstGeom prst="rect">
                <a:avLst/>
              </a:prstGeom>
              <a:blipFill>
                <a:blip r:embed="rId2"/>
                <a:stretch>
                  <a:fillRect l="-1095" t="-1429" r="-1011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1FB0BDF-278E-CB6F-B4BC-E2FE60F9632E}"/>
              </a:ext>
            </a:extLst>
          </p:cNvPr>
          <p:cNvSpPr/>
          <p:nvPr/>
        </p:nvSpPr>
        <p:spPr>
          <a:xfrm>
            <a:off x="7504176" y="4160878"/>
            <a:ext cx="1408176" cy="55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5D678AB-12CD-B0C3-4B34-5EDEBEACBD55}"/>
                  </a:ext>
                </a:extLst>
              </p:cNvPr>
              <p:cNvSpPr/>
              <p:nvPr/>
            </p:nvSpPr>
            <p:spPr>
              <a:xfrm>
                <a:off x="8848344" y="5544511"/>
                <a:ext cx="1408176" cy="5577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Cây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5D678AB-12CD-B0C3-4B34-5EDEBEACB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344" y="5544511"/>
                <a:ext cx="1408176" cy="5577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D9A27FE-3858-BC22-0ABB-A362E1D6A6A5}"/>
                  </a:ext>
                </a:extLst>
              </p:cNvPr>
              <p:cNvSpPr/>
              <p:nvPr/>
            </p:nvSpPr>
            <p:spPr>
              <a:xfrm>
                <a:off x="6470904" y="5544511"/>
                <a:ext cx="1408176" cy="5577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Cây</a:t>
                </a:r>
                <a:r>
                  <a:rPr lang="en-US" dirty="0"/>
                  <a:t>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D9A27FE-3858-BC22-0ABB-A362E1D6A6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904" y="5544511"/>
                <a:ext cx="1408176" cy="5577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938E6C-3BC8-21BE-710A-9F16B8E3A350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7174992" y="4718662"/>
            <a:ext cx="1033272" cy="825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1E607E-1CFD-839A-79F3-C20FE42EA35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8208264" y="4718662"/>
            <a:ext cx="1344168" cy="825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672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C31A-5137-6B57-E3D9-9E04C6A7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5B80-CB6A-F8C8-BD13-C6BE2BE5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Truy</a:t>
            </a:r>
            <a:r>
              <a:rPr lang="en-US" sz="2800" dirty="0"/>
              <a:t> </a:t>
            </a:r>
            <a:r>
              <a:rPr lang="en-US" sz="2800" dirty="0" err="1"/>
              <a:t>vấn</a:t>
            </a:r>
            <a:r>
              <a:rPr lang="en-US" sz="2800" dirty="0"/>
              <a:t> </a:t>
            </a:r>
            <a:r>
              <a:rPr lang="en-US" sz="2800" dirty="0" err="1"/>
              <a:t>phạm</a:t>
            </a:r>
            <a:r>
              <a:rPr lang="en-US" sz="2800" dirty="0"/>
              <a:t> vi </a:t>
            </a:r>
            <a:r>
              <a:rPr lang="en-US" sz="2800" dirty="0" err="1"/>
              <a:t>trên</a:t>
            </a:r>
            <a:r>
              <a:rPr lang="en-US" sz="2800" dirty="0"/>
              <a:t> 2-D trees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0F6A8C-B018-8A7D-F0A2-EDBEBB312CD9}"/>
                  </a:ext>
                </a:extLst>
              </p:cNvPr>
              <p:cNvSpPr txBox="1"/>
              <p:nvPr/>
            </p:nvSpPr>
            <p:spPr>
              <a:xfrm>
                <a:off x="916685" y="1721858"/>
                <a:ext cx="8754203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Truy </a:t>
                </a:r>
                <a:r>
                  <a:rPr lang="en-US" sz="2400" dirty="0" err="1"/>
                  <a:t>vấn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phạm</a:t>
                </a:r>
                <a:r>
                  <a:rPr lang="en-US" sz="2400" dirty="0"/>
                  <a:t> vi (range query):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1 </a:t>
                </a:r>
                <a:r>
                  <a:rPr lang="en-US" sz="2400" dirty="0" err="1"/>
                  <a:t>điểm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khoảng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cách</a:t>
                </a:r>
                <a:r>
                  <a:rPr lang="en-US" sz="2400" dirty="0"/>
                  <a:t> 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Tìm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điểm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trên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cây</a:t>
                </a:r>
                <a:r>
                  <a:rPr lang="en-US" sz="2400" dirty="0"/>
                  <a:t> 2-D </a:t>
                </a:r>
                <a:r>
                  <a:rPr lang="en-US" sz="2400" dirty="0" err="1"/>
                  <a:t>sao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khoảng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từ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đó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đến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2400" dirty="0"/>
                  <a:t>L1 (Manhattan distance):</a:t>
                </a:r>
              </a:p>
              <a:p>
                <a:pPr lvl="1"/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vi-VN" sz="2400" dirty="0"/>
                  <a:t>L2 (Euclide):</a:t>
                </a:r>
                <a:endParaRPr lang="en-US" sz="2400" dirty="0"/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2400" dirty="0"/>
                  <a:t>...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0F6A8C-B018-8A7D-F0A2-EDBEBB312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85" y="1721858"/>
                <a:ext cx="8754203" cy="3046988"/>
              </a:xfrm>
              <a:prstGeom prst="rect">
                <a:avLst/>
              </a:prstGeom>
              <a:blipFill>
                <a:blip r:embed="rId2"/>
                <a:stretch>
                  <a:fillRect l="-905" t="-1600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818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E3A9-C530-E312-74BE-0980247F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6851-6CDE-DC7C-AD90-0D1DEF4C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2-D trees =&gt; k-D trees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670B8C-AEA2-EC8B-A9DA-914C4FA8F568}"/>
                  </a:ext>
                </a:extLst>
              </p:cNvPr>
              <p:cNvSpPr txBox="1"/>
              <p:nvPr/>
            </p:nvSpPr>
            <p:spPr>
              <a:xfrm>
                <a:off x="457200" y="1188720"/>
                <a:ext cx="24437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670B8C-AEA2-EC8B-A9DA-914C4FA8F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88720"/>
                <a:ext cx="2443746" cy="461665"/>
              </a:xfrm>
              <a:prstGeom prst="rect">
                <a:avLst/>
              </a:prstGeom>
              <a:blipFill>
                <a:blip r:embed="rId2"/>
                <a:stretch>
                  <a:fillRect l="-3242" t="-5263" r="-124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882820-5A1A-0957-7A40-8CF99AAA8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124198"/>
              </p:ext>
            </p:extLst>
          </p:nvPr>
        </p:nvGraphicFramePr>
        <p:xfrm>
          <a:off x="1917793" y="1899439"/>
          <a:ext cx="686044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1832">
                  <a:extLst>
                    <a:ext uri="{9D8B030D-6E8A-4147-A177-3AD203B41FA5}">
                      <a16:colId xmlns:a16="http://schemas.microsoft.com/office/drawing/2014/main" val="2803295043"/>
                    </a:ext>
                  </a:extLst>
                </a:gridCol>
                <a:gridCol w="1194827">
                  <a:extLst>
                    <a:ext uri="{9D8B030D-6E8A-4147-A177-3AD203B41FA5}">
                      <a16:colId xmlns:a16="http://schemas.microsoft.com/office/drawing/2014/main" val="3978990249"/>
                    </a:ext>
                  </a:extLst>
                </a:gridCol>
                <a:gridCol w="731052">
                  <a:extLst>
                    <a:ext uri="{9D8B030D-6E8A-4147-A177-3AD203B41FA5}">
                      <a16:colId xmlns:a16="http://schemas.microsoft.com/office/drawing/2014/main" val="2623142798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60437887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90616437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4110236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VAL[2]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VAL[k]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25985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RLINK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3372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A51B74-06CB-5B6B-D95E-91A02954E45F}"/>
                  </a:ext>
                </a:extLst>
              </p:cNvPr>
              <p:cNvSpPr txBox="1"/>
              <p:nvPr/>
            </p:nvSpPr>
            <p:spPr>
              <a:xfrm>
                <a:off x="457200" y="3429000"/>
                <a:ext cx="1093622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N: 1 </a:t>
                </a:r>
                <a:r>
                  <a:rPr lang="en-US" sz="2400" dirty="0" err="1"/>
                  <a:t>nút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k-D trees </a:t>
                </a:r>
                <a:r>
                  <a:rPr lang="en-US" sz="2400" dirty="0" err="1"/>
                  <a:t>nếu</a:t>
                </a:r>
                <a:endParaRPr lang="en-US" sz="2400" dirty="0"/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:r>
                  <a:rPr lang="en-US" sz="2400" dirty="0" err="1"/>
                  <a:t>Mọi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nút</a:t>
                </a:r>
                <a:r>
                  <a:rPr lang="en-US" sz="2400" dirty="0"/>
                  <a:t> M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cây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N: M.VAL[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&lt; N.VAL[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</a:t>
                </a: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:r>
                  <a:rPr lang="en-US" sz="2400" dirty="0" err="1"/>
                  <a:t>Mọi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nút</a:t>
                </a:r>
                <a:r>
                  <a:rPr lang="en-US" sz="2400" dirty="0"/>
                  <a:t> P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cây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N: P.VAL[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 N.VAL[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],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=level(N) mod 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A51B74-06CB-5B6B-D95E-91A02954E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10936224" cy="1569660"/>
              </a:xfrm>
              <a:prstGeom prst="rect">
                <a:avLst/>
              </a:prstGeom>
              <a:blipFill>
                <a:blip r:embed="rId3"/>
                <a:stretch>
                  <a:fillRect l="-725" t="-3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027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B1D6-7508-4E2C-FDD9-56163403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8822E-3140-CC32-931E-318490DD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k-D trees: </a:t>
            </a:r>
            <a:r>
              <a:rPr lang="en-US" sz="2800" dirty="0" err="1"/>
              <a:t>lưu</a:t>
            </a:r>
            <a:r>
              <a:rPr lang="en-US" sz="2800" dirty="0"/>
              <a:t> ý</a:t>
            </a:r>
            <a:endParaRPr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BD11F2-04CF-D5E5-FE0E-76ED76CE8C41}"/>
              </a:ext>
            </a:extLst>
          </p:cNvPr>
          <p:cNvSpPr txBox="1"/>
          <p:nvPr/>
        </p:nvSpPr>
        <p:spPr>
          <a:xfrm>
            <a:off x="804672" y="1920240"/>
            <a:ext cx="92171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cân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Tùy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insert </a:t>
            </a:r>
            <a:r>
              <a:rPr lang="en-US" sz="2400" dirty="0" err="1"/>
              <a:t>vào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/>
              <a:t>LSD-tree (Local Split Decision tree):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2 </a:t>
            </a:r>
            <a:r>
              <a:rPr lang="en-US" sz="2400" dirty="0" err="1"/>
              <a:t>mức</a:t>
            </a:r>
            <a:r>
              <a:rPr lang="en-US" sz="2400" dirty="0"/>
              <a:t>: main memory + disk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b="1" dirty="0"/>
              <a:t>VA-file </a:t>
            </a:r>
            <a:r>
              <a:rPr lang="en-US" sz="2400" dirty="0"/>
              <a:t>(Vector Approximation file)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/>
              <a:t>k-D-B-tree: k-D tree +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cân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(B-tree) </a:t>
            </a:r>
          </a:p>
        </p:txBody>
      </p:sp>
    </p:spTree>
    <p:extLst>
      <p:ext uri="{BB962C8B-B14F-4D97-AF65-F5344CB8AC3E}">
        <p14:creationId xmlns:p14="http://schemas.microsoft.com/office/powerpoint/2010/main" val="2728521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31D3-98B8-C707-2C82-BDE5019B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1B7FF5-2C26-51D2-2EC6-497E941BB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tứ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A4A8D-44B3-9B96-323D-F60EBFEDD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33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F4F65-27CE-F0E5-76BB-CCCA36CE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D980-408D-85E6-1E2A-3C934E5E0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10183386" cy="476493"/>
          </a:xfrm>
        </p:spPr>
        <p:txBody>
          <a:bodyPr>
            <a:noAutofit/>
          </a:bodyPr>
          <a:lstStyle/>
          <a:p>
            <a:r>
              <a:rPr lang="en-US" sz="2800" dirty="0" err="1"/>
              <a:t>Cây</a:t>
            </a:r>
            <a:r>
              <a:rPr lang="en-US" sz="2800" dirty="0"/>
              <a:t> </a:t>
            </a:r>
            <a:r>
              <a:rPr lang="en-US" sz="2800" dirty="0" err="1"/>
              <a:t>tứ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dạng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r>
              <a:rPr lang="en-US" sz="2800" dirty="0"/>
              <a:t> (Point Quadtrees)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10275-B3B6-AA7D-CFC8-D4DE56A34D59}"/>
              </a:ext>
            </a:extLst>
          </p:cNvPr>
          <p:cNvSpPr txBox="1"/>
          <p:nvPr/>
        </p:nvSpPr>
        <p:spPr>
          <a:xfrm>
            <a:off x="329184" y="834805"/>
            <a:ext cx="60944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chia 1 </a:t>
            </a:r>
            <a:r>
              <a:rPr lang="en-US" sz="2400" dirty="0" err="1"/>
              <a:t>vùng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4 </a:t>
            </a:r>
            <a:r>
              <a:rPr lang="en-US" sz="2400" dirty="0" err="1"/>
              <a:t>vùng</a:t>
            </a:r>
            <a:r>
              <a:rPr lang="en-US" sz="2400" dirty="0"/>
              <a:t> con</a:t>
            </a:r>
          </a:p>
          <a:p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2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ngang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dọc</a:t>
            </a:r>
            <a:r>
              <a:rPr lang="en-US" sz="2400" dirty="0"/>
              <a:t> (N.XVAL &amp; N.YVAL):</a:t>
            </a:r>
          </a:p>
          <a:p>
            <a:r>
              <a:rPr lang="en-US" sz="2400" dirty="0"/>
              <a:t>– NW (Northwest)</a:t>
            </a:r>
          </a:p>
          <a:p>
            <a:r>
              <a:rPr lang="en-US" sz="2400" dirty="0"/>
              <a:t>– SW (Southwest)</a:t>
            </a:r>
          </a:p>
          <a:p>
            <a:r>
              <a:rPr lang="en-US" sz="2400" dirty="0"/>
              <a:t>– NE (Northeast)</a:t>
            </a:r>
          </a:p>
          <a:p>
            <a:r>
              <a:rPr lang="en-US" sz="2400" dirty="0"/>
              <a:t>– SE (Southeast)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057145-FDBE-89D5-6989-B79471B46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142553"/>
              </p:ext>
            </p:extLst>
          </p:nvPr>
        </p:nvGraphicFramePr>
        <p:xfrm>
          <a:off x="524238" y="4240105"/>
          <a:ext cx="3575305" cy="110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672">
                  <a:extLst>
                    <a:ext uri="{9D8B030D-6E8A-4147-A177-3AD203B41FA5}">
                      <a16:colId xmlns:a16="http://schemas.microsoft.com/office/drawing/2014/main" val="2800903417"/>
                    </a:ext>
                  </a:extLst>
                </a:gridCol>
                <a:gridCol w="1081522">
                  <a:extLst>
                    <a:ext uri="{9D8B030D-6E8A-4147-A177-3AD203B41FA5}">
                      <a16:colId xmlns:a16="http://schemas.microsoft.com/office/drawing/2014/main" val="3288386999"/>
                    </a:ext>
                  </a:extLst>
                </a:gridCol>
                <a:gridCol w="1689111">
                  <a:extLst>
                    <a:ext uri="{9D8B030D-6E8A-4147-A177-3AD203B41FA5}">
                      <a16:colId xmlns:a16="http://schemas.microsoft.com/office/drawing/2014/main" val="317497045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YVAL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2640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53699"/>
                  </a:ext>
                </a:extLst>
              </a:tr>
              <a:tr h="3125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XVAL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76569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274717B-5CC3-E68A-CA7C-615B2457F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861" y="2175267"/>
            <a:ext cx="6209955" cy="362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6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6F7D-B4F0-1A85-4C7F-90F1F7BD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B317F-49C4-559C-54BE-CE8E0BBD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10183386" cy="476493"/>
          </a:xfrm>
        </p:spPr>
        <p:txBody>
          <a:bodyPr>
            <a:noAutofit/>
          </a:bodyPr>
          <a:lstStyle/>
          <a:p>
            <a:r>
              <a:rPr lang="en-US" sz="2800" dirty="0" err="1"/>
              <a:t>Cây</a:t>
            </a:r>
            <a:r>
              <a:rPr lang="en-US" sz="2800" dirty="0"/>
              <a:t> </a:t>
            </a:r>
            <a:r>
              <a:rPr lang="en-US" sz="2800" dirty="0" err="1"/>
              <a:t>tứ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dạng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9222-8410-3B9D-6BEF-49E96346E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1" t="13614" r="5171" b="20561"/>
          <a:stretch>
            <a:fillRect/>
          </a:stretch>
        </p:blipFill>
        <p:spPr>
          <a:xfrm>
            <a:off x="2124438" y="1867038"/>
            <a:ext cx="7233724" cy="3603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2E5EE3-F03D-6393-C44D-2AB098658465}"/>
              </a:ext>
            </a:extLst>
          </p:cNvPr>
          <p:cNvSpPr txBox="1"/>
          <p:nvPr/>
        </p:nvSpPr>
        <p:spPr>
          <a:xfrm>
            <a:off x="524238" y="1213885"/>
            <a:ext cx="767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tứ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ngầm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1 </a:t>
            </a:r>
            <a:r>
              <a:rPr lang="en-US" sz="2400" dirty="0" err="1"/>
              <a:t>vùng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35889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2605E-428A-C546-13CC-5273BC79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16FA-BDB4-60CE-F1AF-FCCB6922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10183386" cy="476493"/>
          </a:xfrm>
        </p:spPr>
        <p:txBody>
          <a:bodyPr>
            <a:noAutofit/>
          </a:bodyPr>
          <a:lstStyle/>
          <a:p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cây</a:t>
            </a:r>
            <a:r>
              <a:rPr lang="en-US" sz="2800" dirty="0"/>
              <a:t> </a:t>
            </a:r>
            <a:r>
              <a:rPr lang="en-US" sz="2800" dirty="0" err="1"/>
              <a:t>tứ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endParaRPr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4081EA-669E-4288-D992-FF6271534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32"/>
          <a:stretch>
            <a:fillRect/>
          </a:stretch>
        </p:blipFill>
        <p:spPr>
          <a:xfrm>
            <a:off x="952500" y="866274"/>
            <a:ext cx="10287000" cy="599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CDE1-189B-4FCA-6EC3-91946E69C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19D4-321C-7443-72A3-E4BDC148D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10183386" cy="476493"/>
          </a:xfrm>
        </p:spPr>
        <p:txBody>
          <a:bodyPr>
            <a:noAutofit/>
          </a:bodyPr>
          <a:lstStyle/>
          <a:p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cây</a:t>
            </a:r>
            <a:r>
              <a:rPr lang="en-US" sz="2800" dirty="0"/>
              <a:t> </a:t>
            </a:r>
            <a:r>
              <a:rPr lang="en-US" sz="2800" dirty="0" err="1"/>
              <a:t>tứ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endParaRPr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F3068-AC22-A731-3445-787C536320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34"/>
          <a:stretch>
            <a:fillRect/>
          </a:stretch>
        </p:blipFill>
        <p:spPr>
          <a:xfrm>
            <a:off x="714756" y="640080"/>
            <a:ext cx="10287000" cy="59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4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DE33-B684-7DC5-91FD-E2A1640CB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810B-DC1B-D4D4-BF99-A7144B8F2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10183386" cy="476493"/>
          </a:xfrm>
        </p:spPr>
        <p:txBody>
          <a:bodyPr>
            <a:noAutofit/>
          </a:bodyPr>
          <a:lstStyle/>
          <a:p>
            <a:r>
              <a:rPr lang="en-US" sz="2800" dirty="0" err="1"/>
              <a:t>Xóa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cây</a:t>
            </a:r>
            <a:r>
              <a:rPr lang="en-US" sz="2800" dirty="0"/>
              <a:t> </a:t>
            </a:r>
            <a:r>
              <a:rPr lang="en-US" sz="2800" dirty="0" err="1"/>
              <a:t>tứ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5D4FB-9F31-1B31-94F1-EE492C525423}"/>
              </a:ext>
            </a:extLst>
          </p:cNvPr>
          <p:cNvSpPr txBox="1"/>
          <p:nvPr/>
        </p:nvSpPr>
        <p:spPr>
          <a:xfrm>
            <a:off x="624822" y="2103781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Nút lá: đơn giản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sz="2400" dirty="0"/>
              <a:t>Thiết lập lại con trỏ ở nút cha = NULL và giải phóng nút</a:t>
            </a:r>
            <a:r>
              <a:rPr lang="en-US" sz="2400" dirty="0"/>
              <a:t> </a:t>
            </a:r>
            <a:r>
              <a:rPr lang="vi-VN" sz="2400" dirty="0"/>
              <a:t>cần xóa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Nút trong: phức tạp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sz="2400" dirty="0"/>
              <a:t>Cần tìm nút thay thế</a:t>
            </a:r>
            <a:r>
              <a:rPr lang="en-US" sz="2400" dirty="0"/>
              <a:t> =&gt; </a:t>
            </a:r>
            <a:r>
              <a:rPr lang="vi-VN" sz="2400" dirty="0"/>
              <a:t>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sz="2400" dirty="0"/>
              <a:t>VD: Xóa nút gốc trong ví dụ </a:t>
            </a:r>
            <a:r>
              <a:rPr lang="en-US" sz="2400" dirty="0"/>
              <a:t>ở slide </a:t>
            </a:r>
            <a:r>
              <a:rPr lang="vi-VN" sz="2400" dirty="0"/>
              <a:t>trên</a:t>
            </a:r>
            <a:r>
              <a:rPr lang="en-US" sz="2400" dirty="0"/>
              <a:t>.</a:t>
            </a:r>
            <a:r>
              <a:rPr lang="vi-VN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6042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BBD1-D3F5-CFD6-1900-D2E436007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7232-119D-3626-1853-19949408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10183386" cy="476493"/>
          </a:xfrm>
        </p:spPr>
        <p:txBody>
          <a:bodyPr>
            <a:noAutofit/>
          </a:bodyPr>
          <a:lstStyle/>
          <a:p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</a:t>
            </a:r>
            <a:r>
              <a:rPr lang="en-US" sz="2800" dirty="0" err="1"/>
              <a:t>thay</a:t>
            </a:r>
            <a:r>
              <a:rPr lang="en-US" sz="2800" dirty="0"/>
              <a:t> </a:t>
            </a:r>
            <a:r>
              <a:rPr lang="en-US" sz="2800" dirty="0" err="1"/>
              <a:t>thế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xóa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3B0853-5A2B-11CB-BF1E-0FCA2CB6ADE4}"/>
                  </a:ext>
                </a:extLst>
              </p:cNvPr>
              <p:cNvSpPr txBox="1"/>
              <p:nvPr/>
            </p:nvSpPr>
            <p:spPr>
              <a:xfrm>
                <a:off x="676656" y="1397675"/>
                <a:ext cx="691286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Nút </a:t>
                </a:r>
                <a:r>
                  <a:rPr lang="en-US" sz="2400" dirty="0" err="1"/>
                  <a:t>xóa</a:t>
                </a:r>
                <a:r>
                  <a:rPr lang="en-US" sz="2400" dirty="0"/>
                  <a:t>: 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Nút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thay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thế</a:t>
                </a:r>
                <a:r>
                  <a:rPr lang="en-US" sz="2400" dirty="0"/>
                  <a:t> R </a:t>
                </a:r>
                <a:r>
                  <a:rPr lang="en-US" sz="2400" dirty="0" err="1"/>
                  <a:t>đảm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bảo</a:t>
                </a:r>
                <a:r>
                  <a:rPr lang="en-US" sz="2400" dirty="0"/>
                  <a:t>: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𝑁𝑊</m:t>
                    </m:r>
                  </m:oMath>
                </a14:m>
                <a:endParaRPr lang="en-US" sz="2400" i="1" dirty="0">
                  <a:latin typeface="Bierstadt Display" panose="020F0502020204030204" pitchFamily="34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𝑁𝐸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𝑁𝐸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𝑆𝐸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𝑆𝐸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Ví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dụ</a:t>
                </a:r>
                <a:r>
                  <a:rPr lang="en-US" sz="2400" dirty="0"/>
                  <a:t>: Richmond =&gt; R(Washington)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Không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phải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lúc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nào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tìm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nút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thay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thế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3B0853-5A2B-11CB-BF1E-0FCA2CB6A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" y="1397675"/>
                <a:ext cx="6912864" cy="3046988"/>
              </a:xfrm>
              <a:prstGeom prst="rect">
                <a:avLst/>
              </a:prstGeom>
              <a:blipFill>
                <a:blip r:embed="rId2"/>
                <a:stretch>
                  <a:fillRect l="-1146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997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D8B2-0E47-2455-993D-9486C4B2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AC3C6-6539-BFFB-54CA-A1B14484E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10183386" cy="476493"/>
          </a:xfrm>
        </p:spPr>
        <p:txBody>
          <a:bodyPr>
            <a:noAutofit/>
          </a:bodyPr>
          <a:lstStyle/>
          <a:p>
            <a:r>
              <a:rPr lang="en-US" sz="2800" dirty="0" err="1"/>
              <a:t>Xóa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cây</a:t>
            </a:r>
            <a:r>
              <a:rPr lang="en-US" sz="2800" dirty="0"/>
              <a:t> </a:t>
            </a:r>
            <a:r>
              <a:rPr lang="en-US" sz="2800" dirty="0" err="1"/>
              <a:t>tứ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77603-C656-15C0-47E7-801F32A26E95}"/>
              </a:ext>
            </a:extLst>
          </p:cNvPr>
          <p:cNvSpPr txBox="1"/>
          <p:nvPr/>
        </p:nvSpPr>
        <p:spPr>
          <a:xfrm>
            <a:off x="432054" y="1687175"/>
            <a:ext cx="50639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/>
              <a:t>Xóa nút trong </a:t>
            </a:r>
            <a:r>
              <a:rPr lang="en-US" sz="2400" dirty="0"/>
              <a:t>=&gt;</a:t>
            </a:r>
            <a:r>
              <a:rPr lang="vi-VN" sz="2400" dirty="0"/>
              <a:t> tìm nút thay thế</a:t>
            </a:r>
          </a:p>
          <a:p>
            <a:r>
              <a:rPr lang="en-US" sz="2400" dirty="0"/>
              <a:t>=&gt; </a:t>
            </a:r>
            <a:r>
              <a:rPr lang="vi-VN" sz="2400" dirty="0"/>
              <a:t>chèn lại các nút trỏ bởi NW, SW, NE, SE</a:t>
            </a:r>
          </a:p>
          <a:p>
            <a:r>
              <a:rPr lang="en-US" sz="2400" dirty="0"/>
              <a:t>=&gt; </a:t>
            </a:r>
            <a:r>
              <a:rPr lang="vi-VN" sz="2400" dirty="0"/>
              <a:t>Trường hợp tồi nhất: tất cả các nút bị thay đổi!!!!!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F080E-B0DB-F190-ADC4-9DE54B57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79" t="16421" r="12417"/>
          <a:stretch>
            <a:fillRect/>
          </a:stretch>
        </p:blipFill>
        <p:spPr>
          <a:xfrm>
            <a:off x="5496025" y="760245"/>
            <a:ext cx="6728059" cy="573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59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9A345-EB4A-1E1C-B4A5-B33BCB1E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F5F7-0A57-3CFF-D714-B8510C1B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10183386" cy="476493"/>
          </a:xfrm>
        </p:spPr>
        <p:txBody>
          <a:bodyPr>
            <a:noAutofit/>
          </a:bodyPr>
          <a:lstStyle/>
          <a:p>
            <a:r>
              <a:rPr lang="en-US" sz="2800" dirty="0" err="1"/>
              <a:t>Truy</a:t>
            </a:r>
            <a:r>
              <a:rPr lang="en-US" sz="2800" dirty="0"/>
              <a:t> </a:t>
            </a:r>
            <a:r>
              <a:rPr lang="en-US" sz="2800" dirty="0" err="1"/>
              <a:t>vấn</a:t>
            </a:r>
            <a:r>
              <a:rPr lang="en-US" sz="2800" dirty="0"/>
              <a:t> </a:t>
            </a:r>
            <a:r>
              <a:rPr lang="en-US" sz="2800" dirty="0" err="1"/>
              <a:t>phạm</a:t>
            </a:r>
            <a:r>
              <a:rPr lang="en-US" sz="2800" dirty="0"/>
              <a:t> vi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cây</a:t>
            </a:r>
            <a:r>
              <a:rPr lang="en-US" sz="2800" dirty="0"/>
              <a:t> </a:t>
            </a:r>
            <a:r>
              <a:rPr lang="en-US" sz="2800" dirty="0" err="1"/>
              <a:t>tứ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1D82B3-270C-1444-B38E-473984DAD131}"/>
                  </a:ext>
                </a:extLst>
              </p:cNvPr>
              <p:cNvSpPr txBox="1"/>
              <p:nvPr/>
            </p:nvSpPr>
            <p:spPr>
              <a:xfrm>
                <a:off x="680506" y="1194026"/>
                <a:ext cx="8170886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RangeQueryPointQuadtrees(</a:t>
                </a:r>
                <a:r>
                  <a:rPr lang="en-US" sz="2400" dirty="0" err="1"/>
                  <a:t>T:newqtnodetype</a:t>
                </a:r>
                <a:r>
                  <a:rPr lang="en-US" sz="2400" dirty="0"/>
                  <a:t>, C: cycle)</a:t>
                </a:r>
              </a:p>
              <a:p>
                <a:r>
                  <a:rPr lang="en-US" sz="2400" dirty="0"/>
                  <a:t>{ if region(T)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dirty="0"/>
                  <a:t> C =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 then Halt</a:t>
                </a:r>
              </a:p>
              <a:p>
                <a:r>
                  <a:rPr lang="en-US" sz="2400" dirty="0"/>
                  <a:t>else</a:t>
                </a:r>
              </a:p>
              <a:p>
                <a:r>
                  <a:rPr lang="en-US" sz="2400" dirty="0"/>
                  <a:t>(a) if (T.XVAL, T.YVAL)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C then print(T.XVAL, T.YVAL);</a:t>
                </a:r>
              </a:p>
              <a:p>
                <a:r>
                  <a:rPr lang="en-US" sz="2400" dirty="0"/>
                  <a:t>(b) </a:t>
                </a:r>
                <a:r>
                  <a:rPr lang="en-US" sz="2400" dirty="0" err="1"/>
                  <a:t>RangeQueryPointQuadtrees</a:t>
                </a:r>
                <a:r>
                  <a:rPr lang="en-US" sz="2400" dirty="0"/>
                  <a:t>(T.NW, C);</a:t>
                </a:r>
              </a:p>
              <a:p>
                <a:r>
                  <a:rPr lang="en-US" sz="2400" dirty="0"/>
                  <a:t>(c) </a:t>
                </a:r>
                <a:r>
                  <a:rPr lang="en-US" sz="2400" dirty="0" err="1"/>
                  <a:t>RangeQueryPointQuadtrees</a:t>
                </a:r>
                <a:r>
                  <a:rPr lang="en-US" sz="2400" dirty="0"/>
                  <a:t>(T.SW, C);</a:t>
                </a:r>
              </a:p>
              <a:p>
                <a:r>
                  <a:rPr lang="en-US" sz="2400" dirty="0"/>
                  <a:t>(d) </a:t>
                </a:r>
                <a:r>
                  <a:rPr lang="en-US" sz="2400" dirty="0" err="1"/>
                  <a:t>RangeQueryPointQuadtrees</a:t>
                </a:r>
                <a:r>
                  <a:rPr lang="en-US" sz="2400" dirty="0"/>
                  <a:t>(T.NE, C);</a:t>
                </a:r>
              </a:p>
              <a:p>
                <a:r>
                  <a:rPr lang="en-US" sz="2400" dirty="0"/>
                  <a:t>(e) </a:t>
                </a:r>
                <a:r>
                  <a:rPr lang="en-US" sz="2400" dirty="0" err="1"/>
                  <a:t>RangeQueryPointQuadtrees</a:t>
                </a:r>
                <a:r>
                  <a:rPr lang="en-US" sz="2400" dirty="0"/>
                  <a:t>(T.SE, C);</a:t>
                </a:r>
              </a:p>
              <a:p>
                <a:r>
                  <a:rPr lang="en-US" sz="2400" dirty="0"/>
                  <a:t>}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1D82B3-270C-1444-B38E-473984DAD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06" y="1194026"/>
                <a:ext cx="8170886" cy="3416320"/>
              </a:xfrm>
              <a:prstGeom prst="rect">
                <a:avLst/>
              </a:prstGeom>
              <a:blipFill>
                <a:blip r:embed="rId2"/>
                <a:stretch>
                  <a:fillRect l="-1194" t="-1429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960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C327-13FE-3877-9EE2-269E97CF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4EF695-1E23-8B85-CBC8-8C90B54F7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r>
              <a:rPr lang="en-US" dirty="0"/>
              <a:t>MX-Quadtrees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2CB6F-7AE2-9ECC-F626-C171BFAB5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833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5CBD7-84C7-6EDD-A487-E3996721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374B-CCB4-DD7D-2753-1A750DAF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MX-Quadtrees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7316E-1575-8B7F-DC99-0B241D3EE0A1}"/>
              </a:ext>
            </a:extLst>
          </p:cNvPr>
          <p:cNvSpPr txBox="1"/>
          <p:nvPr/>
        </p:nvSpPr>
        <p:spPr>
          <a:xfrm>
            <a:off x="313182" y="1150912"/>
            <a:ext cx="65448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dáng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phụ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Cho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xóa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EE7280-083A-799B-5FF8-FEADFEA20F5E}"/>
                  </a:ext>
                </a:extLst>
              </p:cNvPr>
              <p:cNvSpPr txBox="1"/>
              <p:nvPr/>
            </p:nvSpPr>
            <p:spPr>
              <a:xfrm>
                <a:off x="313182" y="3158574"/>
                <a:ext cx="8519922" cy="232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vi-VN" sz="2400" dirty="0"/>
                  <a:t>Dữ liệu được chia theo lưới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vi-V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40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vi-V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vi-VN" sz="2400" dirty="0"/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vi-VN" sz="2400" dirty="0"/>
                  <a:t>k tự chọn, nhưng sau khi chọn thì k phải không được</a:t>
                </a:r>
                <a:r>
                  <a:rPr lang="en-US" sz="2400" dirty="0"/>
                  <a:t> </a:t>
                </a:r>
                <a:r>
                  <a:rPr lang="vi-VN" sz="2400" dirty="0"/>
                  <a:t>thay đổi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vi-VN" sz="2400" dirty="0"/>
                  <a:t>Cấu trúc nút: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vi-VN" sz="2400" dirty="0"/>
                  <a:t>Tương tự cây tứ phân dạng điểm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vi-VN" sz="2400" dirty="0"/>
                  <a:t>Thông tin về vùng biểu diễn (XLB, XUB, YLB, YUB)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vi-VN" sz="2400" dirty="0"/>
                  <a:t>Nút gốc (root) : XLB = 0, XUB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vi-VN" sz="2400" dirty="0"/>
                  <a:t>, YLB = 0, YUB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EE7280-083A-799B-5FF8-FEADFEA20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2" y="3158574"/>
                <a:ext cx="8519922" cy="2321405"/>
              </a:xfrm>
              <a:prstGeom prst="rect">
                <a:avLst/>
              </a:prstGeom>
              <a:blipFill>
                <a:blip r:embed="rId2"/>
                <a:stretch>
                  <a:fillRect l="-930" t="-1837" r="-72" b="-5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378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6AF2-0588-6EE9-C506-ED79A9B9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B962-0A57-E46A-11D4-AED17C68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MX-Quadtrees</a:t>
            </a:r>
            <a:endParaRPr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AA114-68C2-892A-E732-9CF264D64305}"/>
              </a:ext>
            </a:extLst>
          </p:cNvPr>
          <p:cNvSpPr txBox="1"/>
          <p:nvPr/>
        </p:nvSpPr>
        <p:spPr>
          <a:xfrm>
            <a:off x="284390" y="1120676"/>
            <a:ext cx="65453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(…):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/>
              <a:t>Các </a:t>
            </a:r>
            <a:r>
              <a:rPr lang="en-US" sz="2400" dirty="0" err="1"/>
              <a:t>nút</a:t>
            </a:r>
            <a:r>
              <a:rPr lang="en-US" sz="2400" dirty="0"/>
              <a:t> con </a:t>
            </a:r>
            <a:r>
              <a:rPr lang="en-US" sz="2400" dirty="0" err="1"/>
              <a:t>của</a:t>
            </a:r>
            <a:r>
              <a:rPr lang="en-US" sz="2400" dirty="0"/>
              <a:t> N (</a:t>
            </a:r>
            <a:r>
              <a:rPr lang="en-US" sz="2400" dirty="0" err="1"/>
              <a:t>với</a:t>
            </a:r>
            <a:r>
              <a:rPr lang="en-US" sz="2400" dirty="0"/>
              <a:t> w=N.XUB –N.XLB):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42E5871-F5A8-303A-B495-8D85076003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9884035"/>
                  </p:ext>
                </p:extLst>
              </p:nvPr>
            </p:nvGraphicFramePr>
            <p:xfrm>
              <a:off x="1483074" y="2964716"/>
              <a:ext cx="8128000" cy="3009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07091214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21465102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29762282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6243463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17383690"/>
                        </a:ext>
                      </a:extLst>
                    </a:gridCol>
                  </a:tblGrid>
                  <a:tr h="33629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Child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XUB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YUB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5763453"/>
                      </a:ext>
                    </a:extLst>
                  </a:tr>
                  <a:tr h="43119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N.YLB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​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6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N.YLB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​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9161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​ 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N.YLB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6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N.YLB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​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0789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 + 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6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N.YLB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​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6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N.YLB + w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1935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​ 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 + 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N.YLB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N.YLB 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5523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42E5871-F5A8-303A-B495-8D85076003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9884035"/>
                  </p:ext>
                </p:extLst>
              </p:nvPr>
            </p:nvGraphicFramePr>
            <p:xfrm>
              <a:off x="1483074" y="2964716"/>
              <a:ext cx="8128000" cy="3009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07091214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21465102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29762282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6243463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1738369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Child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XUB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YUB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5763453"/>
                      </a:ext>
                    </a:extLst>
                  </a:tr>
                  <a:tr h="72961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128" t="-54167" r="-202256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54167" r="-101498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54167" r="-1498" b="-2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161508"/>
                      </a:ext>
                    </a:extLst>
                  </a:tr>
                  <a:tr h="72961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128" t="-154167" r="-202256" b="-1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N.YLB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54167" r="-1498" b="-1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0789008"/>
                      </a:ext>
                    </a:extLst>
                  </a:tr>
                  <a:tr h="72961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254167" r="-301124" b="-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 + 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254167" r="-101498" b="-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6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N.YLB + w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1935323"/>
                      </a:ext>
                    </a:extLst>
                  </a:tr>
                  <a:tr h="45529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566667" r="-301124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N.XLB + 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566667" r="-101498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566667" r="-1498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552371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4C44B2F-06FC-8CE1-B158-EF4769EE2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317822"/>
              </p:ext>
            </p:extLst>
          </p:nvPr>
        </p:nvGraphicFramePr>
        <p:xfrm>
          <a:off x="8654169" y="1037273"/>
          <a:ext cx="2917613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5560">
                  <a:extLst>
                    <a:ext uri="{9D8B030D-6E8A-4147-A177-3AD203B41FA5}">
                      <a16:colId xmlns:a16="http://schemas.microsoft.com/office/drawing/2014/main" val="1387485116"/>
                    </a:ext>
                  </a:extLst>
                </a:gridCol>
                <a:gridCol w="1612053">
                  <a:extLst>
                    <a:ext uri="{9D8B030D-6E8A-4147-A177-3AD203B41FA5}">
                      <a16:colId xmlns:a16="http://schemas.microsoft.com/office/drawing/2014/main" val="1573980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1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882433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7E0C65FD-FC2C-FA86-6F62-ED475A4A1A6D}"/>
              </a:ext>
            </a:extLst>
          </p:cNvPr>
          <p:cNvGrpSpPr/>
          <p:nvPr/>
        </p:nvGrpSpPr>
        <p:grpSpPr>
          <a:xfrm>
            <a:off x="7650368" y="883384"/>
            <a:ext cx="1003801" cy="1186440"/>
            <a:chOff x="7650368" y="883384"/>
            <a:chExt cx="1003801" cy="118644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DADD74-0086-35B8-C3B9-1794570EE6B2}"/>
                </a:ext>
              </a:extLst>
            </p:cNvPr>
            <p:cNvSpPr txBox="1"/>
            <p:nvPr/>
          </p:nvSpPr>
          <p:spPr>
            <a:xfrm>
              <a:off x="8000888" y="883384"/>
              <a:ext cx="5645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YUB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E1ACDF-6B6B-113F-6EDE-7EA4765F4BC2}"/>
                </a:ext>
              </a:extLst>
            </p:cNvPr>
            <p:cNvSpPr txBox="1"/>
            <p:nvPr/>
          </p:nvSpPr>
          <p:spPr>
            <a:xfrm>
              <a:off x="7650368" y="1340584"/>
              <a:ext cx="10038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YLB + w/2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852D9B-58B2-924F-1E1F-76C1516D95EC}"/>
                </a:ext>
              </a:extLst>
            </p:cNvPr>
            <p:cNvSpPr txBox="1"/>
            <p:nvPr/>
          </p:nvSpPr>
          <p:spPr>
            <a:xfrm>
              <a:off x="7953881" y="176204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YLB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290C62E-9E85-904E-DBF9-904C6E2B74BA}"/>
              </a:ext>
            </a:extLst>
          </p:cNvPr>
          <p:cNvGrpSpPr/>
          <p:nvPr/>
        </p:nvGrpSpPr>
        <p:grpSpPr>
          <a:xfrm>
            <a:off x="8592922" y="1955673"/>
            <a:ext cx="3261147" cy="322338"/>
            <a:chOff x="8592922" y="1955673"/>
            <a:chExt cx="3261147" cy="32233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25E66D-21C6-F706-58E3-0C99927409B0}"/>
                </a:ext>
              </a:extLst>
            </p:cNvPr>
            <p:cNvSpPr txBox="1"/>
            <p:nvPr/>
          </p:nvSpPr>
          <p:spPr>
            <a:xfrm>
              <a:off x="8592922" y="1968097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XLB</a:t>
              </a:r>
              <a:endParaRPr lang="en-US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D74A9F-EF88-DF9A-059F-AE43C964523D}"/>
                </a:ext>
              </a:extLst>
            </p:cNvPr>
            <p:cNvSpPr txBox="1"/>
            <p:nvPr/>
          </p:nvSpPr>
          <p:spPr>
            <a:xfrm>
              <a:off x="9611074" y="1955673"/>
              <a:ext cx="10038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XLB + w/2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95CB76-7E29-D01E-9834-0E148622448C}"/>
                </a:ext>
              </a:extLst>
            </p:cNvPr>
            <p:cNvSpPr txBox="1"/>
            <p:nvPr/>
          </p:nvSpPr>
          <p:spPr>
            <a:xfrm>
              <a:off x="11289491" y="1970234"/>
              <a:ext cx="5645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XUB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84697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BF79-662D-CC02-284E-813725E5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A82D-E6B6-4F3B-E0A9-5EC13381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MX-Quadtrees: Insert</a:t>
            </a:r>
            <a:endParaRPr sz="2800" dirty="0"/>
          </a:p>
        </p:txBody>
      </p:sp>
      <p:sp>
        <p:nvSpPr>
          <p:cNvPr id="6" name="AutoShape 2" descr="Hình ảnh về ">
            <a:extLst>
              <a:ext uri="{FF2B5EF4-FFF2-40B4-BE49-F238E27FC236}">
                <a16:creationId xmlns:a16="http://schemas.microsoft.com/office/drawing/2014/main" id="{DDD30DB8-D467-FDFE-70B8-94D2DA153A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E88DE5-03E8-DD7A-456F-50DC5AFD9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036" y="838443"/>
            <a:ext cx="4134427" cy="84784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134809-2889-8AFA-3DFE-FA23D55EF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9319"/>
              </p:ext>
            </p:extLst>
          </p:nvPr>
        </p:nvGraphicFramePr>
        <p:xfrm>
          <a:off x="1339850" y="989949"/>
          <a:ext cx="28067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root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7CBD00-9D85-55F7-0C22-3348AD901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077335"/>
              </p:ext>
            </p:extLst>
          </p:nvPr>
        </p:nvGraphicFramePr>
        <p:xfrm>
          <a:off x="252513" y="3858535"/>
          <a:ext cx="28067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B (60,20)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4EED4C3-4448-9B43-6A3A-0109B5152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736181"/>
              </p:ext>
            </p:extLst>
          </p:nvPr>
        </p:nvGraphicFramePr>
        <p:xfrm>
          <a:off x="252513" y="2232559"/>
          <a:ext cx="28067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BBD0C1-166D-1933-7B54-D94E492A4ACB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655863" y="1568450"/>
            <a:ext cx="103087" cy="66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6AC3E0-0484-2C5B-4AF4-8CF7D871E27A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1655863" y="2851150"/>
            <a:ext cx="312637" cy="1007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4B23A09-3BE9-52DE-932E-7EB6F3444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712" y="2048236"/>
            <a:ext cx="3835788" cy="295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71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361A-C8B0-F0B7-5369-A7A4481C4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F275-0217-94E8-DE2C-DC90F9E0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MX-Quadtrees: Insert</a:t>
            </a:r>
            <a:endParaRPr sz="2800" dirty="0"/>
          </a:p>
        </p:txBody>
      </p:sp>
      <p:sp>
        <p:nvSpPr>
          <p:cNvPr id="6" name="AutoShape 2" descr="Hình ảnh về ">
            <a:extLst>
              <a:ext uri="{FF2B5EF4-FFF2-40B4-BE49-F238E27FC236}">
                <a16:creationId xmlns:a16="http://schemas.microsoft.com/office/drawing/2014/main" id="{9DE9B86F-18CC-28A1-79CC-A13C5F25E6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276680-880E-F143-DDFA-D527658AB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336" y="798216"/>
            <a:ext cx="4134427" cy="84784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88C8100-0F0E-6E11-B111-63C5D312390C}"/>
              </a:ext>
            </a:extLst>
          </p:cNvPr>
          <p:cNvGraphicFramePr>
            <a:graphicFrameLocks noGrp="1"/>
          </p:cNvGraphicFramePr>
          <p:nvPr/>
        </p:nvGraphicFramePr>
        <p:xfrm>
          <a:off x="1339850" y="989949"/>
          <a:ext cx="28067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root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86574DA-743B-ECAB-B691-D9051E3B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03611"/>
              </p:ext>
            </p:extLst>
          </p:nvPr>
        </p:nvGraphicFramePr>
        <p:xfrm>
          <a:off x="252513" y="3858535"/>
          <a:ext cx="28067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B (60,20)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7724B2A-DE1B-5E67-DFA1-644AA8C5B4E9}"/>
              </a:ext>
            </a:extLst>
          </p:cNvPr>
          <p:cNvGraphicFramePr>
            <a:graphicFrameLocks noGrp="1"/>
          </p:cNvGraphicFramePr>
          <p:nvPr/>
        </p:nvGraphicFramePr>
        <p:xfrm>
          <a:off x="252513" y="2232559"/>
          <a:ext cx="28067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30B33D-8201-AABD-E09B-130833CC6AC6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655863" y="1568450"/>
            <a:ext cx="103087" cy="66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D0E5F2-4947-D487-41D9-A237FCFF0C6E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1655863" y="2851150"/>
            <a:ext cx="312637" cy="1007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46BD8E-493F-05B0-AC43-1C59C2CBF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08558"/>
              </p:ext>
            </p:extLst>
          </p:nvPr>
        </p:nvGraphicFramePr>
        <p:xfrm>
          <a:off x="3243363" y="2232559"/>
          <a:ext cx="28067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C3BA283-3475-8CD0-E332-77EF3A10F32C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3822700" y="1568450"/>
            <a:ext cx="824013" cy="66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FA1E2D-81B9-9F5C-B8A1-2164C7933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575564"/>
              </p:ext>
            </p:extLst>
          </p:nvPr>
        </p:nvGraphicFramePr>
        <p:xfrm>
          <a:off x="3581012" y="3809382"/>
          <a:ext cx="28067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(40,50)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036423-6D08-6EC6-2532-0BE99ECBA682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984362" y="2851150"/>
            <a:ext cx="6738" cy="95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9954DB2F-FEDB-9D7C-C2FD-E09957089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413" y="1900504"/>
            <a:ext cx="4230213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836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10507-81A5-4216-37BE-59B2B171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8E1D-B221-3259-A21F-64EFE2BB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MX-Quadtrees: Delete</a:t>
            </a:r>
            <a:endParaRPr sz="2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7CA2D7-0EEC-004C-B386-E35FF4102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629282"/>
              </p:ext>
            </p:extLst>
          </p:nvPr>
        </p:nvGraphicFramePr>
        <p:xfrm>
          <a:off x="1200538" y="1097899"/>
          <a:ext cx="2806700" cy="746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375301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root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29F5144-CCA2-2EA0-20C2-C583DD1BA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192208"/>
              </p:ext>
            </p:extLst>
          </p:nvPr>
        </p:nvGraphicFramePr>
        <p:xfrm>
          <a:off x="113201" y="3966485"/>
          <a:ext cx="28067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B (60,20)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BC0BB0-3688-B137-7D34-E131B36BC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41352"/>
              </p:ext>
            </p:extLst>
          </p:nvPr>
        </p:nvGraphicFramePr>
        <p:xfrm>
          <a:off x="113201" y="2340509"/>
          <a:ext cx="28067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ECF462-A4E6-8DEE-CAB3-26C32BFAF050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516551" y="1676400"/>
            <a:ext cx="103087" cy="66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4992C9-B783-0691-1A22-5729A1DCB2D1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1516551" y="2959100"/>
            <a:ext cx="312637" cy="1007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B4B642-4CC1-71F3-79CE-F612C0C4D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843184"/>
              </p:ext>
            </p:extLst>
          </p:nvPr>
        </p:nvGraphicFramePr>
        <p:xfrm>
          <a:off x="3104051" y="2340509"/>
          <a:ext cx="28067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125566-65C8-9FD8-E4A0-051F501E909D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3683388" y="1676400"/>
            <a:ext cx="824013" cy="66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0736B4-34DE-6C99-68BA-7E4B87328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538426"/>
              </p:ext>
            </p:extLst>
          </p:nvPr>
        </p:nvGraphicFramePr>
        <p:xfrm>
          <a:off x="3441700" y="3917332"/>
          <a:ext cx="28067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55005538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38919969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3164167904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5045777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(40,50)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121548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025A9D-8C6B-8E16-E222-78A5355FA7A4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845050" y="2959100"/>
            <a:ext cx="6738" cy="95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C8D3D0-D74C-BB1E-0A3D-43052BDEB27E}"/>
              </a:ext>
            </a:extLst>
          </p:cNvPr>
          <p:cNvGrpSpPr/>
          <p:nvPr/>
        </p:nvGrpSpPr>
        <p:grpSpPr>
          <a:xfrm>
            <a:off x="6571151" y="1254024"/>
            <a:ext cx="6964463" cy="2914650"/>
            <a:chOff x="361950" y="965200"/>
            <a:chExt cx="6964463" cy="29146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F11654-E58A-8ABE-DA86-1F16D70805DF}"/>
                </a:ext>
              </a:extLst>
            </p:cNvPr>
            <p:cNvSpPr txBox="1"/>
            <p:nvPr/>
          </p:nvSpPr>
          <p:spPr>
            <a:xfrm>
              <a:off x="361950" y="965200"/>
              <a:ext cx="55626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vi-VN" sz="2400" dirty="0"/>
                <a:t>Tất cả các điểm được biểu diễn bởi nút lá</a:t>
              </a:r>
              <a:endParaRPr lang="en-US" sz="2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 err="1"/>
                <a:t>Nếu</a:t>
              </a:r>
              <a:r>
                <a:rPr lang="en-US" sz="2400" dirty="0"/>
                <a:t> N </a:t>
              </a:r>
              <a:r>
                <a:rPr lang="en-US" sz="2400" dirty="0" err="1"/>
                <a:t>là</a:t>
              </a:r>
              <a:r>
                <a:rPr lang="en-US" sz="2400" dirty="0"/>
                <a:t> </a:t>
              </a:r>
              <a:r>
                <a:rPr lang="en-US" sz="2400" dirty="0" err="1"/>
                <a:t>nút</a:t>
              </a:r>
              <a:r>
                <a:rPr lang="en-US" sz="2400" dirty="0"/>
                <a:t> </a:t>
              </a:r>
              <a:r>
                <a:rPr lang="en-US" sz="2400" dirty="0" err="1"/>
                <a:t>trong</a:t>
              </a:r>
              <a:r>
                <a:rPr lang="en-US" sz="2400" dirty="0"/>
                <a:t> </a:t>
              </a:r>
              <a:r>
                <a:rPr lang="en-US" sz="2400" dirty="0" err="1"/>
                <a:t>của</a:t>
              </a:r>
              <a:r>
                <a:rPr lang="en-US" sz="2400" dirty="0"/>
                <a:t> </a:t>
              </a:r>
              <a:r>
                <a:rPr lang="en-US" sz="2400" dirty="0" err="1"/>
                <a:t>cây</a:t>
              </a:r>
              <a:r>
                <a:rPr lang="en-US" sz="2400" dirty="0"/>
                <a:t> MX-quadtree, </a:t>
              </a:r>
              <a:r>
                <a:rPr lang="en-US" sz="2400" dirty="0" err="1"/>
                <a:t>thì</a:t>
              </a:r>
              <a:r>
                <a:rPr lang="en-US" sz="2400" dirty="0"/>
                <a:t> </a:t>
              </a:r>
              <a:r>
                <a:rPr lang="en-US" sz="2400" dirty="0" err="1"/>
                <a:t>vùng</a:t>
              </a:r>
              <a:r>
                <a:rPr lang="en-US" sz="2400" dirty="0"/>
                <a:t> </a:t>
              </a:r>
              <a:r>
                <a:rPr lang="en-US" sz="2400" dirty="0" err="1"/>
                <a:t>biểu</a:t>
              </a:r>
              <a:r>
                <a:rPr lang="en-US" sz="2400" dirty="0"/>
                <a:t> </a:t>
              </a:r>
              <a:r>
                <a:rPr lang="en-US" sz="2400" dirty="0" err="1"/>
                <a:t>diễn</a:t>
              </a:r>
              <a:r>
                <a:rPr lang="en-US" sz="2400" dirty="0"/>
                <a:t> </a:t>
              </a:r>
              <a:r>
                <a:rPr lang="en-US" sz="2400" dirty="0" err="1"/>
                <a:t>bởi</a:t>
              </a:r>
              <a:r>
                <a:rPr lang="en-US" sz="2400" dirty="0"/>
                <a:t> N </a:t>
              </a:r>
              <a:r>
                <a:rPr lang="en-US" sz="2400" dirty="0" err="1"/>
                <a:t>chứa</a:t>
              </a:r>
              <a:r>
                <a:rPr lang="en-US" sz="2400" dirty="0"/>
                <a:t> </a:t>
              </a:r>
              <a:r>
                <a:rPr lang="en-US" sz="2400" dirty="0" err="1"/>
                <a:t>ít</a:t>
              </a:r>
              <a:r>
                <a:rPr lang="en-US" sz="2400" dirty="0"/>
                <a:t> </a:t>
              </a:r>
              <a:r>
                <a:rPr lang="en-US" sz="2400" dirty="0" err="1"/>
                <a:t>nhất</a:t>
              </a:r>
              <a:r>
                <a:rPr lang="en-US" sz="2400" dirty="0"/>
                <a:t> 1 </a:t>
              </a:r>
              <a:r>
                <a:rPr lang="en-US" sz="2400" dirty="0" err="1"/>
                <a:t>điểm</a:t>
              </a:r>
              <a:r>
                <a:rPr lang="en-US" sz="2400" dirty="0"/>
                <a:t> </a:t>
              </a:r>
              <a:r>
                <a:rPr lang="en-US" sz="2400" dirty="0" err="1"/>
                <a:t>dữ</a:t>
              </a:r>
              <a:r>
                <a:rPr lang="en-US" sz="2400" dirty="0"/>
                <a:t> </a:t>
              </a:r>
              <a:r>
                <a:rPr lang="en-US" sz="2400" dirty="0" err="1"/>
                <a:t>liệu</a:t>
              </a:r>
              <a:endParaRPr lang="en-US" sz="2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AD0391-E413-3384-1C61-D2246FDE7DF8}"/>
                </a:ext>
              </a:extLst>
            </p:cNvPr>
            <p:cNvSpPr txBox="1"/>
            <p:nvPr/>
          </p:nvSpPr>
          <p:spPr>
            <a:xfrm>
              <a:off x="1230413" y="2864187"/>
              <a:ext cx="6096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/>
                <a:t>   </a:t>
              </a:r>
              <a:r>
                <a:rPr lang="en-US" sz="3200" dirty="0"/>
                <a:t>=&gt; </a:t>
              </a:r>
              <a:r>
                <a:rPr lang="en-US" sz="3200" dirty="0" err="1"/>
                <a:t>Xóa</a:t>
              </a:r>
              <a:r>
                <a:rPr lang="en-US" sz="3200" dirty="0"/>
                <a:t> </a:t>
              </a:r>
              <a:r>
                <a:rPr lang="en-US" sz="3200" dirty="0" err="1"/>
                <a:t>dễ</a:t>
              </a:r>
              <a:r>
                <a:rPr lang="en-US" sz="3200" dirty="0"/>
                <a:t> </a:t>
              </a:r>
              <a:r>
                <a:rPr lang="en-US" sz="3200" dirty="0" err="1"/>
                <a:t>dàng</a:t>
              </a:r>
              <a:endParaRPr lang="en-US" sz="3200" dirty="0"/>
            </a:p>
            <a:p>
              <a:r>
                <a:rPr lang="en-US" sz="2800" dirty="0"/>
                <a:t>(</a:t>
              </a:r>
              <a:r>
                <a:rPr lang="en-US" sz="2800" dirty="0" err="1"/>
                <a:t>Độ</a:t>
              </a:r>
              <a:r>
                <a:rPr lang="en-US" sz="2800" dirty="0"/>
                <a:t> </a:t>
              </a:r>
              <a:r>
                <a:rPr lang="en-US" sz="2800" dirty="0" err="1"/>
                <a:t>phức</a:t>
              </a:r>
              <a:r>
                <a:rPr lang="en-US" sz="2800" dirty="0"/>
                <a:t> </a:t>
              </a:r>
              <a:r>
                <a:rPr lang="en-US" sz="2800" dirty="0" err="1"/>
                <a:t>tạp</a:t>
              </a:r>
              <a:r>
                <a:rPr lang="en-US" sz="2800" dirty="0"/>
                <a:t>: O(k)) 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F38F17-36A1-4D05-A9B3-7A6F97935ED5}"/>
              </a:ext>
            </a:extLst>
          </p:cNvPr>
          <p:cNvCxnSpPr>
            <a:cxnSpLocks/>
          </p:cNvCxnSpPr>
          <p:nvPr/>
        </p:nvCxnSpPr>
        <p:spPr>
          <a:xfrm>
            <a:off x="3934496" y="3670479"/>
            <a:ext cx="1687132" cy="138447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9C7B44-71A4-87E9-2EC8-B81222F999DD}"/>
              </a:ext>
            </a:extLst>
          </p:cNvPr>
          <p:cNvCxnSpPr>
            <a:cxnSpLocks/>
          </p:cNvCxnSpPr>
          <p:nvPr/>
        </p:nvCxnSpPr>
        <p:spPr>
          <a:xfrm flipH="1">
            <a:off x="4111115" y="3580327"/>
            <a:ext cx="1396612" cy="159054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B4C649-4013-7AC8-CEBE-C13899306914}"/>
              </a:ext>
            </a:extLst>
          </p:cNvPr>
          <p:cNvSpPr txBox="1"/>
          <p:nvPr/>
        </p:nvSpPr>
        <p:spPr>
          <a:xfrm>
            <a:off x="2603888" y="1604612"/>
            <a:ext cx="6767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nil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F591C28-0DDE-AB08-E2C6-5E1973A4EA90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4778062" y="1973944"/>
            <a:ext cx="1209750" cy="966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008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46968-F831-5624-0408-0EC96DAA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1F0C-3CCB-2CA7-2E84-8644AFF1C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MX-Quadtrees:Truy</a:t>
            </a:r>
            <a:r>
              <a:rPr lang="en-US" sz="2800" dirty="0"/>
              <a:t> </a:t>
            </a:r>
            <a:r>
              <a:rPr lang="en-US" sz="2800" dirty="0" err="1"/>
              <a:t>vấn</a:t>
            </a:r>
            <a:r>
              <a:rPr lang="en-US" sz="2800" dirty="0"/>
              <a:t> </a:t>
            </a:r>
            <a:r>
              <a:rPr lang="en-US" sz="2800" dirty="0" err="1"/>
              <a:t>phạm</a:t>
            </a:r>
            <a:r>
              <a:rPr lang="en-US" sz="2800" dirty="0"/>
              <a:t> vi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37538-9AB3-9FD9-28C2-108A5ACF4539}"/>
              </a:ext>
            </a:extLst>
          </p:cNvPr>
          <p:cNvSpPr txBox="1"/>
          <p:nvPr/>
        </p:nvSpPr>
        <p:spPr>
          <a:xfrm>
            <a:off x="361950" y="965200"/>
            <a:ext cx="78803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Tương tự cây tứ phân dạng điểm 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Điểm khác biệt: </a:t>
            </a:r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400" dirty="0"/>
              <a:t>Kiểm tra 1 điểm có nằm trong phạm vi truy vấn hay không chỉ thực hiện ở mức lá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439BA-DBAD-4D96-F1C8-FE8C8CBC667B}"/>
              </a:ext>
            </a:extLst>
          </p:cNvPr>
          <p:cNvSpPr txBox="1"/>
          <p:nvPr/>
        </p:nvSpPr>
        <p:spPr>
          <a:xfrm>
            <a:off x="361950" y="3023567"/>
            <a:ext cx="88582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/>
              <a:t>MX-Quadtree: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400" dirty="0"/>
              <a:t>Dư nhiều nút nếu phân bố điểm thưa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400" dirty="0"/>
              <a:t>Nếu nhiều hơn 1 điểm mà có trong vùng nhỏ nhất </a:t>
            </a:r>
            <a:r>
              <a:rPr lang="en-US" sz="2400" dirty="0"/>
              <a:t>=&gt; </a:t>
            </a:r>
            <a:r>
              <a:rPr lang="vi-VN" sz="2400" dirty="0"/>
              <a:t>?</a:t>
            </a:r>
          </a:p>
          <a:p>
            <a:r>
              <a:rPr lang="en-US" sz="2400" dirty="0"/>
              <a:t>=&gt; P</a:t>
            </a:r>
            <a:r>
              <a:rPr lang="vi-VN" sz="2400" dirty="0"/>
              <a:t>R-quadtree: biến thể của MX-quadtree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400" dirty="0"/>
              <a:t>Nếu 1 nút chỉ có 1 điểm </a:t>
            </a:r>
            <a:r>
              <a:rPr lang="en-US" sz="2400" dirty="0"/>
              <a:t>=&gt; </a:t>
            </a:r>
            <a:r>
              <a:rPr lang="vi-VN" sz="2400" dirty="0"/>
              <a:t>lưu vào nút đó mà không cần</a:t>
            </a:r>
            <a:r>
              <a:rPr lang="en-US" sz="2400" dirty="0"/>
              <a:t> </a:t>
            </a:r>
            <a:r>
              <a:rPr lang="vi-VN" sz="2400" dirty="0"/>
              <a:t>lưu vào nút lá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400" dirty="0"/>
              <a:t>Chỉ phân chia vùng nếu vùng chứa nhiều hơn 1 điểm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05056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8106-F5A0-6844-796E-1C203BDF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B7D617-D359-697D-4A22-2EBA1CE5BF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r>
              <a:rPr lang="en-US" dirty="0"/>
              <a:t>Vector 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3682F-3DF3-8220-5C0E-34174BA1F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587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3141-EBDF-BA33-2302-8F798E09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315C-AD76-A35D-6A79-A0D6AAFF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Vector Database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D28D0-AAC0-A4AB-A20E-458501FBA9B3}"/>
              </a:ext>
            </a:extLst>
          </p:cNvPr>
          <p:cNvSpPr txBox="1"/>
          <p:nvPr/>
        </p:nvSpPr>
        <p:spPr>
          <a:xfrm>
            <a:off x="195093" y="1160361"/>
            <a:ext cx="70755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/>
              <a:t>Khái niệm</a:t>
            </a:r>
          </a:p>
          <a:p>
            <a:r>
              <a:rPr lang="vi-VN" sz="2400" dirty="0"/>
              <a:t>Vector Database lưu trữ và truy vấn các vector embeddings biểu diễn dữ liệu trong không gian nhiều chiều.</a:t>
            </a:r>
          </a:p>
          <a:p>
            <a:r>
              <a:rPr lang="vi-VN" sz="2400" b="1" dirty="0"/>
              <a:t>Tìm kiếm theo độ tương đồng</a:t>
            </a:r>
          </a:p>
          <a:p>
            <a:r>
              <a:rPr lang="vi-VN" sz="2400" dirty="0"/>
              <a:t>Hệ thống thực hiện tìm kiếm dựa trên khoảng cách cosine hoặc Euclidean giữa các vector.</a:t>
            </a:r>
          </a:p>
          <a:p>
            <a:r>
              <a:rPr lang="vi-VN" sz="2400" b="1" dirty="0"/>
              <a:t>Ứng dụng AI hiện đại</a:t>
            </a:r>
          </a:p>
          <a:p>
            <a:r>
              <a:rPr lang="vi-VN" sz="2400" dirty="0"/>
              <a:t>Vector Database hỗ trợ tìm kiếm ngữ nghĩa, gợi ý, chatbot thông minh và phân tích dữ liệu đa phương tiện.</a:t>
            </a:r>
          </a:p>
          <a:p>
            <a:r>
              <a:rPr lang="vi-VN" sz="2400" b="1" dirty="0"/>
              <a:t>Ưu điểm chính</a:t>
            </a:r>
          </a:p>
          <a:p>
            <a:r>
              <a:rPr lang="vi-VN" sz="2400" dirty="0"/>
              <a:t>Tăng tốc truy vấn và cải thiện độ chính xác trong tìm kiếm thông tin phức tạp và đa dạng.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9AF826-7D4A-B35D-6279-0566ECC8D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207" y="936750"/>
            <a:ext cx="4614363" cy="4984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2A05B3-0E4A-E3AC-BF70-56495A70EB0A}"/>
              </a:ext>
            </a:extLst>
          </p:cNvPr>
          <p:cNvSpPr txBox="1"/>
          <p:nvPr/>
        </p:nvSpPr>
        <p:spPr>
          <a:xfrm>
            <a:off x="8023934" y="592124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Tổng quan về cơ sở dữ liệu vector</a:t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47092-338B-53EB-611A-98ED455B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AAD38-DDD5-BD8C-1320-2ADA685A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Embedding &amp; Vector Dimensions:</a:t>
            </a:r>
            <a:endParaRPr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4545C-FBF1-3561-34CA-E7C1A34FEE33}"/>
              </a:ext>
            </a:extLst>
          </p:cNvPr>
          <p:cNvSpPr txBox="1"/>
          <p:nvPr/>
        </p:nvSpPr>
        <p:spPr>
          <a:xfrm>
            <a:off x="331470" y="1209794"/>
            <a:ext cx="772439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Embedding</a:t>
            </a:r>
            <a:r>
              <a:rPr lang="vi-VN" sz="2400" dirty="0"/>
              <a:t> là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phản</a:t>
            </a:r>
            <a:r>
              <a:rPr lang="en-US" sz="2400" dirty="0"/>
              <a:t> </a:t>
            </a:r>
            <a:r>
              <a:rPr lang="en-US" sz="2400" dirty="0" err="1"/>
              <a:t>ánh</a:t>
            </a:r>
            <a:r>
              <a:rPr lang="en-US" sz="2400" dirty="0"/>
              <a:t> ý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ngữ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chúng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vi-VN" sz="2400" dirty="0"/>
              <a:t>.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Vector Dimensions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(features)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vector dung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đặc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,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</a:t>
            </a:r>
            <a:r>
              <a:rPr lang="en-US" sz="2400" dirty="0" err="1"/>
              <a:t>dưới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/>
              <a:t>Số chiều càng nhiều, embedding càng chính xác nhưng chi phí tính toán cao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1" name="Picture 10" descr="A diagram of embedding and cat and knife&#10;&#10;AI-generated content may be incorrect.">
            <a:extLst>
              <a:ext uri="{FF2B5EF4-FFF2-40B4-BE49-F238E27FC236}">
                <a16:creationId xmlns:a16="http://schemas.microsoft.com/office/drawing/2014/main" id="{87E91346-DDC6-AB56-BB8D-E0D9DA7A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80" r="17761"/>
          <a:stretch>
            <a:fillRect/>
          </a:stretch>
        </p:blipFill>
        <p:spPr>
          <a:xfrm>
            <a:off x="8311896" y="1344168"/>
            <a:ext cx="3282696" cy="364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86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EA61-2926-C716-890D-4A89D1AEB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6C03-374C-D0A0-FEF5-3709C080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độ</a:t>
            </a:r>
            <a:r>
              <a:rPr lang="en-US" sz="2800" dirty="0"/>
              <a:t>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đồng</a:t>
            </a:r>
            <a:r>
              <a:rPr lang="en-US" sz="2800" dirty="0"/>
              <a:t> (Distance Metrics)</a:t>
            </a:r>
            <a:endParaRPr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679B8-1C4E-1A4D-A492-94005C5308FC}"/>
              </a:ext>
            </a:extLst>
          </p:cNvPr>
          <p:cNvSpPr txBox="1"/>
          <p:nvPr/>
        </p:nvSpPr>
        <p:spPr>
          <a:xfrm>
            <a:off x="599260" y="901973"/>
            <a:ext cx="9523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Cosine Similarity : </a:t>
            </a:r>
            <a:r>
              <a:rPr lang="en-US" sz="2400" dirty="0" err="1"/>
              <a:t>Đo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vector,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dài</a:t>
            </a:r>
            <a:r>
              <a:rPr lang="en-US" sz="2400" dirty="0"/>
              <a:t>.</a:t>
            </a:r>
          </a:p>
        </p:txBody>
      </p:sp>
      <p:pic>
        <p:nvPicPr>
          <p:cNvPr id="13" name="Picture 12" descr="A mathematical equation with numbers and symbols">
            <a:extLst>
              <a:ext uri="{FF2B5EF4-FFF2-40B4-BE49-F238E27FC236}">
                <a16:creationId xmlns:a16="http://schemas.microsoft.com/office/drawing/2014/main" id="{2FB7B3B6-966A-96D8-73FA-6C0CA77D4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47" y="1714542"/>
            <a:ext cx="2972215" cy="7906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2C13E7-788C-BCB4-8297-71726C64A5D6}"/>
              </a:ext>
            </a:extLst>
          </p:cNvPr>
          <p:cNvSpPr txBox="1"/>
          <p:nvPr/>
        </p:nvSpPr>
        <p:spPr>
          <a:xfrm>
            <a:off x="599260" y="2891930"/>
            <a:ext cx="9733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Euclidean Distance: </a:t>
            </a:r>
            <a:r>
              <a:rPr lang="en-US" sz="2400" dirty="0" err="1"/>
              <a:t>Đo</a:t>
            </a:r>
            <a:r>
              <a:rPr lang="en-US" sz="2400" dirty="0"/>
              <a:t> </a:t>
            </a:r>
            <a:r>
              <a:rPr lang="en-US" sz="2400" dirty="0" err="1"/>
              <a:t>khoảng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tế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.</a:t>
            </a:r>
          </a:p>
        </p:txBody>
      </p:sp>
      <p:pic>
        <p:nvPicPr>
          <p:cNvPr id="17" name="Picture 1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FD51E701-77B2-C0F7-CFDA-8E4C9748F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203" y="3722927"/>
            <a:ext cx="2525701" cy="9990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F597C4-2C9E-3555-1FB0-A9827114608F}"/>
              </a:ext>
            </a:extLst>
          </p:cNvPr>
          <p:cNvSpPr txBox="1"/>
          <p:nvPr/>
        </p:nvSpPr>
        <p:spPr>
          <a:xfrm>
            <a:off x="4488162" y="1708226"/>
            <a:ext cx="5451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sz="1600" dirty="0"/>
              <a:t>Giá trị từ -1 đến 1 (1 = giống hệt, 0 = không liên quan).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vi-VN" sz="1600" dirty="0"/>
              <a:t>Thích hợp cho dữ liệu văn bản vì hướng vector quan trọng hơn độ lớn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7AC2A0-9988-0AC0-EA05-A62983AEADE0}"/>
              </a:ext>
            </a:extLst>
          </p:cNvPr>
          <p:cNvSpPr txBox="1"/>
          <p:nvPr/>
        </p:nvSpPr>
        <p:spPr>
          <a:xfrm>
            <a:off x="5053999" y="3768588"/>
            <a:ext cx="44892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vi-VN" sz="1600" dirty="0"/>
              <a:t>Giá trị càng nhỏ → càng giống nhau.</a:t>
            </a:r>
            <a:endParaRPr lang="en-US" sz="16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vi-VN" sz="1600" dirty="0"/>
              <a:t>Thường dùng cho dữ liệu hình ảnh hoặc khi độ lớn vector có ý nghĩa.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2FC5EC-368B-E7BA-CC9E-7F75070EA534}"/>
              </a:ext>
            </a:extLst>
          </p:cNvPr>
          <p:cNvSpPr txBox="1"/>
          <p:nvPr/>
        </p:nvSpPr>
        <p:spPr>
          <a:xfrm>
            <a:off x="524238" y="5149774"/>
            <a:ext cx="9733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đo</a:t>
            </a:r>
            <a:r>
              <a:rPr lang="en-US" sz="2400" dirty="0"/>
              <a:t> Manhattan Distance (</a:t>
            </a:r>
            <a:r>
              <a:rPr lang="en-US" sz="2400" dirty="0" err="1"/>
              <a:t>thích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lưới</a:t>
            </a:r>
            <a:r>
              <a:rPr lang="en-US" sz="2400" dirty="0"/>
              <a:t>) </a:t>
            </a:r>
            <a:r>
              <a:rPr lang="en-US" sz="2400" dirty="0" err="1"/>
              <a:t>và</a:t>
            </a:r>
            <a:r>
              <a:rPr lang="en-US" sz="2400" dirty="0"/>
              <a:t> Dot Product (</a:t>
            </a:r>
            <a:r>
              <a:rPr lang="en-US" sz="2400" dirty="0" err="1"/>
              <a:t>thường</a:t>
            </a:r>
            <a:r>
              <a:rPr lang="en-US" sz="2400" dirty="0"/>
              <a:t> dung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sâu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4270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3845-163D-3AC7-CE9B-5DC75328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D85BEB-5DF7-5E59-E12C-4A731A5FFD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r>
              <a:rPr lang="en-US" dirty="0"/>
              <a:t>Tìm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lân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xấp</a:t>
            </a:r>
            <a:r>
              <a:rPr lang="en-US" dirty="0"/>
              <a:t> </a:t>
            </a:r>
            <a:r>
              <a:rPr lang="en-US" dirty="0" err="1"/>
              <a:t>xỉ</a:t>
            </a:r>
            <a:r>
              <a:rPr lang="en-US" dirty="0"/>
              <a:t> (Approximate Nearest Neighbor Search)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FA6E8-0CE8-8289-5037-F9A2915B6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18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5B19-4B88-B338-DE37-DF43DBC6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80C3-4522-A2D5-E569-6C90F247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ANN Search</a:t>
            </a:r>
            <a:endParaRPr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D0FD9-431B-3AA6-563F-166E3877A79F}"/>
              </a:ext>
            </a:extLst>
          </p:cNvPr>
          <p:cNvSpPr txBox="1"/>
          <p:nvPr/>
        </p:nvSpPr>
        <p:spPr>
          <a:xfrm>
            <a:off x="524238" y="1063591"/>
            <a:ext cx="585601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 err="1"/>
              <a:t>Khái</a:t>
            </a:r>
            <a:r>
              <a:rPr lang="en-US" sz="2000" b="1" dirty="0"/>
              <a:t> </a:t>
            </a:r>
            <a:r>
              <a:rPr lang="en-US" sz="2000" b="1" dirty="0" err="1"/>
              <a:t>niệm</a:t>
            </a:r>
            <a:r>
              <a:rPr lang="en-US" sz="2000" b="1" dirty="0"/>
              <a:t> ANN</a:t>
            </a:r>
            <a:r>
              <a:rPr lang="en-US" sz="2000" dirty="0"/>
              <a:t>​ </a:t>
            </a:r>
            <a:r>
              <a:rPr lang="en-US" sz="2000" b="1" dirty="0"/>
              <a:t>Search</a:t>
            </a:r>
          </a:p>
          <a:p>
            <a:pPr fontAlgn="base"/>
            <a:r>
              <a:rPr lang="vi-VN" sz="2000" dirty="0"/>
              <a:t>ANN</a:t>
            </a:r>
            <a:r>
              <a:rPr lang="en-US" sz="2000" dirty="0"/>
              <a:t> Search </a:t>
            </a:r>
            <a:r>
              <a:rPr lang="en-US" sz="2000" dirty="0" err="1"/>
              <a:t>là</a:t>
            </a:r>
            <a:r>
              <a:rPr lang="vi-VN" sz="2000" dirty="0"/>
              <a:t> tìm kiếm điểm gần nhất trong không gian nhiều chiều mà không cần kết quả chính xác tuyệt đối.​</a:t>
            </a:r>
            <a:r>
              <a:rPr lang="en-US" sz="2000" dirty="0"/>
              <a:t> </a:t>
            </a:r>
          </a:p>
          <a:p>
            <a:pPr fontAlgn="base"/>
            <a:r>
              <a:rPr lang="vi-VN" sz="2000" b="1" dirty="0"/>
              <a:t>Ưu điểm hiệu suất</a:t>
            </a:r>
            <a:r>
              <a:rPr lang="en-US" sz="2000" dirty="0"/>
              <a:t>​</a:t>
            </a:r>
          </a:p>
          <a:p>
            <a:pPr fontAlgn="base"/>
            <a:r>
              <a:rPr lang="en-US" sz="2000" dirty="0"/>
              <a:t>ANN </a:t>
            </a:r>
            <a:r>
              <a:rPr lang="en-US" sz="2000" dirty="0" err="1"/>
              <a:t>giảm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</a:t>
            </a:r>
            <a:r>
              <a:rPr lang="en-US" sz="2000" dirty="0" err="1"/>
              <a:t>gian</a:t>
            </a:r>
            <a:r>
              <a:rPr lang="en-US" sz="2000" dirty="0"/>
              <a:t>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nhờ</a:t>
            </a:r>
            <a:r>
              <a:rPr lang="en-US" sz="2000" dirty="0"/>
              <a:t>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gần</a:t>
            </a:r>
            <a:r>
              <a:rPr lang="en-US" sz="2000" dirty="0"/>
              <a:t> </a:t>
            </a:r>
            <a:r>
              <a:rPr lang="en-US" sz="2000" dirty="0" err="1"/>
              <a:t>đúng</a:t>
            </a:r>
            <a:r>
              <a:rPr lang="en-US" sz="2000" dirty="0"/>
              <a:t>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vì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toàn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endParaRPr lang="en-US" sz="2000" dirty="0"/>
          </a:p>
          <a:p>
            <a:pPr fontAlgn="base"/>
            <a:r>
              <a:rPr lang="en-US" sz="2000" b="1" dirty="0" err="1"/>
              <a:t>Ứng</a:t>
            </a:r>
            <a:r>
              <a:rPr lang="en-US" sz="2000" b="1" dirty="0"/>
              <a:t> </a:t>
            </a:r>
            <a:r>
              <a:rPr lang="en-US" sz="2000" b="1" dirty="0" err="1"/>
              <a:t>dụng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tế</a:t>
            </a:r>
            <a:r>
              <a:rPr lang="en-US" sz="2000" dirty="0"/>
              <a:t>​</a:t>
            </a:r>
          </a:p>
          <a:p>
            <a:pPr fontAlgn="base"/>
            <a:r>
              <a:rPr lang="en-US" sz="2000" dirty="0"/>
              <a:t>ANN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NLP,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kiếm</a:t>
            </a:r>
            <a:r>
              <a:rPr lang="en-US" sz="2000" dirty="0"/>
              <a:t> </a:t>
            </a:r>
            <a:r>
              <a:rPr lang="en-US" sz="2000" dirty="0" err="1"/>
              <a:t>ảnh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thống</a:t>
            </a:r>
            <a:r>
              <a:rPr lang="en-US" sz="2000" dirty="0"/>
              <a:t> </a:t>
            </a:r>
            <a:r>
              <a:rPr lang="en-US" sz="2000" dirty="0" err="1"/>
              <a:t>gợi</a:t>
            </a:r>
            <a:r>
              <a:rPr lang="en-US" sz="2000" dirty="0"/>
              <a:t> ý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lớn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vector </a:t>
            </a: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r>
              <a:rPr lang="en-US" sz="2000" dirty="0"/>
              <a:t>.​</a:t>
            </a:r>
          </a:p>
          <a:p>
            <a:pPr fontAlgn="base"/>
            <a:r>
              <a:rPr lang="en-US" sz="2000" b="1" dirty="0" err="1"/>
              <a:t>Thuật</a:t>
            </a:r>
            <a:r>
              <a:rPr lang="en-US" sz="2000" b="1" dirty="0"/>
              <a:t> </a:t>
            </a:r>
            <a:r>
              <a:rPr lang="en-US" sz="2000" b="1" dirty="0" err="1"/>
              <a:t>toán</a:t>
            </a:r>
            <a:r>
              <a:rPr lang="en-US" sz="2000" b="1" dirty="0"/>
              <a:t> </a:t>
            </a:r>
            <a:r>
              <a:rPr lang="en-US" sz="2000" b="1" dirty="0" err="1"/>
              <a:t>phổ</a:t>
            </a:r>
            <a:r>
              <a:rPr lang="en-US" sz="2000" b="1" dirty="0"/>
              <a:t> </a:t>
            </a:r>
            <a:r>
              <a:rPr lang="en-US" sz="2000" b="1" dirty="0" err="1"/>
              <a:t>biến</a:t>
            </a:r>
            <a:r>
              <a:rPr lang="en-US" sz="2000" dirty="0"/>
              <a:t>​</a:t>
            </a:r>
          </a:p>
          <a:p>
            <a:pPr fontAlgn="base"/>
            <a:r>
              <a:rPr lang="en-US" sz="2000" dirty="0"/>
              <a:t>Các </a:t>
            </a:r>
            <a:r>
              <a:rPr lang="en-US" sz="2000" dirty="0" err="1"/>
              <a:t>thuật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ANN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hashing, </a:t>
            </a:r>
            <a:r>
              <a:rPr lang="en-US" sz="2000" dirty="0" err="1"/>
              <a:t>cây</a:t>
            </a:r>
            <a:r>
              <a:rPr lang="en-US" sz="2000" dirty="0"/>
              <a:t>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vùng</a:t>
            </a:r>
            <a:r>
              <a:rPr lang="en-US" sz="2000" dirty="0"/>
              <a:t>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đồ</a:t>
            </a:r>
            <a:r>
              <a:rPr lang="en-US" sz="2000" dirty="0"/>
              <a:t> </a:t>
            </a:r>
            <a:r>
              <a:rPr lang="en-US" sz="2000" dirty="0" err="1"/>
              <a:t>thị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tăng</a:t>
            </a:r>
            <a:r>
              <a:rPr lang="en-US" sz="2000" dirty="0"/>
              <a:t> </a:t>
            </a:r>
            <a:r>
              <a:rPr lang="en-US" sz="2000" dirty="0" err="1"/>
              <a:t>tốc</a:t>
            </a:r>
            <a:r>
              <a:rPr lang="en-US" sz="2000" dirty="0"/>
              <a:t> </a:t>
            </a:r>
            <a:r>
              <a:rPr lang="en-US" sz="2000" dirty="0" err="1"/>
              <a:t>truy</a:t>
            </a:r>
            <a:r>
              <a:rPr lang="en-US" sz="2000" dirty="0"/>
              <a:t> </a:t>
            </a:r>
            <a:r>
              <a:rPr lang="en-US" sz="2000" dirty="0" err="1"/>
              <a:t>vấn</a:t>
            </a:r>
            <a:r>
              <a:rPr lang="en-US" sz="2000" dirty="0"/>
              <a:t>.​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2569E3-8546-B9B0-C4ED-0A5899EC9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879" y="1216152"/>
            <a:ext cx="4734513" cy="366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924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376C-2FC2-94B5-3B28-72EE8F0F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8FFAD-DB87-2908-735F-4B583F56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ANN Search</a:t>
            </a:r>
            <a:endParaRPr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D2CE9-6EE1-CC0E-3E9C-94BBB5070CA1}"/>
              </a:ext>
            </a:extLst>
          </p:cNvPr>
          <p:cNvSpPr txBox="1"/>
          <p:nvPr/>
        </p:nvSpPr>
        <p:spPr>
          <a:xfrm>
            <a:off x="524238" y="1063591"/>
            <a:ext cx="58560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/>
              <a:t>Chi </a:t>
            </a:r>
            <a:r>
              <a:rPr lang="en-US" sz="2400" b="1" dirty="0" err="1"/>
              <a:t>phí</a:t>
            </a:r>
            <a:r>
              <a:rPr lang="en-US" sz="2400" b="1" dirty="0"/>
              <a:t> </a:t>
            </a:r>
            <a:r>
              <a:rPr lang="en-US" sz="2400" b="1" dirty="0" err="1"/>
              <a:t>tính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</a:t>
            </a:r>
            <a:r>
              <a:rPr lang="en-US" sz="2400" b="1" dirty="0" err="1"/>
              <a:t>cao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k-NN</a:t>
            </a:r>
            <a:r>
              <a:rPr lang="en-US" sz="2400" dirty="0"/>
              <a:t>​</a:t>
            </a:r>
          </a:p>
          <a:p>
            <a:pPr fontAlgn="base"/>
            <a:r>
              <a:rPr lang="vi-VN" sz="2400" dirty="0"/>
              <a:t>Thuật toán k-NN tính khoảng cách đến tất cả điểm dữ liệu, gây tốn nhiều chi phí tính toán khi dữ liệu lớn hoặc chiều cao.​</a:t>
            </a:r>
          </a:p>
          <a:p>
            <a:pPr fontAlgn="base"/>
            <a:r>
              <a:rPr lang="vi-VN" sz="2400" b="1" dirty="0"/>
              <a:t>Ưu thế tốc độ của ANN</a:t>
            </a:r>
            <a:r>
              <a:rPr lang="en-US" sz="2400" dirty="0"/>
              <a:t>​</a:t>
            </a:r>
          </a:p>
          <a:p>
            <a:pPr fontAlgn="base"/>
            <a:r>
              <a:rPr lang="en-US" sz="2400" dirty="0"/>
              <a:t>ANN hy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đạt</a:t>
            </a:r>
            <a:r>
              <a:rPr lang="en-US" sz="2400" dirty="0"/>
              <a:t> </a:t>
            </a:r>
            <a:r>
              <a:rPr lang="en-US" sz="2400" dirty="0" err="1"/>
              <a:t>tốc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vượt</a:t>
            </a:r>
            <a:r>
              <a:rPr lang="en-US" sz="2400" dirty="0"/>
              <a:t> </a:t>
            </a:r>
            <a:r>
              <a:rPr lang="en-US" sz="2400" dirty="0" err="1"/>
              <a:t>trội</a:t>
            </a:r>
            <a:r>
              <a:rPr lang="en-US" sz="2400" dirty="0"/>
              <a:t>,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.​</a:t>
            </a:r>
          </a:p>
          <a:p>
            <a:pPr fontAlgn="base"/>
            <a:r>
              <a:rPr lang="en-US" sz="2400" b="1" dirty="0" err="1"/>
              <a:t>Mở</a:t>
            </a:r>
            <a:r>
              <a:rPr lang="en-US" sz="2400" b="1" dirty="0"/>
              <a:t> </a:t>
            </a:r>
            <a:r>
              <a:rPr lang="en-US" sz="2400" b="1" dirty="0" err="1"/>
              <a:t>rộng</a:t>
            </a:r>
            <a:r>
              <a:rPr lang="en-US" sz="2400" b="1" dirty="0"/>
              <a:t> </a:t>
            </a:r>
            <a:r>
              <a:rPr lang="en-US" sz="2400" b="1" dirty="0" err="1"/>
              <a:t>quy</a:t>
            </a:r>
            <a:r>
              <a:rPr lang="en-US" sz="2400" b="1" dirty="0"/>
              <a:t>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 </a:t>
            </a:r>
            <a:r>
              <a:rPr lang="en-US" sz="2400" b="1" dirty="0" err="1"/>
              <a:t>thống</a:t>
            </a:r>
            <a:r>
              <a:rPr lang="en-US" sz="2400" dirty="0"/>
              <a:t>​</a:t>
            </a:r>
          </a:p>
          <a:p>
            <a:pPr fontAlgn="base"/>
            <a:r>
              <a:rPr lang="en-US" sz="2400" dirty="0"/>
              <a:t>ANN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triệu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tỷ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nhanh</a:t>
            </a:r>
            <a:r>
              <a:rPr lang="en-US" sz="2400" dirty="0"/>
              <a:t> </a:t>
            </a:r>
            <a:r>
              <a:rPr lang="en-US" sz="2400" dirty="0" err="1"/>
              <a:t>chóng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giảm</a:t>
            </a:r>
            <a:r>
              <a:rPr lang="en-US" sz="2400" dirty="0"/>
              <a:t> </a:t>
            </a:r>
            <a:r>
              <a:rPr lang="en-US" sz="2400" dirty="0" err="1"/>
              <a:t>trải</a:t>
            </a:r>
            <a:r>
              <a:rPr lang="en-US" sz="2400" dirty="0"/>
              <a:t> </a:t>
            </a:r>
            <a:r>
              <a:rPr lang="en-US" sz="2400" dirty="0" err="1"/>
              <a:t>nghiệm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.</a:t>
            </a:r>
          </a:p>
        </p:txBody>
      </p:sp>
      <p:pic>
        <p:nvPicPr>
          <p:cNvPr id="2050" name="Picture 2" descr="Cờ của Liên bang Micronesia trên một máy tính mã nhị phân rơi từ trên xuống và mờ dần.">
            <a:extLst>
              <a:ext uri="{FF2B5EF4-FFF2-40B4-BE49-F238E27FC236}">
                <a16:creationId xmlns:a16="http://schemas.microsoft.com/office/drawing/2014/main" id="{54389BBB-02A4-B6F3-8C9E-25A8E008B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244" y="1264955"/>
            <a:ext cx="4893330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999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08962-C0E9-B68F-A671-9A852B49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9EBB-52D5-4083-1E3B-D5F93985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ANN Search</a:t>
            </a:r>
            <a:endParaRPr sz="2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E1E67F-B1E6-1298-4485-872C52667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838676"/>
              </p:ext>
            </p:extLst>
          </p:nvPr>
        </p:nvGraphicFramePr>
        <p:xfrm>
          <a:off x="632968" y="1460330"/>
          <a:ext cx="81279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871020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16303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78330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Nhóm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thuật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toán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Đặc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điểm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84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Hashing-Based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Dùng hàm băm để nhóm điểm tương tự​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LSH,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MinHash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383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Tree-Based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Chia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không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gian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thành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vùng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tìm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kiếm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nhanh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KD-Tree, Ball Tree​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38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Vector Quantization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Mã hóa vector để giảm kích thước​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Quantization (PQ), Inverted File Index (IVF)​</a:t>
                      </a:r>
                      <a:endParaRPr lang="en-US" b="0" dirty="0"/>
                    </a:p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11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Graph-Based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Xây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dựng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đồ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thị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lân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cận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tìm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kiếm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lam​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HNSW, NSW​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93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Hybrid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Kết hợp nhiều kỹ thuật để tối ưu hiệu suất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FAISS, Annoy​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888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91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3857-EC0E-3F09-B9C2-D5157924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E6A8-A629-E147-506A-ADF38010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Các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tế</a:t>
            </a:r>
            <a:endParaRPr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041980-A752-764B-F7C8-28745C635619}"/>
              </a:ext>
            </a:extLst>
          </p:cNvPr>
          <p:cNvSpPr txBox="1"/>
          <p:nvPr/>
        </p:nvSpPr>
        <p:spPr>
          <a:xfrm>
            <a:off x="444028" y="1074509"/>
            <a:ext cx="969666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/>
              <a:t>Tìm kiếm ảnh và video​</a:t>
            </a:r>
          </a:p>
          <a:p>
            <a:r>
              <a:rPr lang="vi-VN" sz="2000" dirty="0"/>
              <a:t>ANN giúp tìm các đối tượng tương tự trong cơ sở dữ liệu lớn ảnh và video một cách nhanh chóng và chính xác.​</a:t>
            </a:r>
          </a:p>
          <a:p>
            <a:r>
              <a:rPr lang="vi-VN" sz="2400" b="1" dirty="0"/>
              <a:t>Hệ thống gợi ý​</a:t>
            </a:r>
          </a:p>
          <a:p>
            <a:r>
              <a:rPr lang="vi-VN" sz="2000" dirty="0"/>
              <a:t>Ứng dụng ANN trong hệ thống gợi ý sản phẩm hoặc nội dung dựa trên độ tương tự embedding giúp cá nhân hóa trải nghiệm người dùng.​</a:t>
            </a:r>
          </a:p>
          <a:p>
            <a:r>
              <a:rPr lang="vi-VN" sz="2400" b="1" dirty="0"/>
              <a:t>Xử lý ngôn ngữ tự nhiên​</a:t>
            </a:r>
          </a:p>
          <a:p>
            <a:r>
              <a:rPr lang="vi-VN" sz="2000" dirty="0"/>
              <a:t>ANN được sử dụng trong NLP để tìm kiếm embedding từ mô hình ngôn ngữ, hỗ trợ trả lời câu hỏi và tìm văn bản liên quan.​</a:t>
            </a:r>
          </a:p>
          <a:p>
            <a:r>
              <a:rPr lang="vi-VN" sz="2400" b="1" dirty="0"/>
              <a:t>Phân tích dữ liệu lớn​</a:t>
            </a:r>
          </a:p>
          <a:p>
            <a:r>
              <a:rPr lang="vi-VN" sz="2000" dirty="0"/>
              <a:t>Tìm kiếm nhanh các điểm gần nhất bằng ANN giúp tăng tốc các thuật toán clustering và phân loại trong phân tích dữ liệu lớn.​</a:t>
            </a:r>
          </a:p>
          <a:p>
            <a:r>
              <a:rPr lang="vi-VN" sz="2400" b="1" dirty="0"/>
              <a:t>AI thời gian thực​</a:t>
            </a:r>
          </a:p>
          <a:p>
            <a:r>
              <a:rPr lang="vi-VN" sz="2000" dirty="0"/>
              <a:t>ANN hỗ trợ các ứng dụng AI thời gian thực như nhận diện khuôn mặt và tìm kiếm đối tượng trong video với tốc độ phản hồi nhanh.​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7888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2D7D-2916-97CC-D26A-5E5394CC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7E96-4A3A-569D-C0C2-7EBA0AC5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Các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cụ</a:t>
            </a:r>
            <a:r>
              <a:rPr lang="en-US" sz="2800" dirty="0"/>
              <a:t> </a:t>
            </a:r>
            <a:r>
              <a:rPr lang="en-US" sz="2800" dirty="0" err="1"/>
              <a:t>hỗ</a:t>
            </a:r>
            <a:r>
              <a:rPr lang="en-US" sz="2800" dirty="0"/>
              <a:t> </a:t>
            </a:r>
            <a:r>
              <a:rPr lang="en-US" sz="2800" dirty="0" err="1"/>
              <a:t>trợ</a:t>
            </a:r>
            <a:r>
              <a:rPr lang="en-US" sz="2800" dirty="0"/>
              <a:t> ANN</a:t>
            </a:r>
            <a:endParaRPr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91BF8-E094-662C-1C36-42F23D2B2939}"/>
              </a:ext>
            </a:extLst>
          </p:cNvPr>
          <p:cNvSpPr txBox="1"/>
          <p:nvPr/>
        </p:nvSpPr>
        <p:spPr>
          <a:xfrm>
            <a:off x="444028" y="1074509"/>
            <a:ext cx="754782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vi-VN" sz="2400" b="1" dirty="0"/>
              <a:t>Thư viện FAISS</a:t>
            </a:r>
            <a:r>
              <a:rPr lang="en-US" sz="2400" dirty="0"/>
              <a:t>​</a:t>
            </a:r>
          </a:p>
          <a:p>
            <a:pPr fontAlgn="base"/>
            <a:r>
              <a:rPr lang="vi-VN" sz="2000" dirty="0"/>
              <a:t>FAISS được phát triển để tối ưu tìm kiếm vector dense và hỗ trợ GPU giúp tăng hiệu suất xử lý.​</a:t>
            </a:r>
          </a:p>
          <a:p>
            <a:pPr fontAlgn="base"/>
            <a:r>
              <a:rPr lang="vi-VN" sz="2400" b="1" dirty="0"/>
              <a:t>Thư viện Annoy</a:t>
            </a:r>
            <a:r>
              <a:rPr lang="en-US" sz="2400" dirty="0"/>
              <a:t>​</a:t>
            </a:r>
          </a:p>
          <a:p>
            <a:pPr fontAlgn="base"/>
            <a:r>
              <a:rPr lang="en-US" sz="2000" dirty="0"/>
              <a:t>Annoy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cây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chiếu</a:t>
            </a:r>
            <a:r>
              <a:rPr lang="en-US" sz="2000" dirty="0"/>
              <a:t> </a:t>
            </a:r>
            <a:r>
              <a:rPr lang="en-US" sz="2000" dirty="0" err="1"/>
              <a:t>ngẫu</a:t>
            </a:r>
            <a:r>
              <a:rPr lang="en-US" sz="2000" dirty="0"/>
              <a:t> </a:t>
            </a:r>
            <a:r>
              <a:rPr lang="en-US" sz="2000" dirty="0" err="1"/>
              <a:t>nhiên</a:t>
            </a:r>
            <a:r>
              <a:rPr lang="en-US" sz="2000" dirty="0"/>
              <a:t>, </a:t>
            </a:r>
            <a:r>
              <a:rPr lang="en-US" sz="2000" dirty="0" err="1"/>
              <a:t>phù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thống</a:t>
            </a:r>
            <a:r>
              <a:rPr lang="en-US" sz="2000" dirty="0"/>
              <a:t> </a:t>
            </a:r>
            <a:r>
              <a:rPr lang="en-US" sz="2000" dirty="0" err="1"/>
              <a:t>gợi</a:t>
            </a:r>
            <a:r>
              <a:rPr lang="en-US" sz="2000" dirty="0"/>
              <a:t> ý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khả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truy</a:t>
            </a:r>
            <a:r>
              <a:rPr lang="en-US" sz="2000" dirty="0"/>
              <a:t> </a:t>
            </a:r>
            <a:r>
              <a:rPr lang="en-US" sz="2000" dirty="0" err="1"/>
              <a:t>vấn</a:t>
            </a:r>
            <a:r>
              <a:rPr lang="en-US" sz="2000" dirty="0"/>
              <a:t> </a:t>
            </a:r>
            <a:r>
              <a:rPr lang="en-US" sz="2000" dirty="0" err="1"/>
              <a:t>nhanh</a:t>
            </a:r>
            <a:r>
              <a:rPr lang="en-US" sz="2000" dirty="0"/>
              <a:t>.​</a:t>
            </a:r>
          </a:p>
          <a:p>
            <a:pPr fontAlgn="base"/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</a:t>
            </a:r>
            <a:r>
              <a:rPr lang="en-US" sz="2400" b="1" dirty="0" err="1"/>
              <a:t>HNSWlib</a:t>
            </a:r>
            <a:r>
              <a:rPr lang="en-US" sz="2400" dirty="0"/>
              <a:t>​</a:t>
            </a:r>
          </a:p>
          <a:p>
            <a:pPr fontAlgn="base"/>
            <a:r>
              <a:rPr lang="vi-VN" sz="2000" dirty="0"/>
              <a:t>HNSWlib triển khai thuật toán đồ thị HNSW giúp đạt hiệu suất tìm kiếm cao và chính xác.​</a:t>
            </a:r>
          </a:p>
          <a:p>
            <a:pPr fontAlgn="base"/>
            <a:r>
              <a:rPr lang="vi-VN" sz="2400" b="1" dirty="0"/>
              <a:t>Thư viện ScaNN</a:t>
            </a:r>
            <a:r>
              <a:rPr lang="en-US" sz="2400" dirty="0"/>
              <a:t>​</a:t>
            </a:r>
          </a:p>
          <a:p>
            <a:pPr fontAlgn="base"/>
            <a:r>
              <a:rPr lang="en-US" sz="2000" dirty="0" err="1"/>
              <a:t>ScaNN</a:t>
            </a:r>
            <a:r>
              <a:rPr lang="en-US" sz="2000" dirty="0"/>
              <a:t> </a:t>
            </a:r>
            <a:r>
              <a:rPr lang="en-US" sz="2000" dirty="0" err="1"/>
              <a:t>tối</a:t>
            </a:r>
            <a:r>
              <a:rPr lang="en-US" sz="2000" dirty="0"/>
              <a:t> </a:t>
            </a:r>
            <a:r>
              <a:rPr lang="en-US" sz="2000" dirty="0" err="1"/>
              <a:t>ưu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embedding </a:t>
            </a:r>
            <a:r>
              <a:rPr lang="en-US" sz="2000" dirty="0" err="1"/>
              <a:t>trong</a:t>
            </a:r>
            <a:r>
              <a:rPr lang="en-US" sz="2000" dirty="0"/>
              <a:t> NLP, </a:t>
            </a:r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en-US" sz="2000" dirty="0" err="1"/>
              <a:t>cải</a:t>
            </a:r>
            <a:r>
              <a:rPr lang="en-US" sz="2000" dirty="0"/>
              <a:t> </a:t>
            </a:r>
            <a:r>
              <a:rPr lang="en-US" sz="2000" dirty="0" err="1"/>
              <a:t>thiện</a:t>
            </a:r>
            <a:r>
              <a:rPr lang="en-US" sz="2000" dirty="0"/>
              <a:t> </a:t>
            </a:r>
            <a:r>
              <a:rPr lang="en-US" sz="2000" dirty="0" err="1"/>
              <a:t>tốc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truy</a:t>
            </a:r>
            <a:r>
              <a:rPr lang="en-US" sz="2000" dirty="0"/>
              <a:t> </a:t>
            </a:r>
            <a:r>
              <a:rPr lang="en-US" sz="2000" dirty="0" err="1"/>
              <a:t>vấn</a:t>
            </a:r>
            <a:r>
              <a:rPr lang="en-US" sz="2000" dirty="0"/>
              <a:t> ANN.​</a:t>
            </a:r>
          </a:p>
        </p:txBody>
      </p:sp>
    </p:spTree>
    <p:extLst>
      <p:ext uri="{BB962C8B-B14F-4D97-AF65-F5344CB8AC3E}">
        <p14:creationId xmlns:p14="http://schemas.microsoft.com/office/powerpoint/2010/main" val="2168686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C8F0-E84F-0493-998B-609AE1B1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20B0-C851-7168-4F54-46EB85F9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sở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Vector 2025</a:t>
            </a:r>
            <a:endParaRPr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A81F2E-A887-A0E5-F499-C3BF22C1E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569259"/>
              </p:ext>
            </p:extLst>
          </p:nvPr>
        </p:nvGraphicFramePr>
        <p:xfrm>
          <a:off x="524238" y="1387178"/>
          <a:ext cx="10394694" cy="371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6363">
                  <a:extLst>
                    <a:ext uri="{9D8B030D-6E8A-4147-A177-3AD203B41FA5}">
                      <a16:colId xmlns:a16="http://schemas.microsoft.com/office/drawing/2014/main" val="4172060838"/>
                    </a:ext>
                  </a:extLst>
                </a:gridCol>
                <a:gridCol w="1258535">
                  <a:extLst>
                    <a:ext uri="{9D8B030D-6E8A-4147-A177-3AD203B41FA5}">
                      <a16:colId xmlns:a16="http://schemas.microsoft.com/office/drawing/2014/main" val="2115841619"/>
                    </a:ext>
                  </a:extLst>
                </a:gridCol>
                <a:gridCol w="1732449">
                  <a:extLst>
                    <a:ext uri="{9D8B030D-6E8A-4147-A177-3AD203B41FA5}">
                      <a16:colId xmlns:a16="http://schemas.microsoft.com/office/drawing/2014/main" val="1140552104"/>
                    </a:ext>
                  </a:extLst>
                </a:gridCol>
                <a:gridCol w="1732449">
                  <a:extLst>
                    <a:ext uri="{9D8B030D-6E8A-4147-A177-3AD203B41FA5}">
                      <a16:colId xmlns:a16="http://schemas.microsoft.com/office/drawing/2014/main" val="1350611591"/>
                    </a:ext>
                  </a:extLst>
                </a:gridCol>
                <a:gridCol w="1732449">
                  <a:extLst>
                    <a:ext uri="{9D8B030D-6E8A-4147-A177-3AD203B41FA5}">
                      <a16:colId xmlns:a16="http://schemas.microsoft.com/office/drawing/2014/main" val="2206366043"/>
                    </a:ext>
                  </a:extLst>
                </a:gridCol>
                <a:gridCol w="1732449">
                  <a:extLst>
                    <a:ext uri="{9D8B030D-6E8A-4147-A177-3AD203B41FA5}">
                      <a16:colId xmlns:a16="http://schemas.microsoft.com/office/drawing/2014/main" val="1948422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000" b="0" dirty="0" err="1"/>
                        <a:t>Tên</a:t>
                      </a:r>
                      <a:r>
                        <a:rPr lang="en-US" sz="2000" b="0" dirty="0"/>
                        <a:t>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0" dirty="0"/>
                        <a:t>Milvus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0" dirty="0"/>
                        <a:t>Pinecone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 err="1">
                          <a:effectLst/>
                        </a:rPr>
                        <a:t>Weaviate</a:t>
                      </a:r>
                      <a:endParaRPr lang="en-US" sz="2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 err="1">
                          <a:effectLst/>
                        </a:rPr>
                        <a:t>Qdrant</a:t>
                      </a:r>
                      <a:endParaRPr lang="en-US" sz="2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Vespa</a:t>
                      </a:r>
                      <a:endParaRPr lang="en-US" sz="2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005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000" b="0" dirty="0" err="1"/>
                        <a:t>Đặc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điểm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nổi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bật</a:t>
                      </a:r>
                      <a:endParaRPr lang="en-US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 err="1">
                          <a:effectLst/>
                        </a:rPr>
                        <a:t>Mã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nguồn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mở</a:t>
                      </a:r>
                      <a:r>
                        <a:rPr lang="en-US" sz="2000" b="0" dirty="0">
                          <a:effectLst/>
                        </a:rPr>
                        <a:t>, </a:t>
                      </a:r>
                      <a:r>
                        <a:rPr lang="en-US" sz="2000" b="0" dirty="0" err="1">
                          <a:effectLst/>
                        </a:rPr>
                        <a:t>hiệu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suất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cao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SaaS, </a:t>
                      </a:r>
                      <a:r>
                        <a:rPr lang="en-US" sz="2000" b="0" dirty="0" err="1">
                          <a:effectLst/>
                        </a:rPr>
                        <a:t>dễ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tích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hợp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với</a:t>
                      </a:r>
                      <a:r>
                        <a:rPr lang="en-US" sz="2000" b="0" dirty="0">
                          <a:effectLst/>
                        </a:rPr>
                        <a:t> LLM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 err="1">
                          <a:effectLst/>
                        </a:rPr>
                        <a:t>Tích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hợp</a:t>
                      </a:r>
                      <a:r>
                        <a:rPr lang="en-US" sz="2000" b="0" dirty="0">
                          <a:effectLst/>
                        </a:rPr>
                        <a:t> AI, </a:t>
                      </a:r>
                      <a:r>
                        <a:rPr lang="en-US" sz="2000" b="0" dirty="0" err="1">
                          <a:effectLst/>
                        </a:rPr>
                        <a:t>hỗ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trợ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GraphQL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vi-VN" sz="2000" b="0" dirty="0">
                          <a:effectLst/>
                        </a:rPr>
                        <a:t>Tối ưu cho Rust, hỗ trợ filter</a:t>
                      </a:r>
                      <a:endParaRPr lang="vi-VN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Tìm </a:t>
                      </a:r>
                      <a:r>
                        <a:rPr lang="en-US" sz="2000" b="0" dirty="0" err="1">
                          <a:effectLst/>
                        </a:rPr>
                        <a:t>kiếm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quy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mô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lớn</a:t>
                      </a:r>
                      <a:r>
                        <a:rPr lang="en-US" sz="2000" b="0" dirty="0">
                          <a:effectLst/>
                        </a:rPr>
                        <a:t>, </a:t>
                      </a:r>
                      <a:r>
                        <a:rPr lang="en-US" sz="2000" b="0" dirty="0" err="1">
                          <a:effectLst/>
                        </a:rPr>
                        <a:t>tích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hợp</a:t>
                      </a:r>
                      <a:r>
                        <a:rPr lang="en-US" sz="2000" b="0" dirty="0">
                          <a:effectLst/>
                        </a:rPr>
                        <a:t> ML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898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000" b="0" dirty="0" err="1"/>
                        <a:t>Chỉ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mục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hỗ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trợ</a:t>
                      </a:r>
                      <a:endParaRPr lang="en-US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IVF, HNSW, PQ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HNSW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HNSW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HNSW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HNSW + custom indexing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890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000" b="0" dirty="0" err="1"/>
                        <a:t>Ứng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dụng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chính</a:t>
                      </a:r>
                      <a:endParaRPr lang="en-US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Tìm </a:t>
                      </a:r>
                      <a:r>
                        <a:rPr lang="en-US" sz="2000" b="0" dirty="0" err="1">
                          <a:effectLst/>
                        </a:rPr>
                        <a:t>kiếm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ngữ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nghĩa</a:t>
                      </a:r>
                      <a:r>
                        <a:rPr lang="en-US" sz="2000" b="0" dirty="0">
                          <a:effectLst/>
                        </a:rPr>
                        <a:t>, RAG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Chatbot, </a:t>
                      </a:r>
                      <a:r>
                        <a:rPr lang="en-US" sz="2000" b="0" dirty="0" err="1">
                          <a:effectLst/>
                        </a:rPr>
                        <a:t>gợi</a:t>
                      </a:r>
                      <a:r>
                        <a:rPr lang="en-US" sz="2000" b="0" dirty="0">
                          <a:effectLst/>
                        </a:rPr>
                        <a:t> ý </a:t>
                      </a:r>
                      <a:r>
                        <a:rPr lang="en-US" sz="2000" b="0" dirty="0" err="1">
                          <a:effectLst/>
                        </a:rPr>
                        <a:t>sản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phẩm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000" b="0" dirty="0"/>
                        <a:t>Semantic Search, RAG</a:t>
                      </a:r>
                      <a:endParaRPr lang="en-US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AI Search, </a:t>
                      </a:r>
                      <a:r>
                        <a:rPr lang="en-US" sz="2000" b="0" dirty="0" err="1">
                          <a:effectLst/>
                        </a:rPr>
                        <a:t>phân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tích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dữ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liệu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effectLst/>
                        </a:rPr>
                        <a:t>E-commerce, </a:t>
                      </a:r>
                      <a:r>
                        <a:rPr lang="en-US" sz="2000" b="0" dirty="0" err="1">
                          <a:effectLst/>
                        </a:rPr>
                        <a:t>quảng</a:t>
                      </a:r>
                      <a:r>
                        <a:rPr lang="en-US" sz="2000" b="0" dirty="0">
                          <a:effectLst/>
                        </a:rPr>
                        <a:t> </a:t>
                      </a:r>
                      <a:r>
                        <a:rPr lang="en-US" sz="2000" b="0" dirty="0" err="1">
                          <a:effectLst/>
                        </a:rPr>
                        <a:t>cáo</a:t>
                      </a:r>
                      <a:endParaRPr lang="en-US" sz="2000" b="0" i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235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800603"/>
      </p:ext>
    </p:extLst>
  </p:cSld>
  <p:clrMapOvr>
    <a:masterClrMapping/>
  </p:clrMapOvr>
</p:sld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A1FCA969-387E-4DB4-9551-88DE0367AE2C}"/>
    </a:ext>
  </a:extLst>
</a:theme>
</file>

<file path=ppt/theme/theme2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40093B85-BF9A-493F-85B6-14614628567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72A3F9AE759D4CBF721086FD91C11A" ma:contentTypeVersion="15" ma:contentTypeDescription="Create a new document." ma:contentTypeScope="" ma:versionID="b8cc9aecaa936cc4076c70ba6d907fca">
  <xsd:schema xmlns:xsd="http://www.w3.org/2001/XMLSchema" xmlns:xs="http://www.w3.org/2001/XMLSchema" xmlns:p="http://schemas.microsoft.com/office/2006/metadata/properties" xmlns:ns3="9701d860-1e23-4cd5-a542-c4cec101c596" xmlns:ns4="5b57aae8-05e8-43c6-8d87-2f773decbea3" targetNamespace="http://schemas.microsoft.com/office/2006/metadata/properties" ma:root="true" ma:fieldsID="1b7e3cd6709354be47a6e52dd8999337" ns3:_="" ns4:_="">
    <xsd:import namespace="9701d860-1e23-4cd5-a542-c4cec101c596"/>
    <xsd:import namespace="5b57aae8-05e8-43c6-8d87-2f773decbea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1d860-1e23-4cd5-a542-c4cec101c59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57aae8-05e8-43c6-8d87-2f773decbe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b57aae8-05e8-43c6-8d87-2f773decbea3" xsi:nil="true"/>
  </documentManagement>
</p:properties>
</file>

<file path=customXml/itemProps1.xml><?xml version="1.0" encoding="utf-8"?>
<ds:datastoreItem xmlns:ds="http://schemas.openxmlformats.org/officeDocument/2006/customXml" ds:itemID="{C8E62533-A63E-4DDF-BE3F-EB604E8911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125366-4D28-4180-B51C-A91CC5AC3B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01d860-1e23-4cd5-a542-c4cec101c596"/>
    <ds:schemaRef ds:uri="5b57aae8-05e8-43c6-8d87-2f773decbe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6984AD-99B3-4968-B204-2B0B4547A710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5b57aae8-05e8-43c6-8d87-2f773decbea3"/>
    <ds:schemaRef ds:uri="9701d860-1e23-4cd5-a542-c4cec101c596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2f173612-6f45-4520-9df8-32d7ba5f2c44}" enabled="0" method="" siteId="{2f173612-6f45-4520-9df8-32d7ba5f2c4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2793</Words>
  <Application>Microsoft Office PowerPoint</Application>
  <PresentationFormat>Widescreen</PresentationFormat>
  <Paragraphs>377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Bierstadt Display</vt:lpstr>
      <vt:lpstr>Cambria Math</vt:lpstr>
      <vt:lpstr>Courier New</vt:lpstr>
      <vt:lpstr>Segoe UI</vt:lpstr>
      <vt:lpstr>Times New Roman</vt:lpstr>
      <vt:lpstr>Wingdings</vt:lpstr>
      <vt:lpstr>Opening slide</vt:lpstr>
      <vt:lpstr>Body slide</vt:lpstr>
      <vt:lpstr>PowerPoint Presentation</vt:lpstr>
      <vt:lpstr>Mục lục</vt:lpstr>
      <vt:lpstr>PowerPoint Presentation</vt:lpstr>
      <vt:lpstr>K-D trees</vt:lpstr>
      <vt:lpstr>2-D trees</vt:lpstr>
      <vt:lpstr>2-D trees</vt:lpstr>
      <vt:lpstr>Insertion/ Search in 2-D trees</vt:lpstr>
      <vt:lpstr>Deletion in 2-D trees</vt:lpstr>
      <vt:lpstr>Tìm nút thay thế cho nút bị xóa</vt:lpstr>
      <vt:lpstr>Tìm nút thay thế cho nút bị xóa</vt:lpstr>
      <vt:lpstr>Truy vấn phạm vi trên 2-D trees</vt:lpstr>
      <vt:lpstr>2-D trees =&gt; k-D trees</vt:lpstr>
      <vt:lpstr>k-D trees: lưu ý</vt:lpstr>
      <vt:lpstr>PowerPoint Presentation</vt:lpstr>
      <vt:lpstr>Cây tứ phân dạng điểm (Point Quadtrees)</vt:lpstr>
      <vt:lpstr>Cây tứ phân dạng điểm</vt:lpstr>
      <vt:lpstr>Thêm dữ liệu vào cây tứ phân</vt:lpstr>
      <vt:lpstr>Thêm dữ liệu vào cây tứ phân</vt:lpstr>
      <vt:lpstr>Xóa dữ liệu trong cây tứ phân</vt:lpstr>
      <vt:lpstr>Tìm nút thay thế khi xóa nút trong</vt:lpstr>
      <vt:lpstr>Xóa dữ liệu trong cây tứ phân</vt:lpstr>
      <vt:lpstr>Truy vấn phạm vi trên cây tứ phân</vt:lpstr>
      <vt:lpstr>PowerPoint Presentation</vt:lpstr>
      <vt:lpstr>MX-Quadtrees</vt:lpstr>
      <vt:lpstr>MX-Quadtrees</vt:lpstr>
      <vt:lpstr>MX-Quadtrees: Insert</vt:lpstr>
      <vt:lpstr>MX-Quadtrees: Insert</vt:lpstr>
      <vt:lpstr>MX-Quadtrees: Delete</vt:lpstr>
      <vt:lpstr>MX-Quadtrees:Truy vấn phạm vi</vt:lpstr>
      <vt:lpstr>PowerPoint Presentation</vt:lpstr>
      <vt:lpstr>Vector Database</vt:lpstr>
      <vt:lpstr>Embedding &amp; Vector Dimensions:</vt:lpstr>
      <vt:lpstr>Xác định độ tương đồng (Distance Metrics)</vt:lpstr>
      <vt:lpstr>PowerPoint Presentation</vt:lpstr>
      <vt:lpstr>ANN Search</vt:lpstr>
      <vt:lpstr>ANN Search</vt:lpstr>
      <vt:lpstr>ANN Search</vt:lpstr>
      <vt:lpstr>Các ứng dụng thực tế</vt:lpstr>
      <vt:lpstr>Các công cụ hỗ trợ ANN</vt:lpstr>
      <vt:lpstr>Cơ sở dữ liệu Vector 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Hai Ngo</dc:creator>
  <cp:lastModifiedBy>Hung. Nguyen Viet - CMC ATI</cp:lastModifiedBy>
  <cp:revision>57</cp:revision>
  <dcterms:created xsi:type="dcterms:W3CDTF">2025-04-30T14:15:42Z</dcterms:created>
  <dcterms:modified xsi:type="dcterms:W3CDTF">2025-12-12T04:36:47Z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0x010100E672A3F9AE759D4CBF721086FD91C11A</vt:lpwstr>
  </property>
</Properties>
</file>