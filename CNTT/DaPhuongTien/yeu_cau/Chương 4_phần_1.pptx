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2" r:id="rId5"/>
  </p:sldMasterIdLst>
  <p:sldIdLst>
    <p:sldId id="267" r:id="rId6"/>
    <p:sldId id="268" r:id="rId7"/>
    <p:sldId id="270" r:id="rId8"/>
    <p:sldId id="305" r:id="rId9"/>
    <p:sldId id="271" r:id="rId10"/>
    <p:sldId id="272" r:id="rId11"/>
    <p:sldId id="273" r:id="rId12"/>
    <p:sldId id="274" r:id="rId13"/>
    <p:sldId id="275" r:id="rId14"/>
    <p:sldId id="276" r:id="rId15"/>
    <p:sldId id="277" r:id="rId16"/>
    <p:sldId id="286" r:id="rId17"/>
    <p:sldId id="278" r:id="rId18"/>
    <p:sldId id="287" r:id="rId19"/>
    <p:sldId id="279" r:id="rId20"/>
    <p:sldId id="280" r:id="rId21"/>
    <p:sldId id="304" r:id="rId22"/>
    <p:sldId id="281" r:id="rId23"/>
    <p:sldId id="288" r:id="rId24"/>
    <p:sldId id="289" r:id="rId25"/>
    <p:sldId id="306" r:id="rId26"/>
    <p:sldId id="290" r:id="rId27"/>
    <p:sldId id="282" r:id="rId28"/>
    <p:sldId id="291" r:id="rId29"/>
    <p:sldId id="292" r:id="rId30"/>
    <p:sldId id="293" r:id="rId31"/>
    <p:sldId id="283" r:id="rId32"/>
    <p:sldId id="284" r:id="rId33"/>
    <p:sldId id="294" r:id="rId34"/>
    <p:sldId id="295" r:id="rId35"/>
    <p:sldId id="296" r:id="rId36"/>
    <p:sldId id="302" r:id="rId37"/>
    <p:sldId id="297" r:id="rId38"/>
    <p:sldId id="307" r:id="rId39"/>
    <p:sldId id="298" r:id="rId40"/>
    <p:sldId id="299" r:id="rId41"/>
    <p:sldId id="300" r:id="rId42"/>
    <p:sldId id="309" r:id="rId43"/>
    <p:sldId id="30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620112" y="2164702"/>
            <a:ext cx="10800557" cy="2194234"/>
          </a:xfrm>
          <a:prstGeom prst="rect">
            <a:avLst/>
          </a:prstGeom>
        </p:spPr>
        <p:txBody>
          <a:bodyPr/>
          <a:lstStyle>
            <a:lvl1pPr marL="0" indent="0" algn="ctr">
              <a:buNone/>
              <a:defRPr sz="480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620112" y="4433672"/>
            <a:ext cx="10800557" cy="412750"/>
          </a:xfrm>
          <a:prstGeom prst="rect">
            <a:avLst/>
          </a:prstGeom>
        </p:spPr>
        <p:txBody>
          <a:bodyPr/>
          <a:lstStyle>
            <a:lvl1pPr marL="0" indent="0" algn="ctr">
              <a:buNone/>
              <a:defRPr sz="20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9448800" y="6492876"/>
            <a:ext cx="27432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438041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622500" y="1589103"/>
            <a:ext cx="10962859" cy="4572000"/>
          </a:xfrm>
        </p:spPr>
        <p:txBody>
          <a:bodyPr/>
          <a:lstStyle>
            <a:lvl1pPr marL="0" indent="0" algn="l">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2" y="-11424"/>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0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524238" y="19293"/>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571910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2500" y="1597981"/>
            <a:ext cx="10971737" cy="457898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524238" y="19293"/>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36255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2501" y="1597982"/>
            <a:ext cx="10971737" cy="4580877"/>
          </a:xfrm>
        </p:spPr>
        <p:txBody>
          <a:bodyPr/>
          <a:lstStyle>
            <a:lvl1pPr marL="0" indent="0">
              <a:buNone/>
              <a:defRPr sz="2400">
                <a:solidFill>
                  <a:srgbClr val="0070C0"/>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661472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22500" y="1606858"/>
            <a:ext cx="5473500" cy="457010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105942" y="1606858"/>
            <a:ext cx="5473499" cy="457010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09913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2500" y="1603275"/>
            <a:ext cx="5473500" cy="823912"/>
          </a:xfrm>
        </p:spPr>
        <p:txBody>
          <a:bodyPr anchor="b"/>
          <a:lstStyle>
            <a:lvl1pPr marL="0" indent="0">
              <a:buNone/>
              <a:defRPr sz="2400" b="1">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2500" y="2512382"/>
            <a:ext cx="5473499" cy="367728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6001" y="1603275"/>
            <a:ext cx="5473499"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5999" y="2512382"/>
            <a:ext cx="5473500" cy="367728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82766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2431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4935985" y="1606858"/>
            <a:ext cx="6622644" cy="4563122"/>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2500" y="1606859"/>
            <a:ext cx="4008210" cy="4563122"/>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49207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4882718" y="1606859"/>
            <a:ext cx="6675910" cy="4554244"/>
          </a:xfrm>
        </p:spPr>
        <p:txBody>
          <a:bodyPr>
            <a:normAutofit/>
          </a:bodyPr>
          <a:lstStyle>
            <a:lvl1pPr marL="0" indent="0">
              <a:buNone/>
              <a:defRPr sz="2800"/>
            </a:lvl1pPr>
            <a:lvl2pPr marL="457182" indent="0">
              <a:buNone/>
              <a:defRPr sz="2800"/>
            </a:lvl2pPr>
            <a:lvl3pPr marL="914363" indent="0">
              <a:buNone/>
              <a:defRPr sz="2400"/>
            </a:lvl3pPr>
            <a:lvl4pPr marL="1371545" indent="0">
              <a:buNone/>
              <a:defRPr sz="2000"/>
            </a:lvl4pPr>
            <a:lvl5pPr marL="1828727" indent="0">
              <a:buNone/>
              <a:defRPr sz="2000"/>
            </a:lvl5pPr>
            <a:lvl6pPr marL="2285909" indent="0">
              <a:buNone/>
              <a:defRPr sz="2000"/>
            </a:lvl6pPr>
            <a:lvl7pPr marL="2743090" indent="0">
              <a:buNone/>
              <a:defRPr sz="2000"/>
            </a:lvl7pPr>
            <a:lvl8pPr marL="3200272" indent="0">
              <a:buNone/>
              <a:defRPr sz="2000"/>
            </a:lvl8pPr>
            <a:lvl9pPr marL="3657454"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2500" y="1606860"/>
            <a:ext cx="3983272" cy="4554244"/>
          </a:xfrm>
        </p:spPr>
        <p:txBody>
          <a:bodyPr>
            <a:normAutofit/>
          </a:bodyPr>
          <a:lstStyle>
            <a:lvl1pPr marL="0" indent="0">
              <a:buNone/>
              <a:defRPr sz="24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524238" y="10921"/>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192586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2500" y="1597982"/>
            <a:ext cx="10962859"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5179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2500" y="1589103"/>
            <a:ext cx="10962859" cy="45878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4961013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0758" y="693895"/>
            <a:ext cx="2930486" cy="1316138"/>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9448800" y="6477848"/>
            <a:ext cx="27432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254630908"/>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514713" y="23831"/>
            <a:ext cx="9146651" cy="466725"/>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2500" y="1313896"/>
            <a:ext cx="10947000"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9448800" y="6492876"/>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15551" y="128067"/>
            <a:ext cx="1453950" cy="258254"/>
          </a:xfrm>
          <a:prstGeom prst="rect">
            <a:avLst/>
          </a:prstGeom>
        </p:spPr>
      </p:pic>
    </p:spTree>
    <p:extLst>
      <p:ext uri="{BB962C8B-B14F-4D97-AF65-F5344CB8AC3E}">
        <p14:creationId xmlns:p14="http://schemas.microsoft.com/office/powerpoint/2010/main" val="133260952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hf hdr="0" ftr="0"/>
  <p:txStyles>
    <p:titleStyle>
      <a:lvl1pPr algn="l" defTabSz="914363" rtl="0" eaLnBrk="1" latinLnBrk="0" hangingPunct="1">
        <a:lnSpc>
          <a:spcPct val="90000"/>
        </a:lnSpc>
        <a:spcBef>
          <a:spcPct val="0"/>
        </a:spcBef>
        <a:buNone/>
        <a:defRPr sz="2300" b="1" kern="1200" baseline="0">
          <a:solidFill>
            <a:schemeClr val="bg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a:lstStyle/>
          <a:p>
            <a:r>
              <a:rPr lang="en-US" dirty="0" err="1"/>
              <a:t>Chương</a:t>
            </a:r>
            <a:r>
              <a:rPr lang="en-US" dirty="0"/>
              <a:t> 4: </a:t>
            </a:r>
          </a:p>
          <a:p>
            <a:r>
              <a:rPr lang="en-US" dirty="0" err="1"/>
              <a:t>Tìm</a:t>
            </a:r>
            <a:r>
              <a:rPr lang="en-US" dirty="0"/>
              <a:t> </a:t>
            </a:r>
            <a:r>
              <a:rPr lang="en-US" dirty="0" err="1"/>
              <a:t>kiếm</a:t>
            </a:r>
            <a:r>
              <a:rPr lang="en-US" dirty="0"/>
              <a:t> </a:t>
            </a:r>
            <a:r>
              <a:rPr lang="en-US" dirty="0" err="1"/>
              <a:t>dữ</a:t>
            </a:r>
            <a:r>
              <a:rPr lang="en-US" dirty="0"/>
              <a:t> </a:t>
            </a:r>
            <a:r>
              <a:rPr lang="en-US" dirty="0" err="1"/>
              <a:t>liệu</a:t>
            </a:r>
            <a:r>
              <a:rPr lang="en-US" dirty="0"/>
              <a:t> </a:t>
            </a:r>
            <a:r>
              <a:rPr lang="en-US" dirty="0" err="1"/>
              <a:t>văn</a:t>
            </a:r>
            <a:r>
              <a:rPr lang="en-US" dirty="0"/>
              <a:t> </a:t>
            </a:r>
            <a:r>
              <a:rPr lang="en-US" dirty="0" err="1"/>
              <a:t>bản</a:t>
            </a:r>
            <a:endParaRPr lang="en-US" dirty="0"/>
          </a:p>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1</a:t>
            </a:fld>
            <a:endParaRPr lang="en-US" dirty="0">
              <a:solidFill>
                <a:prstClr val="white"/>
              </a:solidFill>
            </a:endParaRPr>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err="1"/>
              <a:t>Mục</a:t>
            </a:r>
            <a:r>
              <a:rPr lang="en-US" sz="2800" dirty="0"/>
              <a:t> </a:t>
            </a:r>
            <a:r>
              <a:rPr lang="en-US" sz="2800" dirty="0" err="1"/>
              <a:t>lục</a:t>
            </a:r>
            <a:endParaRPr sz="2800" dirty="0"/>
          </a:p>
        </p:txBody>
      </p:sp>
      <p:sp>
        <p:nvSpPr>
          <p:cNvPr id="4" name="TextBox 3">
            <a:extLst>
              <a:ext uri="{FF2B5EF4-FFF2-40B4-BE49-F238E27FC236}">
                <a16:creationId xmlns:a16="http://schemas.microsoft.com/office/drawing/2014/main" id="{A3CA1DCC-36BF-5424-1748-DC12B3D63F1A}"/>
              </a:ext>
            </a:extLst>
          </p:cNvPr>
          <p:cNvSpPr txBox="1"/>
          <p:nvPr/>
        </p:nvSpPr>
        <p:spPr>
          <a:xfrm>
            <a:off x="320040" y="751344"/>
            <a:ext cx="6591869" cy="3539430"/>
          </a:xfrm>
          <a:prstGeom prst="rect">
            <a:avLst/>
          </a:prstGeom>
          <a:noFill/>
        </p:spPr>
        <p:txBody>
          <a:bodyPr wrap="none" rtlCol="0">
            <a:spAutoFit/>
          </a:bodyPr>
          <a:lstStyle/>
          <a:p>
            <a:pPr marL="457200" indent="-457200">
              <a:buFont typeface="Arial" panose="020B0604020202020204" pitchFamily="34" charset="0"/>
              <a:buChar char="•"/>
            </a:pPr>
            <a:r>
              <a:rPr lang="vi-VN" sz="2800" dirty="0"/>
              <a:t>Giới thiệu chung</a:t>
            </a:r>
          </a:p>
          <a:p>
            <a:pPr marL="457200" indent="-457200">
              <a:buFont typeface="Arial" panose="020B0604020202020204" pitchFamily="34" charset="0"/>
              <a:buChar char="•"/>
            </a:pPr>
            <a:r>
              <a:rPr lang="vi-VN" sz="2800" dirty="0"/>
              <a:t>Biểu diễn văn bản</a:t>
            </a:r>
          </a:p>
          <a:p>
            <a:pPr marL="914400" lvl="1" indent="-457200">
              <a:buFont typeface="Courier New" panose="02070309020205020404" pitchFamily="49" charset="0"/>
              <a:buChar char="o"/>
            </a:pPr>
            <a:r>
              <a:rPr lang="vi-VN" sz="2800" dirty="0"/>
              <a:t>Chất lượng từ</a:t>
            </a:r>
          </a:p>
          <a:p>
            <a:pPr marL="914400" lvl="1" indent="-457200">
              <a:buFont typeface="Courier New" panose="02070309020205020404" pitchFamily="49" charset="0"/>
              <a:buChar char="o"/>
            </a:pPr>
            <a:r>
              <a:rPr lang="vi-VN" sz="2800" dirty="0"/>
              <a:t>Trọng số từ</a:t>
            </a:r>
          </a:p>
          <a:p>
            <a:pPr marL="457200" indent="-457200">
              <a:buFont typeface="Arial" panose="020B0604020202020204" pitchFamily="34" charset="0"/>
              <a:buChar char="•"/>
            </a:pPr>
            <a:r>
              <a:rPr lang="vi-VN" sz="2800" dirty="0"/>
              <a:t>Đánh chỉ mục (chỉ số hóa) (indexing)</a:t>
            </a:r>
          </a:p>
          <a:p>
            <a:pPr marL="457200" indent="-457200">
              <a:buFont typeface="Arial" panose="020B0604020202020204" pitchFamily="34" charset="0"/>
              <a:buChar char="•"/>
            </a:pPr>
            <a:r>
              <a:rPr lang="vi-VN" sz="2800" dirty="0"/>
              <a:t>Tìm kiếm văn bản (retrieving)</a:t>
            </a:r>
          </a:p>
          <a:p>
            <a:pPr marL="457200" indent="-457200">
              <a:buFont typeface="Arial" panose="020B0604020202020204" pitchFamily="34" charset="0"/>
              <a:buChar char="•"/>
            </a:pPr>
            <a:r>
              <a:rPr lang="vi-VN" sz="2800" dirty="0"/>
              <a:t>Phản hồi thích đáng (relevance feedback)</a:t>
            </a:r>
          </a:p>
          <a:p>
            <a:pPr marL="457200" indent="-457200">
              <a:buFont typeface="Arial" panose="020B0604020202020204" pitchFamily="34" charset="0"/>
              <a:buChar char="•"/>
            </a:pPr>
            <a:r>
              <a:rPr lang="vi-VN" sz="2800" dirty="0"/>
              <a:t>Đánh giá hiệu năng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B0185-D623-9E6B-DE96-5BDBB4683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43D49-6D6C-3CCB-4010-DA5724B90BE7}"/>
              </a:ext>
            </a:extLst>
          </p:cNvPr>
          <p:cNvSpPr>
            <a:spLocks noGrp="1"/>
          </p:cNvSpPr>
          <p:nvPr>
            <p:ph type="title"/>
          </p:nvPr>
        </p:nvSpPr>
        <p:spPr/>
        <p:txBody>
          <a:bodyPr>
            <a:noAutofit/>
          </a:bodyPr>
          <a:lstStyle/>
          <a:p>
            <a:r>
              <a:rPr lang="en-US" sz="2800" dirty="0"/>
              <a:t>Văn </a:t>
            </a:r>
            <a:r>
              <a:rPr lang="en-US" sz="2800" dirty="0" err="1"/>
              <a:t>bản</a:t>
            </a:r>
            <a:endParaRPr sz="2800" dirty="0"/>
          </a:p>
        </p:txBody>
      </p:sp>
      <p:sp>
        <p:nvSpPr>
          <p:cNvPr id="3" name="TextBox 2">
            <a:extLst>
              <a:ext uri="{FF2B5EF4-FFF2-40B4-BE49-F238E27FC236}">
                <a16:creationId xmlns:a16="http://schemas.microsoft.com/office/drawing/2014/main" id="{E4466925-0194-2B87-6109-32C8344D74F0}"/>
              </a:ext>
            </a:extLst>
          </p:cNvPr>
          <p:cNvSpPr txBox="1"/>
          <p:nvPr/>
        </p:nvSpPr>
        <p:spPr>
          <a:xfrm>
            <a:off x="450850" y="1041400"/>
            <a:ext cx="9321800" cy="3785652"/>
          </a:xfrm>
          <a:prstGeom prst="rect">
            <a:avLst/>
          </a:prstGeom>
          <a:noFill/>
        </p:spPr>
        <p:txBody>
          <a:bodyPr wrap="square" rtlCol="0">
            <a:spAutoFit/>
          </a:bodyPr>
          <a:lstStyle/>
          <a:p>
            <a:pPr marL="285750" indent="-285750">
              <a:buFont typeface="Arial" panose="020B0604020202020204" pitchFamily="34" charset="0"/>
              <a:buChar char="•"/>
            </a:pPr>
            <a:r>
              <a:rPr lang="vi-VN" sz="2000" dirty="0"/>
              <a:t>Dữ liệu văn bản:</a:t>
            </a:r>
          </a:p>
          <a:p>
            <a:pPr marL="742950" lvl="1" indent="-285750">
              <a:buFont typeface="Courier New" panose="02070309020205020404" pitchFamily="49" charset="0"/>
              <a:buChar char="o"/>
            </a:pPr>
            <a:r>
              <a:rPr lang="vi-VN" sz="2000" dirty="0"/>
              <a:t>1 tài liệu văn bản là chuỗi các từ</a:t>
            </a:r>
            <a:endParaRPr lang="en-US" sz="2000" dirty="0"/>
          </a:p>
          <a:p>
            <a:pPr lvl="1"/>
            <a:r>
              <a:rPr lang="en-US" sz="2000" i="1" u="sng" dirty="0"/>
              <a:t>‘</a:t>
            </a:r>
            <a:r>
              <a:rPr lang="vi-VN" sz="2000" i="1" u="sng" dirty="0"/>
              <a:t>Tiếng cảnh báo động đất từ điện thoại réo lên, âm thanh chói tai và ma quái ám ảnh bất cứ ai sống ở xứ sở Phù Tang. Chưa kịp định thần, cả căn phòng đã bị nhấc bổng lên rồi lắc mạnh như một chiếc hộp diêm trong tay gã khổng lồ. Những cuốn sách trên kệ lao xuống rào rào, ánh đèn trần chao đảo điên cuồng tạo nên những vệt bóng loang lổ đầy đe dọa</a:t>
            </a:r>
            <a:r>
              <a:rPr lang="en-US" sz="2000" i="1" u="sng" dirty="0"/>
              <a:t>.</a:t>
            </a:r>
            <a:r>
              <a:rPr lang="vi-VN" sz="2000" i="1" u="sng" dirty="0"/>
              <a:t>Đó không đơn thuần là sự rung chuyển, mà là cảm giác không gian xung quanh đang bị bóp nghẹt, khiến hơi thở nghẹn lại nơi cổ họng.</a:t>
            </a:r>
            <a:r>
              <a:rPr lang="en-US" sz="2000" i="1" u="sng" dirty="0"/>
              <a:t>’</a:t>
            </a:r>
            <a:endParaRPr lang="vi-VN" sz="2000" i="1" u="sng" dirty="0"/>
          </a:p>
          <a:p>
            <a:pPr marL="742950" lvl="1" indent="-285750">
              <a:buFont typeface="Courier New" panose="02070309020205020404" pitchFamily="49" charset="0"/>
              <a:buChar char="o"/>
            </a:pPr>
            <a:r>
              <a:rPr lang="vi-VN" sz="2000" dirty="0"/>
              <a:t>Từ đồng nghĩa: coi – xem (hát), coi – giữ - trông (nhà)</a:t>
            </a:r>
          </a:p>
          <a:p>
            <a:pPr marL="742950" lvl="1" indent="-285750">
              <a:buFont typeface="Courier New" panose="02070309020205020404" pitchFamily="49" charset="0"/>
              <a:buChar char="o"/>
            </a:pPr>
            <a:r>
              <a:rPr lang="vi-VN" sz="2000" dirty="0"/>
              <a:t>Từ đa nghĩa: mũi (người), mũi (thuyền, dao, mác)</a:t>
            </a:r>
          </a:p>
          <a:p>
            <a:pPr marL="742950" lvl="1" indent="-285750">
              <a:buFont typeface="Courier New" panose="02070309020205020404" pitchFamily="49" charset="0"/>
              <a:buChar char="o"/>
            </a:pPr>
            <a:r>
              <a:rPr lang="vi-VN" sz="2000" dirty="0"/>
              <a:t>Thứ tự các từ: đi ra – ra đi</a:t>
            </a:r>
          </a:p>
          <a:p>
            <a:pPr marL="285750" indent="-285750">
              <a:buFont typeface="Arial" panose="020B0604020202020204" pitchFamily="34" charset="0"/>
              <a:buChar char="•"/>
            </a:pPr>
            <a:r>
              <a:rPr lang="vi-VN" sz="2000" dirty="0"/>
              <a:t>Tập văn bản: tập các chuỗi</a:t>
            </a:r>
            <a:endParaRPr lang="en-US" sz="2000" dirty="0"/>
          </a:p>
        </p:txBody>
      </p:sp>
    </p:spTree>
    <p:extLst>
      <p:ext uri="{BB962C8B-B14F-4D97-AF65-F5344CB8AC3E}">
        <p14:creationId xmlns:p14="http://schemas.microsoft.com/office/powerpoint/2010/main" val="181899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C57D-D4D0-82C6-C7A8-C59DB29BB1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9E33DB5-53D4-B4C5-7C41-F6389F1E7066}"/>
              </a:ext>
            </a:extLst>
          </p:cNvPr>
          <p:cNvSpPr>
            <a:spLocks noGrp="1"/>
          </p:cNvSpPr>
          <p:nvPr>
            <p:ph type="body" sz="quarter" idx="10"/>
          </p:nvPr>
        </p:nvSpPr>
        <p:spPr>
          <a:xfrm>
            <a:off x="958157" y="2517788"/>
            <a:ext cx="10275686" cy="2194234"/>
          </a:xfrm>
        </p:spPr>
        <p:txBody>
          <a:bodyPr/>
          <a:lstStyle/>
          <a:p>
            <a:r>
              <a:rPr lang="en-US" dirty="0" err="1"/>
              <a:t>Biểu</a:t>
            </a:r>
            <a:r>
              <a:rPr lang="en-US" dirty="0"/>
              <a:t> </a:t>
            </a:r>
            <a:r>
              <a:rPr lang="en-US" dirty="0" err="1"/>
              <a:t>diễn</a:t>
            </a:r>
            <a:r>
              <a:rPr lang="en-US" dirty="0"/>
              <a:t> </a:t>
            </a:r>
            <a:r>
              <a:rPr lang="en-US" dirty="0" err="1"/>
              <a:t>và</a:t>
            </a:r>
            <a:r>
              <a:rPr lang="en-US" dirty="0"/>
              <a:t> </a:t>
            </a:r>
            <a:r>
              <a:rPr lang="en-US" dirty="0" err="1"/>
              <a:t>tìm</a:t>
            </a:r>
            <a:r>
              <a:rPr lang="en-US" dirty="0"/>
              <a:t> </a:t>
            </a:r>
            <a:r>
              <a:rPr lang="en-US" dirty="0" err="1"/>
              <a:t>kiếm</a:t>
            </a:r>
            <a:endParaRPr lang="en-US" dirty="0"/>
          </a:p>
        </p:txBody>
      </p:sp>
      <p:sp>
        <p:nvSpPr>
          <p:cNvPr id="4" name="Slide Number Placeholder 3">
            <a:extLst>
              <a:ext uri="{FF2B5EF4-FFF2-40B4-BE49-F238E27FC236}">
                <a16:creationId xmlns:a16="http://schemas.microsoft.com/office/drawing/2014/main" id="{2B8BC5F7-890B-3EAD-975B-1E0A714CC567}"/>
              </a:ext>
            </a:extLst>
          </p:cNvPr>
          <p:cNvSpPr>
            <a:spLocks noGrp="1"/>
          </p:cNvSpPr>
          <p:nvPr>
            <p:ph type="sldNum" sz="quarter" idx="4"/>
          </p:nvPr>
        </p:nvSpPr>
        <p:spPr/>
        <p:txBody>
          <a:bodyPr/>
          <a:lstStyle/>
          <a:p>
            <a:pPr marL="0" marR="0" lvl="0" indent="0" algn="r" defTabSz="761970" rtl="0" eaLnBrk="1" fontAlgn="auto" latinLnBrk="0" hangingPunct="1">
              <a:lnSpc>
                <a:spcPct val="100000"/>
              </a:lnSpc>
              <a:spcBef>
                <a:spcPts val="0"/>
              </a:spcBef>
              <a:spcAft>
                <a:spcPts val="0"/>
              </a:spcAft>
              <a:buClrTx/>
              <a:buSzTx/>
              <a:buFontTx/>
              <a:buNone/>
              <a:tabLst/>
              <a:defRPr/>
            </a:pPr>
            <a:fld id="{31D26D55-0A22-487A-A687-61FB58A6F16A}" type="slidenum">
              <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76197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38532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ED5EB-83C2-0ED2-3504-192DC9367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39D36-E401-E974-5ECA-F8BFE9B4DE01}"/>
              </a:ext>
            </a:extLst>
          </p:cNvPr>
          <p:cNvSpPr>
            <a:spLocks noGrp="1"/>
          </p:cNvSpPr>
          <p:nvPr>
            <p:ph type="title"/>
          </p:nvPr>
        </p:nvSpPr>
        <p:spPr/>
        <p:txBody>
          <a:bodyPr>
            <a:noAutofit/>
          </a:bodyPr>
          <a:lstStyle/>
          <a:p>
            <a:r>
              <a:rPr lang="en-US" sz="2800" dirty="0" err="1"/>
              <a:t>Tìm</a:t>
            </a:r>
            <a:r>
              <a:rPr lang="en-US" sz="2800" dirty="0"/>
              <a:t> </a:t>
            </a:r>
            <a:r>
              <a:rPr lang="en-US" sz="2800" dirty="0" err="1"/>
              <a:t>kiếm</a:t>
            </a:r>
            <a:r>
              <a:rPr lang="en-US" sz="2800" dirty="0"/>
              <a:t> </a:t>
            </a:r>
            <a:r>
              <a:rPr lang="en-US" sz="2800" dirty="0" err="1"/>
              <a:t>thông</a:t>
            </a:r>
            <a:r>
              <a:rPr lang="en-US" sz="2800" dirty="0"/>
              <a:t> tin </a:t>
            </a:r>
            <a:r>
              <a:rPr lang="en-US" sz="2800" dirty="0" err="1"/>
              <a:t>văn</a:t>
            </a:r>
            <a:r>
              <a:rPr lang="en-US" sz="2800" dirty="0"/>
              <a:t> </a:t>
            </a:r>
            <a:r>
              <a:rPr lang="en-US" sz="2800" dirty="0" err="1"/>
              <a:t>bản</a:t>
            </a:r>
            <a:endParaRPr sz="2800" dirty="0"/>
          </a:p>
        </p:txBody>
      </p:sp>
      <p:pic>
        <p:nvPicPr>
          <p:cNvPr id="4" name="Picture 3">
            <a:extLst>
              <a:ext uri="{FF2B5EF4-FFF2-40B4-BE49-F238E27FC236}">
                <a16:creationId xmlns:a16="http://schemas.microsoft.com/office/drawing/2014/main" id="{177F4A80-A38C-86B2-A043-0B16A4EF76C8}"/>
              </a:ext>
            </a:extLst>
          </p:cNvPr>
          <p:cNvPicPr>
            <a:picLocks noChangeAspect="1"/>
          </p:cNvPicPr>
          <p:nvPr/>
        </p:nvPicPr>
        <p:blipFill>
          <a:blip r:embed="rId2"/>
          <a:stretch>
            <a:fillRect/>
          </a:stretch>
        </p:blipFill>
        <p:spPr>
          <a:xfrm>
            <a:off x="1062972" y="3085922"/>
            <a:ext cx="9354856" cy="2553056"/>
          </a:xfrm>
          <a:prstGeom prst="rect">
            <a:avLst/>
          </a:prstGeom>
        </p:spPr>
      </p:pic>
      <p:sp>
        <p:nvSpPr>
          <p:cNvPr id="5" name="TextBox 4">
            <a:extLst>
              <a:ext uri="{FF2B5EF4-FFF2-40B4-BE49-F238E27FC236}">
                <a16:creationId xmlns:a16="http://schemas.microsoft.com/office/drawing/2014/main" id="{FF2D99A7-87F1-E540-88DC-B8A8980249C6}"/>
              </a:ext>
            </a:extLst>
          </p:cNvPr>
          <p:cNvSpPr txBox="1"/>
          <p:nvPr/>
        </p:nvSpPr>
        <p:spPr>
          <a:xfrm>
            <a:off x="654050" y="1435241"/>
            <a:ext cx="9505950" cy="1200329"/>
          </a:xfrm>
          <a:prstGeom prst="rect">
            <a:avLst/>
          </a:prstGeom>
          <a:noFill/>
        </p:spPr>
        <p:txBody>
          <a:bodyPr wrap="square" rtlCol="0">
            <a:spAutoFit/>
          </a:bodyPr>
          <a:lstStyle/>
          <a:p>
            <a:pPr marL="457200" indent="-457200">
              <a:buFont typeface="Arial" panose="020B0604020202020204" pitchFamily="34" charset="0"/>
              <a:buChar char="•"/>
            </a:pPr>
            <a:r>
              <a:rPr lang="en-US" sz="2400" dirty="0"/>
              <a:t>Cho: 1(</a:t>
            </a:r>
            <a:r>
              <a:rPr lang="en-US" sz="2400" dirty="0" err="1"/>
              <a:t>tập</a:t>
            </a:r>
            <a:r>
              <a:rPr lang="en-US" sz="2400" dirty="0"/>
              <a:t>) </a:t>
            </a:r>
            <a:r>
              <a:rPr lang="en-US" sz="2400" dirty="0" err="1"/>
              <a:t>tài</a:t>
            </a:r>
            <a:r>
              <a:rPr lang="en-US" sz="2400" dirty="0"/>
              <a:t> </a:t>
            </a:r>
            <a:r>
              <a:rPr lang="en-US" sz="2400" dirty="0" err="1"/>
              <a:t>liệu</a:t>
            </a:r>
            <a:r>
              <a:rPr lang="en-US" sz="2400" dirty="0"/>
              <a:t> </a:t>
            </a:r>
            <a:r>
              <a:rPr lang="en-US" sz="2400" dirty="0" err="1"/>
              <a:t>văn</a:t>
            </a:r>
            <a:r>
              <a:rPr lang="en-US" sz="2400" dirty="0"/>
              <a:t> </a:t>
            </a:r>
            <a:r>
              <a:rPr lang="en-US" sz="2400" dirty="0" err="1"/>
              <a:t>bản</a:t>
            </a:r>
            <a:r>
              <a:rPr lang="en-US" sz="2400" dirty="0"/>
              <a:t> (</a:t>
            </a:r>
            <a:r>
              <a:rPr lang="en-US" sz="2400" dirty="0" err="1"/>
              <a:t>từ</a:t>
            </a:r>
            <a:r>
              <a:rPr lang="en-US" sz="2400" dirty="0"/>
              <a:t>, </a:t>
            </a:r>
            <a:r>
              <a:rPr lang="en-US" sz="2400" dirty="0" err="1"/>
              <a:t>câu</a:t>
            </a:r>
            <a:r>
              <a:rPr lang="en-US" sz="2400" dirty="0"/>
              <a:t>, </a:t>
            </a:r>
            <a:r>
              <a:rPr lang="en-US" sz="2400" dirty="0" err="1"/>
              <a:t>đoạn</a:t>
            </a:r>
            <a:r>
              <a:rPr lang="en-US" sz="2400" dirty="0"/>
              <a:t>, </a:t>
            </a:r>
            <a:r>
              <a:rPr lang="en-US" sz="2400" dirty="0" err="1"/>
              <a:t>văn</a:t>
            </a:r>
            <a:r>
              <a:rPr lang="en-US" sz="2400" dirty="0"/>
              <a:t> </a:t>
            </a:r>
            <a:r>
              <a:rPr lang="en-US" sz="2400" dirty="0" err="1"/>
              <a:t>bản</a:t>
            </a:r>
            <a:r>
              <a:rPr lang="en-US" sz="2400" dirty="0"/>
              <a:t>,…)</a:t>
            </a:r>
          </a:p>
          <a:p>
            <a:pPr marL="457200" indent="-457200">
              <a:buFont typeface="Arial" panose="020B0604020202020204" pitchFamily="34" charset="0"/>
              <a:buChar char="•"/>
            </a:pPr>
            <a:r>
              <a:rPr lang="en-US" sz="2400" dirty="0" err="1"/>
              <a:t>Mục</a:t>
            </a:r>
            <a:r>
              <a:rPr lang="en-US" sz="2400" dirty="0"/>
              <a:t> </a:t>
            </a:r>
            <a:r>
              <a:rPr lang="en-US" sz="2400" dirty="0" err="1"/>
              <a:t>tiêu</a:t>
            </a:r>
            <a:r>
              <a:rPr lang="en-US" sz="2400" dirty="0"/>
              <a:t>: </a:t>
            </a:r>
            <a:r>
              <a:rPr lang="en-US" sz="2400" dirty="0" err="1"/>
              <a:t>tìm</a:t>
            </a:r>
            <a:r>
              <a:rPr lang="en-US" sz="2400" dirty="0"/>
              <a:t> </a:t>
            </a:r>
            <a:r>
              <a:rPr lang="en-US" sz="2400" dirty="0" err="1"/>
              <a:t>các</a:t>
            </a:r>
            <a:r>
              <a:rPr lang="en-US" sz="2400" dirty="0"/>
              <a:t> </a:t>
            </a:r>
            <a:r>
              <a:rPr lang="en-US" sz="2400" dirty="0" err="1"/>
              <a:t>tài</a:t>
            </a:r>
            <a:r>
              <a:rPr lang="en-US" sz="2400" dirty="0"/>
              <a:t> </a:t>
            </a:r>
            <a:r>
              <a:rPr lang="en-US" sz="2400" dirty="0" err="1"/>
              <a:t>liệu</a:t>
            </a:r>
            <a:r>
              <a:rPr lang="en-US" sz="2400" dirty="0"/>
              <a:t> </a:t>
            </a:r>
            <a:r>
              <a:rPr lang="en-US" sz="2400" dirty="0" err="1"/>
              <a:t>liên</a:t>
            </a:r>
            <a:r>
              <a:rPr lang="en-US" sz="2400" dirty="0"/>
              <a:t> </a:t>
            </a:r>
            <a:r>
              <a:rPr lang="en-US" sz="2400" dirty="0" err="1"/>
              <a:t>quan</a:t>
            </a:r>
            <a:r>
              <a:rPr lang="en-US" sz="2400" dirty="0"/>
              <a:t> </a:t>
            </a:r>
            <a:r>
              <a:rPr lang="en-US" sz="2400" dirty="0" err="1"/>
              <a:t>đến</a:t>
            </a:r>
            <a:r>
              <a:rPr lang="en-US" sz="2400" dirty="0"/>
              <a:t> </a:t>
            </a:r>
            <a:r>
              <a:rPr lang="en-US" sz="2400" dirty="0" err="1"/>
              <a:t>các</a:t>
            </a:r>
            <a:r>
              <a:rPr lang="en-US" sz="2400" dirty="0"/>
              <a:t> </a:t>
            </a:r>
            <a:r>
              <a:rPr lang="en-US" sz="2400" dirty="0" err="1"/>
              <a:t>tài</a:t>
            </a:r>
            <a:r>
              <a:rPr lang="en-US" sz="2400" dirty="0"/>
              <a:t> </a:t>
            </a:r>
            <a:r>
              <a:rPr lang="en-US" sz="2400" dirty="0" err="1"/>
              <a:t>liệu</a:t>
            </a:r>
            <a:r>
              <a:rPr lang="en-US" sz="2400" dirty="0"/>
              <a:t> </a:t>
            </a:r>
            <a:r>
              <a:rPr lang="en-US" sz="2400" dirty="0" err="1"/>
              <a:t>truy</a:t>
            </a:r>
            <a:r>
              <a:rPr lang="en-US" sz="2400" dirty="0"/>
              <a:t> </a:t>
            </a:r>
            <a:r>
              <a:rPr lang="en-US" sz="2400" dirty="0" err="1"/>
              <a:t>vấn</a:t>
            </a:r>
            <a:r>
              <a:rPr lang="en-US" sz="2400" dirty="0"/>
              <a:t> (</a:t>
            </a:r>
            <a:r>
              <a:rPr lang="en-US" sz="2400" dirty="0" err="1"/>
              <a:t>tài</a:t>
            </a:r>
            <a:r>
              <a:rPr lang="en-US" sz="2400" dirty="0"/>
              <a:t> </a:t>
            </a:r>
            <a:r>
              <a:rPr lang="en-US" sz="2400" dirty="0" err="1"/>
              <a:t>liệu</a:t>
            </a:r>
            <a:r>
              <a:rPr lang="en-US" sz="2400" dirty="0"/>
              <a:t> </a:t>
            </a:r>
            <a:r>
              <a:rPr lang="en-US" sz="2400" dirty="0" err="1"/>
              <a:t>tương</a:t>
            </a:r>
            <a:r>
              <a:rPr lang="en-US" sz="2400" dirty="0"/>
              <a:t> </a:t>
            </a:r>
            <a:r>
              <a:rPr lang="en-US" sz="2400" dirty="0" err="1"/>
              <a:t>tự</a:t>
            </a:r>
            <a:r>
              <a:rPr lang="en-US" sz="2400" dirty="0"/>
              <a:t>)</a:t>
            </a:r>
          </a:p>
        </p:txBody>
      </p:sp>
    </p:spTree>
    <p:extLst>
      <p:ext uri="{BB962C8B-B14F-4D97-AF65-F5344CB8AC3E}">
        <p14:creationId xmlns:p14="http://schemas.microsoft.com/office/powerpoint/2010/main" val="1381028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CEF05-AC66-8FE9-E982-7F1B905DF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C2BBC-937A-5DB9-C509-40DDF6A20981}"/>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và</a:t>
            </a:r>
            <a:r>
              <a:rPr lang="en-US" sz="2800" dirty="0"/>
              <a:t> </a:t>
            </a:r>
            <a:r>
              <a:rPr lang="en-US" sz="2800" dirty="0" err="1"/>
              <a:t>tìm</a:t>
            </a:r>
            <a:r>
              <a:rPr lang="en-US" sz="2800" dirty="0"/>
              <a:t> </a:t>
            </a:r>
            <a:r>
              <a:rPr lang="en-US" sz="2800" dirty="0" err="1"/>
              <a:t>kiếm</a:t>
            </a:r>
            <a:endParaRPr sz="2800" dirty="0"/>
          </a:p>
        </p:txBody>
      </p:sp>
      <p:sp>
        <p:nvSpPr>
          <p:cNvPr id="4" name="TextBox 3">
            <a:extLst>
              <a:ext uri="{FF2B5EF4-FFF2-40B4-BE49-F238E27FC236}">
                <a16:creationId xmlns:a16="http://schemas.microsoft.com/office/drawing/2014/main" id="{F7D724D1-1415-A73B-537A-A485DD4535AF}"/>
              </a:ext>
            </a:extLst>
          </p:cNvPr>
          <p:cNvSpPr txBox="1"/>
          <p:nvPr/>
        </p:nvSpPr>
        <p:spPr>
          <a:xfrm>
            <a:off x="381000" y="923489"/>
            <a:ext cx="8890000" cy="3416320"/>
          </a:xfrm>
          <a:prstGeom prst="rect">
            <a:avLst/>
          </a:prstGeom>
          <a:noFill/>
        </p:spPr>
        <p:txBody>
          <a:bodyPr wrap="square">
            <a:spAutoFit/>
          </a:bodyPr>
          <a:lstStyle/>
          <a:p>
            <a:pPr marL="285750" indent="-285750">
              <a:buFont typeface="Arial" panose="020B0604020202020204" pitchFamily="34" charset="0"/>
              <a:buChar char="•"/>
            </a:pPr>
            <a:r>
              <a:rPr lang="vi-VN" sz="2400" dirty="0"/>
              <a:t>1 tài liệu văn bản là chuỗi các từ, đó có thể:</a:t>
            </a:r>
          </a:p>
          <a:p>
            <a:pPr marL="742950" lvl="1" indent="-285750">
              <a:buFont typeface="Courier New" panose="02070309020205020404" pitchFamily="49" charset="0"/>
              <a:buChar char="o"/>
            </a:pPr>
            <a:r>
              <a:rPr lang="vi-VN" sz="2400" dirty="0"/>
              <a:t>tiêu đề</a:t>
            </a:r>
          </a:p>
          <a:p>
            <a:pPr marL="742950" lvl="1" indent="-285750">
              <a:buFont typeface="Courier New" panose="02070309020205020404" pitchFamily="49" charset="0"/>
              <a:buChar char="o"/>
            </a:pPr>
            <a:r>
              <a:rPr lang="vi-VN" sz="2400" dirty="0"/>
              <a:t>tóm tắt</a:t>
            </a:r>
          </a:p>
          <a:p>
            <a:pPr marL="742950" lvl="1" indent="-285750">
              <a:buFont typeface="Courier New" panose="02070309020205020404" pitchFamily="49" charset="0"/>
              <a:buChar char="o"/>
            </a:pPr>
            <a:r>
              <a:rPr lang="en-US" sz="2400" dirty="0"/>
              <a:t>t</a:t>
            </a:r>
            <a:r>
              <a:rPr lang="vi-VN" sz="2400" dirty="0"/>
              <a:t>oàn bộ nội dung tài liệu</a:t>
            </a:r>
          </a:p>
          <a:p>
            <a:pPr marL="285750" indent="-285750">
              <a:buFont typeface="Arial" panose="020B0604020202020204" pitchFamily="34" charset="0"/>
              <a:buChar char="•"/>
            </a:pPr>
            <a:r>
              <a:rPr lang="vi-VN" sz="2400" dirty="0"/>
              <a:t>CSDL văn bản: tập các chuỗi được chỉ số hóa một</a:t>
            </a:r>
          </a:p>
          <a:p>
            <a:pPr marL="285750" indent="-285750">
              <a:buFont typeface="Arial" panose="020B0604020202020204" pitchFamily="34" charset="0"/>
              <a:buChar char="•"/>
            </a:pPr>
            <a:r>
              <a:rPr lang="vi-VN" sz="2400" dirty="0"/>
              <a:t>cách hợp lý</a:t>
            </a:r>
          </a:p>
          <a:p>
            <a:pPr marL="285750" indent="-285750">
              <a:buFont typeface="Arial" panose="020B0604020202020204" pitchFamily="34" charset="0"/>
              <a:buChar char="•"/>
            </a:pPr>
            <a:r>
              <a:rPr lang="vi-VN" sz="2400" dirty="0"/>
              <a:t>Tìm kiếm: tìm các văn bản trong CSDL có chứa các từ</a:t>
            </a:r>
            <a:r>
              <a:rPr lang="en-US" sz="2400" dirty="0"/>
              <a:t> </a:t>
            </a:r>
            <a:r>
              <a:rPr lang="vi-VN" sz="2400" dirty="0"/>
              <a:t>trong văn bản truy vấn</a:t>
            </a:r>
          </a:p>
          <a:p>
            <a:r>
              <a:rPr lang="en-US" sz="2400" dirty="0"/>
              <a:t>=&gt; </a:t>
            </a:r>
            <a:r>
              <a:rPr lang="vi-VN" sz="2400" dirty="0"/>
              <a:t>Bài toán khớp xâu (string-matching, substring-finding)</a:t>
            </a:r>
            <a:endParaRPr lang="en-US" sz="2400" dirty="0"/>
          </a:p>
        </p:txBody>
      </p:sp>
    </p:spTree>
    <p:extLst>
      <p:ext uri="{BB962C8B-B14F-4D97-AF65-F5344CB8AC3E}">
        <p14:creationId xmlns:p14="http://schemas.microsoft.com/office/powerpoint/2010/main" val="4132758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3D2B-6975-98BF-D984-D7CF03509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47C39-D995-5491-4ACA-9080C78D53AC}"/>
              </a:ext>
            </a:extLst>
          </p:cNvPr>
          <p:cNvSpPr>
            <a:spLocks noGrp="1"/>
          </p:cNvSpPr>
          <p:nvPr>
            <p:ph type="title"/>
          </p:nvPr>
        </p:nvSpPr>
        <p:spPr/>
        <p:txBody>
          <a:bodyPr>
            <a:noAutofit/>
          </a:bodyPr>
          <a:lstStyle/>
          <a:p>
            <a:r>
              <a:rPr lang="en-US" sz="2800" dirty="0" err="1"/>
              <a:t>Ví</a:t>
            </a:r>
            <a:r>
              <a:rPr lang="en-US" sz="2800" dirty="0"/>
              <a:t> </a:t>
            </a:r>
            <a:r>
              <a:rPr lang="en-US" sz="2800" dirty="0" err="1"/>
              <a:t>dụ</a:t>
            </a:r>
            <a:endParaRPr sz="2800"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1955D20-8EA3-7C3A-6F15-90CF08EC37BD}"/>
                  </a:ext>
                </a:extLst>
              </p:cNvPr>
              <p:cNvGraphicFramePr>
                <a:graphicFrameLocks noGrp="1"/>
              </p:cNvGraphicFramePr>
              <p:nvPr>
                <p:extLst>
                  <p:ext uri="{D42A27DB-BD31-4B8C-83A1-F6EECF244321}">
                    <p14:modId xmlns:p14="http://schemas.microsoft.com/office/powerpoint/2010/main" val="456934020"/>
                  </p:ext>
                </p:extLst>
              </p:nvPr>
            </p:nvGraphicFramePr>
            <p:xfrm>
              <a:off x="1422239" y="941916"/>
              <a:ext cx="8128000" cy="4079240"/>
            </p:xfrm>
            <a:graphic>
              <a:graphicData uri="http://schemas.openxmlformats.org/drawingml/2006/table">
                <a:tbl>
                  <a:tblPr firstRow="1" bandRow="1">
                    <a:tableStyleId>{5C22544A-7EE6-4342-B048-85BDC9FD1C3A}</a:tableStyleId>
                  </a:tblPr>
                  <a:tblGrid>
                    <a:gridCol w="1587500">
                      <a:extLst>
                        <a:ext uri="{9D8B030D-6E8A-4147-A177-3AD203B41FA5}">
                          <a16:colId xmlns:a16="http://schemas.microsoft.com/office/drawing/2014/main" val="1138241124"/>
                        </a:ext>
                      </a:extLst>
                    </a:gridCol>
                    <a:gridCol w="6540500">
                      <a:extLst>
                        <a:ext uri="{9D8B030D-6E8A-4147-A177-3AD203B41FA5}">
                          <a16:colId xmlns:a16="http://schemas.microsoft.com/office/drawing/2014/main" val="731405089"/>
                        </a:ext>
                      </a:extLst>
                    </a:gridCol>
                  </a:tblGrid>
                  <a:tr h="370840">
                    <a:tc>
                      <a:txBody>
                        <a:bodyPr/>
                        <a:lstStyle/>
                        <a:p>
                          <a:r>
                            <a:rPr lang="en-US" dirty="0"/>
                            <a:t>Document ID</a:t>
                          </a:r>
                        </a:p>
                      </a:txBody>
                      <a:tcPr/>
                    </a:tc>
                    <a:tc>
                      <a:txBody>
                        <a:bodyPr/>
                        <a:lstStyle/>
                        <a:p>
                          <a:endParaRPr lang="en-US" dirty="0"/>
                        </a:p>
                      </a:txBody>
                      <a:tcPr/>
                    </a:tc>
                    <a:extLst>
                      <a:ext uri="{0D108BD9-81ED-4DB2-BD59-A6C34878D82A}">
                        <a16:rowId xmlns:a16="http://schemas.microsoft.com/office/drawing/2014/main" val="329140258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oMath>
                            </m:oMathPara>
                          </a14:m>
                          <a:endParaRPr lang="en-US" dirty="0"/>
                        </a:p>
                      </a:txBody>
                      <a:tcPr/>
                    </a:tc>
                    <a:tc>
                      <a:txBody>
                        <a:bodyPr/>
                        <a:lstStyle/>
                        <a:p>
                          <a:r>
                            <a:rPr lang="en-US" dirty="0"/>
                            <a:t>Các </a:t>
                          </a:r>
                          <a:r>
                            <a:rPr lang="en-US" dirty="0" err="1"/>
                            <a:t>hoạt</a:t>
                          </a:r>
                          <a:r>
                            <a:rPr lang="en-US" dirty="0"/>
                            <a:t> </a:t>
                          </a:r>
                          <a:r>
                            <a:rPr lang="en-US" dirty="0" err="1"/>
                            <a:t>động</a:t>
                          </a:r>
                          <a:r>
                            <a:rPr lang="en-US" dirty="0"/>
                            <a:t> </a:t>
                          </a:r>
                          <a:r>
                            <a:rPr lang="en-US" dirty="0" err="1"/>
                            <a:t>của</a:t>
                          </a:r>
                          <a:r>
                            <a:rPr lang="en-US" dirty="0"/>
                            <a:t> Jose </a:t>
                          </a:r>
                          <a:r>
                            <a:rPr lang="en-US" dirty="0" err="1"/>
                            <a:t>Orojuelo</a:t>
                          </a:r>
                          <a:r>
                            <a:rPr lang="en-US" dirty="0"/>
                            <a:t> </a:t>
                          </a:r>
                          <a:r>
                            <a:rPr lang="en-US" dirty="0" err="1"/>
                            <a:t>tại</a:t>
                          </a:r>
                          <a:r>
                            <a:rPr lang="en-US" dirty="0"/>
                            <a:t> Bosnia</a:t>
                          </a:r>
                        </a:p>
                      </a:txBody>
                      <a:tcPr/>
                    </a:tc>
                    <a:extLst>
                      <a:ext uri="{0D108BD9-81ED-4DB2-BD59-A6C34878D82A}">
                        <a16:rowId xmlns:a16="http://schemas.microsoft.com/office/drawing/2014/main" val="334143198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oMath>
                            </m:oMathPara>
                          </a14:m>
                          <a:endParaRPr lang="en-US" dirty="0"/>
                        </a:p>
                      </a:txBody>
                      <a:tcPr/>
                    </a:tc>
                    <a:tc>
                      <a:txBody>
                        <a:bodyPr/>
                        <a:lstStyle/>
                        <a:p>
                          <a:pPr>
                            <a:buNone/>
                          </a:pPr>
                          <a:r>
                            <a:rPr lang="en-US" dirty="0" err="1"/>
                            <a:t>Tổ</a:t>
                          </a:r>
                          <a:r>
                            <a:rPr lang="en-US" dirty="0"/>
                            <a:t> </a:t>
                          </a:r>
                          <a:r>
                            <a:rPr lang="en-US" dirty="0" err="1"/>
                            <a:t>chức</a:t>
                          </a:r>
                          <a:r>
                            <a:rPr lang="en-US" dirty="0"/>
                            <a:t> </a:t>
                          </a:r>
                          <a:r>
                            <a:rPr lang="en-US" b="1" dirty="0"/>
                            <a:t>Tài </a:t>
                          </a:r>
                          <a:r>
                            <a:rPr lang="en-US" b="1" dirty="0" err="1"/>
                            <a:t>chính</a:t>
                          </a:r>
                          <a:r>
                            <a:rPr lang="en-US" dirty="0"/>
                            <a:t> </a:t>
                          </a:r>
                          <a:r>
                            <a:rPr lang="en-US" dirty="0" err="1"/>
                            <a:t>của</a:t>
                          </a:r>
                          <a:r>
                            <a:rPr lang="en-US" dirty="0"/>
                            <a:t> </a:t>
                          </a:r>
                          <a:r>
                            <a:rPr lang="en-US" dirty="0" err="1"/>
                            <a:t>Băng</a:t>
                          </a:r>
                          <a:r>
                            <a:rPr lang="en-US" dirty="0"/>
                            <a:t> </a:t>
                          </a:r>
                          <a:r>
                            <a:rPr lang="en-US" dirty="0" err="1"/>
                            <a:t>đảng</a:t>
                          </a:r>
                          <a:r>
                            <a:rPr lang="en-US" dirty="0"/>
                            <a:t> Medellin</a:t>
                          </a:r>
                        </a:p>
                      </a:txBody>
                      <a:tcPr anchor="ctr"/>
                    </a:tc>
                    <a:extLst>
                      <a:ext uri="{0D108BD9-81ED-4DB2-BD59-A6C34878D82A}">
                        <a16:rowId xmlns:a16="http://schemas.microsoft.com/office/drawing/2014/main" val="335616960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oMath>
                            </m:oMathPara>
                          </a14:m>
                          <a:endParaRPr lang="en-US" dirty="0"/>
                        </a:p>
                      </a:txBody>
                      <a:tcPr/>
                    </a:tc>
                    <a:tc>
                      <a:txBody>
                        <a:bodyPr/>
                        <a:lstStyle/>
                        <a:p>
                          <a:pPr>
                            <a:buNone/>
                          </a:pPr>
                          <a:r>
                            <a:rPr lang="vi-VN" dirty="0"/>
                            <a:t>Mạng lưới phân phối của Băng đảng Cali</a:t>
                          </a:r>
                        </a:p>
                      </a:txBody>
                      <a:tcPr anchor="ctr"/>
                    </a:tc>
                    <a:extLst>
                      <a:ext uri="{0D108BD9-81ED-4DB2-BD59-A6C34878D82A}">
                        <a16:rowId xmlns:a16="http://schemas.microsoft.com/office/drawing/2014/main" val="427932619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4</m:t>
                                    </m:r>
                                  </m:sub>
                                </m:sSub>
                              </m:oMath>
                            </m:oMathPara>
                          </a14:m>
                          <a:endParaRPr lang="en-US" dirty="0"/>
                        </a:p>
                      </a:txBody>
                      <a:tcPr/>
                    </a:tc>
                    <a:tc>
                      <a:txBody>
                        <a:bodyPr/>
                        <a:lstStyle/>
                        <a:p>
                          <a:pPr>
                            <a:buNone/>
                          </a:pPr>
                          <a:r>
                            <a:rPr lang="en-US" dirty="0" err="1"/>
                            <a:t>Hoạt</a:t>
                          </a:r>
                          <a:r>
                            <a:rPr lang="en-US" dirty="0"/>
                            <a:t> </a:t>
                          </a:r>
                          <a:r>
                            <a:rPr lang="en-US" dirty="0" err="1"/>
                            <a:t>động</a:t>
                          </a:r>
                          <a:r>
                            <a:rPr lang="en-US" dirty="0"/>
                            <a:t> </a:t>
                          </a:r>
                          <a:r>
                            <a:rPr lang="en-US" dirty="0" err="1"/>
                            <a:t>ngân</a:t>
                          </a:r>
                          <a:r>
                            <a:rPr lang="en-US" dirty="0"/>
                            <a:t> </a:t>
                          </a:r>
                          <a:r>
                            <a:rPr lang="en-US" dirty="0" err="1"/>
                            <a:t>hàng</a:t>
                          </a:r>
                          <a:r>
                            <a:rPr lang="en-US" dirty="0"/>
                            <a:t> </a:t>
                          </a:r>
                          <a:r>
                            <a:rPr lang="en-US" dirty="0" err="1"/>
                            <a:t>và</a:t>
                          </a:r>
                          <a:r>
                            <a:rPr lang="en-US" dirty="0"/>
                            <a:t> </a:t>
                          </a:r>
                          <a:r>
                            <a:rPr lang="en-US" b="1" dirty="0" err="1"/>
                            <a:t>Rửa</a:t>
                          </a:r>
                          <a:r>
                            <a:rPr lang="en-US" b="1" dirty="0"/>
                            <a:t> </a:t>
                          </a:r>
                          <a:r>
                            <a:rPr lang="en-US" b="1" dirty="0" err="1"/>
                            <a:t>tiền</a:t>
                          </a:r>
                          <a:endParaRPr lang="en-US" dirty="0"/>
                        </a:p>
                      </a:txBody>
                      <a:tcPr anchor="ctr"/>
                    </a:tc>
                    <a:extLst>
                      <a:ext uri="{0D108BD9-81ED-4DB2-BD59-A6C34878D82A}">
                        <a16:rowId xmlns:a16="http://schemas.microsoft.com/office/drawing/2014/main" val="16133820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5</m:t>
                                    </m:r>
                                  </m:sub>
                                </m:sSub>
                              </m:oMath>
                            </m:oMathPara>
                          </a14:m>
                          <a:endParaRPr lang="en-US" dirty="0"/>
                        </a:p>
                      </a:txBody>
                      <a:tcPr/>
                    </a:tc>
                    <a:tc>
                      <a:txBody>
                        <a:bodyPr/>
                        <a:lstStyle/>
                        <a:p>
                          <a:pPr>
                            <a:buNone/>
                          </a:pPr>
                          <a:r>
                            <a:rPr lang="vi-VN" dirty="0"/>
                            <a:t>Hồ sơ về Hector Gomez</a:t>
                          </a:r>
                        </a:p>
                      </a:txBody>
                      <a:tcPr anchor="ctr"/>
                    </a:tc>
                    <a:extLst>
                      <a:ext uri="{0D108BD9-81ED-4DB2-BD59-A6C34878D82A}">
                        <a16:rowId xmlns:a16="http://schemas.microsoft.com/office/drawing/2014/main" val="385615573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6</m:t>
                                    </m:r>
                                  </m:sub>
                                </m:sSub>
                              </m:oMath>
                            </m:oMathPara>
                          </a14:m>
                          <a:endParaRPr lang="en-US" dirty="0"/>
                        </a:p>
                      </a:txBody>
                      <a:tcPr/>
                    </a:tc>
                    <a:tc>
                      <a:txBody>
                        <a:bodyPr/>
                        <a:lstStyle/>
                        <a:p>
                          <a:pPr>
                            <a:buNone/>
                          </a:pPr>
                          <a:r>
                            <a:rPr lang="en-US"/>
                            <a:t>Mối liên hệ giữa Khủng bố và các hoạt động </a:t>
                          </a:r>
                          <a:r>
                            <a:rPr lang="en-US" b="1"/>
                            <a:t>Ma túy</a:t>
                          </a:r>
                          <a:r>
                            <a:rPr lang="en-US"/>
                            <a:t> Á Châu</a:t>
                          </a:r>
                          <a:endParaRPr lang="en-US" dirty="0"/>
                        </a:p>
                      </a:txBody>
                      <a:tcPr anchor="ctr"/>
                    </a:tc>
                    <a:extLst>
                      <a:ext uri="{0D108BD9-81ED-4DB2-BD59-A6C34878D82A}">
                        <a16:rowId xmlns:a16="http://schemas.microsoft.com/office/drawing/2014/main" val="229821719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7</m:t>
                                    </m:r>
                                  </m:sub>
                                </m:sSub>
                              </m:oMath>
                            </m:oMathPara>
                          </a14:m>
                          <a:endParaRPr lang="en-US" dirty="0"/>
                        </a:p>
                      </a:txBody>
                      <a:tcPr/>
                    </a:tc>
                    <a:tc>
                      <a:txBody>
                        <a:bodyPr/>
                        <a:lstStyle/>
                        <a:p>
                          <a:pPr>
                            <a:buNone/>
                          </a:pPr>
                          <a:r>
                            <a:rPr lang="en-US"/>
                            <a:t>Hector Gomez: Cách hắn trốn thoát đặc vụ tại Cali</a:t>
                          </a:r>
                          <a:endParaRPr lang="en-US" dirty="0"/>
                        </a:p>
                      </a:txBody>
                      <a:tcPr anchor="ctr"/>
                    </a:tc>
                    <a:extLst>
                      <a:ext uri="{0D108BD9-81ED-4DB2-BD59-A6C34878D82A}">
                        <a16:rowId xmlns:a16="http://schemas.microsoft.com/office/drawing/2014/main" val="417274566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8</m:t>
                                    </m:r>
                                  </m:sub>
                                </m:sSub>
                              </m:oMath>
                            </m:oMathPara>
                          </a14:m>
                          <a:endParaRPr lang="en-US" dirty="0"/>
                        </a:p>
                      </a:txBody>
                      <a:tcPr/>
                    </a:tc>
                    <a:tc>
                      <a:txBody>
                        <a:bodyPr/>
                        <a:lstStyle/>
                        <a:p>
                          <a:r>
                            <a:rPr lang="en-US" dirty="0" err="1"/>
                            <a:t>Tình</a:t>
                          </a:r>
                          <a:r>
                            <a:rPr lang="en-US" dirty="0"/>
                            <a:t> </a:t>
                          </a:r>
                          <a:r>
                            <a:rPr lang="en-US" dirty="0" err="1"/>
                            <a:t>dục</a:t>
                          </a:r>
                          <a:r>
                            <a:rPr lang="en-US" dirty="0"/>
                            <a:t>, </a:t>
                          </a:r>
                          <a:r>
                            <a:rPr lang="en-US" b="1" dirty="0"/>
                            <a:t>Ma </a:t>
                          </a:r>
                          <a:r>
                            <a:rPr lang="en-US" b="1" dirty="0" err="1"/>
                            <a:t>túy</a:t>
                          </a:r>
                          <a:r>
                            <a:rPr lang="en-US" dirty="0"/>
                            <a:t>, </a:t>
                          </a:r>
                          <a:r>
                            <a:rPr lang="en-US" dirty="0" err="1"/>
                            <a:t>và</a:t>
                          </a:r>
                          <a:r>
                            <a:rPr lang="en-US" dirty="0"/>
                            <a:t> </a:t>
                          </a:r>
                          <a:r>
                            <a:rPr lang="en-US" dirty="0" err="1"/>
                            <a:t>Băng</a:t>
                          </a:r>
                          <a:r>
                            <a:rPr lang="en-US" dirty="0"/>
                            <a:t> </a:t>
                          </a:r>
                          <a:r>
                            <a:rPr lang="en-US" dirty="0" err="1"/>
                            <a:t>ghi</a:t>
                          </a:r>
                          <a:r>
                            <a:rPr lang="en-US" dirty="0"/>
                            <a:t> </a:t>
                          </a:r>
                          <a:r>
                            <a:rPr lang="en-US" dirty="0" err="1"/>
                            <a:t>hình</a:t>
                          </a:r>
                          <a:endParaRPr lang="en-US" dirty="0"/>
                        </a:p>
                      </a:txBody>
                      <a:tcPr/>
                    </a:tc>
                    <a:extLst>
                      <a:ext uri="{0D108BD9-81ED-4DB2-BD59-A6C34878D82A}">
                        <a16:rowId xmlns:a16="http://schemas.microsoft.com/office/drawing/2014/main" val="38174401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9</m:t>
                                    </m:r>
                                  </m:sub>
                                </m:sSub>
                              </m:oMath>
                            </m:oMathPara>
                          </a14:m>
                          <a:endParaRPr lang="en-US" dirty="0"/>
                        </a:p>
                      </a:txBody>
                      <a:tcPr/>
                    </a:tc>
                    <a:tc>
                      <a:txBody>
                        <a:bodyPr/>
                        <a:lstStyle/>
                        <a:p>
                          <a:r>
                            <a:rPr lang="en-US" dirty="0" err="1"/>
                            <a:t>Mối</a:t>
                          </a:r>
                          <a:r>
                            <a:rPr lang="en-US" dirty="0"/>
                            <a:t> </a:t>
                          </a:r>
                          <a:r>
                            <a:rPr lang="en-US" dirty="0" err="1"/>
                            <a:t>liên</a:t>
                          </a:r>
                          <a:r>
                            <a:rPr lang="en-US" dirty="0"/>
                            <a:t> </a:t>
                          </a:r>
                          <a:r>
                            <a:rPr lang="en-US" dirty="0" err="1"/>
                            <a:t>kết</a:t>
                          </a:r>
                          <a:r>
                            <a:rPr lang="en-US" dirty="0"/>
                            <a:t> </a:t>
                          </a:r>
                          <a:r>
                            <a:rPr lang="en-US" dirty="0" err="1"/>
                            <a:t>với</a:t>
                          </a:r>
                          <a:r>
                            <a:rPr lang="en-US" dirty="0"/>
                            <a:t> Iran</a:t>
                          </a:r>
                        </a:p>
                      </a:txBody>
                      <a:tcPr/>
                    </a:tc>
                    <a:extLst>
                      <a:ext uri="{0D108BD9-81ED-4DB2-BD59-A6C34878D82A}">
                        <a16:rowId xmlns:a16="http://schemas.microsoft.com/office/drawing/2014/main" val="187941171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10</m:t>
                                    </m:r>
                                  </m:sub>
                                </m:sSub>
                              </m:oMath>
                            </m:oMathPara>
                          </a14:m>
                          <a:endParaRPr lang="en-US" dirty="0"/>
                        </a:p>
                      </a:txBody>
                      <a:tcPr/>
                    </a:tc>
                    <a:tc>
                      <a:txBody>
                        <a:bodyPr/>
                        <a:lstStyle/>
                        <a:p>
                          <a:pPr>
                            <a:buNone/>
                          </a:pPr>
                          <a:r>
                            <a:rPr lang="en-US" dirty="0" err="1">
                              <a:effectLst/>
                              <a:latin typeface="Google Sans Text"/>
                            </a:rPr>
                            <a:t>Tàu</a:t>
                          </a:r>
                          <a:r>
                            <a:rPr lang="en-US" dirty="0">
                              <a:effectLst/>
                              <a:latin typeface="Google Sans Text"/>
                            </a:rPr>
                            <a:t> </a:t>
                          </a:r>
                          <a:r>
                            <a:rPr lang="en-US" dirty="0" err="1">
                              <a:effectLst/>
                              <a:latin typeface="Google Sans Text"/>
                            </a:rPr>
                            <a:t>thuyền</a:t>
                          </a:r>
                          <a:r>
                            <a:rPr lang="en-US" dirty="0">
                              <a:effectLst/>
                              <a:latin typeface="Google Sans Text"/>
                            </a:rPr>
                            <a:t> </a:t>
                          </a:r>
                          <a:r>
                            <a:rPr lang="en-US" dirty="0" err="1">
                              <a:effectLst/>
                              <a:latin typeface="Google Sans Text"/>
                            </a:rPr>
                            <a:t>và</a:t>
                          </a:r>
                          <a:r>
                            <a:rPr lang="en-US" dirty="0">
                              <a:effectLst/>
                              <a:latin typeface="Google Sans Text"/>
                            </a:rPr>
                            <a:t> </a:t>
                          </a:r>
                          <a:r>
                            <a:rPr lang="en-US" b="1" dirty="0">
                              <a:effectLst/>
                              <a:latin typeface="Google Sans Text"/>
                            </a:rPr>
                            <a:t>Ma </a:t>
                          </a:r>
                          <a:r>
                            <a:rPr lang="en-US" b="1" dirty="0" err="1">
                              <a:effectLst/>
                              <a:latin typeface="Google Sans Text"/>
                            </a:rPr>
                            <a:t>túy</a:t>
                          </a:r>
                          <a:r>
                            <a:rPr lang="en-US" dirty="0">
                              <a:effectLst/>
                              <a:latin typeface="Google Sans Text"/>
                            </a:rPr>
                            <a:t>: Các </a:t>
                          </a:r>
                          <a:r>
                            <a:rPr lang="en-US" dirty="0" err="1">
                              <a:effectLst/>
                              <a:latin typeface="Google Sans Text"/>
                            </a:rPr>
                            <a:t>bến</a:t>
                          </a:r>
                          <a:r>
                            <a:rPr lang="en-US" dirty="0">
                              <a:effectLst/>
                              <a:latin typeface="Google Sans Text"/>
                            </a:rPr>
                            <a:t> </a:t>
                          </a:r>
                          <a:r>
                            <a:rPr lang="en-US" dirty="0" err="1">
                              <a:effectLst/>
                              <a:latin typeface="Google Sans Text"/>
                            </a:rPr>
                            <a:t>tàu</a:t>
                          </a:r>
                          <a:r>
                            <a:rPr lang="en-US" dirty="0">
                              <a:effectLst/>
                              <a:latin typeface="Google Sans Text"/>
                            </a:rPr>
                            <a:t> </a:t>
                          </a:r>
                          <a:r>
                            <a:rPr lang="en-US" dirty="0" err="1">
                              <a:effectLst/>
                              <a:latin typeface="Google Sans Text"/>
                            </a:rPr>
                            <a:t>thuộc</a:t>
                          </a:r>
                          <a:r>
                            <a:rPr lang="en-US" dirty="0">
                              <a:effectLst/>
                              <a:latin typeface="Google Sans Text"/>
                            </a:rPr>
                            <a:t> </a:t>
                          </a:r>
                          <a:r>
                            <a:rPr lang="en-US" dirty="0" err="1">
                              <a:effectLst/>
                              <a:latin typeface="Google Sans Text"/>
                            </a:rPr>
                            <a:t>sở</a:t>
                          </a:r>
                          <a:r>
                            <a:rPr lang="en-US" dirty="0">
                              <a:effectLst/>
                              <a:latin typeface="Google Sans Text"/>
                            </a:rPr>
                            <a:t> </a:t>
                          </a:r>
                          <a:r>
                            <a:rPr lang="en-US" dirty="0" err="1">
                              <a:effectLst/>
                              <a:latin typeface="Google Sans Text"/>
                            </a:rPr>
                            <a:t>hữu</a:t>
                          </a:r>
                          <a:r>
                            <a:rPr lang="en-US" dirty="0">
                              <a:effectLst/>
                              <a:latin typeface="Google Sans Text"/>
                            </a:rPr>
                            <a:t> </a:t>
                          </a:r>
                          <a:r>
                            <a:rPr lang="en-US" dirty="0" err="1">
                              <a:effectLst/>
                              <a:latin typeface="Google Sans Text"/>
                            </a:rPr>
                            <a:t>của</a:t>
                          </a:r>
                          <a:r>
                            <a:rPr lang="en-US" dirty="0">
                              <a:effectLst/>
                              <a:latin typeface="Google Sans Text"/>
                            </a:rPr>
                            <a:t> </a:t>
                          </a:r>
                          <a:r>
                            <a:rPr lang="en-US" dirty="0" err="1">
                              <a:effectLst/>
                              <a:latin typeface="Google Sans Text"/>
                            </a:rPr>
                            <a:t>Băng</a:t>
                          </a:r>
                          <a:r>
                            <a:rPr lang="en-US" dirty="0">
                              <a:effectLst/>
                              <a:latin typeface="Google Sans Text"/>
                            </a:rPr>
                            <a:t> </a:t>
                          </a:r>
                          <a:r>
                            <a:rPr lang="en-US" dirty="0" err="1">
                              <a:effectLst/>
                              <a:latin typeface="Google Sans Text"/>
                            </a:rPr>
                            <a:t>đảng</a:t>
                          </a:r>
                          <a:r>
                            <a:rPr lang="en-US" dirty="0">
                              <a:effectLst/>
                              <a:latin typeface="Google Sans Text"/>
                            </a:rPr>
                            <a:t> Cali</a:t>
                          </a:r>
                        </a:p>
                      </a:txBody>
                      <a:tcPr anchor="ctr"/>
                    </a:tc>
                    <a:extLst>
                      <a:ext uri="{0D108BD9-81ED-4DB2-BD59-A6C34878D82A}">
                        <a16:rowId xmlns:a16="http://schemas.microsoft.com/office/drawing/2014/main" val="4186600033"/>
                      </a:ext>
                    </a:extLst>
                  </a:tr>
                </a:tbl>
              </a:graphicData>
            </a:graphic>
          </p:graphicFrame>
        </mc:Choice>
        <mc:Fallback xmlns="">
          <p:graphicFrame>
            <p:nvGraphicFramePr>
              <p:cNvPr id="5" name="Table 4">
                <a:extLst>
                  <a:ext uri="{FF2B5EF4-FFF2-40B4-BE49-F238E27FC236}">
                    <a16:creationId xmlns:a16="http://schemas.microsoft.com/office/drawing/2014/main" id="{91955D20-8EA3-7C3A-6F15-90CF08EC37BD}"/>
                  </a:ext>
                </a:extLst>
              </p:cNvPr>
              <p:cNvGraphicFramePr>
                <a:graphicFrameLocks noGrp="1"/>
              </p:cNvGraphicFramePr>
              <p:nvPr>
                <p:extLst>
                  <p:ext uri="{D42A27DB-BD31-4B8C-83A1-F6EECF244321}">
                    <p14:modId xmlns:p14="http://schemas.microsoft.com/office/powerpoint/2010/main" val="456934020"/>
                  </p:ext>
                </p:extLst>
              </p:nvPr>
            </p:nvGraphicFramePr>
            <p:xfrm>
              <a:off x="1422239" y="941916"/>
              <a:ext cx="8128000" cy="4079240"/>
            </p:xfrm>
            <a:graphic>
              <a:graphicData uri="http://schemas.openxmlformats.org/drawingml/2006/table">
                <a:tbl>
                  <a:tblPr firstRow="1" bandRow="1">
                    <a:tableStyleId>{5C22544A-7EE6-4342-B048-85BDC9FD1C3A}</a:tableStyleId>
                  </a:tblPr>
                  <a:tblGrid>
                    <a:gridCol w="1587500">
                      <a:extLst>
                        <a:ext uri="{9D8B030D-6E8A-4147-A177-3AD203B41FA5}">
                          <a16:colId xmlns:a16="http://schemas.microsoft.com/office/drawing/2014/main" val="1138241124"/>
                        </a:ext>
                      </a:extLst>
                    </a:gridCol>
                    <a:gridCol w="6540500">
                      <a:extLst>
                        <a:ext uri="{9D8B030D-6E8A-4147-A177-3AD203B41FA5}">
                          <a16:colId xmlns:a16="http://schemas.microsoft.com/office/drawing/2014/main" val="731405089"/>
                        </a:ext>
                      </a:extLst>
                    </a:gridCol>
                  </a:tblGrid>
                  <a:tr h="370840">
                    <a:tc>
                      <a:txBody>
                        <a:bodyPr/>
                        <a:lstStyle/>
                        <a:p>
                          <a:r>
                            <a:rPr lang="en-US" dirty="0"/>
                            <a:t>Document ID</a:t>
                          </a:r>
                        </a:p>
                      </a:txBody>
                      <a:tcPr/>
                    </a:tc>
                    <a:tc>
                      <a:txBody>
                        <a:bodyPr/>
                        <a:lstStyle/>
                        <a:p>
                          <a:endParaRPr lang="en-US" dirty="0"/>
                        </a:p>
                      </a:txBody>
                      <a:tcPr/>
                    </a:tc>
                    <a:extLst>
                      <a:ext uri="{0D108BD9-81ED-4DB2-BD59-A6C34878D82A}">
                        <a16:rowId xmlns:a16="http://schemas.microsoft.com/office/drawing/2014/main" val="3291402580"/>
                      </a:ext>
                    </a:extLst>
                  </a:tr>
                  <a:tr h="370840">
                    <a:tc>
                      <a:txBody>
                        <a:bodyPr/>
                        <a:lstStyle/>
                        <a:p>
                          <a:endParaRPr lang="en-US"/>
                        </a:p>
                      </a:txBody>
                      <a:tcPr>
                        <a:blipFill>
                          <a:blip r:embed="rId2"/>
                          <a:stretch>
                            <a:fillRect l="-383" t="-108197" r="-412644" b="-922951"/>
                          </a:stretch>
                        </a:blipFill>
                      </a:tcPr>
                    </a:tc>
                    <a:tc>
                      <a:txBody>
                        <a:bodyPr/>
                        <a:lstStyle/>
                        <a:p>
                          <a:r>
                            <a:rPr lang="en-US" dirty="0"/>
                            <a:t>Các </a:t>
                          </a:r>
                          <a:r>
                            <a:rPr lang="en-US" dirty="0" err="1"/>
                            <a:t>hoạt</a:t>
                          </a:r>
                          <a:r>
                            <a:rPr lang="en-US" dirty="0"/>
                            <a:t> </a:t>
                          </a:r>
                          <a:r>
                            <a:rPr lang="en-US" dirty="0" err="1"/>
                            <a:t>động</a:t>
                          </a:r>
                          <a:r>
                            <a:rPr lang="en-US" dirty="0"/>
                            <a:t> </a:t>
                          </a:r>
                          <a:r>
                            <a:rPr lang="en-US" dirty="0" err="1"/>
                            <a:t>của</a:t>
                          </a:r>
                          <a:r>
                            <a:rPr lang="en-US" dirty="0"/>
                            <a:t> Jose </a:t>
                          </a:r>
                          <a:r>
                            <a:rPr lang="en-US" dirty="0" err="1"/>
                            <a:t>Orojuelo</a:t>
                          </a:r>
                          <a:r>
                            <a:rPr lang="en-US" dirty="0"/>
                            <a:t> </a:t>
                          </a:r>
                          <a:r>
                            <a:rPr lang="en-US" dirty="0" err="1"/>
                            <a:t>tại</a:t>
                          </a:r>
                          <a:r>
                            <a:rPr lang="en-US" dirty="0"/>
                            <a:t> Bosnia</a:t>
                          </a:r>
                        </a:p>
                      </a:txBody>
                      <a:tcPr/>
                    </a:tc>
                    <a:extLst>
                      <a:ext uri="{0D108BD9-81ED-4DB2-BD59-A6C34878D82A}">
                        <a16:rowId xmlns:a16="http://schemas.microsoft.com/office/drawing/2014/main" val="3341431986"/>
                      </a:ext>
                    </a:extLst>
                  </a:tr>
                  <a:tr h="370840">
                    <a:tc>
                      <a:txBody>
                        <a:bodyPr/>
                        <a:lstStyle/>
                        <a:p>
                          <a:endParaRPr lang="en-US"/>
                        </a:p>
                      </a:txBody>
                      <a:tcPr>
                        <a:blipFill>
                          <a:blip r:embed="rId2"/>
                          <a:stretch>
                            <a:fillRect l="-383" t="-208197" r="-412644" b="-822951"/>
                          </a:stretch>
                        </a:blipFill>
                      </a:tcPr>
                    </a:tc>
                    <a:tc>
                      <a:txBody>
                        <a:bodyPr/>
                        <a:lstStyle/>
                        <a:p>
                          <a:pPr>
                            <a:buNone/>
                          </a:pPr>
                          <a:r>
                            <a:rPr lang="en-US" dirty="0" err="1"/>
                            <a:t>Tổ</a:t>
                          </a:r>
                          <a:r>
                            <a:rPr lang="en-US" dirty="0"/>
                            <a:t> </a:t>
                          </a:r>
                          <a:r>
                            <a:rPr lang="en-US" dirty="0" err="1"/>
                            <a:t>chức</a:t>
                          </a:r>
                          <a:r>
                            <a:rPr lang="en-US" dirty="0"/>
                            <a:t> </a:t>
                          </a:r>
                          <a:r>
                            <a:rPr lang="en-US" b="1" dirty="0"/>
                            <a:t>Tài </a:t>
                          </a:r>
                          <a:r>
                            <a:rPr lang="en-US" b="1" dirty="0" err="1"/>
                            <a:t>chính</a:t>
                          </a:r>
                          <a:r>
                            <a:rPr lang="en-US" dirty="0"/>
                            <a:t> </a:t>
                          </a:r>
                          <a:r>
                            <a:rPr lang="en-US" dirty="0" err="1"/>
                            <a:t>của</a:t>
                          </a:r>
                          <a:r>
                            <a:rPr lang="en-US" dirty="0"/>
                            <a:t> </a:t>
                          </a:r>
                          <a:r>
                            <a:rPr lang="en-US" dirty="0" err="1"/>
                            <a:t>Băng</a:t>
                          </a:r>
                          <a:r>
                            <a:rPr lang="en-US" dirty="0"/>
                            <a:t> </a:t>
                          </a:r>
                          <a:r>
                            <a:rPr lang="en-US" dirty="0" err="1"/>
                            <a:t>đảng</a:t>
                          </a:r>
                          <a:r>
                            <a:rPr lang="en-US" dirty="0"/>
                            <a:t> Medellin</a:t>
                          </a:r>
                        </a:p>
                      </a:txBody>
                      <a:tcPr anchor="ctr"/>
                    </a:tc>
                    <a:extLst>
                      <a:ext uri="{0D108BD9-81ED-4DB2-BD59-A6C34878D82A}">
                        <a16:rowId xmlns:a16="http://schemas.microsoft.com/office/drawing/2014/main" val="3356169602"/>
                      </a:ext>
                    </a:extLst>
                  </a:tr>
                  <a:tr h="370840">
                    <a:tc>
                      <a:txBody>
                        <a:bodyPr/>
                        <a:lstStyle/>
                        <a:p>
                          <a:endParaRPr lang="en-US"/>
                        </a:p>
                      </a:txBody>
                      <a:tcPr>
                        <a:blipFill>
                          <a:blip r:embed="rId2"/>
                          <a:stretch>
                            <a:fillRect l="-383" t="-308197" r="-412644" b="-722951"/>
                          </a:stretch>
                        </a:blipFill>
                      </a:tcPr>
                    </a:tc>
                    <a:tc>
                      <a:txBody>
                        <a:bodyPr/>
                        <a:lstStyle/>
                        <a:p>
                          <a:pPr>
                            <a:buNone/>
                          </a:pPr>
                          <a:r>
                            <a:rPr lang="vi-VN" dirty="0"/>
                            <a:t>Mạng lưới phân phối của Băng đảng Cali</a:t>
                          </a:r>
                        </a:p>
                      </a:txBody>
                      <a:tcPr anchor="ctr"/>
                    </a:tc>
                    <a:extLst>
                      <a:ext uri="{0D108BD9-81ED-4DB2-BD59-A6C34878D82A}">
                        <a16:rowId xmlns:a16="http://schemas.microsoft.com/office/drawing/2014/main" val="4279326192"/>
                      </a:ext>
                    </a:extLst>
                  </a:tr>
                  <a:tr h="370840">
                    <a:tc>
                      <a:txBody>
                        <a:bodyPr/>
                        <a:lstStyle/>
                        <a:p>
                          <a:endParaRPr lang="en-US"/>
                        </a:p>
                      </a:txBody>
                      <a:tcPr>
                        <a:blipFill>
                          <a:blip r:embed="rId2"/>
                          <a:stretch>
                            <a:fillRect l="-383" t="-408197" r="-412644" b="-622951"/>
                          </a:stretch>
                        </a:blipFill>
                      </a:tcPr>
                    </a:tc>
                    <a:tc>
                      <a:txBody>
                        <a:bodyPr/>
                        <a:lstStyle/>
                        <a:p>
                          <a:pPr>
                            <a:buNone/>
                          </a:pPr>
                          <a:r>
                            <a:rPr lang="en-US" dirty="0" err="1"/>
                            <a:t>Hoạt</a:t>
                          </a:r>
                          <a:r>
                            <a:rPr lang="en-US" dirty="0"/>
                            <a:t> </a:t>
                          </a:r>
                          <a:r>
                            <a:rPr lang="en-US" dirty="0" err="1"/>
                            <a:t>động</a:t>
                          </a:r>
                          <a:r>
                            <a:rPr lang="en-US" dirty="0"/>
                            <a:t> </a:t>
                          </a:r>
                          <a:r>
                            <a:rPr lang="en-US" dirty="0" err="1"/>
                            <a:t>ngân</a:t>
                          </a:r>
                          <a:r>
                            <a:rPr lang="en-US" dirty="0"/>
                            <a:t> </a:t>
                          </a:r>
                          <a:r>
                            <a:rPr lang="en-US" dirty="0" err="1"/>
                            <a:t>hàng</a:t>
                          </a:r>
                          <a:r>
                            <a:rPr lang="en-US" dirty="0"/>
                            <a:t> </a:t>
                          </a:r>
                          <a:r>
                            <a:rPr lang="en-US" dirty="0" err="1"/>
                            <a:t>và</a:t>
                          </a:r>
                          <a:r>
                            <a:rPr lang="en-US" dirty="0"/>
                            <a:t> </a:t>
                          </a:r>
                          <a:r>
                            <a:rPr lang="en-US" b="1" dirty="0" err="1"/>
                            <a:t>Rửa</a:t>
                          </a:r>
                          <a:r>
                            <a:rPr lang="en-US" b="1" dirty="0"/>
                            <a:t> </a:t>
                          </a:r>
                          <a:r>
                            <a:rPr lang="en-US" b="1" dirty="0" err="1"/>
                            <a:t>tiền</a:t>
                          </a:r>
                          <a:endParaRPr lang="en-US" dirty="0"/>
                        </a:p>
                      </a:txBody>
                      <a:tcPr anchor="ctr"/>
                    </a:tc>
                    <a:extLst>
                      <a:ext uri="{0D108BD9-81ED-4DB2-BD59-A6C34878D82A}">
                        <a16:rowId xmlns:a16="http://schemas.microsoft.com/office/drawing/2014/main" val="161338205"/>
                      </a:ext>
                    </a:extLst>
                  </a:tr>
                  <a:tr h="370840">
                    <a:tc>
                      <a:txBody>
                        <a:bodyPr/>
                        <a:lstStyle/>
                        <a:p>
                          <a:endParaRPr lang="en-US"/>
                        </a:p>
                      </a:txBody>
                      <a:tcPr>
                        <a:blipFill>
                          <a:blip r:embed="rId2"/>
                          <a:stretch>
                            <a:fillRect l="-383" t="-516667" r="-412644" b="-533333"/>
                          </a:stretch>
                        </a:blipFill>
                      </a:tcPr>
                    </a:tc>
                    <a:tc>
                      <a:txBody>
                        <a:bodyPr/>
                        <a:lstStyle/>
                        <a:p>
                          <a:pPr>
                            <a:buNone/>
                          </a:pPr>
                          <a:r>
                            <a:rPr lang="vi-VN" dirty="0"/>
                            <a:t>Hồ sơ về Hector Gomez</a:t>
                          </a:r>
                        </a:p>
                      </a:txBody>
                      <a:tcPr anchor="ctr"/>
                    </a:tc>
                    <a:extLst>
                      <a:ext uri="{0D108BD9-81ED-4DB2-BD59-A6C34878D82A}">
                        <a16:rowId xmlns:a16="http://schemas.microsoft.com/office/drawing/2014/main" val="3856155732"/>
                      </a:ext>
                    </a:extLst>
                  </a:tr>
                  <a:tr h="370840">
                    <a:tc>
                      <a:txBody>
                        <a:bodyPr/>
                        <a:lstStyle/>
                        <a:p>
                          <a:endParaRPr lang="en-US"/>
                        </a:p>
                      </a:txBody>
                      <a:tcPr>
                        <a:blipFill>
                          <a:blip r:embed="rId2"/>
                          <a:stretch>
                            <a:fillRect l="-383" t="-606557" r="-412644" b="-424590"/>
                          </a:stretch>
                        </a:blipFill>
                      </a:tcPr>
                    </a:tc>
                    <a:tc>
                      <a:txBody>
                        <a:bodyPr/>
                        <a:lstStyle/>
                        <a:p>
                          <a:pPr>
                            <a:buNone/>
                          </a:pPr>
                          <a:r>
                            <a:rPr lang="en-US"/>
                            <a:t>Mối liên hệ giữa Khủng bố và các hoạt động </a:t>
                          </a:r>
                          <a:r>
                            <a:rPr lang="en-US" b="1"/>
                            <a:t>Ma túy</a:t>
                          </a:r>
                          <a:r>
                            <a:rPr lang="en-US"/>
                            <a:t> Á Châu</a:t>
                          </a:r>
                          <a:endParaRPr lang="en-US" dirty="0"/>
                        </a:p>
                      </a:txBody>
                      <a:tcPr anchor="ctr"/>
                    </a:tc>
                    <a:extLst>
                      <a:ext uri="{0D108BD9-81ED-4DB2-BD59-A6C34878D82A}">
                        <a16:rowId xmlns:a16="http://schemas.microsoft.com/office/drawing/2014/main" val="2298217197"/>
                      </a:ext>
                    </a:extLst>
                  </a:tr>
                  <a:tr h="370840">
                    <a:tc>
                      <a:txBody>
                        <a:bodyPr/>
                        <a:lstStyle/>
                        <a:p>
                          <a:endParaRPr lang="en-US"/>
                        </a:p>
                      </a:txBody>
                      <a:tcPr>
                        <a:blipFill>
                          <a:blip r:embed="rId2"/>
                          <a:stretch>
                            <a:fillRect l="-383" t="-706557" r="-412644" b="-324590"/>
                          </a:stretch>
                        </a:blipFill>
                      </a:tcPr>
                    </a:tc>
                    <a:tc>
                      <a:txBody>
                        <a:bodyPr/>
                        <a:lstStyle/>
                        <a:p>
                          <a:pPr>
                            <a:buNone/>
                          </a:pPr>
                          <a:r>
                            <a:rPr lang="en-US"/>
                            <a:t>Hector Gomez: Cách hắn trốn thoát đặc vụ tại Cali</a:t>
                          </a:r>
                          <a:endParaRPr lang="en-US" dirty="0"/>
                        </a:p>
                      </a:txBody>
                      <a:tcPr anchor="ctr"/>
                    </a:tc>
                    <a:extLst>
                      <a:ext uri="{0D108BD9-81ED-4DB2-BD59-A6C34878D82A}">
                        <a16:rowId xmlns:a16="http://schemas.microsoft.com/office/drawing/2014/main" val="4172745664"/>
                      </a:ext>
                    </a:extLst>
                  </a:tr>
                  <a:tr h="370840">
                    <a:tc>
                      <a:txBody>
                        <a:bodyPr/>
                        <a:lstStyle/>
                        <a:p>
                          <a:endParaRPr lang="en-US"/>
                        </a:p>
                      </a:txBody>
                      <a:tcPr>
                        <a:blipFill>
                          <a:blip r:embed="rId2"/>
                          <a:stretch>
                            <a:fillRect l="-383" t="-806557" r="-412644" b="-224590"/>
                          </a:stretch>
                        </a:blipFill>
                      </a:tcPr>
                    </a:tc>
                    <a:tc>
                      <a:txBody>
                        <a:bodyPr/>
                        <a:lstStyle/>
                        <a:p>
                          <a:r>
                            <a:rPr lang="en-US" dirty="0" err="1"/>
                            <a:t>Tình</a:t>
                          </a:r>
                          <a:r>
                            <a:rPr lang="en-US" dirty="0"/>
                            <a:t> </a:t>
                          </a:r>
                          <a:r>
                            <a:rPr lang="en-US" dirty="0" err="1"/>
                            <a:t>dục</a:t>
                          </a:r>
                          <a:r>
                            <a:rPr lang="en-US" dirty="0"/>
                            <a:t>, </a:t>
                          </a:r>
                          <a:r>
                            <a:rPr lang="en-US" b="1" dirty="0"/>
                            <a:t>Ma </a:t>
                          </a:r>
                          <a:r>
                            <a:rPr lang="en-US" b="1" dirty="0" err="1"/>
                            <a:t>túy</a:t>
                          </a:r>
                          <a:r>
                            <a:rPr lang="en-US" dirty="0"/>
                            <a:t>, </a:t>
                          </a:r>
                          <a:r>
                            <a:rPr lang="en-US" dirty="0" err="1"/>
                            <a:t>và</a:t>
                          </a:r>
                          <a:r>
                            <a:rPr lang="en-US" dirty="0"/>
                            <a:t> </a:t>
                          </a:r>
                          <a:r>
                            <a:rPr lang="en-US" dirty="0" err="1"/>
                            <a:t>Băng</a:t>
                          </a:r>
                          <a:r>
                            <a:rPr lang="en-US" dirty="0"/>
                            <a:t> </a:t>
                          </a:r>
                          <a:r>
                            <a:rPr lang="en-US" dirty="0" err="1"/>
                            <a:t>ghi</a:t>
                          </a:r>
                          <a:r>
                            <a:rPr lang="en-US" dirty="0"/>
                            <a:t> </a:t>
                          </a:r>
                          <a:r>
                            <a:rPr lang="en-US" dirty="0" err="1"/>
                            <a:t>hình</a:t>
                          </a:r>
                          <a:endParaRPr lang="en-US" dirty="0"/>
                        </a:p>
                      </a:txBody>
                      <a:tcPr/>
                    </a:tc>
                    <a:extLst>
                      <a:ext uri="{0D108BD9-81ED-4DB2-BD59-A6C34878D82A}">
                        <a16:rowId xmlns:a16="http://schemas.microsoft.com/office/drawing/2014/main" val="381744012"/>
                      </a:ext>
                    </a:extLst>
                  </a:tr>
                  <a:tr h="370840">
                    <a:tc>
                      <a:txBody>
                        <a:bodyPr/>
                        <a:lstStyle/>
                        <a:p>
                          <a:endParaRPr lang="en-US"/>
                        </a:p>
                      </a:txBody>
                      <a:tcPr>
                        <a:blipFill>
                          <a:blip r:embed="rId2"/>
                          <a:stretch>
                            <a:fillRect l="-383" t="-906557" r="-412644" b="-124590"/>
                          </a:stretch>
                        </a:blipFill>
                      </a:tcPr>
                    </a:tc>
                    <a:tc>
                      <a:txBody>
                        <a:bodyPr/>
                        <a:lstStyle/>
                        <a:p>
                          <a:r>
                            <a:rPr lang="en-US" dirty="0" err="1"/>
                            <a:t>Mối</a:t>
                          </a:r>
                          <a:r>
                            <a:rPr lang="en-US" dirty="0"/>
                            <a:t> </a:t>
                          </a:r>
                          <a:r>
                            <a:rPr lang="en-US" dirty="0" err="1"/>
                            <a:t>liên</a:t>
                          </a:r>
                          <a:r>
                            <a:rPr lang="en-US" dirty="0"/>
                            <a:t> </a:t>
                          </a:r>
                          <a:r>
                            <a:rPr lang="en-US" dirty="0" err="1"/>
                            <a:t>kết</a:t>
                          </a:r>
                          <a:r>
                            <a:rPr lang="en-US" dirty="0"/>
                            <a:t> </a:t>
                          </a:r>
                          <a:r>
                            <a:rPr lang="en-US" dirty="0" err="1"/>
                            <a:t>với</a:t>
                          </a:r>
                          <a:r>
                            <a:rPr lang="en-US" dirty="0"/>
                            <a:t> Iran</a:t>
                          </a:r>
                        </a:p>
                      </a:txBody>
                      <a:tcPr/>
                    </a:tc>
                    <a:extLst>
                      <a:ext uri="{0D108BD9-81ED-4DB2-BD59-A6C34878D82A}">
                        <a16:rowId xmlns:a16="http://schemas.microsoft.com/office/drawing/2014/main" val="1879411712"/>
                      </a:ext>
                    </a:extLst>
                  </a:tr>
                  <a:tr h="370840">
                    <a:tc>
                      <a:txBody>
                        <a:bodyPr/>
                        <a:lstStyle/>
                        <a:p>
                          <a:endParaRPr lang="en-US"/>
                        </a:p>
                      </a:txBody>
                      <a:tcPr>
                        <a:blipFill>
                          <a:blip r:embed="rId2"/>
                          <a:stretch>
                            <a:fillRect l="-383" t="-1006557" r="-412644" b="-24590"/>
                          </a:stretch>
                        </a:blipFill>
                      </a:tcPr>
                    </a:tc>
                    <a:tc>
                      <a:txBody>
                        <a:bodyPr/>
                        <a:lstStyle/>
                        <a:p>
                          <a:pPr>
                            <a:buNone/>
                          </a:pPr>
                          <a:r>
                            <a:rPr lang="en-US" dirty="0" err="1">
                              <a:effectLst/>
                              <a:latin typeface="Google Sans Text"/>
                            </a:rPr>
                            <a:t>Tàu</a:t>
                          </a:r>
                          <a:r>
                            <a:rPr lang="en-US" dirty="0">
                              <a:effectLst/>
                              <a:latin typeface="Google Sans Text"/>
                            </a:rPr>
                            <a:t> </a:t>
                          </a:r>
                          <a:r>
                            <a:rPr lang="en-US" dirty="0" err="1">
                              <a:effectLst/>
                              <a:latin typeface="Google Sans Text"/>
                            </a:rPr>
                            <a:t>thuyền</a:t>
                          </a:r>
                          <a:r>
                            <a:rPr lang="en-US" dirty="0">
                              <a:effectLst/>
                              <a:latin typeface="Google Sans Text"/>
                            </a:rPr>
                            <a:t> </a:t>
                          </a:r>
                          <a:r>
                            <a:rPr lang="en-US" dirty="0" err="1">
                              <a:effectLst/>
                              <a:latin typeface="Google Sans Text"/>
                            </a:rPr>
                            <a:t>và</a:t>
                          </a:r>
                          <a:r>
                            <a:rPr lang="en-US" dirty="0">
                              <a:effectLst/>
                              <a:latin typeface="Google Sans Text"/>
                            </a:rPr>
                            <a:t> </a:t>
                          </a:r>
                          <a:r>
                            <a:rPr lang="en-US" b="1" dirty="0">
                              <a:effectLst/>
                              <a:latin typeface="Google Sans Text"/>
                            </a:rPr>
                            <a:t>Ma </a:t>
                          </a:r>
                          <a:r>
                            <a:rPr lang="en-US" b="1" dirty="0" err="1">
                              <a:effectLst/>
                              <a:latin typeface="Google Sans Text"/>
                            </a:rPr>
                            <a:t>túy</a:t>
                          </a:r>
                          <a:r>
                            <a:rPr lang="en-US" dirty="0">
                              <a:effectLst/>
                              <a:latin typeface="Google Sans Text"/>
                            </a:rPr>
                            <a:t>: Các </a:t>
                          </a:r>
                          <a:r>
                            <a:rPr lang="en-US" dirty="0" err="1">
                              <a:effectLst/>
                              <a:latin typeface="Google Sans Text"/>
                            </a:rPr>
                            <a:t>bến</a:t>
                          </a:r>
                          <a:r>
                            <a:rPr lang="en-US" dirty="0">
                              <a:effectLst/>
                              <a:latin typeface="Google Sans Text"/>
                            </a:rPr>
                            <a:t> </a:t>
                          </a:r>
                          <a:r>
                            <a:rPr lang="en-US" dirty="0" err="1">
                              <a:effectLst/>
                              <a:latin typeface="Google Sans Text"/>
                            </a:rPr>
                            <a:t>tàu</a:t>
                          </a:r>
                          <a:r>
                            <a:rPr lang="en-US" dirty="0">
                              <a:effectLst/>
                              <a:latin typeface="Google Sans Text"/>
                            </a:rPr>
                            <a:t> </a:t>
                          </a:r>
                          <a:r>
                            <a:rPr lang="en-US" dirty="0" err="1">
                              <a:effectLst/>
                              <a:latin typeface="Google Sans Text"/>
                            </a:rPr>
                            <a:t>thuộc</a:t>
                          </a:r>
                          <a:r>
                            <a:rPr lang="en-US" dirty="0">
                              <a:effectLst/>
                              <a:latin typeface="Google Sans Text"/>
                            </a:rPr>
                            <a:t> </a:t>
                          </a:r>
                          <a:r>
                            <a:rPr lang="en-US" dirty="0" err="1">
                              <a:effectLst/>
                              <a:latin typeface="Google Sans Text"/>
                            </a:rPr>
                            <a:t>sở</a:t>
                          </a:r>
                          <a:r>
                            <a:rPr lang="en-US" dirty="0">
                              <a:effectLst/>
                              <a:latin typeface="Google Sans Text"/>
                            </a:rPr>
                            <a:t> </a:t>
                          </a:r>
                          <a:r>
                            <a:rPr lang="en-US" dirty="0" err="1">
                              <a:effectLst/>
                              <a:latin typeface="Google Sans Text"/>
                            </a:rPr>
                            <a:t>hữu</a:t>
                          </a:r>
                          <a:r>
                            <a:rPr lang="en-US" dirty="0">
                              <a:effectLst/>
                              <a:latin typeface="Google Sans Text"/>
                            </a:rPr>
                            <a:t> </a:t>
                          </a:r>
                          <a:r>
                            <a:rPr lang="en-US" dirty="0" err="1">
                              <a:effectLst/>
                              <a:latin typeface="Google Sans Text"/>
                            </a:rPr>
                            <a:t>của</a:t>
                          </a:r>
                          <a:r>
                            <a:rPr lang="en-US" dirty="0">
                              <a:effectLst/>
                              <a:latin typeface="Google Sans Text"/>
                            </a:rPr>
                            <a:t> </a:t>
                          </a:r>
                          <a:r>
                            <a:rPr lang="en-US" dirty="0" err="1">
                              <a:effectLst/>
                              <a:latin typeface="Google Sans Text"/>
                            </a:rPr>
                            <a:t>Băng</a:t>
                          </a:r>
                          <a:r>
                            <a:rPr lang="en-US" dirty="0">
                              <a:effectLst/>
                              <a:latin typeface="Google Sans Text"/>
                            </a:rPr>
                            <a:t> </a:t>
                          </a:r>
                          <a:r>
                            <a:rPr lang="en-US" dirty="0" err="1">
                              <a:effectLst/>
                              <a:latin typeface="Google Sans Text"/>
                            </a:rPr>
                            <a:t>đảng</a:t>
                          </a:r>
                          <a:r>
                            <a:rPr lang="en-US" dirty="0">
                              <a:effectLst/>
                              <a:latin typeface="Google Sans Text"/>
                            </a:rPr>
                            <a:t> Cali</a:t>
                          </a:r>
                        </a:p>
                      </a:txBody>
                      <a:tcPr anchor="ctr"/>
                    </a:tc>
                    <a:extLst>
                      <a:ext uri="{0D108BD9-81ED-4DB2-BD59-A6C34878D82A}">
                        <a16:rowId xmlns:a16="http://schemas.microsoft.com/office/drawing/2014/main" val="4186600033"/>
                      </a:ext>
                    </a:extLst>
                  </a:tr>
                </a:tbl>
              </a:graphicData>
            </a:graphic>
          </p:graphicFrame>
        </mc:Fallback>
      </mc:AlternateContent>
    </p:spTree>
    <p:extLst>
      <p:ext uri="{BB962C8B-B14F-4D97-AF65-F5344CB8AC3E}">
        <p14:creationId xmlns:p14="http://schemas.microsoft.com/office/powerpoint/2010/main" val="1672226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E40E-2A90-0E0C-C649-CA25640B3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D6228-2277-80B2-4EAD-B2F3E49DF906}"/>
              </a:ext>
            </a:extLst>
          </p:cNvPr>
          <p:cNvSpPr>
            <a:spLocks noGrp="1"/>
          </p:cNvSpPr>
          <p:nvPr>
            <p:ph type="title"/>
          </p:nvPr>
        </p:nvSpPr>
        <p:spPr/>
        <p:txBody>
          <a:bodyPr>
            <a:noAutofit/>
          </a:bodyPr>
          <a:lstStyle/>
          <a:p>
            <a:r>
              <a:rPr lang="en-US" sz="2800" dirty="0" err="1"/>
              <a:t>Vấn</a:t>
            </a:r>
            <a:r>
              <a:rPr lang="en-US" sz="2800" dirty="0"/>
              <a:t> </a:t>
            </a:r>
            <a:r>
              <a:rPr lang="en-US" sz="2800" dirty="0" err="1"/>
              <a:t>đề</a:t>
            </a:r>
            <a:r>
              <a:rPr lang="en-US" sz="2800" dirty="0"/>
              <a:t> </a:t>
            </a:r>
            <a:r>
              <a:rPr lang="en-US" sz="2800" dirty="0" err="1"/>
              <a:t>khi</a:t>
            </a:r>
            <a:r>
              <a:rPr lang="en-US" sz="2800" dirty="0"/>
              <a:t> </a:t>
            </a:r>
            <a:r>
              <a:rPr lang="en-US" sz="2800" dirty="0" err="1"/>
              <a:t>khớp</a:t>
            </a:r>
            <a:r>
              <a:rPr lang="en-US" sz="2800" dirty="0"/>
              <a:t> </a:t>
            </a:r>
            <a:r>
              <a:rPr lang="en-US" sz="2800" dirty="0" err="1"/>
              <a:t>xâu</a:t>
            </a:r>
            <a:endParaRPr sz="2800" dirty="0"/>
          </a:p>
        </p:txBody>
      </p:sp>
      <p:sp>
        <p:nvSpPr>
          <p:cNvPr id="4" name="TextBox 3">
            <a:extLst>
              <a:ext uri="{FF2B5EF4-FFF2-40B4-BE49-F238E27FC236}">
                <a16:creationId xmlns:a16="http://schemas.microsoft.com/office/drawing/2014/main" id="{BC391BE9-B6E2-D7C9-3E7E-52D0093E2822}"/>
              </a:ext>
            </a:extLst>
          </p:cNvPr>
          <p:cNvSpPr txBox="1"/>
          <p:nvPr/>
        </p:nvSpPr>
        <p:spPr>
          <a:xfrm>
            <a:off x="425450" y="865138"/>
            <a:ext cx="9969500" cy="2308324"/>
          </a:xfrm>
          <a:prstGeom prst="rect">
            <a:avLst/>
          </a:prstGeom>
          <a:noFill/>
        </p:spPr>
        <p:txBody>
          <a:bodyPr wrap="square">
            <a:spAutoFit/>
          </a:bodyPr>
          <a:lstStyle/>
          <a:p>
            <a:pPr marL="285750" indent="-285750">
              <a:buFont typeface="Arial" panose="020B0604020202020204" pitchFamily="34" charset="0"/>
              <a:buChar char="•"/>
            </a:pPr>
            <a:r>
              <a:rPr lang="vi-VN" sz="2400" dirty="0"/>
              <a:t>VD truy vấn 1: tìm các tài liệu liên quan đến chủ đề</a:t>
            </a:r>
            <a:r>
              <a:rPr lang="en-US" sz="2400" dirty="0"/>
              <a:t> </a:t>
            </a:r>
            <a:r>
              <a:rPr lang="vi-VN" sz="2400" dirty="0"/>
              <a:t>« money laundering »</a:t>
            </a:r>
          </a:p>
          <a:p>
            <a:pPr marL="742950" lvl="1" indent="-285750">
              <a:buFont typeface="Courier New" panose="02070309020205020404" pitchFamily="49" charset="0"/>
              <a:buChar char="o"/>
            </a:pPr>
            <a:r>
              <a:rPr lang="vi-VN" sz="2400" dirty="0"/>
              <a:t>Tìm được d4, không có d2</a:t>
            </a:r>
          </a:p>
          <a:p>
            <a:pPr marL="285750" indent="-285750">
              <a:buFont typeface="Arial" panose="020B0604020202020204" pitchFamily="34" charset="0"/>
              <a:buChar char="•"/>
            </a:pPr>
            <a:r>
              <a:rPr lang="vi-VN" sz="2400" dirty="0"/>
              <a:t>VD truy vấn 2: tìm các tài liệu liên quan đến vấn đề</a:t>
            </a:r>
            <a:r>
              <a:rPr lang="en-US" sz="2400" dirty="0"/>
              <a:t> </a:t>
            </a:r>
            <a:r>
              <a:rPr lang="vi-VN" sz="2400" dirty="0"/>
              <a:t>« drugs »</a:t>
            </a:r>
          </a:p>
          <a:p>
            <a:pPr marL="742950" lvl="1" indent="-285750">
              <a:buFont typeface="Courier New" panose="02070309020205020404" pitchFamily="49" charset="0"/>
              <a:buChar char="o"/>
            </a:pPr>
            <a:r>
              <a:rPr lang="vi-VN" sz="2400" dirty="0"/>
              <a:t>Tìm được d8,d10, không có d6 dù « dope » ~~ « drugs »</a:t>
            </a:r>
          </a:p>
          <a:p>
            <a:pPr marL="742950" lvl="1" indent="-285750">
              <a:buFont typeface="Courier New" panose="02070309020205020404" pitchFamily="49" charset="0"/>
              <a:buChar char="o"/>
            </a:pPr>
            <a:r>
              <a:rPr lang="vi-VN" sz="2400" dirty="0"/>
              <a:t>d2, d3 bị bỏ qua mặc dù cả hai đều là sự phối hợp hành động</a:t>
            </a:r>
            <a:r>
              <a:rPr lang="en-US" sz="2400" dirty="0"/>
              <a:t> </a:t>
            </a:r>
            <a:r>
              <a:rPr lang="vi-VN" sz="2400" dirty="0"/>
              <a:t>chung chống ma tuý (drug cartel)</a:t>
            </a:r>
            <a:endParaRPr lang="en-US" sz="2400" dirty="0"/>
          </a:p>
        </p:txBody>
      </p:sp>
      <p:sp>
        <p:nvSpPr>
          <p:cNvPr id="6" name="TextBox 5">
            <a:extLst>
              <a:ext uri="{FF2B5EF4-FFF2-40B4-BE49-F238E27FC236}">
                <a16:creationId xmlns:a16="http://schemas.microsoft.com/office/drawing/2014/main" id="{FA4802A0-8583-9AAA-27B1-248BD316484F}"/>
              </a:ext>
            </a:extLst>
          </p:cNvPr>
          <p:cNvSpPr txBox="1"/>
          <p:nvPr/>
        </p:nvSpPr>
        <p:spPr>
          <a:xfrm>
            <a:off x="524238" y="3562107"/>
            <a:ext cx="8616950" cy="1938992"/>
          </a:xfrm>
          <a:prstGeom prst="rect">
            <a:avLst/>
          </a:prstGeom>
          <a:noFill/>
        </p:spPr>
        <p:txBody>
          <a:bodyPr wrap="square">
            <a:spAutoFit/>
          </a:bodyPr>
          <a:lstStyle/>
          <a:p>
            <a:pPr marL="285750" indent="-285750">
              <a:buFont typeface="Wingdings" panose="05000000000000000000" pitchFamily="2" charset="2"/>
              <a:buChar char="Ø"/>
            </a:pPr>
            <a:r>
              <a:rPr lang="en-US" sz="2400" dirty="0" err="1"/>
              <a:t>Xử</a:t>
            </a:r>
            <a:r>
              <a:rPr lang="en-US" sz="2400" dirty="0"/>
              <a:t> </a:t>
            </a:r>
            <a:r>
              <a:rPr lang="en-US" sz="2400" dirty="0" err="1"/>
              <a:t>lý</a:t>
            </a:r>
            <a:r>
              <a:rPr lang="en-US" sz="2400" dirty="0"/>
              <a:t> </a:t>
            </a:r>
            <a:r>
              <a:rPr lang="en-US" sz="2400" dirty="0" err="1"/>
              <a:t>vấn</a:t>
            </a:r>
            <a:r>
              <a:rPr lang="en-US" sz="2400" dirty="0"/>
              <a:t> </a:t>
            </a:r>
            <a:r>
              <a:rPr lang="en-US" sz="2400" dirty="0" err="1"/>
              <a:t>đề</a:t>
            </a:r>
            <a:r>
              <a:rPr lang="en-US" sz="2400" dirty="0"/>
              <a:t> </a:t>
            </a:r>
            <a:r>
              <a:rPr lang="en-US" sz="2400" dirty="0" err="1"/>
              <a:t>ngữ</a:t>
            </a:r>
            <a:r>
              <a:rPr lang="en-US" sz="2400" dirty="0"/>
              <a:t> </a:t>
            </a:r>
            <a:r>
              <a:rPr lang="en-US" sz="2400" dirty="0" err="1"/>
              <a:t>nghĩa</a:t>
            </a:r>
            <a:r>
              <a:rPr lang="en-US" sz="2400" dirty="0"/>
              <a:t>:</a:t>
            </a:r>
          </a:p>
          <a:p>
            <a:pPr marL="285750" indent="-285750">
              <a:buFont typeface="Courier New" panose="02070309020205020404" pitchFamily="49" charset="0"/>
              <a:buChar char="o"/>
            </a:pPr>
            <a:r>
              <a:rPr lang="en-US" sz="2400" dirty="0" err="1"/>
              <a:t>Từ</a:t>
            </a:r>
            <a:r>
              <a:rPr lang="en-US" sz="2400" dirty="0"/>
              <a:t> </a:t>
            </a:r>
            <a:r>
              <a:rPr lang="en-US" sz="2400" dirty="0" err="1"/>
              <a:t>đồng</a:t>
            </a:r>
            <a:r>
              <a:rPr lang="en-US" sz="2400" dirty="0"/>
              <a:t> </a:t>
            </a:r>
            <a:r>
              <a:rPr lang="en-US" sz="2400" dirty="0" err="1"/>
              <a:t>nghĩa</a:t>
            </a:r>
            <a:r>
              <a:rPr lang="en-US" sz="2400" dirty="0"/>
              <a:t>: buy/purchase</a:t>
            </a:r>
          </a:p>
          <a:p>
            <a:pPr marL="285750" indent="-285750">
              <a:buFont typeface="Courier New" panose="02070309020205020404" pitchFamily="49" charset="0"/>
              <a:buChar char="o"/>
            </a:pPr>
            <a:r>
              <a:rPr lang="en-US" sz="2400" dirty="0" err="1"/>
              <a:t>Từ</a:t>
            </a:r>
            <a:r>
              <a:rPr lang="en-US" sz="2400" dirty="0"/>
              <a:t> </a:t>
            </a:r>
            <a:r>
              <a:rPr lang="en-US" sz="2400" dirty="0" err="1"/>
              <a:t>đa</a:t>
            </a:r>
            <a:r>
              <a:rPr lang="en-US" sz="2400" dirty="0"/>
              <a:t> </a:t>
            </a:r>
            <a:r>
              <a:rPr lang="en-US" sz="2400" dirty="0" err="1"/>
              <a:t>nghĩa</a:t>
            </a:r>
            <a:r>
              <a:rPr lang="en-US" sz="2400" dirty="0"/>
              <a:t>: present : a gift, the current moment, to show or display</a:t>
            </a:r>
          </a:p>
          <a:p>
            <a:pPr marL="285750" indent="-285750">
              <a:buFont typeface="Wingdings" panose="05000000000000000000" pitchFamily="2" charset="2"/>
              <a:buChar char="Ø"/>
            </a:pPr>
            <a:r>
              <a:rPr lang="en-US" sz="2400" dirty="0" err="1"/>
              <a:t>Xử</a:t>
            </a:r>
            <a:r>
              <a:rPr lang="en-US" sz="2400" dirty="0"/>
              <a:t> </a:t>
            </a:r>
            <a:r>
              <a:rPr lang="en-US" sz="2400" dirty="0" err="1"/>
              <a:t>lý</a:t>
            </a:r>
            <a:r>
              <a:rPr lang="en-US" sz="2400" dirty="0"/>
              <a:t> </a:t>
            </a:r>
            <a:r>
              <a:rPr lang="en-US" sz="2400" dirty="0" err="1"/>
              <a:t>trật</a:t>
            </a:r>
            <a:r>
              <a:rPr lang="en-US" sz="2400" dirty="0"/>
              <a:t> </a:t>
            </a:r>
            <a:r>
              <a:rPr lang="en-US" sz="2400" dirty="0" err="1"/>
              <a:t>tự</a:t>
            </a:r>
            <a:r>
              <a:rPr lang="en-US" sz="2400" dirty="0"/>
              <a:t> </a:t>
            </a:r>
            <a:r>
              <a:rPr lang="en-US" sz="2400" dirty="0" err="1"/>
              <a:t>từ</a:t>
            </a:r>
            <a:endParaRPr lang="en-US" sz="2400" dirty="0"/>
          </a:p>
        </p:txBody>
      </p:sp>
    </p:spTree>
    <p:extLst>
      <p:ext uri="{BB962C8B-B14F-4D97-AF65-F5344CB8AC3E}">
        <p14:creationId xmlns:p14="http://schemas.microsoft.com/office/powerpoint/2010/main" val="1177546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945F4-B03C-3E8A-03D5-8DE371124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D5F2D-6DCD-97CB-4A65-02E8782E322E}"/>
              </a:ext>
            </a:extLst>
          </p:cNvPr>
          <p:cNvSpPr>
            <a:spLocks noGrp="1"/>
          </p:cNvSpPr>
          <p:nvPr>
            <p:ph type="title"/>
          </p:nvPr>
        </p:nvSpPr>
        <p:spPr/>
        <p:txBody>
          <a:bodyPr>
            <a:noAutofit/>
          </a:bodyPr>
          <a:lstStyle/>
          <a:p>
            <a:r>
              <a:rPr lang="en-US" sz="2800" dirty="0" err="1"/>
              <a:t>Kiến</a:t>
            </a:r>
            <a:r>
              <a:rPr lang="en-US" sz="2800" dirty="0"/>
              <a:t> </a:t>
            </a:r>
            <a:r>
              <a:rPr lang="en-US" sz="2800" dirty="0" err="1"/>
              <a:t>trúc</a:t>
            </a:r>
            <a:r>
              <a:rPr lang="en-US" sz="2800" dirty="0"/>
              <a:t> </a:t>
            </a:r>
            <a:r>
              <a:rPr lang="en-US" sz="2800" dirty="0" err="1"/>
              <a:t>tổng</a:t>
            </a:r>
            <a:r>
              <a:rPr lang="en-US" sz="2800" dirty="0"/>
              <a:t> </a:t>
            </a:r>
            <a:r>
              <a:rPr lang="en-US" sz="2800" dirty="0" err="1"/>
              <a:t>thể</a:t>
            </a:r>
            <a:r>
              <a:rPr lang="en-US" sz="2800" dirty="0"/>
              <a:t> </a:t>
            </a:r>
            <a:r>
              <a:rPr lang="en-US" sz="2800" dirty="0" err="1"/>
              <a:t>hệ</a:t>
            </a:r>
            <a:r>
              <a:rPr lang="en-US" sz="2800" dirty="0"/>
              <a:t> </a:t>
            </a:r>
            <a:r>
              <a:rPr lang="en-US" sz="2800" dirty="0" err="1"/>
              <a:t>thống</a:t>
            </a:r>
            <a:r>
              <a:rPr lang="en-US" sz="2800" dirty="0"/>
              <a:t> IR</a:t>
            </a:r>
            <a:endParaRPr sz="2800" dirty="0"/>
          </a:p>
        </p:txBody>
      </p:sp>
      <p:pic>
        <p:nvPicPr>
          <p:cNvPr id="4" name="Picture 3">
            <a:extLst>
              <a:ext uri="{FF2B5EF4-FFF2-40B4-BE49-F238E27FC236}">
                <a16:creationId xmlns:a16="http://schemas.microsoft.com/office/drawing/2014/main" id="{E4CA8A86-1B69-13CD-C1F9-9582C3C2F74F}"/>
              </a:ext>
            </a:extLst>
          </p:cNvPr>
          <p:cNvPicPr>
            <a:picLocks noChangeAspect="1"/>
          </p:cNvPicPr>
          <p:nvPr/>
        </p:nvPicPr>
        <p:blipFill>
          <a:blip r:embed="rId2"/>
          <a:srcRect t="11838"/>
          <a:stretch>
            <a:fillRect/>
          </a:stretch>
        </p:blipFill>
        <p:spPr>
          <a:xfrm>
            <a:off x="1219200" y="819149"/>
            <a:ext cx="9753600" cy="6029325"/>
          </a:xfrm>
          <a:prstGeom prst="rect">
            <a:avLst/>
          </a:prstGeom>
        </p:spPr>
      </p:pic>
    </p:spTree>
    <p:extLst>
      <p:ext uri="{BB962C8B-B14F-4D97-AF65-F5344CB8AC3E}">
        <p14:creationId xmlns:p14="http://schemas.microsoft.com/office/powerpoint/2010/main" val="3877043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F2F-47CA-A12C-7816-6C32B00DE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400F7-F1D1-0181-36CF-861808FABB15}"/>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văn</a:t>
            </a:r>
            <a:r>
              <a:rPr lang="en-US" sz="2800" dirty="0"/>
              <a:t> </a:t>
            </a:r>
            <a:r>
              <a:rPr lang="en-US" sz="2800" dirty="0" err="1"/>
              <a:t>bản</a:t>
            </a:r>
            <a:endParaRPr sz="2800" dirty="0"/>
          </a:p>
        </p:txBody>
      </p:sp>
      <p:pic>
        <p:nvPicPr>
          <p:cNvPr id="3" name="Picture 2">
            <a:extLst>
              <a:ext uri="{FF2B5EF4-FFF2-40B4-BE49-F238E27FC236}">
                <a16:creationId xmlns:a16="http://schemas.microsoft.com/office/drawing/2014/main" id="{0A92C060-5B43-82E5-5359-913BF2A1C20E}"/>
              </a:ext>
            </a:extLst>
          </p:cNvPr>
          <p:cNvPicPr>
            <a:picLocks noChangeAspect="1"/>
          </p:cNvPicPr>
          <p:nvPr/>
        </p:nvPicPr>
        <p:blipFill>
          <a:blip r:embed="rId2"/>
          <a:srcRect t="11838"/>
          <a:stretch>
            <a:fillRect/>
          </a:stretch>
        </p:blipFill>
        <p:spPr>
          <a:xfrm>
            <a:off x="1162050" y="476493"/>
            <a:ext cx="9753600" cy="6029325"/>
          </a:xfrm>
          <a:prstGeom prst="rect">
            <a:avLst/>
          </a:prstGeom>
        </p:spPr>
      </p:pic>
      <p:sp>
        <p:nvSpPr>
          <p:cNvPr id="4" name="Oval 3">
            <a:extLst>
              <a:ext uri="{FF2B5EF4-FFF2-40B4-BE49-F238E27FC236}">
                <a16:creationId xmlns:a16="http://schemas.microsoft.com/office/drawing/2014/main" id="{866D712D-3C5E-9862-3CB1-5A3508A48E5A}"/>
              </a:ext>
            </a:extLst>
          </p:cNvPr>
          <p:cNvSpPr/>
          <p:nvPr/>
        </p:nvSpPr>
        <p:spPr>
          <a:xfrm>
            <a:off x="2794000" y="1676400"/>
            <a:ext cx="5803900" cy="93980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3295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B2349-5840-87BA-FC35-9DD2F6A6D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BBA9C-6A9B-10FA-3750-83A89515036F}"/>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văn</a:t>
            </a:r>
            <a:r>
              <a:rPr lang="en-US" sz="2800" dirty="0"/>
              <a:t> </a:t>
            </a:r>
            <a:r>
              <a:rPr lang="en-US" sz="2800" dirty="0" err="1"/>
              <a:t>bản</a:t>
            </a:r>
            <a:endParaRPr sz="2800" dirty="0"/>
          </a:p>
        </p:txBody>
      </p:sp>
      <p:sp>
        <p:nvSpPr>
          <p:cNvPr id="4" name="TextBox 3">
            <a:extLst>
              <a:ext uri="{FF2B5EF4-FFF2-40B4-BE49-F238E27FC236}">
                <a16:creationId xmlns:a16="http://schemas.microsoft.com/office/drawing/2014/main" id="{A3793411-0366-9E68-071B-21A0DB18686B}"/>
              </a:ext>
            </a:extLst>
          </p:cNvPr>
          <p:cNvSpPr txBox="1"/>
          <p:nvPr/>
        </p:nvSpPr>
        <p:spPr>
          <a:xfrm>
            <a:off x="244838" y="1456889"/>
            <a:ext cx="8861062" cy="3046988"/>
          </a:xfrm>
          <a:prstGeom prst="rect">
            <a:avLst/>
          </a:prstGeom>
          <a:noFill/>
        </p:spPr>
        <p:txBody>
          <a:bodyPr wrap="square">
            <a:spAutoFit/>
          </a:bodyPr>
          <a:lstStyle/>
          <a:p>
            <a:pPr marL="285750" indent="-285750">
              <a:buFont typeface="Arial" panose="020B0604020202020204" pitchFamily="34" charset="0"/>
              <a:buChar char="•"/>
            </a:pPr>
            <a:r>
              <a:rPr lang="vi-VN" sz="2400" dirty="0"/>
              <a:t>Mỗi tài liệu text được biểu diễn bởi một tập các từ (bag</a:t>
            </a:r>
            <a:r>
              <a:rPr lang="en-US" sz="2400" dirty="0"/>
              <a:t> </a:t>
            </a:r>
            <a:r>
              <a:rPr lang="vi-VN" sz="2400" dirty="0"/>
              <a:t>of words)</a:t>
            </a:r>
          </a:p>
          <a:p>
            <a:pPr marL="742950" lvl="1" indent="-285750">
              <a:buFont typeface="Courier New" panose="02070309020205020404" pitchFamily="49" charset="0"/>
              <a:buChar char="o"/>
            </a:pPr>
            <a:r>
              <a:rPr lang="vi-VN" sz="2400" dirty="0"/>
              <a:t>VD: “Lord of the rings” </a:t>
            </a:r>
            <a:r>
              <a:rPr lang="en-US" sz="2400" dirty="0"/>
              <a:t>=&gt;</a:t>
            </a:r>
            <a:r>
              <a:rPr lang="vi-VN" sz="2400" dirty="0"/>
              <a:t> {“the”, “Lord”, “rings”, “of”}</a:t>
            </a:r>
          </a:p>
          <a:p>
            <a:pPr marL="742950" lvl="1" indent="-285750">
              <a:buFont typeface="Courier New" panose="02070309020205020404" pitchFamily="49" charset="0"/>
              <a:buChar char="o"/>
            </a:pPr>
            <a:r>
              <a:rPr lang="vi-VN" sz="2400" dirty="0"/>
              <a:t>Mỗi từ được coi là một chiều trong không gian từ điển</a:t>
            </a:r>
          </a:p>
          <a:p>
            <a:pPr marL="742950" lvl="1" indent="-285750">
              <a:buFont typeface="Courier New" panose="02070309020205020404" pitchFamily="49" charset="0"/>
              <a:buChar char="o"/>
            </a:pPr>
            <a:r>
              <a:rPr lang="vi-VN" sz="2400" dirty="0"/>
              <a:t>Số chiều = kích thước của từ điển</a:t>
            </a:r>
          </a:p>
          <a:p>
            <a:pPr marL="285750" indent="-285750">
              <a:buFont typeface="Arial" panose="020B0604020202020204" pitchFamily="34" charset="0"/>
              <a:buChar char="•"/>
            </a:pPr>
            <a:r>
              <a:rPr lang="vi-VN" sz="2400" dirty="0"/>
              <a:t>Một số kỹ thuật xử lý:</a:t>
            </a:r>
          </a:p>
          <a:p>
            <a:pPr marL="742950" lvl="1" indent="-285750">
              <a:buFont typeface="Courier New" panose="02070309020205020404" pitchFamily="49" charset="0"/>
              <a:buChar char="o"/>
            </a:pPr>
            <a:r>
              <a:rPr lang="vi-VN" sz="2400" dirty="0"/>
              <a:t>Stop list</a:t>
            </a:r>
          </a:p>
          <a:p>
            <a:pPr marL="742950" lvl="1" indent="-285750">
              <a:buFont typeface="Courier New" panose="02070309020205020404" pitchFamily="49" charset="0"/>
              <a:buChar char="o"/>
            </a:pPr>
            <a:r>
              <a:rPr lang="vi-VN" sz="2400" dirty="0"/>
              <a:t>Stemming</a:t>
            </a:r>
          </a:p>
          <a:p>
            <a:pPr marL="742950" lvl="1" indent="-285750">
              <a:buFont typeface="Courier New" panose="02070309020205020404" pitchFamily="49" charset="0"/>
              <a:buChar char="o"/>
            </a:pPr>
            <a:r>
              <a:rPr lang="vi-VN" sz="2400" dirty="0"/>
              <a:t>Frequency table</a:t>
            </a:r>
            <a:endParaRPr lang="en-US" sz="2400" dirty="0"/>
          </a:p>
        </p:txBody>
      </p:sp>
    </p:spTree>
    <p:extLst>
      <p:ext uri="{BB962C8B-B14F-4D97-AF65-F5344CB8AC3E}">
        <p14:creationId xmlns:p14="http://schemas.microsoft.com/office/powerpoint/2010/main" val="4145265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06EC0-0BDE-F487-6F37-F51EC10C7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57719-08E3-E7E9-13E7-F4CA3CC7CB8E}"/>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văn</a:t>
            </a:r>
            <a:r>
              <a:rPr lang="en-US" sz="2800" dirty="0"/>
              <a:t> </a:t>
            </a:r>
            <a:r>
              <a:rPr lang="en-US" sz="2800" dirty="0" err="1"/>
              <a:t>bản</a:t>
            </a:r>
            <a:endParaRPr sz="2800" dirty="0"/>
          </a:p>
        </p:txBody>
      </p:sp>
      <p:pic>
        <p:nvPicPr>
          <p:cNvPr id="3" name="Picture 2">
            <a:extLst>
              <a:ext uri="{FF2B5EF4-FFF2-40B4-BE49-F238E27FC236}">
                <a16:creationId xmlns:a16="http://schemas.microsoft.com/office/drawing/2014/main" id="{4864B058-CF3B-26B1-8BB8-6ED472D06AF8}"/>
              </a:ext>
            </a:extLst>
          </p:cNvPr>
          <p:cNvPicPr>
            <a:picLocks noChangeAspect="1"/>
          </p:cNvPicPr>
          <p:nvPr/>
        </p:nvPicPr>
        <p:blipFill>
          <a:blip r:embed="rId2"/>
          <a:srcRect b="16667"/>
          <a:stretch>
            <a:fillRect/>
          </a:stretch>
        </p:blipFill>
        <p:spPr>
          <a:xfrm>
            <a:off x="1041400" y="1336675"/>
            <a:ext cx="9753600" cy="3603625"/>
          </a:xfrm>
          <a:prstGeom prst="rect">
            <a:avLst/>
          </a:prstGeom>
        </p:spPr>
      </p:pic>
      <p:sp>
        <p:nvSpPr>
          <p:cNvPr id="5" name="TextBox 4">
            <a:extLst>
              <a:ext uri="{FF2B5EF4-FFF2-40B4-BE49-F238E27FC236}">
                <a16:creationId xmlns:a16="http://schemas.microsoft.com/office/drawing/2014/main" id="{85C9EAD3-AC95-B711-0A76-6E64E0D1D1A3}"/>
              </a:ext>
            </a:extLst>
          </p:cNvPr>
          <p:cNvSpPr txBox="1"/>
          <p:nvPr/>
        </p:nvSpPr>
        <p:spPr>
          <a:xfrm>
            <a:off x="1828800" y="4940300"/>
            <a:ext cx="8392041" cy="369332"/>
          </a:xfrm>
          <a:prstGeom prst="rect">
            <a:avLst/>
          </a:prstGeom>
          <a:noFill/>
        </p:spPr>
        <p:txBody>
          <a:bodyPr wrap="none" rtlCol="0">
            <a:spAutoFit/>
          </a:bodyPr>
          <a:lstStyle/>
          <a:p>
            <a:r>
              <a:rPr lang="en-US" dirty="0" err="1"/>
              <a:t>Góc</a:t>
            </a:r>
            <a:r>
              <a:rPr lang="en-US" dirty="0"/>
              <a:t> </a:t>
            </a:r>
            <a:r>
              <a:rPr lang="en-US" dirty="0" err="1"/>
              <a:t>nhìn</a:t>
            </a:r>
            <a:r>
              <a:rPr lang="en-US" dirty="0"/>
              <a:t> logic </a:t>
            </a:r>
            <a:r>
              <a:rPr lang="en-US" dirty="0" err="1"/>
              <a:t>của</a:t>
            </a:r>
            <a:r>
              <a:rPr lang="en-US" dirty="0"/>
              <a:t> </a:t>
            </a:r>
            <a:r>
              <a:rPr lang="en-US" dirty="0" err="1"/>
              <a:t>một</a:t>
            </a:r>
            <a:r>
              <a:rPr lang="en-US" dirty="0"/>
              <a:t> </a:t>
            </a:r>
            <a:r>
              <a:rPr lang="en-US" dirty="0" err="1"/>
              <a:t>tài</a:t>
            </a:r>
            <a:r>
              <a:rPr lang="en-US" dirty="0"/>
              <a:t> </a:t>
            </a:r>
            <a:r>
              <a:rPr lang="en-US" dirty="0" err="1"/>
              <a:t>liệu</a:t>
            </a:r>
            <a:r>
              <a:rPr lang="en-US" dirty="0"/>
              <a:t>: </a:t>
            </a:r>
            <a:r>
              <a:rPr lang="en-US" dirty="0" err="1"/>
              <a:t>từ</a:t>
            </a:r>
            <a:r>
              <a:rPr lang="en-US" dirty="0"/>
              <a:t> </a:t>
            </a:r>
            <a:r>
              <a:rPr lang="en-US" dirty="0" err="1"/>
              <a:t>văn</a:t>
            </a:r>
            <a:r>
              <a:rPr lang="en-US" dirty="0"/>
              <a:t> </a:t>
            </a:r>
            <a:r>
              <a:rPr lang="en-US" dirty="0" err="1"/>
              <a:t>bản</a:t>
            </a:r>
            <a:r>
              <a:rPr lang="en-US" dirty="0"/>
              <a:t> </a:t>
            </a:r>
            <a:r>
              <a:rPr lang="en-US" dirty="0" err="1"/>
              <a:t>đầy</a:t>
            </a:r>
            <a:r>
              <a:rPr lang="en-US" dirty="0"/>
              <a:t> </a:t>
            </a:r>
            <a:r>
              <a:rPr lang="en-US" dirty="0" err="1"/>
              <a:t>đủ</a:t>
            </a:r>
            <a:r>
              <a:rPr lang="en-US" dirty="0"/>
              <a:t> </a:t>
            </a:r>
            <a:r>
              <a:rPr lang="en-US" dirty="0" err="1"/>
              <a:t>đến</a:t>
            </a:r>
            <a:r>
              <a:rPr lang="en-US" dirty="0"/>
              <a:t> </a:t>
            </a:r>
            <a:r>
              <a:rPr lang="en-US" dirty="0" err="1"/>
              <a:t>tập</a:t>
            </a:r>
            <a:r>
              <a:rPr lang="en-US" dirty="0"/>
              <a:t> </a:t>
            </a:r>
            <a:r>
              <a:rPr lang="en-US" dirty="0" err="1"/>
              <a:t>hợp</a:t>
            </a:r>
            <a:r>
              <a:rPr lang="en-US" dirty="0"/>
              <a:t> </a:t>
            </a:r>
            <a:r>
              <a:rPr lang="en-US" dirty="0" err="1"/>
              <a:t>các</a:t>
            </a:r>
            <a:r>
              <a:rPr lang="en-US" dirty="0"/>
              <a:t> </a:t>
            </a:r>
            <a:r>
              <a:rPr lang="en-US" dirty="0" err="1"/>
              <a:t>thuật</a:t>
            </a:r>
            <a:r>
              <a:rPr lang="en-US" dirty="0"/>
              <a:t> </a:t>
            </a:r>
            <a:r>
              <a:rPr lang="en-US" dirty="0" err="1"/>
              <a:t>ngữ</a:t>
            </a:r>
            <a:r>
              <a:rPr lang="en-US" dirty="0"/>
              <a:t> </a:t>
            </a:r>
            <a:r>
              <a:rPr lang="en-US" dirty="0" err="1"/>
              <a:t>lập</a:t>
            </a:r>
            <a:r>
              <a:rPr lang="en-US" dirty="0"/>
              <a:t> </a:t>
            </a:r>
            <a:r>
              <a:rPr lang="en-US" dirty="0" err="1"/>
              <a:t>chỉ</a:t>
            </a:r>
            <a:r>
              <a:rPr lang="en-US" dirty="0"/>
              <a:t> </a:t>
            </a:r>
            <a:r>
              <a:rPr lang="en-US" dirty="0" err="1"/>
              <a:t>mục</a:t>
            </a:r>
            <a:endParaRPr lang="en-US" dirty="0"/>
          </a:p>
        </p:txBody>
      </p:sp>
    </p:spTree>
    <p:extLst>
      <p:ext uri="{BB962C8B-B14F-4D97-AF65-F5344CB8AC3E}">
        <p14:creationId xmlns:p14="http://schemas.microsoft.com/office/powerpoint/2010/main" val="948386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7C93-E4B1-DF36-FEF1-A293FFEA6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937F1-32AD-2656-4855-0200E912842D}"/>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văn</a:t>
            </a:r>
            <a:r>
              <a:rPr lang="en-US" sz="2800" dirty="0"/>
              <a:t> </a:t>
            </a:r>
            <a:r>
              <a:rPr lang="en-US" sz="2800" dirty="0" err="1"/>
              <a:t>bản</a:t>
            </a:r>
            <a:endParaRPr sz="2800" dirty="0"/>
          </a:p>
        </p:txBody>
      </p:sp>
      <p:sp>
        <p:nvSpPr>
          <p:cNvPr id="4" name="TextBox 3">
            <a:extLst>
              <a:ext uri="{FF2B5EF4-FFF2-40B4-BE49-F238E27FC236}">
                <a16:creationId xmlns:a16="http://schemas.microsoft.com/office/drawing/2014/main" id="{2D7EA95F-93C6-554D-0ABB-1268D7A08EAB}"/>
              </a:ext>
            </a:extLst>
          </p:cNvPr>
          <p:cNvSpPr txBox="1"/>
          <p:nvPr/>
        </p:nvSpPr>
        <p:spPr>
          <a:xfrm>
            <a:off x="524238" y="592907"/>
            <a:ext cx="8875776" cy="2985433"/>
          </a:xfrm>
          <a:prstGeom prst="rect">
            <a:avLst/>
          </a:prstGeom>
          <a:noFill/>
        </p:spPr>
        <p:txBody>
          <a:bodyPr wrap="square">
            <a:spAutoFit/>
          </a:bodyPr>
          <a:lstStyle/>
          <a:p>
            <a:pPr marL="285750" indent="-285750">
              <a:buFont typeface="Arial" panose="020B0604020202020204" pitchFamily="34" charset="0"/>
              <a:buChar char="•"/>
            </a:pPr>
            <a:r>
              <a:rPr lang="vi-VN" sz="2000" b="1" dirty="0"/>
              <a:t>Stop list: </a:t>
            </a:r>
            <a:r>
              <a:rPr lang="vi-VN" sz="2000" dirty="0"/>
              <a:t>các từ </a:t>
            </a:r>
            <a:r>
              <a:rPr lang="vi-VN" sz="2000" b="1" dirty="0"/>
              <a:t>không giúp phân biệt </a:t>
            </a:r>
            <a:r>
              <a:rPr lang="vi-VN" sz="2000" dirty="0"/>
              <a:t>các tài liệu trong</a:t>
            </a:r>
            <a:r>
              <a:rPr lang="en-US" sz="2000" dirty="0"/>
              <a:t> </a:t>
            </a:r>
            <a:r>
              <a:rPr lang="vi-VN" sz="2000" dirty="0"/>
              <a:t>1 tập các tài liệu được xem xét</a:t>
            </a:r>
          </a:p>
          <a:p>
            <a:pPr marL="285750" indent="-285750">
              <a:buFont typeface="Arial" panose="020B0604020202020204" pitchFamily="34" charset="0"/>
              <a:buChar char="•"/>
            </a:pPr>
            <a:r>
              <a:rPr lang="vi-VN" sz="2000" dirty="0"/>
              <a:t>Chung:</a:t>
            </a:r>
          </a:p>
          <a:p>
            <a:r>
              <a:rPr lang="en-US" sz="2000" dirty="0"/>
              <a:t>	</a:t>
            </a:r>
            <a:r>
              <a:rPr lang="vi-VN" sz="2000" dirty="0"/>
              <a:t>« the », « a », « of », « at », « are », « for », « with », …</a:t>
            </a:r>
          </a:p>
          <a:p>
            <a:pPr marL="285750" indent="-285750">
              <a:buFont typeface="Arial" panose="020B0604020202020204" pitchFamily="34" charset="0"/>
              <a:buChar char="•"/>
            </a:pPr>
            <a:r>
              <a:rPr lang="vi-VN" sz="2000" dirty="0"/>
              <a:t>Tùy thuộc vào bản chất của CSDL:</a:t>
            </a:r>
          </a:p>
          <a:p>
            <a:pPr marL="742950" lvl="1" indent="-285750">
              <a:buFont typeface="Courier New" panose="02070309020205020404" pitchFamily="49" charset="0"/>
              <a:buChar char="o"/>
            </a:pPr>
            <a:r>
              <a:rPr lang="vi-VN" sz="2000" dirty="0"/>
              <a:t>Tài liệu kỹ thuật về Computer Science :</a:t>
            </a:r>
          </a:p>
          <a:p>
            <a:pPr marL="742950" lvl="1" indent="-285750">
              <a:buFont typeface="Wingdings" panose="05000000000000000000" pitchFamily="2" charset="2"/>
              <a:buChar char="Ø"/>
            </a:pPr>
            <a:r>
              <a:rPr lang="vi-VN" sz="2000" dirty="0"/>
              <a:t>« computer » thuộc stop list</a:t>
            </a:r>
            <a:endParaRPr lang="en-US" sz="2000" dirty="0"/>
          </a:p>
          <a:p>
            <a:pPr marL="742950" lvl="1" indent="-285750">
              <a:buFont typeface="Courier New" panose="02070309020205020404" pitchFamily="49" charset="0"/>
              <a:buChar char="o"/>
            </a:pPr>
            <a:r>
              <a:rPr lang="vi-VN" sz="2000" dirty="0"/>
              <a:t>Tài liệu về ngành nông, lâm nghiệp :</a:t>
            </a:r>
          </a:p>
          <a:p>
            <a:pPr marL="742950" lvl="1" indent="-285750">
              <a:buFont typeface="Wingdings" panose="05000000000000000000" pitchFamily="2" charset="2"/>
              <a:buChar char="Ø"/>
            </a:pPr>
            <a:r>
              <a:rPr lang="vi-VN" sz="2000" dirty="0"/>
              <a:t>« computer » KHÔNG thuộc stop </a:t>
            </a:r>
            <a:r>
              <a:rPr lang="vi-VN" sz="2400" dirty="0"/>
              <a:t>list</a:t>
            </a:r>
            <a:endParaRPr lang="en-US" sz="2000" dirty="0"/>
          </a:p>
        </p:txBody>
      </p:sp>
      <p:sp>
        <p:nvSpPr>
          <p:cNvPr id="7" name="TextBox 6">
            <a:extLst>
              <a:ext uri="{FF2B5EF4-FFF2-40B4-BE49-F238E27FC236}">
                <a16:creationId xmlns:a16="http://schemas.microsoft.com/office/drawing/2014/main" id="{8A2241E9-535C-E8E9-22E6-8EF63407E658}"/>
              </a:ext>
            </a:extLst>
          </p:cNvPr>
          <p:cNvSpPr txBox="1"/>
          <p:nvPr/>
        </p:nvSpPr>
        <p:spPr>
          <a:xfrm>
            <a:off x="524238" y="3578340"/>
            <a:ext cx="9406146" cy="2246769"/>
          </a:xfrm>
          <a:prstGeom prst="rect">
            <a:avLst/>
          </a:prstGeom>
          <a:noFill/>
        </p:spPr>
        <p:txBody>
          <a:bodyPr wrap="square">
            <a:spAutoFit/>
          </a:bodyPr>
          <a:lstStyle/>
          <a:p>
            <a:pPr marL="285750" indent="-285750">
              <a:buFont typeface="Arial" panose="020B0604020202020204" pitchFamily="34" charset="0"/>
              <a:buChar char="•"/>
            </a:pPr>
            <a:r>
              <a:rPr lang="en-US" sz="2000" dirty="0"/>
              <a:t>Stemming: </a:t>
            </a:r>
            <a:r>
              <a:rPr lang="en-US" sz="2000" dirty="0" err="1"/>
              <a:t>nhóm</a:t>
            </a:r>
            <a:r>
              <a:rPr lang="en-US" sz="2000" dirty="0"/>
              <a:t> </a:t>
            </a:r>
            <a:r>
              <a:rPr lang="en-US" sz="2000" dirty="0" err="1"/>
              <a:t>các</a:t>
            </a:r>
            <a:r>
              <a:rPr lang="en-US" sz="2000" dirty="0"/>
              <a:t> </a:t>
            </a:r>
            <a:r>
              <a:rPr lang="en-US" sz="2000" dirty="0" err="1"/>
              <a:t>biến</a:t>
            </a:r>
            <a:r>
              <a:rPr lang="en-US" sz="2000" dirty="0"/>
              <a:t> </a:t>
            </a:r>
            <a:r>
              <a:rPr lang="en-US" sz="2000" dirty="0" err="1"/>
              <a:t>thể</a:t>
            </a:r>
            <a:r>
              <a:rPr lang="en-US" sz="2000" dirty="0"/>
              <a:t> </a:t>
            </a:r>
            <a:r>
              <a:rPr lang="en-US" sz="2000" dirty="0" err="1"/>
              <a:t>của</a:t>
            </a:r>
            <a:r>
              <a:rPr lang="en-US" sz="2000" dirty="0"/>
              <a:t> </a:t>
            </a:r>
            <a:r>
              <a:rPr lang="en-US" sz="2000" dirty="0" err="1"/>
              <a:t>một</a:t>
            </a:r>
            <a:r>
              <a:rPr lang="en-US" sz="2000" dirty="0"/>
              <a:t> </a:t>
            </a:r>
            <a:r>
              <a:rPr lang="en-US" sz="2000" dirty="0" err="1"/>
              <a:t>từ</a:t>
            </a:r>
            <a:r>
              <a:rPr lang="en-US" sz="2000" dirty="0"/>
              <a:t> </a:t>
            </a:r>
            <a:r>
              <a:rPr lang="en-US" sz="2000" dirty="0" err="1"/>
              <a:t>gốc</a:t>
            </a:r>
            <a:r>
              <a:rPr lang="en-US" sz="2000" dirty="0"/>
              <a:t> </a:t>
            </a:r>
            <a:r>
              <a:rPr lang="en-US" sz="2000" dirty="0" err="1"/>
              <a:t>thành</a:t>
            </a:r>
            <a:r>
              <a:rPr lang="en-US" sz="2000" dirty="0"/>
              <a:t> 1 </a:t>
            </a:r>
            <a:r>
              <a:rPr lang="en-US" sz="2000" dirty="0" err="1"/>
              <a:t>nhóm</a:t>
            </a:r>
            <a:r>
              <a:rPr lang="en-US" sz="2000" dirty="0"/>
              <a:t>, </a:t>
            </a:r>
            <a:r>
              <a:rPr lang="en-US" sz="2000" dirty="0" err="1"/>
              <a:t>biểu</a:t>
            </a:r>
            <a:r>
              <a:rPr lang="en-US" sz="2000" dirty="0"/>
              <a:t> </a:t>
            </a:r>
            <a:r>
              <a:rPr lang="en-US" sz="2000" dirty="0" err="1"/>
              <a:t>diễn</a:t>
            </a:r>
            <a:r>
              <a:rPr lang="en-US" sz="2000" dirty="0"/>
              <a:t> </a:t>
            </a:r>
            <a:r>
              <a:rPr lang="en-US" sz="2000" dirty="0" err="1"/>
              <a:t>bởi</a:t>
            </a:r>
            <a:r>
              <a:rPr lang="en-US" sz="2000" dirty="0"/>
              <a:t> 1 </a:t>
            </a:r>
            <a:r>
              <a:rPr lang="en-US" sz="2000" dirty="0" err="1"/>
              <a:t>từ</a:t>
            </a:r>
            <a:endParaRPr lang="en-US" sz="2000" dirty="0"/>
          </a:p>
          <a:p>
            <a:pPr marL="742950" lvl="1" indent="-285750">
              <a:buFont typeface="Courier New" panose="02070309020205020404" pitchFamily="49" charset="0"/>
              <a:buChar char="o"/>
            </a:pPr>
            <a:r>
              <a:rPr lang="en-US" sz="2000" dirty="0"/>
              <a:t>« retrieved », « retrieval », « retrieving », « retrieval »  </a:t>
            </a:r>
            <a:r>
              <a:rPr lang="en-US" sz="2000" b="1" dirty="0">
                <a:solidFill>
                  <a:srgbClr val="FF0000"/>
                </a:solidFill>
              </a:rPr>
              <a:t>=&gt;</a:t>
            </a:r>
            <a:r>
              <a:rPr lang="en-US" sz="2000" dirty="0"/>
              <a:t> « </a:t>
            </a:r>
            <a:r>
              <a:rPr lang="en-US" sz="2000" dirty="0" err="1"/>
              <a:t>retriev</a:t>
            </a:r>
            <a:r>
              <a:rPr lang="en-US" sz="2000" dirty="0"/>
              <a:t> »</a:t>
            </a:r>
          </a:p>
          <a:p>
            <a:pPr marL="742950" lvl="1" indent="-285750">
              <a:buFont typeface="Courier New" panose="02070309020205020404" pitchFamily="49" charset="0"/>
              <a:buChar char="o"/>
            </a:pPr>
            <a:r>
              <a:rPr lang="en-US" sz="2000" dirty="0"/>
              <a:t>« drug », « drugs », « drugged » </a:t>
            </a:r>
            <a:r>
              <a:rPr lang="en-US" sz="2000" b="1" dirty="0">
                <a:solidFill>
                  <a:srgbClr val="FF0000"/>
                </a:solidFill>
              </a:rPr>
              <a:t>=&gt;</a:t>
            </a:r>
            <a:r>
              <a:rPr lang="en-US" sz="2000" dirty="0"/>
              <a:t> « drug »</a:t>
            </a:r>
          </a:p>
          <a:p>
            <a:pPr marL="742950" lvl="1" indent="-285750">
              <a:buFont typeface="Courier New" panose="02070309020205020404" pitchFamily="49" charset="0"/>
              <a:buChar char="o"/>
            </a:pPr>
            <a:r>
              <a:rPr lang="en-US" sz="2000" dirty="0"/>
              <a:t>…</a:t>
            </a:r>
          </a:p>
          <a:p>
            <a:pPr marL="285750" indent="-285750">
              <a:buFont typeface="Arial" panose="020B0604020202020204" pitchFamily="34" charset="0"/>
              <a:buChar char="•"/>
            </a:pPr>
            <a:r>
              <a:rPr lang="en-US" sz="2000" dirty="0"/>
              <a:t>Thesaurus: </a:t>
            </a:r>
            <a:r>
              <a:rPr lang="en-US" sz="2000" dirty="0" err="1"/>
              <a:t>nhóm</a:t>
            </a:r>
            <a:r>
              <a:rPr lang="en-US" sz="2000" dirty="0"/>
              <a:t> </a:t>
            </a:r>
            <a:r>
              <a:rPr lang="en-US" sz="2000" dirty="0" err="1"/>
              <a:t>các</a:t>
            </a:r>
            <a:r>
              <a:rPr lang="en-US" sz="2000" dirty="0"/>
              <a:t> </a:t>
            </a:r>
            <a:r>
              <a:rPr lang="en-US" sz="2000" dirty="0" err="1"/>
              <a:t>từ</a:t>
            </a:r>
            <a:r>
              <a:rPr lang="en-US" sz="2000" dirty="0"/>
              <a:t> </a:t>
            </a:r>
            <a:r>
              <a:rPr lang="en-US" sz="2000" dirty="0" err="1"/>
              <a:t>gần</a:t>
            </a:r>
            <a:r>
              <a:rPr lang="en-US" sz="2000" dirty="0"/>
              <a:t> </a:t>
            </a:r>
            <a:r>
              <a:rPr lang="en-US" sz="2000" dirty="0" err="1"/>
              <a:t>nghĩa</a:t>
            </a:r>
            <a:r>
              <a:rPr lang="en-US" sz="2000" b="1" dirty="0"/>
              <a:t> </a:t>
            </a:r>
            <a:r>
              <a:rPr lang="en-US" sz="2000" b="1" dirty="0">
                <a:solidFill>
                  <a:srgbClr val="FF0000"/>
                </a:solidFill>
              </a:rPr>
              <a:t>=&gt;</a:t>
            </a:r>
            <a:r>
              <a:rPr lang="en-US" sz="2000" b="1" dirty="0"/>
              <a:t> </a:t>
            </a:r>
            <a:r>
              <a:rPr lang="en-US" sz="2000" dirty="0" err="1"/>
              <a:t>sử</a:t>
            </a:r>
            <a:r>
              <a:rPr lang="en-US" sz="2000" dirty="0"/>
              <a:t> </a:t>
            </a:r>
            <a:r>
              <a:rPr lang="en-US" sz="2000" dirty="0" err="1"/>
              <a:t>dụng</a:t>
            </a:r>
            <a:r>
              <a:rPr lang="en-US" sz="2000" dirty="0"/>
              <a:t> </a:t>
            </a:r>
            <a:r>
              <a:rPr lang="en-US" sz="2000" dirty="0" err="1"/>
              <a:t>từ</a:t>
            </a:r>
            <a:r>
              <a:rPr lang="en-US" sz="2000" dirty="0"/>
              <a:t> </a:t>
            </a:r>
            <a:r>
              <a:rPr lang="en-US" sz="2000" dirty="0" err="1"/>
              <a:t>điển</a:t>
            </a:r>
            <a:r>
              <a:rPr lang="en-US" sz="2000" dirty="0"/>
              <a:t> </a:t>
            </a:r>
            <a:r>
              <a:rPr lang="en-US" sz="2000" dirty="0" err="1"/>
              <a:t>từ</a:t>
            </a:r>
            <a:r>
              <a:rPr lang="en-US" sz="2000" dirty="0"/>
              <a:t> </a:t>
            </a:r>
            <a:r>
              <a:rPr lang="en-US" sz="2000" dirty="0" err="1"/>
              <a:t>đồng</a:t>
            </a:r>
            <a:r>
              <a:rPr lang="en-US" sz="2000" dirty="0"/>
              <a:t> </a:t>
            </a:r>
            <a:r>
              <a:rPr lang="en-US" sz="2000" dirty="0" err="1"/>
              <a:t>nghĩa</a:t>
            </a:r>
            <a:r>
              <a:rPr lang="en-US" sz="2000" dirty="0"/>
              <a:t> </a:t>
            </a:r>
            <a:r>
              <a:rPr lang="en-US" sz="2000" dirty="0" err="1"/>
              <a:t>hoặc</a:t>
            </a:r>
            <a:r>
              <a:rPr lang="en-US" sz="2000" dirty="0"/>
              <a:t> </a:t>
            </a:r>
            <a:r>
              <a:rPr lang="en-US" sz="2000" dirty="0" err="1"/>
              <a:t>có</a:t>
            </a:r>
            <a:r>
              <a:rPr lang="en-US" sz="2000" dirty="0"/>
              <a:t> </a:t>
            </a:r>
            <a:r>
              <a:rPr lang="en-US" sz="2000" dirty="0" err="1"/>
              <a:t>liên</a:t>
            </a:r>
            <a:r>
              <a:rPr lang="en-US" sz="2000" dirty="0"/>
              <a:t> </a:t>
            </a:r>
            <a:r>
              <a:rPr lang="en-US" sz="2000" dirty="0" err="1"/>
              <a:t>quan</a:t>
            </a:r>
            <a:r>
              <a:rPr lang="en-US" sz="2000" dirty="0"/>
              <a:t> </a:t>
            </a:r>
            <a:r>
              <a:rPr lang="en-US" sz="2000" dirty="0" err="1"/>
              <a:t>giữa</a:t>
            </a:r>
            <a:r>
              <a:rPr lang="en-US" sz="2000" dirty="0"/>
              <a:t> </a:t>
            </a:r>
            <a:r>
              <a:rPr lang="en-US" sz="2000" dirty="0" err="1"/>
              <a:t>chúng</a:t>
            </a:r>
            <a:r>
              <a:rPr lang="en-US" sz="2000" dirty="0"/>
              <a:t>:</a:t>
            </a:r>
          </a:p>
          <a:p>
            <a:r>
              <a:rPr lang="en-US" sz="2000" dirty="0"/>
              <a:t>« learning », « school work », « reading », « study » </a:t>
            </a:r>
            <a:r>
              <a:rPr lang="en-US" sz="2000" b="1" dirty="0">
                <a:solidFill>
                  <a:srgbClr val="FF0000"/>
                </a:solidFill>
              </a:rPr>
              <a:t>=&gt;</a:t>
            </a:r>
            <a:r>
              <a:rPr lang="en-US" sz="2000" dirty="0"/>
              <a:t> « study »</a:t>
            </a:r>
          </a:p>
        </p:txBody>
      </p:sp>
    </p:spTree>
    <p:extLst>
      <p:ext uri="{BB962C8B-B14F-4D97-AF65-F5344CB8AC3E}">
        <p14:creationId xmlns:p14="http://schemas.microsoft.com/office/powerpoint/2010/main" val="50891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828B7-AA36-4B58-B33E-13FA725FA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C780E-99B0-7570-323F-1534503BBC8F}"/>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văn</a:t>
            </a:r>
            <a:r>
              <a:rPr lang="en-US" sz="2800" dirty="0"/>
              <a:t> </a:t>
            </a:r>
            <a:r>
              <a:rPr lang="en-US" sz="2800" dirty="0" err="1"/>
              <a:t>bản</a:t>
            </a:r>
            <a:endParaRPr sz="28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437779C-514A-0BD1-EEB1-12CADCFB5934}"/>
                  </a:ext>
                </a:extLst>
              </p:cNvPr>
              <p:cNvSpPr txBox="1"/>
              <p:nvPr/>
            </p:nvSpPr>
            <p:spPr>
              <a:xfrm>
                <a:off x="377190" y="660960"/>
                <a:ext cx="8154162" cy="1963679"/>
              </a:xfrm>
              <a:prstGeom prst="rect">
                <a:avLst/>
              </a:prstGeom>
              <a:noFill/>
            </p:spPr>
            <p:txBody>
              <a:bodyPr wrap="square">
                <a:spAutoFit/>
              </a:bodyPr>
              <a:lstStyle/>
              <a:p>
                <a:pPr marL="342900" indent="-342900">
                  <a:buFont typeface="Arial" panose="020B0604020202020204" pitchFamily="34" charset="0"/>
                  <a:buChar char="•"/>
                </a:pPr>
                <a:r>
                  <a:rPr lang="en-US" sz="2000" dirty="0"/>
                  <a:t>Frequency table (</a:t>
                </a:r>
                <a:r>
                  <a:rPr lang="en-US" sz="2000" dirty="0" err="1"/>
                  <a:t>bảng</a:t>
                </a:r>
                <a:r>
                  <a:rPr lang="en-US" sz="2000" dirty="0"/>
                  <a:t> </a:t>
                </a:r>
                <a:r>
                  <a:rPr lang="en-US" sz="2000" dirty="0" err="1"/>
                  <a:t>tần</a:t>
                </a:r>
                <a:r>
                  <a:rPr lang="en-US" sz="2000" dirty="0"/>
                  <a:t> </a:t>
                </a:r>
                <a:r>
                  <a:rPr lang="en-US" sz="2000" dirty="0" err="1"/>
                  <a:t>số</a:t>
                </a:r>
                <a:r>
                  <a:rPr lang="en-US" sz="2000" dirty="0"/>
                  <a:t>): </a:t>
                </a:r>
                <a:r>
                  <a:rPr lang="en-US" sz="2000" dirty="0" err="1"/>
                  <a:t>hỗ</a:t>
                </a:r>
                <a:r>
                  <a:rPr lang="en-US" sz="2000" dirty="0"/>
                  <a:t> </a:t>
                </a:r>
                <a:r>
                  <a:rPr lang="en-US" sz="2000" dirty="0" err="1"/>
                  <a:t>trợ</a:t>
                </a:r>
                <a:r>
                  <a:rPr lang="en-US" sz="2000" dirty="0"/>
                  <a:t> </a:t>
                </a:r>
                <a:r>
                  <a:rPr lang="en-US" sz="2000" dirty="0" err="1"/>
                  <a:t>xác</a:t>
                </a:r>
                <a:r>
                  <a:rPr lang="en-US" sz="2000" dirty="0"/>
                  <a:t> </a:t>
                </a:r>
                <a:r>
                  <a:rPr lang="en-US" sz="2000" dirty="0" err="1"/>
                  <a:t>định</a:t>
                </a:r>
                <a:r>
                  <a:rPr lang="en-US" sz="2000" dirty="0"/>
                  <a:t> </a:t>
                </a:r>
                <a:r>
                  <a:rPr lang="en-US" sz="2000" dirty="0" err="1"/>
                  <a:t>mức</a:t>
                </a:r>
                <a:r>
                  <a:rPr lang="en-US" sz="2000" dirty="0"/>
                  <a:t> </a:t>
                </a:r>
                <a:r>
                  <a:rPr lang="en-US" sz="2000" dirty="0" err="1"/>
                  <a:t>độ</a:t>
                </a:r>
                <a:r>
                  <a:rPr lang="en-US" sz="2000" dirty="0"/>
                  <a:t> </a:t>
                </a:r>
                <a:r>
                  <a:rPr lang="en-US" sz="2000" dirty="0" err="1"/>
                  <a:t>quan</a:t>
                </a:r>
                <a:r>
                  <a:rPr lang="en-US" sz="2000" dirty="0"/>
                  <a:t> </a:t>
                </a:r>
                <a:r>
                  <a:rPr lang="en-US" sz="2000" dirty="0" err="1"/>
                  <a:t>trọng</a:t>
                </a:r>
                <a:r>
                  <a:rPr lang="en-US" sz="2000" dirty="0"/>
                  <a:t> </a:t>
                </a:r>
                <a:r>
                  <a:rPr lang="en-US" sz="2000" dirty="0" err="1"/>
                  <a:t>khác</a:t>
                </a:r>
                <a:r>
                  <a:rPr lang="en-US" sz="2000" dirty="0"/>
                  <a:t> </a:t>
                </a:r>
                <a:r>
                  <a:rPr lang="en-US" sz="2000" dirty="0" err="1"/>
                  <a:t>nhau</a:t>
                </a:r>
                <a:r>
                  <a:rPr lang="en-US" sz="2000" dirty="0"/>
                  <a:t> </a:t>
                </a:r>
                <a:r>
                  <a:rPr lang="en-US" sz="2000" dirty="0" err="1"/>
                  <a:t>của</a:t>
                </a:r>
                <a:r>
                  <a:rPr lang="en-US" sz="2000" dirty="0"/>
                  <a:t> </a:t>
                </a:r>
                <a:r>
                  <a:rPr lang="en-US" sz="2000" dirty="0" err="1"/>
                  <a:t>các</a:t>
                </a:r>
                <a:r>
                  <a:rPr lang="en-US" sz="2000" dirty="0"/>
                  <a:t> </a:t>
                </a:r>
                <a:r>
                  <a:rPr lang="en-US" sz="2000" dirty="0" err="1"/>
                  <a:t>từ</a:t>
                </a:r>
                <a:r>
                  <a:rPr lang="en-US" sz="2000" dirty="0"/>
                  <a:t> </a:t>
                </a:r>
                <a:r>
                  <a:rPr lang="en-US" sz="2000" dirty="0" err="1"/>
                  <a:t>trong</a:t>
                </a:r>
                <a:r>
                  <a:rPr lang="en-US" sz="2000" dirty="0"/>
                  <a:t> </a:t>
                </a:r>
                <a:r>
                  <a:rPr lang="en-US" sz="2000" dirty="0" err="1"/>
                  <a:t>văn</a:t>
                </a:r>
                <a:r>
                  <a:rPr lang="en-US" sz="2000" dirty="0"/>
                  <a:t> </a:t>
                </a:r>
                <a:r>
                  <a:rPr lang="en-US" sz="2000" dirty="0" err="1"/>
                  <a:t>bản</a:t>
                </a:r>
                <a:r>
                  <a:rPr lang="en-US" sz="2000" dirty="0"/>
                  <a:t> </a:t>
                </a:r>
                <a:r>
                  <a:rPr lang="en-US" sz="2000" dirty="0" err="1"/>
                  <a:t>khi</a:t>
                </a:r>
                <a:r>
                  <a:rPr lang="en-US" sz="2000" dirty="0"/>
                  <a:t> </a:t>
                </a:r>
                <a:r>
                  <a:rPr lang="en-US" sz="2000" dirty="0" err="1"/>
                  <a:t>thực</a:t>
                </a:r>
                <a:r>
                  <a:rPr lang="en-US" sz="2000" dirty="0"/>
                  <a:t> </a:t>
                </a:r>
                <a:r>
                  <a:rPr lang="en-US" sz="2000" dirty="0" err="1"/>
                  <a:t>hiện</a:t>
                </a:r>
                <a:r>
                  <a:rPr lang="en-US" sz="2000" dirty="0"/>
                  <a:t> </a:t>
                </a:r>
                <a:r>
                  <a:rPr lang="en-US" sz="2000" dirty="0" err="1"/>
                  <a:t>tìm</a:t>
                </a:r>
                <a:r>
                  <a:rPr lang="en-US" sz="2000" dirty="0"/>
                  <a:t> </a:t>
                </a:r>
                <a:r>
                  <a:rPr lang="en-US" sz="2000" dirty="0" err="1"/>
                  <a:t>kiếm</a:t>
                </a:r>
                <a:endParaRPr lang="en-US" sz="2000" dirty="0"/>
              </a:p>
              <a:p>
                <a:pPr marL="800100" lvl="1" indent="-342900">
                  <a:buFont typeface="Courier New" panose="02070309020205020404" pitchFamily="49" charset="0"/>
                  <a:buChar char="o"/>
                </a:pPr>
                <a:r>
                  <a:rPr lang="en-US" sz="2000" dirty="0"/>
                  <a:t>D: </a:t>
                </a:r>
                <a:r>
                  <a:rPr lang="en-US" sz="2000" dirty="0" err="1"/>
                  <a:t>tập</a:t>
                </a:r>
                <a:r>
                  <a:rPr lang="en-US" sz="2000" dirty="0"/>
                  <a:t> N </a:t>
                </a:r>
                <a:r>
                  <a:rPr lang="en-US" sz="2000" dirty="0" err="1"/>
                  <a:t>văn</a:t>
                </a:r>
                <a:r>
                  <a:rPr lang="en-US" sz="2000" dirty="0"/>
                  <a:t> </a:t>
                </a:r>
                <a:r>
                  <a:rPr lang="en-US" sz="2000" dirty="0" err="1"/>
                  <a:t>bản</a:t>
                </a:r>
                <a:endParaRPr lang="en-US" sz="2000" dirty="0"/>
              </a:p>
              <a:p>
                <a:pPr marL="800100" lvl="1" indent="-342900">
                  <a:buFont typeface="Courier New" panose="02070309020205020404" pitchFamily="49" charset="0"/>
                  <a:buChar char="o"/>
                </a:pPr>
                <a:r>
                  <a:rPr lang="en-US" sz="2000" dirty="0"/>
                  <a:t>T: </a:t>
                </a:r>
                <a:r>
                  <a:rPr lang="en-US" sz="2000" dirty="0" err="1"/>
                  <a:t>tập</a:t>
                </a:r>
                <a:r>
                  <a:rPr lang="en-US" sz="2000" dirty="0"/>
                  <a:t> M </a:t>
                </a:r>
                <a:r>
                  <a:rPr lang="en-US" sz="2000" dirty="0" err="1"/>
                  <a:t>từ</a:t>
                </a:r>
                <a:r>
                  <a:rPr lang="en-US" sz="2000" dirty="0"/>
                  <a:t> </a:t>
                </a:r>
                <a:r>
                  <a:rPr lang="en-US" sz="2000" dirty="0" err="1"/>
                  <a:t>trong</a:t>
                </a:r>
                <a:r>
                  <a:rPr lang="en-US" sz="2000" dirty="0"/>
                  <a:t> </a:t>
                </a:r>
                <a:r>
                  <a:rPr lang="en-US" sz="2000" dirty="0" err="1"/>
                  <a:t>các</a:t>
                </a:r>
                <a:r>
                  <a:rPr lang="en-US" sz="2000" dirty="0"/>
                  <a:t> </a:t>
                </a:r>
                <a:r>
                  <a:rPr lang="en-US" sz="2000" dirty="0" err="1"/>
                  <a:t>tài</a:t>
                </a:r>
                <a:r>
                  <a:rPr lang="en-US" sz="2000" dirty="0"/>
                  <a:t> </a:t>
                </a:r>
                <a:r>
                  <a:rPr lang="en-US" sz="2000" dirty="0" err="1"/>
                  <a:t>liệu</a:t>
                </a:r>
                <a:r>
                  <a:rPr lang="en-US" sz="2000" dirty="0"/>
                  <a:t> </a:t>
                </a:r>
                <a:r>
                  <a:rPr lang="en-US" sz="2000" dirty="0" err="1"/>
                  <a:t>trong</a:t>
                </a:r>
                <a:r>
                  <a:rPr lang="en-US" sz="2000" dirty="0"/>
                  <a:t> D</a:t>
                </a:r>
              </a:p>
              <a:p>
                <a:pPr marL="800100" lvl="1" indent="-342900">
                  <a:buFont typeface="Courier New" panose="02070309020205020404" pitchFamily="49" charset="0"/>
                  <a:buChar char="o"/>
                </a:pPr>
                <a:r>
                  <a:rPr lang="en-US" sz="2000" dirty="0"/>
                  <a:t>Frequency table: </a:t>
                </a:r>
                <a:r>
                  <a:rPr lang="en-US" sz="2000" dirty="0" err="1"/>
                  <a:t>MxN</a:t>
                </a:r>
                <a:endParaRPr lang="en-US" sz="2000" dirty="0"/>
              </a:p>
              <a:p>
                <a:pPr lvl="1"/>
                <a:r>
                  <a:rPr lang="en-US" sz="2000" dirty="0"/>
                  <a:t>	</a:t>
                </a:r>
                <a14:m>
                  <m:oMath xmlns:m="http://schemas.openxmlformats.org/officeDocument/2006/math">
                    <m:r>
                      <a:rPr lang="en-US" sz="2000" i="1" dirty="0" smtClean="0">
                        <a:latin typeface="Cambria Math" panose="02040503050406030204" pitchFamily="18" charset="0"/>
                      </a:rPr>
                      <m:t>𝑡𝑓</m:t>
                    </m:r>
                    <m:r>
                      <a:rPr lang="en-US" sz="2000" i="1" dirty="0">
                        <a:latin typeface="Cambria Math" panose="02040503050406030204" pitchFamily="18" charset="0"/>
                      </a:rPr>
                      <m:t>(</m:t>
                    </m:r>
                    <m:r>
                      <a:rPr lang="en-US" sz="2000" i="1" dirty="0" err="1">
                        <a:latin typeface="Cambria Math" panose="02040503050406030204" pitchFamily="18" charset="0"/>
                      </a:rPr>
                      <m:t>𝑖</m:t>
                    </m:r>
                    <m:r>
                      <a:rPr lang="en-US" sz="2000" i="1" dirty="0">
                        <a:latin typeface="Cambria Math" panose="02040503050406030204" pitchFamily="18" charset="0"/>
                      </a:rPr>
                      <m:t>, </m:t>
                    </m:r>
                    <m:r>
                      <a:rPr lang="en-US" sz="2000" i="1" dirty="0">
                        <a:latin typeface="Cambria Math" panose="02040503050406030204" pitchFamily="18" charset="0"/>
                      </a:rPr>
                      <m:t>𝑗</m:t>
                    </m:r>
                    <m:r>
                      <a:rPr lang="en-US" sz="2000" i="1" dirty="0">
                        <a:latin typeface="Cambria Math" panose="02040503050406030204" pitchFamily="18" charset="0"/>
                      </a:rPr>
                      <m:t>) </m:t>
                    </m:r>
                  </m:oMath>
                </a14:m>
                <a:r>
                  <a:rPr lang="en-US" sz="2000" dirty="0"/>
                  <a:t>(term frequency): </a:t>
                </a:r>
                <a:r>
                  <a:rPr lang="en-US" sz="2000" dirty="0" err="1"/>
                  <a:t>số</a:t>
                </a:r>
                <a:r>
                  <a:rPr lang="en-US" sz="2000" dirty="0"/>
                  <a:t> </a:t>
                </a:r>
                <a:r>
                  <a:rPr lang="en-US" sz="2000" dirty="0" err="1"/>
                  <a:t>lần</a:t>
                </a:r>
                <a:r>
                  <a:rPr lang="en-US" sz="2000" dirty="0"/>
                  <a:t> </a:t>
                </a:r>
                <a:r>
                  <a:rPr lang="en-US" sz="2000" dirty="0" err="1"/>
                  <a:t>xuất</a:t>
                </a:r>
                <a:r>
                  <a:rPr lang="en-US" sz="2000" dirty="0"/>
                  <a:t> </a:t>
                </a:r>
                <a:r>
                  <a:rPr lang="en-US" sz="2000" dirty="0" err="1"/>
                  <a:t>hiện</a:t>
                </a:r>
                <a:r>
                  <a:rPr lang="en-US" sz="2000" dirty="0"/>
                  <a:t> </a:t>
                </a:r>
                <a:r>
                  <a:rPr lang="en-US" sz="2000" dirty="0" err="1"/>
                  <a:t>các</a:t>
                </a:r>
                <a:r>
                  <a:rPr lang="en-US" sz="2000" dirty="0"/>
                  <a:t> </a:t>
                </a:r>
                <a:r>
                  <a:rPr lang="en-US" sz="2000" dirty="0" err="1"/>
                  <a:t>từ</a:t>
                </a:r>
                <a:r>
                  <a:rPr lang="en-US" sz="2000" dirty="0"/>
                  <a:t> </a:t>
                </a:r>
                <a:r>
                  <a:rPr lang="en-US" sz="2000" dirty="0" err="1"/>
                  <a:t>ti</a:t>
                </a:r>
                <a:r>
                  <a:rPr lang="en-US" sz="2000" dirty="0"/>
                  <a:t> </a:t>
                </a:r>
                <a:r>
                  <a:rPr lang="en-US" sz="2000" dirty="0" err="1"/>
                  <a:t>trong</a:t>
                </a:r>
                <a:r>
                  <a:rPr lang="en-US" sz="2000" dirty="0"/>
                  <a:t> </a:t>
                </a:r>
                <a:r>
                  <a:rPr lang="en-US" sz="2000" dirty="0" err="1"/>
                  <a:t>văn</a:t>
                </a:r>
                <a:r>
                  <a:rPr lang="en-US" sz="2000" dirty="0"/>
                  <a:t> </a:t>
                </a:r>
                <a:r>
                  <a:rPr lang="en-US" sz="2000" dirty="0" err="1"/>
                  <a:t>bản</a:t>
                </a:r>
                <a:r>
                  <a:rPr lang="en-US" sz="2000" dirty="0"/>
                  <a:t>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𝑑</m:t>
                        </m:r>
                      </m:e>
                      <m:sub>
                        <m:r>
                          <a:rPr lang="en-US" sz="2000" b="0" i="1" dirty="0" smtClean="0">
                            <a:latin typeface="Cambria Math" panose="02040503050406030204" pitchFamily="18" charset="0"/>
                          </a:rPr>
                          <m:t>𝑗</m:t>
                        </m:r>
                      </m:sub>
                    </m:sSub>
                  </m:oMath>
                </a14:m>
                <a:endParaRPr lang="en-US" sz="2000" dirty="0"/>
              </a:p>
            </p:txBody>
          </p:sp>
        </mc:Choice>
        <mc:Fallback xmlns="">
          <p:sp>
            <p:nvSpPr>
              <p:cNvPr id="5" name="TextBox 4">
                <a:extLst>
                  <a:ext uri="{FF2B5EF4-FFF2-40B4-BE49-F238E27FC236}">
                    <a16:creationId xmlns:a16="http://schemas.microsoft.com/office/drawing/2014/main" id="{7437779C-514A-0BD1-EEB1-12CADCFB5934}"/>
                  </a:ext>
                </a:extLst>
              </p:cNvPr>
              <p:cNvSpPr txBox="1">
                <a:spLocks noRot="1" noChangeAspect="1" noMove="1" noResize="1" noEditPoints="1" noAdjustHandles="1" noChangeArrowheads="1" noChangeShapeType="1" noTextEdit="1"/>
              </p:cNvSpPr>
              <p:nvPr/>
            </p:nvSpPr>
            <p:spPr>
              <a:xfrm>
                <a:off x="377190" y="660960"/>
                <a:ext cx="8154162" cy="1963679"/>
              </a:xfrm>
              <a:prstGeom prst="rect">
                <a:avLst/>
              </a:prstGeom>
              <a:blipFill>
                <a:blip r:embed="rId2"/>
                <a:stretch>
                  <a:fillRect l="-673" t="-1548" b="-30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CDA4CF2-CB81-A81C-B93F-B34C326B6E42}"/>
                  </a:ext>
                </a:extLst>
              </p:cNvPr>
              <p:cNvSpPr txBox="1"/>
              <p:nvPr/>
            </p:nvSpPr>
            <p:spPr>
              <a:xfrm>
                <a:off x="524238" y="5118068"/>
                <a:ext cx="8820930" cy="1073755"/>
              </a:xfrm>
              <a:prstGeom prst="rect">
                <a:avLst/>
              </a:prstGeom>
              <a:noFill/>
            </p:spPr>
            <p:txBody>
              <a:bodyPr wrap="square">
                <a:spAutoFit/>
              </a:bodyPr>
              <a:lstStyle/>
              <a:p>
                <a:pPr marL="342900" indent="-342900">
                  <a:buFont typeface="Arial" panose="020B0604020202020204" pitchFamily="34" charset="0"/>
                  <a:buChar char="•"/>
                </a:pPr>
                <a:r>
                  <a:rPr lang="vi-VN" sz="2000" dirty="0"/>
                  <a:t>Mỗi văn bản </a:t>
                </a:r>
                <a14:m>
                  <m:oMath xmlns:m="http://schemas.openxmlformats.org/officeDocument/2006/math">
                    <m:sSub>
                      <m:sSubPr>
                        <m:ctrlPr>
                          <a:rPr lang="vi-VN" sz="2000" i="1" smtClean="0">
                            <a:latin typeface="Cambria Math" panose="02040503050406030204" pitchFamily="18" charset="0"/>
                          </a:rPr>
                        </m:ctrlPr>
                      </m:sSubPr>
                      <m:e>
                        <m:r>
                          <a:rPr lang="en-US" sz="2000" b="0" i="1" smtClean="0">
                            <a:latin typeface="Cambria Math" panose="02040503050406030204" pitchFamily="18" charset="0"/>
                          </a:rPr>
                          <m:t>𝑑</m:t>
                        </m:r>
                      </m:e>
                      <m:sub>
                        <m:r>
                          <a:rPr lang="en-US" sz="2000" b="0" i="1" smtClean="0">
                            <a:latin typeface="Cambria Math" panose="02040503050406030204" pitchFamily="18" charset="0"/>
                          </a:rPr>
                          <m:t>𝑗</m:t>
                        </m:r>
                      </m:sub>
                    </m:sSub>
                  </m:oMath>
                </a14:m>
                <a:r>
                  <a:rPr lang="en-US" sz="2000" dirty="0"/>
                  <a:t> </a:t>
                </a:r>
                <a:r>
                  <a:rPr lang="vi-VN" sz="2000" dirty="0"/>
                  <a:t>được biểu diễn bởi 1 vector chỉ tần suất</a:t>
                </a:r>
                <a:r>
                  <a:rPr lang="en-US" sz="2000" dirty="0"/>
                  <a:t> </a:t>
                </a:r>
                <a:r>
                  <a:rPr lang="vi-VN" sz="2000" dirty="0"/>
                  <a:t>xuất hiện của các từ trong văn bản đó : (</a:t>
                </a:r>
                <a14:m>
                  <m:oMath xmlns:m="http://schemas.openxmlformats.org/officeDocument/2006/math">
                    <m:r>
                      <a:rPr lang="vi-VN" sz="2000" i="1" dirty="0" smtClean="0">
                        <a:latin typeface="Cambria Math" panose="02040503050406030204" pitchFamily="18" charset="0"/>
                      </a:rPr>
                      <m:t>𝑡</m:t>
                    </m:r>
                    <m:sSub>
                      <m:sSubPr>
                        <m:ctrlPr>
                          <a:rPr lang="vi-VN" sz="200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1,</m:t>
                        </m:r>
                        <m:r>
                          <a:rPr lang="en-US" sz="2000" b="0" i="1" dirty="0" smtClean="0">
                            <a:latin typeface="Cambria Math" panose="02040503050406030204" pitchFamily="18" charset="0"/>
                          </a:rPr>
                          <m:t>𝑗</m:t>
                        </m:r>
                      </m:sub>
                    </m:sSub>
                  </m:oMath>
                </a14:m>
                <a:r>
                  <a:rPr lang="vi-VN" sz="2000" dirty="0"/>
                  <a:t>, </a:t>
                </a:r>
                <a14:m>
                  <m:oMath xmlns:m="http://schemas.openxmlformats.org/officeDocument/2006/math">
                    <m:r>
                      <a:rPr lang="vi-VN" sz="2000" i="1" dirty="0">
                        <a:latin typeface="Cambria Math" panose="02040503050406030204" pitchFamily="18" charset="0"/>
                      </a:rPr>
                      <m:t>𝑡</m:t>
                    </m:r>
                    <m:sSub>
                      <m:sSubPr>
                        <m:ctrlPr>
                          <a:rPr lang="vi-VN"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b="0" i="1" dirty="0" smtClean="0">
                            <a:latin typeface="Cambria Math" panose="02040503050406030204" pitchFamily="18" charset="0"/>
                          </a:rPr>
                          <m:t>2</m:t>
                        </m:r>
                        <m:r>
                          <a:rPr lang="en-US" sz="2000" i="1" dirty="0">
                            <a:latin typeface="Cambria Math" panose="02040503050406030204" pitchFamily="18" charset="0"/>
                          </a:rPr>
                          <m:t>,</m:t>
                        </m:r>
                        <m:r>
                          <a:rPr lang="en-US" sz="2000" i="1" dirty="0">
                            <a:latin typeface="Cambria Math" panose="02040503050406030204" pitchFamily="18" charset="0"/>
                          </a:rPr>
                          <m:t>𝑗</m:t>
                        </m:r>
                      </m:sub>
                    </m:sSub>
                  </m:oMath>
                </a14:m>
                <a:r>
                  <a:rPr lang="vi-VN" sz="2000" dirty="0"/>
                  <a:t>, … , </a:t>
                </a:r>
                <a14:m>
                  <m:oMath xmlns:m="http://schemas.openxmlformats.org/officeDocument/2006/math">
                    <m:r>
                      <a:rPr lang="vi-VN" sz="2000" i="1" dirty="0">
                        <a:latin typeface="Cambria Math" panose="02040503050406030204" pitchFamily="18" charset="0"/>
                      </a:rPr>
                      <m:t>𝑡</m:t>
                    </m:r>
                    <m:sSub>
                      <m:sSubPr>
                        <m:ctrlPr>
                          <a:rPr lang="vi-VN"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b="0" i="1" dirty="0" smtClean="0">
                            <a:latin typeface="Cambria Math" panose="02040503050406030204" pitchFamily="18" charset="0"/>
                          </a:rPr>
                          <m:t>𝑀</m:t>
                        </m:r>
                        <m:r>
                          <a:rPr lang="en-US" sz="2000" i="1" dirty="0">
                            <a:latin typeface="Cambria Math" panose="02040503050406030204" pitchFamily="18" charset="0"/>
                          </a:rPr>
                          <m:t>,</m:t>
                        </m:r>
                        <m:r>
                          <a:rPr lang="en-US" sz="2000" i="1" dirty="0">
                            <a:latin typeface="Cambria Math" panose="02040503050406030204" pitchFamily="18" charset="0"/>
                          </a:rPr>
                          <m:t>𝑗</m:t>
                        </m:r>
                      </m:sub>
                    </m:sSub>
                  </m:oMath>
                </a14:m>
                <a:r>
                  <a:rPr lang="vi-VN" sz="2000" dirty="0"/>
                  <a:t>)</a:t>
                </a:r>
              </a:p>
              <a:p>
                <a:pPr marL="342900" indent="-342900">
                  <a:buFont typeface="Arial" panose="020B0604020202020204" pitchFamily="34" charset="0"/>
                  <a:buChar char="•"/>
                </a:pPr>
                <a:r>
                  <a:rPr lang="vi-VN" sz="2000" dirty="0"/>
                  <a:t>Thường được chuẩn hóa về [0, 1]: để tính đến ảnh</a:t>
                </a:r>
                <a:r>
                  <a:rPr lang="en-US" sz="2000" dirty="0"/>
                  <a:t> </a:t>
                </a:r>
                <a:r>
                  <a:rPr lang="vi-VN" sz="2000" dirty="0"/>
                  <a:t>hưởng của độ dài của văn bản</a:t>
                </a:r>
                <a:endParaRPr lang="en-US" sz="2000" dirty="0"/>
              </a:p>
            </p:txBody>
          </p:sp>
        </mc:Choice>
        <mc:Fallback xmlns="">
          <p:sp>
            <p:nvSpPr>
              <p:cNvPr id="8" name="TextBox 7">
                <a:extLst>
                  <a:ext uri="{FF2B5EF4-FFF2-40B4-BE49-F238E27FC236}">
                    <a16:creationId xmlns:a16="http://schemas.microsoft.com/office/drawing/2014/main" id="{CCDA4CF2-CB81-A81C-B93F-B34C326B6E42}"/>
                  </a:ext>
                </a:extLst>
              </p:cNvPr>
              <p:cNvSpPr txBox="1">
                <a:spLocks noRot="1" noChangeAspect="1" noMove="1" noResize="1" noEditPoints="1" noAdjustHandles="1" noChangeArrowheads="1" noChangeShapeType="1" noTextEdit="1"/>
              </p:cNvSpPr>
              <p:nvPr/>
            </p:nvSpPr>
            <p:spPr>
              <a:xfrm>
                <a:off x="524238" y="5118068"/>
                <a:ext cx="8820930" cy="1073755"/>
              </a:xfrm>
              <a:prstGeom prst="rect">
                <a:avLst/>
              </a:prstGeom>
              <a:blipFill>
                <a:blip r:embed="rId3"/>
                <a:stretch>
                  <a:fillRect l="-622" t="-3409" b="-96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92FCB63E-76FC-4817-ACF7-C8B45A82BD2A}"/>
                  </a:ext>
                </a:extLst>
              </p:cNvPr>
              <p:cNvGraphicFramePr>
                <a:graphicFrameLocks noGrp="1"/>
              </p:cNvGraphicFramePr>
              <p:nvPr>
                <p:extLst>
                  <p:ext uri="{D42A27DB-BD31-4B8C-83A1-F6EECF244321}">
                    <p14:modId xmlns:p14="http://schemas.microsoft.com/office/powerpoint/2010/main" val="574180729"/>
                  </p:ext>
                </p:extLst>
              </p:nvPr>
            </p:nvGraphicFramePr>
            <p:xfrm>
              <a:off x="451086" y="2809106"/>
              <a:ext cx="8820930" cy="2225040"/>
            </p:xfrm>
            <a:graphic>
              <a:graphicData uri="http://schemas.openxmlformats.org/drawingml/2006/table">
                <a:tbl>
                  <a:tblPr firstRow="1" bandRow="1">
                    <a:tableStyleId>{5C22544A-7EE6-4342-B048-85BDC9FD1C3A}</a:tableStyleId>
                  </a:tblPr>
                  <a:tblGrid>
                    <a:gridCol w="1880634">
                      <a:extLst>
                        <a:ext uri="{9D8B030D-6E8A-4147-A177-3AD203B41FA5}">
                          <a16:colId xmlns:a16="http://schemas.microsoft.com/office/drawing/2014/main" val="2961849021"/>
                        </a:ext>
                      </a:extLst>
                    </a:gridCol>
                    <a:gridCol w="1097280">
                      <a:extLst>
                        <a:ext uri="{9D8B030D-6E8A-4147-A177-3AD203B41FA5}">
                          <a16:colId xmlns:a16="http://schemas.microsoft.com/office/drawing/2014/main" val="2438706636"/>
                        </a:ext>
                      </a:extLst>
                    </a:gridCol>
                    <a:gridCol w="1106424">
                      <a:extLst>
                        <a:ext uri="{9D8B030D-6E8A-4147-A177-3AD203B41FA5}">
                          <a16:colId xmlns:a16="http://schemas.microsoft.com/office/drawing/2014/main" val="3341270920"/>
                        </a:ext>
                      </a:extLst>
                    </a:gridCol>
                    <a:gridCol w="1106424">
                      <a:extLst>
                        <a:ext uri="{9D8B030D-6E8A-4147-A177-3AD203B41FA5}">
                          <a16:colId xmlns:a16="http://schemas.microsoft.com/office/drawing/2014/main" val="2036569772"/>
                        </a:ext>
                      </a:extLst>
                    </a:gridCol>
                    <a:gridCol w="1078992">
                      <a:extLst>
                        <a:ext uri="{9D8B030D-6E8A-4147-A177-3AD203B41FA5}">
                          <a16:colId xmlns:a16="http://schemas.microsoft.com/office/drawing/2014/main" val="2791786405"/>
                        </a:ext>
                      </a:extLst>
                    </a:gridCol>
                    <a:gridCol w="1188720">
                      <a:extLst>
                        <a:ext uri="{9D8B030D-6E8A-4147-A177-3AD203B41FA5}">
                          <a16:colId xmlns:a16="http://schemas.microsoft.com/office/drawing/2014/main" val="872067929"/>
                        </a:ext>
                      </a:extLst>
                    </a:gridCol>
                    <a:gridCol w="1362456">
                      <a:extLst>
                        <a:ext uri="{9D8B030D-6E8A-4147-A177-3AD203B41FA5}">
                          <a16:colId xmlns:a16="http://schemas.microsoft.com/office/drawing/2014/main" val="4143936454"/>
                        </a:ext>
                      </a:extLst>
                    </a:gridCol>
                  </a:tblGrid>
                  <a:tr h="370840">
                    <a:tc>
                      <a:txBody>
                        <a:bodyPr/>
                        <a:lstStyle/>
                        <a:p>
                          <a:r>
                            <a:rPr lang="en-US" dirty="0"/>
                            <a:t>Term/document</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5</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6</m:t>
                                    </m:r>
                                  </m:sub>
                                </m:sSub>
                              </m:oMath>
                            </m:oMathPara>
                          </a14:m>
                          <a:endParaRPr lang="en-US" dirty="0"/>
                        </a:p>
                      </a:txBody>
                      <a:tcPr/>
                    </a:tc>
                    <a:extLst>
                      <a:ext uri="{0D108BD9-81ED-4DB2-BD59-A6C34878D82A}">
                        <a16:rowId xmlns:a16="http://schemas.microsoft.com/office/drawing/2014/main" val="28712625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1</m:t>
                                    </m:r>
                                  </m:sub>
                                </m:sSub>
                              </m:oMath>
                            </m:oMathPara>
                          </a14:m>
                          <a:endParaRPr lang="en-US" dirty="0">
                            <a:latin typeface="+mn-lt"/>
                          </a:endParaRPr>
                        </a:p>
                      </a:txBody>
                      <a:tcPr/>
                    </a:tc>
                    <a:tc>
                      <a:txBody>
                        <a:bodyPr/>
                        <a:lstStyle/>
                        <a:p>
                          <a:r>
                            <a:rPr lang="en-US" dirty="0">
                              <a:latin typeface="+mn-lt"/>
                            </a:rPr>
                            <a:t>15</a:t>
                          </a:r>
                        </a:p>
                      </a:txBody>
                      <a:tcPr/>
                    </a:tc>
                    <a:tc>
                      <a:txBody>
                        <a:bodyPr/>
                        <a:lstStyle/>
                        <a:p>
                          <a:r>
                            <a:rPr lang="en-US" dirty="0">
                              <a:latin typeface="+mn-lt"/>
                            </a:rPr>
                            <a:t>567</a:t>
                          </a:r>
                        </a:p>
                      </a:txBody>
                      <a:tcPr/>
                    </a:tc>
                    <a:tc>
                      <a:txBody>
                        <a:bodyPr/>
                        <a:lstStyle/>
                        <a:p>
                          <a:r>
                            <a:rPr lang="en-US" dirty="0">
                              <a:latin typeface="+mn-lt"/>
                            </a:rPr>
                            <a:t>524</a:t>
                          </a:r>
                        </a:p>
                      </a:txBody>
                      <a:tcPr/>
                    </a:tc>
                    <a:tc>
                      <a:txBody>
                        <a:bodyPr/>
                        <a:lstStyle/>
                        <a:p>
                          <a:r>
                            <a:rPr lang="en-US" dirty="0">
                              <a:latin typeface="+mn-lt"/>
                            </a:rPr>
                            <a:t>423</a:t>
                          </a:r>
                        </a:p>
                      </a:txBody>
                      <a:tcPr/>
                    </a:tc>
                    <a:tc>
                      <a:txBody>
                        <a:bodyPr/>
                        <a:lstStyle/>
                        <a:p>
                          <a:r>
                            <a:rPr lang="en-US" dirty="0">
                              <a:latin typeface="+mn-lt"/>
                            </a:rPr>
                            <a:t>213</a:t>
                          </a:r>
                        </a:p>
                      </a:txBody>
                      <a:tcPr/>
                    </a:tc>
                    <a:tc>
                      <a:txBody>
                        <a:bodyPr/>
                        <a:lstStyle/>
                        <a:p>
                          <a:r>
                            <a:rPr lang="en-US" dirty="0">
                              <a:latin typeface="+mn-lt"/>
                            </a:rPr>
                            <a:t>135</a:t>
                          </a:r>
                        </a:p>
                      </a:txBody>
                      <a:tcPr/>
                    </a:tc>
                    <a:extLst>
                      <a:ext uri="{0D108BD9-81ED-4DB2-BD59-A6C34878D82A}">
                        <a16:rowId xmlns:a16="http://schemas.microsoft.com/office/drawing/2014/main" val="265534288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2</m:t>
                                    </m:r>
                                  </m:sub>
                                </m:sSub>
                              </m:oMath>
                            </m:oMathPara>
                          </a14:m>
                          <a:endParaRPr lang="en-US" dirty="0">
                            <a:latin typeface="+mn-lt"/>
                          </a:endParaRPr>
                        </a:p>
                      </a:txBody>
                      <a:tcPr/>
                    </a:tc>
                    <a:tc>
                      <a:txBody>
                        <a:bodyPr/>
                        <a:lstStyle/>
                        <a:p>
                          <a:r>
                            <a:rPr lang="en-US" dirty="0">
                              <a:latin typeface="+mn-lt"/>
                            </a:rPr>
                            <a:t>246</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584</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247</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646</a:t>
                          </a:r>
                        </a:p>
                      </a:txBody>
                      <a:tcPr/>
                    </a:tc>
                    <a:tc>
                      <a:txBody>
                        <a:bodyPr/>
                        <a:lstStyle/>
                        <a:p>
                          <a:r>
                            <a:rPr lang="en-US" dirty="0">
                              <a:latin typeface="+mn-lt"/>
                            </a:rPr>
                            <a:t>733</a:t>
                          </a:r>
                        </a:p>
                      </a:txBody>
                      <a:tcPr/>
                    </a:tc>
                    <a:tc>
                      <a:txBody>
                        <a:bodyPr/>
                        <a:lstStyle/>
                        <a:p>
                          <a:r>
                            <a:rPr lang="en-US" dirty="0">
                              <a:latin typeface="+mn-lt"/>
                            </a:rPr>
                            <a:t>157</a:t>
                          </a:r>
                        </a:p>
                      </a:txBody>
                      <a:tcPr/>
                    </a:tc>
                    <a:extLst>
                      <a:ext uri="{0D108BD9-81ED-4DB2-BD59-A6C34878D82A}">
                        <a16:rowId xmlns:a16="http://schemas.microsoft.com/office/drawing/2014/main" val="391866888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3</m:t>
                                    </m:r>
                                  </m:sub>
                                </m:sSub>
                              </m:oMath>
                            </m:oMathPara>
                          </a14:m>
                          <a:endParaRPr lang="en-US" dirty="0">
                            <a:latin typeface="+mn-lt"/>
                          </a:endParaRPr>
                        </a:p>
                      </a:txBody>
                      <a:tcPr/>
                    </a:tc>
                    <a:tc>
                      <a:txBody>
                        <a:bodyPr/>
                        <a:lstStyle/>
                        <a:p>
                          <a:r>
                            <a:rPr lang="en-US" dirty="0">
                              <a:latin typeface="+mn-lt"/>
                            </a:rPr>
                            <a:t>451</a:t>
                          </a:r>
                        </a:p>
                      </a:txBody>
                      <a:tcPr/>
                    </a:tc>
                    <a:tc>
                      <a:txBody>
                        <a:bodyPr/>
                        <a:lstStyle/>
                        <a:p>
                          <a:r>
                            <a:rPr lang="en-US" dirty="0">
                              <a:latin typeface="+mn-lt"/>
                            </a:rPr>
                            <a:t>563</a:t>
                          </a:r>
                        </a:p>
                      </a:txBody>
                      <a:tcPr/>
                    </a:tc>
                    <a:tc>
                      <a:txBody>
                        <a:bodyPr/>
                        <a:lstStyle/>
                        <a:p>
                          <a:r>
                            <a:rPr lang="en-US" dirty="0">
                              <a:latin typeface="+mn-lt"/>
                            </a:rPr>
                            <a:t>53</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567</a:t>
                          </a:r>
                        </a:p>
                      </a:txBody>
                      <a:tcPr/>
                    </a:tc>
                    <a:tc>
                      <a:txBody>
                        <a:bodyPr/>
                        <a:lstStyle/>
                        <a:p>
                          <a:r>
                            <a:rPr lang="en-US" dirty="0">
                              <a:latin typeface="+mn-lt"/>
                            </a:rPr>
                            <a:t>135</a:t>
                          </a:r>
                        </a:p>
                      </a:txBody>
                      <a:tcPr/>
                    </a:tc>
                    <a:tc>
                      <a:txBody>
                        <a:bodyPr/>
                        <a:lstStyle/>
                        <a:p>
                          <a:r>
                            <a:rPr lang="en-US" dirty="0">
                              <a:latin typeface="+mn-lt"/>
                            </a:rPr>
                            <a:t>267</a:t>
                          </a:r>
                        </a:p>
                      </a:txBody>
                      <a:tcPr/>
                    </a:tc>
                    <a:extLst>
                      <a:ext uri="{0D108BD9-81ED-4DB2-BD59-A6C34878D82A}">
                        <a16:rowId xmlns:a16="http://schemas.microsoft.com/office/drawing/2014/main" val="164599648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4</m:t>
                                    </m:r>
                                  </m:sub>
                                </m:sSub>
                              </m:oMath>
                            </m:oMathPara>
                          </a14:m>
                          <a:endParaRPr lang="en-US" dirty="0">
                            <a:latin typeface="+mn-lt"/>
                          </a:endParaRPr>
                        </a:p>
                      </a:txBody>
                      <a:tcPr/>
                    </a:tc>
                    <a:tc>
                      <a:txBody>
                        <a:bodyPr/>
                        <a:lstStyle/>
                        <a:p>
                          <a:r>
                            <a:rPr lang="en-US" dirty="0">
                              <a:latin typeface="+mn-lt"/>
                            </a:rPr>
                            <a:t>233</a:t>
                          </a:r>
                        </a:p>
                      </a:txBody>
                      <a:tcPr/>
                    </a:tc>
                    <a:tc>
                      <a:txBody>
                        <a:bodyPr/>
                        <a:lstStyle/>
                        <a:p>
                          <a:r>
                            <a:rPr lang="en-US" dirty="0">
                              <a:latin typeface="+mn-lt"/>
                            </a:rPr>
                            <a:t>234</a:t>
                          </a:r>
                        </a:p>
                      </a:txBody>
                      <a:tcPr/>
                    </a:tc>
                    <a:tc>
                      <a:txBody>
                        <a:bodyPr/>
                        <a:lstStyle/>
                        <a:p>
                          <a:r>
                            <a:rPr lang="en-US" dirty="0">
                              <a:latin typeface="+mn-lt"/>
                            </a:rPr>
                            <a:t>33</a:t>
                          </a:r>
                        </a:p>
                      </a:txBody>
                      <a:tcPr/>
                    </a:tc>
                    <a:tc>
                      <a:txBody>
                        <a:bodyPr/>
                        <a:lstStyle/>
                        <a:p>
                          <a:r>
                            <a:rPr lang="en-US" dirty="0">
                              <a:latin typeface="+mn-lt"/>
                            </a:rPr>
                            <a:t>412</a:t>
                          </a:r>
                        </a:p>
                      </a:txBody>
                      <a:tcPr/>
                    </a:tc>
                    <a:tc>
                      <a:txBody>
                        <a:bodyPr/>
                        <a:lstStyle/>
                        <a:p>
                          <a:r>
                            <a:rPr lang="en-US" dirty="0">
                              <a:latin typeface="+mn-lt"/>
                            </a:rPr>
                            <a:t>325</a:t>
                          </a:r>
                        </a:p>
                      </a:txBody>
                      <a:tcPr/>
                    </a:tc>
                    <a:tc>
                      <a:txBody>
                        <a:bodyPr/>
                        <a:lstStyle/>
                        <a:p>
                          <a:r>
                            <a:rPr lang="en-US" dirty="0">
                              <a:latin typeface="+mn-lt"/>
                            </a:rPr>
                            <a:t>367</a:t>
                          </a:r>
                        </a:p>
                      </a:txBody>
                      <a:tcPr/>
                    </a:tc>
                    <a:extLst>
                      <a:ext uri="{0D108BD9-81ED-4DB2-BD59-A6C34878D82A}">
                        <a16:rowId xmlns:a16="http://schemas.microsoft.com/office/drawing/2014/main" val="411198684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5</m:t>
                                    </m:r>
                                  </m:sub>
                                </m:sSub>
                              </m:oMath>
                            </m:oMathPara>
                          </a14:m>
                          <a:endParaRPr lang="en-US" dirty="0">
                            <a:latin typeface="+mn-lt"/>
                          </a:endParaRPr>
                        </a:p>
                      </a:txBody>
                      <a:tcPr/>
                    </a:tc>
                    <a:tc>
                      <a:txBody>
                        <a:bodyPr/>
                        <a:lstStyle/>
                        <a:p>
                          <a:r>
                            <a:rPr lang="en-US" dirty="0">
                              <a:latin typeface="+mn-lt"/>
                            </a:rPr>
                            <a:t>451</a:t>
                          </a:r>
                        </a:p>
                      </a:txBody>
                      <a:tcPr/>
                    </a:tc>
                    <a:tc>
                      <a:txBody>
                        <a:bodyPr/>
                        <a:lstStyle/>
                        <a:p>
                          <a:r>
                            <a:rPr lang="en-US" dirty="0">
                              <a:latin typeface="+mn-lt"/>
                            </a:rPr>
                            <a:t>457</a:t>
                          </a:r>
                        </a:p>
                      </a:txBody>
                      <a:tcPr/>
                    </a:tc>
                    <a:tc>
                      <a:txBody>
                        <a:bodyPr/>
                        <a:lstStyle/>
                        <a:p>
                          <a:r>
                            <a:rPr lang="en-US" dirty="0">
                              <a:latin typeface="+mn-lt"/>
                            </a:rPr>
                            <a:t>13</a:t>
                          </a:r>
                        </a:p>
                      </a:txBody>
                      <a:tcPr/>
                    </a:tc>
                    <a:tc>
                      <a:txBody>
                        <a:bodyPr/>
                        <a:lstStyle/>
                        <a:p>
                          <a:r>
                            <a:rPr lang="en-US" dirty="0">
                              <a:latin typeface="+mn-lt"/>
                            </a:rPr>
                            <a:t>586</a:t>
                          </a:r>
                        </a:p>
                      </a:txBody>
                      <a:tcPr/>
                    </a:tc>
                    <a:tc>
                      <a:txBody>
                        <a:bodyPr/>
                        <a:lstStyle/>
                        <a:p>
                          <a:r>
                            <a:rPr lang="en-US" dirty="0">
                              <a:latin typeface="+mn-lt"/>
                            </a:rPr>
                            <a:t>132</a:t>
                          </a:r>
                        </a:p>
                      </a:txBody>
                      <a:tcPr/>
                    </a:tc>
                    <a:tc>
                      <a:txBody>
                        <a:bodyPr/>
                        <a:lstStyle/>
                        <a:p>
                          <a:r>
                            <a:rPr lang="en-US" dirty="0">
                              <a:latin typeface="+mn-lt"/>
                            </a:rPr>
                            <a:t>23</a:t>
                          </a:r>
                        </a:p>
                      </a:txBody>
                      <a:tcPr/>
                    </a:tc>
                    <a:extLst>
                      <a:ext uri="{0D108BD9-81ED-4DB2-BD59-A6C34878D82A}">
                        <a16:rowId xmlns:a16="http://schemas.microsoft.com/office/drawing/2014/main" val="373700373"/>
                      </a:ext>
                    </a:extLst>
                  </a:tr>
                </a:tbl>
              </a:graphicData>
            </a:graphic>
          </p:graphicFrame>
        </mc:Choice>
        <mc:Fallback xmlns="">
          <p:graphicFrame>
            <p:nvGraphicFramePr>
              <p:cNvPr id="9" name="Table 8">
                <a:extLst>
                  <a:ext uri="{FF2B5EF4-FFF2-40B4-BE49-F238E27FC236}">
                    <a16:creationId xmlns:a16="http://schemas.microsoft.com/office/drawing/2014/main" id="{92FCB63E-76FC-4817-ACF7-C8B45A82BD2A}"/>
                  </a:ext>
                </a:extLst>
              </p:cNvPr>
              <p:cNvGraphicFramePr>
                <a:graphicFrameLocks noGrp="1"/>
              </p:cNvGraphicFramePr>
              <p:nvPr>
                <p:extLst>
                  <p:ext uri="{D42A27DB-BD31-4B8C-83A1-F6EECF244321}">
                    <p14:modId xmlns:p14="http://schemas.microsoft.com/office/powerpoint/2010/main" val="574180729"/>
                  </p:ext>
                </p:extLst>
              </p:nvPr>
            </p:nvGraphicFramePr>
            <p:xfrm>
              <a:off x="451086" y="2809106"/>
              <a:ext cx="8820930" cy="2225040"/>
            </p:xfrm>
            <a:graphic>
              <a:graphicData uri="http://schemas.openxmlformats.org/drawingml/2006/table">
                <a:tbl>
                  <a:tblPr firstRow="1" bandRow="1">
                    <a:tableStyleId>{5C22544A-7EE6-4342-B048-85BDC9FD1C3A}</a:tableStyleId>
                  </a:tblPr>
                  <a:tblGrid>
                    <a:gridCol w="1880634">
                      <a:extLst>
                        <a:ext uri="{9D8B030D-6E8A-4147-A177-3AD203B41FA5}">
                          <a16:colId xmlns:a16="http://schemas.microsoft.com/office/drawing/2014/main" val="2961849021"/>
                        </a:ext>
                      </a:extLst>
                    </a:gridCol>
                    <a:gridCol w="1097280">
                      <a:extLst>
                        <a:ext uri="{9D8B030D-6E8A-4147-A177-3AD203B41FA5}">
                          <a16:colId xmlns:a16="http://schemas.microsoft.com/office/drawing/2014/main" val="2438706636"/>
                        </a:ext>
                      </a:extLst>
                    </a:gridCol>
                    <a:gridCol w="1106424">
                      <a:extLst>
                        <a:ext uri="{9D8B030D-6E8A-4147-A177-3AD203B41FA5}">
                          <a16:colId xmlns:a16="http://schemas.microsoft.com/office/drawing/2014/main" val="3341270920"/>
                        </a:ext>
                      </a:extLst>
                    </a:gridCol>
                    <a:gridCol w="1106424">
                      <a:extLst>
                        <a:ext uri="{9D8B030D-6E8A-4147-A177-3AD203B41FA5}">
                          <a16:colId xmlns:a16="http://schemas.microsoft.com/office/drawing/2014/main" val="2036569772"/>
                        </a:ext>
                      </a:extLst>
                    </a:gridCol>
                    <a:gridCol w="1078992">
                      <a:extLst>
                        <a:ext uri="{9D8B030D-6E8A-4147-A177-3AD203B41FA5}">
                          <a16:colId xmlns:a16="http://schemas.microsoft.com/office/drawing/2014/main" val="2791786405"/>
                        </a:ext>
                      </a:extLst>
                    </a:gridCol>
                    <a:gridCol w="1188720">
                      <a:extLst>
                        <a:ext uri="{9D8B030D-6E8A-4147-A177-3AD203B41FA5}">
                          <a16:colId xmlns:a16="http://schemas.microsoft.com/office/drawing/2014/main" val="872067929"/>
                        </a:ext>
                      </a:extLst>
                    </a:gridCol>
                    <a:gridCol w="1362456">
                      <a:extLst>
                        <a:ext uri="{9D8B030D-6E8A-4147-A177-3AD203B41FA5}">
                          <a16:colId xmlns:a16="http://schemas.microsoft.com/office/drawing/2014/main" val="4143936454"/>
                        </a:ext>
                      </a:extLst>
                    </a:gridCol>
                  </a:tblGrid>
                  <a:tr h="370840">
                    <a:tc>
                      <a:txBody>
                        <a:bodyPr/>
                        <a:lstStyle/>
                        <a:p>
                          <a:r>
                            <a:rPr lang="en-US" dirty="0"/>
                            <a:t>Term/document</a:t>
                          </a:r>
                        </a:p>
                      </a:txBody>
                      <a:tcPr/>
                    </a:tc>
                    <a:tc>
                      <a:txBody>
                        <a:bodyPr/>
                        <a:lstStyle/>
                        <a:p>
                          <a:endParaRPr lang="en-US"/>
                        </a:p>
                      </a:txBody>
                      <a:tcPr>
                        <a:blipFill>
                          <a:blip r:embed="rId4"/>
                          <a:stretch>
                            <a:fillRect l="-172222" t="-8197" r="-535556" b="-524590"/>
                          </a:stretch>
                        </a:blipFill>
                      </a:tcPr>
                    </a:tc>
                    <a:tc>
                      <a:txBody>
                        <a:bodyPr/>
                        <a:lstStyle/>
                        <a:p>
                          <a:endParaRPr lang="en-US"/>
                        </a:p>
                      </a:txBody>
                      <a:tcPr>
                        <a:blipFill>
                          <a:blip r:embed="rId4"/>
                          <a:stretch>
                            <a:fillRect l="-270718" t="-8197" r="-432597" b="-524590"/>
                          </a:stretch>
                        </a:blipFill>
                      </a:tcPr>
                    </a:tc>
                    <a:tc>
                      <a:txBody>
                        <a:bodyPr/>
                        <a:lstStyle/>
                        <a:p>
                          <a:endParaRPr lang="en-US"/>
                        </a:p>
                      </a:txBody>
                      <a:tcPr>
                        <a:blipFill>
                          <a:blip r:embed="rId4"/>
                          <a:stretch>
                            <a:fillRect l="-368681" t="-8197" r="-330220" b="-524590"/>
                          </a:stretch>
                        </a:blipFill>
                      </a:tcPr>
                    </a:tc>
                    <a:tc>
                      <a:txBody>
                        <a:bodyPr/>
                        <a:lstStyle/>
                        <a:p>
                          <a:endParaRPr lang="en-US"/>
                        </a:p>
                      </a:txBody>
                      <a:tcPr>
                        <a:blipFill>
                          <a:blip r:embed="rId4"/>
                          <a:stretch>
                            <a:fillRect l="-481921" t="-8197" r="-239548" b="-524590"/>
                          </a:stretch>
                        </a:blipFill>
                      </a:tcPr>
                    </a:tc>
                    <a:tc>
                      <a:txBody>
                        <a:bodyPr/>
                        <a:lstStyle/>
                        <a:p>
                          <a:endParaRPr lang="en-US"/>
                        </a:p>
                      </a:txBody>
                      <a:tcPr>
                        <a:blipFill>
                          <a:blip r:embed="rId4"/>
                          <a:stretch>
                            <a:fillRect l="-528205" t="-8197" r="-117436" b="-524590"/>
                          </a:stretch>
                        </a:blipFill>
                      </a:tcPr>
                    </a:tc>
                    <a:tc>
                      <a:txBody>
                        <a:bodyPr/>
                        <a:lstStyle/>
                        <a:p>
                          <a:endParaRPr lang="en-US"/>
                        </a:p>
                      </a:txBody>
                      <a:tcPr>
                        <a:blipFill>
                          <a:blip r:embed="rId4"/>
                          <a:stretch>
                            <a:fillRect l="-546875" t="-8197" r="-2232" b="-524590"/>
                          </a:stretch>
                        </a:blipFill>
                      </a:tcPr>
                    </a:tc>
                    <a:extLst>
                      <a:ext uri="{0D108BD9-81ED-4DB2-BD59-A6C34878D82A}">
                        <a16:rowId xmlns:a16="http://schemas.microsoft.com/office/drawing/2014/main" val="287126259"/>
                      </a:ext>
                    </a:extLst>
                  </a:tr>
                  <a:tr h="370840">
                    <a:tc>
                      <a:txBody>
                        <a:bodyPr/>
                        <a:lstStyle/>
                        <a:p>
                          <a:endParaRPr lang="en-US"/>
                        </a:p>
                      </a:txBody>
                      <a:tcPr>
                        <a:blipFill>
                          <a:blip r:embed="rId4"/>
                          <a:stretch>
                            <a:fillRect l="-324" t="-108197" r="-370227" b="-424590"/>
                          </a:stretch>
                        </a:blipFill>
                      </a:tcPr>
                    </a:tc>
                    <a:tc>
                      <a:txBody>
                        <a:bodyPr/>
                        <a:lstStyle/>
                        <a:p>
                          <a:r>
                            <a:rPr lang="en-US" dirty="0">
                              <a:latin typeface="+mn-lt"/>
                            </a:rPr>
                            <a:t>15</a:t>
                          </a:r>
                        </a:p>
                      </a:txBody>
                      <a:tcPr/>
                    </a:tc>
                    <a:tc>
                      <a:txBody>
                        <a:bodyPr/>
                        <a:lstStyle/>
                        <a:p>
                          <a:r>
                            <a:rPr lang="en-US" dirty="0">
                              <a:latin typeface="+mn-lt"/>
                            </a:rPr>
                            <a:t>567</a:t>
                          </a:r>
                        </a:p>
                      </a:txBody>
                      <a:tcPr/>
                    </a:tc>
                    <a:tc>
                      <a:txBody>
                        <a:bodyPr/>
                        <a:lstStyle/>
                        <a:p>
                          <a:r>
                            <a:rPr lang="en-US" dirty="0">
                              <a:latin typeface="+mn-lt"/>
                            </a:rPr>
                            <a:t>524</a:t>
                          </a:r>
                        </a:p>
                      </a:txBody>
                      <a:tcPr/>
                    </a:tc>
                    <a:tc>
                      <a:txBody>
                        <a:bodyPr/>
                        <a:lstStyle/>
                        <a:p>
                          <a:r>
                            <a:rPr lang="en-US" dirty="0">
                              <a:latin typeface="+mn-lt"/>
                            </a:rPr>
                            <a:t>423</a:t>
                          </a:r>
                        </a:p>
                      </a:txBody>
                      <a:tcPr/>
                    </a:tc>
                    <a:tc>
                      <a:txBody>
                        <a:bodyPr/>
                        <a:lstStyle/>
                        <a:p>
                          <a:r>
                            <a:rPr lang="en-US" dirty="0">
                              <a:latin typeface="+mn-lt"/>
                            </a:rPr>
                            <a:t>213</a:t>
                          </a:r>
                        </a:p>
                      </a:txBody>
                      <a:tcPr/>
                    </a:tc>
                    <a:tc>
                      <a:txBody>
                        <a:bodyPr/>
                        <a:lstStyle/>
                        <a:p>
                          <a:r>
                            <a:rPr lang="en-US" dirty="0">
                              <a:latin typeface="+mn-lt"/>
                            </a:rPr>
                            <a:t>135</a:t>
                          </a:r>
                        </a:p>
                      </a:txBody>
                      <a:tcPr/>
                    </a:tc>
                    <a:extLst>
                      <a:ext uri="{0D108BD9-81ED-4DB2-BD59-A6C34878D82A}">
                        <a16:rowId xmlns:a16="http://schemas.microsoft.com/office/drawing/2014/main" val="2655342882"/>
                      </a:ext>
                    </a:extLst>
                  </a:tr>
                  <a:tr h="370840">
                    <a:tc>
                      <a:txBody>
                        <a:bodyPr/>
                        <a:lstStyle/>
                        <a:p>
                          <a:endParaRPr lang="en-US"/>
                        </a:p>
                      </a:txBody>
                      <a:tcPr>
                        <a:blipFill>
                          <a:blip r:embed="rId4"/>
                          <a:stretch>
                            <a:fillRect l="-324" t="-208197" r="-370227" b="-324590"/>
                          </a:stretch>
                        </a:blipFill>
                      </a:tcPr>
                    </a:tc>
                    <a:tc>
                      <a:txBody>
                        <a:bodyPr/>
                        <a:lstStyle/>
                        <a:p>
                          <a:r>
                            <a:rPr lang="en-US" dirty="0">
                              <a:latin typeface="+mn-lt"/>
                            </a:rPr>
                            <a:t>246</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584</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247</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646</a:t>
                          </a:r>
                        </a:p>
                      </a:txBody>
                      <a:tcPr/>
                    </a:tc>
                    <a:tc>
                      <a:txBody>
                        <a:bodyPr/>
                        <a:lstStyle/>
                        <a:p>
                          <a:r>
                            <a:rPr lang="en-US" dirty="0">
                              <a:latin typeface="+mn-lt"/>
                            </a:rPr>
                            <a:t>733</a:t>
                          </a:r>
                        </a:p>
                      </a:txBody>
                      <a:tcPr/>
                    </a:tc>
                    <a:tc>
                      <a:txBody>
                        <a:bodyPr/>
                        <a:lstStyle/>
                        <a:p>
                          <a:r>
                            <a:rPr lang="en-US" dirty="0">
                              <a:latin typeface="+mn-lt"/>
                            </a:rPr>
                            <a:t>157</a:t>
                          </a:r>
                        </a:p>
                      </a:txBody>
                      <a:tcPr/>
                    </a:tc>
                    <a:extLst>
                      <a:ext uri="{0D108BD9-81ED-4DB2-BD59-A6C34878D82A}">
                        <a16:rowId xmlns:a16="http://schemas.microsoft.com/office/drawing/2014/main" val="3918668883"/>
                      </a:ext>
                    </a:extLst>
                  </a:tr>
                  <a:tr h="370840">
                    <a:tc>
                      <a:txBody>
                        <a:bodyPr/>
                        <a:lstStyle/>
                        <a:p>
                          <a:endParaRPr lang="en-US"/>
                        </a:p>
                      </a:txBody>
                      <a:tcPr>
                        <a:blipFill>
                          <a:blip r:embed="rId4"/>
                          <a:stretch>
                            <a:fillRect l="-324" t="-308197" r="-370227" b="-224590"/>
                          </a:stretch>
                        </a:blipFill>
                      </a:tcPr>
                    </a:tc>
                    <a:tc>
                      <a:txBody>
                        <a:bodyPr/>
                        <a:lstStyle/>
                        <a:p>
                          <a:r>
                            <a:rPr lang="en-US" dirty="0">
                              <a:latin typeface="+mn-lt"/>
                            </a:rPr>
                            <a:t>451</a:t>
                          </a:r>
                        </a:p>
                      </a:txBody>
                      <a:tcPr/>
                    </a:tc>
                    <a:tc>
                      <a:txBody>
                        <a:bodyPr/>
                        <a:lstStyle/>
                        <a:p>
                          <a:r>
                            <a:rPr lang="en-US" dirty="0">
                              <a:latin typeface="+mn-lt"/>
                            </a:rPr>
                            <a:t>563</a:t>
                          </a:r>
                        </a:p>
                      </a:txBody>
                      <a:tcPr/>
                    </a:tc>
                    <a:tc>
                      <a:txBody>
                        <a:bodyPr/>
                        <a:lstStyle/>
                        <a:p>
                          <a:r>
                            <a:rPr lang="en-US" dirty="0">
                              <a:latin typeface="+mn-lt"/>
                            </a:rPr>
                            <a:t>53</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567</a:t>
                          </a:r>
                        </a:p>
                      </a:txBody>
                      <a:tcPr/>
                    </a:tc>
                    <a:tc>
                      <a:txBody>
                        <a:bodyPr/>
                        <a:lstStyle/>
                        <a:p>
                          <a:r>
                            <a:rPr lang="en-US" dirty="0">
                              <a:latin typeface="+mn-lt"/>
                            </a:rPr>
                            <a:t>135</a:t>
                          </a:r>
                        </a:p>
                      </a:txBody>
                      <a:tcPr/>
                    </a:tc>
                    <a:tc>
                      <a:txBody>
                        <a:bodyPr/>
                        <a:lstStyle/>
                        <a:p>
                          <a:r>
                            <a:rPr lang="en-US" dirty="0">
                              <a:latin typeface="+mn-lt"/>
                            </a:rPr>
                            <a:t>267</a:t>
                          </a:r>
                        </a:p>
                      </a:txBody>
                      <a:tcPr/>
                    </a:tc>
                    <a:extLst>
                      <a:ext uri="{0D108BD9-81ED-4DB2-BD59-A6C34878D82A}">
                        <a16:rowId xmlns:a16="http://schemas.microsoft.com/office/drawing/2014/main" val="1645996487"/>
                      </a:ext>
                    </a:extLst>
                  </a:tr>
                  <a:tr h="370840">
                    <a:tc>
                      <a:txBody>
                        <a:bodyPr/>
                        <a:lstStyle/>
                        <a:p>
                          <a:endParaRPr lang="en-US"/>
                        </a:p>
                      </a:txBody>
                      <a:tcPr>
                        <a:blipFill>
                          <a:blip r:embed="rId4"/>
                          <a:stretch>
                            <a:fillRect l="-324" t="-408197" r="-370227" b="-124590"/>
                          </a:stretch>
                        </a:blipFill>
                      </a:tcPr>
                    </a:tc>
                    <a:tc>
                      <a:txBody>
                        <a:bodyPr/>
                        <a:lstStyle/>
                        <a:p>
                          <a:r>
                            <a:rPr lang="en-US" dirty="0">
                              <a:latin typeface="+mn-lt"/>
                            </a:rPr>
                            <a:t>233</a:t>
                          </a:r>
                        </a:p>
                      </a:txBody>
                      <a:tcPr/>
                    </a:tc>
                    <a:tc>
                      <a:txBody>
                        <a:bodyPr/>
                        <a:lstStyle/>
                        <a:p>
                          <a:r>
                            <a:rPr lang="en-US" dirty="0">
                              <a:latin typeface="+mn-lt"/>
                            </a:rPr>
                            <a:t>234</a:t>
                          </a:r>
                        </a:p>
                      </a:txBody>
                      <a:tcPr/>
                    </a:tc>
                    <a:tc>
                      <a:txBody>
                        <a:bodyPr/>
                        <a:lstStyle/>
                        <a:p>
                          <a:r>
                            <a:rPr lang="en-US" dirty="0">
                              <a:latin typeface="+mn-lt"/>
                            </a:rPr>
                            <a:t>33</a:t>
                          </a:r>
                        </a:p>
                      </a:txBody>
                      <a:tcPr/>
                    </a:tc>
                    <a:tc>
                      <a:txBody>
                        <a:bodyPr/>
                        <a:lstStyle/>
                        <a:p>
                          <a:r>
                            <a:rPr lang="en-US" dirty="0">
                              <a:latin typeface="+mn-lt"/>
                            </a:rPr>
                            <a:t>412</a:t>
                          </a:r>
                        </a:p>
                      </a:txBody>
                      <a:tcPr/>
                    </a:tc>
                    <a:tc>
                      <a:txBody>
                        <a:bodyPr/>
                        <a:lstStyle/>
                        <a:p>
                          <a:r>
                            <a:rPr lang="en-US" dirty="0">
                              <a:latin typeface="+mn-lt"/>
                            </a:rPr>
                            <a:t>325</a:t>
                          </a:r>
                        </a:p>
                      </a:txBody>
                      <a:tcPr/>
                    </a:tc>
                    <a:tc>
                      <a:txBody>
                        <a:bodyPr/>
                        <a:lstStyle/>
                        <a:p>
                          <a:r>
                            <a:rPr lang="en-US" dirty="0">
                              <a:latin typeface="+mn-lt"/>
                            </a:rPr>
                            <a:t>367</a:t>
                          </a:r>
                        </a:p>
                      </a:txBody>
                      <a:tcPr/>
                    </a:tc>
                    <a:extLst>
                      <a:ext uri="{0D108BD9-81ED-4DB2-BD59-A6C34878D82A}">
                        <a16:rowId xmlns:a16="http://schemas.microsoft.com/office/drawing/2014/main" val="4111986843"/>
                      </a:ext>
                    </a:extLst>
                  </a:tr>
                  <a:tr h="370840">
                    <a:tc>
                      <a:txBody>
                        <a:bodyPr/>
                        <a:lstStyle/>
                        <a:p>
                          <a:endParaRPr lang="en-US"/>
                        </a:p>
                      </a:txBody>
                      <a:tcPr>
                        <a:blipFill>
                          <a:blip r:embed="rId4"/>
                          <a:stretch>
                            <a:fillRect l="-324" t="-508197" r="-370227" b="-24590"/>
                          </a:stretch>
                        </a:blipFill>
                      </a:tcPr>
                    </a:tc>
                    <a:tc>
                      <a:txBody>
                        <a:bodyPr/>
                        <a:lstStyle/>
                        <a:p>
                          <a:r>
                            <a:rPr lang="en-US" dirty="0">
                              <a:latin typeface="+mn-lt"/>
                            </a:rPr>
                            <a:t>451</a:t>
                          </a:r>
                        </a:p>
                      </a:txBody>
                      <a:tcPr/>
                    </a:tc>
                    <a:tc>
                      <a:txBody>
                        <a:bodyPr/>
                        <a:lstStyle/>
                        <a:p>
                          <a:r>
                            <a:rPr lang="en-US" dirty="0">
                              <a:latin typeface="+mn-lt"/>
                            </a:rPr>
                            <a:t>457</a:t>
                          </a:r>
                        </a:p>
                      </a:txBody>
                      <a:tcPr/>
                    </a:tc>
                    <a:tc>
                      <a:txBody>
                        <a:bodyPr/>
                        <a:lstStyle/>
                        <a:p>
                          <a:r>
                            <a:rPr lang="en-US" dirty="0">
                              <a:latin typeface="+mn-lt"/>
                            </a:rPr>
                            <a:t>13</a:t>
                          </a:r>
                        </a:p>
                      </a:txBody>
                      <a:tcPr/>
                    </a:tc>
                    <a:tc>
                      <a:txBody>
                        <a:bodyPr/>
                        <a:lstStyle/>
                        <a:p>
                          <a:r>
                            <a:rPr lang="en-US" dirty="0">
                              <a:latin typeface="+mn-lt"/>
                            </a:rPr>
                            <a:t>586</a:t>
                          </a:r>
                        </a:p>
                      </a:txBody>
                      <a:tcPr/>
                    </a:tc>
                    <a:tc>
                      <a:txBody>
                        <a:bodyPr/>
                        <a:lstStyle/>
                        <a:p>
                          <a:r>
                            <a:rPr lang="en-US" dirty="0">
                              <a:latin typeface="+mn-lt"/>
                            </a:rPr>
                            <a:t>132</a:t>
                          </a:r>
                        </a:p>
                      </a:txBody>
                      <a:tcPr/>
                    </a:tc>
                    <a:tc>
                      <a:txBody>
                        <a:bodyPr/>
                        <a:lstStyle/>
                        <a:p>
                          <a:r>
                            <a:rPr lang="en-US" dirty="0">
                              <a:latin typeface="+mn-lt"/>
                            </a:rPr>
                            <a:t>23</a:t>
                          </a:r>
                        </a:p>
                      </a:txBody>
                      <a:tcPr/>
                    </a:tc>
                    <a:extLst>
                      <a:ext uri="{0D108BD9-81ED-4DB2-BD59-A6C34878D82A}">
                        <a16:rowId xmlns:a16="http://schemas.microsoft.com/office/drawing/2014/main" val="373700373"/>
                      </a:ext>
                    </a:extLst>
                  </a:tr>
                </a:tbl>
              </a:graphicData>
            </a:graphic>
          </p:graphicFrame>
        </mc:Fallback>
      </mc:AlternateContent>
    </p:spTree>
    <p:extLst>
      <p:ext uri="{BB962C8B-B14F-4D97-AF65-F5344CB8AC3E}">
        <p14:creationId xmlns:p14="http://schemas.microsoft.com/office/powerpoint/2010/main" val="2763726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B759E-E492-06CA-815A-A4764ADF0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E20FC-0472-AF45-DB7B-C265BEBC70F7}"/>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văn</a:t>
            </a:r>
            <a:r>
              <a:rPr lang="en-US" sz="2800" dirty="0"/>
              <a:t> </a:t>
            </a:r>
            <a:r>
              <a:rPr lang="en-US" sz="2800" dirty="0" err="1"/>
              <a:t>bản</a:t>
            </a:r>
            <a:endParaRPr sz="2800"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83E94FAC-CC5B-068E-8951-2B2067094089}"/>
                  </a:ext>
                </a:extLst>
              </p:cNvPr>
              <p:cNvGraphicFramePr>
                <a:graphicFrameLocks noGrp="1"/>
              </p:cNvGraphicFramePr>
              <p:nvPr>
                <p:extLst>
                  <p:ext uri="{D42A27DB-BD31-4B8C-83A1-F6EECF244321}">
                    <p14:modId xmlns:p14="http://schemas.microsoft.com/office/powerpoint/2010/main" val="316971412"/>
                  </p:ext>
                </p:extLst>
              </p:nvPr>
            </p:nvGraphicFramePr>
            <p:xfrm>
              <a:off x="1356342" y="4114853"/>
              <a:ext cx="8820930" cy="2225040"/>
            </p:xfrm>
            <a:graphic>
              <a:graphicData uri="http://schemas.openxmlformats.org/drawingml/2006/table">
                <a:tbl>
                  <a:tblPr firstRow="1" bandRow="1">
                    <a:tableStyleId>{5C22544A-7EE6-4342-B048-85BDC9FD1C3A}</a:tableStyleId>
                  </a:tblPr>
                  <a:tblGrid>
                    <a:gridCol w="1880634">
                      <a:extLst>
                        <a:ext uri="{9D8B030D-6E8A-4147-A177-3AD203B41FA5}">
                          <a16:colId xmlns:a16="http://schemas.microsoft.com/office/drawing/2014/main" val="2961849021"/>
                        </a:ext>
                      </a:extLst>
                    </a:gridCol>
                    <a:gridCol w="1097280">
                      <a:extLst>
                        <a:ext uri="{9D8B030D-6E8A-4147-A177-3AD203B41FA5}">
                          <a16:colId xmlns:a16="http://schemas.microsoft.com/office/drawing/2014/main" val="2438706636"/>
                        </a:ext>
                      </a:extLst>
                    </a:gridCol>
                    <a:gridCol w="1106424">
                      <a:extLst>
                        <a:ext uri="{9D8B030D-6E8A-4147-A177-3AD203B41FA5}">
                          <a16:colId xmlns:a16="http://schemas.microsoft.com/office/drawing/2014/main" val="3341270920"/>
                        </a:ext>
                      </a:extLst>
                    </a:gridCol>
                    <a:gridCol w="1106424">
                      <a:extLst>
                        <a:ext uri="{9D8B030D-6E8A-4147-A177-3AD203B41FA5}">
                          <a16:colId xmlns:a16="http://schemas.microsoft.com/office/drawing/2014/main" val="2036569772"/>
                        </a:ext>
                      </a:extLst>
                    </a:gridCol>
                    <a:gridCol w="1078992">
                      <a:extLst>
                        <a:ext uri="{9D8B030D-6E8A-4147-A177-3AD203B41FA5}">
                          <a16:colId xmlns:a16="http://schemas.microsoft.com/office/drawing/2014/main" val="2791786405"/>
                        </a:ext>
                      </a:extLst>
                    </a:gridCol>
                    <a:gridCol w="1188720">
                      <a:extLst>
                        <a:ext uri="{9D8B030D-6E8A-4147-A177-3AD203B41FA5}">
                          <a16:colId xmlns:a16="http://schemas.microsoft.com/office/drawing/2014/main" val="872067929"/>
                        </a:ext>
                      </a:extLst>
                    </a:gridCol>
                    <a:gridCol w="1362456">
                      <a:extLst>
                        <a:ext uri="{9D8B030D-6E8A-4147-A177-3AD203B41FA5}">
                          <a16:colId xmlns:a16="http://schemas.microsoft.com/office/drawing/2014/main" val="4143936454"/>
                        </a:ext>
                      </a:extLst>
                    </a:gridCol>
                  </a:tblGrid>
                  <a:tr h="370840">
                    <a:tc>
                      <a:txBody>
                        <a:bodyPr/>
                        <a:lstStyle/>
                        <a:p>
                          <a:r>
                            <a:rPr lang="en-US" dirty="0"/>
                            <a:t>Term/document</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5</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𝑑</m:t>
                                    </m:r>
                                  </m:e>
                                  <m:sub>
                                    <m:r>
                                      <a:rPr lang="en-US" sz="1800" b="0" i="1" dirty="0" smtClean="0">
                                        <a:latin typeface="Cambria Math" panose="02040503050406030204" pitchFamily="18" charset="0"/>
                                      </a:rPr>
                                      <m:t>6</m:t>
                                    </m:r>
                                  </m:sub>
                                </m:sSub>
                              </m:oMath>
                            </m:oMathPara>
                          </a14:m>
                          <a:endParaRPr lang="en-US" dirty="0"/>
                        </a:p>
                      </a:txBody>
                      <a:tcPr/>
                    </a:tc>
                    <a:extLst>
                      <a:ext uri="{0D108BD9-81ED-4DB2-BD59-A6C34878D82A}">
                        <a16:rowId xmlns:a16="http://schemas.microsoft.com/office/drawing/2014/main" val="28712625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1</m:t>
                                    </m:r>
                                  </m:sub>
                                </m:sSub>
                              </m:oMath>
                            </m:oMathPara>
                          </a14:m>
                          <a:endParaRPr lang="en-US" dirty="0">
                            <a:latin typeface="+mn-lt"/>
                          </a:endParaRPr>
                        </a:p>
                      </a:txBody>
                      <a:tcPr/>
                    </a:tc>
                    <a:tc>
                      <a:txBody>
                        <a:bodyPr/>
                        <a:lstStyle/>
                        <a:p>
                          <a:r>
                            <a:rPr lang="en-US" dirty="0">
                              <a:latin typeface="+mn-lt"/>
                            </a:rPr>
                            <a:t>0.011</a:t>
                          </a:r>
                        </a:p>
                      </a:txBody>
                      <a:tcPr/>
                    </a:tc>
                    <a:tc>
                      <a:txBody>
                        <a:bodyPr/>
                        <a:lstStyle/>
                        <a:p>
                          <a:r>
                            <a:rPr lang="en-US" dirty="0">
                              <a:latin typeface="+mn-lt"/>
                            </a:rPr>
                            <a:t>0.236</a:t>
                          </a:r>
                        </a:p>
                      </a:txBody>
                      <a:tcPr/>
                    </a:tc>
                    <a:tc>
                      <a:txBody>
                        <a:bodyPr/>
                        <a:lstStyle/>
                        <a:p>
                          <a:r>
                            <a:rPr lang="en-US" dirty="0">
                              <a:latin typeface="+mn-lt"/>
                            </a:rPr>
                            <a:t>0.602</a:t>
                          </a:r>
                        </a:p>
                      </a:txBody>
                      <a:tcPr/>
                    </a:tc>
                    <a:tc>
                      <a:txBody>
                        <a:bodyPr/>
                        <a:lstStyle/>
                        <a:p>
                          <a:r>
                            <a:rPr lang="en-US" dirty="0">
                              <a:latin typeface="+mn-lt"/>
                            </a:rPr>
                            <a:t>0.161</a:t>
                          </a:r>
                        </a:p>
                      </a:txBody>
                      <a:tcPr/>
                    </a:tc>
                    <a:tc>
                      <a:txBody>
                        <a:bodyPr/>
                        <a:lstStyle/>
                        <a:p>
                          <a:r>
                            <a:rPr lang="en-US" dirty="0">
                              <a:latin typeface="+mn-lt"/>
                            </a:rPr>
                            <a:t>0.138</a:t>
                          </a:r>
                        </a:p>
                      </a:txBody>
                      <a:tcPr/>
                    </a:tc>
                    <a:tc>
                      <a:txBody>
                        <a:bodyPr/>
                        <a:lstStyle/>
                        <a:p>
                          <a:r>
                            <a:rPr lang="en-US" dirty="0">
                              <a:latin typeface="+mn-lt"/>
                            </a:rPr>
                            <a:t>0.142</a:t>
                          </a:r>
                        </a:p>
                      </a:txBody>
                      <a:tcPr/>
                    </a:tc>
                    <a:extLst>
                      <a:ext uri="{0D108BD9-81ED-4DB2-BD59-A6C34878D82A}">
                        <a16:rowId xmlns:a16="http://schemas.microsoft.com/office/drawing/2014/main" val="265534288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2</m:t>
                                    </m:r>
                                  </m:sub>
                                </m:sSub>
                              </m:oMath>
                            </m:oMathPara>
                          </a14:m>
                          <a:endParaRPr lang="en-US" dirty="0">
                            <a:latin typeface="+mn-lt"/>
                          </a:endParaRPr>
                        </a:p>
                      </a:txBody>
                      <a:tcPr/>
                    </a:tc>
                    <a:tc>
                      <a:txBody>
                        <a:bodyPr/>
                        <a:lstStyle/>
                        <a:p>
                          <a:r>
                            <a:rPr lang="en-US" dirty="0">
                              <a:latin typeface="+mn-lt"/>
                            </a:rPr>
                            <a:t>0.176</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0.243</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0.284</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0.245</a:t>
                          </a:r>
                        </a:p>
                      </a:txBody>
                      <a:tcPr/>
                    </a:tc>
                    <a:tc>
                      <a:txBody>
                        <a:bodyPr/>
                        <a:lstStyle/>
                        <a:p>
                          <a:r>
                            <a:rPr lang="en-US" dirty="0">
                              <a:latin typeface="+mn-lt"/>
                            </a:rPr>
                            <a:t>0.477</a:t>
                          </a:r>
                        </a:p>
                      </a:txBody>
                      <a:tcPr/>
                    </a:tc>
                    <a:tc>
                      <a:txBody>
                        <a:bodyPr/>
                        <a:lstStyle/>
                        <a:p>
                          <a:r>
                            <a:rPr lang="en-US" dirty="0">
                              <a:latin typeface="+mn-lt"/>
                            </a:rPr>
                            <a:t>0.165</a:t>
                          </a:r>
                        </a:p>
                      </a:txBody>
                      <a:tcPr/>
                    </a:tc>
                    <a:extLst>
                      <a:ext uri="{0D108BD9-81ED-4DB2-BD59-A6C34878D82A}">
                        <a16:rowId xmlns:a16="http://schemas.microsoft.com/office/drawing/2014/main" val="391866888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3</m:t>
                                    </m:r>
                                  </m:sub>
                                </m:sSub>
                              </m:oMath>
                            </m:oMathPara>
                          </a14:m>
                          <a:endParaRPr lang="en-US" dirty="0">
                            <a:latin typeface="+mn-lt"/>
                          </a:endParaRPr>
                        </a:p>
                      </a:txBody>
                      <a:tcPr/>
                    </a:tc>
                    <a:tc>
                      <a:txBody>
                        <a:bodyPr/>
                        <a:lstStyle/>
                        <a:p>
                          <a:r>
                            <a:rPr lang="en-US" dirty="0">
                              <a:latin typeface="+mn-lt"/>
                            </a:rPr>
                            <a:t>0.323</a:t>
                          </a:r>
                        </a:p>
                      </a:txBody>
                      <a:tcPr/>
                    </a:tc>
                    <a:tc>
                      <a:txBody>
                        <a:bodyPr/>
                        <a:lstStyle/>
                        <a:p>
                          <a:r>
                            <a:rPr lang="en-US" dirty="0">
                              <a:latin typeface="+mn-lt"/>
                            </a:rPr>
                            <a:t>0.234</a:t>
                          </a:r>
                        </a:p>
                      </a:txBody>
                      <a:tcPr/>
                    </a:tc>
                    <a:tc>
                      <a:txBody>
                        <a:bodyPr/>
                        <a:lstStyle/>
                        <a:p>
                          <a:r>
                            <a:rPr lang="en-US" dirty="0">
                              <a:latin typeface="+mn-lt"/>
                            </a:rPr>
                            <a:t>0.061</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0.215</a:t>
                          </a:r>
                        </a:p>
                      </a:txBody>
                      <a:tcPr/>
                    </a:tc>
                    <a:tc>
                      <a:txBody>
                        <a:bodyPr/>
                        <a:lstStyle/>
                        <a:p>
                          <a:r>
                            <a:rPr lang="en-US" dirty="0">
                              <a:latin typeface="+mn-lt"/>
                            </a:rPr>
                            <a:t>0.088</a:t>
                          </a:r>
                        </a:p>
                      </a:txBody>
                      <a:tcPr/>
                    </a:tc>
                    <a:tc>
                      <a:txBody>
                        <a:bodyPr/>
                        <a:lstStyle/>
                        <a:p>
                          <a:r>
                            <a:rPr lang="en-US" dirty="0">
                              <a:latin typeface="+mn-lt"/>
                            </a:rPr>
                            <a:t>0.281</a:t>
                          </a:r>
                        </a:p>
                      </a:txBody>
                      <a:tcPr/>
                    </a:tc>
                    <a:extLst>
                      <a:ext uri="{0D108BD9-81ED-4DB2-BD59-A6C34878D82A}">
                        <a16:rowId xmlns:a16="http://schemas.microsoft.com/office/drawing/2014/main" val="164599648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4</m:t>
                                    </m:r>
                                  </m:sub>
                                </m:sSub>
                              </m:oMath>
                            </m:oMathPara>
                          </a14:m>
                          <a:endParaRPr lang="en-US" dirty="0">
                            <a:latin typeface="+mn-lt"/>
                          </a:endParaRPr>
                        </a:p>
                      </a:txBody>
                      <a:tcPr/>
                    </a:tc>
                    <a:tc>
                      <a:txBody>
                        <a:bodyPr/>
                        <a:lstStyle/>
                        <a:p>
                          <a:r>
                            <a:rPr lang="en-US" dirty="0">
                              <a:latin typeface="+mn-lt"/>
                            </a:rPr>
                            <a:t>0.167</a:t>
                          </a:r>
                        </a:p>
                      </a:txBody>
                      <a:tcPr/>
                    </a:tc>
                    <a:tc>
                      <a:txBody>
                        <a:bodyPr/>
                        <a:lstStyle/>
                        <a:p>
                          <a:r>
                            <a:rPr lang="en-US" dirty="0">
                              <a:latin typeface="+mn-lt"/>
                            </a:rPr>
                            <a:t>0.097</a:t>
                          </a:r>
                        </a:p>
                      </a:txBody>
                      <a:tcPr/>
                    </a:tc>
                    <a:tc>
                      <a:txBody>
                        <a:bodyPr/>
                        <a:lstStyle/>
                        <a:p>
                          <a:r>
                            <a:rPr lang="en-US" dirty="0">
                              <a:latin typeface="+mn-lt"/>
                            </a:rPr>
                            <a:t>0.038</a:t>
                          </a:r>
                        </a:p>
                      </a:txBody>
                      <a:tcPr/>
                    </a:tc>
                    <a:tc>
                      <a:txBody>
                        <a:bodyPr/>
                        <a:lstStyle/>
                        <a:p>
                          <a:r>
                            <a:rPr lang="en-US" dirty="0">
                              <a:latin typeface="+mn-lt"/>
                            </a:rPr>
                            <a:t>0.156</a:t>
                          </a:r>
                        </a:p>
                      </a:txBody>
                      <a:tcPr/>
                    </a:tc>
                    <a:tc>
                      <a:txBody>
                        <a:bodyPr/>
                        <a:lstStyle/>
                        <a:p>
                          <a:r>
                            <a:rPr lang="en-US" dirty="0">
                              <a:latin typeface="+mn-lt"/>
                            </a:rPr>
                            <a:t>0.211</a:t>
                          </a:r>
                        </a:p>
                      </a:txBody>
                      <a:tcPr/>
                    </a:tc>
                    <a:tc>
                      <a:txBody>
                        <a:bodyPr/>
                        <a:lstStyle/>
                        <a:p>
                          <a:r>
                            <a:rPr lang="en-US" dirty="0">
                              <a:latin typeface="+mn-lt"/>
                            </a:rPr>
                            <a:t>0.387</a:t>
                          </a:r>
                        </a:p>
                      </a:txBody>
                      <a:tcPr/>
                    </a:tc>
                    <a:extLst>
                      <a:ext uri="{0D108BD9-81ED-4DB2-BD59-A6C34878D82A}">
                        <a16:rowId xmlns:a16="http://schemas.microsoft.com/office/drawing/2014/main" val="411198684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𝑡</m:t>
                                    </m:r>
                                  </m:e>
                                  <m:sub>
                                    <m:r>
                                      <a:rPr lang="en-US" sz="1800" b="0" i="1" dirty="0" smtClean="0">
                                        <a:latin typeface="Cambria Math" panose="02040503050406030204" pitchFamily="18" charset="0"/>
                                      </a:rPr>
                                      <m:t>5</m:t>
                                    </m:r>
                                  </m:sub>
                                </m:sSub>
                              </m:oMath>
                            </m:oMathPara>
                          </a14:m>
                          <a:endParaRPr lang="en-US" dirty="0">
                            <a:latin typeface="+mn-lt"/>
                          </a:endParaRPr>
                        </a:p>
                      </a:txBody>
                      <a:tcPr/>
                    </a:tc>
                    <a:tc>
                      <a:txBody>
                        <a:bodyPr/>
                        <a:lstStyle/>
                        <a:p>
                          <a:r>
                            <a:rPr lang="en-US" dirty="0">
                              <a:latin typeface="+mn-lt"/>
                            </a:rPr>
                            <a:t>0.323</a:t>
                          </a:r>
                        </a:p>
                      </a:txBody>
                      <a:tcPr/>
                    </a:tc>
                    <a:tc>
                      <a:txBody>
                        <a:bodyPr/>
                        <a:lstStyle/>
                        <a:p>
                          <a:r>
                            <a:rPr lang="en-US" dirty="0">
                              <a:latin typeface="+mn-lt"/>
                            </a:rPr>
                            <a:t>0.190</a:t>
                          </a:r>
                        </a:p>
                      </a:txBody>
                      <a:tcPr/>
                    </a:tc>
                    <a:tc>
                      <a:txBody>
                        <a:bodyPr/>
                        <a:lstStyle/>
                        <a:p>
                          <a:r>
                            <a:rPr lang="en-US" dirty="0">
                              <a:latin typeface="+mn-lt"/>
                            </a:rPr>
                            <a:t>0.015</a:t>
                          </a:r>
                        </a:p>
                      </a:txBody>
                      <a:tcPr/>
                    </a:tc>
                    <a:tc>
                      <a:txBody>
                        <a:bodyPr/>
                        <a:lstStyle/>
                        <a:p>
                          <a:r>
                            <a:rPr lang="en-US" dirty="0">
                              <a:latin typeface="+mn-lt"/>
                            </a:rPr>
                            <a:t>0.222</a:t>
                          </a:r>
                        </a:p>
                      </a:txBody>
                      <a:tcPr/>
                    </a:tc>
                    <a:tc>
                      <a:txBody>
                        <a:bodyPr/>
                        <a:lstStyle/>
                        <a:p>
                          <a:r>
                            <a:rPr lang="en-US" dirty="0">
                              <a:latin typeface="+mn-lt"/>
                            </a:rPr>
                            <a:t>0.086</a:t>
                          </a:r>
                        </a:p>
                      </a:txBody>
                      <a:tcPr/>
                    </a:tc>
                    <a:tc>
                      <a:txBody>
                        <a:bodyPr/>
                        <a:lstStyle/>
                        <a:p>
                          <a:r>
                            <a:rPr lang="en-US" dirty="0">
                              <a:latin typeface="+mn-lt"/>
                            </a:rPr>
                            <a:t>0.024</a:t>
                          </a:r>
                        </a:p>
                      </a:txBody>
                      <a:tcPr/>
                    </a:tc>
                    <a:extLst>
                      <a:ext uri="{0D108BD9-81ED-4DB2-BD59-A6C34878D82A}">
                        <a16:rowId xmlns:a16="http://schemas.microsoft.com/office/drawing/2014/main" val="373700373"/>
                      </a:ext>
                    </a:extLst>
                  </a:tr>
                </a:tbl>
              </a:graphicData>
            </a:graphic>
          </p:graphicFrame>
        </mc:Choice>
        <mc:Fallback xmlns="">
          <p:graphicFrame>
            <p:nvGraphicFramePr>
              <p:cNvPr id="5" name="Table 4">
                <a:extLst>
                  <a:ext uri="{FF2B5EF4-FFF2-40B4-BE49-F238E27FC236}">
                    <a16:creationId xmlns:a16="http://schemas.microsoft.com/office/drawing/2014/main" id="{83E94FAC-CC5B-068E-8951-2B2067094089}"/>
                  </a:ext>
                </a:extLst>
              </p:cNvPr>
              <p:cNvGraphicFramePr>
                <a:graphicFrameLocks noGrp="1"/>
              </p:cNvGraphicFramePr>
              <p:nvPr>
                <p:extLst>
                  <p:ext uri="{D42A27DB-BD31-4B8C-83A1-F6EECF244321}">
                    <p14:modId xmlns:p14="http://schemas.microsoft.com/office/powerpoint/2010/main" val="316971412"/>
                  </p:ext>
                </p:extLst>
              </p:nvPr>
            </p:nvGraphicFramePr>
            <p:xfrm>
              <a:off x="1356342" y="4114853"/>
              <a:ext cx="8820930" cy="2225040"/>
            </p:xfrm>
            <a:graphic>
              <a:graphicData uri="http://schemas.openxmlformats.org/drawingml/2006/table">
                <a:tbl>
                  <a:tblPr firstRow="1" bandRow="1">
                    <a:tableStyleId>{5C22544A-7EE6-4342-B048-85BDC9FD1C3A}</a:tableStyleId>
                  </a:tblPr>
                  <a:tblGrid>
                    <a:gridCol w="1880634">
                      <a:extLst>
                        <a:ext uri="{9D8B030D-6E8A-4147-A177-3AD203B41FA5}">
                          <a16:colId xmlns:a16="http://schemas.microsoft.com/office/drawing/2014/main" val="2961849021"/>
                        </a:ext>
                      </a:extLst>
                    </a:gridCol>
                    <a:gridCol w="1097280">
                      <a:extLst>
                        <a:ext uri="{9D8B030D-6E8A-4147-A177-3AD203B41FA5}">
                          <a16:colId xmlns:a16="http://schemas.microsoft.com/office/drawing/2014/main" val="2438706636"/>
                        </a:ext>
                      </a:extLst>
                    </a:gridCol>
                    <a:gridCol w="1106424">
                      <a:extLst>
                        <a:ext uri="{9D8B030D-6E8A-4147-A177-3AD203B41FA5}">
                          <a16:colId xmlns:a16="http://schemas.microsoft.com/office/drawing/2014/main" val="3341270920"/>
                        </a:ext>
                      </a:extLst>
                    </a:gridCol>
                    <a:gridCol w="1106424">
                      <a:extLst>
                        <a:ext uri="{9D8B030D-6E8A-4147-A177-3AD203B41FA5}">
                          <a16:colId xmlns:a16="http://schemas.microsoft.com/office/drawing/2014/main" val="2036569772"/>
                        </a:ext>
                      </a:extLst>
                    </a:gridCol>
                    <a:gridCol w="1078992">
                      <a:extLst>
                        <a:ext uri="{9D8B030D-6E8A-4147-A177-3AD203B41FA5}">
                          <a16:colId xmlns:a16="http://schemas.microsoft.com/office/drawing/2014/main" val="2791786405"/>
                        </a:ext>
                      </a:extLst>
                    </a:gridCol>
                    <a:gridCol w="1188720">
                      <a:extLst>
                        <a:ext uri="{9D8B030D-6E8A-4147-A177-3AD203B41FA5}">
                          <a16:colId xmlns:a16="http://schemas.microsoft.com/office/drawing/2014/main" val="872067929"/>
                        </a:ext>
                      </a:extLst>
                    </a:gridCol>
                    <a:gridCol w="1362456">
                      <a:extLst>
                        <a:ext uri="{9D8B030D-6E8A-4147-A177-3AD203B41FA5}">
                          <a16:colId xmlns:a16="http://schemas.microsoft.com/office/drawing/2014/main" val="4143936454"/>
                        </a:ext>
                      </a:extLst>
                    </a:gridCol>
                  </a:tblGrid>
                  <a:tr h="370840">
                    <a:tc>
                      <a:txBody>
                        <a:bodyPr/>
                        <a:lstStyle/>
                        <a:p>
                          <a:r>
                            <a:rPr lang="en-US" dirty="0"/>
                            <a:t>Term/document</a:t>
                          </a:r>
                        </a:p>
                      </a:txBody>
                      <a:tcPr/>
                    </a:tc>
                    <a:tc>
                      <a:txBody>
                        <a:bodyPr/>
                        <a:lstStyle/>
                        <a:p>
                          <a:endParaRPr lang="en-US"/>
                        </a:p>
                      </a:txBody>
                      <a:tcPr>
                        <a:blipFill>
                          <a:blip r:embed="rId2"/>
                          <a:stretch>
                            <a:fillRect l="-172222" t="-8197" r="-535000" b="-522951"/>
                          </a:stretch>
                        </a:blipFill>
                      </a:tcPr>
                    </a:tc>
                    <a:tc>
                      <a:txBody>
                        <a:bodyPr/>
                        <a:lstStyle/>
                        <a:p>
                          <a:endParaRPr lang="en-US"/>
                        </a:p>
                      </a:txBody>
                      <a:tcPr>
                        <a:blipFill>
                          <a:blip r:embed="rId2"/>
                          <a:stretch>
                            <a:fillRect l="-270718" t="-8197" r="-432044" b="-522951"/>
                          </a:stretch>
                        </a:blipFill>
                      </a:tcPr>
                    </a:tc>
                    <a:tc>
                      <a:txBody>
                        <a:bodyPr/>
                        <a:lstStyle/>
                        <a:p>
                          <a:endParaRPr lang="en-US"/>
                        </a:p>
                      </a:txBody>
                      <a:tcPr>
                        <a:blipFill>
                          <a:blip r:embed="rId2"/>
                          <a:stretch>
                            <a:fillRect l="-368681" t="-8197" r="-329670" b="-522951"/>
                          </a:stretch>
                        </a:blipFill>
                      </a:tcPr>
                    </a:tc>
                    <a:tc>
                      <a:txBody>
                        <a:bodyPr/>
                        <a:lstStyle/>
                        <a:p>
                          <a:endParaRPr lang="en-US"/>
                        </a:p>
                      </a:txBody>
                      <a:tcPr>
                        <a:blipFill>
                          <a:blip r:embed="rId2"/>
                          <a:stretch>
                            <a:fillRect l="-481921" t="-8197" r="-238983" b="-522951"/>
                          </a:stretch>
                        </a:blipFill>
                      </a:tcPr>
                    </a:tc>
                    <a:tc>
                      <a:txBody>
                        <a:bodyPr/>
                        <a:lstStyle/>
                        <a:p>
                          <a:endParaRPr lang="en-US"/>
                        </a:p>
                      </a:txBody>
                      <a:tcPr>
                        <a:blipFill>
                          <a:blip r:embed="rId2"/>
                          <a:stretch>
                            <a:fillRect l="-528205" t="-8197" r="-116923" b="-522951"/>
                          </a:stretch>
                        </a:blipFill>
                      </a:tcPr>
                    </a:tc>
                    <a:tc>
                      <a:txBody>
                        <a:bodyPr/>
                        <a:lstStyle/>
                        <a:p>
                          <a:endParaRPr lang="en-US"/>
                        </a:p>
                      </a:txBody>
                      <a:tcPr>
                        <a:blipFill>
                          <a:blip r:embed="rId2"/>
                          <a:stretch>
                            <a:fillRect l="-546875" t="-8197" r="-1786" b="-522951"/>
                          </a:stretch>
                        </a:blipFill>
                      </a:tcPr>
                    </a:tc>
                    <a:extLst>
                      <a:ext uri="{0D108BD9-81ED-4DB2-BD59-A6C34878D82A}">
                        <a16:rowId xmlns:a16="http://schemas.microsoft.com/office/drawing/2014/main" val="287126259"/>
                      </a:ext>
                    </a:extLst>
                  </a:tr>
                  <a:tr h="370840">
                    <a:tc>
                      <a:txBody>
                        <a:bodyPr/>
                        <a:lstStyle/>
                        <a:p>
                          <a:endParaRPr lang="en-US"/>
                        </a:p>
                      </a:txBody>
                      <a:tcPr>
                        <a:blipFill>
                          <a:blip r:embed="rId2"/>
                          <a:stretch>
                            <a:fillRect l="-324" t="-108197" r="-369903" b="-422951"/>
                          </a:stretch>
                        </a:blipFill>
                      </a:tcPr>
                    </a:tc>
                    <a:tc>
                      <a:txBody>
                        <a:bodyPr/>
                        <a:lstStyle/>
                        <a:p>
                          <a:r>
                            <a:rPr lang="en-US" dirty="0">
                              <a:latin typeface="+mn-lt"/>
                            </a:rPr>
                            <a:t>0.011</a:t>
                          </a:r>
                        </a:p>
                      </a:txBody>
                      <a:tcPr/>
                    </a:tc>
                    <a:tc>
                      <a:txBody>
                        <a:bodyPr/>
                        <a:lstStyle/>
                        <a:p>
                          <a:r>
                            <a:rPr lang="en-US" dirty="0">
                              <a:latin typeface="+mn-lt"/>
                            </a:rPr>
                            <a:t>0.236</a:t>
                          </a:r>
                        </a:p>
                      </a:txBody>
                      <a:tcPr/>
                    </a:tc>
                    <a:tc>
                      <a:txBody>
                        <a:bodyPr/>
                        <a:lstStyle/>
                        <a:p>
                          <a:r>
                            <a:rPr lang="en-US" dirty="0">
                              <a:latin typeface="+mn-lt"/>
                            </a:rPr>
                            <a:t>0.602</a:t>
                          </a:r>
                        </a:p>
                      </a:txBody>
                      <a:tcPr/>
                    </a:tc>
                    <a:tc>
                      <a:txBody>
                        <a:bodyPr/>
                        <a:lstStyle/>
                        <a:p>
                          <a:r>
                            <a:rPr lang="en-US" dirty="0">
                              <a:latin typeface="+mn-lt"/>
                            </a:rPr>
                            <a:t>0.161</a:t>
                          </a:r>
                        </a:p>
                      </a:txBody>
                      <a:tcPr/>
                    </a:tc>
                    <a:tc>
                      <a:txBody>
                        <a:bodyPr/>
                        <a:lstStyle/>
                        <a:p>
                          <a:r>
                            <a:rPr lang="en-US" dirty="0">
                              <a:latin typeface="+mn-lt"/>
                            </a:rPr>
                            <a:t>0.138</a:t>
                          </a:r>
                        </a:p>
                      </a:txBody>
                      <a:tcPr/>
                    </a:tc>
                    <a:tc>
                      <a:txBody>
                        <a:bodyPr/>
                        <a:lstStyle/>
                        <a:p>
                          <a:r>
                            <a:rPr lang="en-US" dirty="0">
                              <a:latin typeface="+mn-lt"/>
                            </a:rPr>
                            <a:t>0.142</a:t>
                          </a:r>
                        </a:p>
                      </a:txBody>
                      <a:tcPr/>
                    </a:tc>
                    <a:extLst>
                      <a:ext uri="{0D108BD9-81ED-4DB2-BD59-A6C34878D82A}">
                        <a16:rowId xmlns:a16="http://schemas.microsoft.com/office/drawing/2014/main" val="2655342882"/>
                      </a:ext>
                    </a:extLst>
                  </a:tr>
                  <a:tr h="370840">
                    <a:tc>
                      <a:txBody>
                        <a:bodyPr/>
                        <a:lstStyle/>
                        <a:p>
                          <a:endParaRPr lang="en-US"/>
                        </a:p>
                      </a:txBody>
                      <a:tcPr>
                        <a:blipFill>
                          <a:blip r:embed="rId2"/>
                          <a:stretch>
                            <a:fillRect l="-324" t="-208197" r="-369903" b="-322951"/>
                          </a:stretch>
                        </a:blipFill>
                      </a:tcPr>
                    </a:tc>
                    <a:tc>
                      <a:txBody>
                        <a:bodyPr/>
                        <a:lstStyle/>
                        <a:p>
                          <a:r>
                            <a:rPr lang="en-US" dirty="0">
                              <a:latin typeface="+mn-lt"/>
                            </a:rPr>
                            <a:t>0.176</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0.243</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0.284</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0.245</a:t>
                          </a:r>
                        </a:p>
                      </a:txBody>
                      <a:tcPr/>
                    </a:tc>
                    <a:tc>
                      <a:txBody>
                        <a:bodyPr/>
                        <a:lstStyle/>
                        <a:p>
                          <a:r>
                            <a:rPr lang="en-US" dirty="0">
                              <a:latin typeface="+mn-lt"/>
                            </a:rPr>
                            <a:t>0.477</a:t>
                          </a:r>
                        </a:p>
                      </a:txBody>
                      <a:tcPr/>
                    </a:tc>
                    <a:tc>
                      <a:txBody>
                        <a:bodyPr/>
                        <a:lstStyle/>
                        <a:p>
                          <a:r>
                            <a:rPr lang="en-US" dirty="0">
                              <a:latin typeface="+mn-lt"/>
                            </a:rPr>
                            <a:t>0.165</a:t>
                          </a:r>
                        </a:p>
                      </a:txBody>
                      <a:tcPr/>
                    </a:tc>
                    <a:extLst>
                      <a:ext uri="{0D108BD9-81ED-4DB2-BD59-A6C34878D82A}">
                        <a16:rowId xmlns:a16="http://schemas.microsoft.com/office/drawing/2014/main" val="3918668883"/>
                      </a:ext>
                    </a:extLst>
                  </a:tr>
                  <a:tr h="370840">
                    <a:tc>
                      <a:txBody>
                        <a:bodyPr/>
                        <a:lstStyle/>
                        <a:p>
                          <a:endParaRPr lang="en-US"/>
                        </a:p>
                      </a:txBody>
                      <a:tcPr>
                        <a:blipFill>
                          <a:blip r:embed="rId2"/>
                          <a:stretch>
                            <a:fillRect l="-324" t="-308197" r="-369903" b="-222951"/>
                          </a:stretch>
                        </a:blipFill>
                      </a:tcPr>
                    </a:tc>
                    <a:tc>
                      <a:txBody>
                        <a:bodyPr/>
                        <a:lstStyle/>
                        <a:p>
                          <a:r>
                            <a:rPr lang="en-US" dirty="0">
                              <a:latin typeface="+mn-lt"/>
                            </a:rPr>
                            <a:t>0.323</a:t>
                          </a:r>
                        </a:p>
                      </a:txBody>
                      <a:tcPr/>
                    </a:tc>
                    <a:tc>
                      <a:txBody>
                        <a:bodyPr/>
                        <a:lstStyle/>
                        <a:p>
                          <a:r>
                            <a:rPr lang="en-US" dirty="0">
                              <a:latin typeface="+mn-lt"/>
                            </a:rPr>
                            <a:t>0.234</a:t>
                          </a:r>
                        </a:p>
                      </a:txBody>
                      <a:tcPr/>
                    </a:tc>
                    <a:tc>
                      <a:txBody>
                        <a:bodyPr/>
                        <a:lstStyle/>
                        <a:p>
                          <a:r>
                            <a:rPr lang="en-US" dirty="0">
                              <a:latin typeface="+mn-lt"/>
                            </a:rPr>
                            <a:t>0.061</a:t>
                          </a:r>
                        </a:p>
                      </a:txBody>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latin typeface="+mn-lt"/>
                            </a:rPr>
                            <a:t>0.215</a:t>
                          </a:r>
                        </a:p>
                      </a:txBody>
                      <a:tcPr/>
                    </a:tc>
                    <a:tc>
                      <a:txBody>
                        <a:bodyPr/>
                        <a:lstStyle/>
                        <a:p>
                          <a:r>
                            <a:rPr lang="en-US" dirty="0">
                              <a:latin typeface="+mn-lt"/>
                            </a:rPr>
                            <a:t>0.088</a:t>
                          </a:r>
                        </a:p>
                      </a:txBody>
                      <a:tcPr/>
                    </a:tc>
                    <a:tc>
                      <a:txBody>
                        <a:bodyPr/>
                        <a:lstStyle/>
                        <a:p>
                          <a:r>
                            <a:rPr lang="en-US" dirty="0">
                              <a:latin typeface="+mn-lt"/>
                            </a:rPr>
                            <a:t>0.281</a:t>
                          </a:r>
                        </a:p>
                      </a:txBody>
                      <a:tcPr/>
                    </a:tc>
                    <a:extLst>
                      <a:ext uri="{0D108BD9-81ED-4DB2-BD59-A6C34878D82A}">
                        <a16:rowId xmlns:a16="http://schemas.microsoft.com/office/drawing/2014/main" val="1645996487"/>
                      </a:ext>
                    </a:extLst>
                  </a:tr>
                  <a:tr h="370840">
                    <a:tc>
                      <a:txBody>
                        <a:bodyPr/>
                        <a:lstStyle/>
                        <a:p>
                          <a:endParaRPr lang="en-US"/>
                        </a:p>
                      </a:txBody>
                      <a:tcPr>
                        <a:blipFill>
                          <a:blip r:embed="rId2"/>
                          <a:stretch>
                            <a:fillRect l="-324" t="-408197" r="-369903" b="-122951"/>
                          </a:stretch>
                        </a:blipFill>
                      </a:tcPr>
                    </a:tc>
                    <a:tc>
                      <a:txBody>
                        <a:bodyPr/>
                        <a:lstStyle/>
                        <a:p>
                          <a:r>
                            <a:rPr lang="en-US" dirty="0">
                              <a:latin typeface="+mn-lt"/>
                            </a:rPr>
                            <a:t>0.167</a:t>
                          </a:r>
                        </a:p>
                      </a:txBody>
                      <a:tcPr/>
                    </a:tc>
                    <a:tc>
                      <a:txBody>
                        <a:bodyPr/>
                        <a:lstStyle/>
                        <a:p>
                          <a:r>
                            <a:rPr lang="en-US" dirty="0">
                              <a:latin typeface="+mn-lt"/>
                            </a:rPr>
                            <a:t>0.097</a:t>
                          </a:r>
                        </a:p>
                      </a:txBody>
                      <a:tcPr/>
                    </a:tc>
                    <a:tc>
                      <a:txBody>
                        <a:bodyPr/>
                        <a:lstStyle/>
                        <a:p>
                          <a:r>
                            <a:rPr lang="en-US" dirty="0">
                              <a:latin typeface="+mn-lt"/>
                            </a:rPr>
                            <a:t>0.038</a:t>
                          </a:r>
                        </a:p>
                      </a:txBody>
                      <a:tcPr/>
                    </a:tc>
                    <a:tc>
                      <a:txBody>
                        <a:bodyPr/>
                        <a:lstStyle/>
                        <a:p>
                          <a:r>
                            <a:rPr lang="en-US" dirty="0">
                              <a:latin typeface="+mn-lt"/>
                            </a:rPr>
                            <a:t>0.156</a:t>
                          </a:r>
                        </a:p>
                      </a:txBody>
                      <a:tcPr/>
                    </a:tc>
                    <a:tc>
                      <a:txBody>
                        <a:bodyPr/>
                        <a:lstStyle/>
                        <a:p>
                          <a:r>
                            <a:rPr lang="en-US" dirty="0">
                              <a:latin typeface="+mn-lt"/>
                            </a:rPr>
                            <a:t>0.211</a:t>
                          </a:r>
                        </a:p>
                      </a:txBody>
                      <a:tcPr/>
                    </a:tc>
                    <a:tc>
                      <a:txBody>
                        <a:bodyPr/>
                        <a:lstStyle/>
                        <a:p>
                          <a:r>
                            <a:rPr lang="en-US" dirty="0">
                              <a:latin typeface="+mn-lt"/>
                            </a:rPr>
                            <a:t>0.387</a:t>
                          </a:r>
                        </a:p>
                      </a:txBody>
                      <a:tcPr/>
                    </a:tc>
                    <a:extLst>
                      <a:ext uri="{0D108BD9-81ED-4DB2-BD59-A6C34878D82A}">
                        <a16:rowId xmlns:a16="http://schemas.microsoft.com/office/drawing/2014/main" val="4111986843"/>
                      </a:ext>
                    </a:extLst>
                  </a:tr>
                  <a:tr h="370840">
                    <a:tc>
                      <a:txBody>
                        <a:bodyPr/>
                        <a:lstStyle/>
                        <a:p>
                          <a:endParaRPr lang="en-US"/>
                        </a:p>
                      </a:txBody>
                      <a:tcPr>
                        <a:blipFill>
                          <a:blip r:embed="rId2"/>
                          <a:stretch>
                            <a:fillRect l="-324" t="-508197" r="-369903" b="-22951"/>
                          </a:stretch>
                        </a:blipFill>
                      </a:tcPr>
                    </a:tc>
                    <a:tc>
                      <a:txBody>
                        <a:bodyPr/>
                        <a:lstStyle/>
                        <a:p>
                          <a:r>
                            <a:rPr lang="en-US" dirty="0">
                              <a:latin typeface="+mn-lt"/>
                            </a:rPr>
                            <a:t>0.323</a:t>
                          </a:r>
                        </a:p>
                      </a:txBody>
                      <a:tcPr/>
                    </a:tc>
                    <a:tc>
                      <a:txBody>
                        <a:bodyPr/>
                        <a:lstStyle/>
                        <a:p>
                          <a:r>
                            <a:rPr lang="en-US" dirty="0">
                              <a:latin typeface="+mn-lt"/>
                            </a:rPr>
                            <a:t>0.190</a:t>
                          </a:r>
                        </a:p>
                      </a:txBody>
                      <a:tcPr/>
                    </a:tc>
                    <a:tc>
                      <a:txBody>
                        <a:bodyPr/>
                        <a:lstStyle/>
                        <a:p>
                          <a:r>
                            <a:rPr lang="en-US" dirty="0">
                              <a:latin typeface="+mn-lt"/>
                            </a:rPr>
                            <a:t>0.015</a:t>
                          </a:r>
                        </a:p>
                      </a:txBody>
                      <a:tcPr/>
                    </a:tc>
                    <a:tc>
                      <a:txBody>
                        <a:bodyPr/>
                        <a:lstStyle/>
                        <a:p>
                          <a:r>
                            <a:rPr lang="en-US" dirty="0">
                              <a:latin typeface="+mn-lt"/>
                            </a:rPr>
                            <a:t>0.222</a:t>
                          </a:r>
                        </a:p>
                      </a:txBody>
                      <a:tcPr/>
                    </a:tc>
                    <a:tc>
                      <a:txBody>
                        <a:bodyPr/>
                        <a:lstStyle/>
                        <a:p>
                          <a:r>
                            <a:rPr lang="en-US" dirty="0">
                              <a:latin typeface="+mn-lt"/>
                            </a:rPr>
                            <a:t>0.086</a:t>
                          </a:r>
                        </a:p>
                      </a:txBody>
                      <a:tcPr/>
                    </a:tc>
                    <a:tc>
                      <a:txBody>
                        <a:bodyPr/>
                        <a:lstStyle/>
                        <a:p>
                          <a:r>
                            <a:rPr lang="en-US" dirty="0">
                              <a:latin typeface="+mn-lt"/>
                            </a:rPr>
                            <a:t>0.024</a:t>
                          </a:r>
                        </a:p>
                      </a:txBody>
                      <a:tcPr/>
                    </a:tc>
                    <a:extLst>
                      <a:ext uri="{0D108BD9-81ED-4DB2-BD59-A6C34878D82A}">
                        <a16:rowId xmlns:a16="http://schemas.microsoft.com/office/drawing/2014/main" val="373700373"/>
                      </a:ext>
                    </a:extLst>
                  </a:tr>
                </a:tbl>
              </a:graphicData>
            </a:graphic>
          </p:graphicFrame>
        </mc:Fallback>
      </mc:AlternateContent>
      <p:pic>
        <p:nvPicPr>
          <p:cNvPr id="6" name="Picture 5">
            <a:extLst>
              <a:ext uri="{FF2B5EF4-FFF2-40B4-BE49-F238E27FC236}">
                <a16:creationId xmlns:a16="http://schemas.microsoft.com/office/drawing/2014/main" id="{230AFDD3-D88B-C239-AF26-D243E381466D}"/>
              </a:ext>
            </a:extLst>
          </p:cNvPr>
          <p:cNvPicPr>
            <a:picLocks noChangeAspect="1"/>
          </p:cNvPicPr>
          <p:nvPr/>
        </p:nvPicPr>
        <p:blipFill>
          <a:blip r:embed="rId3"/>
          <a:stretch>
            <a:fillRect/>
          </a:stretch>
        </p:blipFill>
        <p:spPr>
          <a:xfrm>
            <a:off x="2521111" y="476493"/>
            <a:ext cx="6067884" cy="3638360"/>
          </a:xfrm>
          <a:prstGeom prst="rect">
            <a:avLst/>
          </a:prstGeom>
        </p:spPr>
      </p:pic>
    </p:spTree>
    <p:extLst>
      <p:ext uri="{BB962C8B-B14F-4D97-AF65-F5344CB8AC3E}">
        <p14:creationId xmlns:p14="http://schemas.microsoft.com/office/powerpoint/2010/main" val="1070799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25215-44DC-CD38-FC7D-0679B8740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9E600-5455-AEDA-4D2A-61F2BC3D5AAC}"/>
              </a:ext>
            </a:extLst>
          </p:cNvPr>
          <p:cNvSpPr>
            <a:spLocks noGrp="1"/>
          </p:cNvSpPr>
          <p:nvPr>
            <p:ph type="title"/>
          </p:nvPr>
        </p:nvSpPr>
        <p:spPr/>
        <p:txBody>
          <a:bodyPr>
            <a:noAutofit/>
          </a:bodyPr>
          <a:lstStyle/>
          <a:p>
            <a:r>
              <a:rPr lang="en-US" sz="2800" dirty="0" err="1"/>
              <a:t>Biểu</a:t>
            </a:r>
            <a:r>
              <a:rPr lang="en-US" sz="2800" dirty="0"/>
              <a:t> </a:t>
            </a:r>
            <a:r>
              <a:rPr lang="en-US" sz="2800" dirty="0" err="1"/>
              <a:t>diễn</a:t>
            </a:r>
            <a:r>
              <a:rPr lang="en-US" sz="2800" dirty="0"/>
              <a:t> </a:t>
            </a:r>
            <a:r>
              <a:rPr lang="en-US" sz="2800" dirty="0" err="1"/>
              <a:t>văn</a:t>
            </a:r>
            <a:r>
              <a:rPr lang="en-US" sz="2800" dirty="0"/>
              <a:t> </a:t>
            </a:r>
            <a:r>
              <a:rPr lang="en-US" sz="2800" dirty="0" err="1"/>
              <a:t>bản</a:t>
            </a:r>
            <a:endParaRPr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42917EF-6300-CCF5-98FB-CCE068DAA88D}"/>
                  </a:ext>
                </a:extLst>
              </p:cNvPr>
              <p:cNvSpPr txBox="1"/>
              <p:nvPr/>
            </p:nvSpPr>
            <p:spPr>
              <a:xfrm>
                <a:off x="1009268" y="855071"/>
                <a:ext cx="9239631" cy="3535327"/>
              </a:xfrm>
              <a:prstGeom prst="rect">
                <a:avLst/>
              </a:prstGeom>
              <a:noFill/>
            </p:spPr>
            <p:txBody>
              <a:bodyPr wrap="square">
                <a:spAutoFit/>
              </a:bodyPr>
              <a:lstStyle/>
              <a:p>
                <a:pPr marL="342900" indent="-342900">
                  <a:buFont typeface="Arial" panose="020B0604020202020204" pitchFamily="34" charset="0"/>
                  <a:buChar char="•"/>
                </a:pPr>
                <a14:m>
                  <m:oMath xmlns:m="http://schemas.openxmlformats.org/officeDocument/2006/math">
                    <m:r>
                      <a:rPr lang="en-US" sz="2400" i="1" dirty="0" smtClean="0">
                        <a:latin typeface="Cambria Math" panose="02040503050406030204" pitchFamily="18" charset="0"/>
                      </a:rPr>
                      <m:t>𝑖𝑑𝑓</m:t>
                    </m:r>
                  </m:oMath>
                </a14:m>
                <a:r>
                  <a:rPr lang="en-US" sz="2400" dirty="0"/>
                  <a:t> (inverse document frequency): </a:t>
                </a:r>
                <a:r>
                  <a:rPr lang="en-US" sz="2400" dirty="0" err="1"/>
                  <a:t>xác</a:t>
                </a:r>
                <a:r>
                  <a:rPr lang="en-US" sz="2400" dirty="0"/>
                  <a:t> </a:t>
                </a:r>
                <a:r>
                  <a:rPr lang="en-US" sz="2400" dirty="0" err="1"/>
                  <a:t>định</a:t>
                </a:r>
                <a:r>
                  <a:rPr lang="en-US" sz="2400" dirty="0"/>
                  <a:t> </a:t>
                </a:r>
                <a:r>
                  <a:rPr lang="en-US" sz="2400" dirty="0" err="1"/>
                  <a:t>độ</a:t>
                </a:r>
                <a:r>
                  <a:rPr lang="en-US" sz="2400" dirty="0"/>
                  <a:t> </a:t>
                </a:r>
                <a:r>
                  <a:rPr lang="en-US" sz="2400" dirty="0" err="1"/>
                  <a:t>quan</a:t>
                </a:r>
                <a:r>
                  <a:rPr lang="en-US" sz="2400" dirty="0"/>
                  <a:t> </a:t>
                </a:r>
                <a:r>
                  <a:rPr lang="en-US" sz="2400" dirty="0" err="1"/>
                  <a:t>trọng</a:t>
                </a:r>
                <a:r>
                  <a:rPr lang="en-US" sz="2400" dirty="0"/>
                  <a:t> </a:t>
                </a:r>
                <a:r>
                  <a:rPr lang="en-US" sz="2400" dirty="0" err="1"/>
                  <a:t>của</a:t>
                </a:r>
                <a:r>
                  <a:rPr lang="en-US" sz="2400" dirty="0"/>
                  <a:t> </a:t>
                </a:r>
                <a:r>
                  <a:rPr lang="en-US" sz="2400" dirty="0" err="1"/>
                  <a:t>mỗi</a:t>
                </a:r>
                <a:r>
                  <a:rPr lang="en-US" sz="2400" dirty="0"/>
                  <a:t> </a:t>
                </a:r>
                <a:r>
                  <a:rPr lang="en-US" sz="2400" dirty="0" err="1"/>
                  <a:t>từ</a:t>
                </a:r>
                <a:r>
                  <a:rPr lang="en-US" sz="2400" dirty="0"/>
                  <a:t> </a:t>
                </a:r>
                <a:r>
                  <a:rPr lang="en-US" sz="2400" dirty="0" err="1"/>
                  <a:t>trong</a:t>
                </a:r>
                <a:r>
                  <a:rPr lang="en-US" sz="2400" dirty="0"/>
                  <a:t> </a:t>
                </a:r>
                <a:r>
                  <a:rPr lang="en-US" sz="2400" dirty="0" err="1"/>
                  <a:t>tập</a:t>
                </a:r>
                <a:r>
                  <a:rPr lang="en-US" sz="2400" dirty="0"/>
                  <a:t> </a:t>
                </a:r>
                <a:r>
                  <a:rPr lang="en-US" sz="2400" dirty="0" err="1"/>
                  <a:t>dữ</a:t>
                </a:r>
                <a:r>
                  <a:rPr lang="en-US" sz="2400" dirty="0"/>
                  <a:t> </a:t>
                </a:r>
                <a:r>
                  <a:rPr lang="en-US" sz="2400" dirty="0" err="1"/>
                  <a:t>liệu</a:t>
                </a:r>
                <a:r>
                  <a:rPr lang="en-US" sz="2400" dirty="0"/>
                  <a:t> </a:t>
                </a:r>
                <a:r>
                  <a:rPr lang="en-US" sz="2400" dirty="0" err="1"/>
                  <a:t>văn</a:t>
                </a:r>
                <a:r>
                  <a:rPr lang="en-US" sz="2400" dirty="0"/>
                  <a:t> </a:t>
                </a:r>
                <a:r>
                  <a:rPr lang="en-US" sz="2400" dirty="0" err="1"/>
                  <a:t>bản</a:t>
                </a:r>
                <a:r>
                  <a:rPr lang="en-US" sz="2400" dirty="0"/>
                  <a:t> </a:t>
                </a:r>
                <a:r>
                  <a:rPr lang="en-US" sz="2400" dirty="0" err="1"/>
                  <a:t>đang</a:t>
                </a:r>
                <a:r>
                  <a:rPr lang="en-US" sz="2400" dirty="0"/>
                  <a:t> </a:t>
                </a:r>
                <a:r>
                  <a:rPr lang="en-US" sz="2400" dirty="0" err="1"/>
                  <a:t>xem</a:t>
                </a:r>
                <a:r>
                  <a:rPr lang="en-US" sz="2400" dirty="0"/>
                  <a:t> </a:t>
                </a:r>
                <a:r>
                  <a:rPr lang="en-US" sz="2400" dirty="0" err="1"/>
                  <a:t>xét</a:t>
                </a:r>
                <a:endParaRPr lang="en-US" sz="2400" dirty="0"/>
              </a:p>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𝑖𝑑</m:t>
                      </m:r>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𝑓</m:t>
                          </m:r>
                        </m:e>
                        <m:sub>
                          <m:r>
                            <a:rPr lang="en-US" sz="2400" b="0" i="1" dirty="0" smtClean="0">
                              <a:latin typeface="Cambria Math" panose="02040503050406030204" pitchFamily="18" charset="0"/>
                            </a:rPr>
                            <m:t>𝑖</m:t>
                          </m:r>
                        </m:sub>
                      </m:sSub>
                      <m:r>
                        <a:rPr lang="en-US" sz="2400" b="0" i="1" dirty="0" smtClean="0">
                          <a:latin typeface="Cambria Math" panose="02040503050406030204" pitchFamily="18" charset="0"/>
                        </a:rPr>
                        <m:t>=</m:t>
                      </m:r>
                      <m:r>
                        <a:rPr lang="en-US" sz="2400" i="1" dirty="0">
                          <a:latin typeface="Cambria Math" panose="02040503050406030204" pitchFamily="18" charset="0"/>
                        </a:rPr>
                        <m:t> </m:t>
                      </m:r>
                      <m:r>
                        <m:rPr>
                          <m:sty m:val="p"/>
                        </m:rPr>
                        <a:rPr lang="en-US" sz="2400" i="1" dirty="0">
                          <a:latin typeface="Cambria Math" panose="02040503050406030204" pitchFamily="18" charset="0"/>
                        </a:rPr>
                        <m:t>log</m:t>
                      </m:r>
                      <m:r>
                        <a:rPr lang="en-US" sz="2400" i="1" dirty="0">
                          <a:latin typeface="Cambria Math" panose="02040503050406030204" pitchFamily="18" charset="0"/>
                        </a:rPr>
                        <m:t>⁡(</m:t>
                      </m:r>
                      <m:r>
                        <a:rPr lang="en-US" sz="2400" i="1" dirty="0">
                          <a:latin typeface="Cambria Math" panose="02040503050406030204" pitchFamily="18" charset="0"/>
                        </a:rPr>
                        <m:t>𝑁</m:t>
                      </m:r>
                      <m:r>
                        <a:rPr lang="en-US" sz="2400" i="1" dirty="0">
                          <a:latin typeface="Cambria Math" panose="02040503050406030204" pitchFamily="18" charset="0"/>
                        </a:rPr>
                        <m:t> / </m:t>
                      </m:r>
                      <m:r>
                        <a:rPr lang="en-US" sz="2400" i="1" dirty="0" err="1">
                          <a:latin typeface="Cambria Math" panose="02040503050406030204" pitchFamily="18" charset="0"/>
                        </a:rPr>
                        <m:t>𝑑</m:t>
                      </m:r>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𝑓</m:t>
                          </m:r>
                        </m:e>
                        <m:sub>
                          <m:r>
                            <a:rPr lang="en-US" sz="2400" b="0" i="1" dirty="0" smtClean="0">
                              <a:latin typeface="Cambria Math" panose="02040503050406030204" pitchFamily="18" charset="0"/>
                            </a:rPr>
                            <m:t>𝑖</m:t>
                          </m:r>
                        </m:sub>
                      </m:sSub>
                      <m:r>
                        <a:rPr lang="en-US" sz="2400" i="1" dirty="0">
                          <a:latin typeface="Cambria Math" panose="02040503050406030204" pitchFamily="18" charset="0"/>
                        </a:rPr>
                        <m:t>) </m:t>
                      </m:r>
                    </m:oMath>
                  </m:oMathPara>
                </a14:m>
                <a:endParaRPr lang="en-US" sz="2400" i="1" dirty="0">
                  <a:latin typeface="Cambria Math" panose="02040503050406030204" pitchFamily="18" charset="0"/>
                </a:endParaRPr>
              </a:p>
              <a:p>
                <a:pPr marL="800100" lvl="1" indent="-342900">
                  <a:buFont typeface="Courier New" panose="02070309020205020404" pitchFamily="49" charset="0"/>
                  <a:buChar char="o"/>
                </a:pPr>
                <a:r>
                  <a:rPr lang="en-US" sz="2400" dirty="0"/>
                  <a:t>N: </a:t>
                </a:r>
                <a:r>
                  <a:rPr lang="en-US" sz="2400" dirty="0" err="1"/>
                  <a:t>Tổng</a:t>
                </a:r>
                <a:r>
                  <a:rPr lang="en-US" sz="2400" dirty="0"/>
                  <a:t>  </a:t>
                </a:r>
                <a:r>
                  <a:rPr lang="en-US" sz="2400" dirty="0" err="1"/>
                  <a:t>số</a:t>
                </a:r>
                <a:r>
                  <a:rPr lang="en-US" sz="2400" dirty="0"/>
                  <a:t> </a:t>
                </a:r>
                <a:r>
                  <a:rPr lang="en-US" sz="2400" dirty="0" err="1"/>
                  <a:t>văn</a:t>
                </a:r>
                <a:r>
                  <a:rPr lang="en-US" sz="2400" dirty="0"/>
                  <a:t> </a:t>
                </a:r>
                <a:r>
                  <a:rPr lang="en-US" sz="2400" dirty="0" err="1"/>
                  <a:t>bản</a:t>
                </a:r>
                <a:r>
                  <a:rPr lang="en-US" sz="2400" dirty="0"/>
                  <a:t> </a:t>
                </a:r>
                <a:r>
                  <a:rPr lang="en-US" sz="2400" dirty="0" err="1"/>
                  <a:t>trong</a:t>
                </a:r>
                <a:r>
                  <a:rPr lang="en-US" sz="2400" dirty="0"/>
                  <a:t> </a:t>
                </a:r>
                <a:r>
                  <a:rPr lang="en-US" sz="2400" dirty="0" err="1"/>
                  <a:t>tập</a:t>
                </a:r>
                <a:r>
                  <a:rPr lang="en-US" sz="2400" dirty="0"/>
                  <a:t> DL</a:t>
                </a:r>
              </a:p>
              <a:p>
                <a:pPr marL="800100" lvl="1" indent="-342900">
                  <a:buFont typeface="Courier New" panose="02070309020205020404" pitchFamily="49" charset="0"/>
                  <a:buChar char="o"/>
                </a:pPr>
                <a14:m>
                  <m:oMath xmlns:m="http://schemas.openxmlformats.org/officeDocument/2006/math">
                    <m:r>
                      <m:rPr>
                        <m:sty m:val="p"/>
                      </m:rPr>
                      <a:rPr lang="en-US" sz="2400" b="0" i="0" smtClean="0">
                        <a:latin typeface="Cambria Math" panose="02040503050406030204" pitchFamily="18" charset="0"/>
                      </a:rPr>
                      <m:t>d</m:t>
                    </m:r>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f</m:t>
                        </m:r>
                      </m:e>
                      <m:sub>
                        <m:r>
                          <m:rPr>
                            <m:sty m:val="p"/>
                          </m:rPr>
                          <a:rPr lang="en-US" sz="2400" b="0" i="0" smtClean="0">
                            <a:latin typeface="Cambria Math" panose="02040503050406030204" pitchFamily="18" charset="0"/>
                          </a:rPr>
                          <m:t>i</m:t>
                        </m:r>
                      </m:sub>
                    </m:sSub>
                  </m:oMath>
                </a14:m>
                <a:r>
                  <a:rPr lang="en-US" sz="2400" dirty="0"/>
                  <a:t>: </a:t>
                </a:r>
                <a:r>
                  <a:rPr lang="en-US" sz="2400" dirty="0" err="1"/>
                  <a:t>số</a:t>
                </a:r>
                <a:r>
                  <a:rPr lang="en-US" sz="2400" dirty="0"/>
                  <a:t> </a:t>
                </a:r>
                <a:r>
                  <a:rPr lang="en-US" sz="2400" dirty="0" err="1"/>
                  <a:t>văn</a:t>
                </a:r>
                <a:r>
                  <a:rPr lang="en-US" sz="2400" dirty="0"/>
                  <a:t> </a:t>
                </a:r>
                <a:r>
                  <a:rPr lang="en-US" sz="2400" dirty="0" err="1"/>
                  <a:t>bản</a:t>
                </a:r>
                <a:r>
                  <a:rPr lang="en-US" sz="2400" dirty="0"/>
                  <a:t> </a:t>
                </a:r>
                <a:r>
                  <a:rPr lang="en-US" sz="2400" dirty="0" err="1"/>
                  <a:t>có</a:t>
                </a:r>
                <a:r>
                  <a:rPr lang="en-US" sz="2400" dirty="0"/>
                  <a:t> </a:t>
                </a:r>
                <a:r>
                  <a:rPr lang="en-US" sz="2400" dirty="0" err="1"/>
                  <a:t>chứa</a:t>
                </a:r>
                <a:r>
                  <a:rPr lang="en-US" sz="2400" dirty="0"/>
                  <a:t> </a:t>
                </a:r>
                <a:r>
                  <a:rPr lang="en-US" sz="2400" dirty="0" err="1"/>
                  <a:t>từ</a:t>
                </a:r>
                <a:r>
                  <a:rPr lang="en-US" sz="2400" dirty="0"/>
                  <a:t> </a:t>
                </a:r>
                <a14:m>
                  <m:oMath xmlns:m="http://schemas.openxmlformats.org/officeDocument/2006/math">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t</m:t>
                        </m:r>
                      </m:e>
                      <m:sub>
                        <m:r>
                          <m:rPr>
                            <m:sty m:val="p"/>
                          </m:rPr>
                          <a:rPr lang="en-US" sz="2400" b="0" i="0" smtClean="0">
                            <a:latin typeface="Cambria Math" panose="02040503050406030204" pitchFamily="18" charset="0"/>
                          </a:rPr>
                          <m:t>i</m:t>
                        </m:r>
                      </m:sub>
                    </m:sSub>
                  </m:oMath>
                </a14:m>
                <a:endParaRPr lang="en-US" sz="2400" dirty="0"/>
              </a:p>
              <a:p>
                <a:r>
                  <a:rPr lang="en-US" sz="2400" dirty="0" err="1"/>
                  <a:t>Trọng</a:t>
                </a:r>
                <a:r>
                  <a:rPr lang="en-US" sz="2400" dirty="0"/>
                  <a:t> </a:t>
                </a:r>
                <a:r>
                  <a:rPr lang="en-US" sz="2400" dirty="0" err="1"/>
                  <a:t>số</a:t>
                </a:r>
                <a:r>
                  <a:rPr lang="en-US" sz="2400" dirty="0"/>
                  <a:t> </a:t>
                </a:r>
                <a:r>
                  <a:rPr lang="en-US" sz="2400" i="1" dirty="0">
                    <a:latin typeface="Cambria Math" panose="02040503050406030204" pitchFamily="18" charset="0"/>
                  </a:rPr>
                  <a:t> </a:t>
                </a:r>
                <a14:m>
                  <m:oMath xmlns:m="http://schemas.openxmlformats.org/officeDocument/2006/math">
                    <m:r>
                      <a:rPr lang="en-US" sz="2400" b="0" i="1" smtClean="0">
                        <a:latin typeface="Cambria Math" panose="02040503050406030204" pitchFamily="18" charset="0"/>
                      </a:rPr>
                      <m:t>𝑡𝑓</m:t>
                    </m:r>
                    <m:r>
                      <a:rPr lang="en-US" sz="2400" b="0" i="1" smtClean="0">
                        <a:latin typeface="Cambria Math" panose="02040503050406030204" pitchFamily="18" charset="0"/>
                      </a:rPr>
                      <m:t>.</m:t>
                    </m:r>
                    <m:r>
                      <a:rPr lang="en-US" sz="2400" i="1">
                        <a:latin typeface="Cambria Math" panose="02040503050406030204" pitchFamily="18" charset="0"/>
                      </a:rPr>
                      <m:t>𝑑</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oMath>
                </a14:m>
                <a:r>
                  <a:rPr lang="en-US" sz="2400" i="1" dirty="0">
                    <a:latin typeface="Cambria Math" panose="02040503050406030204" pitchFamily="18" charset="0"/>
                  </a:rPr>
                  <a:t> </a:t>
                </a:r>
                <a:r>
                  <a:rPr lang="en-US" sz="2400" dirty="0" err="1"/>
                  <a:t>của</a:t>
                </a:r>
                <a:r>
                  <a:rPr lang="en-US" sz="2400" dirty="0"/>
                  <a:t> </a:t>
                </a:r>
                <a:r>
                  <a:rPr lang="en-US" sz="2400" dirty="0" err="1"/>
                  <a:t>từ</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𝑡</m:t>
                        </m:r>
                      </m:e>
                      <m:sub>
                        <m:r>
                          <a:rPr lang="en-US" sz="2400" i="1">
                            <a:latin typeface="Cambria Math" panose="02040503050406030204" pitchFamily="18" charset="0"/>
                          </a:rPr>
                          <m:t>𝑖</m:t>
                        </m:r>
                      </m:sub>
                    </m:sSub>
                  </m:oMath>
                </a14:m>
                <a:r>
                  <a:rPr lang="en-US" sz="2400" i="1" dirty="0">
                    <a:latin typeface="Cambria Math" panose="02040503050406030204" pitchFamily="18" charset="0"/>
                  </a:rPr>
                  <a:t> </a:t>
                </a:r>
                <a:r>
                  <a:rPr lang="en-US" sz="2400" dirty="0" err="1"/>
                  <a:t>trong</a:t>
                </a:r>
                <a:r>
                  <a:rPr lang="en-US" sz="2400" dirty="0"/>
                  <a:t> </a:t>
                </a:r>
                <a:r>
                  <a:rPr lang="en-US" sz="2400" dirty="0" err="1"/>
                  <a:t>văn</a:t>
                </a:r>
                <a:r>
                  <a:rPr lang="en-US" sz="2400" dirty="0"/>
                  <a:t> </a:t>
                </a:r>
                <a:r>
                  <a:rPr lang="en-US" sz="2400" dirty="0" err="1"/>
                  <a:t>bản</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𝑗</m:t>
                        </m:r>
                      </m:sub>
                    </m:sSub>
                  </m:oMath>
                </a14:m>
                <a:r>
                  <a:rPr lang="en-US" sz="2400" i="1" dirty="0">
                    <a:latin typeface="Cambria Math" panose="02040503050406030204" pitchFamily="18" charset="0"/>
                  </a:rPr>
                  <a:t> </a:t>
                </a:r>
                <a:r>
                  <a:rPr lang="en-US" sz="2400" i="1" dirty="0" err="1"/>
                  <a:t>là</a:t>
                </a:r>
                <a:r>
                  <a:rPr lang="en-US" sz="2400" i="1" dirty="0">
                    <a:latin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sub>
                      </m:sSub>
                      <m:r>
                        <a:rPr lang="en-US" sz="2400" b="0" i="1" smtClean="0">
                          <a:latin typeface="Cambria Math" panose="02040503050406030204" pitchFamily="18" charset="0"/>
                        </a:rPr>
                        <m:t>=</m:t>
                      </m:r>
                      <m:r>
                        <a:rPr lang="en-US" sz="2400" b="0" i="1" smtClean="0">
                          <a:latin typeface="Cambria Math" panose="02040503050406030204" pitchFamily="18" charset="0"/>
                        </a:rPr>
                        <m:t>𝑡𝑓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e>
                      </m:d>
                      <m:r>
                        <a:rPr lang="en-US" sz="2400" b="0" i="1" smtClean="0">
                          <a:latin typeface="Cambria Math" panose="02040503050406030204" pitchFamily="18" charset="0"/>
                        </a:rPr>
                        <m:t>𝑥𝑖𝑑𝑓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e>
                      </m:d>
                    </m:oMath>
                  </m:oMathPara>
                </a14:m>
                <a:br>
                  <a:rPr lang="en-US" sz="2400" i="1" dirty="0">
                    <a:latin typeface="Cambria Math" panose="02040503050406030204" pitchFamily="18" charset="0"/>
                  </a:rPr>
                </a:br>
                <a:endParaRPr lang="en-US" sz="2400" i="1" dirty="0">
                  <a:latin typeface="Cambria Math" panose="02040503050406030204" pitchFamily="18" charset="0"/>
                </a:endParaRPr>
              </a:p>
              <a:p>
                <a:pPr marL="342900" indent="-342900">
                  <a:buFont typeface="Arial" panose="020B0604020202020204" pitchFamily="34" charset="0"/>
                  <a:buChar char="•"/>
                </a:pPr>
                <a:r>
                  <a:rPr lang="en-US" sz="2400" dirty="0" err="1"/>
                  <a:t>Mỗi</a:t>
                </a:r>
                <a:r>
                  <a:rPr lang="en-US" sz="2400" dirty="0"/>
                  <a:t> </a:t>
                </a:r>
                <a:r>
                  <a:rPr lang="en-US" sz="2400" dirty="0" err="1"/>
                  <a:t>văn</a:t>
                </a:r>
                <a:r>
                  <a:rPr lang="en-US" sz="2400" dirty="0"/>
                  <a:t> </a:t>
                </a:r>
                <a:r>
                  <a:rPr lang="en-US" sz="2400" dirty="0" err="1"/>
                  <a:t>bản</a:t>
                </a:r>
                <a:r>
                  <a:rPr lang="en-US" sz="2400" i="1" dirty="0">
                    <a:latin typeface="Cambria Math" panose="020405030504060302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𝑗</m:t>
                        </m:r>
                      </m:sub>
                    </m:sSub>
                  </m:oMath>
                </a14:m>
                <a:r>
                  <a:rPr lang="en-US" sz="2400" i="1" dirty="0">
                    <a:latin typeface="Cambria Math" panose="02040503050406030204" pitchFamily="18" charset="0"/>
                  </a:rPr>
                  <a:t> </a:t>
                </a:r>
                <a:r>
                  <a:rPr lang="en-US" sz="2400" dirty="0" err="1"/>
                  <a:t>được</a:t>
                </a:r>
                <a:r>
                  <a:rPr lang="en-US" sz="2400" dirty="0"/>
                  <a:t> </a:t>
                </a:r>
                <a:r>
                  <a:rPr lang="en-US" sz="2400" dirty="0" err="1"/>
                  <a:t>biểu</a:t>
                </a:r>
                <a:r>
                  <a:rPr lang="en-US" sz="2400" dirty="0"/>
                  <a:t> </a:t>
                </a:r>
                <a:r>
                  <a:rPr lang="en-US" sz="2400" dirty="0" err="1"/>
                  <a:t>diễn</a:t>
                </a:r>
                <a:r>
                  <a:rPr lang="en-US" sz="2400" dirty="0"/>
                  <a:t> </a:t>
                </a:r>
                <a:r>
                  <a:rPr lang="en-US" sz="2400" dirty="0" err="1"/>
                  <a:t>bởi</a:t>
                </a:r>
                <a:r>
                  <a:rPr lang="en-US" sz="2400" dirty="0"/>
                  <a:t> 1 vector </a:t>
                </a:r>
                <a14:m>
                  <m:oMath xmlns:m="http://schemas.openxmlformats.org/officeDocument/2006/math">
                    <m:r>
                      <a:rPr lang="en-US" sz="2400" b="0" i="1" smtClean="0">
                        <a:latin typeface="Cambria Math" panose="02040503050406030204" pitchFamily="18" charset="0"/>
                      </a:rPr>
                      <m:t>𝑡𝑓</m:t>
                    </m:r>
                    <m:r>
                      <a:rPr lang="en-US" sz="2400" b="0" i="1" smtClean="0">
                        <a:latin typeface="Cambria Math" panose="02040503050406030204" pitchFamily="18" charset="0"/>
                      </a:rPr>
                      <m:t>.</m:t>
                    </m:r>
                    <m:r>
                      <a:rPr lang="en-US" sz="2400" i="1">
                        <a:latin typeface="Cambria Math" panose="02040503050406030204" pitchFamily="18" charset="0"/>
                      </a:rPr>
                      <m:t>𝑑</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oMath>
                </a14:m>
                <a:r>
                  <a:rPr lang="en-US" sz="2400" i="1" dirty="0">
                    <a:latin typeface="Cambria Math" panose="02040503050406030204" pitchFamily="18" charset="0"/>
                  </a:rPr>
                  <a:t> :</a:t>
                </a:r>
              </a:p>
              <a:p>
                <a:pPr algn="ct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m:t>
                        </m:r>
                        <m:r>
                          <a:rPr lang="en-US" sz="2400" b="0" i="1" smtClean="0">
                            <a:latin typeface="Cambria Math" panose="02040503050406030204" pitchFamily="18" charset="0"/>
                          </a:rPr>
                          <m:t>𝑤</m:t>
                        </m:r>
                      </m:e>
                      <m:sub>
                        <m:r>
                          <a:rPr lang="en-US" sz="2400" b="0" i="1" smtClean="0">
                            <a:latin typeface="Cambria Math" panose="02040503050406030204" pitchFamily="18" charset="0"/>
                          </a:rPr>
                          <m:t>1,</m:t>
                        </m:r>
                        <m:r>
                          <a:rPr lang="en-US" sz="2400" b="0" i="1" smtClean="0">
                            <a:latin typeface="Cambria Math" panose="02040503050406030204" pitchFamily="18" charset="0"/>
                          </a:rPr>
                          <m:t>𝑗</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2</m:t>
                        </m:r>
                        <m:r>
                          <a:rPr lang="en-US" sz="2400" i="1">
                            <a:latin typeface="Cambria Math" panose="02040503050406030204" pitchFamily="18" charset="0"/>
                          </a:rPr>
                          <m:t>,</m:t>
                        </m:r>
                        <m:r>
                          <a:rPr lang="en-US" sz="2400" i="1">
                            <a:latin typeface="Cambria Math" panose="02040503050406030204" pitchFamily="18" charset="0"/>
                          </a:rPr>
                          <m:t>𝑗</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𝑀</m:t>
                        </m:r>
                        <m:r>
                          <a:rPr lang="en-US" sz="2400" i="1">
                            <a:latin typeface="Cambria Math" panose="02040503050406030204" pitchFamily="18" charset="0"/>
                          </a:rPr>
                          <m:t>,</m:t>
                        </m:r>
                        <m:r>
                          <a:rPr lang="en-US" sz="2400" i="1">
                            <a:latin typeface="Cambria Math" panose="02040503050406030204" pitchFamily="18" charset="0"/>
                          </a:rPr>
                          <m:t>𝑗</m:t>
                        </m:r>
                      </m:sub>
                    </m:sSub>
                  </m:oMath>
                </a14:m>
                <a:r>
                  <a:rPr lang="en-US" sz="2400" i="1" dirty="0">
                    <a:latin typeface="Cambria Math" panose="02040503050406030204" pitchFamily="18" charset="0"/>
                  </a:rPr>
                  <a:t>) </a:t>
                </a:r>
              </a:p>
            </p:txBody>
          </p:sp>
        </mc:Choice>
        <mc:Fallback xmlns="">
          <p:sp>
            <p:nvSpPr>
              <p:cNvPr id="4" name="TextBox 3">
                <a:extLst>
                  <a:ext uri="{FF2B5EF4-FFF2-40B4-BE49-F238E27FC236}">
                    <a16:creationId xmlns:a16="http://schemas.microsoft.com/office/drawing/2014/main" id="{642917EF-6300-CCF5-98FB-CCE068DAA88D}"/>
                  </a:ext>
                </a:extLst>
              </p:cNvPr>
              <p:cNvSpPr txBox="1">
                <a:spLocks noRot="1" noChangeAspect="1" noMove="1" noResize="1" noEditPoints="1" noAdjustHandles="1" noChangeArrowheads="1" noChangeShapeType="1" noTextEdit="1"/>
              </p:cNvSpPr>
              <p:nvPr/>
            </p:nvSpPr>
            <p:spPr>
              <a:xfrm>
                <a:off x="1009268" y="855071"/>
                <a:ext cx="9239631" cy="3535327"/>
              </a:xfrm>
              <a:prstGeom prst="rect">
                <a:avLst/>
              </a:prstGeom>
              <a:blipFill>
                <a:blip r:embed="rId2"/>
                <a:stretch>
                  <a:fillRect l="-1056" t="-1379" b="-1897"/>
                </a:stretch>
              </a:blipFill>
            </p:spPr>
            <p:txBody>
              <a:bodyPr/>
              <a:lstStyle/>
              <a:p>
                <a:r>
                  <a:rPr lang="en-US">
                    <a:noFill/>
                  </a:rPr>
                  <a:t> </a:t>
                </a:r>
              </a:p>
            </p:txBody>
          </p:sp>
        </mc:Fallback>
      </mc:AlternateContent>
    </p:spTree>
    <p:extLst>
      <p:ext uri="{BB962C8B-B14F-4D97-AF65-F5344CB8AC3E}">
        <p14:creationId xmlns:p14="http://schemas.microsoft.com/office/powerpoint/2010/main" val="169392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7A265-0FC8-3BDF-F1B2-5E02D1B2064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064864D-BB47-AA75-C5A4-D8F037143578}"/>
              </a:ext>
            </a:extLst>
          </p:cNvPr>
          <p:cNvSpPr>
            <a:spLocks noGrp="1"/>
          </p:cNvSpPr>
          <p:nvPr>
            <p:ph type="body" sz="quarter" idx="10"/>
          </p:nvPr>
        </p:nvSpPr>
        <p:spPr>
          <a:xfrm>
            <a:off x="958157" y="2517788"/>
            <a:ext cx="10275686" cy="2194234"/>
          </a:xfrm>
        </p:spPr>
        <p:txBody>
          <a:bodyPr/>
          <a:lstStyle/>
          <a:p>
            <a:r>
              <a:rPr lang="en-US" dirty="0" err="1"/>
              <a:t>Đánh</a:t>
            </a:r>
            <a:r>
              <a:rPr lang="en-US" dirty="0"/>
              <a:t> </a:t>
            </a:r>
            <a:r>
              <a:rPr lang="en-US" dirty="0" err="1"/>
              <a:t>chỉ</a:t>
            </a:r>
            <a:r>
              <a:rPr lang="en-US" dirty="0"/>
              <a:t> </a:t>
            </a:r>
            <a:r>
              <a:rPr lang="en-US" dirty="0" err="1"/>
              <a:t>mục</a:t>
            </a:r>
            <a:r>
              <a:rPr lang="en-US" dirty="0"/>
              <a:t> (Indexing)</a:t>
            </a:r>
          </a:p>
        </p:txBody>
      </p:sp>
      <p:sp>
        <p:nvSpPr>
          <p:cNvPr id="4" name="Slide Number Placeholder 3">
            <a:extLst>
              <a:ext uri="{FF2B5EF4-FFF2-40B4-BE49-F238E27FC236}">
                <a16:creationId xmlns:a16="http://schemas.microsoft.com/office/drawing/2014/main" id="{FE2B5AEC-EE8C-9D8B-5938-54A12E495EFA}"/>
              </a:ext>
            </a:extLst>
          </p:cNvPr>
          <p:cNvSpPr>
            <a:spLocks noGrp="1"/>
          </p:cNvSpPr>
          <p:nvPr>
            <p:ph type="sldNum" sz="quarter" idx="4"/>
          </p:nvPr>
        </p:nvSpPr>
        <p:spPr/>
        <p:txBody>
          <a:bodyPr/>
          <a:lstStyle/>
          <a:p>
            <a:pPr marL="0" marR="0" lvl="0" indent="0" algn="r" defTabSz="761970" rtl="0" eaLnBrk="1" fontAlgn="auto" latinLnBrk="0" hangingPunct="1">
              <a:lnSpc>
                <a:spcPct val="100000"/>
              </a:lnSpc>
              <a:spcBef>
                <a:spcPts val="0"/>
              </a:spcBef>
              <a:spcAft>
                <a:spcPts val="0"/>
              </a:spcAft>
              <a:buClrTx/>
              <a:buSzTx/>
              <a:buFontTx/>
              <a:buNone/>
              <a:tabLst/>
              <a:defRPr/>
            </a:pPr>
            <a:fld id="{31D26D55-0A22-487A-A687-61FB58A6F16A}" type="slidenum">
              <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76197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98635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BD1BF-918F-A769-3502-5C606DE22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44CFD-2329-46C1-40CA-45C481F0B8EC}"/>
              </a:ext>
            </a:extLst>
          </p:cNvPr>
          <p:cNvSpPr>
            <a:spLocks noGrp="1"/>
          </p:cNvSpPr>
          <p:nvPr>
            <p:ph type="title"/>
          </p:nvPr>
        </p:nvSpPr>
        <p:spPr/>
        <p:txBody>
          <a:bodyPr>
            <a:noAutofit/>
          </a:bodyPr>
          <a:lstStyle/>
          <a:p>
            <a:r>
              <a:rPr lang="en-US" sz="2800" dirty="0" err="1"/>
              <a:t>Đánh</a:t>
            </a:r>
            <a:r>
              <a:rPr lang="en-US" sz="2800" dirty="0"/>
              <a:t> </a:t>
            </a:r>
            <a:r>
              <a:rPr lang="en-US" sz="2800" dirty="0" err="1"/>
              <a:t>chỉ</a:t>
            </a:r>
            <a:r>
              <a:rPr lang="en-US" sz="2800" dirty="0"/>
              <a:t> </a:t>
            </a:r>
            <a:r>
              <a:rPr lang="en-US" sz="2800" dirty="0" err="1"/>
              <a:t>mục</a:t>
            </a:r>
            <a:r>
              <a:rPr lang="en-US" sz="2800" dirty="0"/>
              <a:t> (indexing)</a:t>
            </a:r>
            <a:endParaRPr sz="2800" dirty="0"/>
          </a:p>
        </p:txBody>
      </p:sp>
      <p:pic>
        <p:nvPicPr>
          <p:cNvPr id="6" name="Picture 5">
            <a:extLst>
              <a:ext uri="{FF2B5EF4-FFF2-40B4-BE49-F238E27FC236}">
                <a16:creationId xmlns:a16="http://schemas.microsoft.com/office/drawing/2014/main" id="{4AF921DA-7B41-3C31-E145-45A77B855092}"/>
              </a:ext>
            </a:extLst>
          </p:cNvPr>
          <p:cNvPicPr>
            <a:picLocks noChangeAspect="1"/>
          </p:cNvPicPr>
          <p:nvPr/>
        </p:nvPicPr>
        <p:blipFill>
          <a:blip r:embed="rId2"/>
          <a:stretch>
            <a:fillRect/>
          </a:stretch>
        </p:blipFill>
        <p:spPr>
          <a:xfrm>
            <a:off x="4670555" y="859774"/>
            <a:ext cx="7240010" cy="4772691"/>
          </a:xfrm>
          <a:prstGeom prst="rect">
            <a:avLst/>
          </a:prstGeom>
        </p:spPr>
      </p:pic>
      <p:sp>
        <p:nvSpPr>
          <p:cNvPr id="4" name="TextBox 3">
            <a:extLst>
              <a:ext uri="{FF2B5EF4-FFF2-40B4-BE49-F238E27FC236}">
                <a16:creationId xmlns:a16="http://schemas.microsoft.com/office/drawing/2014/main" id="{CDE3DC0D-63F9-EA3F-7C81-4D362E54525D}"/>
              </a:ext>
            </a:extLst>
          </p:cNvPr>
          <p:cNvSpPr txBox="1"/>
          <p:nvPr/>
        </p:nvSpPr>
        <p:spPr>
          <a:xfrm>
            <a:off x="524238" y="2091957"/>
            <a:ext cx="3955037" cy="2308324"/>
          </a:xfrm>
          <a:prstGeom prst="rect">
            <a:avLst/>
          </a:prstGeom>
          <a:noFill/>
        </p:spPr>
        <p:txBody>
          <a:bodyPr wrap="square">
            <a:spAutoFit/>
          </a:bodyPr>
          <a:lstStyle/>
          <a:p>
            <a:pPr marL="285750" indent="-285750">
              <a:buFont typeface="Arial" panose="020B0604020202020204" pitchFamily="34" charset="0"/>
              <a:buChar char="•"/>
            </a:pPr>
            <a:r>
              <a:rPr lang="en-US" sz="2400" dirty="0"/>
              <a:t>Flat-files</a:t>
            </a:r>
            <a:r>
              <a:rPr lang="en-US" sz="2400" dirty="0">
                <a:solidFill>
                  <a:srgbClr val="FF0000"/>
                </a:solidFill>
              </a:rPr>
              <a:t> =&gt; </a:t>
            </a:r>
            <a:r>
              <a:rPr lang="en-US" sz="2400" dirty="0" err="1"/>
              <a:t>không</a:t>
            </a:r>
            <a:r>
              <a:rPr lang="en-US" sz="2400" dirty="0"/>
              <a:t> </a:t>
            </a:r>
            <a:r>
              <a:rPr lang="en-US" sz="2400" dirty="0" err="1"/>
              <a:t>hiệu</a:t>
            </a:r>
            <a:r>
              <a:rPr lang="en-US" sz="2400" dirty="0"/>
              <a:t> </a:t>
            </a:r>
            <a:r>
              <a:rPr lang="en-US" sz="2400" dirty="0" err="1"/>
              <a:t>quả</a:t>
            </a:r>
            <a:endParaRPr lang="en-US" sz="2400" dirty="0"/>
          </a:p>
          <a:p>
            <a:pPr marL="285750" indent="-285750">
              <a:buFont typeface="Arial" panose="020B0604020202020204" pitchFamily="34" charset="0"/>
              <a:buChar char="•"/>
            </a:pPr>
            <a:r>
              <a:rPr lang="en-US" sz="2400" b="1" dirty="0"/>
              <a:t>Inverted files</a:t>
            </a:r>
            <a:r>
              <a:rPr lang="en-US" sz="2400" dirty="0"/>
              <a:t>: </a:t>
            </a:r>
            <a:r>
              <a:rPr lang="en-US" sz="2400" dirty="0" err="1"/>
              <a:t>hiệu</a:t>
            </a:r>
            <a:r>
              <a:rPr lang="en-US" sz="2400" dirty="0"/>
              <a:t> </a:t>
            </a:r>
            <a:r>
              <a:rPr lang="en-US" sz="2400" dirty="0" err="1"/>
              <a:t>quả</a:t>
            </a:r>
            <a:r>
              <a:rPr lang="en-US" sz="2400" dirty="0"/>
              <a:t>, </a:t>
            </a:r>
            <a:r>
              <a:rPr lang="en-US" sz="2400" dirty="0" err="1"/>
              <a:t>dễ</a:t>
            </a:r>
            <a:r>
              <a:rPr lang="en-US" sz="2400" dirty="0"/>
              <a:t> </a:t>
            </a:r>
            <a:r>
              <a:rPr lang="en-US" sz="2400" dirty="0" err="1"/>
              <a:t>cài</a:t>
            </a:r>
            <a:r>
              <a:rPr lang="en-US" sz="2400" dirty="0"/>
              <a:t> </a:t>
            </a:r>
            <a:r>
              <a:rPr lang="en-US" sz="2400" dirty="0" err="1"/>
              <a:t>đặt</a:t>
            </a:r>
            <a:r>
              <a:rPr lang="en-US" sz="2400" dirty="0"/>
              <a:t>, </a:t>
            </a:r>
            <a:r>
              <a:rPr lang="en-US" sz="2400" dirty="0" err="1"/>
              <a:t>thông</a:t>
            </a:r>
            <a:r>
              <a:rPr lang="en-US" sz="2400" dirty="0"/>
              <a:t> </a:t>
            </a:r>
            <a:r>
              <a:rPr lang="en-US" sz="2400" dirty="0" err="1"/>
              <a:t>dụng</a:t>
            </a:r>
            <a:r>
              <a:rPr lang="en-US" sz="2400" dirty="0"/>
              <a:t> </a:t>
            </a:r>
            <a:r>
              <a:rPr lang="en-US" sz="2400" dirty="0" err="1"/>
              <a:t>trong</a:t>
            </a:r>
            <a:endParaRPr lang="en-US" sz="2400" dirty="0"/>
          </a:p>
          <a:p>
            <a:pPr marL="285750" indent="-285750">
              <a:buFont typeface="Arial" panose="020B0604020202020204" pitchFamily="34" charset="0"/>
              <a:buChar char="•"/>
            </a:pPr>
            <a:r>
              <a:rPr lang="en-US" sz="2400" dirty="0" err="1"/>
              <a:t>hệ</a:t>
            </a:r>
            <a:r>
              <a:rPr lang="en-US" sz="2400" dirty="0"/>
              <a:t> </a:t>
            </a:r>
            <a:r>
              <a:rPr lang="en-US" sz="2400" dirty="0" err="1"/>
              <a:t>thống</a:t>
            </a:r>
            <a:r>
              <a:rPr lang="en-US" sz="2400" dirty="0"/>
              <a:t> </a:t>
            </a:r>
            <a:r>
              <a:rPr lang="en-US" sz="2400" dirty="0" err="1"/>
              <a:t>tìm</a:t>
            </a:r>
            <a:r>
              <a:rPr lang="en-US" sz="2400" dirty="0"/>
              <a:t> </a:t>
            </a:r>
            <a:r>
              <a:rPr lang="en-US" sz="2400" dirty="0" err="1"/>
              <a:t>kiếm</a:t>
            </a:r>
            <a:r>
              <a:rPr lang="en-US" sz="2400" dirty="0"/>
              <a:t> </a:t>
            </a:r>
            <a:r>
              <a:rPr lang="en-US" sz="2400" dirty="0" err="1"/>
              <a:t>văn</a:t>
            </a:r>
            <a:r>
              <a:rPr lang="en-US" sz="2400" dirty="0"/>
              <a:t> </a:t>
            </a:r>
            <a:r>
              <a:rPr lang="en-US" sz="2400" dirty="0" err="1"/>
              <a:t>bản</a:t>
            </a:r>
            <a:r>
              <a:rPr lang="en-US" sz="2400" dirty="0"/>
              <a:t> </a:t>
            </a:r>
            <a:br>
              <a:rPr lang="en-US" sz="2400" dirty="0"/>
            </a:br>
            <a:r>
              <a:rPr lang="en-US" sz="2400" dirty="0"/>
              <a:t>Signature files (PAT trees, </a:t>
            </a:r>
            <a:r>
              <a:rPr lang="en-US" sz="2400" dirty="0" err="1"/>
              <a:t>graphes</a:t>
            </a:r>
            <a:r>
              <a:rPr lang="en-US" sz="2400" dirty="0"/>
              <a:t>) </a:t>
            </a:r>
          </a:p>
        </p:txBody>
      </p:sp>
    </p:spTree>
    <p:extLst>
      <p:ext uri="{BB962C8B-B14F-4D97-AF65-F5344CB8AC3E}">
        <p14:creationId xmlns:p14="http://schemas.microsoft.com/office/powerpoint/2010/main" val="1756623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661CB-790F-C48F-AED9-9DD577097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0BC20-3E02-54E7-58EB-A569E85948B8}"/>
              </a:ext>
            </a:extLst>
          </p:cNvPr>
          <p:cNvSpPr>
            <a:spLocks noGrp="1"/>
          </p:cNvSpPr>
          <p:nvPr>
            <p:ph type="title"/>
          </p:nvPr>
        </p:nvSpPr>
        <p:spPr/>
        <p:txBody>
          <a:bodyPr>
            <a:noAutofit/>
          </a:bodyPr>
          <a:lstStyle/>
          <a:p>
            <a:r>
              <a:rPr lang="en-US" sz="2800" dirty="0"/>
              <a:t>File </a:t>
            </a:r>
            <a:r>
              <a:rPr lang="en-US" sz="2800" dirty="0" err="1"/>
              <a:t>đảo</a:t>
            </a:r>
            <a:r>
              <a:rPr lang="en-US" sz="2800" dirty="0"/>
              <a:t> – inverted file</a:t>
            </a:r>
            <a:endParaRPr sz="2800" dirty="0"/>
          </a:p>
        </p:txBody>
      </p:sp>
      <p:graphicFrame>
        <p:nvGraphicFramePr>
          <p:cNvPr id="3" name="Table 2">
            <a:extLst>
              <a:ext uri="{FF2B5EF4-FFF2-40B4-BE49-F238E27FC236}">
                <a16:creationId xmlns:a16="http://schemas.microsoft.com/office/drawing/2014/main" id="{B2B0F5E5-B074-6BE4-FD7E-A6A24091354D}"/>
              </a:ext>
            </a:extLst>
          </p:cNvPr>
          <p:cNvGraphicFramePr>
            <a:graphicFrameLocks noGrp="1"/>
          </p:cNvGraphicFramePr>
          <p:nvPr>
            <p:extLst>
              <p:ext uri="{D42A27DB-BD31-4B8C-83A1-F6EECF244321}">
                <p14:modId xmlns:p14="http://schemas.microsoft.com/office/powerpoint/2010/main" val="728870854"/>
              </p:ext>
            </p:extLst>
          </p:nvPr>
        </p:nvGraphicFramePr>
        <p:xfrm>
          <a:off x="4206531" y="995506"/>
          <a:ext cx="6254205" cy="1483360"/>
        </p:xfrm>
        <a:graphic>
          <a:graphicData uri="http://schemas.openxmlformats.org/drawingml/2006/table">
            <a:tbl>
              <a:tblPr firstRow="1" bandRow="1">
                <a:tableStyleId>{2D5ABB26-0587-4C30-8999-92F81FD0307C}</a:tableStyleId>
              </a:tblPr>
              <a:tblGrid>
                <a:gridCol w="1369568">
                  <a:extLst>
                    <a:ext uri="{9D8B030D-6E8A-4147-A177-3AD203B41FA5}">
                      <a16:colId xmlns:a16="http://schemas.microsoft.com/office/drawing/2014/main" val="3131097141"/>
                    </a:ext>
                  </a:extLst>
                </a:gridCol>
                <a:gridCol w="4884637">
                  <a:extLst>
                    <a:ext uri="{9D8B030D-6E8A-4147-A177-3AD203B41FA5}">
                      <a16:colId xmlns:a16="http://schemas.microsoft.com/office/drawing/2014/main" val="1780307157"/>
                    </a:ext>
                  </a:extLst>
                </a:gridCol>
              </a:tblGrid>
              <a:tr h="370840">
                <a:tc>
                  <a:txBody>
                    <a:bodyPr/>
                    <a:lstStyle/>
                    <a:p>
                      <a:r>
                        <a:rPr lang="en-US" dirty="0" err="1"/>
                        <a:t>DocID</a:t>
                      </a:r>
                      <a:r>
                        <a:rPr lang="en-US" dirty="0"/>
                        <a: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Term 1, Term 2, Term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046133"/>
                  </a:ext>
                </a:extLst>
              </a:tr>
              <a:tr h="370840">
                <a:tc>
                  <a:txBody>
                    <a:bodyPr/>
                    <a:lstStyle/>
                    <a:p>
                      <a:r>
                        <a:rPr lang="en-US" dirty="0" err="1"/>
                        <a:t>DocID</a:t>
                      </a:r>
                      <a:r>
                        <a:rPr lang="en-US" dirty="0"/>
                        <a:t>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Term 2, Term 3, Term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9118445"/>
                  </a:ext>
                </a:extLst>
              </a:tr>
              <a:tr h="370840">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err="1"/>
                        <a:t>DocID</a:t>
                      </a:r>
                      <a:r>
                        <a:rPr lang="en-US" dirty="0"/>
                        <a: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Term 1, Term 3, Term 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4072158"/>
                  </a:ext>
                </a:extLst>
              </a:tr>
              <a:tr h="370840">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err="1"/>
                        <a:t>DocID</a:t>
                      </a:r>
                      <a:r>
                        <a:rPr lang="en-US" dirty="0"/>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Term 1, Term 2, Term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440847"/>
                  </a:ext>
                </a:extLst>
              </a:tr>
            </a:tbl>
          </a:graphicData>
        </a:graphic>
      </p:graphicFrame>
      <p:graphicFrame>
        <p:nvGraphicFramePr>
          <p:cNvPr id="5" name="Table 4">
            <a:extLst>
              <a:ext uri="{FF2B5EF4-FFF2-40B4-BE49-F238E27FC236}">
                <a16:creationId xmlns:a16="http://schemas.microsoft.com/office/drawing/2014/main" id="{1A3C4256-CB6C-1E4F-7022-F1A5600F9A38}"/>
              </a:ext>
            </a:extLst>
          </p:cNvPr>
          <p:cNvGraphicFramePr>
            <a:graphicFrameLocks noGrp="1"/>
          </p:cNvGraphicFramePr>
          <p:nvPr>
            <p:extLst>
              <p:ext uri="{D42A27DB-BD31-4B8C-83A1-F6EECF244321}">
                <p14:modId xmlns:p14="http://schemas.microsoft.com/office/powerpoint/2010/main" val="853613122"/>
              </p:ext>
            </p:extLst>
          </p:nvPr>
        </p:nvGraphicFramePr>
        <p:xfrm>
          <a:off x="4206531" y="2997879"/>
          <a:ext cx="6263349" cy="1483360"/>
        </p:xfrm>
        <a:graphic>
          <a:graphicData uri="http://schemas.openxmlformats.org/drawingml/2006/table">
            <a:tbl>
              <a:tblPr firstRow="1" bandRow="1">
                <a:tableStyleId>{2D5ABB26-0587-4C30-8999-92F81FD0307C}</a:tableStyleId>
              </a:tblPr>
              <a:tblGrid>
                <a:gridCol w="1417029">
                  <a:extLst>
                    <a:ext uri="{9D8B030D-6E8A-4147-A177-3AD203B41FA5}">
                      <a16:colId xmlns:a16="http://schemas.microsoft.com/office/drawing/2014/main" val="3131097141"/>
                    </a:ext>
                  </a:extLst>
                </a:gridCol>
                <a:gridCol w="4846320">
                  <a:extLst>
                    <a:ext uri="{9D8B030D-6E8A-4147-A177-3AD203B41FA5}">
                      <a16:colId xmlns:a16="http://schemas.microsoft.com/office/drawing/2014/main" val="1780307157"/>
                    </a:ext>
                  </a:extLst>
                </a:gridCol>
              </a:tblGrid>
              <a:tr h="370840">
                <a:tc>
                  <a:txBody>
                    <a:bodyPr/>
                    <a:lstStyle/>
                    <a:p>
                      <a:r>
                        <a:rPr lang="en-US" dirty="0"/>
                        <a:t>Term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DocID</a:t>
                      </a:r>
                      <a:r>
                        <a:rPr lang="en-US" dirty="0"/>
                        <a:t> 1, </a:t>
                      </a:r>
                      <a:r>
                        <a:rPr lang="en-US" dirty="0" err="1"/>
                        <a:t>DocID</a:t>
                      </a:r>
                      <a:r>
                        <a:rPr lang="en-US" dirty="0"/>
                        <a:t> 2, </a:t>
                      </a:r>
                      <a:r>
                        <a:rPr lang="en-US" dirty="0" err="1"/>
                        <a:t>DocID</a:t>
                      </a:r>
                      <a:r>
                        <a:rPr lang="en-US" dirty="0"/>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046133"/>
                  </a:ext>
                </a:extLst>
              </a:tr>
              <a:tr h="370840">
                <a:tc>
                  <a:txBody>
                    <a:bodyPr/>
                    <a:lstStyle/>
                    <a:p>
                      <a:r>
                        <a:rPr lang="en-US" dirty="0"/>
                        <a:t>Term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DocID</a:t>
                      </a:r>
                      <a:r>
                        <a:rPr lang="en-US" dirty="0"/>
                        <a:t> 2, </a:t>
                      </a:r>
                      <a:r>
                        <a:rPr lang="en-US" dirty="0" err="1"/>
                        <a:t>DocID</a:t>
                      </a:r>
                      <a:r>
                        <a:rPr lang="en-US" dirty="0"/>
                        <a:t> 3, </a:t>
                      </a:r>
                      <a:r>
                        <a:rPr lang="en-US" dirty="0" err="1"/>
                        <a:t>DocID</a:t>
                      </a:r>
                      <a:r>
                        <a:rPr lang="en-US" dirty="0"/>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9118445"/>
                  </a:ext>
                </a:extLst>
              </a:tr>
              <a:tr h="370840">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t>Term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DocID</a:t>
                      </a:r>
                      <a:r>
                        <a:rPr lang="en-US" dirty="0"/>
                        <a:t> 1, </a:t>
                      </a:r>
                      <a:r>
                        <a:rPr lang="en-US" dirty="0" err="1"/>
                        <a:t>DocID</a:t>
                      </a:r>
                      <a:r>
                        <a:rPr lang="en-US" dirty="0"/>
                        <a:t> 3, </a:t>
                      </a:r>
                      <a:r>
                        <a:rPr lang="en-US" dirty="0" err="1"/>
                        <a:t>DocID</a:t>
                      </a:r>
                      <a:r>
                        <a:rPr lang="en-US" dirty="0"/>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4072158"/>
                  </a:ext>
                </a:extLst>
              </a:tr>
              <a:tr h="370840">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dirty="0"/>
                        <a:t>Term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DocID</a:t>
                      </a:r>
                      <a:r>
                        <a:rPr lang="en-US" dirty="0"/>
                        <a:t> 1, </a:t>
                      </a:r>
                      <a:r>
                        <a:rPr lang="en-US" dirty="0" err="1"/>
                        <a:t>DocID</a:t>
                      </a:r>
                      <a:r>
                        <a:rPr lang="en-US" dirty="0"/>
                        <a:t> 2, </a:t>
                      </a:r>
                      <a:r>
                        <a:rPr lang="en-US" dirty="0" err="1"/>
                        <a:t>DocID</a:t>
                      </a:r>
                      <a:r>
                        <a:rPr lang="en-US" dirty="0"/>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440847"/>
                  </a:ext>
                </a:extLst>
              </a:tr>
            </a:tbl>
          </a:graphicData>
        </a:graphic>
      </p:graphicFrame>
      <p:sp>
        <p:nvSpPr>
          <p:cNvPr id="7" name="TextBox 6">
            <a:extLst>
              <a:ext uri="{FF2B5EF4-FFF2-40B4-BE49-F238E27FC236}">
                <a16:creationId xmlns:a16="http://schemas.microsoft.com/office/drawing/2014/main" id="{B432FD53-4D0E-DAE1-1093-686C59F2C1F6}"/>
              </a:ext>
            </a:extLst>
          </p:cNvPr>
          <p:cNvSpPr txBox="1"/>
          <p:nvPr/>
        </p:nvSpPr>
        <p:spPr>
          <a:xfrm>
            <a:off x="524238" y="958086"/>
            <a:ext cx="1896673"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a:t>Document:</a:t>
            </a:r>
          </a:p>
        </p:txBody>
      </p:sp>
      <p:sp>
        <p:nvSpPr>
          <p:cNvPr id="8" name="TextBox 7">
            <a:extLst>
              <a:ext uri="{FF2B5EF4-FFF2-40B4-BE49-F238E27FC236}">
                <a16:creationId xmlns:a16="http://schemas.microsoft.com/office/drawing/2014/main" id="{82DF7D66-5B1F-CE6B-B945-49A338E7D1E5}"/>
              </a:ext>
            </a:extLst>
          </p:cNvPr>
          <p:cNvSpPr txBox="1"/>
          <p:nvPr/>
        </p:nvSpPr>
        <p:spPr>
          <a:xfrm>
            <a:off x="524238" y="2951563"/>
            <a:ext cx="1259640"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a:t>Term:</a:t>
            </a:r>
          </a:p>
        </p:txBody>
      </p:sp>
      <p:sp>
        <p:nvSpPr>
          <p:cNvPr id="9" name="TextBox 8">
            <a:extLst>
              <a:ext uri="{FF2B5EF4-FFF2-40B4-BE49-F238E27FC236}">
                <a16:creationId xmlns:a16="http://schemas.microsoft.com/office/drawing/2014/main" id="{9478DB1F-9687-780C-935E-628A100769D6}"/>
              </a:ext>
            </a:extLst>
          </p:cNvPr>
          <p:cNvSpPr txBox="1"/>
          <p:nvPr/>
        </p:nvSpPr>
        <p:spPr>
          <a:xfrm>
            <a:off x="4486656" y="551333"/>
            <a:ext cx="825867" cy="369332"/>
          </a:xfrm>
          <a:prstGeom prst="rect">
            <a:avLst/>
          </a:prstGeom>
          <a:noFill/>
        </p:spPr>
        <p:txBody>
          <a:bodyPr wrap="none" rtlCol="0">
            <a:spAutoFit/>
          </a:bodyPr>
          <a:lstStyle/>
          <a:p>
            <a:r>
              <a:rPr lang="en-US" b="1" dirty="0" err="1"/>
              <a:t>DocID</a:t>
            </a:r>
            <a:endParaRPr lang="en-US" b="1" dirty="0"/>
          </a:p>
        </p:txBody>
      </p:sp>
      <p:sp>
        <p:nvSpPr>
          <p:cNvPr id="10" name="TextBox 9">
            <a:extLst>
              <a:ext uri="{FF2B5EF4-FFF2-40B4-BE49-F238E27FC236}">
                <a16:creationId xmlns:a16="http://schemas.microsoft.com/office/drawing/2014/main" id="{59CBE11C-2C1C-D976-0931-3DEBB7F3B4C0}"/>
              </a:ext>
            </a:extLst>
          </p:cNvPr>
          <p:cNvSpPr txBox="1"/>
          <p:nvPr/>
        </p:nvSpPr>
        <p:spPr>
          <a:xfrm>
            <a:off x="6483501" y="588754"/>
            <a:ext cx="1415772" cy="369332"/>
          </a:xfrm>
          <a:prstGeom prst="rect">
            <a:avLst/>
          </a:prstGeom>
          <a:noFill/>
        </p:spPr>
        <p:txBody>
          <a:bodyPr wrap="none" rtlCol="0">
            <a:spAutoFit/>
          </a:bodyPr>
          <a:lstStyle/>
          <a:p>
            <a:r>
              <a:rPr lang="en-US" b="1" dirty="0" err="1"/>
              <a:t>Postings_list</a:t>
            </a:r>
            <a:endParaRPr lang="en-US" b="1" dirty="0"/>
          </a:p>
        </p:txBody>
      </p:sp>
      <p:sp>
        <p:nvSpPr>
          <p:cNvPr id="11" name="TextBox 10">
            <a:extLst>
              <a:ext uri="{FF2B5EF4-FFF2-40B4-BE49-F238E27FC236}">
                <a16:creationId xmlns:a16="http://schemas.microsoft.com/office/drawing/2014/main" id="{D6ABFE25-3DC0-0900-5177-B9448B085035}"/>
              </a:ext>
            </a:extLst>
          </p:cNvPr>
          <p:cNvSpPr txBox="1"/>
          <p:nvPr/>
        </p:nvSpPr>
        <p:spPr>
          <a:xfrm>
            <a:off x="6483501" y="2535914"/>
            <a:ext cx="1415772" cy="369332"/>
          </a:xfrm>
          <a:prstGeom prst="rect">
            <a:avLst/>
          </a:prstGeom>
          <a:noFill/>
        </p:spPr>
        <p:txBody>
          <a:bodyPr wrap="none" rtlCol="0">
            <a:spAutoFit/>
          </a:bodyPr>
          <a:lstStyle/>
          <a:p>
            <a:r>
              <a:rPr lang="en-US" b="1" dirty="0" err="1"/>
              <a:t>Postings_list</a:t>
            </a:r>
            <a:endParaRPr lang="en-US" b="1" dirty="0"/>
          </a:p>
        </p:txBody>
      </p:sp>
      <p:sp>
        <p:nvSpPr>
          <p:cNvPr id="12" name="TextBox 11">
            <a:extLst>
              <a:ext uri="{FF2B5EF4-FFF2-40B4-BE49-F238E27FC236}">
                <a16:creationId xmlns:a16="http://schemas.microsoft.com/office/drawing/2014/main" id="{B8545A5C-D76C-A0FE-5938-E4E5518D1C9B}"/>
              </a:ext>
            </a:extLst>
          </p:cNvPr>
          <p:cNvSpPr txBox="1"/>
          <p:nvPr/>
        </p:nvSpPr>
        <p:spPr>
          <a:xfrm>
            <a:off x="4486655" y="2582231"/>
            <a:ext cx="714939" cy="369332"/>
          </a:xfrm>
          <a:prstGeom prst="rect">
            <a:avLst/>
          </a:prstGeom>
          <a:noFill/>
        </p:spPr>
        <p:txBody>
          <a:bodyPr wrap="none" rtlCol="0">
            <a:spAutoFit/>
          </a:bodyPr>
          <a:lstStyle/>
          <a:p>
            <a:r>
              <a:rPr lang="en-US" b="1" dirty="0"/>
              <a:t>Term</a:t>
            </a:r>
          </a:p>
        </p:txBody>
      </p:sp>
      <p:sp>
        <p:nvSpPr>
          <p:cNvPr id="14" name="TextBox 13">
            <a:extLst>
              <a:ext uri="{FF2B5EF4-FFF2-40B4-BE49-F238E27FC236}">
                <a16:creationId xmlns:a16="http://schemas.microsoft.com/office/drawing/2014/main" id="{63F12A73-25D9-5356-02F1-4289074E48BD}"/>
              </a:ext>
            </a:extLst>
          </p:cNvPr>
          <p:cNvSpPr txBox="1"/>
          <p:nvPr/>
        </p:nvSpPr>
        <p:spPr>
          <a:xfrm>
            <a:off x="524238" y="5000252"/>
            <a:ext cx="8291322" cy="1200329"/>
          </a:xfrm>
          <a:prstGeom prst="rect">
            <a:avLst/>
          </a:prstGeom>
          <a:noFill/>
        </p:spPr>
        <p:txBody>
          <a:bodyPr wrap="square">
            <a:spAutoFit/>
          </a:bodyPr>
          <a:lstStyle/>
          <a:p>
            <a:pPr marL="285750" indent="-285750">
              <a:buFont typeface="Arial" panose="020B0604020202020204" pitchFamily="34" charset="0"/>
              <a:buChar char="•"/>
            </a:pPr>
            <a:r>
              <a:rPr lang="vi-VN" sz="2400" b="1" dirty="0"/>
              <a:t>Term</a:t>
            </a:r>
            <a:r>
              <a:rPr lang="vi-VN" sz="2400" dirty="0"/>
              <a:t>: lưu các từ/khái niệm/từ khóa</a:t>
            </a:r>
          </a:p>
          <a:p>
            <a:pPr marL="285750" indent="-285750">
              <a:buFont typeface="Arial" panose="020B0604020202020204" pitchFamily="34" charset="0"/>
              <a:buChar char="•"/>
            </a:pPr>
            <a:r>
              <a:rPr lang="vi-VN" sz="2400" b="1" dirty="0"/>
              <a:t>Postings_list</a:t>
            </a:r>
            <a:r>
              <a:rPr lang="vi-VN" sz="2400" dirty="0"/>
              <a:t>: chỉ ra văn bản [, vị trí trong văn bản] mà</a:t>
            </a:r>
            <a:r>
              <a:rPr lang="en-US" sz="2400" dirty="0"/>
              <a:t> </a:t>
            </a:r>
            <a:r>
              <a:rPr lang="vi-VN" sz="2400" dirty="0"/>
              <a:t>term</a:t>
            </a:r>
            <a:r>
              <a:rPr lang="en-US" sz="2400" dirty="0"/>
              <a:t> </a:t>
            </a:r>
            <a:r>
              <a:rPr lang="vi-VN" sz="2400" dirty="0"/>
              <a:t>xuất hiện</a:t>
            </a:r>
            <a:endParaRPr lang="en-US" sz="2400" dirty="0"/>
          </a:p>
        </p:txBody>
      </p:sp>
    </p:spTree>
    <p:extLst>
      <p:ext uri="{BB962C8B-B14F-4D97-AF65-F5344CB8AC3E}">
        <p14:creationId xmlns:p14="http://schemas.microsoft.com/office/powerpoint/2010/main" val="2011053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F1E52-739F-0899-F572-4E28B5CB3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DAB33-41E9-169E-9FE7-176D254820C0}"/>
              </a:ext>
            </a:extLst>
          </p:cNvPr>
          <p:cNvSpPr>
            <a:spLocks noGrp="1"/>
          </p:cNvSpPr>
          <p:nvPr>
            <p:ph type="title"/>
          </p:nvPr>
        </p:nvSpPr>
        <p:spPr/>
        <p:txBody>
          <a:bodyPr>
            <a:noAutofit/>
          </a:bodyPr>
          <a:lstStyle/>
          <a:p>
            <a:r>
              <a:rPr lang="en-US" sz="2800" dirty="0"/>
              <a:t>File </a:t>
            </a:r>
            <a:r>
              <a:rPr lang="en-US" sz="2800" dirty="0" err="1"/>
              <a:t>đảo</a:t>
            </a:r>
            <a:r>
              <a:rPr lang="en-US" sz="2800" dirty="0"/>
              <a:t> – inverted file</a:t>
            </a:r>
            <a:endParaRPr sz="2800" dirty="0"/>
          </a:p>
        </p:txBody>
      </p:sp>
      <p:sp>
        <p:nvSpPr>
          <p:cNvPr id="6" name="TextBox 5">
            <a:extLst>
              <a:ext uri="{FF2B5EF4-FFF2-40B4-BE49-F238E27FC236}">
                <a16:creationId xmlns:a16="http://schemas.microsoft.com/office/drawing/2014/main" id="{FE340CE2-4503-7C8C-CF74-99346F159684}"/>
              </a:ext>
            </a:extLst>
          </p:cNvPr>
          <p:cNvSpPr txBox="1"/>
          <p:nvPr/>
        </p:nvSpPr>
        <p:spPr>
          <a:xfrm>
            <a:off x="697230" y="1359098"/>
            <a:ext cx="9635490" cy="3046988"/>
          </a:xfrm>
          <a:prstGeom prst="rect">
            <a:avLst/>
          </a:prstGeom>
          <a:noFill/>
        </p:spPr>
        <p:txBody>
          <a:bodyPr wrap="square">
            <a:spAutoFit/>
          </a:bodyPr>
          <a:lstStyle/>
          <a:p>
            <a:pPr marL="285750" indent="-285750">
              <a:buFont typeface="Arial" panose="020B0604020202020204" pitchFamily="34" charset="0"/>
              <a:buChar char="•"/>
            </a:pPr>
            <a:r>
              <a:rPr lang="en-US" sz="2400" dirty="0" err="1"/>
              <a:t>Mỗi</a:t>
            </a:r>
            <a:r>
              <a:rPr lang="en-US" sz="2400" dirty="0"/>
              <a:t> </a:t>
            </a:r>
            <a:r>
              <a:rPr lang="en-US" sz="2400" dirty="0" err="1"/>
              <a:t>bản</a:t>
            </a:r>
            <a:r>
              <a:rPr lang="en-US" sz="2400" dirty="0"/>
              <a:t> </a:t>
            </a:r>
            <a:r>
              <a:rPr lang="en-US" sz="2400" dirty="0" err="1"/>
              <a:t>ghi</a:t>
            </a:r>
            <a:r>
              <a:rPr lang="en-US" sz="2400" dirty="0"/>
              <a:t> </a:t>
            </a:r>
            <a:r>
              <a:rPr lang="en-US" sz="2400" dirty="0" err="1"/>
              <a:t>của</a:t>
            </a:r>
            <a:r>
              <a:rPr lang="en-US" sz="2400" dirty="0"/>
              <a:t> </a:t>
            </a:r>
            <a:r>
              <a:rPr lang="en-US" sz="2400" dirty="0" err="1"/>
              <a:t>bảng</a:t>
            </a:r>
            <a:r>
              <a:rPr lang="en-US" sz="2400" dirty="0"/>
              <a:t> </a:t>
            </a:r>
            <a:r>
              <a:rPr lang="en-US" sz="2400" b="1" dirty="0"/>
              <a:t>term</a:t>
            </a:r>
            <a:r>
              <a:rPr lang="en-US" sz="2400" dirty="0"/>
              <a:t>:</a:t>
            </a:r>
          </a:p>
          <a:p>
            <a:pPr marL="800100" lvl="1" indent="-342900">
              <a:buFont typeface="Courier New" panose="02070309020205020404" pitchFamily="49" charset="0"/>
              <a:buChar char="o"/>
            </a:pPr>
            <a:r>
              <a:rPr lang="en-US" sz="2400" dirty="0" err="1"/>
              <a:t>Có</a:t>
            </a:r>
            <a:r>
              <a:rPr lang="en-US" sz="2400" dirty="0"/>
              <a:t> </a:t>
            </a:r>
            <a:r>
              <a:rPr lang="en-US" sz="2400" dirty="0" err="1"/>
              <a:t>thể</a:t>
            </a:r>
            <a:r>
              <a:rPr lang="en-US" sz="2400" dirty="0"/>
              <a:t> </a:t>
            </a:r>
            <a:r>
              <a:rPr lang="en-US" sz="2400" dirty="0" err="1"/>
              <a:t>chứa</a:t>
            </a:r>
            <a:r>
              <a:rPr lang="en-US" sz="2400" dirty="0"/>
              <a:t> </a:t>
            </a:r>
            <a:r>
              <a:rPr lang="en-US" sz="2400" dirty="0" err="1"/>
              <a:t>thông</a:t>
            </a:r>
            <a:r>
              <a:rPr lang="en-US" sz="2400" dirty="0"/>
              <a:t> tin chi </a:t>
            </a:r>
            <a:r>
              <a:rPr lang="en-US" sz="2400" dirty="0" err="1"/>
              <a:t>tiết</a:t>
            </a:r>
            <a:r>
              <a:rPr lang="en-US" sz="2400" dirty="0"/>
              <a:t> </a:t>
            </a:r>
            <a:r>
              <a:rPr lang="en-US" sz="2400" dirty="0" err="1"/>
              <a:t>vị</a:t>
            </a:r>
            <a:r>
              <a:rPr lang="en-US" sz="2400" dirty="0"/>
              <a:t> </a:t>
            </a:r>
            <a:r>
              <a:rPr lang="en-US" sz="2400" dirty="0" err="1"/>
              <a:t>trí</a:t>
            </a:r>
            <a:r>
              <a:rPr lang="en-US" sz="2400" dirty="0"/>
              <a:t> </a:t>
            </a:r>
            <a:r>
              <a:rPr lang="en-US" sz="2400" dirty="0" err="1"/>
              <a:t>của</a:t>
            </a:r>
            <a:r>
              <a:rPr lang="en-US" sz="2400" dirty="0"/>
              <a:t> </a:t>
            </a:r>
            <a:r>
              <a:rPr lang="en-US" sz="2400" dirty="0" err="1"/>
              <a:t>mỗi</a:t>
            </a:r>
            <a:r>
              <a:rPr lang="en-US" sz="2400" dirty="0"/>
              <a:t> </a:t>
            </a:r>
            <a:r>
              <a:rPr lang="en-US" sz="2400" dirty="0" err="1"/>
              <a:t>xuất</a:t>
            </a:r>
            <a:r>
              <a:rPr lang="en-US" sz="2400" dirty="0"/>
              <a:t> </a:t>
            </a:r>
            <a:r>
              <a:rPr lang="en-US" sz="2400" dirty="0" err="1"/>
              <a:t>hiện</a:t>
            </a:r>
            <a:r>
              <a:rPr lang="en-US" sz="2400" dirty="0"/>
              <a:t> </a:t>
            </a:r>
            <a:r>
              <a:rPr lang="en-US" sz="2400" dirty="0" err="1"/>
              <a:t>trong</a:t>
            </a:r>
            <a:r>
              <a:rPr lang="en-US" sz="2400" dirty="0"/>
              <a:t> </a:t>
            </a:r>
            <a:r>
              <a:rPr lang="en-US" sz="2400" dirty="0" err="1"/>
              <a:t>từng</a:t>
            </a:r>
            <a:r>
              <a:rPr lang="en-US" sz="2400" dirty="0"/>
              <a:t> </a:t>
            </a:r>
            <a:r>
              <a:rPr lang="en-US" sz="2400" dirty="0" err="1"/>
              <a:t>tài</a:t>
            </a:r>
            <a:r>
              <a:rPr lang="en-US" sz="2400" dirty="0"/>
              <a:t> </a:t>
            </a:r>
            <a:r>
              <a:rPr lang="en-US" sz="2400" dirty="0" err="1"/>
              <a:t>liệu</a:t>
            </a:r>
            <a:endParaRPr lang="en-US" sz="2400" dirty="0"/>
          </a:p>
          <a:p>
            <a:pPr marL="1257300" lvl="2" indent="-342900">
              <a:buFont typeface="Wingdings" panose="05000000000000000000" pitchFamily="2" charset="2"/>
              <a:buChar char="§"/>
            </a:pPr>
            <a:r>
              <a:rPr lang="en-US" sz="2400" dirty="0"/>
              <a:t>term i: Doc id, Paragraph n°, Sentence n°, Word n°</a:t>
            </a:r>
          </a:p>
          <a:p>
            <a:pPr marL="1257300" lvl="2" indent="-342900">
              <a:buFont typeface="Wingdings" panose="05000000000000000000" pitchFamily="2" charset="2"/>
              <a:buChar char="§"/>
            </a:pPr>
            <a:r>
              <a:rPr lang="en-US" sz="2400" dirty="0"/>
              <a:t>information: R99, 10, 8, 3; R155, 15, 3, 6; R166, 2, 3, 1</a:t>
            </a:r>
          </a:p>
          <a:p>
            <a:pPr marL="1257300" lvl="2" indent="-342900">
              <a:buFont typeface="Wingdings" panose="05000000000000000000" pitchFamily="2" charset="2"/>
              <a:buChar char="§"/>
            </a:pPr>
            <a:r>
              <a:rPr lang="en-US" sz="2400" dirty="0"/>
              <a:t>retrieval: R77, 9, 7, 2; R99, 10, 8, 4; R166, 10, 2, 5</a:t>
            </a:r>
          </a:p>
          <a:p>
            <a:pPr marL="800100" lvl="1" indent="-342900">
              <a:buFont typeface="Courier New" panose="02070309020205020404" pitchFamily="49" charset="0"/>
              <a:buChar char="o"/>
            </a:pPr>
            <a:r>
              <a:rPr lang="en-US" sz="2400" dirty="0" err="1"/>
              <a:t>Có</a:t>
            </a:r>
            <a:r>
              <a:rPr lang="en-US" sz="2400" dirty="0"/>
              <a:t> </a:t>
            </a:r>
            <a:r>
              <a:rPr lang="en-US" sz="2400" dirty="0" err="1"/>
              <a:t>thể</a:t>
            </a:r>
            <a:r>
              <a:rPr lang="en-US" sz="2400" dirty="0"/>
              <a:t> </a:t>
            </a:r>
            <a:r>
              <a:rPr lang="en-US" sz="2400" dirty="0" err="1"/>
              <a:t>có</a:t>
            </a:r>
            <a:r>
              <a:rPr lang="en-US" sz="2400" dirty="0"/>
              <a:t> </a:t>
            </a:r>
            <a:r>
              <a:rPr lang="en-US" sz="2400" dirty="0" err="1"/>
              <a:t>thông</a:t>
            </a:r>
            <a:r>
              <a:rPr lang="en-US" sz="2400" dirty="0"/>
              <a:t> tin </a:t>
            </a:r>
            <a:r>
              <a:rPr lang="en-US" sz="2400" dirty="0" err="1"/>
              <a:t>về</a:t>
            </a:r>
            <a:r>
              <a:rPr lang="en-US" sz="2400" dirty="0"/>
              <a:t> </a:t>
            </a:r>
            <a:r>
              <a:rPr lang="en-US" sz="2400" dirty="0" err="1"/>
              <a:t>tần</a:t>
            </a:r>
            <a:r>
              <a:rPr lang="en-US" sz="2400" dirty="0"/>
              <a:t> </a:t>
            </a:r>
            <a:r>
              <a:rPr lang="en-US" sz="2400" dirty="0" err="1"/>
              <a:t>suất</a:t>
            </a:r>
            <a:r>
              <a:rPr lang="en-US" sz="2400" dirty="0"/>
              <a:t> </a:t>
            </a:r>
            <a:r>
              <a:rPr lang="en-US" sz="2400" dirty="0" err="1"/>
              <a:t>xuất</a:t>
            </a:r>
            <a:r>
              <a:rPr lang="en-US" sz="2400" dirty="0"/>
              <a:t> </a:t>
            </a:r>
            <a:r>
              <a:rPr lang="en-US" sz="2400" dirty="0" err="1"/>
              <a:t>hiện</a:t>
            </a:r>
            <a:r>
              <a:rPr lang="en-US" sz="2400" dirty="0"/>
              <a:t> </a:t>
            </a:r>
            <a:r>
              <a:rPr lang="en-US" sz="2400" dirty="0" err="1"/>
              <a:t>của</a:t>
            </a:r>
            <a:r>
              <a:rPr lang="en-US" sz="2400" dirty="0"/>
              <a:t> term </a:t>
            </a:r>
            <a:r>
              <a:rPr lang="en-US" sz="2400" dirty="0" err="1"/>
              <a:t>trong</a:t>
            </a:r>
            <a:r>
              <a:rPr lang="en-US" sz="2400" dirty="0"/>
              <a:t> </a:t>
            </a:r>
            <a:r>
              <a:rPr lang="en-US" sz="2400" dirty="0" err="1"/>
              <a:t>tài</a:t>
            </a:r>
            <a:r>
              <a:rPr lang="en-US" sz="2400" dirty="0"/>
              <a:t> </a:t>
            </a:r>
            <a:r>
              <a:rPr lang="en-US" sz="2400" dirty="0" err="1"/>
              <a:t>liệu</a:t>
            </a:r>
            <a:endParaRPr lang="en-US" sz="2400" dirty="0"/>
          </a:p>
          <a:p>
            <a:pPr marL="1257300" lvl="2" indent="-342900">
              <a:buFont typeface="Wingdings" panose="05000000000000000000" pitchFamily="2" charset="2"/>
              <a:buChar char="§"/>
            </a:pPr>
            <a:r>
              <a:rPr lang="en-US" sz="2400" dirty="0"/>
              <a:t>term 1: R1, 0.33; R3, 0.5</a:t>
            </a:r>
          </a:p>
        </p:txBody>
      </p:sp>
    </p:spTree>
    <p:extLst>
      <p:ext uri="{BB962C8B-B14F-4D97-AF65-F5344CB8AC3E}">
        <p14:creationId xmlns:p14="http://schemas.microsoft.com/office/powerpoint/2010/main" val="3217066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433C-50D5-A22F-E446-E0CCC34B0A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461E007-CE67-65E4-9A8E-628C659F9B02}"/>
              </a:ext>
            </a:extLst>
          </p:cNvPr>
          <p:cNvSpPr>
            <a:spLocks noGrp="1"/>
          </p:cNvSpPr>
          <p:nvPr>
            <p:ph type="body" sz="quarter" idx="10"/>
          </p:nvPr>
        </p:nvSpPr>
        <p:spPr>
          <a:xfrm>
            <a:off x="958157" y="2517788"/>
            <a:ext cx="10275686" cy="2194234"/>
          </a:xfrm>
        </p:spPr>
        <p:txBody>
          <a:bodyPr/>
          <a:lstStyle/>
          <a:p>
            <a:r>
              <a:rPr lang="en-US" dirty="0"/>
              <a:t>Tìm </a:t>
            </a:r>
            <a:r>
              <a:rPr lang="en-US" dirty="0" err="1"/>
              <a:t>kiếm</a:t>
            </a:r>
            <a:r>
              <a:rPr lang="en-US" dirty="0"/>
              <a:t> </a:t>
            </a:r>
            <a:r>
              <a:rPr lang="en-US" dirty="0" err="1"/>
              <a:t>văn</a:t>
            </a:r>
            <a:r>
              <a:rPr lang="en-US" dirty="0"/>
              <a:t> </a:t>
            </a:r>
            <a:r>
              <a:rPr lang="en-US" dirty="0" err="1"/>
              <a:t>bản</a:t>
            </a:r>
            <a:endParaRPr lang="en-US" dirty="0"/>
          </a:p>
        </p:txBody>
      </p:sp>
      <p:sp>
        <p:nvSpPr>
          <p:cNvPr id="4" name="Slide Number Placeholder 3">
            <a:extLst>
              <a:ext uri="{FF2B5EF4-FFF2-40B4-BE49-F238E27FC236}">
                <a16:creationId xmlns:a16="http://schemas.microsoft.com/office/drawing/2014/main" id="{3CAD3CA9-2870-C160-A329-CC75A673E6B1}"/>
              </a:ext>
            </a:extLst>
          </p:cNvPr>
          <p:cNvSpPr>
            <a:spLocks noGrp="1"/>
          </p:cNvSpPr>
          <p:nvPr>
            <p:ph type="sldNum" sz="quarter" idx="4"/>
          </p:nvPr>
        </p:nvSpPr>
        <p:spPr/>
        <p:txBody>
          <a:bodyPr/>
          <a:lstStyle/>
          <a:p>
            <a:pPr marL="0" marR="0" lvl="0" indent="0" algn="r" defTabSz="761970" rtl="0" eaLnBrk="1" fontAlgn="auto" latinLnBrk="0" hangingPunct="1">
              <a:lnSpc>
                <a:spcPct val="100000"/>
              </a:lnSpc>
              <a:spcBef>
                <a:spcPts val="0"/>
              </a:spcBef>
              <a:spcAft>
                <a:spcPts val="0"/>
              </a:spcAft>
              <a:buClrTx/>
              <a:buSzTx/>
              <a:buFontTx/>
              <a:buNone/>
              <a:tabLst/>
              <a:defRPr/>
            </a:pPr>
            <a:fld id="{31D26D55-0A22-487A-A687-61FB58A6F16A}" type="slidenum">
              <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76197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83719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DDBF6-9E4E-8B2B-B7F4-9883AC145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864CE-7F52-F40B-AC90-C197482414C2}"/>
              </a:ext>
            </a:extLst>
          </p:cNvPr>
          <p:cNvSpPr>
            <a:spLocks noGrp="1"/>
          </p:cNvSpPr>
          <p:nvPr>
            <p:ph type="title"/>
          </p:nvPr>
        </p:nvSpPr>
        <p:spPr/>
        <p:txBody>
          <a:bodyPr>
            <a:noAutofit/>
          </a:bodyPr>
          <a:lstStyle/>
          <a:p>
            <a:r>
              <a:rPr lang="en-US" sz="2800" dirty="0" err="1"/>
              <a:t>Tìm</a:t>
            </a:r>
            <a:r>
              <a:rPr lang="en-US" sz="2800" dirty="0"/>
              <a:t> </a:t>
            </a:r>
            <a:r>
              <a:rPr lang="en-US" sz="2800" dirty="0" err="1"/>
              <a:t>kiếm</a:t>
            </a:r>
            <a:r>
              <a:rPr lang="en-US" sz="2800" dirty="0"/>
              <a:t> (Retrieving/Searching)</a:t>
            </a:r>
            <a:endParaRPr sz="2800" dirty="0"/>
          </a:p>
        </p:txBody>
      </p:sp>
      <p:pic>
        <p:nvPicPr>
          <p:cNvPr id="6" name="Picture 5">
            <a:extLst>
              <a:ext uri="{FF2B5EF4-FFF2-40B4-BE49-F238E27FC236}">
                <a16:creationId xmlns:a16="http://schemas.microsoft.com/office/drawing/2014/main" id="{EE1926D3-0F58-4461-FA67-07C31B607414}"/>
              </a:ext>
            </a:extLst>
          </p:cNvPr>
          <p:cNvPicPr>
            <a:picLocks noChangeAspect="1"/>
          </p:cNvPicPr>
          <p:nvPr/>
        </p:nvPicPr>
        <p:blipFill>
          <a:blip r:embed="rId2"/>
          <a:stretch>
            <a:fillRect/>
          </a:stretch>
        </p:blipFill>
        <p:spPr>
          <a:xfrm>
            <a:off x="4951990" y="868918"/>
            <a:ext cx="7240010" cy="4772691"/>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08BA300-A81D-6022-960A-6761E3F9C155}"/>
                  </a:ext>
                </a:extLst>
              </p:cNvPr>
              <p:cNvSpPr txBox="1"/>
              <p:nvPr/>
            </p:nvSpPr>
            <p:spPr>
              <a:xfrm>
                <a:off x="107699" y="1081225"/>
                <a:ext cx="4683757" cy="2053639"/>
              </a:xfrm>
              <a:prstGeom prst="rect">
                <a:avLst/>
              </a:prstGeom>
              <a:noFill/>
            </p:spPr>
            <p:txBody>
              <a:bodyPr wrap="square">
                <a:spAutoFit/>
              </a:bodyPr>
              <a:lstStyle/>
              <a:p>
                <a:pPr marL="285750" indent="-285750">
                  <a:buFont typeface="Arial" panose="020B0604020202020204" pitchFamily="34" charset="0"/>
                  <a:buChar char="•"/>
                </a:pPr>
                <a:r>
                  <a:rPr lang="vi-VN" dirty="0"/>
                  <a:t>Các tài liệu đã được đánh chỉ mục</a:t>
                </a:r>
                <a:r>
                  <a:rPr lang="en-US" dirty="0"/>
                  <a:t> =&gt; </a:t>
                </a:r>
                <a:r>
                  <a:rPr lang="vi-VN" dirty="0"/>
                  <a:t>làm sao truy vấn hiệu quả</a:t>
                </a:r>
              </a:p>
              <a:p>
                <a:pPr marL="742950" lvl="1" indent="-285750">
                  <a:buFont typeface="Courier New" panose="02070309020205020404" pitchFamily="49" charset="0"/>
                  <a:buChar char="o"/>
                </a:pPr>
                <a:r>
                  <a:rPr lang="vi-VN" dirty="0"/>
                  <a:t>Câu truy vấn Q được biểu diễn tương tự các tài liệu</a:t>
                </a:r>
              </a:p>
              <a:p>
                <a:pPr marL="742950" lvl="1" indent="-285750">
                  <a:buFont typeface="Courier New" panose="02070309020205020404" pitchFamily="49" charset="0"/>
                  <a:buChar char="o"/>
                </a:pPr>
                <a:r>
                  <a:rPr lang="vi-VN" dirty="0"/>
                  <a:t>So sánh Q và các tài liệu trong CSDL:</a:t>
                </a:r>
                <a:endParaRPr lang="en-US" dirty="0"/>
              </a:p>
              <a:p>
                <a:pPr marL="1200150" lvl="2" indent="-285750">
                  <a:buFont typeface="Wingdings" panose="05000000000000000000" pitchFamily="2" charset="2"/>
                  <a:buChar char="§"/>
                </a:pPr>
                <a:r>
                  <a:rPr lang="vi-VN" dirty="0"/>
                  <a:t>Xác định khoảng cách giữa </a:t>
                </a:r>
                <a:r>
                  <a:rPr lang="vi-VN" b="1" dirty="0"/>
                  <a:t>Q</a:t>
                </a:r>
                <a:r>
                  <a:rPr lang="vi-VN" dirty="0"/>
                  <a:t> và các </a:t>
                </a:r>
                <a14:m>
                  <m:oMath xmlns:m="http://schemas.openxmlformats.org/officeDocument/2006/math">
                    <m:sSub>
                      <m:sSubPr>
                        <m:ctrlPr>
                          <a:rPr lang="vi-VN"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𝑗</m:t>
                        </m:r>
                      </m:sub>
                    </m:sSub>
                  </m:oMath>
                </a14:m>
                <a:endParaRPr lang="en-US" dirty="0"/>
              </a:p>
            </p:txBody>
          </p:sp>
        </mc:Choice>
        <mc:Fallback xmlns="">
          <p:sp>
            <p:nvSpPr>
              <p:cNvPr id="5" name="TextBox 4">
                <a:extLst>
                  <a:ext uri="{FF2B5EF4-FFF2-40B4-BE49-F238E27FC236}">
                    <a16:creationId xmlns:a16="http://schemas.microsoft.com/office/drawing/2014/main" id="{508BA300-A81D-6022-960A-6761E3F9C155}"/>
                  </a:ext>
                </a:extLst>
              </p:cNvPr>
              <p:cNvSpPr txBox="1">
                <a:spLocks noRot="1" noChangeAspect="1" noMove="1" noResize="1" noEditPoints="1" noAdjustHandles="1" noChangeArrowheads="1" noChangeShapeType="1" noTextEdit="1"/>
              </p:cNvSpPr>
              <p:nvPr/>
            </p:nvSpPr>
            <p:spPr>
              <a:xfrm>
                <a:off x="107699" y="1081225"/>
                <a:ext cx="4683757" cy="2053639"/>
              </a:xfrm>
              <a:prstGeom prst="rect">
                <a:avLst/>
              </a:prstGeom>
              <a:blipFill>
                <a:blip r:embed="rId3"/>
                <a:stretch>
                  <a:fillRect l="-911" t="-1484" r="-1953" b="-267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7AF1F47-FDBA-20BF-38BC-0A01B002D967}"/>
              </a:ext>
            </a:extLst>
          </p:cNvPr>
          <p:cNvSpPr txBox="1"/>
          <p:nvPr/>
        </p:nvSpPr>
        <p:spPr>
          <a:xfrm>
            <a:off x="107699" y="3134864"/>
            <a:ext cx="6094476" cy="369332"/>
          </a:xfrm>
          <a:prstGeom prst="rect">
            <a:avLst/>
          </a:prstGeom>
          <a:noFill/>
        </p:spPr>
        <p:txBody>
          <a:bodyPr wrap="square">
            <a:spAutoFit/>
          </a:bodyPr>
          <a:lstStyle/>
          <a:p>
            <a:pPr marL="285750" indent="-285750">
              <a:buFont typeface="Arial" panose="020B0604020202020204" pitchFamily="34" charset="0"/>
              <a:buChar char="•"/>
            </a:pPr>
            <a:r>
              <a:rPr lang="vi-VN" dirty="0"/>
              <a:t>3 loại phương pháp truy vấn:</a:t>
            </a:r>
            <a:endParaRPr lang="en-US" dirty="0"/>
          </a:p>
        </p:txBody>
      </p:sp>
      <p:pic>
        <p:nvPicPr>
          <p:cNvPr id="10" name="Picture 9">
            <a:extLst>
              <a:ext uri="{FF2B5EF4-FFF2-40B4-BE49-F238E27FC236}">
                <a16:creationId xmlns:a16="http://schemas.microsoft.com/office/drawing/2014/main" id="{5A47EF67-57A9-0A60-2D9C-9C7813956B1C}"/>
              </a:ext>
            </a:extLst>
          </p:cNvPr>
          <p:cNvPicPr>
            <a:picLocks noChangeAspect="1"/>
          </p:cNvPicPr>
          <p:nvPr/>
        </p:nvPicPr>
        <p:blipFill>
          <a:blip r:embed="rId4"/>
          <a:srcRect l="3063" t="8223" r="1875"/>
          <a:stretch>
            <a:fillRect/>
          </a:stretch>
        </p:blipFill>
        <p:spPr>
          <a:xfrm>
            <a:off x="524238" y="3739596"/>
            <a:ext cx="4492466" cy="2498978"/>
          </a:xfrm>
          <a:prstGeom prst="rect">
            <a:avLst/>
          </a:prstGeom>
        </p:spPr>
      </p:pic>
    </p:spTree>
    <p:extLst>
      <p:ext uri="{BB962C8B-B14F-4D97-AF65-F5344CB8AC3E}">
        <p14:creationId xmlns:p14="http://schemas.microsoft.com/office/powerpoint/2010/main" val="4131265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50B7E-8658-36F4-1FA7-32EC9DA1F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7FDCD-DFAC-8FDA-3384-EA55FDEAED50}"/>
              </a:ext>
            </a:extLst>
          </p:cNvPr>
          <p:cNvSpPr>
            <a:spLocks noGrp="1"/>
          </p:cNvSpPr>
          <p:nvPr>
            <p:ph type="title"/>
          </p:nvPr>
        </p:nvSpPr>
        <p:spPr/>
        <p:txBody>
          <a:bodyPr>
            <a:noAutofit/>
          </a:bodyPr>
          <a:lstStyle/>
          <a:p>
            <a:r>
              <a:rPr lang="en-US" sz="2800" dirty="0"/>
              <a:t>Boolean Model</a:t>
            </a:r>
            <a:endParaRPr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4F0453E-E3CD-13AF-5BE8-F134961EDCDC}"/>
                  </a:ext>
                </a:extLst>
              </p:cNvPr>
              <p:cNvSpPr txBox="1"/>
              <p:nvPr/>
            </p:nvSpPr>
            <p:spPr>
              <a:xfrm>
                <a:off x="267462" y="761506"/>
                <a:ext cx="6094476" cy="3046988"/>
              </a:xfrm>
              <a:prstGeom prst="rect">
                <a:avLst/>
              </a:prstGeom>
              <a:noFill/>
            </p:spPr>
            <p:txBody>
              <a:bodyPr wrap="square">
                <a:spAutoFit/>
              </a:bodyPr>
              <a:lstStyle/>
              <a:p>
                <a:pPr marL="285750" indent="-285750">
                  <a:buFont typeface="Arial" panose="020B0604020202020204" pitchFamily="34" charset="0"/>
                  <a:buChar char="•"/>
                </a:pPr>
                <a:r>
                  <a:rPr lang="en-US" sz="2400" dirty="0" err="1"/>
                  <a:t>Mỗi</a:t>
                </a:r>
                <a:r>
                  <a:rPr lang="en-US" sz="2400" dirty="0"/>
                  <a:t> </a:t>
                </a:r>
                <a:r>
                  <a:rPr lang="en-US" sz="2400" dirty="0" err="1"/>
                  <a:t>văn</a:t>
                </a:r>
                <a:r>
                  <a:rPr lang="en-US" sz="2400" dirty="0"/>
                  <a:t> </a:t>
                </a:r>
                <a:r>
                  <a:rPr lang="en-US" sz="2400" dirty="0" err="1"/>
                  <a:t>bản</a:t>
                </a:r>
                <a:r>
                  <a:rPr lang="en-US" sz="2400" dirty="0"/>
                  <a:t> </a:t>
                </a:r>
                <a:r>
                  <a:rPr lang="en-US" sz="2400" dirty="0" err="1"/>
                  <a:t>trong</a:t>
                </a:r>
                <a:r>
                  <a:rPr lang="en-US" sz="2400" dirty="0"/>
                  <a:t> CSDL: </a:t>
                </a:r>
                <a:r>
                  <a:rPr lang="en-US" sz="2400" dirty="0" err="1"/>
                  <a:t>tập</a:t>
                </a:r>
                <a:r>
                  <a:rPr lang="en-US" sz="2400" dirty="0"/>
                  <a:t> </a:t>
                </a:r>
                <a:r>
                  <a:rPr lang="en-US" sz="2400" dirty="0" err="1"/>
                  <a:t>các</a:t>
                </a:r>
                <a:r>
                  <a:rPr lang="en-US" sz="2400" dirty="0"/>
                  <a:t> </a:t>
                </a:r>
                <a:r>
                  <a:rPr lang="en-US" sz="2400" dirty="0" err="1"/>
                  <a:t>từ</a:t>
                </a:r>
                <a:r>
                  <a:rPr lang="en-US" sz="2400" dirty="0"/>
                  <a:t> </a:t>
                </a:r>
                <a:r>
                  <a:rPr lang="en-US" sz="2400" dirty="0" err="1"/>
                  <a:t>khóa</a:t>
                </a:r>
                <a:endParaRPr lang="en-US" sz="2400" dirty="0"/>
              </a:p>
              <a:p>
                <a:pPr marL="285750" indent="-285750">
                  <a:buFont typeface="Arial" panose="020B0604020202020204" pitchFamily="34" charset="0"/>
                  <a:buChar char="•"/>
                </a:pPr>
                <a:r>
                  <a:rPr lang="en-US" sz="2400" dirty="0" err="1"/>
                  <a:t>Câu</a:t>
                </a:r>
                <a:r>
                  <a:rPr lang="en-US" sz="2400" dirty="0"/>
                  <a:t> </a:t>
                </a:r>
                <a:r>
                  <a:rPr lang="en-US" sz="2400" dirty="0" err="1"/>
                  <a:t>truy</a:t>
                </a:r>
                <a:r>
                  <a:rPr lang="en-US" sz="2400" dirty="0"/>
                  <a:t> </a:t>
                </a:r>
                <a:r>
                  <a:rPr lang="en-US" sz="2400" dirty="0" err="1"/>
                  <a:t>vấn</a:t>
                </a:r>
                <a:r>
                  <a:rPr lang="en-US" sz="2400" dirty="0"/>
                  <a:t> Q:</a:t>
                </a:r>
              </a:p>
              <a:p>
                <a:pPr marL="742950" lvl="1" indent="-285750">
                  <a:buFont typeface="Courier New" panose="02070309020205020404" pitchFamily="49" charset="0"/>
                  <a:buChar char="o"/>
                </a:pPr>
                <a:r>
                  <a:rPr lang="en-US" sz="2400" dirty="0" err="1"/>
                  <a:t>biểu</a:t>
                </a:r>
                <a:r>
                  <a:rPr lang="en-US" sz="2400" dirty="0"/>
                  <a:t> </a:t>
                </a:r>
                <a:r>
                  <a:rPr lang="en-US" sz="2400" dirty="0" err="1"/>
                  <a:t>diễn</a:t>
                </a:r>
                <a:r>
                  <a:rPr lang="en-US" sz="2400" dirty="0"/>
                  <a:t> </a:t>
                </a:r>
                <a:r>
                  <a:rPr lang="en-US" sz="2400" dirty="0" err="1"/>
                  <a:t>bằng</a:t>
                </a:r>
                <a:r>
                  <a:rPr lang="en-US" sz="2400" dirty="0"/>
                  <a:t> </a:t>
                </a:r>
                <a:r>
                  <a:rPr lang="en-US" sz="2400" dirty="0" err="1"/>
                  <a:t>các</a:t>
                </a:r>
                <a:r>
                  <a:rPr lang="en-US" sz="2400" dirty="0"/>
                  <a:t> </a:t>
                </a:r>
                <a:r>
                  <a:rPr lang="en-US" sz="2400" dirty="0" err="1"/>
                  <a:t>từ</a:t>
                </a:r>
                <a:r>
                  <a:rPr lang="en-US" sz="2400" dirty="0"/>
                  <a:t> </a:t>
                </a:r>
                <a:r>
                  <a:rPr lang="en-US" sz="2400" dirty="0" err="1"/>
                  <a:t>khóa</a:t>
                </a:r>
                <a:endParaRPr lang="en-US" sz="2400" dirty="0"/>
              </a:p>
              <a:p>
                <a:pPr marL="742950" lvl="1" indent="-285750">
                  <a:buFont typeface="Courier New" panose="02070309020205020404" pitchFamily="49" charset="0"/>
                  <a:buChar char="o"/>
                </a:pPr>
                <a:r>
                  <a:rPr lang="en-US" sz="2400" dirty="0" err="1"/>
                  <a:t>các</a:t>
                </a:r>
                <a:r>
                  <a:rPr lang="en-US" sz="2400" dirty="0"/>
                  <a:t> </a:t>
                </a:r>
                <a:r>
                  <a:rPr lang="en-US" sz="2400" dirty="0" err="1"/>
                  <a:t>phép</a:t>
                </a:r>
                <a:r>
                  <a:rPr lang="en-US" sz="2400" dirty="0"/>
                  <a:t> </a:t>
                </a:r>
                <a:r>
                  <a:rPr lang="en-US" sz="2400" dirty="0" err="1"/>
                  <a:t>toán</a:t>
                </a:r>
                <a:r>
                  <a:rPr lang="en-US" sz="2400" dirty="0"/>
                  <a:t> logic: AND, OR, NOT</a:t>
                </a:r>
              </a:p>
              <a:p>
                <a:pPr marL="742950" lvl="1" indent="-285750">
                  <a:buFont typeface="Courier New" panose="02070309020205020404" pitchFamily="49" charset="0"/>
                  <a:buChar char="o"/>
                </a:pPr>
                <a:r>
                  <a:rPr lang="en-US" sz="2400" dirty="0"/>
                  <a:t>VD: « information » AND « retrieval »</a:t>
                </a:r>
              </a:p>
              <a:p>
                <a:pPr marL="285750" indent="-285750">
                  <a:buFont typeface="Arial" panose="020B0604020202020204" pitchFamily="34" charset="0"/>
                  <a:buChar char="•"/>
                </a:pPr>
                <a:r>
                  <a:rPr lang="en-US" sz="2400" dirty="0" err="1"/>
                  <a:t>Thực</a:t>
                </a:r>
                <a:r>
                  <a:rPr lang="en-US" sz="2400" dirty="0"/>
                  <a:t> </a:t>
                </a:r>
                <a:r>
                  <a:rPr lang="en-US" sz="2400" dirty="0" err="1"/>
                  <a:t>hiện</a:t>
                </a:r>
                <a:r>
                  <a:rPr lang="en-US" sz="2400" dirty="0"/>
                  <a:t> </a:t>
                </a:r>
                <a:r>
                  <a:rPr lang="en-US" sz="2400" dirty="0" err="1"/>
                  <a:t>dễ</a:t>
                </a:r>
                <a:r>
                  <a:rPr lang="en-US" sz="2400" dirty="0"/>
                  <a:t> </a:t>
                </a:r>
                <a:r>
                  <a:rPr lang="en-US" sz="2400" dirty="0" err="1"/>
                  <a:t>dàng</a:t>
                </a:r>
                <a:r>
                  <a:rPr lang="en-US" sz="2400" dirty="0"/>
                  <a:t> </a:t>
                </a:r>
                <a:r>
                  <a:rPr lang="en-US" sz="2400" dirty="0" err="1"/>
                  <a:t>với</a:t>
                </a:r>
                <a:r>
                  <a:rPr lang="en-US" sz="2400" dirty="0"/>
                  <a:t> Inverted File </a:t>
                </a:r>
                <a:r>
                  <a:rPr lang="en-US" sz="2400" dirty="0" err="1"/>
                  <a:t>thông</a:t>
                </a:r>
                <a:r>
                  <a:rPr lang="en-US" sz="2400" dirty="0"/>
                  <a:t> qua </a:t>
                </a:r>
                <a:r>
                  <a:rPr lang="en-US" sz="2400" dirty="0" err="1"/>
                  <a:t>các</a:t>
                </a:r>
                <a:r>
                  <a:rPr lang="en-US" sz="2400" dirty="0"/>
                  <a:t> </a:t>
                </a:r>
                <a:r>
                  <a:rPr lang="en-US" sz="2400" dirty="0" err="1"/>
                  <a:t>phép</a:t>
                </a:r>
                <a:r>
                  <a:rPr lang="en-US" sz="2400" dirty="0"/>
                  <a:t> </a:t>
                </a:r>
                <a:r>
                  <a:rPr lang="en-US" sz="2400" dirty="0" err="1"/>
                  <a:t>hợp</a:t>
                </a:r>
                <a:r>
                  <a:rPr lang="en-US" sz="2400" dirty="0"/>
                  <a:t>, </a:t>
                </a:r>
                <a:r>
                  <a:rPr lang="en-US" sz="2400" dirty="0" err="1"/>
                  <a:t>giao</a:t>
                </a:r>
                <a:r>
                  <a:rPr lang="en-US" sz="2400" dirty="0"/>
                  <a:t>, </a:t>
                </a:r>
                <a:r>
                  <a:rPr lang="en-US" sz="2400" dirty="0" err="1"/>
                  <a:t>trừ</a:t>
                </a:r>
                <a:r>
                  <a:rPr lang="en-US" sz="2400" dirty="0"/>
                  <a:t> =&gt; VD</a:t>
                </a:r>
              </a:p>
              <a:p>
                <a:pPr marL="285750" indent="-285750">
                  <a:buFont typeface="Arial" panose="020B0604020202020204" pitchFamily="34" charset="0"/>
                  <a:buChar char="•"/>
                </a:pPr>
                <a:r>
                  <a:rPr lang="en-US" sz="2400" dirty="0"/>
                  <a:t>distance(Q, </a:t>
                </a:r>
                <a:r>
                  <a:rPr lang="en-US" sz="2400" dirty="0" err="1"/>
                  <a:t>dj</a:t>
                </a:r>
                <a:r>
                  <a:rPr lang="en-US" sz="2400" dirty="0"/>
                  <a:t>)</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{0, 1}</a:t>
                </a:r>
              </a:p>
            </p:txBody>
          </p:sp>
        </mc:Choice>
        <mc:Fallback xmlns="">
          <p:sp>
            <p:nvSpPr>
              <p:cNvPr id="4" name="TextBox 3">
                <a:extLst>
                  <a:ext uri="{FF2B5EF4-FFF2-40B4-BE49-F238E27FC236}">
                    <a16:creationId xmlns:a16="http://schemas.microsoft.com/office/drawing/2014/main" id="{D4F0453E-E3CD-13AF-5BE8-F134961EDCDC}"/>
                  </a:ext>
                </a:extLst>
              </p:cNvPr>
              <p:cNvSpPr txBox="1">
                <a:spLocks noRot="1" noChangeAspect="1" noMove="1" noResize="1" noEditPoints="1" noAdjustHandles="1" noChangeArrowheads="1" noChangeShapeType="1" noTextEdit="1"/>
              </p:cNvSpPr>
              <p:nvPr/>
            </p:nvSpPr>
            <p:spPr>
              <a:xfrm>
                <a:off x="267462" y="761506"/>
                <a:ext cx="6094476" cy="3046988"/>
              </a:xfrm>
              <a:prstGeom prst="rect">
                <a:avLst/>
              </a:prstGeom>
              <a:blipFill>
                <a:blip r:embed="rId2"/>
                <a:stretch>
                  <a:fillRect l="-1400" t="-1600" b="-3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7634D1-D6ED-DB30-D664-DD388371DBF8}"/>
                  </a:ext>
                </a:extLst>
              </p:cNvPr>
              <p:cNvSpPr txBox="1"/>
              <p:nvPr/>
            </p:nvSpPr>
            <p:spPr>
              <a:xfrm>
                <a:off x="267462" y="3811012"/>
                <a:ext cx="6094476" cy="3046988"/>
              </a:xfrm>
              <a:prstGeom prst="rect">
                <a:avLst/>
              </a:prstGeom>
              <a:noFill/>
            </p:spPr>
            <p:txBody>
              <a:bodyPr wrap="square">
                <a:spAutoFit/>
              </a:bodyPr>
              <a:lstStyle/>
              <a:p>
                <a:pPr marL="285750" indent="-285750">
                  <a:buFont typeface="Arial" panose="020B0604020202020204" pitchFamily="34" charset="0"/>
                  <a:buChar char="•"/>
                </a:pPr>
                <a:r>
                  <a:rPr lang="vi-VN" sz="2400" dirty="0"/>
                  <a:t>Ưu điểm :</a:t>
                </a:r>
              </a:p>
              <a:p>
                <a:pPr marL="742950" lvl="1" indent="-285750">
                  <a:buFont typeface="Courier New" panose="02070309020205020404" pitchFamily="49" charset="0"/>
                  <a:buChar char="o"/>
                </a:pPr>
                <a:r>
                  <a:rPr lang="vi-VN" sz="2400" dirty="0"/>
                  <a:t>Rõ ràng</a:t>
                </a:r>
              </a:p>
              <a:p>
                <a:pPr marL="742950" lvl="1" indent="-285750">
                  <a:buFont typeface="Courier New" panose="02070309020205020404" pitchFamily="49" charset="0"/>
                  <a:buChar char="o"/>
                </a:pPr>
                <a:r>
                  <a:rPr lang="vi-VN" sz="2400" dirty="0"/>
                  <a:t>Đơn giản</a:t>
                </a:r>
              </a:p>
              <a:p>
                <a:pPr marL="285750" indent="-285750">
                  <a:buFont typeface="Arial" panose="020B0604020202020204" pitchFamily="34" charset="0"/>
                  <a:buChar char="•"/>
                </a:pPr>
                <a:r>
                  <a:rPr lang="vi-VN" sz="2400" dirty="0"/>
                  <a:t>Nhược điểm: exact matching</a:t>
                </a:r>
                <a:endParaRPr lang="en-US" sz="2400" dirty="0"/>
              </a:p>
              <a:p>
                <a:r>
                  <a:rPr lang="en-US" sz="2400" dirty="0">
                    <a:ea typeface="Cambria Math" panose="02040503050406030204" pitchFamily="18" charset="0"/>
                  </a:rPr>
                  <a:t> 	</a:t>
                </a:r>
                <a14:m>
                  <m:oMath xmlns:m="http://schemas.openxmlformats.org/officeDocument/2006/math">
                    <m:r>
                      <a:rPr lang="vi-VN" sz="2400" i="1" smtClean="0">
                        <a:latin typeface="Cambria Math" panose="02040503050406030204" pitchFamily="18" charset="0"/>
                        <a:ea typeface="Cambria Math" panose="02040503050406030204" pitchFamily="18" charset="0"/>
                      </a:rPr>
                      <m:t>→</m:t>
                    </m:r>
                  </m:oMath>
                </a14:m>
                <a:r>
                  <a:rPr lang="vi-VN" sz="2400" dirty="0"/>
                  <a:t>Có quá nhiều hoặc quá ít văn bản được tìm thấy (phụ thuộc</a:t>
                </a:r>
                <a:r>
                  <a:rPr lang="en-US" sz="2400" dirty="0"/>
                  <a:t> </a:t>
                </a:r>
                <a:r>
                  <a:rPr lang="vi-VN" sz="2400" dirty="0"/>
                  <a:t>vào cách biểu diễn câu truy vấn)</a:t>
                </a:r>
              </a:p>
              <a:p>
                <a:pPr marL="1200150" lvl="2" indent="-285750">
                  <a:buFont typeface="Courier New" panose="02070309020205020404" pitchFamily="49" charset="0"/>
                  <a:buChar char="o"/>
                </a:pPr>
                <a:r>
                  <a:rPr lang="vi-VN" sz="2400" dirty="0"/>
                  <a:t>Khó biểu diễn câu truy vấn phức tạp</a:t>
                </a:r>
                <a:endParaRPr lang="en-US" sz="2400" dirty="0"/>
              </a:p>
            </p:txBody>
          </p:sp>
        </mc:Choice>
        <mc:Fallback xmlns="">
          <p:sp>
            <p:nvSpPr>
              <p:cNvPr id="6" name="TextBox 5">
                <a:extLst>
                  <a:ext uri="{FF2B5EF4-FFF2-40B4-BE49-F238E27FC236}">
                    <a16:creationId xmlns:a16="http://schemas.microsoft.com/office/drawing/2014/main" id="{157634D1-D6ED-DB30-D664-DD388371DBF8}"/>
                  </a:ext>
                </a:extLst>
              </p:cNvPr>
              <p:cNvSpPr txBox="1">
                <a:spLocks noRot="1" noChangeAspect="1" noMove="1" noResize="1" noEditPoints="1" noAdjustHandles="1" noChangeArrowheads="1" noChangeShapeType="1" noTextEdit="1"/>
              </p:cNvSpPr>
              <p:nvPr/>
            </p:nvSpPr>
            <p:spPr>
              <a:xfrm>
                <a:off x="267462" y="3811012"/>
                <a:ext cx="6094476" cy="3046988"/>
              </a:xfrm>
              <a:prstGeom prst="rect">
                <a:avLst/>
              </a:prstGeom>
              <a:blipFill>
                <a:blip r:embed="rId3"/>
                <a:stretch>
                  <a:fillRect l="-1600" t="-1600" b="-4000"/>
                </a:stretch>
              </a:blipFill>
            </p:spPr>
            <p:txBody>
              <a:bodyPr/>
              <a:lstStyle/>
              <a:p>
                <a:r>
                  <a:rPr lang="en-US">
                    <a:noFill/>
                  </a:rPr>
                  <a:t> </a:t>
                </a:r>
              </a:p>
            </p:txBody>
          </p:sp>
        </mc:Fallback>
      </mc:AlternateContent>
    </p:spTree>
    <p:extLst>
      <p:ext uri="{BB962C8B-B14F-4D97-AF65-F5344CB8AC3E}">
        <p14:creationId xmlns:p14="http://schemas.microsoft.com/office/powerpoint/2010/main" val="2436190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298D4-AA28-44E2-9457-C047AC71F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1B8DD-9C5B-70F3-CEA9-9870A08042BF}"/>
              </a:ext>
            </a:extLst>
          </p:cNvPr>
          <p:cNvSpPr>
            <a:spLocks noGrp="1"/>
          </p:cNvSpPr>
          <p:nvPr>
            <p:ph type="title"/>
          </p:nvPr>
        </p:nvSpPr>
        <p:spPr/>
        <p:txBody>
          <a:bodyPr>
            <a:noAutofit/>
          </a:bodyPr>
          <a:lstStyle/>
          <a:p>
            <a:r>
              <a:rPr lang="en-US" sz="2800" dirty="0"/>
              <a:t>Vector Model</a:t>
            </a:r>
            <a:endParaRPr sz="28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6AD6A67-8130-0B3A-D385-F9C52A33A7FA}"/>
                  </a:ext>
                </a:extLst>
              </p:cNvPr>
              <p:cNvSpPr txBox="1"/>
              <p:nvPr/>
            </p:nvSpPr>
            <p:spPr>
              <a:xfrm>
                <a:off x="286494" y="553748"/>
                <a:ext cx="10969770" cy="3237233"/>
              </a:xfrm>
              <a:prstGeom prst="rect">
                <a:avLst/>
              </a:prstGeom>
              <a:noFill/>
            </p:spPr>
            <p:txBody>
              <a:bodyPr wrap="square">
                <a:spAutoFit/>
              </a:bodyPr>
              <a:lstStyle/>
              <a:p>
                <a:r>
                  <a:rPr lang="vi-VN" sz="2400" dirty="0"/>
                  <a:t>Giả sử các văn bản và truy vấn đều được biểu diễn</a:t>
                </a:r>
                <a:r>
                  <a:rPr lang="en-US" sz="2400" dirty="0"/>
                  <a:t> </a:t>
                </a:r>
                <a:r>
                  <a:rPr lang="vi-VN" sz="2400" dirty="0"/>
                  <a:t>bởi 1 tập cố định M khái niệm/từ (term) có trọng số</a:t>
                </a:r>
              </a:p>
              <a:p>
                <a:r>
                  <a:rPr lang="vi-VN" sz="2400" dirty="0"/>
                  <a:t>Mỗi văn bản </a:t>
                </a:r>
                <a14:m>
                  <m:oMath xmlns:m="http://schemas.openxmlformats.org/officeDocument/2006/math">
                    <m:sSub>
                      <m:sSubPr>
                        <m:ctrlPr>
                          <a:rPr lang="vi-VN" sz="2400" i="1" dirty="0" smtClean="0">
                            <a:latin typeface="Cambria Math" panose="02040503050406030204" pitchFamily="18" charset="0"/>
                          </a:rPr>
                        </m:ctrlPr>
                      </m:sSubPr>
                      <m:e>
                        <m:r>
                          <a:rPr lang="en-US" sz="2400" b="0" i="1" dirty="0" smtClean="0">
                            <a:latin typeface="Cambria Math" panose="02040503050406030204" pitchFamily="18" charset="0"/>
                          </a:rPr>
                          <m:t>𝐷</m:t>
                        </m:r>
                      </m:e>
                      <m:sub>
                        <m:r>
                          <a:rPr lang="en-US" sz="2400" b="0" i="1" dirty="0" smtClean="0">
                            <a:latin typeface="Cambria Math" panose="02040503050406030204" pitchFamily="18" charset="0"/>
                          </a:rPr>
                          <m:t>𝑗</m:t>
                        </m:r>
                      </m:sub>
                    </m:sSub>
                  </m:oMath>
                </a14:m>
                <a:r>
                  <a:rPr lang="en-US" sz="2400" dirty="0"/>
                  <a:t> </a:t>
                </a:r>
                <a:r>
                  <a:rPr lang="en-US" sz="2400" dirty="0" err="1"/>
                  <a:t>truy</a:t>
                </a:r>
                <a:r>
                  <a:rPr lang="en-US" sz="2400" dirty="0"/>
                  <a:t> </a:t>
                </a:r>
                <a:r>
                  <a:rPr lang="en-US" sz="2400" dirty="0" err="1"/>
                  <a:t>vấn</a:t>
                </a:r>
                <a:r>
                  <a:rPr lang="en-US" sz="2400" dirty="0"/>
                  <a:t> </a:t>
                </a:r>
                <a14:m>
                  <m:oMath xmlns:m="http://schemas.openxmlformats.org/officeDocument/2006/math">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𝑄</m:t>
                        </m:r>
                      </m:e>
                      <m:sub>
                        <m:r>
                          <a:rPr lang="en-US" sz="2400" b="0" i="1" dirty="0" smtClean="0">
                            <a:latin typeface="Cambria Math" panose="02040503050406030204" pitchFamily="18" charset="0"/>
                          </a:rPr>
                          <m:t>𝑖</m:t>
                        </m:r>
                      </m:sub>
                    </m:sSub>
                  </m:oMath>
                </a14:m>
                <a:r>
                  <a:rPr lang="vi-VN" sz="2400" dirty="0"/>
                  <a:t> được biểu diễn = 1 vector:</a:t>
                </a:r>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𝐷</m:t>
                              </m:r>
                            </m:e>
                          </m:acc>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𝑤</m:t>
                          </m:r>
                        </m:e>
                        <m:sub>
                          <m:r>
                            <a:rPr lang="en-US" sz="2400" i="1" dirty="0">
                              <a:latin typeface="Cambria Math" panose="02040503050406030204" pitchFamily="18" charset="0"/>
                            </a:rPr>
                            <m:t>𝑗</m:t>
                          </m:r>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i="1" dirty="0">
                              <a:latin typeface="Cambria Math" panose="02040503050406030204" pitchFamily="18" charset="0"/>
                            </a:rPr>
                            <m:t>𝑗</m:t>
                          </m:r>
                          <m:r>
                            <a:rPr lang="en-US" sz="2400" b="0" i="1" dirty="0" smtClean="0">
                              <a:latin typeface="Cambria Math" panose="02040503050406030204" pitchFamily="18" charset="0"/>
                            </a:rPr>
                            <m:t>2</m:t>
                          </m:r>
                        </m:sub>
                      </m:sSub>
                      <m:r>
                        <a:rPr lang="en-US" sz="2400" b="0" i="1" dirty="0" smtClean="0">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i="1" dirty="0">
                              <a:latin typeface="Cambria Math" panose="02040503050406030204" pitchFamily="18" charset="0"/>
                            </a:rPr>
                            <m:t>𝑗</m:t>
                          </m:r>
                          <m:r>
                            <a:rPr lang="en-US" sz="2400" b="0" i="1" dirty="0" smtClean="0">
                              <a:latin typeface="Cambria Math" panose="02040503050406030204" pitchFamily="18" charset="0"/>
                            </a:rPr>
                            <m:t>𝑀</m:t>
                          </m:r>
                        </m:sub>
                      </m:sSub>
                      <m:r>
                        <a:rPr lang="en-US" sz="2400" b="0" i="1" smtClean="0">
                          <a:latin typeface="Cambria Math" panose="02040503050406030204" pitchFamily="18" charset="0"/>
                        </a:rPr>
                        <m:t>]</m:t>
                      </m:r>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𝑄</m:t>
                              </m:r>
                            </m:e>
                          </m:acc>
                        </m:e>
                        <m:sub>
                          <m:r>
                            <a:rPr lang="en-US" sz="2400" b="0" i="1" smtClean="0">
                              <a:latin typeface="Cambria Math" panose="02040503050406030204" pitchFamily="18" charset="0"/>
                            </a:rPr>
                            <m:t>𝑖</m:t>
                          </m:r>
                        </m:sub>
                      </m:sSub>
                      <m:r>
                        <a:rPr lang="en-US" sz="2400" i="1">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𝑖</m:t>
                          </m:r>
                          <m:r>
                            <a:rPr lang="en-US" sz="2400" i="1" dirty="0">
                              <a:latin typeface="Cambria Math" panose="02040503050406030204" pitchFamily="18" charset="0"/>
                            </a:rPr>
                            <m:t>1</m:t>
                          </m:r>
                        </m:sub>
                      </m:sSub>
                      <m:r>
                        <a:rPr lang="en-US" sz="2400" i="1" dirty="0">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𝑖</m:t>
                          </m:r>
                          <m:r>
                            <a:rPr lang="en-US" sz="2400" i="1" dirty="0">
                              <a:latin typeface="Cambria Math" panose="02040503050406030204" pitchFamily="18" charset="0"/>
                            </a:rPr>
                            <m:t>2</m:t>
                          </m:r>
                        </m:sub>
                      </m:sSub>
                      <m:r>
                        <a:rPr lang="en-US" sz="2400" i="1" dirty="0">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𝑖</m:t>
                          </m:r>
                          <m:r>
                            <a:rPr lang="en-US" sz="2400" i="1" dirty="0">
                              <a:latin typeface="Cambria Math" panose="02040503050406030204" pitchFamily="18" charset="0"/>
                            </a:rPr>
                            <m:t>𝑀</m:t>
                          </m:r>
                        </m:sub>
                      </m:sSub>
                      <m:r>
                        <a:rPr lang="en-US" sz="2400" i="1">
                          <a:latin typeface="Cambria Math" panose="02040503050406030204" pitchFamily="18" charset="0"/>
                        </a:rPr>
                        <m:t>]</m:t>
                      </m:r>
                    </m:oMath>
                  </m:oMathPara>
                </a14:m>
                <a:endParaRPr lang="en-US" sz="2400" dirty="0"/>
              </a:p>
              <a:p>
                <a:endParaRPr lang="en-US" sz="2400" dirty="0"/>
              </a:p>
              <a:p>
                <a14:m>
                  <m:oMath xmlns:m="http://schemas.openxmlformats.org/officeDocument/2006/math">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𝑗𝑘</m:t>
                        </m:r>
                      </m:sub>
                    </m:sSub>
                    <m:r>
                      <a:rPr lang="en-US" sz="2400" b="0" i="1" dirty="0" smtClean="0">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𝑖𝑘</m:t>
                        </m:r>
                      </m:sub>
                    </m:sSub>
                  </m:oMath>
                </a14:m>
                <a:r>
                  <a:rPr lang="en-US" sz="2400" dirty="0"/>
                  <a:t> : </a:t>
                </a:r>
                <a:r>
                  <a:rPr lang="en-US" sz="2400" dirty="0" err="1"/>
                  <a:t>trọng</a:t>
                </a:r>
                <a:r>
                  <a:rPr lang="en-US" sz="2400" dirty="0"/>
                  <a:t> </a:t>
                </a:r>
                <a:r>
                  <a:rPr lang="en-US" sz="2400" dirty="0" err="1"/>
                  <a:t>số</a:t>
                </a:r>
                <a:r>
                  <a:rPr lang="en-US" sz="2400" dirty="0"/>
                  <a:t> </a:t>
                </a:r>
                <a:r>
                  <a:rPr lang="en-US" sz="2400" dirty="0" err="1"/>
                  <a:t>của</a:t>
                </a:r>
                <a:r>
                  <a:rPr lang="en-US" sz="2400" dirty="0"/>
                  <a:t> </a:t>
                </a:r>
                <a:r>
                  <a:rPr lang="en-US" sz="2400" dirty="0" err="1"/>
                  <a:t>từ</a:t>
                </a:r>
                <a:r>
                  <a:rPr lang="en-US" sz="2400" dirty="0"/>
                  <a:t> k </a:t>
                </a:r>
                <a:r>
                  <a:rPr lang="en-US" sz="2400" dirty="0" err="1"/>
                  <a:t>trong</a:t>
                </a:r>
                <a:r>
                  <a:rPr lang="en-US" sz="2400" dirty="0"/>
                  <a:t> </a:t>
                </a:r>
                <a14:m>
                  <m:oMath xmlns:m="http://schemas.openxmlformats.org/officeDocument/2006/math">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𝐷</m:t>
                        </m:r>
                      </m:e>
                      <m:sub>
                        <m:r>
                          <a:rPr lang="en-US" sz="2400" b="0" i="1" dirty="0" smtClean="0">
                            <a:latin typeface="Cambria Math" panose="02040503050406030204" pitchFamily="18" charset="0"/>
                          </a:rPr>
                          <m:t>𝑗</m:t>
                        </m:r>
                      </m:sub>
                    </m:sSub>
                    <m:r>
                      <a:rPr lang="en-US" sz="2400" b="0" i="0" dirty="0" smtClean="0">
                        <a:latin typeface="Cambria Math" panose="02040503050406030204" pitchFamily="18" charset="0"/>
                      </a:rPr>
                      <m:t> </m:t>
                    </m:r>
                    <m:r>
                      <m:rPr>
                        <m:sty m:val="p"/>
                      </m:rPr>
                      <a:rPr lang="en-US" sz="2400" b="0" i="0" dirty="0" smtClean="0">
                        <a:latin typeface="Cambria Math" panose="02040503050406030204" pitchFamily="18" charset="0"/>
                      </a:rPr>
                      <m:t>v</m:t>
                    </m:r>
                    <m:r>
                      <a:rPr lang="en-US" sz="2400" b="0" i="0" dirty="0" smtClean="0">
                        <a:latin typeface="Cambria Math" panose="02040503050406030204" pitchFamily="18" charset="0"/>
                      </a:rPr>
                      <m:t>à</m:t>
                    </m:r>
                    <m:r>
                      <a:rPr lang="en-US" sz="2400" b="0" i="1" dirty="0" smtClean="0">
                        <a:latin typeface="Cambria Math" panose="02040503050406030204" pitchFamily="18" charset="0"/>
                      </a:rPr>
                      <m:t> </m:t>
                    </m:r>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𝑄</m:t>
                        </m:r>
                      </m:e>
                      <m:sub>
                        <m:r>
                          <a:rPr lang="en-US" sz="2400" b="0" i="1" dirty="0" smtClean="0">
                            <a:latin typeface="Cambria Math" panose="02040503050406030204" pitchFamily="18" charset="0"/>
                          </a:rPr>
                          <m:t>𝑖</m:t>
                        </m:r>
                      </m:sub>
                    </m:sSub>
                  </m:oMath>
                </a14:m>
                <a:endParaRPr lang="en-US" sz="2400" dirty="0"/>
              </a:p>
              <a:p>
                <a14:m>
                  <m:oMath xmlns:m="http://schemas.openxmlformats.org/officeDocument/2006/math">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𝑙𝑘</m:t>
                        </m:r>
                      </m:sub>
                    </m:sSub>
                  </m:oMath>
                </a14:m>
                <a:r>
                  <a:rPr lang="en-US" sz="2400" dirty="0"/>
                  <a:t>:</a:t>
                </a:r>
                <a:r>
                  <a:rPr lang="vi-VN" sz="2400" dirty="0"/>
                  <a:t> </a:t>
                </a:r>
                <a:r>
                  <a:rPr lang="en-US" sz="2400" dirty="0"/>
                  <a:t>{0,1}, </a:t>
                </a:r>
                <a:r>
                  <a:rPr lang="en-US" sz="2400" dirty="0" err="1"/>
                  <a:t>tf.idf</a:t>
                </a:r>
                <a:r>
                  <a:rPr lang="en-US" sz="2400" dirty="0"/>
                  <a:t>, </a:t>
                </a:r>
                <a:r>
                  <a:rPr lang="en-US" sz="2400" dirty="0" err="1"/>
                  <a:t>tf</a:t>
                </a:r>
                <a:r>
                  <a:rPr lang="en-US" sz="2400" dirty="0"/>
                  <a:t>,…</a:t>
                </a:r>
                <a:r>
                  <a:rPr lang="vi-VN" sz="2400" dirty="0"/>
                  <a:t> thường </a:t>
                </a:r>
                <a14:m>
                  <m:oMath xmlns:m="http://schemas.openxmlformats.org/officeDocument/2006/math">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𝑙</m:t>
                        </m:r>
                        <m:r>
                          <a:rPr lang="en-US" sz="2400" i="1" dirty="0">
                            <a:latin typeface="Cambria Math" panose="02040503050406030204" pitchFamily="18" charset="0"/>
                          </a:rPr>
                          <m:t>𝑘</m:t>
                        </m:r>
                      </m:sub>
                    </m:sSub>
                    <m:r>
                      <a:rPr lang="en-US" sz="2400" i="1" dirty="0">
                        <a:latin typeface="Cambria Math" panose="02040503050406030204" pitchFamily="18" charset="0"/>
                      </a:rPr>
                      <m:t> </m:t>
                    </m:r>
                  </m:oMath>
                </a14:m>
                <a:r>
                  <a:rPr lang="vi-VN" sz="2400" dirty="0"/>
                  <a:t>: nhận trọng số tf.idf</a:t>
                </a:r>
                <a:endParaRPr lang="en-US" sz="2400" dirty="0"/>
              </a:p>
            </p:txBody>
          </p:sp>
        </mc:Choice>
        <mc:Fallback xmlns="">
          <p:sp>
            <p:nvSpPr>
              <p:cNvPr id="5" name="TextBox 4">
                <a:extLst>
                  <a:ext uri="{FF2B5EF4-FFF2-40B4-BE49-F238E27FC236}">
                    <a16:creationId xmlns:a16="http://schemas.microsoft.com/office/drawing/2014/main" id="{F6AD6A67-8130-0B3A-D385-F9C52A33A7FA}"/>
                  </a:ext>
                </a:extLst>
              </p:cNvPr>
              <p:cNvSpPr txBox="1">
                <a:spLocks noRot="1" noChangeAspect="1" noMove="1" noResize="1" noEditPoints="1" noAdjustHandles="1" noChangeArrowheads="1" noChangeShapeType="1" noTextEdit="1"/>
              </p:cNvSpPr>
              <p:nvPr/>
            </p:nvSpPr>
            <p:spPr>
              <a:xfrm>
                <a:off x="286494" y="553748"/>
                <a:ext cx="10969770" cy="3237233"/>
              </a:xfrm>
              <a:prstGeom prst="rect">
                <a:avLst/>
              </a:prstGeom>
              <a:blipFill>
                <a:blip r:embed="rId2"/>
                <a:stretch>
                  <a:fillRect l="-889" t="-1507"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1C36B10-3591-4B9A-4D12-9FF3007A725A}"/>
                  </a:ext>
                </a:extLst>
              </p:cNvPr>
              <p:cNvSpPr txBox="1"/>
              <p:nvPr/>
            </p:nvSpPr>
            <p:spPr>
              <a:xfrm>
                <a:off x="286494" y="4535748"/>
                <a:ext cx="5148432" cy="1552861"/>
              </a:xfrm>
              <a:prstGeom prst="rect">
                <a:avLst/>
              </a:prstGeom>
              <a:noFill/>
            </p:spPr>
            <p:txBody>
              <a:bodyPr wrap="square" rtlCol="0">
                <a:spAutoFit/>
              </a:bodyPr>
              <a:lstStyle/>
              <a:p>
                <a:pPr marL="342900" indent="-342900">
                  <a:buFont typeface="Arial" panose="020B0604020202020204" pitchFamily="34" charset="0"/>
                  <a:buChar char="•"/>
                </a:pPr>
                <a:r>
                  <a:rPr lang="en-US" sz="2400" dirty="0" err="1"/>
                  <a:t>Khoảng</a:t>
                </a:r>
                <a:r>
                  <a:rPr lang="en-US" sz="2400" dirty="0"/>
                  <a:t> </a:t>
                </a:r>
                <a:r>
                  <a:rPr lang="en-US" sz="2400" dirty="0" err="1"/>
                  <a:t>cách</a:t>
                </a:r>
                <a:r>
                  <a:rPr lang="en-US" sz="2400" dirty="0"/>
                  <a:t> </a:t>
                </a:r>
                <a:r>
                  <a:rPr lang="en-US" sz="2400" dirty="0" err="1"/>
                  <a:t>khái</a:t>
                </a:r>
                <a:r>
                  <a:rPr lang="en-US" sz="2400" dirty="0"/>
                  <a:t> </a:t>
                </a:r>
                <a:r>
                  <a:rPr lang="en-US" sz="2400" dirty="0" err="1"/>
                  <a:t>niệm</a:t>
                </a:r>
                <a:r>
                  <a:rPr lang="en-US" sz="2400" dirty="0"/>
                  <a:t>:</a:t>
                </a:r>
              </a:p>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𝐷</m:t>
                      </m:r>
                      <m:r>
                        <a:rPr lang="en-US" sz="2400" i="1" dirty="0" smtClean="0">
                          <a:latin typeface="Cambria Math" panose="02040503050406030204" pitchFamily="18" charset="0"/>
                        </a:rPr>
                        <m:t>(</m:t>
                      </m:r>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𝑄</m:t>
                          </m:r>
                        </m:e>
                        <m:sub>
                          <m:r>
                            <a:rPr lang="en-US" sz="2400" b="0" i="1" dirty="0" smtClean="0">
                              <a:latin typeface="Cambria Math" panose="02040503050406030204" pitchFamily="18" charset="0"/>
                            </a:rPr>
                            <m:t>𝑖</m:t>
                          </m:r>
                        </m:sub>
                      </m:sSub>
                      <m:r>
                        <a:rPr lang="en-US" sz="2400" b="0" i="1" dirty="0" smtClean="0">
                          <a:latin typeface="Cambria Math" panose="02040503050406030204" pitchFamily="18" charset="0"/>
                        </a:rPr>
                        <m:t>,</m:t>
                      </m:r>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𝐷</m:t>
                          </m:r>
                        </m:e>
                        <m:sub>
                          <m:r>
                            <a:rPr lang="en-US" sz="2400" i="1" dirty="0">
                              <a:latin typeface="Cambria Math" panose="02040503050406030204" pitchFamily="18" charset="0"/>
                            </a:rPr>
                            <m:t>𝑗</m:t>
                          </m:r>
                        </m:sub>
                      </m:sSub>
                      <m:r>
                        <a:rPr lang="en-US" sz="2400" i="1" dirty="0" smtClean="0">
                          <a:latin typeface="Cambria Math" panose="02040503050406030204" pitchFamily="18" charset="0"/>
                        </a:rPr>
                        <m:t>) = </m:t>
                      </m:r>
                      <m:rad>
                        <m:radPr>
                          <m:degHide m:val="on"/>
                          <m:ctrlPr>
                            <a:rPr lang="en-US" sz="2400" i="1" dirty="0" smtClean="0">
                              <a:latin typeface="Cambria Math" panose="02040503050406030204" pitchFamily="18" charset="0"/>
                            </a:rPr>
                          </m:ctrlPr>
                        </m:radPr>
                        <m:deg/>
                        <m:e>
                          <m:nary>
                            <m:naryPr>
                              <m:chr m:val="∑"/>
                              <m:limLoc m:val="subSup"/>
                              <m:ctrlPr>
                                <a:rPr lang="en-US" sz="2400" i="1" dirty="0" smtClean="0">
                                  <a:latin typeface="Cambria Math" panose="02040503050406030204" pitchFamily="18" charset="0"/>
                                </a:rPr>
                              </m:ctrlPr>
                            </m:naryPr>
                            <m:sub>
                              <m:r>
                                <m:rPr>
                                  <m:brk m:alnAt="25"/>
                                </m:rPr>
                                <a:rPr lang="en-US" sz="2400" b="0" i="1" dirty="0" smtClean="0">
                                  <a:latin typeface="Cambria Math" panose="02040503050406030204" pitchFamily="18" charset="0"/>
                                </a:rPr>
                                <m:t>𝑘</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𝑀</m:t>
                              </m:r>
                            </m:sup>
                            <m:e>
                              <m:sSup>
                                <m:sSupPr>
                                  <m:ctrlPr>
                                    <a:rPr lang="en-US" sz="2400" i="1" dirty="0" smtClean="0">
                                      <a:latin typeface="Cambria Math" panose="02040503050406030204" pitchFamily="18" charset="0"/>
                                    </a:rPr>
                                  </m:ctrlPr>
                                </m:sSupPr>
                                <m:e>
                                  <m:r>
                                    <a:rPr lang="en-US" sz="2400" i="1" dirty="0">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i="1" dirty="0">
                                          <a:latin typeface="Cambria Math" panose="02040503050406030204" pitchFamily="18" charset="0"/>
                                        </a:rPr>
                                        <m:t>𝑖𝑘</m:t>
                                      </m:r>
                                    </m:sub>
                                  </m:sSub>
                                  <m:r>
                                    <a:rPr lang="en-US" sz="2400" i="1" dirty="0">
                                      <a:latin typeface="Cambria Math" panose="02040503050406030204" pitchFamily="18" charset="0"/>
                                    </a:rPr>
                                    <m:t>−</m:t>
                                  </m:r>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i="1" dirty="0">
                                          <a:latin typeface="Cambria Math" panose="02040503050406030204" pitchFamily="18" charset="0"/>
                                        </a:rPr>
                                        <m:t>𝑗𝑘</m:t>
                                      </m:r>
                                    </m:sub>
                                  </m:sSub>
                                  <m:r>
                                    <a:rPr lang="en-US" sz="2400" b="0" i="1" dirty="0" smtClean="0">
                                      <a:latin typeface="Cambria Math" panose="02040503050406030204" pitchFamily="18" charset="0"/>
                                    </a:rPr>
                                    <m:t>)</m:t>
                                  </m:r>
                                </m:e>
                                <m:sup>
                                  <m:r>
                                    <a:rPr lang="en-US" sz="2400" b="0" i="1" dirty="0" smtClean="0">
                                      <a:latin typeface="Cambria Math" panose="02040503050406030204" pitchFamily="18" charset="0"/>
                                    </a:rPr>
                                    <m:t>2</m:t>
                                  </m:r>
                                </m:sup>
                              </m:sSup>
                            </m:e>
                          </m:nary>
                        </m:e>
                      </m:rad>
                    </m:oMath>
                  </m:oMathPara>
                </a14:m>
                <a:endParaRPr lang="en-US" sz="2400" dirty="0"/>
              </a:p>
            </p:txBody>
          </p:sp>
        </mc:Choice>
        <mc:Fallback xmlns="">
          <p:sp>
            <p:nvSpPr>
              <p:cNvPr id="7" name="TextBox 6">
                <a:extLst>
                  <a:ext uri="{FF2B5EF4-FFF2-40B4-BE49-F238E27FC236}">
                    <a16:creationId xmlns:a16="http://schemas.microsoft.com/office/drawing/2014/main" id="{41C36B10-3591-4B9A-4D12-9FF3007A725A}"/>
                  </a:ext>
                </a:extLst>
              </p:cNvPr>
              <p:cNvSpPr txBox="1">
                <a:spLocks noRot="1" noChangeAspect="1" noMove="1" noResize="1" noEditPoints="1" noAdjustHandles="1" noChangeArrowheads="1" noChangeShapeType="1" noTextEdit="1"/>
              </p:cNvSpPr>
              <p:nvPr/>
            </p:nvSpPr>
            <p:spPr>
              <a:xfrm>
                <a:off x="286494" y="4535748"/>
                <a:ext cx="5148432" cy="1552861"/>
              </a:xfrm>
              <a:prstGeom prst="rect">
                <a:avLst/>
              </a:prstGeom>
              <a:blipFill>
                <a:blip r:embed="rId3"/>
                <a:stretch>
                  <a:fillRect l="-1657" t="-3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9EE88E8-1AD1-A6AF-7DA4-1893DE4C45CF}"/>
                  </a:ext>
                </a:extLst>
              </p:cNvPr>
              <p:cNvSpPr txBox="1"/>
              <p:nvPr/>
            </p:nvSpPr>
            <p:spPr>
              <a:xfrm>
                <a:off x="6164570" y="4535748"/>
                <a:ext cx="6207261" cy="1383969"/>
              </a:xfrm>
              <a:prstGeom prst="rect">
                <a:avLst/>
              </a:prstGeom>
              <a:noFill/>
            </p:spPr>
            <p:txBody>
              <a:bodyPr wrap="square" rtlCol="0">
                <a:spAutoFit/>
              </a:bodyPr>
              <a:lstStyle/>
              <a:p>
                <a:pPr marL="342900" indent="-342900">
                  <a:buFont typeface="Arial" panose="020B0604020202020204" pitchFamily="34" charset="0"/>
                  <a:buChar char="•"/>
                </a:pPr>
                <a:r>
                  <a:rPr lang="en-US" sz="2400" dirty="0"/>
                  <a:t>Khoảng </a:t>
                </a:r>
                <a:r>
                  <a:rPr lang="en-US" sz="2400" dirty="0" err="1"/>
                  <a:t>cách</a:t>
                </a:r>
                <a:r>
                  <a:rPr lang="en-US" sz="2400" dirty="0"/>
                  <a:t> cosine: 1-S(</a:t>
                </a:r>
                <a14:m>
                  <m:oMath xmlns:m="http://schemas.openxmlformats.org/officeDocument/2006/math">
                    <m:sSub>
                      <m:sSubPr>
                        <m:ctrlPr>
                          <a:rPr lang="vi-VN" i="1">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𝑖</m:t>
                        </m:r>
                      </m:sub>
                    </m:sSub>
                    <m:r>
                      <a:rPr lang="en-US" i="1">
                        <a:latin typeface="Cambria Math" panose="02040503050406030204" pitchFamily="18" charset="0"/>
                      </a:rPr>
                      <m:t>−</m:t>
                    </m:r>
                    <m:sSub>
                      <m:sSubPr>
                        <m:ctrlPr>
                          <a:rPr lang="vi-VN" i="1">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𝑗</m:t>
                        </m:r>
                      </m:sub>
                    </m:sSub>
                  </m:oMath>
                </a14:m>
                <a:r>
                  <a:rPr lang="en-US" sz="2400" dirty="0"/>
                  <a:t>):</a:t>
                </a:r>
              </a:p>
              <a:p>
                <a:r>
                  <a:rPr lang="en-US" sz="2400" dirty="0"/>
                  <a:t>S</a:t>
                </a:r>
                <a14:m>
                  <m:oMath xmlns:m="http://schemas.openxmlformats.org/officeDocument/2006/math">
                    <m:d>
                      <m:dPr>
                        <m:ctrlPr>
                          <a:rPr lang="en-US" sz="2400" i="1" dirty="0" smtClean="0">
                            <a:latin typeface="Cambria Math" panose="02040503050406030204" pitchFamily="18" charset="0"/>
                          </a:rPr>
                        </m:ctrlPr>
                      </m:dPr>
                      <m:e>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𝑄</m:t>
                            </m:r>
                          </m:e>
                          <m:sub>
                            <m:r>
                              <a:rPr lang="en-US" sz="2400" b="0" i="1" dirty="0" smtClean="0">
                                <a:latin typeface="Cambria Math" panose="02040503050406030204" pitchFamily="18" charset="0"/>
                              </a:rPr>
                              <m:t>𝑖</m:t>
                            </m:r>
                          </m:sub>
                        </m:sSub>
                        <m:r>
                          <a:rPr lang="en-US" sz="2400" b="0" i="1" dirty="0" smtClean="0">
                            <a:latin typeface="Cambria Math" panose="02040503050406030204" pitchFamily="18" charset="0"/>
                          </a:rPr>
                          <m:t>,</m:t>
                        </m:r>
                        <m:sSub>
                          <m:sSubPr>
                            <m:ctrlPr>
                              <a:rPr lang="vi-VN" sz="2400" i="1" dirty="0">
                                <a:latin typeface="Cambria Math" panose="02040503050406030204" pitchFamily="18" charset="0"/>
                              </a:rPr>
                            </m:ctrlPr>
                          </m:sSubPr>
                          <m:e>
                            <m:r>
                              <a:rPr lang="en-US" sz="2400" b="0" i="1" dirty="0" smtClean="0">
                                <a:latin typeface="Cambria Math" panose="02040503050406030204" pitchFamily="18" charset="0"/>
                              </a:rPr>
                              <m:t>𝐷</m:t>
                            </m:r>
                          </m:e>
                          <m:sub>
                            <m:r>
                              <a:rPr lang="en-US" sz="2400" i="1" dirty="0">
                                <a:latin typeface="Cambria Math" panose="02040503050406030204" pitchFamily="18" charset="0"/>
                              </a:rPr>
                              <m:t>𝑗</m:t>
                            </m:r>
                          </m:sub>
                        </m:sSub>
                      </m:e>
                    </m:d>
                    <m:r>
                      <a:rPr lang="en-US" sz="2400" i="1" dirty="0" smtClean="0">
                        <a:latin typeface="Cambria Math" panose="02040503050406030204" pitchFamily="18" charset="0"/>
                      </a:rPr>
                      <m:t>=</m:t>
                    </m:r>
                    <m:f>
                      <m:fPr>
                        <m:ctrlPr>
                          <a:rPr lang="en-US" sz="2400" i="1" dirty="0" smtClean="0">
                            <a:latin typeface="Cambria Math" panose="02040503050406030204" pitchFamily="18" charset="0"/>
                          </a:rPr>
                        </m:ctrlPr>
                      </m:fPr>
                      <m:num>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𝑄</m:t>
                                </m:r>
                              </m:e>
                            </m:acc>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𝐷</m:t>
                                </m:r>
                              </m:e>
                            </m:acc>
                          </m:e>
                          <m:sub>
                            <m:r>
                              <a:rPr lang="en-US" sz="2400" i="1">
                                <a:latin typeface="Cambria Math" panose="02040503050406030204" pitchFamily="18" charset="0"/>
                              </a:rPr>
                              <m:t>𝑗</m:t>
                            </m:r>
                          </m:sub>
                        </m:sSub>
                      </m:num>
                      <m:den>
                        <m:d>
                          <m:dPr>
                            <m:begChr m:val="‖"/>
                            <m:endChr m:val="‖"/>
                            <m:ctrlPr>
                              <a:rPr lang="en-US" sz="2400" i="1" dirty="0" smtClean="0">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𝑄</m:t>
                                    </m:r>
                                  </m:e>
                                </m:acc>
                              </m:e>
                              <m:sub>
                                <m:r>
                                  <a:rPr lang="en-US" sz="2400" i="1">
                                    <a:latin typeface="Cambria Math" panose="02040503050406030204" pitchFamily="18" charset="0"/>
                                  </a:rPr>
                                  <m:t>𝑖</m:t>
                                </m:r>
                              </m:sub>
                            </m:sSub>
                          </m:e>
                        </m:d>
                        <m:r>
                          <a:rPr lang="en-US" sz="2400" i="1">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𝐷</m:t>
                                    </m:r>
                                  </m:e>
                                </m:acc>
                              </m:e>
                              <m:sub>
                                <m:r>
                                  <a:rPr lang="en-US" sz="2400" i="1">
                                    <a:latin typeface="Cambria Math" panose="02040503050406030204" pitchFamily="18" charset="0"/>
                                  </a:rPr>
                                  <m:t>𝑗</m:t>
                                </m:r>
                              </m:sub>
                            </m:sSub>
                          </m:e>
                        </m:d>
                      </m:den>
                    </m:f>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nary>
                          <m:naryPr>
                            <m:chr m:val="∑"/>
                            <m:ctrlPr>
                              <a:rPr lang="en-US" sz="2400" b="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𝑘</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𝑀</m:t>
                            </m:r>
                          </m:sup>
                          <m:e>
                            <m:sSub>
                              <m:sSubPr>
                                <m:ctrlPr>
                                  <a:rPr lang="vi-VN"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𝑖</m:t>
                                </m:r>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vi-VN"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𝑘</m:t>
                                </m:r>
                              </m:sub>
                            </m:sSub>
                          </m:e>
                        </m:nary>
                      </m:num>
                      <m:den>
                        <m:rad>
                          <m:radPr>
                            <m:degHide m:val="on"/>
                            <m:ctrlPr>
                              <a:rPr lang="en-US" sz="2400" i="1" dirty="0">
                                <a:latin typeface="Cambria Math" panose="02040503050406030204" pitchFamily="18" charset="0"/>
                              </a:rPr>
                            </m:ctrlPr>
                          </m:radPr>
                          <m:deg/>
                          <m:e>
                            <m:nary>
                              <m:naryPr>
                                <m:chr m:val="∑"/>
                                <m:limLoc m:val="subSup"/>
                                <m:ctrlPr>
                                  <a:rPr lang="en-US" sz="2400" i="1" dirty="0">
                                    <a:latin typeface="Cambria Math" panose="02040503050406030204" pitchFamily="18" charset="0"/>
                                  </a:rPr>
                                </m:ctrlPr>
                              </m:naryPr>
                              <m:sub>
                                <m:r>
                                  <m:rPr>
                                    <m:brk m:alnAt="25"/>
                                  </m:rPr>
                                  <a:rPr lang="en-US" sz="2400" i="1" dirty="0">
                                    <a:latin typeface="Cambria Math" panose="02040503050406030204" pitchFamily="18" charset="0"/>
                                  </a:rPr>
                                  <m:t>𝑘</m:t>
                                </m:r>
                                <m:r>
                                  <a:rPr lang="en-US" sz="2400" i="1" dirty="0">
                                    <a:latin typeface="Cambria Math" panose="02040503050406030204" pitchFamily="18" charset="0"/>
                                  </a:rPr>
                                  <m:t>=1</m:t>
                                </m:r>
                              </m:sub>
                              <m:sup>
                                <m:r>
                                  <a:rPr lang="en-US" sz="2400" i="1" dirty="0">
                                    <a:latin typeface="Cambria Math" panose="02040503050406030204" pitchFamily="18" charset="0"/>
                                  </a:rPr>
                                  <m:t>𝑀</m:t>
                                </m:r>
                              </m:sup>
                              <m:e>
                                <m:sSup>
                                  <m:sSupPr>
                                    <m:ctrlPr>
                                      <a:rPr lang="en-US" sz="2400" i="1" dirty="0">
                                        <a:latin typeface="Cambria Math" panose="02040503050406030204" pitchFamily="18" charset="0"/>
                                      </a:rPr>
                                    </m:ctrlPr>
                                  </m:sSupPr>
                                  <m:e>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i="1" dirty="0">
                                            <a:latin typeface="Cambria Math" panose="02040503050406030204" pitchFamily="18" charset="0"/>
                                          </a:rPr>
                                          <m:t>𝑖𝑘</m:t>
                                        </m:r>
                                      </m:sub>
                                    </m:sSub>
                                  </m:e>
                                  <m:sup>
                                    <m:r>
                                      <a:rPr lang="en-US" sz="2400" i="1" dirty="0">
                                        <a:latin typeface="Cambria Math" panose="02040503050406030204" pitchFamily="18" charset="0"/>
                                      </a:rPr>
                                      <m:t>2</m:t>
                                    </m:r>
                                  </m:sup>
                                </m:sSup>
                                <m:nary>
                                  <m:naryPr>
                                    <m:chr m:val="∑"/>
                                    <m:limLoc m:val="subSup"/>
                                    <m:ctrlPr>
                                      <a:rPr lang="en-US" sz="2400" i="1" dirty="0">
                                        <a:latin typeface="Cambria Math" panose="02040503050406030204" pitchFamily="18" charset="0"/>
                                      </a:rPr>
                                    </m:ctrlPr>
                                  </m:naryPr>
                                  <m:sub>
                                    <m:r>
                                      <m:rPr>
                                        <m:brk m:alnAt="25"/>
                                      </m:rPr>
                                      <a:rPr lang="en-US" sz="2400" i="1" dirty="0">
                                        <a:latin typeface="Cambria Math" panose="02040503050406030204" pitchFamily="18" charset="0"/>
                                      </a:rPr>
                                      <m:t>𝑘</m:t>
                                    </m:r>
                                    <m:r>
                                      <a:rPr lang="en-US" sz="2400" i="1" dirty="0">
                                        <a:latin typeface="Cambria Math" panose="02040503050406030204" pitchFamily="18" charset="0"/>
                                      </a:rPr>
                                      <m:t>=1</m:t>
                                    </m:r>
                                  </m:sub>
                                  <m:sup>
                                    <m:r>
                                      <a:rPr lang="en-US" sz="2400" i="1" dirty="0">
                                        <a:latin typeface="Cambria Math" panose="02040503050406030204" pitchFamily="18" charset="0"/>
                                      </a:rPr>
                                      <m:t>𝑀</m:t>
                                    </m:r>
                                  </m:sup>
                                  <m:e>
                                    <m:sSup>
                                      <m:sSupPr>
                                        <m:ctrlPr>
                                          <a:rPr lang="en-US" sz="2400" i="1" dirty="0">
                                            <a:latin typeface="Cambria Math" panose="02040503050406030204" pitchFamily="18" charset="0"/>
                                          </a:rPr>
                                        </m:ctrlPr>
                                      </m:sSupPr>
                                      <m:e>
                                        <m:sSub>
                                          <m:sSubPr>
                                            <m:ctrlPr>
                                              <a:rPr lang="vi-VN" sz="2400" i="1" dirty="0">
                                                <a:latin typeface="Cambria Math" panose="02040503050406030204" pitchFamily="18" charset="0"/>
                                              </a:rPr>
                                            </m:ctrlPr>
                                          </m:sSubPr>
                                          <m:e>
                                            <m:r>
                                              <a:rPr lang="en-US" sz="2400" i="1" dirty="0">
                                                <a:latin typeface="Cambria Math" panose="02040503050406030204" pitchFamily="18" charset="0"/>
                                              </a:rPr>
                                              <m:t>𝑤</m:t>
                                            </m:r>
                                          </m:e>
                                          <m:sub>
                                            <m:r>
                                              <a:rPr lang="en-US" sz="2400" b="0" i="1" dirty="0" smtClean="0">
                                                <a:latin typeface="Cambria Math" panose="02040503050406030204" pitchFamily="18" charset="0"/>
                                              </a:rPr>
                                              <m:t>𝑗</m:t>
                                            </m:r>
                                            <m:r>
                                              <a:rPr lang="en-US" sz="2400" i="1" dirty="0">
                                                <a:latin typeface="Cambria Math" panose="02040503050406030204" pitchFamily="18" charset="0"/>
                                              </a:rPr>
                                              <m:t>𝑘</m:t>
                                            </m:r>
                                          </m:sub>
                                        </m:sSub>
                                      </m:e>
                                      <m:sup>
                                        <m:r>
                                          <a:rPr lang="en-US" sz="2400" i="1" dirty="0">
                                            <a:latin typeface="Cambria Math" panose="02040503050406030204" pitchFamily="18" charset="0"/>
                                          </a:rPr>
                                          <m:t>2</m:t>
                                        </m:r>
                                      </m:sup>
                                    </m:sSup>
                                  </m:e>
                                </m:nary>
                              </m:e>
                            </m:nary>
                          </m:e>
                        </m:rad>
                      </m:den>
                    </m:f>
                  </m:oMath>
                </a14:m>
                <a:endParaRPr lang="en-US" sz="2400" dirty="0"/>
              </a:p>
            </p:txBody>
          </p:sp>
        </mc:Choice>
        <mc:Fallback xmlns="">
          <p:sp>
            <p:nvSpPr>
              <p:cNvPr id="8" name="TextBox 7">
                <a:extLst>
                  <a:ext uri="{FF2B5EF4-FFF2-40B4-BE49-F238E27FC236}">
                    <a16:creationId xmlns:a16="http://schemas.microsoft.com/office/drawing/2014/main" id="{C9EE88E8-1AD1-A6AF-7DA4-1893DE4C45CF}"/>
                  </a:ext>
                </a:extLst>
              </p:cNvPr>
              <p:cNvSpPr txBox="1">
                <a:spLocks noRot="1" noChangeAspect="1" noMove="1" noResize="1" noEditPoints="1" noAdjustHandles="1" noChangeArrowheads="1" noChangeShapeType="1" noTextEdit="1"/>
              </p:cNvSpPr>
              <p:nvPr/>
            </p:nvSpPr>
            <p:spPr>
              <a:xfrm>
                <a:off x="6164570" y="4535748"/>
                <a:ext cx="6207261" cy="1383969"/>
              </a:xfrm>
              <a:prstGeom prst="rect">
                <a:avLst/>
              </a:prstGeom>
              <a:blipFill>
                <a:blip r:embed="rId4"/>
                <a:stretch>
                  <a:fillRect l="-1473" t="-39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7310B6E-420D-32AB-353C-BFFB6BBC435C}"/>
                  </a:ext>
                </a:extLst>
              </p:cNvPr>
              <p:cNvSpPr txBox="1"/>
              <p:nvPr/>
            </p:nvSpPr>
            <p:spPr>
              <a:xfrm>
                <a:off x="286494" y="3868236"/>
                <a:ext cx="6094476" cy="496674"/>
              </a:xfrm>
              <a:prstGeom prst="rect">
                <a:avLst/>
              </a:prstGeom>
              <a:noFill/>
            </p:spPr>
            <p:txBody>
              <a:bodyPr wrap="square">
                <a:spAutoFit/>
              </a:bodyPr>
              <a:lstStyle/>
              <a:p>
                <a:pPr marL="342900" indent="-342900">
                  <a:buFont typeface="Arial" panose="020B0604020202020204" pitchFamily="34" charset="0"/>
                  <a:buChar char="•"/>
                </a:pPr>
                <a:r>
                  <a:rPr lang="en-US" sz="2400" b="1" dirty="0"/>
                  <a:t>Khoảng </a:t>
                </a:r>
                <a:r>
                  <a:rPr lang="en-US" sz="2400" b="1" dirty="0" err="1"/>
                  <a:t>cách</a:t>
                </a:r>
                <a:r>
                  <a:rPr lang="en-US" sz="2400" b="1" dirty="0"/>
                  <a:t> </a:t>
                </a:r>
                <a14:m>
                  <m:oMath xmlns:m="http://schemas.openxmlformats.org/officeDocument/2006/math">
                    <m:sSub>
                      <m:sSubPr>
                        <m:ctrlPr>
                          <a:rPr lang="vi-VN" sz="2400" b="1" i="1" dirty="0">
                            <a:latin typeface="Cambria Math" panose="02040503050406030204" pitchFamily="18" charset="0"/>
                          </a:rPr>
                        </m:ctrlPr>
                      </m:sSubPr>
                      <m:e>
                        <m:r>
                          <a:rPr lang="en-US" sz="2400" b="1" i="1" dirty="0" smtClean="0">
                            <a:latin typeface="Cambria Math" panose="02040503050406030204" pitchFamily="18" charset="0"/>
                          </a:rPr>
                          <m:t>𝑫</m:t>
                        </m:r>
                      </m:e>
                      <m:sub>
                        <m:r>
                          <a:rPr lang="en-US" sz="2400" b="1" i="1" dirty="0" smtClean="0">
                            <a:latin typeface="Cambria Math" panose="02040503050406030204" pitchFamily="18" charset="0"/>
                          </a:rPr>
                          <m:t>𝒋</m:t>
                        </m:r>
                      </m:sub>
                    </m:sSub>
                  </m:oMath>
                </a14:m>
                <a:r>
                  <a:rPr lang="en-US" sz="2400" b="1" dirty="0"/>
                  <a:t> và </a:t>
                </a:r>
                <a14:m>
                  <m:oMath xmlns:m="http://schemas.openxmlformats.org/officeDocument/2006/math">
                    <m:sSub>
                      <m:sSubPr>
                        <m:ctrlPr>
                          <a:rPr lang="vi-VN" sz="2400" b="1" i="1" dirty="0">
                            <a:latin typeface="Cambria Math" panose="02040503050406030204" pitchFamily="18" charset="0"/>
                          </a:rPr>
                        </m:ctrlPr>
                      </m:sSubPr>
                      <m:e>
                        <m:r>
                          <a:rPr lang="en-US" sz="2400" b="1" i="1" dirty="0" smtClean="0">
                            <a:latin typeface="Cambria Math" panose="02040503050406030204" pitchFamily="18" charset="0"/>
                          </a:rPr>
                          <m:t>𝑸</m:t>
                        </m:r>
                      </m:e>
                      <m:sub>
                        <m:r>
                          <a:rPr lang="en-US" sz="2400" b="1" i="1" dirty="0" smtClean="0">
                            <a:latin typeface="Cambria Math" panose="02040503050406030204" pitchFamily="18" charset="0"/>
                          </a:rPr>
                          <m:t>𝒊</m:t>
                        </m:r>
                      </m:sub>
                    </m:sSub>
                  </m:oMath>
                </a14:m>
                <a:r>
                  <a:rPr lang="en-US" sz="2400" b="1" dirty="0"/>
                  <a:t>:</a:t>
                </a:r>
              </a:p>
            </p:txBody>
          </p:sp>
        </mc:Choice>
        <mc:Fallback xmlns="">
          <p:sp>
            <p:nvSpPr>
              <p:cNvPr id="10" name="TextBox 9">
                <a:extLst>
                  <a:ext uri="{FF2B5EF4-FFF2-40B4-BE49-F238E27FC236}">
                    <a16:creationId xmlns:a16="http://schemas.microsoft.com/office/drawing/2014/main" id="{17310B6E-420D-32AB-353C-BFFB6BBC435C}"/>
                  </a:ext>
                </a:extLst>
              </p:cNvPr>
              <p:cNvSpPr txBox="1">
                <a:spLocks noRot="1" noChangeAspect="1" noMove="1" noResize="1" noEditPoints="1" noAdjustHandles="1" noChangeArrowheads="1" noChangeShapeType="1" noTextEdit="1"/>
              </p:cNvSpPr>
              <p:nvPr/>
            </p:nvSpPr>
            <p:spPr>
              <a:xfrm>
                <a:off x="286494" y="3868236"/>
                <a:ext cx="6094476" cy="496674"/>
              </a:xfrm>
              <a:prstGeom prst="rect">
                <a:avLst/>
              </a:prstGeom>
              <a:blipFill>
                <a:blip r:embed="rId5"/>
                <a:stretch>
                  <a:fillRect l="-1400" t="-9877" b="-20988"/>
                </a:stretch>
              </a:blipFill>
            </p:spPr>
            <p:txBody>
              <a:bodyPr/>
              <a:lstStyle/>
              <a:p>
                <a:r>
                  <a:rPr lang="en-US">
                    <a:noFill/>
                  </a:rPr>
                  <a:t> </a:t>
                </a:r>
              </a:p>
            </p:txBody>
          </p:sp>
        </mc:Fallback>
      </mc:AlternateContent>
    </p:spTree>
    <p:extLst>
      <p:ext uri="{BB962C8B-B14F-4D97-AF65-F5344CB8AC3E}">
        <p14:creationId xmlns:p14="http://schemas.microsoft.com/office/powerpoint/2010/main" val="966610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EE662-20B0-45D4-963C-52DE3BF12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A36C4-2D0D-DF49-0C1E-C6E43B884063}"/>
              </a:ext>
            </a:extLst>
          </p:cNvPr>
          <p:cNvSpPr>
            <a:spLocks noGrp="1"/>
          </p:cNvSpPr>
          <p:nvPr>
            <p:ph type="title"/>
          </p:nvPr>
        </p:nvSpPr>
        <p:spPr/>
        <p:txBody>
          <a:bodyPr>
            <a:noAutofit/>
          </a:bodyPr>
          <a:lstStyle/>
          <a:p>
            <a:r>
              <a:rPr lang="en-US" sz="2800" dirty="0"/>
              <a:t>Vector Model</a:t>
            </a:r>
            <a:endParaRPr sz="2800" dirty="0"/>
          </a:p>
        </p:txBody>
      </p:sp>
      <p:sp>
        <p:nvSpPr>
          <p:cNvPr id="5" name="TextBox 4">
            <a:extLst>
              <a:ext uri="{FF2B5EF4-FFF2-40B4-BE49-F238E27FC236}">
                <a16:creationId xmlns:a16="http://schemas.microsoft.com/office/drawing/2014/main" id="{81E62046-BD1C-BF4D-0B29-85BF6EEA0EB7}"/>
              </a:ext>
            </a:extLst>
          </p:cNvPr>
          <p:cNvSpPr txBox="1"/>
          <p:nvPr/>
        </p:nvSpPr>
        <p:spPr>
          <a:xfrm>
            <a:off x="432816" y="802204"/>
            <a:ext cx="7037832" cy="830997"/>
          </a:xfrm>
          <a:prstGeom prst="rect">
            <a:avLst/>
          </a:prstGeom>
          <a:noFill/>
        </p:spPr>
        <p:txBody>
          <a:bodyPr wrap="square">
            <a:spAutoFit/>
          </a:bodyPr>
          <a:lstStyle/>
          <a:p>
            <a:pPr marL="342900" indent="-342900">
              <a:buFont typeface="Arial" panose="020B0604020202020204" pitchFamily="34" charset="0"/>
              <a:buChar char="•"/>
            </a:pPr>
            <a:r>
              <a:rPr lang="vi-VN" sz="2400" dirty="0"/>
              <a:t>Kết quả thu được sẽ được sắp xếp (ranking)</a:t>
            </a:r>
            <a:r>
              <a:rPr lang="en-US" sz="2400" dirty="0"/>
              <a:t> </a:t>
            </a:r>
            <a:r>
              <a:rPr lang="vi-VN" sz="2400" dirty="0"/>
              <a:t>theo thứ</a:t>
            </a:r>
            <a:r>
              <a:rPr lang="en-US" sz="2400" dirty="0"/>
              <a:t> </a:t>
            </a:r>
            <a:r>
              <a:rPr lang="vi-VN" sz="2400" dirty="0"/>
              <a:t>tự giảm dần của độ tương tự</a:t>
            </a:r>
            <a:endParaRPr lang="en-US" sz="2400" dirty="0"/>
          </a:p>
        </p:txBody>
      </p:sp>
      <p:sp>
        <p:nvSpPr>
          <p:cNvPr id="8" name="TextBox 7">
            <a:extLst>
              <a:ext uri="{FF2B5EF4-FFF2-40B4-BE49-F238E27FC236}">
                <a16:creationId xmlns:a16="http://schemas.microsoft.com/office/drawing/2014/main" id="{8A3C7925-38C6-18E3-F88B-698B92A17B37}"/>
              </a:ext>
            </a:extLst>
          </p:cNvPr>
          <p:cNvSpPr txBox="1"/>
          <p:nvPr/>
        </p:nvSpPr>
        <p:spPr>
          <a:xfrm>
            <a:off x="4183362" y="5601935"/>
            <a:ext cx="6094476" cy="369332"/>
          </a:xfrm>
          <a:prstGeom prst="rect">
            <a:avLst/>
          </a:prstGeom>
          <a:noFill/>
        </p:spPr>
        <p:txBody>
          <a:bodyPr wrap="square">
            <a:spAutoFit/>
          </a:bodyPr>
          <a:lstStyle/>
          <a:p>
            <a:r>
              <a:rPr lang="fr-FR" dirty="0" err="1"/>
              <a:t>Kết</a:t>
            </a:r>
            <a:r>
              <a:rPr lang="fr-FR" dirty="0"/>
              <a:t> </a:t>
            </a:r>
            <a:r>
              <a:rPr lang="fr-FR" dirty="0" err="1"/>
              <a:t>quả</a:t>
            </a:r>
            <a:r>
              <a:rPr lang="fr-FR" dirty="0"/>
              <a:t>: D2, D3, D1, D4</a:t>
            </a:r>
            <a:endParaRPr lang="en-US" dirty="0"/>
          </a:p>
        </p:txBody>
      </p:sp>
      <p:pic>
        <p:nvPicPr>
          <p:cNvPr id="10" name="Picture 9">
            <a:extLst>
              <a:ext uri="{FF2B5EF4-FFF2-40B4-BE49-F238E27FC236}">
                <a16:creationId xmlns:a16="http://schemas.microsoft.com/office/drawing/2014/main" id="{DBE50E9E-E7CA-4CA5-5A8D-473CC39D1A1A}"/>
              </a:ext>
            </a:extLst>
          </p:cNvPr>
          <p:cNvPicPr>
            <a:picLocks noChangeAspect="1"/>
          </p:cNvPicPr>
          <p:nvPr/>
        </p:nvPicPr>
        <p:blipFill>
          <a:blip r:embed="rId2"/>
          <a:stretch>
            <a:fillRect/>
          </a:stretch>
        </p:blipFill>
        <p:spPr>
          <a:xfrm>
            <a:off x="524238" y="1741143"/>
            <a:ext cx="9753600" cy="3752850"/>
          </a:xfrm>
          <a:prstGeom prst="rect">
            <a:avLst/>
          </a:prstGeom>
        </p:spPr>
      </p:pic>
    </p:spTree>
    <p:extLst>
      <p:ext uri="{BB962C8B-B14F-4D97-AF65-F5344CB8AC3E}">
        <p14:creationId xmlns:p14="http://schemas.microsoft.com/office/powerpoint/2010/main" val="237023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40856-BCB4-8309-93F6-255C2A8FC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80DDF-E5C3-438A-9708-175D1046603E}"/>
              </a:ext>
            </a:extLst>
          </p:cNvPr>
          <p:cNvSpPr>
            <a:spLocks noGrp="1"/>
          </p:cNvSpPr>
          <p:nvPr>
            <p:ph type="title"/>
          </p:nvPr>
        </p:nvSpPr>
        <p:spPr/>
        <p:txBody>
          <a:bodyPr>
            <a:noAutofit/>
          </a:bodyPr>
          <a:lstStyle/>
          <a:p>
            <a:r>
              <a:rPr lang="en-US" sz="2800" dirty="0"/>
              <a:t>Vector Model</a:t>
            </a:r>
            <a:endParaRPr sz="2800" dirty="0"/>
          </a:p>
        </p:txBody>
      </p:sp>
      <p:sp>
        <p:nvSpPr>
          <p:cNvPr id="4" name="TextBox 3">
            <a:extLst>
              <a:ext uri="{FF2B5EF4-FFF2-40B4-BE49-F238E27FC236}">
                <a16:creationId xmlns:a16="http://schemas.microsoft.com/office/drawing/2014/main" id="{9EF800D5-3458-21C7-99A8-7683FA26575F}"/>
              </a:ext>
            </a:extLst>
          </p:cNvPr>
          <p:cNvSpPr txBox="1"/>
          <p:nvPr/>
        </p:nvSpPr>
        <p:spPr>
          <a:xfrm>
            <a:off x="669798" y="1307467"/>
            <a:ext cx="8437626" cy="3477875"/>
          </a:xfrm>
          <a:prstGeom prst="rect">
            <a:avLst/>
          </a:prstGeom>
          <a:noFill/>
        </p:spPr>
        <p:txBody>
          <a:bodyPr wrap="square">
            <a:spAutoFit/>
          </a:bodyPr>
          <a:lstStyle/>
          <a:p>
            <a:pPr marL="285750" indent="-285750">
              <a:buFont typeface="Arial" panose="020B0604020202020204" pitchFamily="34" charset="0"/>
              <a:buChar char="•"/>
            </a:pPr>
            <a:r>
              <a:rPr lang="vi-VN" sz="2200" dirty="0"/>
              <a:t>Ưu điểm:</a:t>
            </a:r>
          </a:p>
          <a:p>
            <a:pPr marL="742950" lvl="1" indent="-285750">
              <a:buFont typeface="Courier New" panose="02070309020205020404" pitchFamily="49" charset="0"/>
              <a:buChar char="o"/>
            </a:pPr>
            <a:r>
              <a:rPr lang="vi-VN" sz="2200" dirty="0"/>
              <a:t>Cho phép tìm kiếm gần đúng (partial matching)</a:t>
            </a:r>
          </a:p>
          <a:p>
            <a:pPr marL="742950" lvl="1" indent="-285750">
              <a:buFont typeface="Courier New" panose="02070309020205020404" pitchFamily="49" charset="0"/>
              <a:buChar char="o"/>
            </a:pPr>
            <a:r>
              <a:rPr lang="vi-VN" sz="2200" dirty="0"/>
              <a:t>Đo được mức độ giống nhau giữa văn bản và truy vấn</a:t>
            </a:r>
          </a:p>
          <a:p>
            <a:pPr marL="742950" lvl="1" indent="-285750">
              <a:buFont typeface="Courier New" panose="02070309020205020404" pitchFamily="49" charset="0"/>
              <a:buChar char="o"/>
            </a:pPr>
            <a:r>
              <a:rPr lang="vi-VN" sz="2200" dirty="0"/>
              <a:t>Đơn giản</a:t>
            </a:r>
          </a:p>
          <a:p>
            <a:pPr marL="742950" lvl="1" indent="-285750">
              <a:buFont typeface="Courier New" panose="02070309020205020404" pitchFamily="49" charset="0"/>
              <a:buChar char="o"/>
            </a:pPr>
            <a:r>
              <a:rPr lang="vi-VN" sz="2200" dirty="0"/>
              <a:t>Thích hợp với các văn bản ngắn</a:t>
            </a:r>
          </a:p>
          <a:p>
            <a:pPr marL="285750" indent="-285750">
              <a:buFont typeface="Arial" panose="020B0604020202020204" pitchFamily="34" charset="0"/>
              <a:buChar char="•"/>
            </a:pPr>
            <a:r>
              <a:rPr lang="vi-VN" sz="2200" dirty="0"/>
              <a:t>Nhược điểm:</a:t>
            </a:r>
          </a:p>
          <a:p>
            <a:pPr marL="800100" lvl="1" indent="-342900">
              <a:buFont typeface="Courier New" panose="02070309020205020404" pitchFamily="49" charset="0"/>
              <a:buChar char="o"/>
            </a:pPr>
            <a:r>
              <a:rPr lang="vi-VN" sz="2200" dirty="0"/>
              <a:t>Coi các term không có liên quan với nhau</a:t>
            </a:r>
          </a:p>
          <a:p>
            <a:pPr marL="800100" lvl="1" indent="-342900">
              <a:buFont typeface="Courier New" panose="02070309020205020404" pitchFamily="49" charset="0"/>
              <a:buChar char="o"/>
            </a:pPr>
            <a:r>
              <a:rPr lang="vi-VN" sz="2200" dirty="0"/>
              <a:t>Chưa tính đến mối liên hệ không gian giữa các từ</a:t>
            </a:r>
          </a:p>
          <a:p>
            <a:pPr marL="800100" lvl="1" indent="-342900">
              <a:buFont typeface="Courier New" panose="02070309020205020404" pitchFamily="49" charset="0"/>
              <a:buChar char="o"/>
            </a:pPr>
            <a:r>
              <a:rPr lang="vi-VN" sz="2200" dirty="0"/>
              <a:t>Độ phức tạp khi tìm kiếm: O(M x N) lớn khi M, N lớn</a:t>
            </a:r>
          </a:p>
          <a:p>
            <a:pPr marL="285750" indent="-285750">
              <a:buFont typeface="Arial" panose="020B0604020202020204" pitchFamily="34" charset="0"/>
              <a:buChar char="•"/>
            </a:pPr>
            <a:r>
              <a:rPr lang="vi-VN" sz="2200" dirty="0"/>
              <a:t>M: số từ trong từ điển (tiếng anh &gt;10 000 000 t</a:t>
            </a:r>
            <a:r>
              <a:rPr lang="en-US" sz="2200" dirty="0"/>
              <a:t>ừ</a:t>
            </a:r>
          </a:p>
        </p:txBody>
      </p:sp>
    </p:spTree>
    <p:extLst>
      <p:ext uri="{BB962C8B-B14F-4D97-AF65-F5344CB8AC3E}">
        <p14:creationId xmlns:p14="http://schemas.microsoft.com/office/powerpoint/2010/main" val="1960105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3EFE1-33AC-2DF6-1C54-E46DEA855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ECB5E-DB79-F539-A202-E727E438CCD1}"/>
              </a:ext>
            </a:extLst>
          </p:cNvPr>
          <p:cNvSpPr>
            <a:spLocks noGrp="1"/>
          </p:cNvSpPr>
          <p:nvPr>
            <p:ph type="title"/>
          </p:nvPr>
        </p:nvSpPr>
        <p:spPr/>
        <p:txBody>
          <a:bodyPr>
            <a:noAutofit/>
          </a:bodyPr>
          <a:lstStyle/>
          <a:p>
            <a:r>
              <a:rPr lang="en-US" sz="2800" dirty="0"/>
              <a:t>LSI</a:t>
            </a:r>
            <a:endParaRPr sz="2800" dirty="0"/>
          </a:p>
        </p:txBody>
      </p:sp>
      <p:sp>
        <p:nvSpPr>
          <p:cNvPr id="4" name="TextBox 3">
            <a:extLst>
              <a:ext uri="{FF2B5EF4-FFF2-40B4-BE49-F238E27FC236}">
                <a16:creationId xmlns:a16="http://schemas.microsoft.com/office/drawing/2014/main" id="{741ACBC3-9190-7D2D-24E6-3075BB25DF17}"/>
              </a:ext>
            </a:extLst>
          </p:cNvPr>
          <p:cNvSpPr txBox="1"/>
          <p:nvPr/>
        </p:nvSpPr>
        <p:spPr>
          <a:xfrm>
            <a:off x="422910" y="1555695"/>
            <a:ext cx="9544050" cy="3416320"/>
          </a:xfrm>
          <a:prstGeom prst="rect">
            <a:avLst/>
          </a:prstGeom>
          <a:noFill/>
        </p:spPr>
        <p:txBody>
          <a:bodyPr wrap="square">
            <a:spAutoFit/>
          </a:bodyPr>
          <a:lstStyle/>
          <a:p>
            <a:pPr marL="342900" indent="-342900">
              <a:buFont typeface="Arial" panose="020B0604020202020204" pitchFamily="34" charset="0"/>
              <a:buChar char="•"/>
            </a:pPr>
            <a:r>
              <a:rPr lang="vi-VN" sz="2400" b="1" dirty="0"/>
              <a:t>Latent Semantic Indexing model: </a:t>
            </a:r>
            <a:r>
              <a:rPr lang="vi-VN" sz="2400" dirty="0"/>
              <a:t>Mô hình chỉ số hóa</a:t>
            </a:r>
            <a:r>
              <a:rPr lang="en-US" sz="2400" dirty="0"/>
              <a:t> </a:t>
            </a:r>
            <a:r>
              <a:rPr lang="vi-VN" sz="2400" dirty="0"/>
              <a:t>ngữ nghĩa tiềm năng</a:t>
            </a:r>
          </a:p>
          <a:p>
            <a:pPr marL="342900" indent="-342900">
              <a:buFont typeface="Arial" panose="020B0604020202020204" pitchFamily="34" charset="0"/>
              <a:buChar char="•"/>
            </a:pPr>
            <a:r>
              <a:rPr lang="vi-VN" sz="2400" dirty="0"/>
              <a:t>Một biến thể của Vector Models</a:t>
            </a:r>
          </a:p>
          <a:p>
            <a:pPr marL="342900" indent="-342900">
              <a:buFont typeface="Arial" panose="020B0604020202020204" pitchFamily="34" charset="0"/>
              <a:buChar char="•"/>
            </a:pPr>
            <a:r>
              <a:rPr lang="vi-VN" sz="2400" dirty="0"/>
              <a:t>Ý tưởng:</a:t>
            </a:r>
            <a:endParaRPr lang="en-US" sz="2400" dirty="0"/>
          </a:p>
          <a:p>
            <a:pPr marL="800100" lvl="1" indent="-342900">
              <a:buFont typeface="Courier New" panose="02070309020205020404" pitchFamily="49" charset="0"/>
              <a:buChar char="o"/>
            </a:pPr>
            <a:r>
              <a:rPr lang="vi-VN" sz="2400" dirty="0"/>
              <a:t>Văn bản thường liên quan đến </a:t>
            </a:r>
            <a:r>
              <a:rPr lang="vi-VN" sz="2400" b="1" dirty="0"/>
              <a:t>khái niệm (concept) hơn</a:t>
            </a:r>
            <a:r>
              <a:rPr lang="vi-VN" sz="2400" dirty="0"/>
              <a:t> là</a:t>
            </a:r>
            <a:r>
              <a:rPr lang="en-US" sz="2400" dirty="0"/>
              <a:t> </a:t>
            </a:r>
            <a:r>
              <a:rPr lang="vi-VN" sz="2400" dirty="0"/>
              <a:t>liên quan trực tiếp đến các từ dùng trong văn bản:</a:t>
            </a:r>
            <a:endParaRPr lang="en-US" sz="2400" dirty="0"/>
          </a:p>
          <a:p>
            <a:pPr lvl="1"/>
            <a:r>
              <a:rPr lang="vi-VN" sz="2400" b="1" dirty="0"/>
              <a:t>bờ biển, cát, sóng, thuyền </a:t>
            </a:r>
            <a:r>
              <a:rPr lang="en-US" sz="2400" b="1" dirty="0"/>
              <a:t>=&gt;</a:t>
            </a:r>
            <a:r>
              <a:rPr lang="vi-VN" sz="2400" b="1" dirty="0"/>
              <a:t> thuộc 1 concept</a:t>
            </a:r>
            <a:endParaRPr lang="en-US" sz="2400" b="1" dirty="0"/>
          </a:p>
          <a:p>
            <a:pPr lvl="1"/>
            <a:r>
              <a:rPr lang="en-US" sz="2400" dirty="0"/>
              <a:t>=&gt; </a:t>
            </a:r>
            <a:r>
              <a:rPr lang="vi-VN" sz="2400" dirty="0"/>
              <a:t>Tìm kiếm dựa trên khái niệm</a:t>
            </a:r>
            <a:endParaRPr lang="en-US" sz="2400" dirty="0"/>
          </a:p>
          <a:p>
            <a:pPr marL="800100" lvl="1" indent="-342900">
              <a:buFont typeface="Courier New" panose="02070309020205020404" pitchFamily="49" charset="0"/>
              <a:buChar char="o"/>
            </a:pPr>
            <a:r>
              <a:rPr lang="vi-VN" sz="2400" dirty="0"/>
              <a:t>Biểu diễn văn bản với số chiều K (concept,</a:t>
            </a:r>
            <a:r>
              <a:rPr lang="en-US" sz="2400" b="1" dirty="0"/>
              <a:t> , </a:t>
            </a:r>
            <a:r>
              <a:rPr lang="en-US" sz="2400" dirty="0"/>
              <a:t>~200) &lt;&lt; M (</a:t>
            </a:r>
            <a:r>
              <a:rPr lang="en-US" sz="2400" dirty="0" err="1"/>
              <a:t>từ</a:t>
            </a:r>
            <a:r>
              <a:rPr lang="en-US" sz="2400" dirty="0"/>
              <a:t>) </a:t>
            </a:r>
          </a:p>
        </p:txBody>
      </p:sp>
    </p:spTree>
    <p:extLst>
      <p:ext uri="{BB962C8B-B14F-4D97-AF65-F5344CB8AC3E}">
        <p14:creationId xmlns:p14="http://schemas.microsoft.com/office/powerpoint/2010/main" val="1974830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E1783-7E8A-5337-7ECF-AFF4EC8FE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27E8B-2003-30A0-B290-0A72DFA9A4D1}"/>
              </a:ext>
            </a:extLst>
          </p:cNvPr>
          <p:cNvSpPr>
            <a:spLocks noGrp="1"/>
          </p:cNvSpPr>
          <p:nvPr>
            <p:ph type="title"/>
          </p:nvPr>
        </p:nvSpPr>
        <p:spPr/>
        <p:txBody>
          <a:bodyPr>
            <a:noAutofit/>
          </a:bodyPr>
          <a:lstStyle/>
          <a:p>
            <a:r>
              <a:rPr lang="en-US" sz="2800" dirty="0"/>
              <a:t>LSI</a:t>
            </a:r>
            <a:endParaRPr sz="2800" dirty="0"/>
          </a:p>
        </p:txBody>
      </p:sp>
      <p:sp>
        <p:nvSpPr>
          <p:cNvPr id="4" name="TextBox 3">
            <a:extLst>
              <a:ext uri="{FF2B5EF4-FFF2-40B4-BE49-F238E27FC236}">
                <a16:creationId xmlns:a16="http://schemas.microsoft.com/office/drawing/2014/main" id="{FF9FDB1B-3FF7-6DF4-C7A0-7CBA4AAE0E18}"/>
              </a:ext>
            </a:extLst>
          </p:cNvPr>
          <p:cNvSpPr txBox="1"/>
          <p:nvPr/>
        </p:nvSpPr>
        <p:spPr>
          <a:xfrm>
            <a:off x="413766" y="1153591"/>
            <a:ext cx="8858250" cy="461665"/>
          </a:xfrm>
          <a:prstGeom prst="rect">
            <a:avLst/>
          </a:prstGeom>
          <a:noFill/>
        </p:spPr>
        <p:txBody>
          <a:bodyPr wrap="square">
            <a:spAutoFit/>
          </a:bodyPr>
          <a:lstStyle/>
          <a:p>
            <a:r>
              <a:rPr lang="en-US" sz="2400" dirty="0" err="1"/>
              <a:t>Kỹ</a:t>
            </a:r>
            <a:r>
              <a:rPr lang="en-US" sz="2400" dirty="0"/>
              <a:t> </a:t>
            </a:r>
            <a:r>
              <a:rPr lang="en-US" sz="2400" dirty="0" err="1"/>
              <a:t>thuật</a:t>
            </a:r>
            <a:r>
              <a:rPr lang="en-US" sz="2400" dirty="0"/>
              <a:t> </a:t>
            </a:r>
            <a:r>
              <a:rPr lang="en-US" sz="2400" dirty="0" err="1"/>
              <a:t>giảm</a:t>
            </a:r>
            <a:r>
              <a:rPr lang="en-US" sz="2400" dirty="0"/>
              <a:t> </a:t>
            </a:r>
            <a:r>
              <a:rPr lang="en-US" sz="2400" dirty="0" err="1"/>
              <a:t>số</a:t>
            </a:r>
            <a:r>
              <a:rPr lang="en-US" sz="2400" dirty="0"/>
              <a:t> </a:t>
            </a:r>
            <a:r>
              <a:rPr lang="en-US" sz="2400" dirty="0" err="1"/>
              <a:t>chiều</a:t>
            </a:r>
            <a:r>
              <a:rPr lang="en-US" sz="2400" dirty="0"/>
              <a:t>: SVD (Singular Valued Decomposition)</a:t>
            </a:r>
          </a:p>
        </p:txBody>
      </p:sp>
      <p:pic>
        <p:nvPicPr>
          <p:cNvPr id="6" name="Picture 5" descr="A diagram of a graph&#10;&#10;AI-generated content may be incorrect.">
            <a:extLst>
              <a:ext uri="{FF2B5EF4-FFF2-40B4-BE49-F238E27FC236}">
                <a16:creationId xmlns:a16="http://schemas.microsoft.com/office/drawing/2014/main" id="{3C069687-FD58-A323-1FAE-50624BC5734D}"/>
              </a:ext>
            </a:extLst>
          </p:cNvPr>
          <p:cNvPicPr>
            <a:picLocks noChangeAspect="1"/>
          </p:cNvPicPr>
          <p:nvPr/>
        </p:nvPicPr>
        <p:blipFill>
          <a:blip r:embed="rId2"/>
          <a:stretch>
            <a:fillRect/>
          </a:stretch>
        </p:blipFill>
        <p:spPr>
          <a:xfrm>
            <a:off x="6215634" y="2057400"/>
            <a:ext cx="4991100" cy="3200400"/>
          </a:xfrm>
          <a:prstGeom prst="rect">
            <a:avLst/>
          </a:prstGeom>
        </p:spPr>
      </p:pic>
    </p:spTree>
    <p:extLst>
      <p:ext uri="{BB962C8B-B14F-4D97-AF65-F5344CB8AC3E}">
        <p14:creationId xmlns:p14="http://schemas.microsoft.com/office/powerpoint/2010/main" val="1382052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9D578-28FF-E002-EF1F-0AF256AD5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978A4-0AB5-93A4-E64E-1BAB7B0CBD6D}"/>
              </a:ext>
            </a:extLst>
          </p:cNvPr>
          <p:cNvSpPr>
            <a:spLocks noGrp="1"/>
          </p:cNvSpPr>
          <p:nvPr>
            <p:ph type="title"/>
          </p:nvPr>
        </p:nvSpPr>
        <p:spPr/>
        <p:txBody>
          <a:bodyPr>
            <a:noAutofit/>
          </a:bodyPr>
          <a:lstStyle/>
          <a:p>
            <a:r>
              <a:rPr lang="en-US" sz="2800" dirty="0"/>
              <a:t>LSI Ý </a:t>
            </a:r>
            <a:r>
              <a:rPr lang="en-US" sz="2800" dirty="0" err="1"/>
              <a:t>nghĩa</a:t>
            </a:r>
            <a:r>
              <a:rPr lang="en-US" sz="2800" dirty="0"/>
              <a:t> </a:t>
            </a:r>
            <a:r>
              <a:rPr lang="en-US" sz="2800" dirty="0" err="1"/>
              <a:t>của</a:t>
            </a:r>
            <a:r>
              <a:rPr lang="en-US" sz="2800" dirty="0"/>
              <a:t> SVD</a:t>
            </a:r>
            <a:endParaRPr sz="2800" dirty="0"/>
          </a:p>
        </p:txBody>
      </p:sp>
      <p:pic>
        <p:nvPicPr>
          <p:cNvPr id="5" name="Picture 4" descr="A math equations with numbers and symbols&#10;&#10;AI-generated content may be incorrect.">
            <a:extLst>
              <a:ext uri="{FF2B5EF4-FFF2-40B4-BE49-F238E27FC236}">
                <a16:creationId xmlns:a16="http://schemas.microsoft.com/office/drawing/2014/main" id="{4BE45CC3-461A-81BE-AA9F-65FE50DAD9CC}"/>
              </a:ext>
            </a:extLst>
          </p:cNvPr>
          <p:cNvPicPr>
            <a:picLocks noChangeAspect="1"/>
          </p:cNvPicPr>
          <p:nvPr/>
        </p:nvPicPr>
        <p:blipFill>
          <a:blip r:embed="rId2"/>
          <a:stretch>
            <a:fillRect/>
          </a:stretch>
        </p:blipFill>
        <p:spPr>
          <a:xfrm>
            <a:off x="5572125" y="1120323"/>
            <a:ext cx="6619875" cy="3924300"/>
          </a:xfrm>
          <a:prstGeom prst="rect">
            <a:avLst/>
          </a:prstGeom>
        </p:spPr>
      </p:pic>
      <p:sp>
        <p:nvSpPr>
          <p:cNvPr id="8" name="TextBox 7">
            <a:extLst>
              <a:ext uri="{FF2B5EF4-FFF2-40B4-BE49-F238E27FC236}">
                <a16:creationId xmlns:a16="http://schemas.microsoft.com/office/drawing/2014/main" id="{746827C2-621C-CCF0-BCC9-6FEFF91CE88A}"/>
              </a:ext>
            </a:extLst>
          </p:cNvPr>
          <p:cNvSpPr txBox="1"/>
          <p:nvPr/>
        </p:nvSpPr>
        <p:spPr>
          <a:xfrm>
            <a:off x="102870" y="964875"/>
            <a:ext cx="5359527" cy="4708981"/>
          </a:xfrm>
          <a:prstGeom prst="rect">
            <a:avLst/>
          </a:prstGeom>
          <a:noFill/>
        </p:spPr>
        <p:txBody>
          <a:bodyPr wrap="square">
            <a:spAutoFit/>
          </a:bodyPr>
          <a:lstStyle/>
          <a:p>
            <a:pPr marL="285750" indent="-285750">
              <a:buFont typeface="Arial" panose="020B0604020202020204" pitchFamily="34" charset="0"/>
              <a:buChar char="•"/>
            </a:pPr>
            <a:r>
              <a:rPr lang="vi-VN" sz="2000" dirty="0"/>
              <a:t>Kích thước của bảng tần số gốc là (M x N)</a:t>
            </a:r>
          </a:p>
          <a:p>
            <a:pPr marL="742950" lvl="1" indent="-285750">
              <a:buFont typeface="Courier New" panose="02070309020205020404" pitchFamily="49" charset="0"/>
              <a:buChar char="o"/>
            </a:pPr>
            <a:r>
              <a:rPr lang="vi-VN" sz="2000" dirty="0"/>
              <a:t>Dễ dàng có đến M = 1 triệu và N=10,000 ngay CSDL tài liệu nhỏ</a:t>
            </a:r>
          </a:p>
          <a:p>
            <a:pPr marL="285750" indent="-285750">
              <a:buFont typeface="Arial" panose="020B0604020202020204" pitchFamily="34" charset="0"/>
              <a:buChar char="•"/>
            </a:pPr>
            <a:r>
              <a:rPr lang="vi-VN" sz="2000" dirty="0"/>
              <a:t>Sau SVD: Sau khi đã giảm thiểu kích thước của ma</a:t>
            </a:r>
            <a:r>
              <a:rPr lang="en-US" sz="2000" dirty="0"/>
              <a:t> </a:t>
            </a:r>
            <a:r>
              <a:rPr lang="vi-VN" sz="2000" dirty="0"/>
              <a:t>trận đơn S, giả sử còn K = 200:</a:t>
            </a:r>
          </a:p>
          <a:p>
            <a:pPr marL="742950" lvl="1" indent="-285750">
              <a:buFont typeface="Courier New" panose="02070309020205020404" pitchFamily="49" charset="0"/>
              <a:buChar char="o"/>
            </a:pPr>
            <a:r>
              <a:rPr lang="vi-VN" sz="2000" dirty="0"/>
              <a:t>Kích thước ma trận T: M x K </a:t>
            </a:r>
            <a:r>
              <a:rPr lang="en-US" sz="2000" dirty="0"/>
              <a:t>=&gt;</a:t>
            </a:r>
            <a:r>
              <a:rPr lang="vi-VN" sz="2000" dirty="0"/>
              <a:t> 1 triệu x 200 = 200 triệu đầu vào</a:t>
            </a:r>
          </a:p>
          <a:p>
            <a:pPr marL="742950" lvl="1" indent="-285750">
              <a:buFont typeface="Courier New" panose="02070309020205020404" pitchFamily="49" charset="0"/>
              <a:buChar char="o"/>
            </a:pPr>
            <a:r>
              <a:rPr lang="vi-VN" sz="2000" dirty="0"/>
              <a:t>Kích thước ma trận đơn S: KxK </a:t>
            </a:r>
            <a:r>
              <a:rPr lang="en-US" sz="2000" dirty="0"/>
              <a:t>=&gt;</a:t>
            </a:r>
            <a:r>
              <a:rPr lang="vi-VN" sz="2000" dirty="0"/>
              <a:t> 200 x 200 = 40,000 đầu vào (chỉ</a:t>
            </a:r>
            <a:r>
              <a:rPr lang="en-US" sz="2000" dirty="0"/>
              <a:t> </a:t>
            </a:r>
            <a:r>
              <a:rPr lang="vi-VN" sz="2000" dirty="0"/>
              <a:t>200 giá trị cần phải lưu trữ; toàn bộ các đầu vào còn lại có giá trị 0)</a:t>
            </a:r>
          </a:p>
          <a:p>
            <a:pPr marL="742950" lvl="1" indent="-285750">
              <a:buFont typeface="Courier New" panose="02070309020205020404" pitchFamily="49" charset="0"/>
              <a:buChar char="o"/>
            </a:pPr>
            <a:r>
              <a:rPr lang="vi-VN" sz="2000" dirty="0"/>
              <a:t>Kích thước ma trận cuối cùng D: K x N </a:t>
            </a:r>
            <a:r>
              <a:rPr lang="en-US" sz="2000" dirty="0"/>
              <a:t>=&gt;</a:t>
            </a:r>
            <a:r>
              <a:rPr lang="vi-VN" sz="2000" dirty="0"/>
              <a:t> 200 x 10,000 = 2 triệu đầu</a:t>
            </a:r>
            <a:r>
              <a:rPr lang="en-US" sz="2000" dirty="0"/>
              <a:t> </a:t>
            </a:r>
            <a:r>
              <a:rPr lang="vi-VN" sz="2000" dirty="0"/>
              <a:t>vào.</a:t>
            </a:r>
          </a:p>
          <a:p>
            <a:pPr marL="742950" lvl="1" indent="-285750">
              <a:buFont typeface="Courier New" panose="02070309020205020404" pitchFamily="49" charset="0"/>
              <a:buChar char="o"/>
            </a:pPr>
            <a:r>
              <a:rPr lang="vi-VN" sz="2000" dirty="0"/>
              <a:t>Vậy tổng số dữ liệu cần lưu trữ là: 202 triệu thay vì</a:t>
            </a:r>
            <a:r>
              <a:rPr lang="en-US" sz="2000" dirty="0"/>
              <a:t> </a:t>
            </a:r>
            <a:r>
              <a:rPr lang="vi-VN" sz="2000" dirty="0"/>
              <a:t>10.000 triệu</a:t>
            </a:r>
            <a:endParaRPr lang="en-US" sz="2000" dirty="0"/>
          </a:p>
        </p:txBody>
      </p:sp>
    </p:spTree>
    <p:extLst>
      <p:ext uri="{BB962C8B-B14F-4D97-AF65-F5344CB8AC3E}">
        <p14:creationId xmlns:p14="http://schemas.microsoft.com/office/powerpoint/2010/main" val="1606251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080DD-74EF-4C8C-B8A7-EBDD82AA4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FEC0B-79AE-2318-C71F-C97F4EA7C336}"/>
              </a:ext>
            </a:extLst>
          </p:cNvPr>
          <p:cNvSpPr>
            <a:spLocks noGrp="1"/>
          </p:cNvSpPr>
          <p:nvPr>
            <p:ph type="title"/>
          </p:nvPr>
        </p:nvSpPr>
        <p:spPr/>
        <p:txBody>
          <a:bodyPr>
            <a:noAutofit/>
          </a:bodyPr>
          <a:lstStyle/>
          <a:p>
            <a:r>
              <a:rPr lang="en-US" sz="2800" dirty="0"/>
              <a:t>LSI</a:t>
            </a:r>
            <a:endParaRPr sz="2800" dirty="0"/>
          </a:p>
        </p:txBody>
      </p:sp>
      <p:sp>
        <p:nvSpPr>
          <p:cNvPr id="4" name="TextBox 3">
            <a:extLst>
              <a:ext uri="{FF2B5EF4-FFF2-40B4-BE49-F238E27FC236}">
                <a16:creationId xmlns:a16="http://schemas.microsoft.com/office/drawing/2014/main" id="{A21CE92B-CFB1-58EA-8E4A-CCBA708D72F4}"/>
              </a:ext>
            </a:extLst>
          </p:cNvPr>
          <p:cNvSpPr txBox="1"/>
          <p:nvPr/>
        </p:nvSpPr>
        <p:spPr>
          <a:xfrm>
            <a:off x="524238" y="1532834"/>
            <a:ext cx="8885682" cy="3046988"/>
          </a:xfrm>
          <a:prstGeom prst="rect">
            <a:avLst/>
          </a:prstGeom>
          <a:noFill/>
        </p:spPr>
        <p:txBody>
          <a:bodyPr wrap="square">
            <a:spAutoFit/>
          </a:bodyPr>
          <a:lstStyle/>
          <a:p>
            <a:pPr marL="285750" indent="-285750">
              <a:buFont typeface="Arial" panose="020B0604020202020204" pitchFamily="34" charset="0"/>
              <a:buChar char="•"/>
            </a:pPr>
            <a:r>
              <a:rPr lang="vi-VN" sz="2400" dirty="0"/>
              <a:t>4 bước của LSI:</a:t>
            </a:r>
          </a:p>
          <a:p>
            <a:pPr marL="742950" lvl="1" indent="-285750">
              <a:buFont typeface="Courier New" panose="02070309020205020404" pitchFamily="49" charset="0"/>
              <a:buChar char="o"/>
            </a:pPr>
            <a:r>
              <a:rPr lang="vi-VN" sz="2400" dirty="0"/>
              <a:t>Tạo ma trận: tính bảng tần suất (frequency table) FreqT</a:t>
            </a:r>
            <a:r>
              <a:rPr lang="en-US" sz="2400" dirty="0"/>
              <a:t> </a:t>
            </a:r>
            <a:r>
              <a:rPr lang="vi-VN" sz="2400" dirty="0"/>
              <a:t>(MxN)</a:t>
            </a:r>
          </a:p>
          <a:p>
            <a:pPr marL="742950" lvl="1" indent="-285750">
              <a:buFont typeface="Courier New" panose="02070309020205020404" pitchFamily="49" charset="0"/>
              <a:buChar char="o"/>
            </a:pPr>
            <a:r>
              <a:rPr lang="vi-VN" sz="2400" dirty="0"/>
              <a:t>Áp dụng SVD để phân rã FreqT thành T, S, D</a:t>
            </a:r>
          </a:p>
          <a:p>
            <a:pPr marL="742950" lvl="1" indent="-285750">
              <a:buFont typeface="Courier New" panose="02070309020205020404" pitchFamily="49" charset="0"/>
              <a:buChar char="o"/>
            </a:pPr>
            <a:r>
              <a:rPr lang="vi-VN" sz="2400" dirty="0"/>
              <a:t>Xác định vector biểu diễn cho mỗi văn bản d (vec(d)): các</a:t>
            </a:r>
            <a:r>
              <a:rPr lang="en-US" sz="2400" dirty="0"/>
              <a:t> </a:t>
            </a:r>
            <a:r>
              <a:rPr lang="vi-VN" sz="2400" dirty="0"/>
              <a:t>phần tử trong FreqT tương ứng với dòng không bị loại bỏ trong</a:t>
            </a:r>
            <a:r>
              <a:rPr lang="en-US" sz="2400" dirty="0"/>
              <a:t> </a:t>
            </a:r>
            <a:r>
              <a:rPr lang="vi-VN" sz="2400" dirty="0"/>
              <a:t>ma trận S</a:t>
            </a:r>
          </a:p>
          <a:p>
            <a:pPr marL="742950" lvl="1" indent="-285750">
              <a:buFont typeface="Courier New" panose="02070309020205020404" pitchFamily="49" charset="0"/>
              <a:buChar char="o"/>
            </a:pPr>
            <a:r>
              <a:rPr lang="vi-VN" sz="2400" dirty="0"/>
              <a:t>Tạo chỉ số: Lưu lại các vec(d) của CSDL (sử dụng cấu trúc</a:t>
            </a:r>
            <a:r>
              <a:rPr lang="en-US" sz="2400" dirty="0"/>
              <a:t> </a:t>
            </a:r>
            <a:r>
              <a:rPr lang="vi-VN" sz="2400" dirty="0"/>
              <a:t>DL đa chiều, vd: R-tree, k-D tree,TV-tree )</a:t>
            </a:r>
            <a:endParaRPr lang="en-US" sz="2400" dirty="0"/>
          </a:p>
        </p:txBody>
      </p:sp>
    </p:spTree>
    <p:extLst>
      <p:ext uri="{BB962C8B-B14F-4D97-AF65-F5344CB8AC3E}">
        <p14:creationId xmlns:p14="http://schemas.microsoft.com/office/powerpoint/2010/main" val="1746210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7B940-9001-C208-B633-E8019BC85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31F9C-AE45-61DA-ACCA-30E84D424B28}"/>
              </a:ext>
            </a:extLst>
          </p:cNvPr>
          <p:cNvSpPr>
            <a:spLocks noGrp="1"/>
          </p:cNvSpPr>
          <p:nvPr>
            <p:ph type="title"/>
          </p:nvPr>
        </p:nvSpPr>
        <p:spPr/>
        <p:txBody>
          <a:bodyPr>
            <a:noAutofit/>
          </a:bodyPr>
          <a:lstStyle/>
          <a:p>
            <a:r>
              <a:rPr lang="en-US" sz="2800" dirty="0"/>
              <a:t>LSI-</a:t>
            </a:r>
            <a:r>
              <a:rPr lang="en-US" sz="2800" dirty="0" err="1"/>
              <a:t>Truy</a:t>
            </a:r>
            <a:r>
              <a:rPr lang="en-US" sz="2800" dirty="0"/>
              <a:t> </a:t>
            </a:r>
            <a:r>
              <a:rPr lang="en-US" sz="2800" dirty="0" err="1"/>
              <a:t>vấn</a:t>
            </a:r>
            <a:endParaRPr sz="28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1ACD4F3-BA31-EDFE-1D4B-00D5839EE851}"/>
                  </a:ext>
                </a:extLst>
              </p:cNvPr>
              <p:cNvSpPr txBox="1"/>
              <p:nvPr/>
            </p:nvSpPr>
            <p:spPr>
              <a:xfrm>
                <a:off x="340614" y="850499"/>
                <a:ext cx="6992874" cy="2236831"/>
              </a:xfrm>
              <a:prstGeom prst="rect">
                <a:avLst/>
              </a:prstGeom>
              <a:noFill/>
            </p:spPr>
            <p:txBody>
              <a:bodyPr wrap="square">
                <a:spAutoFit/>
              </a:bodyPr>
              <a:lstStyle/>
              <a:p>
                <a:pPr marL="285750" indent="-285750">
                  <a:buFont typeface="Arial" panose="020B0604020202020204" pitchFamily="34" charset="0"/>
                  <a:buChar char="•"/>
                </a:pPr>
                <a:r>
                  <a:rPr lang="vi-VN" sz="2400" dirty="0"/>
                  <a:t>Giả sử sau khi loại bỏ các thành phần ít quan</a:t>
                </a:r>
                <a:r>
                  <a:rPr lang="en-US" sz="2400" dirty="0"/>
                  <a:t> </a:t>
                </a:r>
                <a:r>
                  <a:rPr lang="vi-VN" sz="2400" dirty="0"/>
                  <a:t>trọng, SVD cho FreqT được biểu diễn bởi T*,S*, </a:t>
                </a:r>
                <a14:m>
                  <m:oMath xmlns:m="http://schemas.openxmlformats.org/officeDocument/2006/math">
                    <m:sSup>
                      <m:sSupPr>
                        <m:ctrlPr>
                          <a:rPr lang="vi-VN" sz="2400" i="1" dirty="0" smtClean="0">
                            <a:latin typeface="Cambria Math" panose="02040503050406030204" pitchFamily="18" charset="0"/>
                          </a:rPr>
                        </m:ctrlPr>
                      </m:sSupPr>
                      <m:e>
                        <m:r>
                          <a:rPr lang="en-US" sz="2400" b="0" i="1" dirty="0" smtClean="0">
                            <a:latin typeface="Cambria Math" panose="02040503050406030204" pitchFamily="18" charset="0"/>
                          </a:rPr>
                          <m:t>𝐷</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𝑇</m:t>
                        </m:r>
                      </m:sup>
                    </m:sSup>
                  </m:oMath>
                </a14:m>
                <a:endParaRPr lang="vi-VN" sz="2400" dirty="0"/>
              </a:p>
              <a:p>
                <a:pPr marL="285750" indent="-285750">
                  <a:buFont typeface="Arial" panose="020B0604020202020204" pitchFamily="34" charset="0"/>
                  <a:buChar char="•"/>
                </a:pPr>
                <a:r>
                  <a:rPr lang="vi-VN" sz="2400" dirty="0"/>
                  <a:t>Sự tương tự giữa 2 văn bản di, dj trong CSDL:</a:t>
                </a:r>
                <a:endParaRPr lang="en-US" sz="2400" dirty="0"/>
              </a:p>
              <a:p>
                <a:pPr/>
                <a14:m>
                  <m:oMathPara xmlns:m="http://schemas.openxmlformats.org/officeDocument/2006/math">
                    <m:oMathParaPr>
                      <m:jc m:val="centerGroup"/>
                    </m:oMathParaPr>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𝑧</m:t>
                          </m:r>
                          <m:r>
                            <a:rPr lang="en-US" sz="2400" b="0" i="1" smtClean="0">
                              <a:latin typeface="Cambria Math" panose="02040503050406030204" pitchFamily="18" charset="0"/>
                            </a:rPr>
                            <m:t>=1</m:t>
                          </m:r>
                        </m:sub>
                        <m:sup>
                          <m:r>
                            <a:rPr lang="en-US" sz="2400" b="0" i="1" smtClean="0">
                              <a:latin typeface="Cambria Math" panose="02040503050406030204" pitchFamily="18" charset="0"/>
                            </a:rPr>
                            <m:t>𝐾</m:t>
                          </m:r>
                        </m:sup>
                        <m:e>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𝐷</m:t>
                              </m:r>
                            </m:e>
                            <m:sup>
                              <m:r>
                                <a:rPr lang="en-US" sz="2400" b="0" i="1" smtClean="0">
                                  <a:latin typeface="Cambria Math" panose="02040503050406030204" pitchFamily="18" charset="0"/>
                                </a:rPr>
                                <m:t>∗</m:t>
                              </m:r>
                              <m:r>
                                <a:rPr lang="en-US" sz="2400" b="0" i="1" smtClean="0">
                                  <a:latin typeface="Cambria Math" panose="02040503050406030204" pitchFamily="18" charset="0"/>
                                </a:rPr>
                                <m:t>𝑡</m:t>
                              </m:r>
                            </m:sup>
                          </m:sSup>
                        </m:e>
                      </m:nary>
                      <m:d>
                        <m:dPr>
                          <m:begChr m:val="["/>
                          <m:endChr m:val="]"/>
                          <m:ctrlPr>
                            <a:rPr lang="en-US" sz="2400" b="0" i="1" smtClean="0">
                              <a:latin typeface="Cambria Math" panose="02040503050406030204" pitchFamily="18" charset="0"/>
                            </a:rPr>
                          </m:ctrlPr>
                        </m:dPr>
                        <m:e>
                          <m:r>
                            <m:rPr>
                              <m:sty m:val="p"/>
                            </m:rPr>
                            <a:rPr lang="en-US" sz="2400" b="0" i="0" smtClean="0">
                              <a:latin typeface="Cambria Math" panose="02040503050406030204" pitchFamily="18" charset="0"/>
                            </a:rPr>
                            <m:t>i</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z</m:t>
                          </m:r>
                        </m:e>
                      </m:d>
                      <m:r>
                        <a:rPr lang="en-US" sz="2400" b="0" i="0" smtClean="0">
                          <a:latin typeface="Cambria Math" panose="02040503050406030204" pitchFamily="18" charset="0"/>
                        </a:rPr>
                        <m:t> </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𝐷</m:t>
                          </m:r>
                        </m:e>
                        <m:sup>
                          <m:r>
                            <a:rPr lang="en-US" sz="2400" b="0" i="1" smtClean="0">
                              <a:latin typeface="Cambria Math" panose="02040503050406030204" pitchFamily="18" charset="0"/>
                            </a:rPr>
                            <m:t>∗</m:t>
                          </m:r>
                          <m:r>
                            <a:rPr lang="en-US" sz="2400" b="0" i="1" smtClean="0">
                              <a:latin typeface="Cambria Math" panose="02040503050406030204" pitchFamily="18" charset="0"/>
                            </a:rPr>
                            <m:t>𝑇</m:t>
                          </m:r>
                        </m:sup>
                      </m:sSup>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m:t>
                      </m:r>
                      <m:r>
                        <a:rPr lang="en-US" sz="2400" b="0" i="1" smtClean="0">
                          <a:latin typeface="Cambria Math" panose="02040503050406030204" pitchFamily="18" charset="0"/>
                        </a:rPr>
                        <m:t>𝑧</m:t>
                      </m:r>
                      <m:r>
                        <a:rPr lang="en-US" sz="2400" b="0" i="1" smtClean="0">
                          <a:latin typeface="Cambria Math" panose="02040503050406030204" pitchFamily="18" charset="0"/>
                        </a:rPr>
                        <m:t>]</m:t>
                      </m:r>
                    </m:oMath>
                  </m:oMathPara>
                </a14:m>
                <a:endParaRPr lang="en-US" sz="2400" dirty="0"/>
              </a:p>
            </p:txBody>
          </p:sp>
        </mc:Choice>
        <mc:Fallback xmlns="">
          <p:sp>
            <p:nvSpPr>
              <p:cNvPr id="5" name="TextBox 4">
                <a:extLst>
                  <a:ext uri="{FF2B5EF4-FFF2-40B4-BE49-F238E27FC236}">
                    <a16:creationId xmlns:a16="http://schemas.microsoft.com/office/drawing/2014/main" id="{C1ACD4F3-BA31-EDFE-1D4B-00D5839EE851}"/>
                  </a:ext>
                </a:extLst>
              </p:cNvPr>
              <p:cNvSpPr txBox="1">
                <a:spLocks noRot="1" noChangeAspect="1" noMove="1" noResize="1" noEditPoints="1" noAdjustHandles="1" noChangeArrowheads="1" noChangeShapeType="1" noTextEdit="1"/>
              </p:cNvSpPr>
              <p:nvPr/>
            </p:nvSpPr>
            <p:spPr>
              <a:xfrm>
                <a:off x="340614" y="850499"/>
                <a:ext cx="6992874" cy="2236831"/>
              </a:xfrm>
              <a:prstGeom prst="rect">
                <a:avLst/>
              </a:prstGeom>
              <a:blipFill>
                <a:blip r:embed="rId2"/>
                <a:stretch>
                  <a:fillRect l="-1221" t="-21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94292AB-9AC0-FBA3-6826-2BD5BDDA3FA7}"/>
                  </a:ext>
                </a:extLst>
              </p:cNvPr>
              <p:cNvSpPr txBox="1"/>
              <p:nvPr/>
            </p:nvSpPr>
            <p:spPr>
              <a:xfrm>
                <a:off x="340614" y="3171736"/>
                <a:ext cx="6782562" cy="3311163"/>
              </a:xfrm>
              <a:prstGeom prst="rect">
                <a:avLst/>
              </a:prstGeom>
              <a:noFill/>
            </p:spPr>
            <p:txBody>
              <a:bodyPr wrap="square">
                <a:spAutoFit/>
              </a:bodyPr>
              <a:lstStyle/>
              <a:p>
                <a:pPr marL="285750" indent="-285750">
                  <a:buFont typeface="Arial" panose="020B0604020202020204" pitchFamily="34" charset="0"/>
                  <a:buChar char="•"/>
                </a:pPr>
                <a:r>
                  <a:rPr lang="vi-VN" sz="2000" dirty="0"/>
                  <a:t>Tìm kiếm p văn bản phù hợp đầu tiên cho truy vấn Q:</a:t>
                </a:r>
              </a:p>
              <a:p>
                <a:pPr marL="742950" lvl="1" indent="-285750">
                  <a:buFont typeface="Courier New" panose="02070309020205020404" pitchFamily="49" charset="0"/>
                  <a:buChar char="o"/>
                </a:pPr>
                <a:r>
                  <a:rPr lang="vi-VN" sz="2000" dirty="0"/>
                  <a:t>Coi Q như 1 tài liệu để tính vector biểu diễn cho Q</a:t>
                </a:r>
                <a:r>
                  <a:rPr lang="en-US" sz="2000" dirty="0"/>
                  <a:t> </a:t>
                </a:r>
                <a:r>
                  <a:rPr lang="vi-VN" sz="2000" dirty="0"/>
                  <a:t>vecQ</a:t>
                </a:r>
              </a:p>
              <a:p>
                <a:pPr marL="742950" lvl="1" indent="-285750">
                  <a:buFont typeface="Courier New" panose="02070309020205020404" pitchFamily="49" charset="0"/>
                  <a:buChar char="o"/>
                </a:pPr>
                <a:r>
                  <a:rPr lang="vi-VN" sz="2000" dirty="0"/>
                  <a:t>Điểm khác biệt: chỉ xét K khái niệm chứ không phải M</a:t>
                </a:r>
              </a:p>
              <a:p>
                <a:pPr marL="285750" indent="-285750">
                  <a:buFont typeface="Arial" panose="020B0604020202020204" pitchFamily="34" charset="0"/>
                  <a:buChar char="•"/>
                </a:pPr>
                <a:r>
                  <a:rPr lang="vi-VN" sz="2000" dirty="0"/>
                  <a:t>p tài liệu </a:t>
                </a:r>
                <a14:m>
                  <m:oMath xmlns:m="http://schemas.openxmlformats.org/officeDocument/2006/math">
                    <m:sSub>
                      <m:sSubPr>
                        <m:ctrlPr>
                          <a:rPr lang="vi-VN" sz="2000" i="1" smtClean="0">
                            <a:latin typeface="Cambria Math" panose="02040503050406030204" pitchFamily="18" charset="0"/>
                          </a:rPr>
                        </m:ctrlPr>
                      </m:sSubPr>
                      <m:e>
                        <m:r>
                          <a:rPr lang="en-US" sz="2000" b="0" i="1" smtClean="0">
                            <a:latin typeface="Cambria Math" panose="02040503050406030204" pitchFamily="18" charset="0"/>
                          </a:rPr>
                          <m:t>𝑑</m:t>
                        </m:r>
                      </m:e>
                      <m:sub>
                        <m:r>
                          <a:rPr lang="vi-VN" sz="2000" i="1">
                            <a:latin typeface="Cambria Math" panose="02040503050406030204" pitchFamily="18" charset="0"/>
                            <a:ea typeface="Cambria Math" panose="02040503050406030204" pitchFamily="18" charset="0"/>
                          </a:rPr>
                          <m:t>𝛼</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e>
                        </m:d>
                      </m:sub>
                    </m:sSub>
                    <m:r>
                      <a:rPr lang="en-US" sz="2000" b="0" i="1" smtClean="0">
                        <a:latin typeface="Cambria Math" panose="02040503050406030204" pitchFamily="18" charset="0"/>
                      </a:rPr>
                      <m:t>,…,</m:t>
                    </m:r>
                    <m:sSub>
                      <m:sSubPr>
                        <m:ctrlPr>
                          <a:rPr lang="vi-VN" sz="2000" i="1">
                            <a:latin typeface="Cambria Math" panose="02040503050406030204" pitchFamily="18" charset="0"/>
                          </a:rPr>
                        </m:ctrlPr>
                      </m:sSubPr>
                      <m:e>
                        <m:r>
                          <a:rPr lang="en-US" sz="2000" i="1">
                            <a:latin typeface="Cambria Math" panose="02040503050406030204" pitchFamily="18" charset="0"/>
                          </a:rPr>
                          <m:t>𝑑</m:t>
                        </m:r>
                      </m:e>
                      <m:sub>
                        <m:r>
                          <a:rPr lang="vi-VN" sz="2000" i="1">
                            <a:latin typeface="Cambria Math" panose="02040503050406030204" pitchFamily="18" charset="0"/>
                            <a:ea typeface="Cambria Math" panose="02040503050406030204" pitchFamily="18" charset="0"/>
                          </a:rPr>
                          <m:t>𝛼</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sub>
                    </m:sSub>
                  </m:oMath>
                </a14:m>
                <a:r>
                  <a:rPr lang="vi-VN" sz="2000" dirty="0"/>
                  <a:t>phù hợp nhất với Q:</a:t>
                </a:r>
                <a:endParaRPr lang="en-US" sz="2000" dirty="0"/>
              </a:p>
              <a:p>
                <a:pPr lvl="3"/>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oMath>
                  </m:oMathPara>
                </a14:m>
                <a:endParaRPr lang="en-US" sz="2000" b="0" i="1" dirty="0">
                  <a:latin typeface="Cambria Math" panose="02040503050406030204" pitchFamily="18" charset="0"/>
                  <a:ea typeface="Cambria Math" panose="02040503050406030204" pitchFamily="18" charset="0"/>
                </a:endParaRPr>
              </a:p>
              <a:p>
                <a:pPr lvl="3"/>
                <a14:m>
                  <m:oMath xmlns:m="http://schemas.openxmlformats.org/officeDocument/2006/math">
                    <m:r>
                      <a:rPr lang="en-US" sz="2000" b="0" i="1" smtClean="0">
                        <a:latin typeface="Cambria Math" panose="02040503050406030204" pitchFamily="18" charset="0"/>
                      </a:rPr>
                      <m:t>𝑠𝑖𝑚𝑖𝑙𝑎𝑟𝑖𝑡𝑦</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𝑣𝑒𝑐</m:t>
                            </m:r>
                          </m:e>
                          <m:sub>
                            <m:r>
                              <a:rPr lang="en-US" sz="2000" b="0" i="1" smtClean="0">
                                <a:latin typeface="Cambria Math" panose="02040503050406030204" pitchFamily="18" charset="0"/>
                              </a:rPr>
                              <m:t>𝑄</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ea typeface="Cambria Math" panose="02040503050406030204" pitchFamily="18" charset="0"/>
                              </a:rPr>
                              <m:t>𝛼</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𝑖</m:t>
                                </m:r>
                              </m:e>
                            </m:d>
                          </m:sub>
                        </m:sSub>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𝑠𝑖𝑚𝑖𝑙𝑎𝑟𝑖𝑡𝑦</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𝑣𝑒𝑐</m:t>
                            </m:r>
                          </m:e>
                          <m:sub>
                            <m:r>
                              <a:rPr lang="en-US" sz="2000" i="1">
                                <a:latin typeface="Cambria Math" panose="02040503050406030204" pitchFamily="18" charset="0"/>
                              </a:rPr>
                              <m:t>𝑄</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𝐷</m:t>
                            </m:r>
                          </m:e>
                          <m:sub>
                            <m:r>
                              <a:rPr lang="en-US" sz="2000" i="1">
                                <a:latin typeface="Cambria Math" panose="02040503050406030204" pitchFamily="18" charset="0"/>
                                <a:ea typeface="Cambria Math" panose="02040503050406030204" pitchFamily="18" charset="0"/>
                              </a:rPr>
                              <m:t>𝛼</m:t>
                            </m:r>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𝑗</m:t>
                                </m:r>
                              </m:e>
                            </m:d>
                          </m:sub>
                        </m:sSub>
                      </m:e>
                    </m:d>
                  </m:oMath>
                </a14:m>
                <a:endParaRPr lang="en-US" sz="2000" dirty="0"/>
              </a:p>
              <a:p>
                <a:pPr lvl="3"/>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𝛼</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e>
                          </m: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𝛼</m:t>
                          </m:r>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m:t>
                              </m:r>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𝛼</m:t>
                          </m:r>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𝑝</m:t>
                              </m:r>
                            </m:e>
                          </m:d>
                        </m:e>
                      </m:d>
                    </m:oMath>
                  </m:oMathPara>
                </a14:m>
                <a:endParaRPr lang="en-US" sz="2000" b="0" dirty="0">
                  <a:ea typeface="Cambria Math" panose="02040503050406030204" pitchFamily="18" charset="0"/>
                </a:endParaRPr>
              </a:p>
              <a:p>
                <a:pPr lvl="3"/>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𝑠𝑖𝑚𝑖𝑙𝑎𝑟𝑖𝑡𝑦</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𝑣𝑒𝑐</m:t>
                              </m:r>
                            </m:e>
                            <m:sub>
                              <m:r>
                                <a:rPr lang="en-US" sz="2000" i="1">
                                  <a:latin typeface="Cambria Math" panose="02040503050406030204" pitchFamily="18" charset="0"/>
                                </a:rPr>
                                <m:t>𝑄</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𝑑</m:t>
                              </m:r>
                            </m:e>
                            <m:sub>
                              <m:r>
                                <a:rPr lang="en-US" sz="2000" b="0" i="1" smtClean="0">
                                  <a:latin typeface="Cambria Math" panose="02040503050406030204" pitchFamily="18" charset="0"/>
                                </a:rPr>
                                <m:t>𝑧</m:t>
                              </m:r>
                            </m:sub>
                          </m:sSub>
                        </m:e>
                      </m:d>
                      <m:r>
                        <a:rPr lang="en-US" sz="2000" b="0" i="1" smtClean="0">
                          <a:latin typeface="Cambria Math" panose="02040503050406030204" pitchFamily="18" charset="0"/>
                          <a:ea typeface="Cambria Math" panose="02040503050406030204" pitchFamily="18" charset="0"/>
                        </a:rPr>
                        <m:t>&gt;</m:t>
                      </m:r>
                      <m:r>
                        <a:rPr lang="en-US" sz="2000" i="1">
                          <a:latin typeface="Cambria Math" panose="02040503050406030204" pitchFamily="18" charset="0"/>
                        </a:rPr>
                        <m:t>𝑠𝑖𝑚𝑖𝑙𝑎𝑟𝑖𝑡𝑦</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𝑣𝑒𝑐</m:t>
                              </m:r>
                            </m:e>
                            <m:sub>
                              <m:r>
                                <a:rPr lang="en-US" sz="2000" i="1">
                                  <a:latin typeface="Cambria Math" panose="02040503050406030204" pitchFamily="18" charset="0"/>
                                </a:rPr>
                                <m:t>𝑄</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𝑑</m:t>
                              </m:r>
                            </m:e>
                            <m:sub>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m:t>
                              </m:r>
                            </m:sub>
                          </m:sSub>
                        </m:e>
                      </m:d>
                    </m:oMath>
                  </m:oMathPara>
                </a14:m>
                <a:endParaRPr lang="en-US" sz="2000" dirty="0"/>
              </a:p>
              <a:p>
                <a:pPr lvl="1"/>
                <a:endParaRPr lang="en-US" sz="2000" dirty="0"/>
              </a:p>
            </p:txBody>
          </p:sp>
        </mc:Choice>
        <mc:Fallback xmlns="">
          <p:sp>
            <p:nvSpPr>
              <p:cNvPr id="7" name="TextBox 6">
                <a:extLst>
                  <a:ext uri="{FF2B5EF4-FFF2-40B4-BE49-F238E27FC236}">
                    <a16:creationId xmlns:a16="http://schemas.microsoft.com/office/drawing/2014/main" id="{794292AB-9AC0-FBA3-6826-2BD5BDDA3FA7}"/>
                  </a:ext>
                </a:extLst>
              </p:cNvPr>
              <p:cNvSpPr txBox="1">
                <a:spLocks noRot="1" noChangeAspect="1" noMove="1" noResize="1" noEditPoints="1" noAdjustHandles="1" noChangeArrowheads="1" noChangeShapeType="1" noTextEdit="1"/>
              </p:cNvSpPr>
              <p:nvPr/>
            </p:nvSpPr>
            <p:spPr>
              <a:xfrm>
                <a:off x="340614" y="3171736"/>
                <a:ext cx="6782562" cy="3311163"/>
              </a:xfrm>
              <a:prstGeom prst="rect">
                <a:avLst/>
              </a:prstGeom>
              <a:blipFill>
                <a:blip r:embed="rId3"/>
                <a:stretch>
                  <a:fillRect l="-809" t="-921"/>
                </a:stretch>
              </a:blipFill>
            </p:spPr>
            <p:txBody>
              <a:bodyPr/>
              <a:lstStyle/>
              <a:p>
                <a:r>
                  <a:rPr lang="en-US">
                    <a:noFill/>
                  </a:rPr>
                  <a:t> </a:t>
                </a:r>
              </a:p>
            </p:txBody>
          </p:sp>
        </mc:Fallback>
      </mc:AlternateContent>
    </p:spTree>
    <p:extLst>
      <p:ext uri="{BB962C8B-B14F-4D97-AF65-F5344CB8AC3E}">
        <p14:creationId xmlns:p14="http://schemas.microsoft.com/office/powerpoint/2010/main" val="12614572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CAEC3-825E-0ADF-9F71-718C7451C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D44D2-A96A-FC39-CF42-92744C6051D4}"/>
              </a:ext>
            </a:extLst>
          </p:cNvPr>
          <p:cNvSpPr>
            <a:spLocks noGrp="1"/>
          </p:cNvSpPr>
          <p:nvPr>
            <p:ph type="title"/>
          </p:nvPr>
        </p:nvSpPr>
        <p:spPr/>
        <p:txBody>
          <a:bodyPr>
            <a:noAutofit/>
          </a:bodyPr>
          <a:lstStyle/>
          <a:p>
            <a:r>
              <a:rPr lang="en-US" sz="2800" dirty="0"/>
              <a:t>LSI-</a:t>
            </a:r>
            <a:r>
              <a:rPr lang="en-US" sz="2800" dirty="0" err="1"/>
              <a:t>Truy</a:t>
            </a:r>
            <a:r>
              <a:rPr lang="en-US" sz="2800" dirty="0"/>
              <a:t> </a:t>
            </a:r>
            <a:r>
              <a:rPr lang="en-US" sz="2800" dirty="0" err="1"/>
              <a:t>vấn</a:t>
            </a:r>
            <a:endParaRPr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F9B3499-7EB7-0888-5163-67BBB7E75DE5}"/>
                  </a:ext>
                </a:extLst>
              </p:cNvPr>
              <p:cNvSpPr txBox="1"/>
              <p:nvPr/>
            </p:nvSpPr>
            <p:spPr>
              <a:xfrm>
                <a:off x="377190" y="1672120"/>
                <a:ext cx="7431786" cy="2064924"/>
              </a:xfrm>
              <a:prstGeom prst="rect">
                <a:avLst/>
              </a:prstGeom>
              <a:noFill/>
            </p:spPr>
            <p:txBody>
              <a:bodyPr wrap="square">
                <a:spAutoFit/>
              </a:bodyPr>
              <a:lstStyle/>
              <a:p>
                <a:r>
                  <a:rPr lang="vi-VN" sz="2400" dirty="0"/>
                  <a:t>Xác định vector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𝑣𝑒𝑐</m:t>
                        </m:r>
                      </m:e>
                      <m:sub>
                        <m:r>
                          <a:rPr lang="en-US" sz="2400" b="0" i="1" smtClean="0">
                            <a:latin typeface="Cambria Math" panose="02040503050406030204" pitchFamily="18" charset="0"/>
                          </a:rPr>
                          <m:t>𝑄</m:t>
                        </m:r>
                      </m:sub>
                    </m:sSub>
                  </m:oMath>
                </a14:m>
                <a:r>
                  <a:rPr lang="vi-VN" sz="2400" dirty="0"/>
                  <a:t> biểu diễn cho Q từ T*, S*, </a:t>
                </a:r>
                <a14:m>
                  <m:oMath xmlns:m="http://schemas.openxmlformats.org/officeDocument/2006/math">
                    <m:sSup>
                      <m:sSupPr>
                        <m:ctrlPr>
                          <a:rPr lang="vi-VN" sz="2400" i="1" smtClean="0">
                            <a:latin typeface="Cambria Math" panose="02040503050406030204" pitchFamily="18" charset="0"/>
                          </a:rPr>
                        </m:ctrlPr>
                      </m:sSupPr>
                      <m:e>
                        <m:r>
                          <a:rPr lang="en-US" sz="2400" b="0" i="1" smtClean="0">
                            <a:latin typeface="Cambria Math" panose="02040503050406030204" pitchFamily="18" charset="0"/>
                          </a:rPr>
                          <m:t>𝐷</m:t>
                        </m:r>
                      </m:e>
                      <m:sup>
                        <m:r>
                          <a:rPr lang="en-US" sz="2400" b="0" i="1" smtClean="0">
                            <a:latin typeface="Cambria Math" panose="02040503050406030204" pitchFamily="18" charset="0"/>
                          </a:rPr>
                          <m:t>∗</m:t>
                        </m:r>
                        <m:r>
                          <a:rPr lang="en-US" sz="2400" b="0" i="1" smtClean="0">
                            <a:latin typeface="Cambria Math" panose="02040503050406030204" pitchFamily="18" charset="0"/>
                          </a:rPr>
                          <m:t>𝑇</m:t>
                        </m:r>
                      </m:sup>
                    </m:sSup>
                  </m:oMath>
                </a14:m>
                <a:r>
                  <a:rPr lang="vi-VN" sz="2400" dirty="0"/>
                  <a:t>:</a:t>
                </a:r>
              </a:p>
              <a:p>
                <a:r>
                  <a:rPr lang="vi-VN" sz="2400" dirty="0"/>
                  <a:t>Vector tần số cho truy vấn Q trên M từ: </a:t>
                </a:r>
                <a14:m>
                  <m:oMath xmlns:m="http://schemas.openxmlformats.org/officeDocument/2006/math">
                    <m:sSub>
                      <m:sSubPr>
                        <m:ctrlPr>
                          <a:rPr lang="vi-VN" sz="2400" i="1" dirty="0" smtClean="0">
                            <a:latin typeface="Cambria Math" panose="02040503050406030204" pitchFamily="18" charset="0"/>
                          </a:rPr>
                        </m:ctrlPr>
                      </m:sSubPr>
                      <m:e>
                        <m:r>
                          <a:rPr lang="en-US" sz="2400" b="0" i="1" dirty="0" smtClean="0">
                            <a:latin typeface="Cambria Math" panose="02040503050406030204" pitchFamily="18" charset="0"/>
                          </a:rPr>
                          <m:t>𝑓</m:t>
                        </m:r>
                      </m:e>
                      <m:sub>
                        <m:r>
                          <a:rPr lang="en-US" sz="2400" b="0" i="1" dirty="0" smtClean="0">
                            <a:latin typeface="Cambria Math" panose="02040503050406030204" pitchFamily="18" charset="0"/>
                          </a:rPr>
                          <m:t>𝑄</m:t>
                        </m:r>
                      </m:sub>
                    </m:sSub>
                    <m:r>
                      <a:rPr lang="en-US" sz="2400" b="0" i="1" dirty="0" smtClean="0">
                        <a:latin typeface="Cambria Math" panose="02040503050406030204" pitchFamily="18" charset="0"/>
                      </a:rPr>
                      <m:t>:</m:t>
                    </m:r>
                    <m:r>
                      <a:rPr lang="en-US" sz="2400" b="0" i="1" dirty="0" smtClean="0">
                        <a:latin typeface="Cambria Math" panose="02040503050406030204" pitchFamily="18" charset="0"/>
                      </a:rPr>
                      <m:t>𝑀𝑥</m:t>
                    </m:r>
                    <m:r>
                      <a:rPr lang="en-US" sz="2400" b="0" i="1" dirty="0" smtClean="0">
                        <a:latin typeface="Cambria Math" panose="02040503050406030204" pitchFamily="18" charset="0"/>
                      </a:rPr>
                      <m:t>1</m:t>
                    </m:r>
                  </m:oMath>
                </a14:m>
                <a:endParaRPr lang="en-US" sz="2400" dirty="0"/>
              </a:p>
              <a:p>
                <a:pPr/>
                <a14:m>
                  <m:oMathPara xmlns:m="http://schemas.openxmlformats.org/officeDocument/2006/math">
                    <m:oMathParaPr>
                      <m:jc m:val="centerGroup"/>
                    </m:oMathParaPr>
                    <m:oMath xmlns:m="http://schemas.openxmlformats.org/officeDocument/2006/math">
                      <m:sSup>
                        <m:sSupPr>
                          <m:ctrlPr>
                            <a:rPr lang="vi-VN"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𝑣𝑒𝑐</m:t>
                              </m:r>
                            </m:e>
                            <m:sub>
                              <m:r>
                                <a:rPr lang="en-US" sz="2400" i="1">
                                  <a:latin typeface="Cambria Math" panose="02040503050406030204" pitchFamily="18" charset="0"/>
                                </a:rPr>
                                <m:t>𝑄</m:t>
                              </m:r>
                            </m:sub>
                          </m:sSub>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𝑓</m:t>
                              </m:r>
                            </m:e>
                            <m:sub>
                              <m:r>
                                <a:rPr lang="en-US" sz="2400" b="0" i="1" smtClean="0">
                                  <a:latin typeface="Cambria Math" panose="02040503050406030204" pitchFamily="18" charset="0"/>
                                </a:rPr>
                                <m:t>𝑄</m:t>
                              </m:r>
                            </m:sub>
                            <m:sup>
                              <m:r>
                                <a:rPr lang="en-US" sz="2400" b="0" i="1" smtClean="0">
                                  <a:latin typeface="Cambria Math" panose="02040503050406030204" pitchFamily="18" charset="0"/>
                                </a:rPr>
                                <m:t>𝑇</m:t>
                              </m:r>
                            </m:sup>
                          </m:sSubSup>
                          <m:r>
                            <a:rPr lang="en-US" sz="2400" b="0" i="1" smtClean="0">
                              <a:latin typeface="Cambria Math" panose="02040503050406030204" pitchFamily="18" charset="0"/>
                            </a:rPr>
                            <m:t>𝑇</m:t>
                          </m:r>
                        </m:e>
                        <m:sup>
                          <m:r>
                            <a:rPr lang="en-US" sz="2400" i="1">
                              <a:latin typeface="Cambria Math" panose="02040503050406030204" pitchFamily="18" charset="0"/>
                            </a:rPr>
                            <m:t>∗</m:t>
                          </m:r>
                        </m:sup>
                      </m:sSup>
                      <m:r>
                        <a:rPr lang="en-US" sz="2400" b="0" i="1" smtClean="0">
                          <a:latin typeface="Cambria Math" panose="02040503050406030204" pitchFamily="18" charset="0"/>
                        </a:rPr>
                        <m:t>𝑥</m:t>
                      </m:r>
                      <m:sSup>
                        <m:sSupPr>
                          <m:ctrlPr>
                            <a:rPr lang="vi-VN" sz="2400" i="1">
                              <a:latin typeface="Cambria Math" panose="02040503050406030204" pitchFamily="18" charset="0"/>
                            </a:rPr>
                          </m:ctrlPr>
                        </m:sSupPr>
                        <m:e>
                          <m:r>
                            <a:rPr lang="en-US" sz="2400" b="0" i="1" smtClean="0">
                              <a:latin typeface="Cambria Math" panose="02040503050406030204" pitchFamily="18" charset="0"/>
                            </a:rPr>
                            <m:t>𝑆</m:t>
                          </m:r>
                        </m:e>
                        <m:sup>
                          <m:r>
                            <a:rPr lang="en-US" sz="2400" b="0" i="1" smtClean="0">
                              <a:latin typeface="Cambria Math" panose="02040503050406030204" pitchFamily="18" charset="0"/>
                            </a:rPr>
                            <m:t>∗−1</m:t>
                          </m:r>
                        </m:sup>
                      </m:sSup>
                    </m:oMath>
                  </m:oMathPara>
                </a14:m>
                <a:endParaRPr lang="vi-VN" sz="2400" dirty="0"/>
              </a:p>
              <a:p>
                <a:r>
                  <a:rPr lang="vi-VN" sz="2400" dirty="0"/>
                  <a:t>Xác định độ tương tự giữa vector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𝑣𝑒𝑐</m:t>
                        </m:r>
                      </m:e>
                      <m:sub>
                        <m:r>
                          <a:rPr lang="en-US" sz="2400" i="1">
                            <a:latin typeface="Cambria Math" panose="02040503050406030204" pitchFamily="18" charset="0"/>
                          </a:rPr>
                          <m:t>𝑄</m:t>
                        </m:r>
                      </m:sub>
                    </m:sSub>
                  </m:oMath>
                </a14:m>
                <a:r>
                  <a:rPr lang="vi-VN" sz="2400" dirty="0"/>
                  <a:t> và các vector</a:t>
                </a:r>
              </a:p>
              <a:p>
                <a:r>
                  <a:rPr lang="vi-VN" sz="2400" dirty="0"/>
                  <a:t>tương ứng với các cột trong </a:t>
                </a:r>
                <a14:m>
                  <m:oMath xmlns:m="http://schemas.openxmlformats.org/officeDocument/2006/math">
                    <m:sSup>
                      <m:sSupPr>
                        <m:ctrlPr>
                          <a:rPr lang="vi-VN" sz="2400" i="1">
                            <a:latin typeface="Cambria Math" panose="02040503050406030204" pitchFamily="18" charset="0"/>
                          </a:rPr>
                        </m:ctrlPr>
                      </m:sSupPr>
                      <m:e>
                        <m:r>
                          <a:rPr lang="en-US" sz="2400" i="1">
                            <a:latin typeface="Cambria Math" panose="02040503050406030204" pitchFamily="18" charset="0"/>
                          </a:rPr>
                          <m:t>𝐷</m:t>
                        </m:r>
                      </m:e>
                      <m:sup>
                        <m:r>
                          <a:rPr lang="en-US" sz="2400" i="1">
                            <a:latin typeface="Cambria Math" panose="02040503050406030204" pitchFamily="18" charset="0"/>
                          </a:rPr>
                          <m:t>∗</m:t>
                        </m:r>
                        <m:r>
                          <a:rPr lang="en-US" sz="2400" i="1">
                            <a:latin typeface="Cambria Math" panose="02040503050406030204" pitchFamily="18" charset="0"/>
                          </a:rPr>
                          <m:t>𝑇</m:t>
                        </m:r>
                      </m:sup>
                    </m:sSup>
                  </m:oMath>
                </a14:m>
                <a:r>
                  <a:rPr lang="en-US" sz="2400" dirty="0"/>
                  <a:t>.</a:t>
                </a:r>
              </a:p>
            </p:txBody>
          </p:sp>
        </mc:Choice>
        <mc:Fallback xmlns="">
          <p:sp>
            <p:nvSpPr>
              <p:cNvPr id="4" name="TextBox 3">
                <a:extLst>
                  <a:ext uri="{FF2B5EF4-FFF2-40B4-BE49-F238E27FC236}">
                    <a16:creationId xmlns:a16="http://schemas.microsoft.com/office/drawing/2014/main" id="{EF9B3499-7EB7-0888-5163-67BBB7E75DE5}"/>
                  </a:ext>
                </a:extLst>
              </p:cNvPr>
              <p:cNvSpPr txBox="1">
                <a:spLocks noRot="1" noChangeAspect="1" noMove="1" noResize="1" noEditPoints="1" noAdjustHandles="1" noChangeArrowheads="1" noChangeShapeType="1" noTextEdit="1"/>
              </p:cNvSpPr>
              <p:nvPr/>
            </p:nvSpPr>
            <p:spPr>
              <a:xfrm>
                <a:off x="377190" y="1672120"/>
                <a:ext cx="7431786" cy="2064924"/>
              </a:xfrm>
              <a:prstGeom prst="rect">
                <a:avLst/>
              </a:prstGeom>
              <a:blipFill>
                <a:blip r:embed="rId2"/>
                <a:stretch>
                  <a:fillRect l="-1313" t="-2360" b="-5900"/>
                </a:stretch>
              </a:blipFill>
            </p:spPr>
            <p:txBody>
              <a:bodyPr/>
              <a:lstStyle/>
              <a:p>
                <a:r>
                  <a:rPr lang="en-US">
                    <a:noFill/>
                  </a:rPr>
                  <a:t> </a:t>
                </a:r>
              </a:p>
            </p:txBody>
          </p:sp>
        </mc:Fallback>
      </mc:AlternateContent>
    </p:spTree>
    <p:extLst>
      <p:ext uri="{BB962C8B-B14F-4D97-AF65-F5344CB8AC3E}">
        <p14:creationId xmlns:p14="http://schemas.microsoft.com/office/powerpoint/2010/main" val="24231660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A9ED7-71D0-6E77-A5D3-00FC877F1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8D3FD-F5D6-79F4-22DF-3BDD5B40E1BA}"/>
              </a:ext>
            </a:extLst>
          </p:cNvPr>
          <p:cNvSpPr>
            <a:spLocks noGrp="1"/>
          </p:cNvSpPr>
          <p:nvPr>
            <p:ph type="title"/>
          </p:nvPr>
        </p:nvSpPr>
        <p:spPr/>
        <p:txBody>
          <a:bodyPr>
            <a:noAutofit/>
          </a:bodyPr>
          <a:lstStyle/>
          <a:p>
            <a:r>
              <a:rPr lang="en-US" sz="2800" dirty="0"/>
              <a:t>Probabilistic Model</a:t>
            </a:r>
            <a:endParaRPr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61D9F93-7BF8-DBEC-A187-247DB02ABBC1}"/>
                  </a:ext>
                </a:extLst>
              </p:cNvPr>
              <p:cNvSpPr txBox="1"/>
              <p:nvPr/>
            </p:nvSpPr>
            <p:spPr>
              <a:xfrm>
                <a:off x="524238" y="1153359"/>
                <a:ext cx="9068562" cy="3106491"/>
              </a:xfrm>
              <a:prstGeom prst="rect">
                <a:avLst/>
              </a:prstGeom>
              <a:noFill/>
            </p:spPr>
            <p:txBody>
              <a:bodyPr wrap="square">
                <a:spAutoFit/>
              </a:bodyPr>
              <a:lstStyle/>
              <a:p>
                <a:pPr marL="285750" indent="-285750">
                  <a:buFont typeface="Arial" panose="020B0604020202020204" pitchFamily="34" charset="0"/>
                  <a:buChar char="•"/>
                </a:pPr>
                <a:r>
                  <a:rPr lang="vi-VN" sz="2400" dirty="0"/>
                  <a:t>Dựa trên lý thuyết xác suất, 4 tham số:</a:t>
                </a:r>
              </a:p>
              <a:p>
                <a:pPr marL="800100" lvl="1" indent="-342900">
                  <a:buFont typeface="Courier New" panose="02070309020205020404" pitchFamily="49" charset="0"/>
                  <a:buChar char="o"/>
                </a:pPr>
                <a14:m>
                  <m:oMath xmlns:m="http://schemas.openxmlformats.org/officeDocument/2006/math">
                    <m:r>
                      <a:rPr lang="vi-VN" sz="2400" i="1" dirty="0" smtClean="0">
                        <a:latin typeface="Cambria Math" panose="02040503050406030204" pitchFamily="18" charset="0"/>
                      </a:rPr>
                      <m:t>𝑃</m:t>
                    </m:r>
                    <m:r>
                      <a:rPr lang="vi-VN" sz="2400" i="1" dirty="0">
                        <a:latin typeface="Cambria Math" panose="02040503050406030204" pitchFamily="18" charset="0"/>
                      </a:rPr>
                      <m:t>(</m:t>
                    </m:r>
                    <m:r>
                      <a:rPr lang="vi-VN" sz="2400" i="1" dirty="0">
                        <a:latin typeface="Cambria Math" panose="02040503050406030204" pitchFamily="18" charset="0"/>
                      </a:rPr>
                      <m:t>𝑟𝑒𝑙</m:t>
                    </m:r>
                    <m:r>
                      <a:rPr lang="vi-VN" sz="2400" i="1" dirty="0">
                        <a:latin typeface="Cambria Math" panose="02040503050406030204" pitchFamily="18" charset="0"/>
                      </a:rPr>
                      <m:t> |</m:t>
                    </m:r>
                    <m:sSub>
                      <m:sSubPr>
                        <m:ctrlPr>
                          <a:rPr lang="vi-VN" sz="2400" i="1">
                            <a:latin typeface="Cambria Math" panose="02040503050406030204" pitchFamily="18" charset="0"/>
                          </a:rPr>
                        </m:ctrlPr>
                      </m:sSubPr>
                      <m:e>
                        <m:r>
                          <a:rPr lang="en-US" sz="2400" i="1">
                            <a:latin typeface="Cambria Math" panose="02040503050406030204" pitchFamily="18" charset="0"/>
                          </a:rPr>
                          <m:t>𝑑</m:t>
                        </m:r>
                      </m:e>
                      <m:sub>
                        <m:r>
                          <a:rPr lang="en-US" sz="2400" i="1">
                            <a:latin typeface="Cambria Math" panose="02040503050406030204" pitchFamily="18" charset="0"/>
                          </a:rPr>
                          <m:t>𝑗</m:t>
                        </m:r>
                      </m:sub>
                    </m:sSub>
                    <m:r>
                      <a:rPr lang="vi-VN" sz="2400" i="1" dirty="0">
                        <a:latin typeface="Cambria Math" panose="02040503050406030204" pitchFamily="18" charset="0"/>
                      </a:rPr>
                      <m:t>)</m:t>
                    </m:r>
                  </m:oMath>
                </a14:m>
                <a:r>
                  <a:rPr lang="en-US" sz="2400" dirty="0"/>
                  <a:t>: </a:t>
                </a:r>
                <a:r>
                  <a:rPr lang="vi-VN" sz="2400" dirty="0"/>
                  <a:t>xác suất 1 văn bản liên quan (relevant) tới truy vấn</a:t>
                </a:r>
                <a:r>
                  <a:rPr lang="en-US" sz="2400" dirty="0"/>
                  <a:t> </a:t>
                </a:r>
                <a:r>
                  <a:rPr lang="vi-VN" sz="2400" dirty="0"/>
                  <a:t>q</a:t>
                </a:r>
              </a:p>
              <a:p>
                <a:pPr marL="800100" lvl="1" indent="-342900">
                  <a:buFont typeface="Courier New" panose="02070309020205020404" pitchFamily="49" charset="0"/>
                  <a:buChar char="o"/>
                </a:pPr>
                <a14:m>
                  <m:oMath xmlns:m="http://schemas.openxmlformats.org/officeDocument/2006/math">
                    <m:r>
                      <a:rPr lang="vi-VN" sz="2400" i="1" dirty="0" smtClean="0">
                        <a:latin typeface="Cambria Math" panose="02040503050406030204" pitchFamily="18" charset="0"/>
                      </a:rPr>
                      <m:t>𝑃</m:t>
                    </m:r>
                    <m:r>
                      <a:rPr lang="vi-VN" sz="2400" i="1" dirty="0">
                        <a:latin typeface="Cambria Math" panose="02040503050406030204" pitchFamily="18" charset="0"/>
                      </a:rPr>
                      <m:t>(</m:t>
                    </m:r>
                    <m:r>
                      <a:rPr lang="vi-VN" sz="2400" i="1" dirty="0">
                        <a:latin typeface="Cambria Math" panose="02040503050406030204" pitchFamily="18" charset="0"/>
                      </a:rPr>
                      <m:t>𝑛𝑜𝑛𝑟𝑒𝑙</m:t>
                    </m:r>
                    <m:r>
                      <a:rPr lang="vi-VN" sz="2400" i="1" dirty="0">
                        <a:latin typeface="Cambria Math" panose="02040503050406030204" pitchFamily="18" charset="0"/>
                      </a:rPr>
                      <m:t> |</m:t>
                    </m:r>
                    <m:sSub>
                      <m:sSubPr>
                        <m:ctrlPr>
                          <a:rPr lang="vi-VN" sz="2400" i="1">
                            <a:latin typeface="Cambria Math" panose="02040503050406030204" pitchFamily="18" charset="0"/>
                          </a:rPr>
                        </m:ctrlPr>
                      </m:sSubPr>
                      <m:e>
                        <m:r>
                          <a:rPr lang="en-US" sz="2400" i="1">
                            <a:latin typeface="Cambria Math" panose="02040503050406030204" pitchFamily="18" charset="0"/>
                          </a:rPr>
                          <m:t>𝑑</m:t>
                        </m:r>
                      </m:e>
                      <m:sub>
                        <m:r>
                          <a:rPr lang="en-US" sz="2400" i="1">
                            <a:latin typeface="Cambria Math" panose="02040503050406030204" pitchFamily="18" charset="0"/>
                          </a:rPr>
                          <m:t>𝑗</m:t>
                        </m:r>
                      </m:sub>
                    </m:sSub>
                    <m:r>
                      <a:rPr lang="vi-VN" sz="2400" i="1" dirty="0">
                        <a:latin typeface="Cambria Math" panose="02040503050406030204" pitchFamily="18" charset="0"/>
                      </a:rPr>
                      <m:t>)</m:t>
                    </m:r>
                  </m:oMath>
                </a14:m>
                <a:r>
                  <a:rPr lang="en-US" sz="2400" dirty="0"/>
                  <a:t>: </a:t>
                </a:r>
                <a:r>
                  <a:rPr lang="vi-VN" sz="2400" dirty="0"/>
                  <a:t>xác suất 1 văn bản KHÔNG liên quan (nonrelevant, irrelevant) tới truy vấn q</a:t>
                </a:r>
              </a:p>
              <a:p>
                <a:pPr marL="800100" lvl="1" indent="-342900">
                  <a:buFont typeface="Courier New" panose="02070309020205020404" pitchFamily="49" charset="0"/>
                  <a:buChar char="o"/>
                </a:pPr>
                <a:r>
                  <a:rPr lang="vi-VN" sz="2400" dirty="0"/>
                  <a:t>Giá tương ứng khi TRẢ VỀ tài liệu non-relevant</a:t>
                </a:r>
              </a:p>
              <a:p>
                <a:pPr marL="800100" lvl="1" indent="-342900">
                  <a:buFont typeface="Courier New" panose="02070309020205020404" pitchFamily="49" charset="0"/>
                  <a:buChar char="o"/>
                </a:pPr>
                <a:r>
                  <a:rPr lang="vi-VN" sz="2400" dirty="0"/>
                  <a:t>Giá tương ứng khi KHÔNG lấy tài liệu relevant</a:t>
                </a:r>
              </a:p>
              <a:p>
                <a:pPr marL="285750" indent="-285750">
                  <a:buFont typeface="Arial" panose="020B0604020202020204" pitchFamily="34" charset="0"/>
                  <a:buChar char="•"/>
                </a:pPr>
                <a:r>
                  <a:rPr lang="vi-VN" sz="2400" dirty="0"/>
                  <a:t>KHÔNG hiệu quả trong truy vấn do khó xác định</a:t>
                </a:r>
                <a:endParaRPr lang="en-US" sz="2400" dirty="0"/>
              </a:p>
              <a:p>
                <a:pPr lvl="1"/>
                <a:r>
                  <a:rPr lang="vi-VN" sz="2400" dirty="0"/>
                  <a:t>P(rel | </a:t>
                </a:r>
                <a14:m>
                  <m:oMath xmlns:m="http://schemas.openxmlformats.org/officeDocument/2006/math">
                    <m:sSub>
                      <m:sSubPr>
                        <m:ctrlPr>
                          <a:rPr lang="vi-VN" sz="2400" i="1">
                            <a:latin typeface="Cambria Math" panose="02040503050406030204" pitchFamily="18" charset="0"/>
                          </a:rPr>
                        </m:ctrlPr>
                      </m:sSubPr>
                      <m:e>
                        <m:r>
                          <a:rPr lang="en-US" sz="2400" i="1">
                            <a:latin typeface="Cambria Math" panose="02040503050406030204" pitchFamily="18" charset="0"/>
                          </a:rPr>
                          <m:t>𝑑</m:t>
                        </m:r>
                      </m:e>
                      <m:sub>
                        <m:r>
                          <a:rPr lang="en-US" sz="2400" i="1">
                            <a:latin typeface="Cambria Math" panose="02040503050406030204" pitchFamily="18" charset="0"/>
                          </a:rPr>
                          <m:t>𝑗</m:t>
                        </m:r>
                      </m:sub>
                    </m:sSub>
                  </m:oMath>
                </a14:m>
                <a:r>
                  <a:rPr lang="vi-VN" sz="2400" dirty="0"/>
                  <a:t>), P(nonrel | </a:t>
                </a:r>
                <a14:m>
                  <m:oMath xmlns:m="http://schemas.openxmlformats.org/officeDocument/2006/math">
                    <m:sSub>
                      <m:sSubPr>
                        <m:ctrlPr>
                          <a:rPr lang="vi-VN"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𝑗</m:t>
                        </m:r>
                      </m:sub>
                    </m:sSub>
                  </m:oMath>
                </a14:m>
                <a:r>
                  <a:rPr lang="en-US" sz="2400" dirty="0"/>
                  <a:t>)</a:t>
                </a:r>
              </a:p>
            </p:txBody>
          </p:sp>
        </mc:Choice>
        <mc:Fallback xmlns="">
          <p:sp>
            <p:nvSpPr>
              <p:cNvPr id="4" name="TextBox 3">
                <a:extLst>
                  <a:ext uri="{FF2B5EF4-FFF2-40B4-BE49-F238E27FC236}">
                    <a16:creationId xmlns:a16="http://schemas.microsoft.com/office/drawing/2014/main" id="{E61D9F93-7BF8-DBEC-A187-247DB02ABBC1}"/>
                  </a:ext>
                </a:extLst>
              </p:cNvPr>
              <p:cNvSpPr txBox="1">
                <a:spLocks noRot="1" noChangeAspect="1" noMove="1" noResize="1" noEditPoints="1" noAdjustHandles="1" noChangeArrowheads="1" noChangeShapeType="1" noTextEdit="1"/>
              </p:cNvSpPr>
              <p:nvPr/>
            </p:nvSpPr>
            <p:spPr>
              <a:xfrm>
                <a:off x="524238" y="1153359"/>
                <a:ext cx="9068562" cy="3106491"/>
              </a:xfrm>
              <a:prstGeom prst="rect">
                <a:avLst/>
              </a:prstGeom>
              <a:blipFill>
                <a:blip r:embed="rId2"/>
                <a:stretch>
                  <a:fillRect l="-941" t="-1569" b="-3333"/>
                </a:stretch>
              </a:blipFill>
            </p:spPr>
            <p:txBody>
              <a:bodyPr/>
              <a:lstStyle/>
              <a:p>
                <a:r>
                  <a:rPr lang="en-US">
                    <a:noFill/>
                  </a:rPr>
                  <a:t> </a:t>
                </a:r>
              </a:p>
            </p:txBody>
          </p:sp>
        </mc:Fallback>
      </mc:AlternateContent>
    </p:spTree>
    <p:extLst>
      <p:ext uri="{BB962C8B-B14F-4D97-AF65-F5344CB8AC3E}">
        <p14:creationId xmlns:p14="http://schemas.microsoft.com/office/powerpoint/2010/main" val="2244270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FECCD-1ABA-2CFF-02BB-F6E465752D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5DCB8F-9453-6555-C37B-6EBA1109229A}"/>
              </a:ext>
            </a:extLst>
          </p:cNvPr>
          <p:cNvSpPr>
            <a:spLocks noGrp="1"/>
          </p:cNvSpPr>
          <p:nvPr>
            <p:ph type="body" sz="quarter" idx="10"/>
          </p:nvPr>
        </p:nvSpPr>
        <p:spPr>
          <a:xfrm>
            <a:off x="958157" y="2517788"/>
            <a:ext cx="10275686" cy="2194234"/>
          </a:xfrm>
        </p:spPr>
        <p:txBody>
          <a:bodyPr/>
          <a:lstStyle/>
          <a:p>
            <a:r>
              <a:rPr lang="en-US" dirty="0" err="1"/>
              <a:t>Phản</a:t>
            </a:r>
            <a:r>
              <a:rPr lang="en-US" dirty="0"/>
              <a:t> </a:t>
            </a:r>
            <a:r>
              <a:rPr lang="en-US" dirty="0" err="1"/>
              <a:t>hồi</a:t>
            </a:r>
            <a:r>
              <a:rPr lang="en-US" dirty="0"/>
              <a:t> </a:t>
            </a:r>
            <a:r>
              <a:rPr lang="en-US" dirty="0" err="1"/>
              <a:t>thích</a:t>
            </a:r>
            <a:r>
              <a:rPr lang="en-US" dirty="0"/>
              <a:t> </a:t>
            </a:r>
            <a:r>
              <a:rPr lang="en-US" dirty="0" err="1"/>
              <a:t>đáng</a:t>
            </a:r>
            <a:r>
              <a:rPr lang="en-US" dirty="0"/>
              <a:t> Relevance Feedback</a:t>
            </a:r>
          </a:p>
        </p:txBody>
      </p:sp>
      <p:sp>
        <p:nvSpPr>
          <p:cNvPr id="4" name="Slide Number Placeholder 3">
            <a:extLst>
              <a:ext uri="{FF2B5EF4-FFF2-40B4-BE49-F238E27FC236}">
                <a16:creationId xmlns:a16="http://schemas.microsoft.com/office/drawing/2014/main" id="{D1E8EB52-9FE7-B2F3-6EF9-54ECD3AF9543}"/>
              </a:ext>
            </a:extLst>
          </p:cNvPr>
          <p:cNvSpPr>
            <a:spLocks noGrp="1"/>
          </p:cNvSpPr>
          <p:nvPr>
            <p:ph type="sldNum" sz="quarter" idx="4"/>
          </p:nvPr>
        </p:nvSpPr>
        <p:spPr/>
        <p:txBody>
          <a:bodyPr/>
          <a:lstStyle/>
          <a:p>
            <a:pPr marL="0" marR="0" lvl="0" indent="0" algn="r" defTabSz="761970" rtl="0" eaLnBrk="1" fontAlgn="auto" latinLnBrk="0" hangingPunct="1">
              <a:lnSpc>
                <a:spcPct val="100000"/>
              </a:lnSpc>
              <a:spcBef>
                <a:spcPts val="0"/>
              </a:spcBef>
              <a:spcAft>
                <a:spcPts val="0"/>
              </a:spcAft>
              <a:buClrTx/>
              <a:buSzTx/>
              <a:buFontTx/>
              <a:buNone/>
              <a:tabLst/>
              <a:defRPr/>
            </a:pPr>
            <a:fld id="{31D26D55-0A22-487A-A687-61FB58A6F16A}" type="slidenum">
              <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76197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98433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A6171-9305-C409-6032-66CE54FD9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77577-C8D8-A6C7-DA7F-EFE7B7DE32FE}"/>
              </a:ext>
            </a:extLst>
          </p:cNvPr>
          <p:cNvSpPr>
            <a:spLocks noGrp="1"/>
          </p:cNvSpPr>
          <p:nvPr>
            <p:ph type="title"/>
          </p:nvPr>
        </p:nvSpPr>
        <p:spPr/>
        <p:txBody>
          <a:bodyPr>
            <a:noAutofit/>
          </a:bodyPr>
          <a:lstStyle/>
          <a:p>
            <a:r>
              <a:rPr lang="en-US" sz="2800" dirty="0" err="1"/>
              <a:t>Phản</a:t>
            </a:r>
            <a:r>
              <a:rPr lang="en-US" sz="2800" dirty="0"/>
              <a:t> </a:t>
            </a:r>
            <a:r>
              <a:rPr lang="en-US" sz="2800" dirty="0" err="1"/>
              <a:t>hồi</a:t>
            </a:r>
            <a:r>
              <a:rPr lang="en-US" sz="2800" dirty="0"/>
              <a:t> </a:t>
            </a:r>
            <a:r>
              <a:rPr lang="en-US" sz="2800" dirty="0" err="1"/>
              <a:t>thích</a:t>
            </a:r>
            <a:r>
              <a:rPr lang="en-US" sz="2800" dirty="0"/>
              <a:t> </a:t>
            </a:r>
            <a:r>
              <a:rPr lang="en-US" sz="2800" dirty="0" err="1"/>
              <a:t>đáng</a:t>
            </a:r>
            <a:r>
              <a:rPr lang="en-US" sz="2800" dirty="0"/>
              <a:t> (Relevance Feedback)</a:t>
            </a:r>
            <a:endParaRPr sz="2800" dirty="0"/>
          </a:p>
        </p:txBody>
      </p:sp>
      <p:pic>
        <p:nvPicPr>
          <p:cNvPr id="3" name="Picture 2">
            <a:extLst>
              <a:ext uri="{FF2B5EF4-FFF2-40B4-BE49-F238E27FC236}">
                <a16:creationId xmlns:a16="http://schemas.microsoft.com/office/drawing/2014/main" id="{599B3368-71A2-892B-395C-99B9F12A27B8}"/>
              </a:ext>
            </a:extLst>
          </p:cNvPr>
          <p:cNvPicPr>
            <a:picLocks noChangeAspect="1"/>
          </p:cNvPicPr>
          <p:nvPr/>
        </p:nvPicPr>
        <p:blipFill>
          <a:blip r:embed="rId2"/>
          <a:stretch>
            <a:fillRect/>
          </a:stretch>
        </p:blipFill>
        <p:spPr>
          <a:xfrm>
            <a:off x="4842550" y="731758"/>
            <a:ext cx="7240010" cy="4772691"/>
          </a:xfrm>
          <a:prstGeom prst="rect">
            <a:avLst/>
          </a:prstGeom>
        </p:spPr>
      </p:pic>
      <p:sp>
        <p:nvSpPr>
          <p:cNvPr id="5" name="TextBox 4">
            <a:extLst>
              <a:ext uri="{FF2B5EF4-FFF2-40B4-BE49-F238E27FC236}">
                <a16:creationId xmlns:a16="http://schemas.microsoft.com/office/drawing/2014/main" id="{448ECD44-C086-240F-E10B-8864E6C47859}"/>
              </a:ext>
            </a:extLst>
          </p:cNvPr>
          <p:cNvSpPr txBox="1"/>
          <p:nvPr/>
        </p:nvSpPr>
        <p:spPr>
          <a:xfrm>
            <a:off x="276606" y="1236994"/>
            <a:ext cx="4652010" cy="4154984"/>
          </a:xfrm>
          <a:prstGeom prst="rect">
            <a:avLst/>
          </a:prstGeom>
          <a:noFill/>
        </p:spPr>
        <p:txBody>
          <a:bodyPr wrap="square">
            <a:spAutoFit/>
          </a:bodyPr>
          <a:lstStyle/>
          <a:p>
            <a:pPr marL="285750" indent="-285750">
              <a:buFont typeface="Arial" panose="020B0604020202020204" pitchFamily="34" charset="0"/>
              <a:buChar char="•"/>
            </a:pPr>
            <a:r>
              <a:rPr lang="vi-VN" sz="2400" dirty="0"/>
              <a:t>RF: Relevance Feedback</a:t>
            </a:r>
          </a:p>
          <a:p>
            <a:pPr marL="742950" lvl="1" indent="-285750">
              <a:buFont typeface="Courier New" panose="02070309020205020404" pitchFamily="49" charset="0"/>
              <a:buChar char="o"/>
            </a:pPr>
            <a:r>
              <a:rPr lang="vi-VN" sz="2400" dirty="0"/>
              <a:t>Cho phép người sử dụng đánh dấu các câu trả lời đúng</a:t>
            </a:r>
            <a:r>
              <a:rPr lang="en-US" sz="2400" dirty="0"/>
              <a:t> </a:t>
            </a:r>
            <a:r>
              <a:rPr lang="vi-VN" sz="2400" dirty="0"/>
              <a:t>(relevant) và chưa đúng (irrelevant)</a:t>
            </a:r>
          </a:p>
          <a:p>
            <a:r>
              <a:rPr lang="en-US" sz="2400" dirty="0"/>
              <a:t>	=&gt; </a:t>
            </a:r>
            <a:r>
              <a:rPr lang="vi-VN" sz="2400" dirty="0"/>
              <a:t>Cải tiến hiệu năng của hệ thống</a:t>
            </a:r>
          </a:p>
          <a:p>
            <a:pPr marL="742950" lvl="1" indent="-285750">
              <a:buFont typeface="Courier New" panose="02070309020205020404" pitchFamily="49" charset="0"/>
              <a:buChar char="o"/>
            </a:pPr>
            <a:r>
              <a:rPr lang="vi-VN" sz="2400" dirty="0"/>
              <a:t>Thích hợp với Vector Model</a:t>
            </a:r>
          </a:p>
          <a:p>
            <a:pPr marL="285750" indent="-285750">
              <a:buFont typeface="Arial" panose="020B0604020202020204" pitchFamily="34" charset="0"/>
              <a:buChar char="•"/>
            </a:pPr>
            <a:r>
              <a:rPr lang="vi-VN" sz="2400" dirty="0"/>
              <a:t>2 hướng tiếp cận với RF:</a:t>
            </a:r>
          </a:p>
          <a:p>
            <a:pPr marL="742950" lvl="1" indent="-285750">
              <a:buFont typeface="Courier New" panose="02070309020205020404" pitchFamily="49" charset="0"/>
              <a:buChar char="o"/>
            </a:pPr>
            <a:r>
              <a:rPr lang="vi-VN" sz="2400" dirty="0"/>
              <a:t>Query Modification</a:t>
            </a:r>
          </a:p>
          <a:p>
            <a:pPr marL="742950" lvl="1" indent="-285750">
              <a:buFont typeface="Courier New" panose="02070309020205020404" pitchFamily="49" charset="0"/>
              <a:buChar char="o"/>
            </a:pPr>
            <a:r>
              <a:rPr lang="vi-VN" sz="2400" dirty="0"/>
              <a:t>Document Modification</a:t>
            </a:r>
            <a:endParaRPr lang="en-US" sz="2400" dirty="0"/>
          </a:p>
        </p:txBody>
      </p:sp>
    </p:spTree>
    <p:extLst>
      <p:ext uri="{BB962C8B-B14F-4D97-AF65-F5344CB8AC3E}">
        <p14:creationId xmlns:p14="http://schemas.microsoft.com/office/powerpoint/2010/main" val="2299157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9C2B4-FAAF-1E46-BA8A-1C75FD20E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DAFF3-C39F-2665-4502-9A5CA2FD9C01}"/>
              </a:ext>
            </a:extLst>
          </p:cNvPr>
          <p:cNvSpPr>
            <a:spLocks noGrp="1"/>
          </p:cNvSpPr>
          <p:nvPr>
            <p:ph type="title"/>
          </p:nvPr>
        </p:nvSpPr>
        <p:spPr/>
        <p:txBody>
          <a:bodyPr>
            <a:noAutofit/>
          </a:bodyPr>
          <a:lstStyle/>
          <a:p>
            <a:r>
              <a:rPr lang="en-US" sz="2800" dirty="0" err="1"/>
              <a:t>Phản</a:t>
            </a:r>
            <a:r>
              <a:rPr lang="en-US" sz="2800" dirty="0"/>
              <a:t> </a:t>
            </a:r>
            <a:r>
              <a:rPr lang="en-US" sz="2800" dirty="0" err="1"/>
              <a:t>hồi</a:t>
            </a:r>
            <a:r>
              <a:rPr lang="en-US" sz="2800" dirty="0"/>
              <a:t> </a:t>
            </a:r>
            <a:r>
              <a:rPr lang="en-US" sz="2800" dirty="0" err="1"/>
              <a:t>thích</a:t>
            </a:r>
            <a:r>
              <a:rPr lang="en-US" sz="2800" dirty="0"/>
              <a:t> </a:t>
            </a:r>
            <a:r>
              <a:rPr lang="en-US" sz="2800" dirty="0" err="1"/>
              <a:t>đáng</a:t>
            </a:r>
            <a:r>
              <a:rPr lang="en-US" sz="2800" dirty="0"/>
              <a:t> (Relevance Feedback)</a:t>
            </a:r>
            <a:endParaRPr sz="2800" dirty="0"/>
          </a:p>
        </p:txBody>
      </p:sp>
      <p:pic>
        <p:nvPicPr>
          <p:cNvPr id="7" name="Picture 6">
            <a:extLst>
              <a:ext uri="{FF2B5EF4-FFF2-40B4-BE49-F238E27FC236}">
                <a16:creationId xmlns:a16="http://schemas.microsoft.com/office/drawing/2014/main" id="{6A867DC0-1D41-DD45-30C4-1E6BE9C52A9F}"/>
              </a:ext>
            </a:extLst>
          </p:cNvPr>
          <p:cNvPicPr>
            <a:picLocks noChangeAspect="1"/>
          </p:cNvPicPr>
          <p:nvPr/>
        </p:nvPicPr>
        <p:blipFill>
          <a:blip r:embed="rId2"/>
          <a:stretch>
            <a:fillRect/>
          </a:stretch>
        </p:blipFill>
        <p:spPr>
          <a:xfrm>
            <a:off x="6436436" y="1554480"/>
            <a:ext cx="5688508" cy="3538652"/>
          </a:xfrm>
          <a:prstGeom prst="rect">
            <a:avLst/>
          </a:prstGeom>
        </p:spPr>
      </p:pic>
      <p:sp>
        <p:nvSpPr>
          <p:cNvPr id="9" name="TextBox 8">
            <a:extLst>
              <a:ext uri="{FF2B5EF4-FFF2-40B4-BE49-F238E27FC236}">
                <a16:creationId xmlns:a16="http://schemas.microsoft.com/office/drawing/2014/main" id="{38237A19-FA6C-A6EE-CEB9-E373FD4937F9}"/>
              </a:ext>
            </a:extLst>
          </p:cNvPr>
          <p:cNvSpPr txBox="1"/>
          <p:nvPr/>
        </p:nvSpPr>
        <p:spPr>
          <a:xfrm>
            <a:off x="0" y="1143000"/>
            <a:ext cx="4615434" cy="4093428"/>
          </a:xfrm>
          <a:prstGeom prst="rect">
            <a:avLst/>
          </a:prstGeom>
          <a:noFill/>
        </p:spPr>
        <p:txBody>
          <a:bodyPr wrap="square">
            <a:spAutoFit/>
          </a:bodyPr>
          <a:lstStyle/>
          <a:p>
            <a:pPr marL="285750" indent="-285750">
              <a:buFont typeface="Arial" panose="020B0604020202020204" pitchFamily="34" charset="0"/>
              <a:buChar char="•"/>
            </a:pPr>
            <a:r>
              <a:rPr lang="vi-VN" sz="2000" dirty="0"/>
              <a:t>Thay đổi biểu diễn câu truy vấn (Query</a:t>
            </a:r>
            <a:r>
              <a:rPr lang="en-US" sz="2000" dirty="0"/>
              <a:t> </a:t>
            </a:r>
            <a:r>
              <a:rPr lang="vi-VN" sz="2000" dirty="0"/>
              <a:t>Modification):</a:t>
            </a:r>
          </a:p>
          <a:p>
            <a:pPr marL="742950" lvl="1" indent="-285750">
              <a:buFont typeface="Courier New" panose="02070309020205020404" pitchFamily="49" charset="0"/>
              <a:buChar char="o"/>
            </a:pPr>
            <a:r>
              <a:rPr lang="vi-VN" sz="2000" dirty="0"/>
              <a:t>Thông dụng</a:t>
            </a:r>
          </a:p>
          <a:p>
            <a:pPr marL="742950" lvl="1" indent="-285750">
              <a:buFont typeface="Courier New" panose="02070309020205020404" pitchFamily="49" charset="0"/>
              <a:buChar char="o"/>
            </a:pPr>
            <a:r>
              <a:rPr lang="vi-VN" sz="2000" dirty="0"/>
              <a:t>Cải tiến hiệu năng của hệ thống</a:t>
            </a:r>
          </a:p>
          <a:p>
            <a:pPr marL="742950" lvl="1" indent="-285750">
              <a:buFont typeface="Courier New" panose="02070309020205020404" pitchFamily="49" charset="0"/>
              <a:buChar char="o"/>
            </a:pPr>
            <a:r>
              <a:rPr lang="vi-VN" sz="2000" dirty="0"/>
              <a:t>Chỉ cho 1 người sử dụng, không tận dụng được cho người</a:t>
            </a:r>
            <a:r>
              <a:rPr lang="en-US" sz="2000" dirty="0"/>
              <a:t> </a:t>
            </a:r>
            <a:r>
              <a:rPr lang="vi-VN" sz="2000" dirty="0"/>
              <a:t>dùng khác</a:t>
            </a:r>
          </a:p>
          <a:p>
            <a:pPr marL="285750" indent="-285750">
              <a:buFont typeface="Arial" panose="020B0604020202020204" pitchFamily="34" charset="0"/>
              <a:buChar char="•"/>
            </a:pPr>
            <a:r>
              <a:rPr lang="vi-VN" sz="2000" dirty="0"/>
              <a:t>Thay đổi biểu diễn văn bản trong CSDL (Document</a:t>
            </a:r>
            <a:r>
              <a:rPr lang="en-US" sz="2000" dirty="0"/>
              <a:t> </a:t>
            </a:r>
            <a:r>
              <a:rPr lang="vi-VN" sz="2000" dirty="0"/>
              <a:t>Modification):</a:t>
            </a:r>
          </a:p>
          <a:p>
            <a:pPr marL="742950" lvl="1" indent="-285750">
              <a:buFont typeface="Courier New" panose="02070309020205020404" pitchFamily="49" charset="0"/>
              <a:buChar char="o"/>
            </a:pPr>
            <a:r>
              <a:rPr lang="vi-VN" sz="2000" dirty="0"/>
              <a:t>Có thể tận dụng cho người dùng khác nhau</a:t>
            </a:r>
          </a:p>
          <a:p>
            <a:pPr marL="742950" lvl="1" indent="-285750">
              <a:buFont typeface="Courier New" panose="02070309020205020404" pitchFamily="49" charset="0"/>
              <a:buChar char="o"/>
            </a:pPr>
            <a:r>
              <a:rPr lang="vi-VN" sz="2000" dirty="0"/>
              <a:t>Có thể giảm hiệu quả do các truy vấn sau khác câu truy vấn</a:t>
            </a:r>
            <a:r>
              <a:rPr lang="en-US" sz="2000" dirty="0"/>
              <a:t> </a:t>
            </a:r>
            <a:r>
              <a:rPr lang="vi-VN" sz="2000" dirty="0"/>
              <a:t>đã thay đổi văn bản</a:t>
            </a:r>
            <a:endParaRPr lang="en-US" sz="2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E60EEB7-6D71-1A50-16DD-DE598EF13C0B}"/>
                  </a:ext>
                </a:extLst>
              </p:cNvPr>
              <p:cNvSpPr txBox="1"/>
              <p:nvPr/>
            </p:nvSpPr>
            <p:spPr>
              <a:xfrm>
                <a:off x="2217139" y="1487388"/>
                <a:ext cx="4219297" cy="7055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𝑄</m:t>
                          </m:r>
                        </m:e>
                        <m:sup>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𝐷</m:t>
                              </m:r>
                            </m:e>
                            <m:sup>
                              <m:r>
                                <a:rPr lang="en-US" b="0" i="1" smtClean="0">
                                  <a:latin typeface="Cambria Math" panose="02040503050406030204" pitchFamily="18" charset="0"/>
                                  <a:ea typeface="Cambria Math" panose="02040503050406030204" pitchFamily="18" charset="0"/>
                                </a:rPr>
                                <m:t>𝑖</m:t>
                              </m:r>
                            </m:sup>
                          </m:sSup>
                          <m:r>
                            <m:rPr>
                              <m:brk m:alnAt="7"/>
                            </m:rP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𝑟𝑒𝑙</m:t>
                          </m:r>
                        </m:sub>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𝐷</m:t>
                              </m:r>
                            </m:e>
                            <m:sup>
                              <m:r>
                                <a:rPr lang="en-US" b="0" i="1" smtClean="0">
                                  <a:latin typeface="Cambria Math" panose="02040503050406030204" pitchFamily="18" charset="0"/>
                                  <a:ea typeface="Cambria Math" panose="02040503050406030204" pitchFamily="18" charset="0"/>
                                </a:rPr>
                                <m:t>𝑖</m:t>
                              </m:r>
                            </m:sup>
                          </m:sSup>
                        </m:e>
                      </m:nary>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nary>
                        <m:naryPr>
                          <m:chr m:val="∑"/>
                          <m:supHide m:val="on"/>
                          <m:ctrlPr>
                            <a:rPr lang="en-US" i="1">
                              <a:latin typeface="Cambria Math" panose="02040503050406030204" pitchFamily="18" charset="0"/>
                              <a:ea typeface="Cambria Math" panose="02040503050406030204" pitchFamily="18" charset="0"/>
                            </a:rPr>
                          </m:ctrlPr>
                        </m:naryPr>
                        <m: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𝐷</m:t>
                              </m:r>
                            </m:e>
                            <m:sup>
                              <m:r>
                                <a:rPr lang="en-US" b="0" i="1" smtClean="0">
                                  <a:latin typeface="Cambria Math" panose="02040503050406030204" pitchFamily="18" charset="0"/>
                                  <a:ea typeface="Cambria Math" panose="02040503050406030204" pitchFamily="18" charset="0"/>
                                </a:rPr>
                                <m:t>𝑗</m:t>
                              </m:r>
                            </m:sup>
                          </m:sSup>
                          <m:r>
                            <m:rPr>
                              <m:brk m:alnAt="7"/>
                            </m:rPr>
                            <a:rPr lang="en-US" i="1">
                              <a:latin typeface="Cambria Math" panose="02040503050406030204" pitchFamily="18" charset="0"/>
                              <a:ea typeface="Cambria Math" panose="02040503050406030204" pitchFamily="18" charset="0"/>
                            </a:rPr>
                            <m:t>𝜖</m:t>
                          </m:r>
                          <m:r>
                            <a:rPr lang="en-US" i="1">
                              <a:latin typeface="Cambria Math" panose="02040503050406030204" pitchFamily="18" charset="0"/>
                              <a:ea typeface="Cambria Math" panose="02040503050406030204" pitchFamily="18" charset="0"/>
                            </a:rPr>
                            <m:t>𝑟𝑒𝑙</m:t>
                          </m:r>
                        </m:sub>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𝐷</m:t>
                              </m:r>
                            </m:e>
                            <m:sup>
                              <m:r>
                                <a:rPr lang="en-US" b="0" i="1" smtClean="0">
                                  <a:latin typeface="Cambria Math" panose="02040503050406030204" pitchFamily="18" charset="0"/>
                                  <a:ea typeface="Cambria Math" panose="02040503050406030204" pitchFamily="18" charset="0"/>
                                </a:rPr>
                                <m:t>𝑗</m:t>
                              </m:r>
                            </m:sup>
                          </m:sSup>
                        </m:e>
                      </m:nary>
                    </m:oMath>
                  </m:oMathPara>
                </a14:m>
                <a:endParaRPr lang="en-US" dirty="0"/>
              </a:p>
            </p:txBody>
          </p:sp>
        </mc:Choice>
        <mc:Fallback xmlns="">
          <p:sp>
            <p:nvSpPr>
              <p:cNvPr id="10" name="TextBox 9">
                <a:extLst>
                  <a:ext uri="{FF2B5EF4-FFF2-40B4-BE49-F238E27FC236}">
                    <a16:creationId xmlns:a16="http://schemas.microsoft.com/office/drawing/2014/main" id="{9E60EEB7-6D71-1A50-16DD-DE598EF13C0B}"/>
                  </a:ext>
                </a:extLst>
              </p:cNvPr>
              <p:cNvSpPr txBox="1">
                <a:spLocks noRot="1" noChangeAspect="1" noMove="1" noResize="1" noEditPoints="1" noAdjustHandles="1" noChangeArrowheads="1" noChangeShapeType="1" noTextEdit="1"/>
              </p:cNvSpPr>
              <p:nvPr/>
            </p:nvSpPr>
            <p:spPr>
              <a:xfrm>
                <a:off x="2217139" y="1487388"/>
                <a:ext cx="4219297" cy="70557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59353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C11C1-38EE-EAA8-4A6A-CD82E835D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58C7A-621A-5CA4-74F9-63101A9FD4F8}"/>
              </a:ext>
            </a:extLst>
          </p:cNvPr>
          <p:cNvSpPr>
            <a:spLocks noGrp="1"/>
          </p:cNvSpPr>
          <p:nvPr>
            <p:ph type="title"/>
          </p:nvPr>
        </p:nvSpPr>
        <p:spPr/>
        <p:txBody>
          <a:bodyPr>
            <a:noAutofit/>
          </a:bodyPr>
          <a:lstStyle/>
          <a:p>
            <a:r>
              <a:rPr lang="en-US" sz="2800" dirty="0" err="1"/>
              <a:t>Đánh</a:t>
            </a:r>
            <a:r>
              <a:rPr lang="en-US" sz="2800" dirty="0"/>
              <a:t> </a:t>
            </a:r>
            <a:r>
              <a:rPr lang="en-US" sz="2800" dirty="0" err="1"/>
              <a:t>giá</a:t>
            </a:r>
            <a:r>
              <a:rPr lang="en-US" sz="2800" dirty="0"/>
              <a:t> </a:t>
            </a:r>
            <a:r>
              <a:rPr lang="en-US" sz="2800" dirty="0" err="1"/>
              <a:t>hiệu</a:t>
            </a:r>
            <a:r>
              <a:rPr lang="en-US" sz="2800" dirty="0"/>
              <a:t> </a:t>
            </a:r>
            <a:r>
              <a:rPr lang="en-US" sz="2800" dirty="0" err="1"/>
              <a:t>năng</a:t>
            </a:r>
            <a:r>
              <a:rPr lang="en-US" sz="2800" dirty="0"/>
              <a:t> </a:t>
            </a:r>
            <a:r>
              <a:rPr lang="en-US" sz="2800" dirty="0" err="1"/>
              <a:t>hệ</a:t>
            </a:r>
            <a:r>
              <a:rPr lang="en-US" sz="2800" dirty="0"/>
              <a:t> </a:t>
            </a:r>
            <a:r>
              <a:rPr lang="en-US" sz="2800" dirty="0" err="1"/>
              <a:t>thống</a:t>
            </a:r>
            <a:r>
              <a:rPr lang="en-US" sz="2800" dirty="0"/>
              <a:t> </a:t>
            </a:r>
            <a:r>
              <a:rPr lang="en-US" sz="2800" dirty="0" err="1"/>
              <a:t>truy</a:t>
            </a:r>
            <a:r>
              <a:rPr lang="en-US" sz="2800" dirty="0"/>
              <a:t> </a:t>
            </a:r>
            <a:r>
              <a:rPr lang="en-US" sz="2800" dirty="0" err="1"/>
              <a:t>vấn</a:t>
            </a:r>
            <a:endParaRPr sz="28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39D85C1-20B8-466D-ED89-CB678F9EB8C5}"/>
                  </a:ext>
                </a:extLst>
              </p:cNvPr>
              <p:cNvSpPr txBox="1"/>
              <p:nvPr/>
            </p:nvSpPr>
            <p:spPr>
              <a:xfrm>
                <a:off x="524238" y="1225296"/>
                <a:ext cx="9371476" cy="4077783"/>
              </a:xfrm>
              <a:prstGeom prst="rect">
                <a:avLst/>
              </a:prstGeom>
              <a:noFill/>
            </p:spPr>
            <p:txBody>
              <a:bodyPr wrap="none" rtlCol="0">
                <a:spAutoFit/>
              </a:bodyPr>
              <a:lstStyle/>
              <a:p>
                <a:pPr marL="342900" indent="-342900">
                  <a:buFont typeface="Arial" panose="020B0604020202020204" pitchFamily="34" charset="0"/>
                  <a:buChar char="•"/>
                </a:pPr>
                <a:r>
                  <a:rPr lang="en-US" sz="2400" dirty="0"/>
                  <a:t>Độ </a:t>
                </a:r>
                <a:r>
                  <a:rPr lang="en-US" sz="2400" dirty="0" err="1"/>
                  <a:t>đo</a:t>
                </a:r>
                <a:r>
                  <a:rPr lang="en-US" sz="2400" dirty="0"/>
                  <a:t> </a:t>
                </a:r>
                <a:r>
                  <a:rPr lang="en-US" sz="2400" dirty="0" err="1"/>
                  <a:t>chính</a:t>
                </a:r>
                <a:r>
                  <a:rPr lang="en-US" sz="2400" dirty="0"/>
                  <a:t> </a:t>
                </a:r>
                <a:r>
                  <a:rPr lang="en-US" sz="2400" dirty="0" err="1"/>
                  <a:t>xác</a:t>
                </a:r>
                <a:r>
                  <a:rPr lang="en-US" sz="2400" dirty="0"/>
                  <a:t> (Precision)</a:t>
                </a:r>
              </a:p>
              <a:p>
                <a:pPr lvl="2"/>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𝐶</m:t>
                          </m:r>
                        </m:num>
                        <m:den>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𝐶</m:t>
                          </m:r>
                        </m:den>
                      </m:f>
                    </m:oMath>
                  </m:oMathPara>
                </a14:m>
                <a:endParaRPr lang="en-US" sz="2400" b="0" dirty="0"/>
              </a:p>
              <a:p>
                <a:pPr marL="342900" indent="-342900">
                  <a:buFont typeface="Arial" panose="020B0604020202020204" pitchFamily="34" charset="0"/>
                  <a:buChar char="•"/>
                </a:pPr>
                <a:r>
                  <a:rPr lang="en-US" sz="2400" dirty="0" err="1"/>
                  <a:t>Độ</a:t>
                </a:r>
                <a:r>
                  <a:rPr lang="en-US" sz="2400" dirty="0"/>
                  <a:t> </a:t>
                </a:r>
                <a:r>
                  <a:rPr lang="en-US" sz="2400" dirty="0" err="1"/>
                  <a:t>đo</a:t>
                </a:r>
                <a:r>
                  <a:rPr lang="en-US" sz="2400" dirty="0"/>
                  <a:t> </a:t>
                </a:r>
                <a:r>
                  <a:rPr lang="en-US" sz="2400" dirty="0" err="1"/>
                  <a:t>triệu</a:t>
                </a:r>
                <a:r>
                  <a:rPr lang="en-US" sz="2400" dirty="0"/>
                  <a:t> </a:t>
                </a:r>
                <a:r>
                  <a:rPr lang="en-US" sz="2400" dirty="0" err="1"/>
                  <a:t>hồi</a:t>
                </a:r>
                <a:r>
                  <a:rPr lang="en-US" sz="2400" dirty="0"/>
                  <a:t> (</a:t>
                </a:r>
                <a:r>
                  <a:rPr lang="en-US" sz="2400" dirty="0" err="1"/>
                  <a:t>Recal</a:t>
                </a:r>
                <a:r>
                  <a:rPr lang="en-US" sz="2400" dirty="0"/>
                  <a:t>):</a:t>
                </a:r>
              </a:p>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R</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𝐶</m:t>
                          </m:r>
                        </m:num>
                        <m:den>
                          <m:r>
                            <a:rPr lang="en-US" sz="2400" b="0" i="1" smtClean="0">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𝐶</m:t>
                          </m:r>
                        </m:den>
                      </m:f>
                    </m:oMath>
                  </m:oMathPara>
                </a14:m>
                <a:endParaRPr lang="en-US" sz="2400" dirty="0"/>
              </a:p>
              <a:p>
                <a:pPr marL="342900" indent="-342900">
                  <a:buFont typeface="Arial" panose="020B0604020202020204" pitchFamily="34" charset="0"/>
                  <a:buChar char="•"/>
                </a:pPr>
                <a:r>
                  <a:rPr lang="en-US" sz="2400" dirty="0"/>
                  <a:t>Precision-recall curve</a:t>
                </a:r>
              </a:p>
              <a:p>
                <a:pPr marL="342900" indent="-342900">
                  <a:buFont typeface="Arial" panose="020B0604020202020204" pitchFamily="34" charset="0"/>
                  <a:buChar char="•"/>
                </a:pPr>
                <a:r>
                  <a:rPr lang="en-US" sz="2400" dirty="0" err="1"/>
                  <a:t>P@n</a:t>
                </a:r>
                <a:r>
                  <a:rPr lang="en-US" sz="2400" dirty="0"/>
                  <a:t>, </a:t>
                </a:r>
                <a:r>
                  <a:rPr lang="en-US" sz="2400" dirty="0" err="1"/>
                  <a:t>R@n</a:t>
                </a:r>
                <a:r>
                  <a:rPr lang="en-US" sz="2400" dirty="0"/>
                  <a:t>: </a:t>
                </a:r>
                <a:r>
                  <a:rPr lang="en-US" sz="2400" dirty="0" err="1"/>
                  <a:t>độ</a:t>
                </a:r>
                <a:r>
                  <a:rPr lang="en-US" sz="2400" dirty="0"/>
                  <a:t> </a:t>
                </a:r>
                <a:r>
                  <a:rPr lang="en-US" sz="2400" dirty="0" err="1"/>
                  <a:t>chính</a:t>
                </a:r>
                <a:r>
                  <a:rPr lang="en-US" sz="2400" dirty="0"/>
                  <a:t> </a:t>
                </a:r>
                <a:r>
                  <a:rPr lang="en-US" sz="2400" dirty="0" err="1"/>
                  <a:t>xác</a:t>
                </a:r>
                <a:r>
                  <a:rPr lang="en-US" sz="2400" dirty="0"/>
                  <a:t> </a:t>
                </a:r>
                <a:r>
                  <a:rPr lang="en-US" sz="2400" dirty="0" err="1"/>
                  <a:t>tính</a:t>
                </a:r>
                <a:r>
                  <a:rPr lang="en-US" sz="2400" dirty="0"/>
                  <a:t>, </a:t>
                </a:r>
                <a:r>
                  <a:rPr lang="en-US" sz="2400" dirty="0" err="1"/>
                  <a:t>độ</a:t>
                </a:r>
                <a:r>
                  <a:rPr lang="en-US" sz="2400" dirty="0"/>
                  <a:t> </a:t>
                </a:r>
                <a:r>
                  <a:rPr lang="en-US" sz="2400" dirty="0" err="1"/>
                  <a:t>triệu</a:t>
                </a:r>
                <a:r>
                  <a:rPr lang="en-US" sz="2400" dirty="0"/>
                  <a:t> </a:t>
                </a:r>
                <a:r>
                  <a:rPr lang="en-US" sz="2400" dirty="0" err="1"/>
                  <a:t>hồi</a:t>
                </a:r>
                <a:r>
                  <a:rPr lang="en-US" sz="2400" dirty="0"/>
                  <a:t> </a:t>
                </a:r>
                <a:r>
                  <a:rPr lang="en-US" sz="2400" dirty="0" err="1"/>
                  <a:t>trên</a:t>
                </a:r>
                <a:r>
                  <a:rPr lang="en-US" sz="2400" dirty="0"/>
                  <a:t> n </a:t>
                </a:r>
                <a:r>
                  <a:rPr lang="en-US" sz="2400" dirty="0" err="1"/>
                  <a:t>kết</a:t>
                </a:r>
                <a:r>
                  <a:rPr lang="en-US" sz="2400" dirty="0"/>
                  <a:t> </a:t>
                </a:r>
                <a:r>
                  <a:rPr lang="en-US" sz="2400" dirty="0" err="1"/>
                  <a:t>quả</a:t>
                </a:r>
                <a:r>
                  <a:rPr lang="en-US" sz="2400" dirty="0"/>
                  <a:t> </a:t>
                </a:r>
                <a:r>
                  <a:rPr lang="en-US" sz="2400" dirty="0" err="1"/>
                  <a:t>trả</a:t>
                </a:r>
                <a:r>
                  <a:rPr lang="en-US" sz="2400" dirty="0"/>
                  <a:t> </a:t>
                </a:r>
                <a:r>
                  <a:rPr lang="en-US" sz="2400" dirty="0" err="1"/>
                  <a:t>về</a:t>
                </a:r>
                <a:r>
                  <a:rPr lang="en-US" sz="2400" dirty="0"/>
                  <a:t> </a:t>
                </a:r>
                <a:r>
                  <a:rPr lang="en-US" sz="2400" dirty="0" err="1"/>
                  <a:t>gần</a:t>
                </a:r>
                <a:r>
                  <a:rPr lang="en-US" sz="2400" dirty="0"/>
                  <a:t> </a:t>
                </a:r>
                <a:r>
                  <a:rPr lang="en-US" sz="2400" dirty="0" err="1"/>
                  <a:t>nhất</a:t>
                </a:r>
                <a:endParaRPr lang="en-US" sz="2400" dirty="0"/>
              </a:p>
              <a:p>
                <a:pPr marL="342900" indent="-342900">
                  <a:buFont typeface="Arial" panose="020B0604020202020204" pitchFamily="34" charset="0"/>
                  <a:buChar char="•"/>
                </a:pPr>
                <a:r>
                  <a:rPr lang="en-US" sz="2400" dirty="0"/>
                  <a:t>F-score</a:t>
                </a:r>
              </a:p>
              <a:p>
                <a:pPr marL="342900" indent="-342900">
                  <a:buFont typeface="Arial" panose="020B0604020202020204" pitchFamily="34" charset="0"/>
                  <a:buChar char="•"/>
                </a:pPr>
                <a:r>
                  <a:rPr lang="en-US" sz="2400" dirty="0"/>
                  <a:t>Average precision</a:t>
                </a:r>
              </a:p>
              <a:p>
                <a:pPr marL="342900" indent="-342900">
                  <a:buFont typeface="Arial" panose="020B0604020202020204" pitchFamily="34" charset="0"/>
                  <a:buChar char="•"/>
                </a:pPr>
                <a:r>
                  <a:rPr lang="en-US" sz="2400" dirty="0"/>
                  <a:t>Mean average precision</a:t>
                </a:r>
              </a:p>
            </p:txBody>
          </p:sp>
        </mc:Choice>
        <mc:Fallback xmlns="">
          <p:sp>
            <p:nvSpPr>
              <p:cNvPr id="3" name="TextBox 2">
                <a:extLst>
                  <a:ext uri="{FF2B5EF4-FFF2-40B4-BE49-F238E27FC236}">
                    <a16:creationId xmlns:a16="http://schemas.microsoft.com/office/drawing/2014/main" id="{239D85C1-20B8-466D-ED89-CB678F9EB8C5}"/>
                  </a:ext>
                </a:extLst>
              </p:cNvPr>
              <p:cNvSpPr txBox="1">
                <a:spLocks noRot="1" noChangeAspect="1" noMove="1" noResize="1" noEditPoints="1" noAdjustHandles="1" noChangeArrowheads="1" noChangeShapeType="1" noTextEdit="1"/>
              </p:cNvSpPr>
              <p:nvPr/>
            </p:nvSpPr>
            <p:spPr>
              <a:xfrm>
                <a:off x="524238" y="1225296"/>
                <a:ext cx="9371476" cy="4077783"/>
              </a:xfrm>
              <a:prstGeom prst="rect">
                <a:avLst/>
              </a:prstGeom>
              <a:blipFill>
                <a:blip r:embed="rId2"/>
                <a:stretch>
                  <a:fillRect l="-911" t="-1196" r="-781" b="-2541"/>
                </a:stretch>
              </a:blipFill>
            </p:spPr>
            <p:txBody>
              <a:bodyPr/>
              <a:lstStyle/>
              <a:p>
                <a:r>
                  <a:rPr lang="en-US">
                    <a:noFill/>
                  </a:rPr>
                  <a:t> </a:t>
                </a:r>
              </a:p>
            </p:txBody>
          </p:sp>
        </mc:Fallback>
      </mc:AlternateContent>
    </p:spTree>
    <p:extLst>
      <p:ext uri="{BB962C8B-B14F-4D97-AF65-F5344CB8AC3E}">
        <p14:creationId xmlns:p14="http://schemas.microsoft.com/office/powerpoint/2010/main" val="1547890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78B4-3CD0-D827-23E5-277E33D7F0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AB44A53-A005-4E6D-07AC-3751A3F17744}"/>
              </a:ext>
            </a:extLst>
          </p:cNvPr>
          <p:cNvSpPr>
            <a:spLocks noGrp="1"/>
          </p:cNvSpPr>
          <p:nvPr>
            <p:ph type="body" sz="quarter" idx="10"/>
          </p:nvPr>
        </p:nvSpPr>
        <p:spPr>
          <a:xfrm>
            <a:off x="958157" y="2517788"/>
            <a:ext cx="10275686" cy="2194234"/>
          </a:xfrm>
        </p:spPr>
        <p:txBody>
          <a:bodyPr/>
          <a:lstStyle/>
          <a:p>
            <a:r>
              <a:rPr lang="en-US" dirty="0" err="1"/>
              <a:t>Tổng</a:t>
            </a:r>
            <a:r>
              <a:rPr lang="en-US" dirty="0"/>
              <a:t> </a:t>
            </a:r>
            <a:r>
              <a:rPr lang="en-US" dirty="0" err="1"/>
              <a:t>kết</a:t>
            </a:r>
            <a:endParaRPr lang="en-US" dirty="0"/>
          </a:p>
        </p:txBody>
      </p:sp>
      <p:sp>
        <p:nvSpPr>
          <p:cNvPr id="4" name="Slide Number Placeholder 3">
            <a:extLst>
              <a:ext uri="{FF2B5EF4-FFF2-40B4-BE49-F238E27FC236}">
                <a16:creationId xmlns:a16="http://schemas.microsoft.com/office/drawing/2014/main" id="{AB10DC85-D35A-CCA3-F019-AAA48119D368}"/>
              </a:ext>
            </a:extLst>
          </p:cNvPr>
          <p:cNvSpPr>
            <a:spLocks noGrp="1"/>
          </p:cNvSpPr>
          <p:nvPr>
            <p:ph type="sldNum" sz="quarter" idx="4"/>
          </p:nvPr>
        </p:nvSpPr>
        <p:spPr/>
        <p:txBody>
          <a:bodyPr/>
          <a:lstStyle/>
          <a:p>
            <a:pPr marL="0" marR="0" lvl="0" indent="0" algn="r" defTabSz="761970" rtl="0" eaLnBrk="1" fontAlgn="auto" latinLnBrk="0" hangingPunct="1">
              <a:lnSpc>
                <a:spcPct val="100000"/>
              </a:lnSpc>
              <a:spcBef>
                <a:spcPts val="0"/>
              </a:spcBef>
              <a:spcAft>
                <a:spcPts val="0"/>
              </a:spcAft>
              <a:buClrTx/>
              <a:buSzTx/>
              <a:buFontTx/>
              <a:buNone/>
              <a:tabLst/>
              <a:defRPr/>
            </a:pPr>
            <a:fld id="{31D26D55-0A22-487A-A687-61FB58A6F16A}" type="slidenum">
              <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76197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2034361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20ABD-7A9A-A92C-E72C-B75C6F53F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69E8F-30FB-E683-E4AB-14F7AD3A44F8}"/>
              </a:ext>
            </a:extLst>
          </p:cNvPr>
          <p:cNvSpPr>
            <a:spLocks noGrp="1"/>
          </p:cNvSpPr>
          <p:nvPr>
            <p:ph type="title"/>
          </p:nvPr>
        </p:nvSpPr>
        <p:spPr/>
        <p:txBody>
          <a:bodyPr>
            <a:noAutofit/>
          </a:bodyPr>
          <a:lstStyle/>
          <a:p>
            <a:r>
              <a:rPr lang="en-US" sz="2800" dirty="0" err="1"/>
              <a:t>Tổng</a:t>
            </a:r>
            <a:r>
              <a:rPr lang="en-US" sz="2800" dirty="0"/>
              <a:t> </a:t>
            </a:r>
            <a:r>
              <a:rPr lang="en-US" sz="2800" dirty="0" err="1"/>
              <a:t>kết</a:t>
            </a:r>
            <a:endParaRPr sz="2800" dirty="0"/>
          </a:p>
        </p:txBody>
      </p:sp>
      <p:sp>
        <p:nvSpPr>
          <p:cNvPr id="4" name="TextBox 3">
            <a:extLst>
              <a:ext uri="{FF2B5EF4-FFF2-40B4-BE49-F238E27FC236}">
                <a16:creationId xmlns:a16="http://schemas.microsoft.com/office/drawing/2014/main" id="{305A7FD6-0B4A-3A8A-A5BE-DBD875D27CC1}"/>
              </a:ext>
            </a:extLst>
          </p:cNvPr>
          <p:cNvSpPr txBox="1"/>
          <p:nvPr/>
        </p:nvSpPr>
        <p:spPr>
          <a:xfrm>
            <a:off x="524238" y="920621"/>
            <a:ext cx="8364474" cy="5016758"/>
          </a:xfrm>
          <a:prstGeom prst="rect">
            <a:avLst/>
          </a:prstGeom>
          <a:noFill/>
        </p:spPr>
        <p:txBody>
          <a:bodyPr wrap="square">
            <a:spAutoFit/>
          </a:bodyPr>
          <a:lstStyle/>
          <a:p>
            <a:pPr marL="285750" indent="-285750">
              <a:buFont typeface="Arial" panose="020B0604020202020204" pitchFamily="34" charset="0"/>
              <a:buChar char="•"/>
            </a:pPr>
            <a:r>
              <a:rPr lang="en-US" sz="3200" dirty="0" err="1"/>
              <a:t>Biểu</a:t>
            </a:r>
            <a:r>
              <a:rPr lang="en-US" sz="3200" dirty="0"/>
              <a:t> </a:t>
            </a:r>
            <a:r>
              <a:rPr lang="en-US" sz="3200" dirty="0" err="1"/>
              <a:t>diễn</a:t>
            </a:r>
            <a:r>
              <a:rPr lang="en-US" sz="3200" dirty="0"/>
              <a:t> </a:t>
            </a:r>
            <a:r>
              <a:rPr lang="en-US" sz="3200" dirty="0" err="1"/>
              <a:t>văn</a:t>
            </a:r>
            <a:r>
              <a:rPr lang="en-US" sz="3200" dirty="0"/>
              <a:t> </a:t>
            </a:r>
            <a:r>
              <a:rPr lang="en-US" sz="3200" dirty="0" err="1"/>
              <a:t>bản</a:t>
            </a:r>
            <a:r>
              <a:rPr lang="en-US" sz="3200" dirty="0"/>
              <a:t>:</a:t>
            </a:r>
          </a:p>
          <a:p>
            <a:pPr marL="800100" lvl="1" indent="-342900">
              <a:buFont typeface="Courier New" panose="02070309020205020404" pitchFamily="49" charset="0"/>
              <a:buChar char="o"/>
            </a:pPr>
            <a:r>
              <a:rPr lang="en-US" sz="3200" dirty="0" err="1"/>
              <a:t>Xử</a:t>
            </a:r>
            <a:r>
              <a:rPr lang="en-US" sz="3200" dirty="0"/>
              <a:t> </a:t>
            </a:r>
            <a:r>
              <a:rPr lang="en-US" sz="3200" dirty="0" err="1"/>
              <a:t>lý</a:t>
            </a:r>
            <a:r>
              <a:rPr lang="en-US" sz="3200" dirty="0"/>
              <a:t> </a:t>
            </a:r>
            <a:r>
              <a:rPr lang="en-US" sz="3200" dirty="0" err="1"/>
              <a:t>từ</a:t>
            </a:r>
            <a:r>
              <a:rPr lang="en-US" sz="3200" dirty="0"/>
              <a:t>: stop list, stemming, thesaurus</a:t>
            </a:r>
          </a:p>
          <a:p>
            <a:pPr marL="800100" lvl="1" indent="-342900">
              <a:buFont typeface="Courier New" panose="02070309020205020404" pitchFamily="49" charset="0"/>
              <a:buChar char="o"/>
            </a:pPr>
            <a:r>
              <a:rPr lang="en-US" sz="3200" dirty="0" err="1"/>
              <a:t>Biểu</a:t>
            </a:r>
            <a:r>
              <a:rPr lang="en-US" sz="3200" dirty="0"/>
              <a:t> </a:t>
            </a:r>
            <a:r>
              <a:rPr lang="en-US" sz="3200" dirty="0" err="1"/>
              <a:t>diễn</a:t>
            </a:r>
            <a:r>
              <a:rPr lang="en-US" sz="3200" dirty="0"/>
              <a:t> </a:t>
            </a:r>
            <a:r>
              <a:rPr lang="en-US" sz="3200" dirty="0" err="1"/>
              <a:t>từ</a:t>
            </a:r>
            <a:r>
              <a:rPr lang="en-US" sz="3200" dirty="0"/>
              <a:t> </a:t>
            </a:r>
            <a:r>
              <a:rPr lang="en-US" sz="3200" dirty="0" err="1"/>
              <a:t>với</a:t>
            </a:r>
            <a:r>
              <a:rPr lang="en-US" sz="3200" dirty="0"/>
              <a:t> </a:t>
            </a:r>
            <a:r>
              <a:rPr lang="en-US" sz="3200" dirty="0" err="1"/>
              <a:t>trọng</a:t>
            </a:r>
            <a:r>
              <a:rPr lang="en-US" sz="3200" dirty="0"/>
              <a:t> </a:t>
            </a:r>
            <a:r>
              <a:rPr lang="en-US" sz="3200" dirty="0" err="1"/>
              <a:t>số</a:t>
            </a:r>
            <a:r>
              <a:rPr lang="en-US" sz="3200" dirty="0"/>
              <a:t>: </a:t>
            </a:r>
            <a:r>
              <a:rPr lang="en-US" sz="3200" dirty="0" err="1"/>
              <a:t>tf</a:t>
            </a:r>
            <a:r>
              <a:rPr lang="en-US" sz="3200" dirty="0"/>
              <a:t>, </a:t>
            </a:r>
            <a:r>
              <a:rPr lang="en-US" sz="3200" b="1" dirty="0" err="1"/>
              <a:t>tf.idf</a:t>
            </a:r>
            <a:r>
              <a:rPr lang="en-US" sz="3200" dirty="0"/>
              <a:t>, …</a:t>
            </a:r>
          </a:p>
          <a:p>
            <a:pPr marL="285750" indent="-285750">
              <a:buFont typeface="Arial" panose="020B0604020202020204" pitchFamily="34" charset="0"/>
              <a:buChar char="•"/>
            </a:pPr>
            <a:r>
              <a:rPr lang="en-US" sz="3200" dirty="0" err="1"/>
              <a:t>Đánh</a:t>
            </a:r>
            <a:r>
              <a:rPr lang="en-US" sz="3200" dirty="0"/>
              <a:t> </a:t>
            </a:r>
            <a:r>
              <a:rPr lang="en-US" sz="3200" dirty="0" err="1"/>
              <a:t>chỉ</a:t>
            </a:r>
            <a:r>
              <a:rPr lang="en-US" sz="3200" dirty="0"/>
              <a:t> </a:t>
            </a:r>
            <a:r>
              <a:rPr lang="en-US" sz="3200" dirty="0" err="1"/>
              <a:t>mục</a:t>
            </a:r>
            <a:r>
              <a:rPr lang="en-US" sz="3200" dirty="0"/>
              <a:t>: </a:t>
            </a:r>
            <a:r>
              <a:rPr lang="en-US" sz="3200" b="1" dirty="0"/>
              <a:t>inverted file</a:t>
            </a:r>
          </a:p>
          <a:p>
            <a:pPr marL="285750" indent="-285750">
              <a:buFont typeface="Arial" panose="020B0604020202020204" pitchFamily="34" charset="0"/>
              <a:buChar char="•"/>
            </a:pPr>
            <a:r>
              <a:rPr lang="en-US" sz="3200" dirty="0" err="1"/>
              <a:t>Truy</a:t>
            </a:r>
            <a:r>
              <a:rPr lang="en-US" sz="3200" dirty="0"/>
              <a:t> </a:t>
            </a:r>
            <a:r>
              <a:rPr lang="en-US" sz="3200" dirty="0" err="1"/>
              <a:t>vấn</a:t>
            </a:r>
            <a:r>
              <a:rPr lang="en-US" sz="3200" dirty="0"/>
              <a:t>: Boolean Model, </a:t>
            </a:r>
            <a:r>
              <a:rPr lang="en-US" sz="3200" b="1" dirty="0"/>
              <a:t>Vector Model</a:t>
            </a:r>
            <a:r>
              <a:rPr lang="en-US" sz="3200" dirty="0"/>
              <a:t>, Probabilistic Model</a:t>
            </a:r>
          </a:p>
          <a:p>
            <a:pPr marL="800100" lvl="1" indent="-342900">
              <a:buFont typeface="Courier New" panose="02070309020205020404" pitchFamily="49" charset="0"/>
              <a:buChar char="o"/>
            </a:pPr>
            <a:r>
              <a:rPr lang="en-US" sz="3200" b="1" dirty="0"/>
              <a:t>Vector Model: </a:t>
            </a:r>
            <a:r>
              <a:rPr lang="en-US" sz="3200" b="1" dirty="0" err="1"/>
              <a:t>hiệu</a:t>
            </a:r>
            <a:r>
              <a:rPr lang="en-US" sz="3200" b="1" dirty="0"/>
              <a:t> </a:t>
            </a:r>
            <a:r>
              <a:rPr lang="en-US" sz="3200" b="1" dirty="0" err="1"/>
              <a:t>quả</a:t>
            </a:r>
            <a:r>
              <a:rPr lang="en-US" sz="3200" b="1" dirty="0"/>
              <a:t> </a:t>
            </a:r>
            <a:r>
              <a:rPr lang="en-US" sz="3200" b="1" dirty="0" err="1"/>
              <a:t>nhất</a:t>
            </a:r>
            <a:r>
              <a:rPr lang="en-US" sz="3200" b="1" dirty="0"/>
              <a:t>,</a:t>
            </a:r>
          </a:p>
          <a:p>
            <a:pPr marL="285750" indent="-285750">
              <a:buFont typeface="Arial" panose="020B0604020202020204" pitchFamily="34" charset="0"/>
              <a:buChar char="•"/>
            </a:pPr>
            <a:r>
              <a:rPr lang="en-US" sz="3200" dirty="0" err="1"/>
              <a:t>Phản</a:t>
            </a:r>
            <a:r>
              <a:rPr lang="en-US" sz="3200" dirty="0"/>
              <a:t> </a:t>
            </a:r>
            <a:r>
              <a:rPr lang="en-US" sz="3200" dirty="0" err="1"/>
              <a:t>hồi</a:t>
            </a:r>
            <a:r>
              <a:rPr lang="en-US" sz="3200" dirty="0"/>
              <a:t> </a:t>
            </a:r>
            <a:r>
              <a:rPr lang="en-US" sz="3200" dirty="0" err="1"/>
              <a:t>thích</a:t>
            </a:r>
            <a:r>
              <a:rPr lang="en-US" sz="3200" dirty="0"/>
              <a:t> </a:t>
            </a:r>
            <a:r>
              <a:rPr lang="en-US" sz="3200" dirty="0" err="1"/>
              <a:t>đáng</a:t>
            </a:r>
            <a:endParaRPr lang="en-US" sz="3200" dirty="0"/>
          </a:p>
          <a:p>
            <a:pPr marL="285750" indent="-285750">
              <a:buFont typeface="Arial" panose="020B0604020202020204" pitchFamily="34" charset="0"/>
              <a:buChar char="•"/>
            </a:pPr>
            <a:r>
              <a:rPr lang="en-US" sz="3200" dirty="0" err="1"/>
              <a:t>Đánh</a:t>
            </a:r>
            <a:r>
              <a:rPr lang="en-US" sz="3200" dirty="0"/>
              <a:t> </a:t>
            </a:r>
            <a:r>
              <a:rPr lang="en-US" sz="3200" dirty="0" err="1"/>
              <a:t>giá</a:t>
            </a:r>
            <a:r>
              <a:rPr lang="en-US" sz="3200" dirty="0"/>
              <a:t> </a:t>
            </a:r>
            <a:r>
              <a:rPr lang="en-US" sz="3200" dirty="0" err="1"/>
              <a:t>hiệu</a:t>
            </a:r>
            <a:r>
              <a:rPr lang="en-US" sz="3200" dirty="0"/>
              <a:t> </a:t>
            </a:r>
            <a:r>
              <a:rPr lang="en-US" sz="3200" dirty="0" err="1"/>
              <a:t>năng</a:t>
            </a:r>
            <a:r>
              <a:rPr lang="en-US" sz="3200" dirty="0"/>
              <a:t>: Precision, Recall, </a:t>
            </a:r>
            <a:r>
              <a:rPr lang="en-US" sz="3200" b="1" dirty="0" err="1"/>
              <a:t>Precisionrecall</a:t>
            </a:r>
            <a:r>
              <a:rPr lang="en-US" sz="3200" b="1" dirty="0"/>
              <a:t> curve</a:t>
            </a:r>
          </a:p>
        </p:txBody>
      </p:sp>
    </p:spTree>
    <p:extLst>
      <p:ext uri="{BB962C8B-B14F-4D97-AF65-F5344CB8AC3E}">
        <p14:creationId xmlns:p14="http://schemas.microsoft.com/office/powerpoint/2010/main" val="2388767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672A3F9AE759D4CBF721086FD91C11A" ma:contentTypeVersion="15" ma:contentTypeDescription="Create a new document." ma:contentTypeScope="" ma:versionID="b8cc9aecaa936cc4076c70ba6d907fca">
  <xsd:schema xmlns:xsd="http://www.w3.org/2001/XMLSchema" xmlns:xs="http://www.w3.org/2001/XMLSchema" xmlns:p="http://schemas.microsoft.com/office/2006/metadata/properties" xmlns:ns3="9701d860-1e23-4cd5-a542-c4cec101c596" xmlns:ns4="5b57aae8-05e8-43c6-8d87-2f773decbea3" targetNamespace="http://schemas.microsoft.com/office/2006/metadata/properties" ma:root="true" ma:fieldsID="1b7e3cd6709354be47a6e52dd8999337" ns3:_="" ns4:_="">
    <xsd:import namespace="9701d860-1e23-4cd5-a542-c4cec101c596"/>
    <xsd:import namespace="5b57aae8-05e8-43c6-8d87-2f773decbea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01d860-1e23-4cd5-a542-c4cec101c59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57aae8-05e8-43c6-8d87-2f773decbea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b57aae8-05e8-43c6-8d87-2f773decbea3" xsi:nil="true"/>
  </documentManagement>
</p:properties>
</file>

<file path=customXml/itemProps1.xml><?xml version="1.0" encoding="utf-8"?>
<ds:datastoreItem xmlns:ds="http://schemas.openxmlformats.org/officeDocument/2006/customXml" ds:itemID="{C8E62533-A63E-4DDF-BE3F-EB604E891127}">
  <ds:schemaRefs>
    <ds:schemaRef ds:uri="http://schemas.microsoft.com/sharepoint/v3/contenttype/forms"/>
  </ds:schemaRefs>
</ds:datastoreItem>
</file>

<file path=customXml/itemProps2.xml><?xml version="1.0" encoding="utf-8"?>
<ds:datastoreItem xmlns:ds="http://schemas.openxmlformats.org/officeDocument/2006/customXml" ds:itemID="{44125366-4D28-4180-B51C-A91CC5AC3B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01d860-1e23-4cd5-a542-c4cec101c596"/>
    <ds:schemaRef ds:uri="5b57aae8-05e8-43c6-8d87-2f773decbea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6984AD-99B3-4968-B204-2B0B4547A710}">
  <ds:schemaRef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http://www.w3.org/XML/1998/namespace"/>
    <ds:schemaRef ds:uri="http://purl.org/dc/dcmitype/"/>
    <ds:schemaRef ds:uri="5b57aae8-05e8-43c6-8d87-2f773decbea3"/>
    <ds:schemaRef ds:uri="9701d860-1e23-4cd5-a542-c4cec101c596"/>
    <ds:schemaRef ds:uri="http://purl.org/dc/terms/"/>
  </ds:schemaRefs>
</ds:datastoreItem>
</file>

<file path=docMetadata/LabelInfo.xml><?xml version="1.0" encoding="utf-8"?>
<clbl:labelList xmlns:clbl="http://schemas.microsoft.com/office/2020/mipLabelMetadata">
  <clbl:label id="{2f173612-6f45-4520-9df8-32d7ba5f2c44}" enabled="0" method="" siteId="{2f173612-6f45-4520-9df8-32d7ba5f2c44}" removed="1"/>
</clbl:labelList>
</file>

<file path=docProps/app.xml><?xml version="1.0" encoding="utf-8"?>
<Properties xmlns="http://schemas.openxmlformats.org/officeDocument/2006/extended-properties" xmlns:vt="http://schemas.openxmlformats.org/officeDocument/2006/docPropsVTypes">
  <TotalTime>984</TotalTime>
  <Words>2854</Words>
  <Application>Microsoft Office PowerPoint</Application>
  <PresentationFormat>Widescreen</PresentationFormat>
  <Paragraphs>374</Paragraphs>
  <Slides>39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Arial</vt:lpstr>
      <vt:lpstr>Cambria Math</vt:lpstr>
      <vt:lpstr>Courier New</vt:lpstr>
      <vt:lpstr>Google Sans Text</vt:lpstr>
      <vt:lpstr>Times New Roman</vt:lpstr>
      <vt:lpstr>Wingdings</vt:lpstr>
      <vt:lpstr>Opening slide</vt:lpstr>
      <vt:lpstr>Body slide</vt:lpstr>
      <vt:lpstr>PowerPoint Presentation</vt:lpstr>
      <vt:lpstr>Mục lục</vt:lpstr>
      <vt:lpstr>Văn bản</vt:lpstr>
      <vt:lpstr>PowerPoint Presentation</vt:lpstr>
      <vt:lpstr>Tìm kiếm thông tin văn bản</vt:lpstr>
      <vt:lpstr>Biểu diễn và tìm kiếm</vt:lpstr>
      <vt:lpstr>Ví dụ</vt:lpstr>
      <vt:lpstr>Vấn đề khi khớp xâu</vt:lpstr>
      <vt:lpstr>Kiến trúc tổng thể hệ thống IR</vt:lpstr>
      <vt:lpstr>Biểu diễn văn bản</vt:lpstr>
      <vt:lpstr>Biểu diễn văn bản</vt:lpstr>
      <vt:lpstr>Biểu diễn văn bản</vt:lpstr>
      <vt:lpstr>Biểu diễn văn bản</vt:lpstr>
      <vt:lpstr>Biểu diễn văn bản</vt:lpstr>
      <vt:lpstr>Biểu diễn văn bản</vt:lpstr>
      <vt:lpstr>Biểu diễn văn bản</vt:lpstr>
      <vt:lpstr>PowerPoint Presentation</vt:lpstr>
      <vt:lpstr>Đánh chỉ mục (indexing)</vt:lpstr>
      <vt:lpstr>File đảo – inverted file</vt:lpstr>
      <vt:lpstr>File đảo – inverted file</vt:lpstr>
      <vt:lpstr>PowerPoint Presentation</vt:lpstr>
      <vt:lpstr>Tìm kiếm (Retrieving/Searching)</vt:lpstr>
      <vt:lpstr>Boolean Model</vt:lpstr>
      <vt:lpstr>Vector Model</vt:lpstr>
      <vt:lpstr>Vector Model</vt:lpstr>
      <vt:lpstr>Vector Model</vt:lpstr>
      <vt:lpstr>LSI</vt:lpstr>
      <vt:lpstr>LSI</vt:lpstr>
      <vt:lpstr>LSI Ý nghĩa của SVD</vt:lpstr>
      <vt:lpstr>LSI</vt:lpstr>
      <vt:lpstr>LSI-Truy vấn</vt:lpstr>
      <vt:lpstr>LSI-Truy vấn</vt:lpstr>
      <vt:lpstr>Probabilistic Model</vt:lpstr>
      <vt:lpstr>PowerPoint Presentation</vt:lpstr>
      <vt:lpstr>Phản hồi thích đáng (Relevance Feedback)</vt:lpstr>
      <vt:lpstr>Phản hồi thích đáng (Relevance Feedback)</vt:lpstr>
      <vt:lpstr>Đánh giá hiệu năng hệ thống truy vấn</vt:lpstr>
      <vt:lpstr>PowerPoint Presentation</vt:lpstr>
      <vt:lpstr>Tổng kết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Hai Ngo</dc:creator>
  <cp:lastModifiedBy>Hung. Nguyen Viet - CMC ATI</cp:lastModifiedBy>
  <cp:revision>92</cp:revision>
  <dcterms:created xsi:type="dcterms:W3CDTF">2025-04-30T14:15:42Z</dcterms:created>
  <dcterms:modified xsi:type="dcterms:W3CDTF">2025-12-11T04:38:51Z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0x010100E672A3F9AE759D4CBF721086FD91C11A</vt:lpwstr>
  </property>
</Properties>
</file>