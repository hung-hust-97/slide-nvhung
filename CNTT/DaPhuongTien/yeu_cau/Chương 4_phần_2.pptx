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62"/>
  </p:notesMasterIdLst>
  <p:sldIdLst>
    <p:sldId id="267" r:id="rId3"/>
    <p:sldId id="268" r:id="rId4"/>
    <p:sldId id="320" r:id="rId5"/>
    <p:sldId id="269" r:id="rId6"/>
    <p:sldId id="271" r:id="rId7"/>
    <p:sldId id="273" r:id="rId8"/>
    <p:sldId id="272" r:id="rId9"/>
    <p:sldId id="322" r:id="rId10"/>
    <p:sldId id="274" r:id="rId11"/>
    <p:sldId id="275" r:id="rId12"/>
    <p:sldId id="276" r:id="rId13"/>
    <p:sldId id="323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327" r:id="rId26"/>
    <p:sldId id="326" r:id="rId27"/>
    <p:sldId id="328" r:id="rId28"/>
    <p:sldId id="324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325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7"/>
    <a:srgbClr val="3B44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EA69-4B77-4361-A78F-B68DC324DB4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C2F89-9B9E-42F1-857B-F6C04482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5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7EA8-8432-6B03-2712-06C878DD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5937E-CB70-8FC1-6B82-91F68B54F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D4CD3-5B8C-7B0D-67B2-18F3A3C1E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9E966-DD8E-E7FF-7038-2E957341C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78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024E6-3618-6AB3-8AE1-0E164AC7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4952-5DA9-AB1D-9843-60DFE6167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41B9A-19A0-821C-8962-51FDE5097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929B4-7291-C0CA-CC20-C90CC14AC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02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1695-FA29-42A2-1790-00DDC0B7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BE206-8DA3-8789-5F99-854F82373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C881A-C550-B5F7-97BA-6BA1C400F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2A4BB-2B02-0021-76F4-34281AF93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12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A4EB-140E-37EE-65A0-86A16CBB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693F1-BF2F-EF7B-7532-EDB6BB801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3C942-21E4-2799-D212-7A6DA8171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2823B-FB1E-05DE-0D90-88F7C1667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0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0DB6-41A9-E320-8B8F-849AF39E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3954C-0300-9C23-5289-773CF90F9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C3A1C-BD17-F17C-425D-AA38CE067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D5512-245C-279A-92FF-3347CC78F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65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0A7A-4C32-F7F9-948F-66E28E4D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FCC61-97AC-8B0E-80FA-D01D3000B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4D57E-F248-EFAB-30D0-F81A87407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CEEE3-1B1F-594C-95DF-72206590D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61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B562-52B6-C71B-E0A6-A2F3F9F7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3E753-E356-F0F2-E612-5A751BC42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02D8E-A99B-CC50-9A64-71114B500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DACAC-5C61-BC02-8D9C-ED3266441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95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CA8A-EE16-2098-784F-67F35CCC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77F6D-22CF-E34F-4D07-791C07EFE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8A05F-7498-DFEC-C346-E7ABD0E50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8E80C-D018-DF40-CFB6-AC2E04900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56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B4752-07C5-1B7E-AF62-48B7C5B2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3E81C-9EE1-D9DE-ECBD-6B82E3776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2F745-2C89-2DAE-8BC5-EFDED85CE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B2B4B-863D-9F22-C9FE-F337EF048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63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B975-AA24-4208-9222-4B68AF47E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72771-270E-0B19-C2CC-F6094F66C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6C3A3-1A43-A41E-6E29-E70FB5990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5A1FC-7908-3E62-ACD7-84F75E5E8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83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5E21-BE92-C4C8-EF4D-2BD185D4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B023C-69DB-08EF-4329-30DE3E323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529A2-233B-8C79-D6B8-DF3AAEF83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855F5-028C-EE3E-8379-FEADE9E1D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37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025A-19D4-DE66-F412-EB77FFF7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2EC6B-7534-8755-5E53-96AC9E765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93AC7-C14E-2B56-9C2A-A4CBF3C3E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00CB9-7238-0601-4B6C-3C4BA44A7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12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D767-1ED6-50A0-4554-8547C298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48F44-B4F6-1114-25D0-ED39A9686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31689-0139-E06C-4253-E3ADC6BE4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4BB69-45FE-38CC-031B-92268E9F9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03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7613-4532-1721-5797-661751B9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1B6FF-CCCB-6467-A9FA-D02E597BD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30C9C-7084-4616-A322-2C8591F86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D072F-2519-7728-69FA-76F5269C9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431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BD83-BB0A-AF88-665D-8174FD42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1AE02-71E6-106A-4F65-C5472BB49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10AA2-C978-D9A0-B42E-4E17DCA57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0862C-A100-20A8-8BD8-F1E3944EF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55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FE8C8-6522-3822-1842-157BEAAE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E6CB4-3F57-1515-A728-C81DD9DC9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06AE8-DABA-FBB2-233F-57179727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802A7-4234-6386-BAE8-5E326C746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98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F6F8-8050-8344-9D55-20CA5507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9E4DC-11EA-918E-9641-E9389F8F1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25A2C-901D-73BE-47A9-3E1E4C0A7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9A8A4-F447-CA23-2BC1-AEE24AEBA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35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9CD16-9DC2-AF18-4B09-DD2912F2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9D696-E27B-6406-7F68-2B501D708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BD7B6-DA80-CF07-35C3-89EB76DCD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9A00F-8B74-F11F-C507-D63817024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54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07E95-115A-F8D1-9C4C-8B657320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3EBB4-6907-105A-57F2-B1023A1EF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BF61F-D26B-3A0D-61F1-803243FC0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2CFFC-CA02-F349-FDF1-C069FEB8C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3C2F89-9B9E-42F1-857B-F6C0448228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008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04D94-AA35-2654-EA33-078959C3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E4A07-D7D2-BCDA-9763-7B60187DB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89A00-0F5C-E6D6-76C4-3E82DE67D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97733-B843-9358-0D6E-F5FFC0500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3C2F89-9B9E-42F1-857B-F6C0448228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9793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781D4-DD59-4872-C3EE-F308EE50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1BCE3-2A95-D2A9-A40D-32F71A8DD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C19A3-57BE-1837-6FDE-17C9C7B1D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2BAB7-5FCB-EF0B-AA0A-C1266A119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106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6B10D-D3E5-B8BA-356A-8B14AD64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7A464-1E99-C90B-BE94-9AF363921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8C711-76CD-D5D5-2F95-7069F82A6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A08DE-3D0E-E950-A107-BE98A9DFC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408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EA44-976D-3DF7-F36F-DBADAD2F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6E7CB-2C62-ED04-350C-980A6642F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192D4-2879-9E38-D028-56BAEE5C6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0CDDE-B3E5-2C79-B5B3-825966B42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538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D346-1BF3-C909-AAD1-F2022F336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9A243-0515-170E-9D52-1C3170ED3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EFF4B-A733-452E-3165-7AF99A017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56077-7C5E-32D0-09B6-ED30EFDE5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21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350BE-7222-5348-73C5-EE56C7C88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12299-763E-5C27-B8C0-BD324B497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35FCA-5389-2795-CA97-B1F1D5340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06523-A194-AABB-5AF9-299B630B1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334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7F868-8113-59F0-8D8A-B9E3A838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49383-0B45-069F-D593-9DCF0D651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AF9A9-2934-BEF7-C429-5AAAEBFDF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DC9DE-2B29-ECA1-0659-2B20BF399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493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98294-56C6-8C23-50B8-146E7E144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EBE6E-80EA-68CD-6C8D-2D501E962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EF552-CB65-5A9B-3503-0242341FE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60ED3-3EE6-E04F-E229-F43572A9B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075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8FA64-6E6B-43B9-EBA5-DB12FC29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6DA41-7260-916B-62A5-9471DB424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2A3A3-7184-9339-AB3D-5C0F55C3A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62CEB-6502-2712-8260-585A7A3D7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823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C47D-3620-1C71-1A54-85C3D9CE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68FCA-27F5-B1BB-3C59-4A7658C17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F5076-1DCE-AB04-36BF-91BDCE6F1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EEC24-39EB-F708-D4C4-C2924CADC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710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BAC7-B6BF-84DE-874A-FD5F021C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89C1E-B872-944A-C0FA-10EEFC8B0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8D23D-0C72-52E8-5A1B-392C405E5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19493-6595-B00D-5276-8615A4B1E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268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A381-ED75-E2DA-2AA8-593900227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7C2FC-C602-79DC-E06D-2B4B6B0D7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438D0-60D0-336B-92B2-AD4EAE273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64C70-6DEA-AEDB-6C77-8A61B0D32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175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1503E-7985-F50C-0306-7DC5DA5B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2F8B5-E243-B96F-E931-46F05EB6F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09505-3EF5-66C8-984A-429878909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0DCB6-9BBA-2903-E8F4-AFC116A93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146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64373-3AE0-1581-4B2D-948135F72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FD175-0C1A-BAE2-169D-0D6793358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41D0B-E1BC-E200-AC33-AA7514D99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6D6AE-5B7D-EB4D-F62B-A3782A910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66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19EA-33BA-4053-6E9E-1CFADAE99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21EEC-D86B-95B8-3EE9-B9A17D39B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B630E-E199-5FA9-3B56-07449ADCD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558A6-7067-4B2F-402F-0B85FACD1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642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E35C7-3DE1-5CC1-C32E-DB8EE065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06AF5-7320-CE38-B0D4-3C6ED7241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57CD9-BFA3-111F-9861-70B8FE6D0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0D48A-1CE0-398A-2480-F131A06C5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714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6779-F104-3097-3AC5-7ED84AB2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CEEBE-6B83-723A-845C-B5C182F85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8AB48-A41F-6E24-C4BE-9BB59E410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3B1B1-9A7A-1125-94F9-2052261BC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314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7695-941E-A48A-01CB-561128FF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46767-5DDC-A138-A333-263E16712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D5995-1897-C5D1-FA12-74DC2D4E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24A32-027E-05DD-17FF-795F07A31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058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7C66-9B33-61D1-BB08-C077DDF6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6093C-33BA-53FC-B604-F3D70BCCB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D3C8E-79F0-D3BF-EF9B-026414507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A31E-774B-5894-3683-2C79BFB6D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68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D115-D942-7EDA-9A1D-9D00E85A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CC070-1BE7-E95E-F890-319CC4A2F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FC569-F367-CF79-3B71-7586FFEC7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1F1A3-3CD9-F950-73EC-A7F7AB4FE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146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A533-462D-FCCE-C766-877945E3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B2C91-2DF8-AEDF-AE83-3158E1973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F6591-9953-3958-698F-4ED1921B4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12772-2F7D-627A-DAD7-58A8C46C5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655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53B2-2747-3582-77A2-893F45ED6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1A727-0C1B-94FE-62E3-A6EC2C64D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E45D2-0A94-5EA6-90BA-1A387D859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34FB1-FD14-2409-9C6F-9315A799A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654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CB10-462D-9E66-B2BD-AAE3D863D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9696E-CD98-2A3D-C038-6E7B1925F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471BC-8ECD-7B01-7587-3C10642F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6B899-AAA5-27F9-3E7B-40CBE32C6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106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B1806-8002-AADD-E63C-F3CD471F1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42D28-D82C-EB5B-6531-E23476FD0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6643E-3B9C-8A6D-BB3F-6A9822ACA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744D3-D1B1-B1E3-9C8C-3B156CF84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459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732D0-87F2-20D6-4F6A-22CCEC45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E8ABA-D5AD-B634-B7CC-AC416A729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C0824-11B4-7439-571D-D4381BB7F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1D6BC-901C-F73D-399F-417D98B1F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836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2EE7-566B-CE3B-0D00-1311A5D5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71673-97B3-8793-5C53-7CE85911E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B6702-8082-6F48-D694-486968BF1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C6834-7755-B43D-4CA3-263CEE6FE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356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8A4D-5972-3D43-B0A5-B4BC7A2F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53622-6A02-759E-6728-423F969B1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B471F-8101-3D42-BD25-EE20D28EF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923D5-34E0-FE4A-67A8-18647487F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018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D328E-A7A6-8560-CD76-831EADB7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7F4A4-6D3C-0739-8F32-2A150A566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E683D-2BD7-2480-A129-C8F5E7D23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507BC-A736-CB60-805C-C923B806C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198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576D9-394D-243F-D538-8803E4206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52447-EDB1-39F3-7F46-5AD02A287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1756C-5056-2B05-A96E-3EC0DEF6E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6B3FE-3111-188B-1CDD-5242A02B8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347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415C5-D18A-8D45-90D2-E24AE1AA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B4E66-52ED-53B1-6F95-02442258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996C9-262C-0D44-F25A-AC93F31C5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DDC83-1539-2A1C-981C-273B607C5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676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FC02-7439-9085-3B2B-CC64FCFD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4EACB-D86B-FA22-7D9E-259ED7179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3BB0E-5F18-7590-B095-9FE2E34C1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BD58-E323-5DAB-CC93-71469876D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220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C67C-25A9-32E1-5BDC-73295E74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E4D96-4069-0F27-8ED0-2CD824CF2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34F57-A4DA-495F-FCC9-27EE5AB88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79E08-0DE4-8347-0895-9C09A06BA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79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9FEC1-483B-425E-B0C1-B8B1F2119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112" y="2164702"/>
            <a:ext cx="10800557" cy="21942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B98C62-0FD9-4624-8D35-0215614328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112" y="4433672"/>
            <a:ext cx="10800557" cy="412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EB812CF-FC02-4C33-A206-BCF1436A3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4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957C91-5AD0-4461-941C-245F03436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500" y="1589103"/>
            <a:ext cx="10962859" cy="4572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181B04-7A0A-4201-BF8A-A7E924267571}"/>
              </a:ext>
            </a:extLst>
          </p:cNvPr>
          <p:cNvSpPr txBox="1">
            <a:spLocks/>
          </p:cNvSpPr>
          <p:nvPr userDrawn="1"/>
        </p:nvSpPr>
        <p:spPr>
          <a:xfrm>
            <a:off x="3311372" y="-11424"/>
            <a:ext cx="8880629" cy="789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000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BAE61E2-5E8A-4CA1-8C1E-1106F4E46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DA09F63-7F7A-4F6B-8B0F-50384B01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9293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1910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51A7-6B22-4874-8FC5-ED388E5D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00" y="1597981"/>
            <a:ext cx="10971737" cy="457898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F4D43A2-E4DB-497D-9B5D-E32D9E64B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B04073-83B8-47CB-9F12-D7CD4B66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9293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25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E213-C056-49F2-8A77-C3C4C25F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1" y="1597982"/>
            <a:ext cx="10971737" cy="4580877"/>
          </a:xfrm>
        </p:spPr>
        <p:txBody>
          <a:bodyPr/>
          <a:lstStyle>
            <a:lvl1pPr marL="0" indent="0">
              <a:buNone/>
              <a:defRPr sz="2400">
                <a:solidFill>
                  <a:srgbClr val="0070C0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A76B584-4F94-4DD1-9943-77A2F3AF1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40D9B5B-D231-4612-89E6-B4776226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147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5726-7887-4ED4-A172-AF9307881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500" y="1606858"/>
            <a:ext cx="5473500" cy="4570105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0F843-3E9A-4C49-A1AC-A3FA71EF7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5942" y="1606858"/>
            <a:ext cx="5473499" cy="4570105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6FCE726-79EE-487F-9798-E531C3475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FB126F2-FBF5-4556-AAF5-1ECB22E1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91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CF06-6B06-4E7F-82EA-7C5047EA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0" y="1603275"/>
            <a:ext cx="5473500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9E841-81B0-403F-B4A9-7ACB7AAF8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500" y="2512382"/>
            <a:ext cx="5473499" cy="3677281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B9AEE-2F75-43DB-921D-43380FB8C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1" y="1603275"/>
            <a:ext cx="54734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1E4C2-CBB6-4430-BE56-3BF9E9AA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5999" y="2512382"/>
            <a:ext cx="5473500" cy="3677281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DD1D7D5-B40B-4404-87A7-8074677D8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01B562F-EFD8-422F-B98E-C48C0F73A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276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972AD-1D52-4C38-A4F1-BA8AAFF97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0797FE1-3F5B-4DD2-B196-B7AAF662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31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3D6C-BEF2-4E06-A9B0-9A309DB3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5985" y="1606858"/>
            <a:ext cx="6622644" cy="4563122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CDB52-24E0-4CBA-AE63-33BD3EF65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2500" y="1606859"/>
            <a:ext cx="4008210" cy="4563122"/>
          </a:xfrm>
        </p:spPr>
        <p:txBody>
          <a:bodyPr/>
          <a:lstStyle>
            <a:lvl1pPr marL="0" indent="0">
              <a:buNone/>
              <a:defRPr sz="16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EEB6E2B-6FA2-4169-B497-FAE2CD95A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79BEDD5-9D69-4F36-BBA7-2ED62B0A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0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3D43A-8744-40D7-AFFD-6F0B4A4EC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82718" y="1606859"/>
            <a:ext cx="6675910" cy="455424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82" indent="0">
              <a:buNone/>
              <a:defRPr sz="2800"/>
            </a:lvl2pPr>
            <a:lvl3pPr marL="914363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0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C3DD-CC1C-4A73-BCDA-09DF7D09C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2500" y="1606860"/>
            <a:ext cx="3983272" cy="45542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22E68E5-0D29-4AF4-99F7-1F5BCDCEB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BED9312-A7F8-456D-9D54-D034D097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0921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586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93FDE-0843-445A-8B34-9092D666F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2500" y="1597982"/>
            <a:ext cx="10962859" cy="45789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3D0DE23-B8AD-4136-812D-27D46B8AD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A661BC8-CBE6-40B1-BF65-3DDC3730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1CC48-27A5-4590-A158-B24464D8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2500" y="1589103"/>
            <a:ext cx="10962859" cy="45878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F7114A3-57EF-412A-8AEB-90C1FF86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91FBA3B-7B9C-4B9A-93C5-F00783BA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0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166A51-751E-4C91-AF12-35FEA5D26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758" y="693895"/>
            <a:ext cx="2930486" cy="1316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40CFA-9026-435C-9897-175C51B6B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78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63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6BAF0-010B-4DE2-BDEA-F2879C62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23831"/>
            <a:ext cx="9146651" cy="466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B290-2494-4607-B867-D433D753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0" y="1313896"/>
            <a:ext cx="10947000" cy="4863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278EBD5-1C90-47B8-ADFB-BF109E3CF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EC741C-2937-40DA-B5CD-6BDD68A49B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551" y="128067"/>
            <a:ext cx="1453950" cy="25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09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230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EACC5C-4747-42C2-9BF5-D1B4A98474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12" y="2517788"/>
            <a:ext cx="10800557" cy="2194234"/>
          </a:xfrm>
        </p:spPr>
        <p:txBody>
          <a:bodyPr/>
          <a:lstStyle/>
          <a:p>
            <a:r>
              <a:rPr lang="en-US" err="1"/>
              <a:t>Chương</a:t>
            </a:r>
            <a:r>
              <a:rPr lang="en-US"/>
              <a:t> 4: </a:t>
            </a:r>
            <a:endParaRPr lang="en-US" dirty="0"/>
          </a:p>
          <a:p>
            <a:r>
              <a:rPr lang="en-US"/>
              <a:t>Tìm kiếm dữ liệu ĐPT</a:t>
            </a:r>
          </a:p>
          <a:p>
            <a:r>
              <a:rPr lang="en-US"/>
              <a:t>P2: Dữ liệu 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8CFE-703F-41E2-8287-366117133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761970"/>
            <a:fld id="{31D26D55-0A22-487A-A687-61FB58A6F16A}" type="slidenum">
              <a:rPr lang="en-US">
                <a:solidFill>
                  <a:prstClr val="white"/>
                </a:solidFill>
              </a:rPr>
              <a:pPr defTabSz="761970"/>
              <a:t>1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84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Mục</a:t>
            </a:r>
            <a:r>
              <a:rPr lang="en-US" sz="2800" dirty="0"/>
              <a:t> </a:t>
            </a:r>
            <a:r>
              <a:rPr lang="en-US" sz="2800" dirty="0" err="1"/>
              <a:t>lục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A1DCC-36BF-5424-1748-DC12B3D63F1A}"/>
              </a:ext>
            </a:extLst>
          </p:cNvPr>
          <p:cNvSpPr txBox="1"/>
          <p:nvPr/>
        </p:nvSpPr>
        <p:spPr>
          <a:xfrm>
            <a:off x="448056" y="1391424"/>
            <a:ext cx="73981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vi-V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Tổng quan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vi-V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Biểu diễn ảnh – trích chọn đặc trưng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vi-V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Đánh chỉ mục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vi-VN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Đối sách ảnh: tương tự, không gian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C57D-D4D0-82C6-C7A8-C59DB29B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E33DB5-53D4-B4C5-7C41-F6389F1E70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BC5F7-890B-3EAD-975B-1E0A714CC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532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938E-B9D1-6A55-9F2D-A542F3F0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5D73F10-7506-73C6-F036-E545193AD742}"/>
              </a:ext>
            </a:extLst>
          </p:cNvPr>
          <p:cNvSpPr/>
          <p:nvPr/>
        </p:nvSpPr>
        <p:spPr>
          <a:xfrm>
            <a:off x="8609162" y="752646"/>
            <a:ext cx="2499229" cy="1842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81087-08EC-6DB3-B110-5463D8AA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Ảnh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lưu</a:t>
            </a:r>
            <a:r>
              <a:rPr lang="en-US" sz="2800" dirty="0"/>
              <a:t> </a:t>
            </a:r>
            <a:r>
              <a:rPr lang="en-US" sz="2800" dirty="0" err="1"/>
              <a:t>trữ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E2612-93E5-50BB-E7E9-DBF5CBF94486}"/>
              </a:ext>
            </a:extLst>
          </p:cNvPr>
          <p:cNvSpPr txBox="1"/>
          <p:nvPr/>
        </p:nvSpPr>
        <p:spPr>
          <a:xfrm>
            <a:off x="588938" y="809393"/>
            <a:ext cx="3483160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Tổng quan:</a:t>
            </a:r>
            <a:endParaRPr lang="en-US" sz="2000" b="1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Mức xám – 8 bits: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0 – đen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255 – trắng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Ảnh là tín hiệu 2D (x,y)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Về mặt toán học: ảnh là một </a:t>
            </a:r>
            <a:r>
              <a:rPr lang="en-US" sz="2000"/>
              <a:t>ma trận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biểu diễn tín hiệu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Đối người người dùng: Ảnh chứa </a:t>
            </a:r>
            <a:r>
              <a:rPr lang="en-US" sz="2000"/>
              <a:t>thông tin về ngữ nghĩa</a:t>
            </a:r>
          </a:p>
        </p:txBody>
      </p:sp>
      <p:pic>
        <p:nvPicPr>
          <p:cNvPr id="1026" name="Picture 2" descr="Illustration for pixels with its neighborhood relationship  ">
            <a:extLst>
              <a:ext uri="{FF2B5EF4-FFF2-40B4-BE49-F238E27FC236}">
                <a16:creationId xmlns:a16="http://schemas.microsoft.com/office/drawing/2014/main" id="{5A858101-60CF-9FB3-3499-9528CE9C9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55" y="933450"/>
            <a:ext cx="3610119" cy="152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0F8FCB-923B-924C-D576-D3BA61070263}"/>
              </a:ext>
            </a:extLst>
          </p:cNvPr>
          <p:cNvSpPr txBox="1"/>
          <p:nvPr/>
        </p:nvSpPr>
        <p:spPr>
          <a:xfrm>
            <a:off x="8683806" y="840394"/>
            <a:ext cx="27307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64 60 69 100 149 151 176 182 179 </a:t>
            </a:r>
          </a:p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65 62 68 97 145 148 175 183 181 </a:t>
            </a:r>
          </a:p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65 66 70 95 142 146 176 185 184 </a:t>
            </a:r>
          </a:p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66 66 68 90 135 140 172 184 184 </a:t>
            </a:r>
          </a:p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66 64 64 84 129 134 168 181 182 </a:t>
            </a:r>
          </a:p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59 63 62 88 130 128 166 185 180 </a:t>
            </a:r>
          </a:p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60 62 60 85 127 125 163 183 178 </a:t>
            </a:r>
          </a:p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62 62 58 81 122 120 160 181 176 </a:t>
            </a:r>
          </a:p>
          <a:p>
            <a:pPr algn="just"/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63 64 58 78 118 117 159 180 176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3B42F6-B377-DBE9-05CC-F4A55195A841}"/>
              </a:ext>
            </a:extLst>
          </p:cNvPr>
          <p:cNvGrpSpPr/>
          <p:nvPr/>
        </p:nvGrpSpPr>
        <p:grpSpPr>
          <a:xfrm>
            <a:off x="4245626" y="2985029"/>
            <a:ext cx="3295681" cy="2927728"/>
            <a:chOff x="5237023" y="2842128"/>
            <a:chExt cx="4064767" cy="3610948"/>
          </a:xfrm>
        </p:grpSpPr>
        <p:pic>
          <p:nvPicPr>
            <p:cNvPr id="15" name="Picture 14" descr="A close-up of a person's face&#10;&#10;AI-generated content may be incorrect.">
              <a:extLst>
                <a:ext uri="{FF2B5EF4-FFF2-40B4-BE49-F238E27FC236}">
                  <a16:creationId xmlns:a16="http://schemas.microsoft.com/office/drawing/2014/main" id="{2B25D5EF-EC62-B45C-9B19-49C6AEFEF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37023" y="2842128"/>
              <a:ext cx="1991003" cy="1581371"/>
            </a:xfrm>
            <a:prstGeom prst="rect">
              <a:avLst/>
            </a:prstGeom>
          </p:spPr>
        </p:pic>
        <p:pic>
          <p:nvPicPr>
            <p:cNvPr id="13" name="Picture 12" descr="A close-up of a variety of fruits&#10;&#10;AI-generated content may be incorrect.">
              <a:extLst>
                <a:ext uri="{FF2B5EF4-FFF2-40B4-BE49-F238E27FC236}">
                  <a16:creationId xmlns:a16="http://schemas.microsoft.com/office/drawing/2014/main" id="{D753910D-FA1D-ED72-7CBC-4D5971247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5153" y="3271280"/>
              <a:ext cx="3486637" cy="3181794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4150438-9031-6D6E-5502-7B13575156A4}"/>
              </a:ext>
            </a:extLst>
          </p:cNvPr>
          <p:cNvSpPr txBox="1"/>
          <p:nvPr/>
        </p:nvSpPr>
        <p:spPr>
          <a:xfrm>
            <a:off x="7830072" y="3243032"/>
            <a:ext cx="38661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210 209 204 202 197 247 143 71 64 80 84 54 54 57 58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206 196 203 197 195 210 207 56 63 58 53 53 61 62 51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201 207 192 201 198 213 156 69 65 57 55 52 53 60 50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216 206 211 193 202 207 208 57 69 60 55 77 49 62 61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221 206 211 194 196 197 220 56 63 60 55 46 97 58 106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209 214 224 199 194 193 204 173 64 60 59 51 62 56 48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204 212 213 208 191 190 191 214 60 62 66 76 51 49 55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214 215 215 207 208 180 172 188 69 72 55 49 56 52 56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209 205 214 205 204 196 187 196 86 62 66 87 57 60 48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208 209 205 203 202 186 174 185 149 71 63 55 55 45 56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207 210 211 199 217 194 183 177 209 90 62 64 52 93 52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208 205 209 209 197 194 183 187 187 239 58 68 61 51 56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204 206 203 209 195 203 188 185 183 221 75 61 58 60 60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200 203 199 236 188 197 183 190 183 196 122 63 58 64 66 </a:t>
            </a:r>
          </a:p>
          <a:p>
            <a:r>
              <a:rPr lang="en-US" sz="1200">
                <a:solidFill>
                  <a:schemeClr val="bg2">
                    <a:lumMod val="25000"/>
                  </a:schemeClr>
                </a:solidFill>
              </a:rPr>
              <a:t>205 210 202 203 199 197 196 181 173 186 105 62 57 64 63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546253-1E0C-E383-D091-6C35AE558FB8}"/>
              </a:ext>
            </a:extLst>
          </p:cNvPr>
          <p:cNvSpPr/>
          <p:nvPr/>
        </p:nvSpPr>
        <p:spPr>
          <a:xfrm>
            <a:off x="7830072" y="3183936"/>
            <a:ext cx="3866162" cy="29183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9D20A3-8201-106F-FC21-4338D093BF6E}"/>
              </a:ext>
            </a:extLst>
          </p:cNvPr>
          <p:cNvCxnSpPr>
            <a:cxnSpLocks/>
          </p:cNvCxnSpPr>
          <p:nvPr/>
        </p:nvCxnSpPr>
        <p:spPr>
          <a:xfrm flipV="1">
            <a:off x="5604023" y="3429000"/>
            <a:ext cx="2110812" cy="304098"/>
          </a:xfrm>
          <a:prstGeom prst="line">
            <a:avLst/>
          </a:prstGeom>
          <a:ln w="28575" cap="flat" cmpd="sng" algn="ctr">
            <a:solidFill>
              <a:schemeClr val="bg2">
                <a:lumMod val="1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6BB0B7-B57F-3C26-0975-CFE3B5B9D40E}"/>
              </a:ext>
            </a:extLst>
          </p:cNvPr>
          <p:cNvCxnSpPr>
            <a:cxnSpLocks/>
          </p:cNvCxnSpPr>
          <p:nvPr/>
        </p:nvCxnSpPr>
        <p:spPr>
          <a:xfrm>
            <a:off x="5574878" y="3868950"/>
            <a:ext cx="2139957" cy="1941300"/>
          </a:xfrm>
          <a:prstGeom prst="line">
            <a:avLst/>
          </a:prstGeom>
          <a:ln w="28575" cap="flat" cmpd="sng" algn="ctr">
            <a:solidFill>
              <a:schemeClr val="bg2">
                <a:lumMod val="1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90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86DD-5ABA-EE00-6A2C-69AC84A6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C0F5-9623-A51E-693A-6C04FCC07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97" y="-63819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loại</a:t>
            </a:r>
            <a:r>
              <a:rPr lang="en-US" sz="3200" dirty="0"/>
              <a:t> </a:t>
            </a:r>
            <a:r>
              <a:rPr lang="en-US" sz="3200" dirty="0" err="1"/>
              <a:t>ảnh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1ABC7-49F5-85C2-6166-1D1EFBAA30AC}"/>
              </a:ext>
            </a:extLst>
          </p:cNvPr>
          <p:cNvSpPr txBox="1"/>
          <p:nvPr/>
        </p:nvSpPr>
        <p:spPr>
          <a:xfrm>
            <a:off x="588937" y="809393"/>
            <a:ext cx="10260037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nhiên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nhận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từ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thiết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bị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(camera, microscope, tomography, infrared,...)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tạo</a:t>
            </a:r>
            <a:r>
              <a:rPr lang="en-US" sz="2000" dirty="0"/>
              <a:t>: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tạo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ra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từ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phần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mềm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chuyên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biệt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đồ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họa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máy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tính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thực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tế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pic>
        <p:nvPicPr>
          <p:cNvPr id="2050" name="Picture 2" descr="Ảnh: Đường phố Hà Nội đông đúc bất ngờ trong chiều ngày 24/8">
            <a:extLst>
              <a:ext uri="{FF2B5EF4-FFF2-40B4-BE49-F238E27FC236}">
                <a16:creationId xmlns:a16="http://schemas.microsoft.com/office/drawing/2014/main" id="{F6F2E01E-E5E7-B22B-95BB-F4B4E91C8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0" t="12660" r="2401"/>
          <a:stretch>
            <a:fillRect/>
          </a:stretch>
        </p:blipFill>
        <p:spPr bwMode="auto">
          <a:xfrm>
            <a:off x="727986" y="2652077"/>
            <a:ext cx="4174240" cy="253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urassic World Rebirth: How the New T-Rex Is Different From Jurassic Park's">
            <a:extLst>
              <a:ext uri="{FF2B5EF4-FFF2-40B4-BE49-F238E27FC236}">
                <a16:creationId xmlns:a16="http://schemas.microsoft.com/office/drawing/2014/main" id="{EB0D4E92-41F4-20CC-C0F0-92310008C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03"/>
          <a:stretch>
            <a:fillRect/>
          </a:stretch>
        </p:blipFill>
        <p:spPr bwMode="auto">
          <a:xfrm>
            <a:off x="5130223" y="2652077"/>
            <a:ext cx="3091029" cy="253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PL: Molecular Dynamics - NAMD">
            <a:extLst>
              <a:ext uri="{FF2B5EF4-FFF2-40B4-BE49-F238E27FC236}">
                <a16:creationId xmlns:a16="http://schemas.microsoft.com/office/drawing/2014/main" id="{D1A43B5A-388B-9269-7CD1-934AE6489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0131" y="2780521"/>
            <a:ext cx="2832121" cy="222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8C8079-5632-DAE3-EF95-D8093A139D38}"/>
              </a:ext>
            </a:extLst>
          </p:cNvPr>
          <p:cNvSpPr txBox="1"/>
          <p:nvPr/>
        </p:nvSpPr>
        <p:spPr>
          <a:xfrm>
            <a:off x="1947359" y="5292403"/>
            <a:ext cx="1735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Ảnh tự nhiên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0144B-0356-B91C-A942-0C804E7DDC53}"/>
              </a:ext>
            </a:extLst>
          </p:cNvPr>
          <p:cNvSpPr txBox="1"/>
          <p:nvPr/>
        </p:nvSpPr>
        <p:spPr>
          <a:xfrm>
            <a:off x="5718955" y="5292403"/>
            <a:ext cx="1735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Ảnh nhân tạo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7D4E5-AA32-C00F-52E3-C17BC0AFAA74}"/>
              </a:ext>
            </a:extLst>
          </p:cNvPr>
          <p:cNvSpPr txBox="1"/>
          <p:nvPr/>
        </p:nvSpPr>
        <p:spPr>
          <a:xfrm>
            <a:off x="9078444" y="5292403"/>
            <a:ext cx="1735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Ảnh nhân tạo</a:t>
            </a:r>
          </a:p>
        </p:txBody>
      </p:sp>
    </p:spTree>
    <p:extLst>
      <p:ext uri="{BB962C8B-B14F-4D97-AF65-F5344CB8AC3E}">
        <p14:creationId xmlns:p14="http://schemas.microsoft.com/office/powerpoint/2010/main" val="332643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E146B-01B2-F522-7F3D-353BA355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image&#10;&#10;AI-generated content may be incorrect.">
            <a:extLst>
              <a:ext uri="{FF2B5EF4-FFF2-40B4-BE49-F238E27FC236}">
                <a16:creationId xmlns:a16="http://schemas.microsoft.com/office/drawing/2014/main" id="{DB5F31FC-5202-74C6-8759-277B27EF9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680" y="2119111"/>
            <a:ext cx="10479113" cy="2619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833135-3A5B-C326-1C2C-0242D33D7B35}"/>
              </a:ext>
            </a:extLst>
          </p:cNvPr>
          <p:cNvSpPr txBox="1"/>
          <p:nvPr/>
        </p:nvSpPr>
        <p:spPr>
          <a:xfrm>
            <a:off x="1899734" y="4902415"/>
            <a:ext cx="1735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Ảnh mức xám:</a:t>
            </a:r>
          </a:p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I(x,y)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∈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[0..255]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AA1A84-3783-1209-5D3A-31F1F06F6588}"/>
              </a:ext>
            </a:extLst>
          </p:cNvPr>
          <p:cNvSpPr txBox="1"/>
          <p:nvPr/>
        </p:nvSpPr>
        <p:spPr>
          <a:xfrm>
            <a:off x="5347784" y="4902414"/>
            <a:ext cx="1735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Ảnh nhị phân:</a:t>
            </a:r>
          </a:p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I(x,y)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∈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{0,1}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F10681-100E-0ADB-0F7E-86FE4760ECA1}"/>
              </a:ext>
            </a:extLst>
          </p:cNvPr>
          <p:cNvSpPr txBox="1"/>
          <p:nvPr/>
        </p:nvSpPr>
        <p:spPr>
          <a:xfrm>
            <a:off x="8606612" y="4902414"/>
            <a:ext cx="2423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Ảnh màu:</a:t>
            </a:r>
          </a:p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 baseline="-25000">
                <a:solidFill>
                  <a:schemeClr val="bg2">
                    <a:lumMod val="25000"/>
                  </a:schemeClr>
                </a:solidFill>
              </a:rPr>
              <a:t>R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(x,y)   I</a:t>
            </a:r>
            <a:r>
              <a:rPr lang="en-US" baseline="-25000">
                <a:solidFill>
                  <a:schemeClr val="bg2">
                    <a:lumMod val="25000"/>
                  </a:schemeClr>
                </a:solidFill>
              </a:rPr>
              <a:t>G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(x,y)   I</a:t>
            </a:r>
            <a:r>
              <a:rPr lang="en-US" baseline="-25000">
                <a:solidFill>
                  <a:schemeClr val="bg2">
                    <a:lumMod val="25000"/>
                  </a:schemeClr>
                </a:solidFill>
              </a:rPr>
              <a:t>B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(x,y)</a:t>
            </a:r>
            <a:r>
              <a:rPr lang="en-US" baseline="-2500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C9D9FA-376C-BEDF-0857-CBEE4E44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97" y="-63819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loại</a:t>
            </a:r>
            <a:r>
              <a:rPr lang="en-US" sz="3200" dirty="0"/>
              <a:t> </a:t>
            </a:r>
            <a:r>
              <a:rPr lang="en-US" sz="3200" dirty="0" err="1"/>
              <a:t>ảnh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76716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EA1B-4EF0-08B4-6801-A5C93A13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monkeys with different colors&#10;&#10;AI-generated content may be incorrect.">
            <a:extLst>
              <a:ext uri="{FF2B5EF4-FFF2-40B4-BE49-F238E27FC236}">
                <a16:creationId xmlns:a16="http://schemas.microsoft.com/office/drawing/2014/main" id="{1880A3EE-6716-204D-682A-DE950DE6F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530" y="1645019"/>
            <a:ext cx="7541359" cy="45884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FC85940-481F-9450-7AFD-624B9401F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97" y="-63819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Ảnh</a:t>
            </a:r>
            <a:r>
              <a:rPr lang="en-US" sz="3200" dirty="0"/>
              <a:t> </a:t>
            </a:r>
            <a:r>
              <a:rPr lang="en-US" sz="3200" dirty="0" err="1"/>
              <a:t>màu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</a:t>
            </a:r>
            <a:r>
              <a:rPr lang="en-US" sz="3200" dirty="0" err="1"/>
              <a:t>hệ</a:t>
            </a:r>
            <a:r>
              <a:rPr lang="en-US" sz="3200" dirty="0"/>
              <a:t> </a:t>
            </a:r>
            <a:r>
              <a:rPr lang="en-US" sz="3200" dirty="0" err="1"/>
              <a:t>tọa</a:t>
            </a:r>
            <a:r>
              <a:rPr lang="en-US" sz="3200" dirty="0"/>
              <a:t> </a:t>
            </a:r>
            <a:r>
              <a:rPr lang="en-US" sz="3200" dirty="0" err="1"/>
              <a:t>độ</a:t>
            </a:r>
            <a:r>
              <a:rPr lang="en-US" sz="3200" dirty="0"/>
              <a:t> RBG</a:t>
            </a:r>
          </a:p>
        </p:txBody>
      </p:sp>
    </p:spTree>
    <p:extLst>
      <p:ext uri="{BB962C8B-B14F-4D97-AF65-F5344CB8AC3E}">
        <p14:creationId xmlns:p14="http://schemas.microsoft.com/office/powerpoint/2010/main" val="3302658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6123-2E85-6944-B3AC-22676620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3C0ED-EF54-4F58-62E6-601A5C1944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AA8E8-23E0-62B2-2EB7-5EB8865F5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885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4337-56ED-4656-DD21-B6F509AE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FFDC-45BB-B036-83B6-95F66034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Các </a:t>
            </a:r>
            <a:r>
              <a:rPr lang="en-US" sz="2800" dirty="0" err="1"/>
              <a:t>kiểu</a:t>
            </a:r>
            <a:r>
              <a:rPr lang="en-US" sz="2800" dirty="0"/>
              <a:t>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sở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ảnh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D9F41-93CF-9F11-7AE6-659AC0889365}"/>
              </a:ext>
            </a:extLst>
          </p:cNvPr>
          <p:cNvSpPr txBox="1"/>
          <p:nvPr/>
        </p:nvSpPr>
        <p:spPr>
          <a:xfrm>
            <a:off x="588938" y="923606"/>
            <a:ext cx="4406120" cy="262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CSDL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chung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(General database)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2000" dirty="0"/>
              <a:t>Photo collection, Internet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Nội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dung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đa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dạng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không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đồng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nhất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Biểu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diễn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dựa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đặc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trưng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chung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(shape, color, texture,..)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Vùng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ứng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dụng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rộng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97864-D515-C07C-1576-641279369B22}"/>
              </a:ext>
            </a:extLst>
          </p:cNvPr>
          <p:cNvSpPr txBox="1"/>
          <p:nvPr/>
        </p:nvSpPr>
        <p:spPr>
          <a:xfrm>
            <a:off x="6096000" y="923605"/>
            <a:ext cx="5130020" cy="262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CSDL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hẹp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/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cụ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thể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(Specific database): </a:t>
            </a:r>
            <a:r>
              <a:rPr lang="en-US" sz="2000" dirty="0"/>
              <a:t>face database, medical database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dirty="0">
                <a:solidFill>
                  <a:schemeClr val="bg2">
                    <a:lumMod val="25000"/>
                  </a:schemeClr>
                </a:solidFill>
              </a:rPr>
              <a:t>Thường dành cho các ứng dụng đặt biệt (ảnh sinh trắc học ( bimometry, ảnh y học– medical images)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dirty="0">
                <a:solidFill>
                  <a:schemeClr val="bg2">
                    <a:lumMod val="25000"/>
                  </a:schemeClr>
                </a:solidFill>
              </a:rPr>
              <a:t>Đặc trưng được trích chọn tùy thuộc vào mỗi lĩnh vực ứng dụng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4" name="Picture 13" descr="A collage of images of various types of plants&#10;&#10;AI-generated content may be incorrect.">
            <a:extLst>
              <a:ext uri="{FF2B5EF4-FFF2-40B4-BE49-F238E27FC236}">
                <a16:creationId xmlns:a16="http://schemas.microsoft.com/office/drawing/2014/main" id="{6F693948-B78B-A8E4-5C09-B8CECE992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38" y="3998618"/>
            <a:ext cx="3698291" cy="2359340"/>
          </a:xfrm>
          <a:prstGeom prst="rect">
            <a:avLst/>
          </a:prstGeom>
        </p:spPr>
      </p:pic>
      <p:pic>
        <p:nvPicPr>
          <p:cNvPr id="17" name="Picture 16" descr="A group of images of a brain&#10;&#10;AI-generated content may be incorrect.">
            <a:extLst>
              <a:ext uri="{FF2B5EF4-FFF2-40B4-BE49-F238E27FC236}">
                <a16:creationId xmlns:a16="http://schemas.microsoft.com/office/drawing/2014/main" id="{85EA4D6E-05D5-E526-F4C2-A9B841A9C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999" y="4135308"/>
            <a:ext cx="2800714" cy="1798999"/>
          </a:xfrm>
          <a:prstGeom prst="rect">
            <a:avLst/>
          </a:prstGeom>
        </p:spPr>
      </p:pic>
      <p:pic>
        <p:nvPicPr>
          <p:cNvPr id="19" name="Picture 18" descr="A collage of a person's face&#10;&#10;AI-generated content may be incorrect.">
            <a:extLst>
              <a:ext uri="{FF2B5EF4-FFF2-40B4-BE49-F238E27FC236}">
                <a16:creationId xmlns:a16="http://schemas.microsoft.com/office/drawing/2014/main" id="{0B373E5C-FB82-9B03-6E4B-99EA7B994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135308"/>
            <a:ext cx="2565010" cy="166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01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44985-CD39-83CD-A092-4B5BA857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3E502-0D7F-ED1E-830F-E90A1FF5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50" y="-45089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Truy</a:t>
            </a:r>
            <a:r>
              <a:rPr lang="en-US" sz="2800" dirty="0"/>
              <a:t> </a:t>
            </a:r>
            <a:r>
              <a:rPr lang="en-US" sz="3200" dirty="0" err="1"/>
              <a:t>vấn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khóa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A838F-7621-7FA6-314F-BE5622CCC9ED}"/>
              </a:ext>
            </a:extLst>
          </p:cNvPr>
          <p:cNvSpPr txBox="1"/>
          <p:nvPr/>
        </p:nvSpPr>
        <p:spPr>
          <a:xfrm>
            <a:off x="505950" y="1358033"/>
            <a:ext cx="7726387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Tìm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bức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hình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của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“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Steve jobs”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5D35A6-4599-4B53-8733-AF3BC0298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37" y="2102621"/>
            <a:ext cx="7059639" cy="37252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77E993-C6B1-EC7E-D1FA-05A2733D23B8}"/>
              </a:ext>
            </a:extLst>
          </p:cNvPr>
          <p:cNvSpPr txBox="1"/>
          <p:nvPr/>
        </p:nvSpPr>
        <p:spPr>
          <a:xfrm>
            <a:off x="7935727" y="2025288"/>
            <a:ext cx="4011637" cy="387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>
                <a:solidFill>
                  <a:srgbClr val="C00000"/>
                </a:solidFill>
              </a:rPr>
              <a:t>Hạn chế:</a:t>
            </a:r>
            <a:endParaRPr lang="en-US" b="1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2">
                    <a:lumMod val="25000"/>
                  </a:schemeClr>
                </a:solidFill>
              </a:rPr>
              <a:t>Từ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>
                <a:solidFill>
                  <a:schemeClr val="bg2">
                    <a:lumMod val="25000"/>
                  </a:schemeClr>
                </a:solidFill>
              </a:rPr>
              <a:t>khóa được lấy từ: 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Văn bản xung quanh ảnh (Google Image, Google Video) 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Đánh dấu thủ công 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=&gt; </a:t>
            </a:r>
            <a:r>
              <a:rPr lang="vi-VN" sz="1600" b="1">
                <a:solidFill>
                  <a:schemeClr val="bg2">
                    <a:lumMod val="25000"/>
                  </a:schemeClr>
                </a:solidFill>
              </a:rPr>
              <a:t>giá thành cao</a:t>
            </a:r>
            <a:endParaRPr lang="en-US" sz="1600" b="1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>
                <a:solidFill>
                  <a:schemeClr val="bg2">
                    <a:lumMod val="25000"/>
                  </a:schemeClr>
                </a:solidFill>
              </a:rPr>
              <a:t>Nhập nhằng</a:t>
            </a:r>
            <a:r>
              <a:rPr lang="vi-VN">
                <a:solidFill>
                  <a:schemeClr val="bg2">
                    <a:lumMod val="25000"/>
                  </a:schemeClr>
                </a:solidFill>
              </a:rPr>
              <a:t>: chọn từ khóa thế nào ?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Tính </a:t>
            </a:r>
            <a:r>
              <a:rPr lang="vi-VN" sz="1600" b="1">
                <a:solidFill>
                  <a:schemeClr val="bg2">
                    <a:lumMod val="25000"/>
                  </a:schemeClr>
                </a:solidFill>
              </a:rPr>
              <a:t>chủ quan </a:t>
            </a: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của người đánh dấu keyword-image 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Phụ thuộc </a:t>
            </a:r>
            <a:r>
              <a:rPr lang="vi-VN" sz="1600" b="1">
                <a:solidFill>
                  <a:schemeClr val="bg2">
                    <a:lumMod val="25000"/>
                  </a:schemeClr>
                </a:solidFill>
              </a:rPr>
              <a:t>ngôn ngữ </a:t>
            </a:r>
            <a:endParaRPr lang="en-US" sz="1600" b="1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Phụ thuộc </a:t>
            </a:r>
            <a:r>
              <a:rPr lang="vi-VN" sz="1600" b="1">
                <a:solidFill>
                  <a:schemeClr val="bg2">
                    <a:lumMod val="25000"/>
                  </a:schemeClr>
                </a:solidFill>
              </a:rPr>
              <a:t>ngữ cảnh</a:t>
            </a:r>
            <a:endParaRPr lang="en-US" sz="1600" b="1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115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CDC5-DDEB-77F9-D537-0F82810E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98D1-B9BD-EBF9-B34D-E4BC8E5E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Truy</a:t>
            </a:r>
            <a:r>
              <a:rPr lang="en-US" sz="2800" dirty="0"/>
              <a:t> </a:t>
            </a:r>
            <a:r>
              <a:rPr lang="en-US" sz="2800" dirty="0" err="1"/>
              <a:t>vấn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nội</a:t>
            </a:r>
            <a:r>
              <a:rPr lang="en-US" sz="2800" dirty="0"/>
              <a:t> dung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C03282-3B18-4E12-2EEA-8A51ED0D0952}"/>
              </a:ext>
            </a:extLst>
          </p:cNvPr>
          <p:cNvSpPr txBox="1"/>
          <p:nvPr/>
        </p:nvSpPr>
        <p:spPr>
          <a:xfrm>
            <a:off x="588938" y="714375"/>
            <a:ext cx="577376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Đặc điểm: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dirty="0">
                <a:solidFill>
                  <a:schemeClr val="bg2">
                    <a:lumMod val="25000"/>
                  </a:schemeClr>
                </a:solidFill>
              </a:rPr>
              <a:t>Truy vấn chứa hình ảnh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dirty="0">
                <a:solidFill>
                  <a:schemeClr val="bg2">
                    <a:lumMod val="25000"/>
                  </a:schemeClr>
                </a:solidFill>
              </a:rPr>
              <a:t>Mục đích tìm kiếm : «tương tự »: đối sánh không chính xác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Trích chọn tự động các đặc trưng và tìm kiếm dựa trên độ tương tự giữa các đặc trưn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g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Lĩnh vực nghiên cứu đang được quan tâm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Truy vấn: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dirty="0">
                <a:solidFill>
                  <a:schemeClr val="bg2">
                    <a:lumMod val="25000"/>
                  </a:schemeClr>
                </a:solidFill>
              </a:rPr>
              <a:t>Bằng ví dụ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dirty="0">
                <a:solidFill>
                  <a:schemeClr val="bg2">
                    <a:lumMod val="25000"/>
                  </a:schemeClr>
                </a:solidFill>
              </a:rPr>
              <a:t>Bộ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dirty="0">
                <a:solidFill>
                  <a:schemeClr val="bg2">
                    <a:lumMod val="25000"/>
                  </a:schemeClr>
                </a:solidFill>
              </a:rPr>
              <a:t>phận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dirty="0">
                <a:solidFill>
                  <a:schemeClr val="bg2">
                    <a:lumMod val="25000"/>
                  </a:schemeClr>
                </a:solidFill>
              </a:rPr>
              <a:t>Bằng hình vẽ (Sketch) 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5F3EC8-D161-CB38-AB92-EF24B2E02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4" y="714375"/>
            <a:ext cx="4018169" cy="28682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40EDE4-8814-B1D0-0011-3D3DD8122D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528"/>
          <a:stretch>
            <a:fillRect/>
          </a:stretch>
        </p:blipFill>
        <p:spPr>
          <a:xfrm>
            <a:off x="6753224" y="3677654"/>
            <a:ext cx="4018169" cy="26282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97A6CB-9183-1BE8-0A93-08B63837368A}"/>
              </a:ext>
            </a:extLst>
          </p:cNvPr>
          <p:cNvSpPr txBox="1"/>
          <p:nvPr/>
        </p:nvSpPr>
        <p:spPr>
          <a:xfrm>
            <a:off x="588938" y="4408885"/>
            <a:ext cx="5411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Vấn đề</a:t>
            </a:r>
            <a:r>
              <a:rPr lang="vi-VN" b="1">
                <a:solidFill>
                  <a:srgbClr val="C00000"/>
                </a:solidFill>
              </a:rPr>
              <a:t>:</a:t>
            </a:r>
            <a:endParaRPr lang="en-US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2">
                    <a:lumMod val="25000"/>
                  </a:schemeClr>
                </a:solidFill>
              </a:rPr>
              <a:t>Nội dung đa dạng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2">
                    <a:lumMod val="25000"/>
                  </a:schemeClr>
                </a:solidFill>
              </a:rPr>
              <a:t>Khối lượng dữ liệu cần xử lý lớn và thường trùng lặp: Numeric gap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2">
                    <a:lumMod val="25000"/>
                  </a:schemeClr>
                </a:solidFill>
              </a:rPr>
              <a:t>Vấn đề về ngữ nghĩa: Semantic gap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vi-VN">
                <a:solidFill>
                  <a:schemeClr val="bg2">
                    <a:lumMod val="25000"/>
                  </a:schemeClr>
                </a:solidFill>
              </a:rPr>
              <a:t>VD: làm thế nào để biết 1 người đang vui /buồn</a:t>
            </a:r>
            <a:endParaRPr lang="en-US" sz="1600" b="1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006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CBB5-2AD0-4E9C-19B5-417DC0DC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190E84-BB2E-C09D-01BF-33B3F27A8B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/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96116-2667-EDEC-DE7D-8B0838D39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425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943E-4A72-AFF5-7552-5AA99ED6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1ECC-CAAB-CF3E-445E-7830C45E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CBIR (Content-Based Image Retrieval)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7D15BAD5-B3DE-FC54-47AE-718CB77D7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942975"/>
            <a:ext cx="5488601" cy="32277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BEE83C-BB8E-B293-3D70-7979626678B6}"/>
              </a:ext>
            </a:extLst>
          </p:cNvPr>
          <p:cNvSpPr txBox="1"/>
          <p:nvPr/>
        </p:nvSpPr>
        <p:spPr>
          <a:xfrm>
            <a:off x="588938" y="914400"/>
            <a:ext cx="524036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1.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Trích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chọn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đặc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trưng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biểu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diễn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/>
              <a:t>Đặc trưng toàn cục:</a:t>
            </a:r>
            <a:endParaRPr lang="en-US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 dirty="0"/>
              <a:t>Màu sắc, hình dáng, kết cấu, …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/>
              <a:t>Đặc trưng cục bộ: </a:t>
            </a:r>
            <a:endParaRPr lang="en-US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 dirty="0"/>
              <a:t>Phân vùng </a:t>
            </a:r>
            <a:endParaRPr lang="en-US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 dirty="0"/>
              <a:t>Key points (characters points)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/>
              <a:t>Đặc trưng riêng: tùy thuộc vào từng ứng dụng cụ thể </a:t>
            </a:r>
            <a:endParaRPr lang="en-US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 dirty="0"/>
              <a:t>Nhận dạng vân tay: minuties (các điểm đầu, điểm rẽ nhánh) </a:t>
            </a:r>
            <a:endParaRPr lang="en-US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 dirty="0"/>
              <a:t>Nhận dạng mặt: EigenFaces, …</a:t>
            </a:r>
            <a:endParaRPr lang="en-US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2.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Đánh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chỉ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mục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để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tăng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hiệu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năng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tìm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kiếm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3.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Lựa chọn thước đo độ tương tự 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81B94C-F9EB-E2FB-E983-3ED8F3CDF632}"/>
              </a:ext>
            </a:extLst>
          </p:cNvPr>
          <p:cNvSpPr/>
          <p:nvPr/>
        </p:nvSpPr>
        <p:spPr>
          <a:xfrm>
            <a:off x="6483350" y="2514600"/>
            <a:ext cx="1485900" cy="800100"/>
          </a:xfrm>
          <a:prstGeom prst="ellipse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8377A5-11DC-93F6-2C39-291EC11CDA14}"/>
              </a:ext>
            </a:extLst>
          </p:cNvPr>
          <p:cNvCxnSpPr>
            <a:cxnSpLocks/>
          </p:cNvCxnSpPr>
          <p:nvPr/>
        </p:nvCxnSpPr>
        <p:spPr>
          <a:xfrm>
            <a:off x="4795935" y="1455576"/>
            <a:ext cx="1763485" cy="1278293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2D1C554-833C-FFC1-443D-A226C34F4029}"/>
              </a:ext>
            </a:extLst>
          </p:cNvPr>
          <p:cNvSpPr txBox="1"/>
          <p:nvPr/>
        </p:nvSpPr>
        <p:spPr>
          <a:xfrm>
            <a:off x="6759702" y="422941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/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</p:spTree>
    <p:extLst>
      <p:ext uri="{BB962C8B-B14F-4D97-AF65-F5344CB8AC3E}">
        <p14:creationId xmlns:p14="http://schemas.microsoft.com/office/powerpoint/2010/main" val="223983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67A2-0AAB-51E6-BFD3-3ECC2F02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FE818-50DB-D423-994A-C94F2268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trưng</a:t>
            </a:r>
            <a:r>
              <a:rPr lang="en-US" sz="2800" dirty="0"/>
              <a:t> </a:t>
            </a:r>
            <a:r>
              <a:rPr lang="en-US" sz="2800" dirty="0" err="1"/>
              <a:t>màu</a:t>
            </a:r>
            <a:r>
              <a:rPr lang="en-US" sz="2800" dirty="0"/>
              <a:t> </a:t>
            </a:r>
            <a:r>
              <a:rPr lang="en-US" sz="2800" dirty="0" err="1"/>
              <a:t>sắc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AB03B-5F1E-D42C-A4EE-3CB1A8B65DE4}"/>
              </a:ext>
            </a:extLst>
          </p:cNvPr>
          <p:cNvSpPr txBox="1"/>
          <p:nvPr/>
        </p:nvSpPr>
        <p:spPr>
          <a:xfrm>
            <a:off x="588938" y="895350"/>
            <a:ext cx="54118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Histogram: 1 đặc trưng màu sắc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Thể hiện sự phân bố màu sắc trên ảnh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Cách tính: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Lấy mẫu màu của ảnh. VD, ảnh màu 24 bit : 8 x 8 x8 màu (bin)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Tính số điểm ảnh tương ứng với mỗi màu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=&gt;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chuẩn hóa: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chia cho số điểm ảnh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Khoảng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dựa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bố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màu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hường sử dụng k/c L1 hoặc L2 (euclide):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Giao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giữa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2 histogram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3EB2FC-CDCA-310E-95D9-BDDFBEDEC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372" y="3049785"/>
            <a:ext cx="44967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 = (h₁, h₂, ..., hₙ), hᵢ ∈ [0, 1], ∑ hᵢ = 1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58B6C20-BE5B-A354-9775-499635B86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623" y="4327058"/>
            <a:ext cx="33169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dₗ₁(H, G) = ∑₍ᵢ₌₁→ᴺ₎ |hᵢ − gᵢ|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81D3085-58AC-75E0-084F-F66E7E2D6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372" y="5204220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∩(H, G) = ( ∑ᵢ min(hᵢ, gᵢ) ) / g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89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CFE1-4AC7-F8B1-BF2C-0983DA6A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3E18-7805-F3A9-3ED2-53DF22F2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Ưu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bố</a:t>
            </a:r>
            <a:r>
              <a:rPr lang="en-US" sz="2800" dirty="0"/>
              <a:t> </a:t>
            </a:r>
            <a:r>
              <a:rPr lang="en-US" sz="2800" dirty="0" err="1"/>
              <a:t>màu</a:t>
            </a:r>
            <a:r>
              <a:rPr lang="en-US" sz="2800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167F8-B901-68CE-DFC2-111BEDD351E9}"/>
              </a:ext>
            </a:extLst>
          </p:cNvPr>
          <p:cNvSpPr txBox="1"/>
          <p:nvPr/>
        </p:nvSpPr>
        <p:spPr>
          <a:xfrm>
            <a:off x="588937" y="895350"/>
            <a:ext cx="71739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Không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phụ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thuộc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/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ít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phụ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thuộc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vào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một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số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biến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đổi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hình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học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Phép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quay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Phép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tịnh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tiến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zoom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Picture 5" descr="A person holding a hot dog with mustard&#10;&#10;AI-generated content may be incorrect.">
            <a:extLst>
              <a:ext uri="{FF2B5EF4-FFF2-40B4-BE49-F238E27FC236}">
                <a16:creationId xmlns:a16="http://schemas.microsoft.com/office/drawing/2014/main" id="{F7060500-E316-5BE6-8699-5AE23653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37" y="3129196"/>
            <a:ext cx="3167673" cy="1631216"/>
          </a:xfrm>
          <a:prstGeom prst="rect">
            <a:avLst/>
          </a:prstGeom>
        </p:spPr>
      </p:pic>
      <p:pic>
        <p:nvPicPr>
          <p:cNvPr id="8" name="Picture 7" descr="A person holding a hot dog with mustard&#10;&#10;AI-generated content may be incorrect.">
            <a:extLst>
              <a:ext uri="{FF2B5EF4-FFF2-40B4-BE49-F238E27FC236}">
                <a16:creationId xmlns:a16="http://schemas.microsoft.com/office/drawing/2014/main" id="{F17883C3-0BAA-EDB7-FE78-CAA4BAEF3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30021">
            <a:off x="4260150" y="3316712"/>
            <a:ext cx="1399566" cy="720717"/>
          </a:xfrm>
          <a:prstGeom prst="rect">
            <a:avLst/>
          </a:prstGeom>
        </p:spPr>
      </p:pic>
      <p:pic>
        <p:nvPicPr>
          <p:cNvPr id="10" name="Picture 9" descr="A person holding a hot dog with mustard&#10;&#10;AI-generated content may be incorrect.">
            <a:extLst>
              <a:ext uri="{FF2B5EF4-FFF2-40B4-BE49-F238E27FC236}">
                <a16:creationId xmlns:a16="http://schemas.microsoft.com/office/drawing/2014/main" id="{BE34B7C4-F822-DB09-E6F8-A7027045C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71954">
            <a:off x="3528118" y="4769672"/>
            <a:ext cx="1801106" cy="927493"/>
          </a:xfrm>
          <a:prstGeom prst="rect">
            <a:avLst/>
          </a:prstGeom>
        </p:spPr>
      </p:pic>
      <p:pic>
        <p:nvPicPr>
          <p:cNvPr id="13" name="Picture 12" descr="A graph with red lines&#10;&#10;AI-generated content may be incorrect.">
            <a:extLst>
              <a:ext uri="{FF2B5EF4-FFF2-40B4-BE49-F238E27FC236}">
                <a16:creationId xmlns:a16="http://schemas.microsoft.com/office/drawing/2014/main" id="{ABEAF300-B414-6CD6-4F60-244A9BB5E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654" y="2815132"/>
            <a:ext cx="4296016" cy="291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95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2C96-DB4E-DA8D-0E7A-60FF1142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7A5C-D1D9-A041-C2F4-A0AE68025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9" y="-27432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Vấn</a:t>
            </a:r>
            <a:r>
              <a:rPr lang="en-US" sz="3200" dirty="0"/>
              <a:t> </a:t>
            </a:r>
            <a:r>
              <a:rPr lang="en-US" sz="3200" dirty="0" err="1"/>
              <a:t>đề</a:t>
            </a:r>
            <a:r>
              <a:rPr lang="en-US" sz="3200" dirty="0"/>
              <a:t> </a:t>
            </a:r>
            <a:r>
              <a:rPr lang="en-US" sz="3200" dirty="0" err="1"/>
              <a:t>gặp</a:t>
            </a:r>
            <a:r>
              <a:rPr lang="en-US" sz="3200" dirty="0"/>
              <a:t> </a:t>
            </a:r>
            <a:r>
              <a:rPr lang="en-US" sz="3200" dirty="0" err="1"/>
              <a:t>phải</a:t>
            </a:r>
            <a:r>
              <a:rPr lang="en-US" sz="3200" dirty="0"/>
              <a:t> </a:t>
            </a:r>
            <a:r>
              <a:rPr lang="en-US" sz="3200" dirty="0" err="1"/>
              <a:t>với</a:t>
            </a:r>
            <a:r>
              <a:rPr lang="en-US" sz="3200" dirty="0"/>
              <a:t> </a:t>
            </a: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bố</a:t>
            </a:r>
            <a:r>
              <a:rPr lang="en-US" sz="3200" dirty="0"/>
              <a:t> </a:t>
            </a:r>
            <a:r>
              <a:rPr lang="en-US" sz="3200" dirty="0" err="1"/>
              <a:t>màu</a:t>
            </a:r>
            <a:r>
              <a:rPr lang="en-US" sz="3200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00031-3D23-E9CE-A627-D9A1315B1DE5}"/>
              </a:ext>
            </a:extLst>
          </p:cNvPr>
          <p:cNvSpPr txBox="1"/>
          <p:nvPr/>
        </p:nvSpPr>
        <p:spPr>
          <a:xfrm>
            <a:off x="524239" y="1066800"/>
            <a:ext cx="5571762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Không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tính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đến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sự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gần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giống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giữa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màu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trong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các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màu</a:t>
            </a:r>
            <a:r>
              <a:rPr lang="en-US" sz="2000" dirty="0">
                <a:solidFill>
                  <a:srgbClr val="C00000"/>
                </a:solidFill>
              </a:rPr>
              <a:t> (bin) </a:t>
            </a:r>
            <a:r>
              <a:rPr lang="en-US" sz="2000" dirty="0" err="1">
                <a:solidFill>
                  <a:srgbClr val="C00000"/>
                </a:solidFill>
              </a:rPr>
              <a:t>gần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nhau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Việc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phân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bố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trong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không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gian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màu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2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nhau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, histogram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thể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giống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nhau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C00000"/>
                </a:solidFill>
              </a:rPr>
              <a:t>Ảnh hưởng của nền</a:t>
            </a:r>
            <a:r>
              <a:rPr lang="nn-NO" sz="2000" dirty="0">
                <a:solidFill>
                  <a:schemeClr val="bg2">
                    <a:lumMod val="25000"/>
                  </a:schemeClr>
                </a:solidFill>
              </a:rPr>
              <a:t>: d(I1,I2) ? d(I1, I3)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Phụ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thuộc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biểu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diễn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màu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không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gian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màu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),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phụ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thuộc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thiết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bị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, …</a:t>
            </a:r>
          </a:p>
        </p:txBody>
      </p:sp>
      <p:pic>
        <p:nvPicPr>
          <p:cNvPr id="4" name="Picture 3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92AF63B3-4AAD-A63F-152A-15B3925AB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914" y="861476"/>
            <a:ext cx="1801711" cy="1514481"/>
          </a:xfrm>
          <a:prstGeom prst="rect">
            <a:avLst/>
          </a:prstGeom>
        </p:spPr>
      </p:pic>
      <p:pic>
        <p:nvPicPr>
          <p:cNvPr id="7" name="Picture 6" descr="A black and white checkered squares&#10;&#10;AI-generated content may be incorrect.">
            <a:extLst>
              <a:ext uri="{FF2B5EF4-FFF2-40B4-BE49-F238E27FC236}">
                <a16:creationId xmlns:a16="http://schemas.microsoft.com/office/drawing/2014/main" id="{2E965174-57B0-D083-60D6-68FD569C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988" y="2592999"/>
            <a:ext cx="3172025" cy="1564866"/>
          </a:xfrm>
          <a:prstGeom prst="rect">
            <a:avLst/>
          </a:prstGeom>
        </p:spPr>
      </p:pic>
      <p:pic>
        <p:nvPicPr>
          <p:cNvPr id="17" name="Picture 16" descr="A blue square with red heart icons&#10;&#10;AI-generated content may be incorrect.">
            <a:extLst>
              <a:ext uri="{FF2B5EF4-FFF2-40B4-BE49-F238E27FC236}">
                <a16:creationId xmlns:a16="http://schemas.microsoft.com/office/drawing/2014/main" id="{B71A65A4-4A86-7209-DA13-E6F8AB11B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112" y="4374907"/>
            <a:ext cx="3095313" cy="147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08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3A4B0-9F87-AEDE-A9FD-7EAC05C2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EEF9-9F12-A102-D70A-93886961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-71246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trưng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cấu</a:t>
            </a: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4EACDB-ED31-3F5D-2A07-DA9DD8CF7355}"/>
              </a:ext>
            </a:extLst>
          </p:cNvPr>
          <p:cNvSpPr txBox="1"/>
          <p:nvPr/>
        </p:nvSpPr>
        <p:spPr>
          <a:xfrm>
            <a:off x="524238" y="774187"/>
            <a:ext cx="1065811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Kết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cấu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(texture) 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Khó mô tả và biểu diễn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Tập các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primitive (mẫu)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được sắp sếp theo quy tắc sắp chỗ nào đó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Primitive: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tập 1 hoặc nhiều điểm liên thông với nhau có độ xám (màu sắc) gần giống nhau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062113A-58AD-1752-78E6-428A3689CE15}"/>
              </a:ext>
            </a:extLst>
          </p:cNvPr>
          <p:cNvGrpSpPr/>
          <p:nvPr/>
        </p:nvGrpSpPr>
        <p:grpSpPr>
          <a:xfrm>
            <a:off x="819151" y="4097679"/>
            <a:ext cx="3165490" cy="1569696"/>
            <a:chOff x="4914900" y="3828938"/>
            <a:chExt cx="3176802" cy="1600423"/>
          </a:xfrm>
        </p:grpSpPr>
        <p:pic>
          <p:nvPicPr>
            <p:cNvPr id="5" name="Picture 4" descr="A black and white image of a brick wall&#10;&#10;AI-generated content may be incorrect.">
              <a:extLst>
                <a:ext uri="{FF2B5EF4-FFF2-40B4-BE49-F238E27FC236}">
                  <a16:creationId xmlns:a16="http://schemas.microsoft.com/office/drawing/2014/main" id="{02BE387D-B961-5F19-E454-BAA109634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14698" y="3828938"/>
              <a:ext cx="3077004" cy="160042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1EBD66-C3A7-CFC8-2ADE-10EDF5A1E151}"/>
                </a:ext>
              </a:extLst>
            </p:cNvPr>
            <p:cNvSpPr/>
            <p:nvPr/>
          </p:nvSpPr>
          <p:spPr>
            <a:xfrm>
              <a:off x="4914900" y="5105400"/>
              <a:ext cx="1247775" cy="3239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02B23B7-1CF8-D76D-1322-5A1DC4D68549}"/>
              </a:ext>
            </a:extLst>
          </p:cNvPr>
          <p:cNvSpPr txBox="1"/>
          <p:nvPr/>
        </p:nvSpPr>
        <p:spPr>
          <a:xfrm>
            <a:off x="524238" y="3119509"/>
            <a:ext cx="6096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Kết cấu: có thể </a:t>
            </a:r>
            <a:r>
              <a:rPr lang="en-US" sz="2000">
                <a:solidFill>
                  <a:srgbClr val="C00000"/>
                </a:solidFill>
              </a:rPr>
              <a:t>có chu kỳ, có thể không</a:t>
            </a:r>
          </a:p>
        </p:txBody>
      </p:sp>
      <p:pic>
        <p:nvPicPr>
          <p:cNvPr id="13" name="Picture 12" descr="A close-up of a stone wall&#10;&#10;AI-generated content may be incorrect.">
            <a:extLst>
              <a:ext uri="{FF2B5EF4-FFF2-40B4-BE49-F238E27FC236}">
                <a16:creationId xmlns:a16="http://schemas.microsoft.com/office/drawing/2014/main" id="{60BB36F8-E761-60E9-FACA-901F54871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826" y="3949264"/>
            <a:ext cx="2657846" cy="1400370"/>
          </a:xfrm>
          <a:prstGeom prst="rect">
            <a:avLst/>
          </a:prstGeom>
        </p:spPr>
      </p:pic>
      <p:pic>
        <p:nvPicPr>
          <p:cNvPr id="15" name="Picture 14" descr="Close-up of a black and white photo of grass&#10;&#10;AI-generated content may be incorrect.">
            <a:extLst>
              <a:ext uri="{FF2B5EF4-FFF2-40B4-BE49-F238E27FC236}">
                <a16:creationId xmlns:a16="http://schemas.microsoft.com/office/drawing/2014/main" id="{B1CCB2B8-27CF-DE0D-7307-30D46359B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36" y="3987369"/>
            <a:ext cx="2669769" cy="14003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B391B36-38C8-2C30-2219-D83E060F75F2}"/>
              </a:ext>
            </a:extLst>
          </p:cNvPr>
          <p:cNvSpPr txBox="1"/>
          <p:nvPr/>
        </p:nvSpPr>
        <p:spPr>
          <a:xfrm>
            <a:off x="4477961" y="5560593"/>
            <a:ext cx="3236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2">
                    <a:lumMod val="25000"/>
                  </a:schemeClr>
                </a:solidFill>
              </a:rPr>
              <a:t>Một kết cấu (texture) có thể là </a:t>
            </a:r>
            <a:r>
              <a:rPr lang="en-US" sz="1400" b="1">
                <a:solidFill>
                  <a:schemeClr val="bg2">
                    <a:lumMod val="25000"/>
                  </a:schemeClr>
                </a:solidFill>
              </a:rPr>
              <a:t>tuần hoàn</a:t>
            </a:r>
            <a:r>
              <a:rPr lang="en-US" sz="1400">
                <a:solidFill>
                  <a:schemeClr val="bg2">
                    <a:lumMod val="25000"/>
                  </a:schemeClr>
                </a:solidFill>
              </a:rPr>
              <a:t> (một hoa văn lặp lại chính nó) ...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A65619-BA9B-4619-0368-0E7B0C51D2EE}"/>
              </a:ext>
            </a:extLst>
          </p:cNvPr>
          <p:cNvSpPr txBox="1"/>
          <p:nvPr/>
        </p:nvSpPr>
        <p:spPr>
          <a:xfrm>
            <a:off x="7946271" y="5560593"/>
            <a:ext cx="3236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>
                <a:solidFill>
                  <a:schemeClr val="bg2">
                    <a:lumMod val="25000"/>
                  </a:schemeClr>
                </a:solidFill>
              </a:rPr>
              <a:t>hoặc </a:t>
            </a:r>
            <a:r>
              <a:rPr lang="vi-VN" sz="1400" b="1">
                <a:solidFill>
                  <a:schemeClr val="bg2">
                    <a:lumMod val="25000"/>
                  </a:schemeClr>
                </a:solidFill>
              </a:rPr>
              <a:t>không tuần hoàn</a:t>
            </a:r>
            <a:r>
              <a:rPr lang="vi-VN" sz="1400">
                <a:solidFill>
                  <a:schemeClr val="bg2">
                    <a:lumMod val="25000"/>
                  </a:schemeClr>
                </a:solidFill>
              </a:rPr>
              <a:t> (không có hoa văn, kém có tổ chức hơn/hỗn độn hơn)</a:t>
            </a:r>
            <a:endParaRPr lang="en-US" sz="140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745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89382-9AD8-1B27-472B-B1457401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AE88-6607-F2D8-5680-8EA4D47D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-81291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ví</a:t>
            </a:r>
            <a:r>
              <a:rPr lang="en-US" sz="3200" dirty="0"/>
              <a:t> </a:t>
            </a:r>
            <a:r>
              <a:rPr lang="en-US" sz="3200" dirty="0" err="1"/>
              <a:t>dụ</a:t>
            </a:r>
            <a:endParaRPr lang="en-US" sz="3200" dirty="0"/>
          </a:p>
        </p:txBody>
      </p:sp>
      <p:pic>
        <p:nvPicPr>
          <p:cNvPr id="4" name="Picture 3" descr="A close-up of different textures&#10;&#10;AI-generated content may be incorrect.">
            <a:extLst>
              <a:ext uri="{FF2B5EF4-FFF2-40B4-BE49-F238E27FC236}">
                <a16:creationId xmlns:a16="http://schemas.microsoft.com/office/drawing/2014/main" id="{80021EDB-AA4D-F7C7-4DD8-1248BCC69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808" y="1476180"/>
            <a:ext cx="7839417" cy="445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63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253E-C0EC-92F0-E10D-FF2FFF63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A2C6-F0C4-5603-4204-10BEF26C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-27113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trưng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cấu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FEE70-8D19-A204-14C5-76C54A9267AD}"/>
              </a:ext>
            </a:extLst>
          </p:cNvPr>
          <p:cNvSpPr txBox="1"/>
          <p:nvPr/>
        </p:nvSpPr>
        <p:spPr>
          <a:xfrm>
            <a:off x="524238" y="774187"/>
            <a:ext cx="1065811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Kết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cấu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thể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mô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tả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dựa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tích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thống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kê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Tham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số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tính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từ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biểu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đồ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phân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bố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màu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(histogram)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Phân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tích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ma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trận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đồng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xuất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hiện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(Co-occurrence matric)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tích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miền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tần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số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Biến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đổi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Fourrier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Biến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đổi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Gaborm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,,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Mô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hình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Ma </a:t>
            </a:r>
            <a:r>
              <a:rPr lang="en-US" sz="2000" dirty="0" err="1">
                <a:solidFill>
                  <a:srgbClr val="C00000"/>
                </a:solidFill>
              </a:rPr>
              <a:t>trận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đồng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xuất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hiện</a:t>
            </a:r>
            <a:r>
              <a:rPr lang="en-US" sz="2000" dirty="0">
                <a:solidFill>
                  <a:srgbClr val="C00000"/>
                </a:solidFill>
              </a:rPr>
              <a:t>:</a:t>
            </a: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602DDA9-FF11-85B0-1933-63233F481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53" y="4201598"/>
            <a:ext cx="6343483" cy="1522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979C6-FC00-C202-1386-5FCB77D7DC4D}"/>
              </a:ext>
            </a:extLst>
          </p:cNvPr>
          <p:cNvSpPr txBox="1"/>
          <p:nvPr/>
        </p:nvSpPr>
        <p:spPr>
          <a:xfrm>
            <a:off x="7950360" y="3878433"/>
            <a:ext cx="2603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>
                <a:solidFill>
                  <a:srgbClr val="C00000"/>
                </a:solidFill>
              </a:rPr>
              <a:t>Một số đặc trưng tính từ ma trận đồng xuất hiện</a:t>
            </a:r>
            <a:endParaRPr lang="en-US">
              <a:solidFill>
                <a:srgbClr val="C00000"/>
              </a:solidFill>
            </a:endParaRPr>
          </a:p>
        </p:txBody>
      </p:sp>
      <p:pic>
        <p:nvPicPr>
          <p:cNvPr id="10" name="Picture 9" descr="A black text on a white background">
            <a:extLst>
              <a:ext uri="{FF2B5EF4-FFF2-40B4-BE49-F238E27FC236}">
                <a16:creationId xmlns:a16="http://schemas.microsoft.com/office/drawing/2014/main" id="{1C62A919-0058-1968-3D24-C7D6A9E09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7939" y="4695265"/>
            <a:ext cx="1800343" cy="10287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9418E1-D450-549C-A63D-3888C51B222C}"/>
              </a:ext>
            </a:extLst>
          </p:cNvPr>
          <p:cNvSpPr txBox="1"/>
          <p:nvPr/>
        </p:nvSpPr>
        <p:spPr>
          <a:xfrm>
            <a:off x="7950360" y="4567947"/>
            <a:ext cx="1612740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Năng lượng: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Độ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tương phản: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vi-VN" sz="1600">
                <a:solidFill>
                  <a:schemeClr val="bg2">
                    <a:lumMod val="25000"/>
                  </a:schemeClr>
                </a:solidFill>
              </a:rPr>
              <a:t>Entrop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</a:rPr>
              <a:t>y: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AF63A-723C-3B95-847D-FE861D5C5C03}"/>
              </a:ext>
            </a:extLst>
          </p:cNvPr>
          <p:cNvSpPr/>
          <p:nvPr/>
        </p:nvSpPr>
        <p:spPr>
          <a:xfrm>
            <a:off x="7800975" y="3733800"/>
            <a:ext cx="3499872" cy="21240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57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5AE5-4088-224D-180A-749952B7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84C5-852C-38B3-3732-E70D899D0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7" y="-62692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trưng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dạng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5C318-D527-266A-9C20-9638E5AD1C55}"/>
              </a:ext>
            </a:extLst>
          </p:cNvPr>
          <p:cNvSpPr txBox="1"/>
          <p:nvPr/>
        </p:nvSpPr>
        <p:spPr>
          <a:xfrm>
            <a:off x="524238" y="774187"/>
            <a:ext cx="106581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Các biểu diễn dựa trên đường biên (contour)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Chuỗi mã hóa, sấp xỉ đa giác, B-splines, …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Chu vi, tỷ số nén, độ lệch tâm, …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Các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biểu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diễn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dựa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vùng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(region)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Bao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lồi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trục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trung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vị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, …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Diện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tích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, moments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hình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học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(invariant moments)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Ví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dụ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chuỗi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mã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hóa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Freeman</a:t>
            </a:r>
          </a:p>
        </p:txBody>
      </p:sp>
      <p:pic>
        <p:nvPicPr>
          <p:cNvPr id="5" name="Picture 4" descr="A diagram of arrows and arrows pointing to different directions&#10;&#10;AI-generated content may be incorrect.">
            <a:extLst>
              <a:ext uri="{FF2B5EF4-FFF2-40B4-BE49-F238E27FC236}">
                <a16:creationId xmlns:a16="http://schemas.microsoft.com/office/drawing/2014/main" id="{D4DF6B1E-76D1-F7FF-803D-06B3FCCBC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78" y="4088091"/>
            <a:ext cx="4085620" cy="1626909"/>
          </a:xfrm>
          <a:prstGeom prst="rect">
            <a:avLst/>
          </a:prstGeom>
        </p:spPr>
      </p:pic>
      <p:pic>
        <p:nvPicPr>
          <p:cNvPr id="12" name="Picture 11" descr="A grid with a line drawn on it&#10;&#10;AI-generated content may be incorrect.">
            <a:extLst>
              <a:ext uri="{FF2B5EF4-FFF2-40B4-BE49-F238E27FC236}">
                <a16:creationId xmlns:a16="http://schemas.microsoft.com/office/drawing/2014/main" id="{12ACE70B-C340-AF12-2681-A93F5D4E4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563" y="4088091"/>
            <a:ext cx="3358008" cy="22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86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6E71C-31FB-CFF5-0F67-7075DB069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5EBA-7C79-9230-A6FF-F801AC5C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7" y="-53073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Bài</a:t>
            </a:r>
            <a:r>
              <a:rPr lang="en-US" sz="2800" dirty="0"/>
              <a:t> </a:t>
            </a:r>
            <a:r>
              <a:rPr lang="en-US" sz="2800" dirty="0" err="1"/>
              <a:t>tập</a:t>
            </a:r>
            <a:r>
              <a:rPr lang="en-US" sz="2800" dirty="0"/>
              <a:t> – </a:t>
            </a:r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trưng</a:t>
            </a:r>
            <a:r>
              <a:rPr lang="en-US" sz="2800" dirty="0"/>
              <a:t> </a:t>
            </a:r>
            <a:r>
              <a:rPr lang="en-US" sz="2800" dirty="0" err="1"/>
              <a:t>toàn</a:t>
            </a:r>
            <a:r>
              <a:rPr lang="en-US" sz="2800" dirty="0"/>
              <a:t> </a:t>
            </a:r>
            <a:r>
              <a:rPr lang="en-US" sz="2800" dirty="0" err="1"/>
              <a:t>cục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F88D8-A689-71C4-833B-2FB6AF9FC5A1}"/>
              </a:ext>
            </a:extLst>
          </p:cNvPr>
          <p:cNvSpPr txBox="1"/>
          <p:nvPr/>
        </p:nvSpPr>
        <p:spPr>
          <a:xfrm>
            <a:off x="524238" y="774187"/>
            <a:ext cx="1065811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Câu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1: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Tính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khoảng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giữa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hai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sau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dựa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bố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màu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(histogram)</a:t>
            </a:r>
          </a:p>
        </p:txBody>
      </p:sp>
      <p:pic>
        <p:nvPicPr>
          <p:cNvPr id="6" name="Picture 5" descr="A white square with a white rectangle in the middle&#10;&#10;AI-generated content may be incorrect.">
            <a:extLst>
              <a:ext uri="{FF2B5EF4-FFF2-40B4-BE49-F238E27FC236}">
                <a16:creationId xmlns:a16="http://schemas.microsoft.com/office/drawing/2014/main" id="{E6AF1419-C399-BE83-672C-44BE772EA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39" y="1871510"/>
            <a:ext cx="5458382" cy="1928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105830-0213-5526-9E33-E72DF1D1CCF4}"/>
              </a:ext>
            </a:extLst>
          </p:cNvPr>
          <p:cNvSpPr txBox="1"/>
          <p:nvPr/>
        </p:nvSpPr>
        <p:spPr>
          <a:xfrm>
            <a:off x="524237" y="3982165"/>
            <a:ext cx="8248287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Câu 2: Tính ma trận đồng xuất hiện d=1, ß=90 </a:t>
            </a:r>
          </a:p>
        </p:txBody>
      </p:sp>
      <p:pic>
        <p:nvPicPr>
          <p:cNvPr id="10" name="Picture 9" descr="A grid of numbers with black and blue text&#10;&#10;AI-generated content may be incorrect.">
            <a:extLst>
              <a:ext uri="{FF2B5EF4-FFF2-40B4-BE49-F238E27FC236}">
                <a16:creationId xmlns:a16="http://schemas.microsoft.com/office/drawing/2014/main" id="{0936B9AE-80FD-F261-364E-C78386A79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312" y="4662518"/>
            <a:ext cx="2448087" cy="143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29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2B311-9B70-7102-CF46-5D0DFF8F7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441A-B2C8-FF3A-5EBB-CB038962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-102482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vi-VN" sz="3200" dirty="0"/>
              <a:t>Đặc trưng cục bộ</a:t>
            </a:r>
            <a:r>
              <a:rPr lang="en-US" sz="32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EFDAD-1EBA-F888-0A2C-41E92D69AE30}"/>
              </a:ext>
            </a:extLst>
          </p:cNvPr>
          <p:cNvSpPr txBox="1"/>
          <p:nvPr/>
        </p:nvSpPr>
        <p:spPr>
          <a:xfrm>
            <a:off x="524238" y="745612"/>
            <a:ext cx="1065811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Mục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đích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Tìm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vùng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/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đối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tương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tự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Truy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vấn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bộ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phận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partial query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pic>
        <p:nvPicPr>
          <p:cNvPr id="5" name="Picture 4" descr="A collage of sunflowers&#10;&#10;AI-generated content may be incorrect.">
            <a:extLst>
              <a:ext uri="{FF2B5EF4-FFF2-40B4-BE49-F238E27FC236}">
                <a16:creationId xmlns:a16="http://schemas.microsoft.com/office/drawing/2014/main" id="{00B1B812-8C68-A2CD-C92B-90A13ABB2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99" y="2810345"/>
            <a:ext cx="7534301" cy="20378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C32CBA-ACDC-72CC-1F96-F0AEB3BABD5E}"/>
              </a:ext>
            </a:extLst>
          </p:cNvPr>
          <p:cNvSpPr txBox="1"/>
          <p:nvPr/>
        </p:nvSpPr>
        <p:spPr>
          <a:xfrm>
            <a:off x="524238" y="4848225"/>
            <a:ext cx="6096000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Giải pháp: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Mô tả 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</a:rPr>
              <a:t>cục bộ các vùng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Thêm mối liên hệ về 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</a:rPr>
              <a:t>không gian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157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85CE-6A17-5E55-A8D1-A45A0FBA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82DE-C269-806B-5B5C-4FA24481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-90435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Định </a:t>
            </a:r>
            <a:r>
              <a:rPr lang="en-US" sz="3200" dirty="0" err="1"/>
              <a:t>nghĩa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vùng</a:t>
            </a:r>
            <a:endParaRPr lang="en-US" sz="3200" dirty="0"/>
          </a:p>
        </p:txBody>
      </p:sp>
      <p:pic>
        <p:nvPicPr>
          <p:cNvPr id="6" name="Picture 5" descr="A diagram of a building&#10;&#10;AI-generated content may be incorrect.">
            <a:extLst>
              <a:ext uri="{FF2B5EF4-FFF2-40B4-BE49-F238E27FC236}">
                <a16:creationId xmlns:a16="http://schemas.microsoft.com/office/drawing/2014/main" id="{E4119F81-3606-922F-960E-940E2505D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405" y="1511727"/>
            <a:ext cx="7411484" cy="47155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8C7F021-CC07-1A01-FDD7-809503519526}"/>
              </a:ext>
            </a:extLst>
          </p:cNvPr>
          <p:cNvSpPr/>
          <p:nvPr/>
        </p:nvSpPr>
        <p:spPr>
          <a:xfrm>
            <a:off x="2085975" y="5838825"/>
            <a:ext cx="53340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50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9849-5FE4-8908-756C-3307EF7F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1B00B2-0EE7-5964-668A-A8E0CD687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(Deep feature)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24888-67F8-5B04-54F2-DD6CCCEF8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65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06E6-928A-1EDB-8CD0-C6A4FA5A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2084-74D7-D989-AAFC-5CBEC2A8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-46482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trưng</a:t>
            </a:r>
            <a:r>
              <a:rPr lang="en-US" sz="3200" dirty="0"/>
              <a:t> </a:t>
            </a:r>
            <a:r>
              <a:rPr lang="en-US" sz="3200" dirty="0" err="1"/>
              <a:t>sâu</a:t>
            </a:r>
            <a:endParaRPr lang="en-US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FDDA0C-CD09-C284-983B-5E8D1D85CB95}"/>
              </a:ext>
            </a:extLst>
          </p:cNvPr>
          <p:cNvSpPr/>
          <p:nvPr/>
        </p:nvSpPr>
        <p:spPr>
          <a:xfrm>
            <a:off x="2085975" y="5838825"/>
            <a:ext cx="53340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3CBBB-5E1F-69C0-FCAC-01CDF2A406F2}"/>
              </a:ext>
            </a:extLst>
          </p:cNvPr>
          <p:cNvSpPr txBox="1"/>
          <p:nvPr/>
        </p:nvSpPr>
        <p:spPr>
          <a:xfrm>
            <a:off x="240030" y="1674674"/>
            <a:ext cx="60030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/>
              <a:t>Đặc trưng sâu là các vector số học được trích xuất tự động từ các tầng ẩn (hidden layers) của các mạng nơ-ron sâu (Deep Neural Networks - như CNN cho ảnh hoặc Transformer cho văn bản) đã được huấn luyện.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/>
              <a:t>Deep Features học tự động từ dữ liệu, biểu diễn các đặc điểm trừu tượng và ngữ nghĩa hơn so với SIFT hay HOG.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633533-43D7-162E-9B39-588149C55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066" y="650250"/>
            <a:ext cx="5854393" cy="47386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08EB01-793E-8B0E-C003-A620F0CA099E}"/>
              </a:ext>
            </a:extLst>
          </p:cNvPr>
          <p:cNvSpPr txBox="1"/>
          <p:nvPr/>
        </p:nvSpPr>
        <p:spPr>
          <a:xfrm>
            <a:off x="6585913" y="5315605"/>
            <a:ext cx="5511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Deep features visualization: (a) output feature maps and (b) convolution kernels of the considered</a:t>
            </a:r>
          </a:p>
        </p:txBody>
      </p:sp>
    </p:spTree>
    <p:extLst>
      <p:ext uri="{BB962C8B-B14F-4D97-AF65-F5344CB8AC3E}">
        <p14:creationId xmlns:p14="http://schemas.microsoft.com/office/powerpoint/2010/main" val="1640849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D79E-080A-FB6C-AB13-415BDFE00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3A02-EEC4-6A16-149A-BEFBC269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-46482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Quy </a:t>
            </a:r>
            <a:r>
              <a:rPr lang="en-US" sz="3200" dirty="0" err="1"/>
              <a:t>trình</a:t>
            </a:r>
            <a:r>
              <a:rPr lang="en-US" sz="3200" dirty="0"/>
              <a:t> </a:t>
            </a:r>
            <a:r>
              <a:rPr lang="en-US" sz="3200" dirty="0" err="1"/>
              <a:t>học</a:t>
            </a:r>
            <a:r>
              <a:rPr lang="en-US" sz="3200" dirty="0"/>
              <a:t> </a:t>
            </a: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cấp</a:t>
            </a:r>
            <a:endParaRPr lang="en-US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3097B7-1188-BDDE-1A23-36CC179AF555}"/>
              </a:ext>
            </a:extLst>
          </p:cNvPr>
          <p:cNvSpPr/>
          <p:nvPr/>
        </p:nvSpPr>
        <p:spPr>
          <a:xfrm>
            <a:off x="2085975" y="5838825"/>
            <a:ext cx="53340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DA0DE-E25F-D083-AF0C-6A7F349552F9}"/>
              </a:ext>
            </a:extLst>
          </p:cNvPr>
          <p:cNvSpPr txBox="1"/>
          <p:nvPr/>
        </p:nvSpPr>
        <p:spPr>
          <a:xfrm>
            <a:off x="828830" y="3444508"/>
            <a:ext cx="97782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Earlier layers (</a:t>
            </a:r>
            <a:r>
              <a:rPr lang="en-US" sz="2400" dirty="0" err="1"/>
              <a:t>các</a:t>
            </a:r>
            <a:r>
              <a:rPr lang="en-US" sz="2400" dirty="0"/>
              <a:t> l</a:t>
            </a:r>
            <a:r>
              <a:rPr lang="vi-VN" sz="2400" dirty="0"/>
              <a:t>ớp đầu): Chỉ học được các đường nét cơ bản (cạnh, góc, đường thẳng).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Middle layers (</a:t>
            </a:r>
            <a:r>
              <a:rPr lang="en-US" sz="2400" dirty="0" err="1"/>
              <a:t>các</a:t>
            </a:r>
            <a:r>
              <a:rPr lang="en-US" sz="2400" dirty="0"/>
              <a:t> l</a:t>
            </a:r>
            <a:r>
              <a:rPr lang="vi-VN" sz="2400" dirty="0"/>
              <a:t>ớp giữa): Kết hợp các đường nét để nhận diện hình khối, kết cấu (mắt, mũi, lông).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Later layers (</a:t>
            </a:r>
            <a:r>
              <a:rPr lang="en-US" sz="2400" dirty="0" err="1"/>
              <a:t>các</a:t>
            </a:r>
            <a:r>
              <a:rPr lang="en-US" sz="2400" dirty="0"/>
              <a:t> l</a:t>
            </a:r>
            <a:r>
              <a:rPr lang="vi-VN" sz="2400" dirty="0"/>
              <a:t>ớp cuối): Học được ngữ nghĩa (semantic features) - tổng thể đối tượng (ví dụ: khuôn mặt con chó).</a:t>
            </a:r>
            <a:endParaRPr lang="en-US" sz="2400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7F3E30-3AE2-B824-7826-B285C0323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659" y="-394963"/>
            <a:ext cx="6967728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36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9B0F-2538-5978-50FE-F71DA8504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0C9EFF-3C84-00A4-1D92-63D180614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–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DBD7D-34C7-71B3-B2E2-09DEC0DC6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792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36A39-5607-4654-DD7E-389BAD15B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34317F-8F97-5363-9481-CF6A33D92248}"/>
              </a:ext>
            </a:extLst>
          </p:cNvPr>
          <p:cNvSpPr/>
          <p:nvPr/>
        </p:nvSpPr>
        <p:spPr>
          <a:xfrm>
            <a:off x="2085975" y="5838825"/>
            <a:ext cx="53340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11DDC831-4B8C-E34A-AD16-D1B1D1496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1" y="752637"/>
            <a:ext cx="9636758" cy="566721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FB54AC0-477D-D295-3FA4-160BF8857D5F}"/>
              </a:ext>
            </a:extLst>
          </p:cNvPr>
          <p:cNvSpPr/>
          <p:nvPr/>
        </p:nvSpPr>
        <p:spPr>
          <a:xfrm>
            <a:off x="876428" y="2721654"/>
            <a:ext cx="2753740" cy="1002230"/>
          </a:xfrm>
          <a:prstGeom prst="ellipse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8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85ACE-336B-B20F-DADB-268A4E18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E6F4-6294-B02C-D0DB-526087DE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-46482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đoạn</a:t>
            </a:r>
            <a:r>
              <a:rPr lang="en-US" sz="3200" dirty="0"/>
              <a:t> </a:t>
            </a:r>
            <a:r>
              <a:rPr lang="en-US" sz="3200" dirty="0" err="1"/>
              <a:t>ảnh</a:t>
            </a:r>
            <a:endParaRPr lang="en-US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8E96F9-7AB7-BA1A-C9AA-FEA2076922B2}"/>
              </a:ext>
            </a:extLst>
          </p:cNvPr>
          <p:cNvSpPr/>
          <p:nvPr/>
        </p:nvSpPr>
        <p:spPr>
          <a:xfrm>
            <a:off x="2085975" y="5838825"/>
            <a:ext cx="53340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F1726-5464-6790-67F7-EFE5320B6BBD}"/>
              </a:ext>
            </a:extLst>
          </p:cNvPr>
          <p:cNvSpPr txBox="1"/>
          <p:nvPr/>
        </p:nvSpPr>
        <p:spPr>
          <a:xfrm>
            <a:off x="524238" y="774187"/>
            <a:ext cx="1065811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Mục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Chia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thành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vùng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tương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ứng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với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đối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tượng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trong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Sau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xác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đinh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xác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trưng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đối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tượng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Dựa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Sự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không liên tục: các biên (edge, contour)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-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Sự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thay đổi về giá trị ở biên giữa các vùng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Sự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đồng nhất: tương ứng cho các vùng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-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Cùng màu sắc, kết cấu,…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Một biên khép kín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=&gt;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1 vùng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Picture 8" descr="A close-up of a plate of food&#10;&#10;AI-generated content may be incorrect.">
            <a:extLst>
              <a:ext uri="{FF2B5EF4-FFF2-40B4-BE49-F238E27FC236}">
                <a16:creationId xmlns:a16="http://schemas.microsoft.com/office/drawing/2014/main" id="{5FCC68E3-2128-A521-0A85-AC28FF8C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76" y="2401932"/>
            <a:ext cx="6819900" cy="24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80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7F74D-1DEE-D7EB-94CB-DB4F9034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6BA5-B717-0534-EDB4-EF62881E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7" y="-90435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đoạn</a:t>
            </a:r>
            <a:r>
              <a:rPr lang="en-US" sz="3200" dirty="0"/>
              <a:t> </a:t>
            </a:r>
            <a:r>
              <a:rPr lang="en-US" sz="3200" dirty="0" err="1"/>
              <a:t>bằng</a:t>
            </a:r>
            <a:r>
              <a:rPr lang="en-US" sz="3200" dirty="0"/>
              <a:t> </a:t>
            </a:r>
            <a:r>
              <a:rPr lang="en-US" sz="3200" dirty="0" err="1"/>
              <a:t>ngưỡng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378A3-8DB9-A682-DFED-03CA0ABFA07C}"/>
              </a:ext>
            </a:extLst>
          </p:cNvPr>
          <p:cNvSpPr txBox="1"/>
          <p:nvPr/>
        </p:nvSpPr>
        <p:spPr>
          <a:xfrm>
            <a:off x="524238" y="774187"/>
            <a:ext cx="1065811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Phương pháp đơn giản và thường được sử dụng cho phân đoạn các đối tượng trong ảnh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Ýtưởng chính: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vi-VN" sz="2000" dirty="0">
                <a:solidFill>
                  <a:srgbClr val="C00000"/>
                </a:solidFill>
              </a:rPr>
              <a:t>value(pixel) &gt;= threshold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THEN </a:t>
            </a:r>
            <a:r>
              <a:rPr lang="vi-VN" sz="2000" dirty="0"/>
              <a:t>value(pixel) = 1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vi-VN" sz="2000" dirty="0">
                <a:solidFill>
                  <a:srgbClr val="C00000"/>
                </a:solidFill>
              </a:rPr>
              <a:t>value(pixel) &lt; threshold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THEN </a:t>
            </a:r>
            <a:r>
              <a:rPr lang="vi-VN" sz="2000" dirty="0"/>
              <a:t>value(pixel) = 0</a:t>
            </a:r>
            <a:endParaRPr lang="en-US" sz="2000" dirty="0"/>
          </a:p>
          <a:p>
            <a:pPr lvl="1"/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=&gt;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nhị phân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Không </a:t>
            </a:r>
            <a:r>
              <a:rPr lang="vi-VN" sz="2000" dirty="0">
                <a:solidFill>
                  <a:srgbClr val="C00000"/>
                </a:solidFill>
              </a:rPr>
              <a:t>thuộc vào cách tiếp cận vùng</a:t>
            </a:r>
            <a:endParaRPr lang="en-US" sz="2000" dirty="0">
              <a:solidFill>
                <a:srgbClr val="C0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Dựa trên điểm ảnh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=&gt;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thường cần thêm các phép xử lý sau khi phân đoạn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thể dùng </a:t>
            </a:r>
            <a:r>
              <a:rPr lang="vi-VN" sz="2000" dirty="0"/>
              <a:t>n ngưỡng </a:t>
            </a:r>
            <a:r>
              <a:rPr lang="en-US" sz="2000" dirty="0"/>
              <a:t>=&gt; </a:t>
            </a:r>
            <a:r>
              <a:rPr lang="vi-VN" sz="2000" dirty="0"/>
              <a:t>(n+1) vùng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Ngưỡng: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Toàn cục: một ngưỡng cho toàn bộ ảnh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Cục bộ: một ngưỡng cho 1 vùng của ảnh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Thích nghi: ngưỡng được lựa chọn phù hợp với từng ảnh hoặc từng vùng của ảnh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 descr="A group of blue question marks&#10;&#10;AI-generated content may be incorrect.">
            <a:extLst>
              <a:ext uri="{FF2B5EF4-FFF2-40B4-BE49-F238E27FC236}">
                <a16:creationId xmlns:a16="http://schemas.microsoft.com/office/drawing/2014/main" id="{62B37363-F71B-3192-BE98-76F49F73A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1" y="5323171"/>
            <a:ext cx="824577" cy="9193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F6E057-743E-7F3D-6119-74CCB6731FAD}"/>
              </a:ext>
            </a:extLst>
          </p:cNvPr>
          <p:cNvSpPr txBox="1"/>
          <p:nvPr/>
        </p:nvSpPr>
        <p:spPr>
          <a:xfrm>
            <a:off x="2049563" y="55520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/>
              <a:t>Lựa chọn ngưỡng thế nào ??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572275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7FA9-1B97-F041-9C00-B0CBFC3A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9303D-7293-C596-D9E8-37BFD906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54" y="-50456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Ngưỡng</a:t>
            </a:r>
            <a:r>
              <a:rPr lang="en-US" sz="3200" dirty="0"/>
              <a:t> </a:t>
            </a:r>
            <a:r>
              <a:rPr lang="en-US" sz="3200" dirty="0" err="1"/>
              <a:t>dựa</a:t>
            </a:r>
            <a:r>
              <a:rPr lang="en-US" sz="3200" dirty="0"/>
              <a:t> </a:t>
            </a:r>
            <a:r>
              <a:rPr lang="en-US" sz="3200" dirty="0" err="1"/>
              <a:t>trên</a:t>
            </a:r>
            <a:r>
              <a:rPr lang="en-US" sz="3200" dirty="0"/>
              <a:t> </a:t>
            </a: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số</a:t>
            </a:r>
            <a:endParaRPr lang="en-US" sz="3200" dirty="0"/>
          </a:p>
        </p:txBody>
      </p:sp>
      <p:pic>
        <p:nvPicPr>
          <p:cNvPr id="4" name="Picture 3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22F79A90-E924-F22C-E8DF-F49DBB526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84" y="1451984"/>
            <a:ext cx="5005891" cy="1686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DE16AE-2F5C-A68C-55C9-BA684FD709C9}"/>
              </a:ext>
            </a:extLst>
          </p:cNvPr>
          <p:cNvSpPr txBox="1"/>
          <p:nvPr/>
        </p:nvSpPr>
        <p:spPr>
          <a:xfrm>
            <a:off x="524238" y="3205460"/>
            <a:ext cx="106581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Ngưỡng: Toàn cục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Phù hợp cho môi trường ổn định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=&gt;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 trong ứng dụng công nghiệp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Đơn giản, nhanh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C00000"/>
                </a:solidFill>
              </a:rPr>
              <a:t>Nhược: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Cần biết trước số lớp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Không có ràng buộc về không gian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C00000"/>
                </a:solidFill>
              </a:rPr>
              <a:t>Xác định giá trị ngưỡng?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Bằng thử nghiệm, TB mức xám, TB max &amp; min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Giá trị cho phép cân bằng giữa các vùng của phân bố =&gt; Tự động: T sao cho lỗi là nhỏ nhất</a:t>
            </a:r>
          </a:p>
        </p:txBody>
      </p:sp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B441844B-C810-41AB-FD72-0248F33F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861" y="1357270"/>
            <a:ext cx="3072568" cy="168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71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6FFD-EFA4-1A07-B399-E15260DD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7320-ECC9-E2AE-F0C8-DB586489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vi-VN" sz="3200" dirty="0"/>
              <a:t>Vấn đề với ngưỡng toàn cục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C7711-BD7B-13CA-2B86-C25BCB1CB8CE}"/>
              </a:ext>
            </a:extLst>
          </p:cNvPr>
          <p:cNvSpPr txBox="1"/>
          <p:nvPr/>
        </p:nvSpPr>
        <p:spPr>
          <a:xfrm>
            <a:off x="524238" y="1997839"/>
            <a:ext cx="64082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Thay đổi về ánh sáng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ử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dụng ngưỡng cục bộ. Ví dụ: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Chia một ảnh thành các ảnh nhỏ và lựa chọn ngưỡng cho từng ảnh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Xác định kích thước của ảnh nhỏ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Trước khi phân đoạn, kiểm tra giá trị phương sai để xác định ảnh được chia có ít nhất 2 vùng 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Ví dụ: nếu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variance&lt;100 thì không xác định ngưỡng</a:t>
            </a:r>
          </a:p>
        </p:txBody>
      </p:sp>
      <p:pic>
        <p:nvPicPr>
          <p:cNvPr id="5" name="Picture 4" descr="A collage of different images&#10;&#10;AI-generated content may be incorrect.">
            <a:extLst>
              <a:ext uri="{FF2B5EF4-FFF2-40B4-BE49-F238E27FC236}">
                <a16:creationId xmlns:a16="http://schemas.microsoft.com/office/drawing/2014/main" id="{A21091C0-56DC-94DE-E8AF-CFF102C7DB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652"/>
          <a:stretch>
            <a:fillRect/>
          </a:stretch>
        </p:blipFill>
        <p:spPr>
          <a:xfrm>
            <a:off x="7193623" y="1036041"/>
            <a:ext cx="4249825" cy="3162227"/>
          </a:xfrm>
          <a:prstGeom prst="rect">
            <a:avLst/>
          </a:prstGeom>
        </p:spPr>
      </p:pic>
      <p:pic>
        <p:nvPicPr>
          <p:cNvPr id="8" name="Picture 7" descr="A collage of different images&#10;&#10;AI-generated content may be incorrect.">
            <a:extLst>
              <a:ext uri="{FF2B5EF4-FFF2-40B4-BE49-F238E27FC236}">
                <a16:creationId xmlns:a16="http://schemas.microsoft.com/office/drawing/2014/main" id="{A2182887-DF30-7B0E-8E8F-2B058314F6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870" t="14107" b="25278"/>
          <a:stretch>
            <a:fillRect/>
          </a:stretch>
        </p:blipFill>
        <p:spPr>
          <a:xfrm>
            <a:off x="8350699" y="4198268"/>
            <a:ext cx="1935671" cy="191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59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28BD2-D6A9-1C44-108D-C54C3A86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AC6C-CDAF-5C04-903F-C6344463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endParaRPr sz="2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30872FA-CA47-4612-6903-8B0A851552F9}"/>
              </a:ext>
            </a:extLst>
          </p:cNvPr>
          <p:cNvGrpSpPr/>
          <p:nvPr/>
        </p:nvGrpSpPr>
        <p:grpSpPr>
          <a:xfrm>
            <a:off x="314688" y="1737943"/>
            <a:ext cx="6395638" cy="3812436"/>
            <a:chOff x="3057525" y="2131164"/>
            <a:chExt cx="7200900" cy="4326786"/>
          </a:xfrm>
        </p:grpSpPr>
        <p:pic>
          <p:nvPicPr>
            <p:cNvPr id="4" name="Picture 3" descr="A collage of images of a graph&#10;&#10;AI-generated content may be incorrect.">
              <a:extLst>
                <a:ext uri="{FF2B5EF4-FFF2-40B4-BE49-F238E27FC236}">
                  <a16:creationId xmlns:a16="http://schemas.microsoft.com/office/drawing/2014/main" id="{B6391B26-5289-C2FF-3537-69613B193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2030" y="2131164"/>
              <a:ext cx="6906395" cy="417485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4A5D17-F9A5-D2BB-288D-35D9FC8A508F}"/>
                </a:ext>
              </a:extLst>
            </p:cNvPr>
            <p:cNvSpPr/>
            <p:nvPr/>
          </p:nvSpPr>
          <p:spPr>
            <a:xfrm>
              <a:off x="3057525" y="5810250"/>
              <a:ext cx="923925" cy="6477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 descr="A close-up of a document&#10;&#10;AI-generated content may be incorrect.">
            <a:extLst>
              <a:ext uri="{FF2B5EF4-FFF2-40B4-BE49-F238E27FC236}">
                <a16:creationId xmlns:a16="http://schemas.microsoft.com/office/drawing/2014/main" id="{93D1512C-8047-62B6-21D7-A3022206EF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32"/>
          <a:stretch>
            <a:fillRect/>
          </a:stretch>
        </p:blipFill>
        <p:spPr>
          <a:xfrm>
            <a:off x="7115175" y="1544048"/>
            <a:ext cx="4338294" cy="38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0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D30F6-B462-EF66-3048-4BF71F1D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F27E-2B5B-9E74-F26B-D696BDCCB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ngưỡng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93BF0-763A-CC52-34DE-12D7FFECF202}"/>
              </a:ext>
            </a:extLst>
          </p:cNvPr>
          <p:cNvSpPr txBox="1"/>
          <p:nvPr/>
        </p:nvSpPr>
        <p:spPr>
          <a:xfrm>
            <a:off x="524238" y="774187"/>
            <a:ext cx="1065811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Đa ngưỡng: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Sử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dụng </a:t>
            </a:r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n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ngưỡng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=&gt; </a:t>
            </a:r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n+1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vùng: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en-US" sz="2000">
                <a:solidFill>
                  <a:schemeClr val="accent6">
                    <a:lumMod val="75000"/>
                  </a:schemeClr>
                </a:solidFill>
              </a:rPr>
              <a:t>value(pixel) &lt; threshold_1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THEN </a:t>
            </a:r>
            <a:r>
              <a:rPr lang="en-US" sz="2000"/>
              <a:t>value(pixel) = 0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en-US" sz="2000">
                <a:solidFill>
                  <a:schemeClr val="accent6">
                    <a:lumMod val="75000"/>
                  </a:schemeClr>
                </a:solidFill>
              </a:rPr>
              <a:t>value(pixel) &gt;= threshold_1 &amp;&amp; value(pixel) &lt; threshold_2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THEN </a:t>
            </a:r>
            <a:r>
              <a:rPr lang="en-US" sz="2000"/>
              <a:t>value(pixel) = 1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…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IF </a:t>
            </a:r>
            <a:r>
              <a:rPr lang="en-US" sz="2000">
                <a:solidFill>
                  <a:schemeClr val="accent6">
                    <a:lumMod val="75000"/>
                  </a:schemeClr>
                </a:solidFill>
              </a:rPr>
              <a:t>value(pixel) &gt;= threshold_n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THEN </a:t>
            </a:r>
            <a:r>
              <a:rPr lang="en-US" sz="2000"/>
              <a:t>value(pixel) = 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2A536E31-CCAA-1495-50CA-EB45E0CBB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18" y="3890274"/>
            <a:ext cx="3194408" cy="24393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1DF8F5-0A68-C938-D7B1-1D12A669810D}"/>
              </a:ext>
            </a:extLst>
          </p:cNvPr>
          <p:cNvSpPr txBox="1"/>
          <p:nvPr/>
        </p:nvSpPr>
        <p:spPr>
          <a:xfrm>
            <a:off x="524238" y="3028500"/>
            <a:ext cx="106581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Đa ngưỡng dựa trên histogram:</a:t>
            </a:r>
          </a:p>
          <a:p>
            <a:pPr lvl="1"/>
            <a:endParaRPr lang="en-US" sz="200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3" name="Picture 12" descr="A group of black text&#10;&#10;AI-generated content may be incorrect.">
            <a:extLst>
              <a:ext uri="{FF2B5EF4-FFF2-40B4-BE49-F238E27FC236}">
                <a16:creationId xmlns:a16="http://schemas.microsoft.com/office/drawing/2014/main" id="{2CA201F1-8129-F518-D7EB-0B23B5E97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870" y="4341277"/>
            <a:ext cx="4363059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69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12A15-8E67-461F-E913-7DD6E9EE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E4378-3962-7F94-65BD-54B323159F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8157" y="2517788"/>
            <a:ext cx="10275686" cy="219423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K-means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DFED0-39C1-4C9D-25A7-528661166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26D55-0A22-487A-A687-61FB58A6F16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948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3864-93E3-727E-DDFB-80AB19C6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397C-A6B7-D99D-37C0-AD7B819F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K-means: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43969-F9F6-6DC6-EB51-FAD503E0E406}"/>
              </a:ext>
            </a:extLst>
          </p:cNvPr>
          <p:cNvSpPr txBox="1"/>
          <p:nvPr/>
        </p:nvSpPr>
        <p:spPr>
          <a:xfrm>
            <a:off x="524238" y="1244968"/>
            <a:ext cx="106581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Một phương pháp để phân đoạn ảnh thành nhiều vùng (K vùng)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Các điểm được phân vào K nhóm (clusters)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Tâm của nhóm: giá trị trung bình của tất cả các phần tử trong nhóm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Số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/>
              <a:t>lớp (K) biết trước và cố định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D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ựa trên </a:t>
            </a:r>
            <a:r>
              <a:rPr lang="vi-VN" sz="2000" dirty="0"/>
              <a:t>điểm ảnh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vi-VN" sz="2000" dirty="0">
                <a:solidFill>
                  <a:srgbClr val="C00000"/>
                </a:solidFill>
              </a:rPr>
              <a:t>không tính đến phân bố điểm ảnh trong không gian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4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bước: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Chia dữ liệu thành K tập không rỗng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Tính tâm cho mỗi nhóm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Sắp lại dữ liệu vào các nhóm gần nhất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Quay lại 2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71BF1-3AE5-5E86-1075-97EB41F8696E}"/>
              </a:ext>
            </a:extLst>
          </p:cNvPr>
          <p:cNvSpPr txBox="1"/>
          <p:nvPr/>
        </p:nvSpPr>
        <p:spPr>
          <a:xfrm>
            <a:off x="70164" y="4909857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Giải thuật dừng khi tất cả các nhóm ổn định</a:t>
            </a:r>
            <a:endParaRPr lang="en-US" sz="2000" b="1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731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692A-E012-1CF4-5C61-FEAA764E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E947-DB93-6E9D-348E-B3EBABEC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6" y="-72147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thuật</a:t>
            </a:r>
            <a:r>
              <a:rPr lang="en-US" sz="3200" dirty="0"/>
              <a:t> K-means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2B9C4BB4-57CF-0F90-16B5-4467AAA46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28" y="1677519"/>
            <a:ext cx="4632076" cy="3558058"/>
          </a:xfrm>
          <a:prstGeom prst="rect">
            <a:avLst/>
          </a:prstGeom>
        </p:spPr>
      </p:pic>
      <p:pic>
        <p:nvPicPr>
          <p:cNvPr id="10" name="Picture 9" descr="A group of vegetables arranged in a shape of a heart&#10;&#10;AI-generated content may be incorrect.">
            <a:extLst>
              <a:ext uri="{FF2B5EF4-FFF2-40B4-BE49-F238E27FC236}">
                <a16:creationId xmlns:a16="http://schemas.microsoft.com/office/drawing/2014/main" id="{677BB37D-8ADD-62E0-9B9E-89145C893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447" y="1296151"/>
            <a:ext cx="1848108" cy="2343477"/>
          </a:xfrm>
          <a:prstGeom prst="rect">
            <a:avLst/>
          </a:prstGeom>
        </p:spPr>
      </p:pic>
      <p:pic>
        <p:nvPicPr>
          <p:cNvPr id="12" name="Picture 11" descr="A close-up of vegetables&#10;&#10;AI-generated content may be incorrect.">
            <a:extLst>
              <a:ext uri="{FF2B5EF4-FFF2-40B4-BE49-F238E27FC236}">
                <a16:creationId xmlns:a16="http://schemas.microsoft.com/office/drawing/2014/main" id="{12E9F3B9-7D39-C001-A4BF-96FA8A888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808" y="1325504"/>
            <a:ext cx="2048161" cy="2267266"/>
          </a:xfrm>
          <a:prstGeom prst="rect">
            <a:avLst/>
          </a:prstGeom>
        </p:spPr>
      </p:pic>
      <p:pic>
        <p:nvPicPr>
          <p:cNvPr id="14" name="Picture 13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7A28BFEC-9D55-6D6C-50B8-B794E3B87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5472" y="3819384"/>
            <a:ext cx="5668166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163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BDA9-BA87-C72B-B99F-FDD46CD9B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7B1F-5BB4-E0A7-9811-CDFD3405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6B08B-9119-2BCE-344B-C73CF8494536}"/>
              </a:ext>
            </a:extLst>
          </p:cNvPr>
          <p:cNvSpPr txBox="1"/>
          <p:nvPr/>
        </p:nvSpPr>
        <p:spPr>
          <a:xfrm>
            <a:off x="524238" y="1145662"/>
            <a:ext cx="10658111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latin typeface="+mj-lt"/>
              </a:rPr>
              <a:t>Phân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đoạn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dựa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trên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điểm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ảnh</a:t>
            </a:r>
            <a:r>
              <a:rPr lang="en-US" sz="2000" b="1" dirty="0">
                <a:latin typeface="+mj-lt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Lưu ý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Phân đoạn chỉ dựa trên </a:t>
            </a:r>
            <a:r>
              <a:rPr lang="vi-VN" sz="2000" dirty="0"/>
              <a:t>giá trị điểm ảnh (cường độ sáng, màu sắc, …)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rgbClr val="C00000"/>
                </a:solidFill>
              </a:rPr>
              <a:t>Không tính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đến mối tương quan </a:t>
            </a:r>
            <a:r>
              <a:rPr lang="vi-VN" sz="2000" dirty="0">
                <a:solidFill>
                  <a:srgbClr val="C00000"/>
                </a:solidFill>
              </a:rPr>
              <a:t>vị trí trong không gian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(2D) của điểm ảnh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Các vùng thu được có thể </a:t>
            </a:r>
            <a:r>
              <a:rPr lang="vi-VN" sz="2000" dirty="0">
                <a:solidFill>
                  <a:srgbClr val="C00000"/>
                </a:solidFill>
              </a:rPr>
              <a:t>không liên thông</a:t>
            </a:r>
            <a:endParaRPr lang="en-US" sz="2000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Xử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lý: Xóa bỏ các điểm ảnh rời rạc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D6DA-B8B1-C4D4-04CB-EC313B6A0066}"/>
              </a:ext>
            </a:extLst>
          </p:cNvPr>
          <p:cNvSpPr txBox="1"/>
          <p:nvPr/>
        </p:nvSpPr>
        <p:spPr>
          <a:xfrm>
            <a:off x="524238" y="4085999"/>
            <a:ext cx="1065811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Phân đoạn dựa trên vùng: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Dựa trên sự đồng nhất trong các vùng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Tính đến phân bố trong không gian của điểm ảnh</a:t>
            </a:r>
          </a:p>
        </p:txBody>
      </p:sp>
    </p:spTree>
    <p:extLst>
      <p:ext uri="{BB962C8B-B14F-4D97-AF65-F5344CB8AC3E}">
        <p14:creationId xmlns:p14="http://schemas.microsoft.com/office/powerpoint/2010/main" val="207908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2297-C9E6-02C4-642C-9A941E40B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3D9D-3118-6791-EB1A-54FF61F5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Split-and-Merge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B6CB2-F133-9464-2A40-EFD4DC6FD5BF}"/>
              </a:ext>
            </a:extLst>
          </p:cNvPr>
          <p:cNvSpPr txBox="1"/>
          <p:nvPr/>
        </p:nvSpPr>
        <p:spPr>
          <a:xfrm>
            <a:off x="524238" y="1212337"/>
            <a:ext cx="10658111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Split-and-Merge (chia </a:t>
            </a:r>
            <a:r>
              <a:rPr lang="en-US" sz="2000" b="1" dirty="0" err="1">
                <a:latin typeface="+mj-lt"/>
              </a:rPr>
              <a:t>và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hợp</a:t>
            </a:r>
            <a:r>
              <a:rPr lang="en-US" sz="2000" b="1" dirty="0">
                <a:latin typeface="+mj-lt"/>
              </a:rPr>
              <a:t>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Bước 1: Chia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Chia đệ quy các vùng </a:t>
            </a:r>
            <a:r>
              <a:rPr lang="vi-VN" sz="2000" b="1" dirty="0"/>
              <a:t>không đồng nhất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theo một tiêu chuẩn nào đó (phương sai, max,min) thành các vùng nhỏ hơn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Chia một vùng thành 4 vùng con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Tính chất của vùng con được tính toán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Bước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Hợp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Gộp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/>
              <a:t>vùng</a:t>
            </a:r>
            <a:r>
              <a:rPr lang="en-US" sz="2000" b="1" dirty="0"/>
              <a:t> </a:t>
            </a:r>
            <a:r>
              <a:rPr lang="en-US" sz="2000" b="1" dirty="0" err="1"/>
              <a:t>đồng</a:t>
            </a:r>
            <a:r>
              <a:rPr lang="en-US" sz="2000" b="1" dirty="0"/>
              <a:t> </a:t>
            </a:r>
            <a:r>
              <a:rPr lang="en-US" sz="2000" b="1" dirty="0" err="1"/>
              <a:t>nhất</a:t>
            </a:r>
            <a:r>
              <a:rPr lang="en-US" sz="2000" b="1" dirty="0"/>
              <a:t> </a:t>
            </a:r>
            <a:r>
              <a:rPr lang="en-US" sz="2000" b="1" dirty="0" err="1"/>
              <a:t>lân</a:t>
            </a:r>
            <a:r>
              <a:rPr lang="en-US" sz="2000" b="1" dirty="0"/>
              <a:t> </a:t>
            </a:r>
            <a:r>
              <a:rPr lang="en-US" sz="2000" b="1" dirty="0" err="1"/>
              <a:t>cận</a:t>
            </a:r>
            <a:r>
              <a:rPr lang="en-US" sz="2000" b="1" dirty="0"/>
              <a:t> </a:t>
            </a:r>
            <a:r>
              <a:rPr lang="en-US" sz="2000" b="1" dirty="0" err="1"/>
              <a:t>nhau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theo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một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chuẩn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nào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đó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4488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A55CD-B4EB-026B-D170-BBEE83A8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752D7D-8E81-24F5-6E09-5ABE4981D0D9}"/>
              </a:ext>
            </a:extLst>
          </p:cNvPr>
          <p:cNvSpPr txBox="1"/>
          <p:nvPr/>
        </p:nvSpPr>
        <p:spPr>
          <a:xfrm>
            <a:off x="524238" y="678937"/>
            <a:ext cx="1065811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Split-and-Merge (chia và hợp): Chia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Ảnh có thể biểu diễn thành 1 cây: </a:t>
            </a:r>
            <a:r>
              <a:rPr lang="en-US" sz="2000"/>
              <a:t>nút gốc là toàn bộ ảnh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Mỗi nút F không đồng nhất được chia thành 4 phần: </a:t>
            </a:r>
            <a:r>
              <a:rPr lang="en-US" sz="2000"/>
              <a:t>4 phần này sẽ trở thành nút con của 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Giải thuật tiếp tục cho đến khi không còn vùng không đồng nhất nào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BDC25D9-0ECC-F112-18FE-F3118CCA92EB}"/>
              </a:ext>
            </a:extLst>
          </p:cNvPr>
          <p:cNvGrpSpPr/>
          <p:nvPr/>
        </p:nvGrpSpPr>
        <p:grpSpPr>
          <a:xfrm>
            <a:off x="2761620" y="2993638"/>
            <a:ext cx="5877555" cy="3531819"/>
            <a:chOff x="2761620" y="2765038"/>
            <a:chExt cx="5877555" cy="3531819"/>
          </a:xfrm>
        </p:grpSpPr>
        <p:pic>
          <p:nvPicPr>
            <p:cNvPr id="5" name="Picture 4" descr="A diagram of a number grid&#10;&#10;AI-generated content may be incorrect.">
              <a:extLst>
                <a:ext uri="{FF2B5EF4-FFF2-40B4-BE49-F238E27FC236}">
                  <a16:creationId xmlns:a16="http://schemas.microsoft.com/office/drawing/2014/main" id="{2432F504-FB33-53C0-80CE-64D4920FE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1620" y="2765038"/>
              <a:ext cx="5877555" cy="332937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C2ACB7-23EF-105D-81F5-A846E17ACC9A}"/>
                </a:ext>
              </a:extLst>
            </p:cNvPr>
            <p:cNvSpPr/>
            <p:nvPr/>
          </p:nvSpPr>
          <p:spPr>
            <a:xfrm>
              <a:off x="2761620" y="5829300"/>
              <a:ext cx="448305" cy="4675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A5E8C44-EF8E-6D43-0E19-8B9155194923}"/>
              </a:ext>
            </a:extLst>
          </p:cNvPr>
          <p:cNvSpPr txBox="1">
            <a:spLocks/>
          </p:cNvSpPr>
          <p:nvPr/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Split-and-Merge</a:t>
            </a:r>
          </a:p>
        </p:txBody>
      </p:sp>
    </p:spTree>
    <p:extLst>
      <p:ext uri="{BB962C8B-B14F-4D97-AF65-F5344CB8AC3E}">
        <p14:creationId xmlns:p14="http://schemas.microsoft.com/office/powerpoint/2010/main" val="344544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D4D5D-76CD-778B-987B-0105D34CF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8010D2-1BC5-E2B6-2B13-A053DD9601F6}"/>
              </a:ext>
            </a:extLst>
          </p:cNvPr>
          <p:cNvSpPr txBox="1"/>
          <p:nvPr/>
        </p:nvSpPr>
        <p:spPr>
          <a:xfrm>
            <a:off x="524238" y="678937"/>
            <a:ext cx="10658111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Split-and-Merge (chia và hợp): Hợp</a:t>
            </a:r>
          </a:p>
        </p:txBody>
      </p:sp>
      <p:pic>
        <p:nvPicPr>
          <p:cNvPr id="7" name="Picture 6" descr="A black and white grid with dots and lines&#10;&#10;AI-generated content may be incorrect.">
            <a:extLst>
              <a:ext uri="{FF2B5EF4-FFF2-40B4-BE49-F238E27FC236}">
                <a16:creationId xmlns:a16="http://schemas.microsoft.com/office/drawing/2014/main" id="{A637E009-B016-A762-AEB6-2B8D5956F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56" y="1457004"/>
            <a:ext cx="10126488" cy="45916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AD6B71-A87C-1E72-EC87-31B25AC35EAA}"/>
              </a:ext>
            </a:extLst>
          </p:cNvPr>
          <p:cNvSpPr/>
          <p:nvPr/>
        </p:nvSpPr>
        <p:spPr>
          <a:xfrm>
            <a:off x="10787139" y="4987925"/>
            <a:ext cx="448305" cy="10607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48A67-F960-872B-ABC4-BC4A7B6FC96D}"/>
              </a:ext>
            </a:extLst>
          </p:cNvPr>
          <p:cNvSpPr/>
          <p:nvPr/>
        </p:nvSpPr>
        <p:spPr>
          <a:xfrm>
            <a:off x="10996297" y="1378378"/>
            <a:ext cx="135254" cy="3413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351E5D1-22D1-6EDC-1241-AB41E8C6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9293"/>
            <a:ext cx="9146651" cy="457200"/>
          </a:xfrm>
        </p:spPr>
        <p:txBody>
          <a:bodyPr>
            <a:noAutofit/>
          </a:bodyPr>
          <a:lstStyle/>
          <a:p>
            <a:r>
              <a:rPr lang="en-US" sz="2800" dirty="0"/>
              <a:t>Split-and-Merge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1814605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19106-413B-56F6-11C7-271609D6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CFCE-1DFA-B416-8E8D-20FFC0A4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Region growing (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triển</a:t>
            </a:r>
            <a:r>
              <a:rPr lang="en-US" sz="2800" dirty="0"/>
              <a:t> </a:t>
            </a:r>
            <a:r>
              <a:rPr lang="en-US" sz="2800" dirty="0" err="1"/>
              <a:t>vùng</a:t>
            </a:r>
            <a:r>
              <a:rPr lang="en-US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F355D-9EF0-A479-2C44-D1AC4097ACE8}"/>
              </a:ext>
            </a:extLst>
          </p:cNvPr>
          <p:cNvSpPr txBox="1"/>
          <p:nvPr/>
        </p:nvSpPr>
        <p:spPr>
          <a:xfrm>
            <a:off x="524238" y="678937"/>
            <a:ext cx="106581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Ý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tưởng: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Giải thuật bắt đầu với 1 điểm ảnh và lựa chọn các điểm ảnh lân cận để gộp lại theo tiêu chuẩn nào đó: phương sai nhỏ, ..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Điểm ảnh khởi tạo được gọi là hạt giống/nhân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Vùng sẽ được phát triển từ hạt giống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Các hiểu biết về ảnh cần phân đoạn được sử dụng để lựa chọn hạt giống tốt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Lựa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chọn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hạt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giống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Tự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động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Thủ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công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Picture 6" descr="A close up of a flower&#10;&#10;AI-generated content may be incorrect.">
            <a:extLst>
              <a:ext uri="{FF2B5EF4-FFF2-40B4-BE49-F238E27FC236}">
                <a16:creationId xmlns:a16="http://schemas.microsoft.com/office/drawing/2014/main" id="{EEB2D0BC-3987-C0A5-B6E3-DAD93BBE0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135" y="4051480"/>
            <a:ext cx="7804315" cy="220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415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790E-8C5C-A166-04E1-C65E3C84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0D3B-7B39-FE12-967C-B8856849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triển</a:t>
            </a:r>
            <a:r>
              <a:rPr lang="en-US" sz="2800" dirty="0"/>
              <a:t> </a:t>
            </a:r>
            <a:r>
              <a:rPr lang="en-US" sz="2800" dirty="0" err="1"/>
              <a:t>vùng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nhiều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giống</a:t>
            </a:r>
            <a:endParaRPr 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collage of images of a cell&#10;&#10;AI-generated content may be incorrect.">
            <a:extLst>
              <a:ext uri="{FF2B5EF4-FFF2-40B4-BE49-F238E27FC236}">
                <a16:creationId xmlns:a16="http://schemas.microsoft.com/office/drawing/2014/main" id="{77C58BBA-FB3F-CA30-FE64-A6685B38E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148" y="1408491"/>
            <a:ext cx="7540741" cy="448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99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E215-6822-94CD-72BF-7F37E7A9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2017-F0D1-C8DD-E1BC-F5A577FC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Lưu ý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CD345-D172-9D5E-9DBB-B374E59E78A6}"/>
              </a:ext>
            </a:extLst>
          </p:cNvPr>
          <p:cNvSpPr txBox="1"/>
          <p:nvPr/>
        </p:nvSpPr>
        <p:spPr>
          <a:xfrm>
            <a:off x="524238" y="1074509"/>
            <a:ext cx="106581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Tất cả các giải thuật đều cần tiêu chuẩn, tham số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Không có tham số chung, phải lựa chọn tùy vào ứng dụng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Ngưỡng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Giá trị cố định (hằng số)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Giá trị tương đối (%, trung bình, …)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Giá trị được tính toán bằng thuật toán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Không có thuật toán tối ưu cho bài toán phân đoạn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Không có thuật toán chung cho tất cả các bài toán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=&gt;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tùy thuộc ứng dụng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Nếu có thể tránh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=&gt;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tránh bài toán phân đoạn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Nên thực hiện các phép tiền xử lý để phân đoạn đạt hiệu quả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Xác định rõ mục đích của phân đoạn: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ác phần ta muốn nhìn thấy trong ảnh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Kết quả phân đoạn dùng để làm gì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=&gt;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tăng hiệu quả 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Đánh giá kết quả của bài toán phân đoạn là khó và không khách quan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1223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BAEF-3784-34A0-F088-52C3F45E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9923-D9CB-E1BD-858B-A4574CEE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đoạn</a:t>
            </a:r>
            <a:r>
              <a:rPr lang="en-US" sz="2800" dirty="0"/>
              <a:t>: </a:t>
            </a:r>
            <a:r>
              <a:rPr lang="en-US" sz="2800" dirty="0" err="1"/>
              <a:t>hạn</a:t>
            </a:r>
            <a:r>
              <a:rPr lang="en-US" sz="2800" dirty="0"/>
              <a:t> </a:t>
            </a:r>
            <a:r>
              <a:rPr lang="en-US" sz="2800" dirty="0" err="1"/>
              <a:t>chế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8FEFA-1EF3-4E9A-3100-F2D4FAEF8DA4}"/>
              </a:ext>
            </a:extLst>
          </p:cNvPr>
          <p:cNvSpPr txBox="1"/>
          <p:nvPr/>
        </p:nvSpPr>
        <p:spPr>
          <a:xfrm>
            <a:off x="524238" y="960209"/>
            <a:ext cx="10658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Phân vùng không cho phép chúng ta xác định được tất cả các đối tượng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vùng có thể không chứa 1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đối tượng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black and white image of a body of water&#10;&#10;AI-generated content may be incorrect.">
            <a:extLst>
              <a:ext uri="{FF2B5EF4-FFF2-40B4-BE49-F238E27FC236}">
                <a16:creationId xmlns:a16="http://schemas.microsoft.com/office/drawing/2014/main" id="{AAB0732E-3E80-6BB0-B488-DE10851A2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96" y="2303027"/>
            <a:ext cx="4153251" cy="3723874"/>
          </a:xfrm>
          <a:prstGeom prst="rect">
            <a:avLst/>
          </a:prstGeom>
        </p:spPr>
      </p:pic>
      <p:pic>
        <p:nvPicPr>
          <p:cNvPr id="7" name="Picture 6" descr="A collage of images of a person and a tiger&#10;&#10;AI-generated content may be incorrect.">
            <a:extLst>
              <a:ext uri="{FF2B5EF4-FFF2-40B4-BE49-F238E27FC236}">
                <a16:creationId xmlns:a16="http://schemas.microsoft.com/office/drawing/2014/main" id="{F0D5DAD4-2AF4-65B2-2D8C-95E2053FC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96078"/>
            <a:ext cx="4457700" cy="385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080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93A2-4527-EE6F-5D37-62C3D5E1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46A3-E4E8-A6FA-B408-F5C3AD19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endParaRPr lang="en-US" sz="2800" dirty="0"/>
          </a:p>
        </p:txBody>
      </p:sp>
      <p:pic>
        <p:nvPicPr>
          <p:cNvPr id="6" name="Picture 5" descr="A collage of images of a tiger&#10;&#10;AI-generated content may be incorrect.">
            <a:extLst>
              <a:ext uri="{FF2B5EF4-FFF2-40B4-BE49-F238E27FC236}">
                <a16:creationId xmlns:a16="http://schemas.microsoft.com/office/drawing/2014/main" id="{638479CE-889D-38FB-028B-3E482835C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130" y="685800"/>
            <a:ext cx="5715740" cy="569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96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AE4B-8264-E199-3B70-88F9B8EF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15F-CC3C-C844-678D-7D8184FAD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tiếp</a:t>
            </a:r>
            <a:r>
              <a:rPr lang="en-US" sz="2800" dirty="0"/>
              <a:t> </a:t>
            </a:r>
            <a:r>
              <a:rPr lang="en-US" sz="2800" dirty="0" err="1"/>
              <a:t>cận</a:t>
            </a:r>
            <a:r>
              <a:rPr lang="en-US" sz="2800" dirty="0"/>
              <a:t> Gestalt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B2034-0AF3-F3D8-A747-AC45D3C6A0D4}"/>
              </a:ext>
            </a:extLst>
          </p:cNvPr>
          <p:cNvSpPr txBox="1"/>
          <p:nvPr/>
        </p:nvSpPr>
        <p:spPr>
          <a:xfrm>
            <a:off x="524238" y="1074509"/>
            <a:ext cx="10658111" cy="4387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Dựa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trên nghiên cứu về cách quan sát của con người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Thông tin ngữ cảnh xung quanh: quan trọng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Một số tiêu chuẩn nhóm: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bg2">
                    <a:lumMod val="25000"/>
                  </a:schemeClr>
                </a:solidFill>
              </a:rPr>
              <a:t>Proximity: các đối tượng gần nhau 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bg2">
                    <a:lumMod val="25000"/>
                  </a:schemeClr>
                </a:solidFill>
              </a:rPr>
              <a:t>Similarity: các đối tượng giống nhau 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bg2">
                    <a:lumMod val="25000"/>
                  </a:schemeClr>
                </a:solidFill>
              </a:rPr>
              <a:t>Commonfaith: các đối tượng có kiểu di chuyển giống nhau 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bg2">
                    <a:lumMod val="25000"/>
                  </a:schemeClr>
                </a:solidFill>
              </a:rPr>
              <a:t>Commonregion: các đối tượng trong cùng 1 vùng 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bg2">
                    <a:lumMod val="25000"/>
                  </a:schemeClr>
                </a:solidFill>
              </a:rPr>
              <a:t>Parallel: các đường song song 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bg2">
                    <a:lumMod val="25000"/>
                  </a:schemeClr>
                </a:solidFill>
              </a:rPr>
              <a:t>Closing: các cung và đối tượng có hình dạng đóng 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bg2">
                    <a:lumMod val="25000"/>
                  </a:schemeClr>
                </a:solidFill>
              </a:rPr>
              <a:t>Symmetry: các cung và đối tượng đối xứng 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bg2">
                    <a:lumMod val="25000"/>
                  </a:schemeClr>
                </a:solidFill>
              </a:rPr>
              <a:t>Continuity: các cung và đối tượng kéo dài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diagram of different types of lines&#10;&#10;AI-generated content may be incorrect.">
            <a:extLst>
              <a:ext uri="{FF2B5EF4-FFF2-40B4-BE49-F238E27FC236}">
                <a16:creationId xmlns:a16="http://schemas.microsoft.com/office/drawing/2014/main" id="{E578DE1E-FBFE-207F-BAB4-74A4565EF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877458"/>
            <a:ext cx="5216162" cy="334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26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6809-2D52-88D2-D359-4E3023EA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730E-3216-0F30-6875-A3AA9347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2800" dirty="0"/>
              <a:t>Đặc trưng cục bộ:</a:t>
            </a:r>
            <a:r>
              <a:rPr lang="en-US" sz="2800" dirty="0"/>
              <a:t> Các </a:t>
            </a:r>
            <a:r>
              <a:rPr lang="en-US" sz="2800" dirty="0" err="1"/>
              <a:t>điểm</a:t>
            </a:r>
            <a:r>
              <a:rPr lang="en-US" sz="2800" dirty="0"/>
              <a:t> </a:t>
            </a:r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trưng</a:t>
            </a:r>
            <a:endParaRPr lang="vi-V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6D6A9-3B98-5340-B0AB-FBAC623048C0}"/>
              </a:ext>
            </a:extLst>
          </p:cNvPr>
          <p:cNvSpPr txBox="1"/>
          <p:nvPr/>
        </p:nvSpPr>
        <p:spPr>
          <a:xfrm>
            <a:off x="524238" y="874455"/>
            <a:ext cx="106581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Trích chọn các điểm đặc trưng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Ảnh mức xám : Moravec (1977), Harris et Stephens (1988), Harris (1996), Susan (Smith et Brady, 1997), SIFT (1999), …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Ảnh màu: Kitchen et Rosenfeld color (1998), Harris color (1998)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Xác định mô tả/đặc trưng trong vùng lân cận của điểm đặc trưng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SIFT(1999), SURF, GLOH, …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độ tương tự giữa tập các đặc trưng tại các điểm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Picture 5" descr="A close-up of a table&#10;&#10;AI-generated content may be incorrect.">
            <a:extLst>
              <a:ext uri="{FF2B5EF4-FFF2-40B4-BE49-F238E27FC236}">
                <a16:creationId xmlns:a16="http://schemas.microsoft.com/office/drawing/2014/main" id="{BCD170F6-3413-65CF-11C9-B7FB3FFE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86" y="3636746"/>
            <a:ext cx="5885116" cy="2326407"/>
          </a:xfrm>
          <a:prstGeom prst="rect">
            <a:avLst/>
          </a:prstGeom>
        </p:spPr>
      </p:pic>
      <p:pic>
        <p:nvPicPr>
          <p:cNvPr id="8" name="Picture 7" descr="A house with green dots&#10;&#10;AI-generated content may be incorrect.">
            <a:extLst>
              <a:ext uri="{FF2B5EF4-FFF2-40B4-BE49-F238E27FC236}">
                <a16:creationId xmlns:a16="http://schemas.microsoft.com/office/drawing/2014/main" id="{C6C8D829-71C9-E35A-00AC-E577D205F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203" y="3095280"/>
            <a:ext cx="2854186" cy="308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388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E981A-BBE6-86AC-2588-EF5B6AC2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E7DF4-59AE-C47E-0910-9E722EBA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2800" dirty="0"/>
              <a:t>SIFT Keypoint Detector</a:t>
            </a:r>
            <a:endParaRPr lang="en-US" sz="2800" dirty="0"/>
          </a:p>
        </p:txBody>
      </p:sp>
      <p:pic>
        <p:nvPicPr>
          <p:cNvPr id="5" name="Picture 4" descr="A diagram of a diagram of a different type of gaussian&#10;&#10;AI-generated content may be incorrect.">
            <a:extLst>
              <a:ext uri="{FF2B5EF4-FFF2-40B4-BE49-F238E27FC236}">
                <a16:creationId xmlns:a16="http://schemas.microsoft.com/office/drawing/2014/main" id="{1A77EFEE-782B-D953-C0F2-317BE15B6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38" y="2146862"/>
            <a:ext cx="3301942" cy="2564274"/>
          </a:xfrm>
          <a:prstGeom prst="rect">
            <a:avLst/>
          </a:prstGeom>
        </p:spPr>
      </p:pic>
      <p:pic>
        <p:nvPicPr>
          <p:cNvPr id="9" name="Picture 8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ECB59DC4-69A1-1925-DA8A-90C5C0E63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265" y="2318761"/>
            <a:ext cx="2533622" cy="2220477"/>
          </a:xfrm>
          <a:prstGeom prst="rect">
            <a:avLst/>
          </a:prstGeom>
        </p:spPr>
      </p:pic>
      <p:pic>
        <p:nvPicPr>
          <p:cNvPr id="11" name="Picture 10" descr="A house with yellow arrows&#10;&#10;AI-generated content may be incorrect.">
            <a:extLst>
              <a:ext uri="{FF2B5EF4-FFF2-40B4-BE49-F238E27FC236}">
                <a16:creationId xmlns:a16="http://schemas.microsoft.com/office/drawing/2014/main" id="{A35D7820-E14C-7F1A-7EE0-DEC7E31E1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282" y="1716317"/>
            <a:ext cx="4438661" cy="362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198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040FE-7177-5AEF-0014-9247ECE8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BBE2-7D1E-33FE-5915-44A7AA41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2800" dirty="0"/>
              <a:t>SIFT Keypoint Detector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EE016-54F7-41A5-1E00-C933A0B8C94D}"/>
              </a:ext>
            </a:extLst>
          </p:cNvPr>
          <p:cNvSpPr txBox="1"/>
          <p:nvPr/>
        </p:nvSpPr>
        <p:spPr>
          <a:xfrm>
            <a:off x="524238" y="874455"/>
            <a:ext cx="106581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>
                <a:latin typeface="+mj-lt"/>
              </a:rPr>
              <a:t>Keypoint Descriptor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Gọn, biểu diễn tốt thông tin cục bộ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Không phụ thuộc hoặc ít phụ thuộc vào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ác biển đổi hình học: quay, tịnh tiến, zoom, ..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ự thay đổi hướng camera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ự thay đổi độ sáng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Ví dụ: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SIFT, SURF(Speeded Up Robust Features ), PCA-SIFT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Picture 8" descr="A diagram of a circle with arrows and a circle with arrows&#10;&#10;AI-generated content may be incorrect.">
            <a:extLst>
              <a:ext uri="{FF2B5EF4-FFF2-40B4-BE49-F238E27FC236}">
                <a16:creationId xmlns:a16="http://schemas.microsoft.com/office/drawing/2014/main" id="{8CCB7CDB-816C-86F2-224A-D9336D434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664" y="3826962"/>
            <a:ext cx="5030407" cy="2383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0120EE-A62D-E05C-B8B2-3FB27A3B350C}"/>
              </a:ext>
            </a:extLst>
          </p:cNvPr>
          <p:cNvSpPr txBox="1"/>
          <p:nvPr/>
        </p:nvSpPr>
        <p:spPr>
          <a:xfrm>
            <a:off x="524238" y="3733449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+mj-lt"/>
              </a:rPr>
              <a:t>SIFT </a:t>
            </a:r>
            <a:r>
              <a:rPr lang="vi-VN" sz="1800" b="1">
                <a:latin typeface="+mj-lt"/>
              </a:rPr>
              <a:t>Keypoint Descriptor</a:t>
            </a:r>
          </a:p>
        </p:txBody>
      </p:sp>
    </p:spTree>
    <p:extLst>
      <p:ext uri="{BB962C8B-B14F-4D97-AF65-F5344CB8AC3E}">
        <p14:creationId xmlns:p14="http://schemas.microsoft.com/office/powerpoint/2010/main" val="28588029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DA11F-79A9-6724-A259-FFE6F2C1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0B26-9660-3249-A682-7C13593A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 </a:t>
            </a:r>
            <a:r>
              <a:rPr lang="en-US" sz="2800" dirty="0" err="1"/>
              <a:t>truy</a:t>
            </a:r>
            <a:r>
              <a:rPr lang="en-US" sz="2800" dirty="0"/>
              <a:t> </a:t>
            </a:r>
            <a:r>
              <a:rPr lang="en-US" sz="2800" dirty="0" err="1"/>
              <a:t>vấn</a:t>
            </a:r>
            <a:r>
              <a:rPr lang="en-US" sz="2800" dirty="0"/>
              <a:t> </a:t>
            </a:r>
            <a:r>
              <a:rPr lang="en-US" sz="2800" dirty="0" err="1"/>
              <a:t>bộ</a:t>
            </a:r>
            <a:r>
              <a:rPr lang="en-US" sz="2800" dirty="0"/>
              <a:t> </a:t>
            </a:r>
            <a:r>
              <a:rPr lang="en-US" sz="2800" dirty="0" err="1"/>
              <a:t>phận</a:t>
            </a:r>
            <a:endParaRPr lang="vi-VN" sz="2800" dirty="0"/>
          </a:p>
        </p:txBody>
      </p:sp>
      <p:pic>
        <p:nvPicPr>
          <p:cNvPr id="5" name="Picture 4" descr="A collage of men in different poses&#10;&#10;AI-generated content may be incorrect.">
            <a:extLst>
              <a:ext uri="{FF2B5EF4-FFF2-40B4-BE49-F238E27FC236}">
                <a16:creationId xmlns:a16="http://schemas.microsoft.com/office/drawing/2014/main" id="{11D5453F-7486-EC7E-C137-AABD2BCB7E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6"/>
          <a:stretch>
            <a:fillRect/>
          </a:stretch>
        </p:blipFill>
        <p:spPr>
          <a:xfrm>
            <a:off x="909818" y="1501244"/>
            <a:ext cx="9734550" cy="478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14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DF9DC-536A-B336-86A4-33501034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CF33-E5E7-6F20-6679-BABC22CE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sánh</a:t>
            </a:r>
            <a:endParaRPr lang="en-US" sz="2800" dirty="0"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6B3BDD45-D42B-E49C-F119-48D719D8D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24" y="1357866"/>
            <a:ext cx="4536101" cy="26676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AC0EBD-D9BC-5E0E-91EB-8D618E4FA4CB}"/>
              </a:ext>
            </a:extLst>
          </p:cNvPr>
          <p:cNvSpPr txBox="1"/>
          <p:nvPr/>
        </p:nvSpPr>
        <p:spPr>
          <a:xfrm>
            <a:off x="588938" y="1233714"/>
            <a:ext cx="621508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Đặc trưng toàn cục (ảnh không phân đoạn)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So sánh dựa trên độ tương tự giữa 2 vectors đặc trưng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Khoảng cách có thể là: L1, L2, cosine, Mahalanobis, …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Đặc trưng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cục bộ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: ảnh phân đoạn hoặc điểm đặc trưng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So sánh kết hợp (IRM (Intergrated Regions Matching), EMD (Earth Mover’s Distance), chiến lược bỏ phiếu…) dựa trên khoảng cách từng cặp vector tương ứng với các vùng/các điểm trên 2 ảnh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Ảnh sử dụng « khái niệm »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=&gt;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sử dụng độ đo tương tự giữa các « khái niệm »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AD11DD-AE85-AC57-33DC-A4DE2FF1B5D1}"/>
              </a:ext>
            </a:extLst>
          </p:cNvPr>
          <p:cNvSpPr/>
          <p:nvPr/>
        </p:nvSpPr>
        <p:spPr>
          <a:xfrm>
            <a:off x="10131424" y="1948089"/>
            <a:ext cx="1485900" cy="800100"/>
          </a:xfrm>
          <a:prstGeom prst="ellipse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C0992AE6-1029-A3A9-DA41-02AAFF248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621" y="2691668"/>
            <a:ext cx="2596030" cy="60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391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43E4-30DD-8378-4D4B-5E426360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E259ABD-978C-F702-9E7E-4E3D7EF6C6F0}"/>
              </a:ext>
            </a:extLst>
          </p:cNvPr>
          <p:cNvSpPr txBox="1"/>
          <p:nvPr/>
        </p:nvSpPr>
        <p:spPr>
          <a:xfrm>
            <a:off x="588938" y="1233714"/>
            <a:ext cx="6535762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Đối sánh : Khoảng cách IRM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Ảnh I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: biểu diễn bởi tập các vùng R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= {r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, r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, …, r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m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Ảnh I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: biểu diễn bởi tập các vùng R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= {r’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, r’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, …, r’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m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r</a:t>
            </a:r>
            <a:r>
              <a:rPr lang="vi-VN" sz="2000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r’</a:t>
            </a:r>
            <a:r>
              <a:rPr lang="vi-VN" sz="2000" baseline="-25000">
                <a:solidFill>
                  <a:schemeClr val="bg2">
                    <a:lumMod val="25000"/>
                  </a:schemeClr>
                </a:solidFill>
              </a:rPr>
              <a:t>j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: đặc trưng của các vùng i, j tương ứng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i,j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: ý nghĩa của ghép cặp r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và r’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j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Tầm quan trọng của vùng i trong ảnh I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1 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Picture 3" descr="A diagram of a horse&#10;&#10;AI-generated content may be incorrect.">
            <a:extLst>
              <a:ext uri="{FF2B5EF4-FFF2-40B4-BE49-F238E27FC236}">
                <a16:creationId xmlns:a16="http://schemas.microsoft.com/office/drawing/2014/main" id="{E200A049-6835-789D-0D6E-2D3505D17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357" y="1432305"/>
            <a:ext cx="4468668" cy="4435930"/>
          </a:xfrm>
          <a:prstGeom prst="rect">
            <a:avLst/>
          </a:prstGeom>
        </p:spPr>
      </p:pic>
      <p:pic>
        <p:nvPicPr>
          <p:cNvPr id="16" name="Picture 1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BBD6151-BE9A-4CDB-8369-594BE38E8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633" y="3334861"/>
            <a:ext cx="4088713" cy="626151"/>
          </a:xfrm>
          <a:prstGeom prst="rect">
            <a:avLst/>
          </a:prstGeom>
        </p:spPr>
      </p:pic>
      <p:pic>
        <p:nvPicPr>
          <p:cNvPr id="18" name="Picture 17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9318228C-B641-03A3-A5D6-A2088CF3D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358" y="4517562"/>
            <a:ext cx="995502" cy="55729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CF9B69-3D04-C1AD-411B-0A566C445852}"/>
              </a:ext>
            </a:extLst>
          </p:cNvPr>
          <p:cNvSpPr txBox="1">
            <a:spLocks/>
          </p:cNvSpPr>
          <p:nvPr/>
        </p:nvSpPr>
        <p:spPr>
          <a:xfrm>
            <a:off x="588938" y="10091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sánh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12805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3B839-5E82-255B-5A51-52E8AD37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7104-2398-9E71-DEE0-DF9DFA6A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94" y="0"/>
            <a:ext cx="9146651" cy="457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sánh</a:t>
            </a:r>
            <a:r>
              <a:rPr lang="en-US" sz="2800" dirty="0"/>
              <a:t> : </a:t>
            </a:r>
            <a:r>
              <a:rPr lang="en-US" sz="2800" dirty="0" err="1"/>
              <a:t>Khoảng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EMD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BD472-1C1E-FF33-6634-FC45256E77CC}"/>
              </a:ext>
            </a:extLst>
          </p:cNvPr>
          <p:cNvSpPr txBox="1"/>
          <p:nvPr/>
        </p:nvSpPr>
        <p:spPr>
          <a:xfrm>
            <a:off x="588938" y="843189"/>
            <a:ext cx="6535762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EMD: Earth Mover’s Distance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EMD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đánh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giá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phí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tối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thiểu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cần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thiết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để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dịch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chuyển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một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bố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này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sang 1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bố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khác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0B26FBFD-D746-64C6-4C41-B53B203D1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68" y="2952576"/>
            <a:ext cx="5196479" cy="17432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3DB90D-3BB5-F29A-FFEA-D988CC38B1CC}"/>
              </a:ext>
            </a:extLst>
          </p:cNvPr>
          <p:cNvSpPr txBox="1"/>
          <p:nvPr/>
        </p:nvSpPr>
        <p:spPr>
          <a:xfrm>
            <a:off x="808819" y="49105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2">
                    <a:lumMod val="25000"/>
                  </a:schemeClr>
                </a:solidFill>
              </a:rPr>
              <a:t>Khoảng cách Euclide = 4 </a:t>
            </a:r>
          </a:p>
          <a:p>
            <a:r>
              <a:rPr lang="en-US">
                <a:solidFill>
                  <a:schemeClr val="bg2">
                    <a:lumMod val="25000"/>
                  </a:schemeClr>
                </a:solidFill>
              </a:rPr>
              <a:t>Khoảng cách EMD = 2</a:t>
            </a:r>
          </a:p>
        </p:txBody>
      </p:sp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81E0E2F0-3167-9D25-E452-5DFC159C1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00" y="1906055"/>
            <a:ext cx="4001306" cy="350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49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127F-2CF9-68C4-738B-DD6EA4D2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4B17-E08C-32AC-C557-9374AD68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sánh</a:t>
            </a:r>
            <a:r>
              <a:rPr lang="en-US" sz="2800" dirty="0"/>
              <a:t> : </a:t>
            </a:r>
            <a:r>
              <a:rPr lang="en-US" sz="2800" dirty="0" err="1"/>
              <a:t>Khoảng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EMD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17446-CF91-F56D-BBC0-D98076B0B2FE}"/>
              </a:ext>
            </a:extLst>
          </p:cNvPr>
          <p:cNvSpPr txBox="1"/>
          <p:nvPr/>
        </p:nvSpPr>
        <p:spPr>
          <a:xfrm>
            <a:off x="588938" y="843189"/>
            <a:ext cx="6535762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Tính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EMD =&gt;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bài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toán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vận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chuyển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/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lập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lịch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Picture 3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142712AC-7BA5-6872-3184-9B955164C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96" y="1952554"/>
            <a:ext cx="3277057" cy="1009791"/>
          </a:xfrm>
          <a:prstGeom prst="rect">
            <a:avLst/>
          </a:prstGeom>
        </p:spPr>
      </p:pic>
      <p:pic>
        <p:nvPicPr>
          <p:cNvPr id="16" name="Picture 15" descr="A black letter with letters in it&#10;&#10;AI-generated content may be incorrect.">
            <a:extLst>
              <a:ext uri="{FF2B5EF4-FFF2-40B4-BE49-F238E27FC236}">
                <a16:creationId xmlns:a16="http://schemas.microsoft.com/office/drawing/2014/main" id="{6133927C-39FD-3960-49A6-A30FEB2BF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95" y="2975391"/>
            <a:ext cx="4725059" cy="1095528"/>
          </a:xfrm>
          <a:prstGeom prst="rect">
            <a:avLst/>
          </a:prstGeom>
        </p:spPr>
      </p:pic>
      <p:pic>
        <p:nvPicPr>
          <p:cNvPr id="18" name="Picture 17" descr="A group of mathematical symbols&#10;&#10;AI-generated content may be incorrect.">
            <a:extLst>
              <a:ext uri="{FF2B5EF4-FFF2-40B4-BE49-F238E27FC236}">
                <a16:creationId xmlns:a16="http://schemas.microsoft.com/office/drawing/2014/main" id="{D6A66CD7-BC89-EE4F-1DB1-DD18B79A6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895" y="4070919"/>
            <a:ext cx="3991338" cy="2129906"/>
          </a:xfrm>
          <a:prstGeom prst="rect">
            <a:avLst/>
          </a:prstGeom>
        </p:spPr>
      </p:pic>
      <p:pic>
        <p:nvPicPr>
          <p:cNvPr id="20" name="Picture 19" descr="A mathematical equation with symbols&#10;&#10;AI-generated content may be incorrect.">
            <a:extLst>
              <a:ext uri="{FF2B5EF4-FFF2-40B4-BE49-F238E27FC236}">
                <a16:creationId xmlns:a16="http://schemas.microsoft.com/office/drawing/2014/main" id="{8954E02A-3EDF-0537-73F7-D84711CA0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527" y="4390298"/>
            <a:ext cx="4483543" cy="1700346"/>
          </a:xfrm>
          <a:prstGeom prst="rect">
            <a:avLst/>
          </a:prstGeom>
        </p:spPr>
      </p:pic>
      <p:pic>
        <p:nvPicPr>
          <p:cNvPr id="22" name="Picture 21" descr="A diagram of a network&#10;&#10;AI-generated content may be incorrect.">
            <a:extLst>
              <a:ext uri="{FF2B5EF4-FFF2-40B4-BE49-F238E27FC236}">
                <a16:creationId xmlns:a16="http://schemas.microsoft.com/office/drawing/2014/main" id="{2AB10E32-1092-06E7-A16E-BA2CABCD26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1731" y="1170952"/>
            <a:ext cx="4012339" cy="306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597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8C67B-F5F3-6868-C08A-C941721D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7AC8-BFA5-4BEA-614D-B108D56C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Bỏ</a:t>
            </a:r>
            <a:r>
              <a:rPr lang="en-US" sz="2800" dirty="0"/>
              <a:t> </a:t>
            </a:r>
            <a:r>
              <a:rPr lang="en-US" sz="2800" dirty="0" err="1"/>
              <a:t>phiếu</a:t>
            </a:r>
            <a:endParaRPr lang="en-US" sz="2800" dirty="0"/>
          </a:p>
        </p:txBody>
      </p:sp>
      <p:pic>
        <p:nvPicPr>
          <p:cNvPr id="5" name="Picture 4" descr="A diagram of a distance between two squares&#10;&#10;AI-generated content may be incorrect.">
            <a:extLst>
              <a:ext uri="{FF2B5EF4-FFF2-40B4-BE49-F238E27FC236}">
                <a16:creationId xmlns:a16="http://schemas.microsoft.com/office/drawing/2014/main" id="{1953D909-2DC3-41D5-E3C7-A7F84BDAB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889" y="1480811"/>
            <a:ext cx="804022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865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B95D-172C-B206-A01D-6DFC9A38E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D20D-27EE-41F0-AFEE-BB0BFE94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sánh</a:t>
            </a:r>
            <a:r>
              <a:rPr lang="en-US" sz="2800" dirty="0"/>
              <a:t> 2 </a:t>
            </a:r>
            <a:r>
              <a:rPr lang="en-US" sz="2800" dirty="0" err="1"/>
              <a:t>điểm</a:t>
            </a:r>
            <a:r>
              <a:rPr lang="en-US" sz="2800" dirty="0"/>
              <a:t> </a:t>
            </a:r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trưng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76970-F4BC-168C-168E-C9C049DAB7C4}"/>
              </a:ext>
            </a:extLst>
          </p:cNvPr>
          <p:cNvSpPr txBox="1"/>
          <p:nvPr/>
        </p:nvSpPr>
        <p:spPr>
          <a:xfrm>
            <a:off x="588938" y="2025506"/>
            <a:ext cx="470696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Sự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tương tự giữa các vector đặc trưng giữa 2 điểm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Thường có tính đến các ràng buộc về không gian với các điểm trong lân cận của nó để tăng hiệu quả truy vấn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Picture 3" descr="A blue circle with red and black text&#10;&#10;AI-generated content may be incorrect.">
            <a:extLst>
              <a:ext uri="{FF2B5EF4-FFF2-40B4-BE49-F238E27FC236}">
                <a16:creationId xmlns:a16="http://schemas.microsoft.com/office/drawing/2014/main" id="{A8DE868C-5D13-D4BD-FFF8-EF2138FD4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31" y="1309588"/>
            <a:ext cx="6944767" cy="1790260"/>
          </a:xfrm>
          <a:prstGeom prst="rect">
            <a:avLst/>
          </a:prstGeom>
        </p:spPr>
      </p:pic>
      <p:pic>
        <p:nvPicPr>
          <p:cNvPr id="8" name="Picture 7" descr="A lemons with white dots&#10;&#10;AI-generated content may be incorrect.">
            <a:extLst>
              <a:ext uri="{FF2B5EF4-FFF2-40B4-BE49-F238E27FC236}">
                <a16:creationId xmlns:a16="http://schemas.microsoft.com/office/drawing/2014/main" id="{07C0E412-0514-F677-DA59-8401BCB2F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563" y="3224311"/>
            <a:ext cx="6680434" cy="209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73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61CA6-3E1C-A559-5465-DF20B5DC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D9C3-7055-0211-6546-006351AA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Truy</a:t>
            </a:r>
            <a:r>
              <a:rPr lang="en-US" sz="2800" dirty="0"/>
              <a:t> </a:t>
            </a:r>
            <a:r>
              <a:rPr lang="en-US" sz="2800" dirty="0" err="1"/>
              <a:t>vấn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r>
              <a:rPr lang="en-US" sz="2800" dirty="0"/>
              <a:t>: 1-D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9AA65-922A-7E27-96B3-946AD1A52DBF}"/>
              </a:ext>
            </a:extLst>
          </p:cNvPr>
          <p:cNvSpPr txBox="1"/>
          <p:nvPr/>
        </p:nvSpPr>
        <p:spPr>
          <a:xfrm>
            <a:off x="524238" y="1085706"/>
            <a:ext cx="584996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I: đối tượng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O</a:t>
            </a:r>
            <a:r>
              <a:rPr lang="vi-VN" sz="2000" baseline="-25000" dirty="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, O</a:t>
            </a:r>
            <a:r>
              <a:rPr lang="en-US" sz="2000" baseline="-25000" dirty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Truy vấn với ràng buộc thời gian: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O</a:t>
            </a:r>
            <a:r>
              <a:rPr lang="en-US" sz="2000" baseline="-25000" dirty="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ở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phía trên/ bên trái / phía đông bắc/ … của O</a:t>
            </a:r>
            <a:r>
              <a:rPr lang="en-US" sz="2000" baseline="-25000" dirty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?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O</a:t>
            </a:r>
            <a:r>
              <a:rPr lang="vi-VN" sz="2000" baseline="-25000" dirty="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, O</a:t>
            </a:r>
            <a:r>
              <a:rPr lang="en-US" sz="2000" baseline="-25000" dirty="0">
                <a:solidFill>
                  <a:schemeClr val="bg2">
                    <a:lumMod val="25000"/>
                  </a:schemeClr>
                </a:solidFill>
              </a:rPr>
              <a:t>2 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giao nhau không ?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...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FF176B14-E6B4-443D-5B7C-4CD1C883E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42" y="1231724"/>
            <a:ext cx="5281320" cy="462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40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6D1A-4F95-A288-703A-E8E0CA9F4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C834-0228-5F18-01D2-BBF6D0BD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Truy</a:t>
            </a:r>
            <a:r>
              <a:rPr lang="en-US" sz="2800" dirty="0"/>
              <a:t> </a:t>
            </a:r>
            <a:r>
              <a:rPr lang="en-US" sz="2800" dirty="0" err="1"/>
              <a:t>vấn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r>
              <a:rPr lang="en-US" sz="2800" dirty="0"/>
              <a:t>: 2-D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7C9DF9-F3B1-18DA-D05F-A37FE6651F79}"/>
              </a:ext>
            </a:extLst>
          </p:cNvPr>
          <p:cNvSpPr txBox="1"/>
          <p:nvPr/>
        </p:nvSpPr>
        <p:spPr>
          <a:xfrm>
            <a:off x="524238" y="1085706"/>
            <a:ext cx="7730762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thể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thực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hiện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dựa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phép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chiếu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lên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x, y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Sử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dụng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tổ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hợp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phép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toán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quan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hệ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không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gian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1D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VD: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O1 ở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trái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của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O2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nếu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B(O1[x], O2[x])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M(O1[x], O2[x])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O1ởphía NamcủaO2nếu:B(O1[y], O2[y])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và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D(O1[x], O2[x])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D(O2[x], O1[x])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S(O1[x], O2[x])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S(O2[x], O1[x])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F(O1[x], O2[x])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F(O2[x], O1[x])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hoặc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EQ(O1[x], O2[x])</a:t>
            </a:r>
          </a:p>
        </p:txBody>
      </p:sp>
    </p:spTree>
    <p:extLst>
      <p:ext uri="{BB962C8B-B14F-4D97-AF65-F5344CB8AC3E}">
        <p14:creationId xmlns:p14="http://schemas.microsoft.com/office/powerpoint/2010/main" val="2421730700"/>
      </p:ext>
    </p:extLst>
  </p:cSld>
  <p:clrMapOvr>
    <a:masterClrMapping/>
  </p:clrMapOvr>
</p:sld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A1FCA969-387E-4DB4-9551-88DE0367AE2C}"/>
    </a:ext>
  </a:extLst>
</a:theme>
</file>

<file path=ppt/theme/theme2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40093B85-BF9A-493F-85B6-14614628567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3623</Words>
  <Application>Microsoft Office PowerPoint</Application>
  <PresentationFormat>Widescreen</PresentationFormat>
  <Paragraphs>444</Paragraphs>
  <Slides>59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Aptos</vt:lpstr>
      <vt:lpstr>Arial</vt:lpstr>
      <vt:lpstr>Courier New</vt:lpstr>
      <vt:lpstr>Symbol</vt:lpstr>
      <vt:lpstr>Times New Roman</vt:lpstr>
      <vt:lpstr>Opening slide</vt:lpstr>
      <vt:lpstr>Body slide</vt:lpstr>
      <vt:lpstr>PowerPoint Presentation</vt:lpstr>
      <vt:lpstr>Mục lục</vt:lpstr>
      <vt:lpstr>PowerPoint Presentation</vt:lpstr>
      <vt:lpstr>Ảnh và lưu trữ</vt:lpstr>
      <vt:lpstr>Phân loại ảnh</vt:lpstr>
      <vt:lpstr>Phân loại ảnh</vt:lpstr>
      <vt:lpstr>Ảnh màu trong hệ tọa độ RBG</vt:lpstr>
      <vt:lpstr>PowerPoint Presentation</vt:lpstr>
      <vt:lpstr>Các kiểu cơ sở dữ liệu ảnh</vt:lpstr>
      <vt:lpstr>Truy vấn bằng từ khóa</vt:lpstr>
      <vt:lpstr>Truy vấn bằng nội dung</vt:lpstr>
      <vt:lpstr>PowerPoint Presentation</vt:lpstr>
      <vt:lpstr>CBIR (Content-Based Image Retrieval)</vt:lpstr>
      <vt:lpstr>Đặc trưng màu sắc</vt:lpstr>
      <vt:lpstr>Ưu điểm của phân bố màu:</vt:lpstr>
      <vt:lpstr>Vấn đề gặp phải với phân bố màu:</vt:lpstr>
      <vt:lpstr>Đặc trưng kết cấu</vt:lpstr>
      <vt:lpstr>ví dụ</vt:lpstr>
      <vt:lpstr>Đặc trưng kết cấu</vt:lpstr>
      <vt:lpstr>Đặc trưng hình dạng</vt:lpstr>
      <vt:lpstr>Bài tập – đặc trưng toàn cục</vt:lpstr>
      <vt:lpstr>Đặc trưng cục bộ:</vt:lpstr>
      <vt:lpstr>Định nghĩa các vùng</vt:lpstr>
      <vt:lpstr>PowerPoint Presentation</vt:lpstr>
      <vt:lpstr>Đặc trưng sâu</vt:lpstr>
      <vt:lpstr>Quy trình học phân cấp</vt:lpstr>
      <vt:lpstr>PowerPoint Presentation</vt:lpstr>
      <vt:lpstr>PowerPoint Presentation</vt:lpstr>
      <vt:lpstr>Phân đoạn ảnh</vt:lpstr>
      <vt:lpstr>Phân đoạn bằng ngưỡng</vt:lpstr>
      <vt:lpstr>Ngưỡng dựa trên phân số</vt:lpstr>
      <vt:lpstr>Vấn đề với ngưỡng toàn cục</vt:lpstr>
      <vt:lpstr>Ví dụ</vt:lpstr>
      <vt:lpstr>Phân đoạn bằng ngưỡng</vt:lpstr>
      <vt:lpstr>PowerPoint Presentation</vt:lpstr>
      <vt:lpstr>Giải thuật K-means:</vt:lpstr>
      <vt:lpstr>Giải thuật K-means</vt:lpstr>
      <vt:lpstr>Phân đoạn</vt:lpstr>
      <vt:lpstr>Split-and-Merge</vt:lpstr>
      <vt:lpstr>PowerPoint Presentation</vt:lpstr>
      <vt:lpstr>Split-and-Merge</vt:lpstr>
      <vt:lpstr>Region growing (Phát triển vùng)</vt:lpstr>
      <vt:lpstr>Phát triển vùng với nhiều hạt giống</vt:lpstr>
      <vt:lpstr>Lưu ý</vt:lpstr>
      <vt:lpstr>Phân đoạn: hạn chế</vt:lpstr>
      <vt:lpstr>Ví dụ</vt:lpstr>
      <vt:lpstr>Cách tiếp cận Gestalt</vt:lpstr>
      <vt:lpstr>Đặc trưng cục bộ: Các điểm đặc trưng</vt:lpstr>
      <vt:lpstr>SIFT Keypoint Detector</vt:lpstr>
      <vt:lpstr>SIFT Keypoint Detector</vt:lpstr>
      <vt:lpstr>Ví dụ truy vấn bộ phận</vt:lpstr>
      <vt:lpstr>Đối sánh</vt:lpstr>
      <vt:lpstr>PowerPoint Presentation</vt:lpstr>
      <vt:lpstr>Đối sánh : Khoảng cách EMD</vt:lpstr>
      <vt:lpstr>Đối sánh : Khoảng cách EMD</vt:lpstr>
      <vt:lpstr>Bỏ phiếu</vt:lpstr>
      <vt:lpstr>Đối sánh 2 điểm đặc trưng</vt:lpstr>
      <vt:lpstr>Truy vấn với ràng buộc không gian: 1-D</vt:lpstr>
      <vt:lpstr>Truy vấn với ràng buộc không gian: 2-D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Hai Ngo</dc:creator>
  <cp:lastModifiedBy>Hung. Nguyen Viet - CMC ATI</cp:lastModifiedBy>
  <cp:revision>58</cp:revision>
  <dcterms:created xsi:type="dcterms:W3CDTF">2025-04-30T14:15:42Z</dcterms:created>
  <dcterms:modified xsi:type="dcterms:W3CDTF">2025-12-12T05:09:59Z</dcterms:modified>
</cp:coreProperties>
</file>