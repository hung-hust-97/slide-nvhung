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</p:sldMasterIdLst>
  <p:notesMasterIdLst>
    <p:notesMasterId r:id="rId25"/>
  </p:notesMasterIdLst>
  <p:sldIdLst>
    <p:sldId id="267" r:id="rId3"/>
    <p:sldId id="268" r:id="rId4"/>
    <p:sldId id="269" r:id="rId5"/>
    <p:sldId id="306" r:id="rId6"/>
    <p:sldId id="307" r:id="rId7"/>
    <p:sldId id="310" r:id="rId8"/>
    <p:sldId id="308" r:id="rId9"/>
    <p:sldId id="309" r:id="rId10"/>
    <p:sldId id="311" r:id="rId11"/>
    <p:sldId id="312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  <p:sldId id="323" r:id="rId23"/>
    <p:sldId id="32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4F7"/>
    <a:srgbClr val="3B44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9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4EA69-4B77-4361-A78F-B68DC324DB4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3C2F89-9B9E-42F1-857B-F6C044822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85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57EA8-8432-6B03-2712-06C878DD2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F5937E-CB70-8FC1-6B82-91F68B54F3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6D4CD3-5B8C-7B0D-67B2-18F3A3C1ED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9E966-DD8E-E7FF-7038-2E957341CC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578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D4674-F39C-D96F-9FB0-E037734AB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E807FE-7A36-824D-EEAD-7991A4766E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DC2491-CA8C-A0B2-DC05-DABF59D54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0F27B-B59A-671E-5E2F-9DA4C3339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6009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4BF7D-F53F-48BB-7928-C28948498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96435-8F4B-74C8-7FE0-BCE1C8EDC1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BB9C1E-8C25-BAF0-FE6B-E31FB7735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A7C1C-3BED-EED5-7D8D-A022066A1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79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50BC9-BFA6-0332-B0FA-A8D42BC1B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EBB365-D0FD-5CA9-3E52-C2CB0EB9DE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0F30C2-B110-0B63-7320-B61AF81FA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2C2EF-81AA-D274-43F4-4DE7E20C97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907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649BD-203F-375F-6732-2FB764F8D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D4CD2-F704-B1FE-8326-B6134A7BA5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281568-9FCA-C15F-2E66-C99DB70642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97E40-6039-F724-6210-7DF46CD13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32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4D9D0-2196-0AA8-0104-147ED8E8C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C76147-DBF9-5D24-ACEC-E324EF078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57E6B9-E343-EDAA-51E1-43CA95C40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70DF8-6151-945A-527F-ED122D56D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190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1857D-DE4F-FC76-1A25-454E1E029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57D168-894E-C44B-16EC-8F067C5E9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DE5F59-0744-7AE9-E3B1-39C22062C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1236A-25C9-DC84-57C8-78F5319FCE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36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BE578-BA1C-80DF-3B39-331BA9799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8912F3-9B7B-63CB-87BC-55F80738F5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57946C-E638-CEF9-A75B-D61BFE467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B1127-C83A-E6BB-6C64-42DDE3F2A7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918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76593-4E81-A9FC-2EC6-6CE29AF37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57074-D88F-B8F2-27B1-3B9B1C08D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CEC7AC-D58C-C538-39AE-BEAA69E00D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C8B9F-EDD2-5997-28AE-BC75E3068B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928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09406-0209-4A30-DD52-9FF1A084D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6EF0C1-4A56-6866-E1CD-B25C9F636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277906-0776-F952-3789-D061A59FB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BE010-5BA5-1FA6-6426-4B6DFA3B1D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68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5B53C-EBBD-78BE-5A82-24C318367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8DF3E4-17BC-5D82-FADA-94BCD8338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68D52C-D0D2-338B-30C0-CC28B3606B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95AE6-DA5B-45C4-6DF1-52DD4DAF0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149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A5BCA-3D70-0F6B-A483-17E0AB02D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A3A526-D2D0-A671-29A6-A29EC70ECE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3516E5-73AE-E3A7-30FD-9009CD8B6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2F8C1-0B45-F656-7C06-4F24427637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9879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DFF85-5D3D-4856-B4B2-F21F02EE3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759C6D-9486-960A-28A8-23D7514E35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69BA68-016A-3ED5-B77C-1A9A969E3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009B0-8AE2-1738-EDBE-6E39883D1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3038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42A1F-CCC0-8AAE-1D47-E55D7E2DC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1BD10B-3069-B607-2F16-BD63B257A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2B1884-6B97-10F7-FD4E-D52118F0E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B2EBC-B96C-270C-5F01-04A29AC22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4501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F4CE-E4F0-0FF3-1296-988A382CD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361326-537A-BEF3-ACA6-54932A4E8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24D9D-9320-1BF6-7E4C-A83B896E3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A430F-E1D0-1366-1294-C97DB8599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4320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61318-D33D-E1E1-97F2-69522C8D6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854C2A-DF87-0B04-C4B5-CECA277B23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2F2106-93FF-5BE0-6A84-1AC58D218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89786-BFCC-36B9-3A85-FC1585ABAE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2955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A5538-69EF-977E-3F08-177484323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566AB6-719C-EFB5-EA63-4886D91A17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EA9936-E2B1-53EF-DE70-0BBB184524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F81BF-C06B-47A5-C0F9-4D74F96DDC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5879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80A1D-90E6-29F5-C814-02CB4200A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6D1E14-5DFE-07B2-41C6-EB2A9C6D5D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26BC49-F257-906E-24BC-FF622F7C6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27538-3C0B-39F0-E049-F4C006215B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C2F89-9B9E-42F1-857B-F6C04482280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165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FE9FEC1-483B-425E-B0C1-B8B1F2119B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0112" y="2164702"/>
            <a:ext cx="10800557" cy="21942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3B98C62-0FD9-4624-8D35-0215614328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0112" y="4433672"/>
            <a:ext cx="10800557" cy="4127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sub-title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5EB812CF-FC02-4C33-A206-BCF1436A39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041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A957C91-5AD0-4461-941C-245F03436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2500" y="1589103"/>
            <a:ext cx="10962859" cy="45720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182" indent="0" algn="ctr">
              <a:buNone/>
              <a:defRPr sz="20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600"/>
            </a:lvl4pPr>
            <a:lvl5pPr marL="1828727" indent="0" algn="ctr">
              <a:buNone/>
              <a:defRPr sz="1600"/>
            </a:lvl5pPr>
            <a:lvl6pPr marL="2285909" indent="0" algn="ctr">
              <a:buNone/>
              <a:defRPr sz="1600"/>
            </a:lvl6pPr>
            <a:lvl7pPr marL="2743090" indent="0" algn="ctr">
              <a:buNone/>
              <a:defRPr sz="1600"/>
            </a:lvl7pPr>
            <a:lvl8pPr marL="3200272" indent="0" algn="ctr">
              <a:buNone/>
              <a:defRPr sz="1600"/>
            </a:lvl8pPr>
            <a:lvl9pPr marL="3657454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E181B04-7A0A-4201-BF8A-A7E924267571}"/>
              </a:ext>
            </a:extLst>
          </p:cNvPr>
          <p:cNvSpPr txBox="1">
            <a:spLocks/>
          </p:cNvSpPr>
          <p:nvPr userDrawn="1"/>
        </p:nvSpPr>
        <p:spPr>
          <a:xfrm>
            <a:off x="3311372" y="-11424"/>
            <a:ext cx="8880629" cy="789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000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DBAE61E2-5E8A-4CA1-8C1E-1106F4E46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DA09F63-7F7A-4F6B-8B0F-50384B019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19293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71910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F51A7-6B22-4874-8FC5-ED388E5D1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00" y="1597981"/>
            <a:ext cx="10971737" cy="4578982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9F4D43A2-E4DB-497D-9B5D-E32D9E64BE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22B04073-83B8-47CB-9F12-D7CD4B660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19293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6255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6E213-C056-49F2-8A77-C3C4C25F4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501" y="1597982"/>
            <a:ext cx="10971737" cy="4580877"/>
          </a:xfrm>
        </p:spPr>
        <p:txBody>
          <a:bodyPr/>
          <a:lstStyle>
            <a:lvl1pPr marL="0" indent="0">
              <a:buNone/>
              <a:defRPr sz="2400">
                <a:solidFill>
                  <a:srgbClr val="0070C0"/>
                </a:solidFill>
              </a:defRPr>
            </a:lvl1pPr>
            <a:lvl2pPr marL="4571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6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9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A76B584-4F94-4DD1-9943-77A2F3AF1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040D9B5B-D231-4612-89E6-B4776226B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0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1472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F5726-7887-4ED4-A172-AF93078815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500" y="1606858"/>
            <a:ext cx="5473500" cy="4570105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A0F843-3E9A-4C49-A1AC-A3FA71EF7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5942" y="1606858"/>
            <a:ext cx="5473499" cy="4570105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E6FCE726-79EE-487F-9798-E531C3475E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FB126F2-FBF5-4556-AAF5-1ECB22E17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0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9913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1CF06-6B06-4E7F-82EA-7C5047EA6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500" y="1603275"/>
            <a:ext cx="5473500" cy="823912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9E841-81B0-403F-B4A9-7ACB7AAF8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500" y="2512382"/>
            <a:ext cx="5473499" cy="3677281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B9AEE-2F75-43DB-921D-43380FB8C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1" y="1603275"/>
            <a:ext cx="547349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F1E4C2-CBB6-4430-BE56-3BF9E9AA8B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5999" y="2512382"/>
            <a:ext cx="5473500" cy="3677281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EDD1D7D5-B40B-4404-87A7-8074677D89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401B562F-EFD8-422F-B98E-C48C0F73A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0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2766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7972AD-1D52-4C38-A4F1-BA8AAFF970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0797FE1-3F5B-4DD2-B196-B7AAF6628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0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4319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B3D6C-BEF2-4E06-A9B0-9A309DB34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5985" y="1606858"/>
            <a:ext cx="6622644" cy="4563122"/>
          </a:xfrm>
        </p:spPr>
        <p:txBody>
          <a:bodyPr/>
          <a:lstStyle>
            <a:lvl1pPr>
              <a:defRPr sz="3200">
                <a:latin typeface="+mj-lt"/>
              </a:defRPr>
            </a:lvl1pPr>
            <a:lvl2pPr>
              <a:defRPr sz="2800">
                <a:latin typeface="+mj-lt"/>
              </a:defRPr>
            </a:lvl2pPr>
            <a:lvl3pPr>
              <a:defRPr sz="24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ECDB52-24E0-4CBA-AE63-33BD3EF65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2500" y="1606859"/>
            <a:ext cx="4008210" cy="4563122"/>
          </a:xfrm>
        </p:spPr>
        <p:txBody>
          <a:bodyPr/>
          <a:lstStyle>
            <a:lvl1pPr marL="0" indent="0">
              <a:buNone/>
              <a:defRPr sz="1600"/>
            </a:lvl1pPr>
            <a:lvl2pPr marL="457182" indent="0">
              <a:buNone/>
              <a:defRPr sz="1400"/>
            </a:lvl2pPr>
            <a:lvl3pPr marL="914363" indent="0">
              <a:buNone/>
              <a:defRPr sz="1200"/>
            </a:lvl3pPr>
            <a:lvl4pPr marL="1371545" indent="0">
              <a:buNone/>
              <a:defRPr sz="1000"/>
            </a:lvl4pPr>
            <a:lvl5pPr marL="1828727" indent="0">
              <a:buNone/>
              <a:defRPr sz="1000"/>
            </a:lvl5pPr>
            <a:lvl6pPr marL="2285909" indent="0">
              <a:buNone/>
              <a:defRPr sz="1000"/>
            </a:lvl6pPr>
            <a:lvl7pPr marL="2743090" indent="0">
              <a:buNone/>
              <a:defRPr sz="1000"/>
            </a:lvl7pPr>
            <a:lvl8pPr marL="3200272" indent="0">
              <a:buNone/>
              <a:defRPr sz="1000"/>
            </a:lvl8pPr>
            <a:lvl9pPr marL="3657454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EEB6E2B-6FA2-4169-B497-FAE2CD95A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479BEDD5-9D69-4F36-BBA7-2ED62B0AD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0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9207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D3D43A-8744-40D7-AFFD-6F0B4A4ECB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82718" y="1606859"/>
            <a:ext cx="6675910" cy="4554244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182" indent="0">
              <a:buNone/>
              <a:defRPr sz="2800"/>
            </a:lvl2pPr>
            <a:lvl3pPr marL="914363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0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5C3DD-CC1C-4A73-BCDA-09DF7D09C2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2500" y="1606860"/>
            <a:ext cx="3983272" cy="45542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182" indent="0">
              <a:buNone/>
              <a:defRPr sz="1400"/>
            </a:lvl2pPr>
            <a:lvl3pPr marL="914363" indent="0">
              <a:buNone/>
              <a:defRPr sz="1200"/>
            </a:lvl3pPr>
            <a:lvl4pPr marL="1371545" indent="0">
              <a:buNone/>
              <a:defRPr sz="1000"/>
            </a:lvl4pPr>
            <a:lvl5pPr marL="1828727" indent="0">
              <a:buNone/>
              <a:defRPr sz="1000"/>
            </a:lvl5pPr>
            <a:lvl6pPr marL="2285909" indent="0">
              <a:buNone/>
              <a:defRPr sz="1000"/>
            </a:lvl6pPr>
            <a:lvl7pPr marL="2743090" indent="0">
              <a:buNone/>
              <a:defRPr sz="1000"/>
            </a:lvl7pPr>
            <a:lvl8pPr marL="3200272" indent="0">
              <a:buNone/>
              <a:defRPr sz="1000"/>
            </a:lvl8pPr>
            <a:lvl9pPr marL="3657454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722E68E5-0D29-4AF4-99F7-1F5BCDCEB0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BED9312-A7F8-456D-9D54-D034D0978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10921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92586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93FDE-0843-445A-8B34-9092D666F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2500" y="1597982"/>
            <a:ext cx="10962859" cy="45789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93D0DE23-B8AD-4136-812D-27D46B8AD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5A661BC8-CBE6-40B1-BF65-3DDC3730B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0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9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81CC48-27A5-4590-A158-B24464D8B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2500" y="1589103"/>
            <a:ext cx="10962859" cy="45878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AF7114A3-57EF-412A-8AEB-90C1FF86B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38" y="0"/>
            <a:ext cx="91466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291FBA3B-7B9C-4B9A-93C5-F00783BA1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9792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101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3.jp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166A51-751E-4C91-AF12-35FEA5D260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758" y="693895"/>
            <a:ext cx="2930486" cy="131613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B40CFA-9026-435C-9897-175C51B6B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78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63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/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1" indent="-228591" algn="l" defTabSz="91436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73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54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6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8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16BAF0-010B-4DE2-BDEA-F2879C620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13" y="23831"/>
            <a:ext cx="9146651" cy="466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BB290-2494-4607-B867-D433D7531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500" y="1313896"/>
            <a:ext cx="10947000" cy="48630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1278EBD5-1C90-47B8-ADFB-BF109E3CF4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EC741C-2937-40DA-B5CD-6BDD68A49B8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5551" y="128067"/>
            <a:ext cx="1453950" cy="25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609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p:hf hdr="0" ftr="0"/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sz="2300" b="1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91" indent="-228591" algn="l" defTabSz="91436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773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2954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6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8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EACC5C-4747-42C2-9BF5-D1B4A98474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12" y="2517788"/>
            <a:ext cx="10800557" cy="2194234"/>
          </a:xfrm>
        </p:spPr>
        <p:txBody>
          <a:bodyPr/>
          <a:lstStyle/>
          <a:p>
            <a:r>
              <a:rPr lang="vi-VN"/>
              <a:t>Trình diễn dữ liệu đa phương tiện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48CFE-703F-41E2-8287-366117133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761970"/>
            <a:fld id="{31D26D55-0A22-487A-A687-61FB58A6F16A}" type="slidenum">
              <a:rPr lang="en-US">
                <a:solidFill>
                  <a:prstClr val="white"/>
                </a:solidFill>
              </a:rPr>
              <a:pPr defTabSz="761970"/>
              <a:t>1</a:t>
            </a:fld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848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Mục</a:t>
            </a:r>
            <a:r>
              <a:rPr lang="en-US" sz="2800" dirty="0"/>
              <a:t> </a:t>
            </a:r>
            <a:r>
              <a:rPr lang="en-US" sz="2800" dirty="0" err="1"/>
              <a:t>lục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CA1DCC-36BF-5424-1748-DC12B3D63F1A}"/>
              </a:ext>
            </a:extLst>
          </p:cNvPr>
          <p:cNvSpPr txBox="1"/>
          <p:nvPr/>
        </p:nvSpPr>
        <p:spPr>
          <a:xfrm>
            <a:off x="320040" y="1812048"/>
            <a:ext cx="805586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Tổng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quan</a:t>
            </a:r>
            <a:endParaRPr kumimoji="0" lang="vi-VN" sz="4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Trình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diễn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với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ràng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buộc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thời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gian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Trình</a:t>
            </a:r>
            <a:r>
              <a:rPr lang="en-US" sz="4000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diễn</a:t>
            </a:r>
            <a:r>
              <a:rPr lang="en-US" sz="4000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với</a:t>
            </a:r>
            <a:r>
              <a:rPr lang="en-US" sz="4000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ràng</a:t>
            </a:r>
            <a:r>
              <a:rPr lang="en-US" sz="4000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buộc</a:t>
            </a:r>
            <a:r>
              <a:rPr lang="en-US" sz="4000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không</a:t>
            </a:r>
            <a:r>
              <a:rPr lang="en-US" sz="4000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gian</a:t>
            </a:r>
            <a:endParaRPr kumimoji="0" lang="vi-VN" sz="4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2938E-B9D1-6A55-9F2D-A542F3F00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81087-08EC-6DB3-B110-5463D8AA5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Tổng</a:t>
            </a:r>
            <a:r>
              <a:rPr lang="en-US" sz="2800" dirty="0"/>
              <a:t> </a:t>
            </a:r>
            <a:r>
              <a:rPr lang="en-US" sz="2800" dirty="0" err="1"/>
              <a:t>quan</a:t>
            </a:r>
            <a:endParaRPr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0E2612-93E5-50BB-E7E9-DBF5CBF94486}"/>
              </a:ext>
            </a:extLst>
          </p:cNvPr>
          <p:cNvSpPr txBox="1"/>
          <p:nvPr/>
        </p:nvSpPr>
        <p:spPr>
          <a:xfrm>
            <a:off x="762466" y="809393"/>
            <a:ext cx="10470216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Để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có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thể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trình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diễn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DL,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cần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phải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trả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lời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3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câu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hỏi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Khi đã có đáp án, Presentation Server phải tạo được 1 kế hoạch truy hồi (Retrieval Plan) để lấy được các đối tượng cần thiết. Lưu ý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Khi nào đối tượng được trình diễn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Giới hạn về băng thông của đường truyền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Giới hạn về tài nguyên (bộ đệm) ở phía client và server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K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hông khớp giữa tốc độ truyền DLvà tốc độ sử dụng DL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3706E40B-106C-5EE5-9E00-E9BCFBAB4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601" y="2049111"/>
            <a:ext cx="2290876" cy="655200"/>
          </a:xfrm>
          <a:prstGeom prst="rect">
            <a:avLst/>
          </a:prstGeom>
        </p:spPr>
      </p:pic>
      <p:pic>
        <p:nvPicPr>
          <p:cNvPr id="10" name="Picture 9" descr="A black and white text&#10;&#10;AI-generated content may be incorrect.">
            <a:extLst>
              <a:ext uri="{FF2B5EF4-FFF2-40B4-BE49-F238E27FC236}">
                <a16:creationId xmlns:a16="http://schemas.microsoft.com/office/drawing/2014/main" id="{4342272A-EBBA-2494-4345-A15086094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865" y="2059653"/>
            <a:ext cx="2459487" cy="684599"/>
          </a:xfrm>
          <a:prstGeom prst="rect">
            <a:avLst/>
          </a:prstGeom>
        </p:spPr>
      </p:pic>
      <p:pic>
        <p:nvPicPr>
          <p:cNvPr id="12" name="Picture 11" descr="A black and white cartoon logo&#10;&#10;AI-generated content may be incorrect.">
            <a:extLst>
              <a:ext uri="{FF2B5EF4-FFF2-40B4-BE49-F238E27FC236}">
                <a16:creationId xmlns:a16="http://schemas.microsoft.com/office/drawing/2014/main" id="{7305E5BE-3439-2F0D-F50F-250F5E0006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3740" y="2059653"/>
            <a:ext cx="2459487" cy="70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902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6A467-0386-6381-01AC-D4BB73275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21994-75DD-221F-06DD-FB0F5C13F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Tổng</a:t>
            </a:r>
            <a:r>
              <a:rPr lang="en-US" sz="2800" dirty="0"/>
              <a:t> </a:t>
            </a:r>
            <a:r>
              <a:rPr lang="en-US" sz="2800" dirty="0" err="1"/>
              <a:t>quan</a:t>
            </a:r>
            <a:endParaRPr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5E835B-5EA0-5FD7-C417-E6FCF850A131}"/>
              </a:ext>
            </a:extLst>
          </p:cNvPr>
          <p:cNvSpPr txBox="1"/>
          <p:nvPr/>
        </p:nvSpPr>
        <p:spPr>
          <a:xfrm>
            <a:off x="762466" y="809393"/>
            <a:ext cx="10470216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Ví dụ: office policer: tiến độ điều tra hàng ngày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Ả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nh của đối tượng được theo dõi trong 24h qua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C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ác giao dịch với ngân hàng gần nhất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Video theo dõi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Yêu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cầu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trình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diễn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4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đối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tượng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O1 (1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ảnh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), O2 (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bản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tổng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kết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các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giao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dịch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)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xuất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hiện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đồng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thời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trong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10s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O3 (1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ảnh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)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hiển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thị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trong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10s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ngay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khi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O1, O2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biến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mất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O4 (1 video)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xuất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hiện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5s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sau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khi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O2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biến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mất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và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biến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mất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sau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khi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O3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kết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thúc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2-4s </a:t>
            </a:r>
          </a:p>
        </p:txBody>
      </p:sp>
    </p:spTree>
    <p:extLst>
      <p:ext uri="{BB962C8B-B14F-4D97-AF65-F5344CB8AC3E}">
        <p14:creationId xmlns:p14="http://schemas.microsoft.com/office/powerpoint/2010/main" val="3119272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2699E-C901-13DB-ADBC-B8B04A10B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B7C90-88DF-BEFF-47C0-92F3D2AC0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Tổng</a:t>
            </a:r>
            <a:r>
              <a:rPr lang="en-US" sz="2800" dirty="0"/>
              <a:t> </a:t>
            </a:r>
            <a:r>
              <a:rPr lang="en-US" sz="2800" dirty="0" err="1"/>
              <a:t>quan</a:t>
            </a:r>
            <a:endParaRPr sz="2800" dirty="0"/>
          </a:p>
        </p:txBody>
      </p:sp>
      <p:pic>
        <p:nvPicPr>
          <p:cNvPr id="7" name="Picture 6" descr="A diagram of a process&#10;&#10;AI-generated content may be incorrect.">
            <a:extLst>
              <a:ext uri="{FF2B5EF4-FFF2-40B4-BE49-F238E27FC236}">
                <a16:creationId xmlns:a16="http://schemas.microsoft.com/office/drawing/2014/main" id="{0F621100-8DEF-33A5-CEAD-6B95C4B6D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7036" y="776532"/>
            <a:ext cx="7363853" cy="49822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80B809-749F-3D35-5B3F-330C357846F8}"/>
              </a:ext>
            </a:extLst>
          </p:cNvPr>
          <p:cNvSpPr txBox="1"/>
          <p:nvPr/>
        </p:nvSpPr>
        <p:spPr>
          <a:xfrm>
            <a:off x="2630828" y="5689509"/>
            <a:ext cx="7839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Lập lịch cho trình diễn đa phương tiện (Multimedia Presentation</a:t>
            </a:r>
            <a:r>
              <a:rPr lang="en-US" dirty="0"/>
              <a:t> </a:t>
            </a:r>
            <a:r>
              <a:rPr lang="vi-VN" dirty="0"/>
              <a:t>Scheduling)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667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A9B04-6160-DABC-8CEE-B8BC72522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C1C21C-BED1-7900-8E2E-D59CD10DCE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8377" y="2517788"/>
            <a:ext cx="8415246" cy="2194234"/>
          </a:xfrm>
        </p:spPr>
        <p:txBody>
          <a:bodyPr/>
          <a:lstStyle/>
          <a:p>
            <a:r>
              <a:rPr lang="en-US"/>
              <a:t>Trình diễn với ràng buộc thời gian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179E5-6246-B32C-FCF3-4042D4E0E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761970"/>
            <a:fld id="{31D26D55-0A22-487A-A687-61FB58A6F16A}" type="slidenum">
              <a:rPr lang="en-US">
                <a:solidFill>
                  <a:prstClr val="white"/>
                </a:solidFill>
              </a:rPr>
              <a:pPr defTabSz="761970"/>
              <a:t>6</a:t>
            </a:fld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649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FC948-7474-BD37-210E-414772B52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4EC2E-B5EE-7358-6459-9D8564780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/>
              <a:t>Trình</a:t>
            </a:r>
            <a:r>
              <a:rPr lang="en-US" sz="2800" dirty="0"/>
              <a:t> </a:t>
            </a:r>
            <a:r>
              <a:rPr lang="en-US" sz="2800" dirty="0" err="1"/>
              <a:t>diễn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ràng</a:t>
            </a:r>
            <a:r>
              <a:rPr lang="en-US" sz="2800" dirty="0"/>
              <a:t> </a:t>
            </a:r>
            <a:r>
              <a:rPr lang="en-US" sz="2800" dirty="0" err="1"/>
              <a:t>buộc</a:t>
            </a:r>
            <a:r>
              <a:rPr lang="en-US" sz="2800" dirty="0"/>
              <a:t> </a:t>
            </a:r>
            <a:r>
              <a:rPr lang="en-US" sz="2800" dirty="0" err="1"/>
              <a:t>thời</a:t>
            </a:r>
            <a:r>
              <a:rPr lang="en-US" sz="2800" dirty="0"/>
              <a:t> </a:t>
            </a:r>
            <a:r>
              <a:rPr lang="en-US" sz="2800" dirty="0" err="1"/>
              <a:t>gian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4C4A51-202D-B438-6311-DAE00DA0EB1F}"/>
              </a:ext>
            </a:extLst>
          </p:cNvPr>
          <p:cNvSpPr txBox="1"/>
          <p:nvPr/>
        </p:nvSpPr>
        <p:spPr>
          <a:xfrm>
            <a:off x="762466" y="809393"/>
            <a:ext cx="10470216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Giả sử: O1, O2, O3: các đối tượng cần trình chiếu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Trình diễn với ràng buộc thời gian chỉ rõ các đối tượng được </a:t>
            </a:r>
            <a:r>
              <a:rPr lang="vi-VN" sz="2000" dirty="0"/>
              <a:t>sắp đặt để trình diễn thế nào theo thời gian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Trình diễn O1, O2 phải được bắt đầu cùng thời điểm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Trình diễn O2, O3 cùng kết thúc ở 1 thời điểm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O3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xuất hiện ngay ở thời điểm trinh diễn O1 kết thúc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5" name="Picture 4" descr="A blue and black rectangular boxes with white text&#10;&#10;AI-generated content may be incorrect.">
            <a:extLst>
              <a:ext uri="{FF2B5EF4-FFF2-40B4-BE49-F238E27FC236}">
                <a16:creationId xmlns:a16="http://schemas.microsoft.com/office/drawing/2014/main" id="{0B488BB2-C5BA-84E6-4725-409B35D92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69" y="4339128"/>
            <a:ext cx="4279809" cy="19169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583D7F-9F2D-BDFE-E466-BA55F93346AF}"/>
              </a:ext>
            </a:extLst>
          </p:cNvPr>
          <p:cNvSpPr txBox="1"/>
          <p:nvPr/>
        </p:nvSpPr>
        <p:spPr>
          <a:xfrm>
            <a:off x="4775454" y="596467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315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5B3AC-386E-BFFA-3FD8-DA01F9A42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E81FE-50E4-58D8-E16E-A2151BDFB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/>
              <a:t>Trình</a:t>
            </a:r>
            <a:r>
              <a:rPr lang="en-US" sz="2800" dirty="0"/>
              <a:t> </a:t>
            </a:r>
            <a:r>
              <a:rPr lang="en-US" sz="2800" dirty="0" err="1"/>
              <a:t>diễn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ràng</a:t>
            </a:r>
            <a:r>
              <a:rPr lang="en-US" sz="2800" dirty="0"/>
              <a:t> </a:t>
            </a:r>
            <a:r>
              <a:rPr lang="en-US" sz="2800" dirty="0" err="1"/>
              <a:t>buộc</a:t>
            </a:r>
            <a:r>
              <a:rPr lang="en-US" sz="2800" dirty="0"/>
              <a:t> </a:t>
            </a:r>
            <a:r>
              <a:rPr lang="en-US" sz="2800" dirty="0" err="1"/>
              <a:t>thời</a:t>
            </a:r>
            <a:r>
              <a:rPr lang="en-US" sz="2800" dirty="0"/>
              <a:t> </a:t>
            </a:r>
            <a:r>
              <a:rPr lang="en-US" sz="2800" dirty="0" err="1"/>
              <a:t>gian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79973A-49D0-BA56-C917-AF88051D9E12}"/>
              </a:ext>
            </a:extLst>
          </p:cNvPr>
          <p:cNvSpPr txBox="1"/>
          <p:nvPr/>
        </p:nvSpPr>
        <p:spPr>
          <a:xfrm>
            <a:off x="762466" y="1307334"/>
            <a:ext cx="10470216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Chỉ rõ các đối tượng được sắp đặt thế nào trong không gian (2D)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O1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trình diễn bên trái O2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O1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trình diễn phía trên O3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D71C6E2-F800-86D5-08DF-55347E477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1602" y="3429000"/>
            <a:ext cx="4448796" cy="26197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A2008C-E0D4-F858-78F4-EBEED698AAF6}"/>
              </a:ext>
            </a:extLst>
          </p:cNvPr>
          <p:cNvSpPr txBox="1"/>
          <p:nvPr/>
        </p:nvSpPr>
        <p:spPr>
          <a:xfrm>
            <a:off x="4345686" y="5864075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Bố</a:t>
            </a:r>
            <a:r>
              <a:rPr lang="en-US" dirty="0"/>
              <a:t> </a:t>
            </a:r>
            <a:r>
              <a:rPr lang="en-US" dirty="0" err="1"/>
              <a:t>cục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(Spatial Layout) </a:t>
            </a:r>
          </a:p>
        </p:txBody>
      </p:sp>
    </p:spTree>
    <p:extLst>
      <p:ext uri="{BB962C8B-B14F-4D97-AF65-F5344CB8AC3E}">
        <p14:creationId xmlns:p14="http://schemas.microsoft.com/office/powerpoint/2010/main" val="2955617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20A7-8190-654C-9083-EB022BADD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4BDB7-8DE5-557C-7296-460D4B0AE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Ngôn</a:t>
            </a:r>
            <a:r>
              <a:rPr lang="en-US" sz="2800" dirty="0"/>
              <a:t> </a:t>
            </a:r>
            <a:r>
              <a:rPr lang="en-US" sz="2800" dirty="0" err="1"/>
              <a:t>ngữ</a:t>
            </a:r>
            <a:r>
              <a:rPr lang="en-US" sz="2800" dirty="0"/>
              <a:t> </a:t>
            </a:r>
            <a:r>
              <a:rPr lang="en-US" sz="2800" dirty="0" err="1"/>
              <a:t>mô</a:t>
            </a:r>
            <a:r>
              <a:rPr lang="en-US" sz="2800" dirty="0"/>
              <a:t> </a:t>
            </a:r>
            <a:r>
              <a:rPr lang="en-US" sz="2800" dirty="0" err="1"/>
              <a:t>tả</a:t>
            </a:r>
            <a:r>
              <a:rPr lang="en-US" sz="2800" dirty="0"/>
              <a:t> </a:t>
            </a:r>
            <a:r>
              <a:rPr lang="en-US" sz="2800" dirty="0" err="1"/>
              <a:t>ràng</a:t>
            </a:r>
            <a:r>
              <a:rPr lang="en-US" sz="2800" dirty="0"/>
              <a:t> </a:t>
            </a:r>
            <a:r>
              <a:rPr lang="en-US" sz="2800" dirty="0" err="1"/>
              <a:t>buộc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4DA729-F248-F95D-A965-7AA5F84646A1}"/>
              </a:ext>
            </a:extLst>
          </p:cNvPr>
          <p:cNvSpPr txBox="1"/>
          <p:nvPr/>
        </p:nvSpPr>
        <p:spPr>
          <a:xfrm>
            <a:off x="762466" y="969185"/>
            <a:ext cx="1047021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Hằng số : số nguyên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Biến: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Với 1 đối tượng </a:t>
            </a:r>
            <a:r>
              <a:rPr lang="vi-VN" sz="2000" b="1" dirty="0">
                <a:solidFill>
                  <a:schemeClr val="bg2">
                    <a:lumMod val="25000"/>
                  </a:schemeClr>
                </a:solidFill>
              </a:rPr>
              <a:t>o</a:t>
            </a:r>
            <a:r>
              <a:rPr lang="en-US" sz="2000" b="1" baseline="-25000" dirty="0" err="1">
                <a:solidFill>
                  <a:schemeClr val="bg2">
                    <a:lumMod val="25000"/>
                  </a:schemeClr>
                </a:solidFill>
              </a:rPr>
              <a:t>i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, có 2 biến nguyên: thời điểm bắt đầu (</a:t>
            </a:r>
            <a:r>
              <a:rPr lang="vi-VN" sz="2000" b="1" dirty="0">
                <a:solidFill>
                  <a:schemeClr val="bg2">
                    <a:lumMod val="25000"/>
                  </a:schemeClr>
                </a:solidFill>
              </a:rPr>
              <a:t>s</a:t>
            </a:r>
            <a:r>
              <a:rPr lang="en-US" sz="2000" b="1" baseline="-25000" dirty="0" err="1">
                <a:solidFill>
                  <a:schemeClr val="bg2">
                    <a:lumMod val="25000"/>
                  </a:schemeClr>
                </a:solidFill>
              </a:rPr>
              <a:t>i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), thời điểm kết thúc (</a:t>
            </a:r>
            <a:r>
              <a:rPr lang="vi-VN" sz="2000" b="1" dirty="0">
                <a:solidFill>
                  <a:schemeClr val="bg2">
                    <a:lumMod val="25000"/>
                  </a:schemeClr>
                </a:solidFill>
              </a:rPr>
              <a:t>e</a:t>
            </a:r>
            <a:r>
              <a:rPr lang="en-US" sz="2000" b="1" baseline="-25000" dirty="0" err="1">
                <a:solidFill>
                  <a:schemeClr val="bg2">
                    <a:lumMod val="25000"/>
                  </a:schemeClr>
                </a:solidFill>
              </a:rPr>
              <a:t>i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)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Số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hạng cơ bản (Elementary terms):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Tất cả các hằng số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Tất cả các biến số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Rằng buộc « sai phân » (Difference constraint): </a:t>
            </a:r>
            <a:r>
              <a:rPr lang="vi-VN" sz="2000" b="1" dirty="0">
                <a:solidFill>
                  <a:schemeClr val="bg2">
                    <a:lumMod val="25000"/>
                  </a:schemeClr>
                </a:solidFill>
              </a:rPr>
              <a:t>t1– t2 &lt;= c </a:t>
            </a:r>
            <a:endParaRPr lang="en-US" sz="2000" b="1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Với c là hằng số,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t1, t2 là các số hạng cơ bản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2A939F-BA1C-8C9F-2A4B-30188876F186}"/>
              </a:ext>
            </a:extLst>
          </p:cNvPr>
          <p:cNvSpPr txBox="1"/>
          <p:nvPr/>
        </p:nvSpPr>
        <p:spPr>
          <a:xfrm>
            <a:off x="762466" y="3831507"/>
            <a:ext cx="6097508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Ví dụ:</a:t>
            </a:r>
            <a:endParaRPr lang="en-US" sz="200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O1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trình diễn trong 10s: </a:t>
            </a:r>
            <a:endParaRPr lang="en-US" sz="200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O2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bắt đầu ngay sau khi O1 kết thúc:</a:t>
            </a:r>
            <a:endParaRPr lang="en-US" sz="200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O2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xuất hiện trong 3s cuối của O1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:</a:t>
            </a:r>
          </a:p>
        </p:txBody>
      </p:sp>
      <p:pic>
        <p:nvPicPr>
          <p:cNvPr id="8" name="Picture 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BD4CDCD-235D-38FD-9F06-A374C2250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235" y="4349599"/>
            <a:ext cx="1470515" cy="488591"/>
          </a:xfrm>
          <a:prstGeom prst="rect">
            <a:avLst/>
          </a:prstGeom>
        </p:spPr>
      </p:pic>
      <p:pic>
        <p:nvPicPr>
          <p:cNvPr id="10" name="Picture 9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682A6672-7175-D76B-4633-8E0A49A92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703" y="4808689"/>
            <a:ext cx="2740877" cy="518092"/>
          </a:xfrm>
          <a:prstGeom prst="rect">
            <a:avLst/>
          </a:prstGeom>
        </p:spPr>
      </p:pic>
      <p:pic>
        <p:nvPicPr>
          <p:cNvPr id="12" name="Picture 1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41AB0F6A-D83A-BA79-E902-7F0690CCE7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2138" y="5326781"/>
            <a:ext cx="1351242" cy="41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927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F0086-BA7F-6615-F3E6-78A0895BE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C43E2-E7D3-E850-C809-62CDCA7C4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Trình</a:t>
            </a:r>
            <a:r>
              <a:rPr lang="en-US" sz="2800" dirty="0"/>
              <a:t> </a:t>
            </a:r>
            <a:r>
              <a:rPr lang="en-US" sz="2800" dirty="0" err="1"/>
              <a:t>diễn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ràng</a:t>
            </a:r>
            <a:r>
              <a:rPr lang="en-US" sz="2800" dirty="0"/>
              <a:t> </a:t>
            </a:r>
            <a:r>
              <a:rPr lang="en-US" sz="2800" dirty="0" err="1"/>
              <a:t>buộc</a:t>
            </a:r>
            <a:r>
              <a:rPr lang="en-US" sz="2800" dirty="0"/>
              <a:t> </a:t>
            </a:r>
            <a:r>
              <a:rPr lang="en-US" sz="2800" dirty="0" err="1"/>
              <a:t>thời</a:t>
            </a:r>
            <a:r>
              <a:rPr lang="en-US" sz="2800" dirty="0"/>
              <a:t> </a:t>
            </a:r>
            <a:r>
              <a:rPr lang="en-US" sz="2800" dirty="0" err="1"/>
              <a:t>gian</a:t>
            </a:r>
            <a:endParaRPr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2E67F6-3844-54D9-19A9-E8792C2AE1A0}"/>
              </a:ext>
            </a:extLst>
          </p:cNvPr>
          <p:cNvSpPr txBox="1"/>
          <p:nvPr/>
        </p:nvSpPr>
        <p:spPr>
          <a:xfrm>
            <a:off x="762466" y="740585"/>
            <a:ext cx="1047021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+mj-lt"/>
              </a:rPr>
              <a:t>Định nghĩa:</a:t>
            </a:r>
            <a:endParaRPr lang="en-US" sz="2000" b="1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Trình diễn với ràng buộc thời gian (temporal presentation): </a:t>
            </a:r>
            <a:endParaRPr lang="en-US" sz="200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O: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tập các đối tượng, O = {o</a:t>
            </a:r>
            <a:r>
              <a:rPr lang="en-US" sz="2000" baseline="-25000">
                <a:solidFill>
                  <a:schemeClr val="bg2">
                    <a:lumMod val="25000"/>
                  </a:schemeClr>
                </a:solidFill>
              </a:rPr>
              <a:t>1</a:t>
            </a: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, o</a:t>
            </a:r>
            <a:r>
              <a:rPr lang="en-US" sz="2000" baseline="-25000">
                <a:solidFill>
                  <a:schemeClr val="bg2">
                    <a:lumMod val="25000"/>
                  </a:schemeClr>
                </a:solidFill>
              </a:rPr>
              <a:t>2</a:t>
            </a: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, …, o</a:t>
            </a:r>
            <a:r>
              <a:rPr lang="en-US" sz="2000" baseline="-25000">
                <a:solidFill>
                  <a:schemeClr val="bg2">
                    <a:lumMod val="25000"/>
                  </a:schemeClr>
                </a:solidFill>
              </a:rPr>
              <a:t>3</a:t>
            </a: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}</a:t>
            </a:r>
            <a:endParaRPr lang="en-US" sz="200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DC: tập các rằng buộc sai phân biểu diễn bằng ngôn ngữ mô tả ràng buộc trên các đối tượng thuộc O </a:t>
            </a:r>
            <a:endParaRPr lang="en-US" sz="200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Giải pháp (solution) của DC: gán các số nguyên cho các biến si, ei sao cho tất cả các ràng buộc trong DC đúng </a:t>
            </a:r>
            <a:endParaRPr lang="en-US" sz="200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1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DC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có</a:t>
            </a: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thể có 0, 1 hoặc nhiều giải pháp</a:t>
            </a:r>
            <a:endParaRPr lang="en-US" sz="20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B21030-CD68-3C9E-09D1-099E64435CC0}"/>
              </a:ext>
            </a:extLst>
          </p:cNvPr>
          <p:cNvSpPr txBox="1"/>
          <p:nvPr/>
        </p:nvSpPr>
        <p:spPr>
          <a:xfrm>
            <a:off x="7286625" y="1072634"/>
            <a:ext cx="1905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chemeClr val="bg2">
                    <a:lumMod val="25000"/>
                  </a:schemeClr>
                </a:solidFill>
              </a:rPr>
              <a:t>T P = (O, DC)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D676D0-BC55-AEA4-44A9-81619859E940}"/>
              </a:ext>
            </a:extLst>
          </p:cNvPr>
          <p:cNvSpPr txBox="1"/>
          <p:nvPr/>
        </p:nvSpPr>
        <p:spPr>
          <a:xfrm>
            <a:off x="762466" y="3429000"/>
            <a:ext cx="10470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+mj-lt"/>
              </a:rPr>
              <a:t>Ví dụ: </a:t>
            </a:r>
            <a:r>
              <a:rPr lang="en-US" sz="2000" b="1">
                <a:solidFill>
                  <a:schemeClr val="bg2">
                    <a:lumMod val="25000"/>
                  </a:schemeClr>
                </a:solidFill>
              </a:rPr>
              <a:t>1 DC và 1 số giải pháp</a:t>
            </a:r>
            <a:endParaRPr lang="en-US" sz="2000" b="1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6EDD44-4BE6-B75E-3C3B-8282177AF021}"/>
              </a:ext>
            </a:extLst>
          </p:cNvPr>
          <p:cNvSpPr txBox="1"/>
          <p:nvPr/>
        </p:nvSpPr>
        <p:spPr>
          <a:xfrm>
            <a:off x="959318" y="3943258"/>
            <a:ext cx="16668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>
                <a:solidFill>
                  <a:schemeClr val="bg2">
                    <a:lumMod val="25000"/>
                  </a:schemeClr>
                </a:solidFill>
              </a:rPr>
              <a:t>s1– s2= 0 </a:t>
            </a:r>
          </a:p>
          <a:p>
            <a:r>
              <a:rPr lang="pt-BR">
                <a:solidFill>
                  <a:schemeClr val="bg2">
                    <a:lumMod val="25000"/>
                  </a:schemeClr>
                </a:solidFill>
              </a:rPr>
              <a:t>e1– e2 =0 </a:t>
            </a:r>
          </a:p>
          <a:p>
            <a:r>
              <a:rPr lang="pt-BR">
                <a:solidFill>
                  <a:schemeClr val="bg2">
                    <a:lumMod val="25000"/>
                  </a:schemeClr>
                </a:solidFill>
              </a:rPr>
              <a:t>s3– e1 = 0 </a:t>
            </a:r>
          </a:p>
          <a:p>
            <a:r>
              <a:rPr lang="pt-BR">
                <a:solidFill>
                  <a:schemeClr val="bg2">
                    <a:lumMod val="25000"/>
                  </a:schemeClr>
                </a:solidFill>
              </a:rPr>
              <a:t>s3– e2 = 0 </a:t>
            </a:r>
          </a:p>
          <a:p>
            <a:r>
              <a:rPr lang="pt-BR">
                <a:solidFill>
                  <a:schemeClr val="bg2">
                    <a:lumMod val="25000"/>
                  </a:schemeClr>
                </a:solidFill>
              </a:rPr>
              <a:t>e3– s3 = 10 </a:t>
            </a:r>
          </a:p>
          <a:p>
            <a:r>
              <a:rPr lang="pt-BR">
                <a:solidFill>
                  <a:schemeClr val="bg2">
                    <a:lumMod val="25000"/>
                  </a:schemeClr>
                </a:solidFill>
              </a:rPr>
              <a:t>s4– e2 = 5 </a:t>
            </a:r>
          </a:p>
          <a:p>
            <a:r>
              <a:rPr lang="pt-BR">
                <a:solidFill>
                  <a:schemeClr val="bg2">
                    <a:lumMod val="25000"/>
                  </a:schemeClr>
                </a:solidFill>
              </a:rPr>
              <a:t>e4– e3 &lt;= 4 </a:t>
            </a:r>
          </a:p>
          <a:p>
            <a:r>
              <a:rPr lang="pt-BR">
                <a:solidFill>
                  <a:schemeClr val="bg2">
                    <a:lumMod val="25000"/>
                  </a:schemeClr>
                </a:solidFill>
              </a:rPr>
              <a:t>e3– e4 &lt;=-2</a:t>
            </a:r>
            <a:endParaRPr lang="en-US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6" name="Picture 15" descr="A grid of numbers and letters&#10;&#10;AI-generated content may be incorrect.">
            <a:extLst>
              <a:ext uri="{FF2B5EF4-FFF2-40B4-BE49-F238E27FC236}">
                <a16:creationId xmlns:a16="http://schemas.microsoft.com/office/drawing/2014/main" id="{B0FE65D9-D594-9FB2-E7C2-F180EACA2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665" y="3981043"/>
            <a:ext cx="4200869" cy="2270540"/>
          </a:xfrm>
          <a:prstGeom prst="rect">
            <a:avLst/>
          </a:prstGeom>
        </p:spPr>
      </p:pic>
      <p:pic>
        <p:nvPicPr>
          <p:cNvPr id="18" name="Picture 17" descr="A diagram of a brick wall&#10;&#10;AI-generated content may be incorrect.">
            <a:extLst>
              <a:ext uri="{FF2B5EF4-FFF2-40B4-BE49-F238E27FC236}">
                <a16:creationId xmlns:a16="http://schemas.microsoft.com/office/drawing/2014/main" id="{48E5713B-D34E-6850-0F56-0CB541D78E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7668" y="4612867"/>
            <a:ext cx="3826320" cy="163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242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A8042-C48F-4BED-9AF6-4723A4919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C1C2-23C9-345B-B067-82FC26E8C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Trình</a:t>
            </a:r>
            <a:r>
              <a:rPr lang="en-US" sz="2800" dirty="0"/>
              <a:t> </a:t>
            </a:r>
            <a:r>
              <a:rPr lang="en-US" sz="2800" dirty="0" err="1"/>
              <a:t>diễn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ràng</a:t>
            </a:r>
            <a:r>
              <a:rPr lang="en-US" sz="2800" dirty="0"/>
              <a:t> </a:t>
            </a:r>
            <a:r>
              <a:rPr lang="en-US" sz="2800" dirty="0" err="1"/>
              <a:t>buộc</a:t>
            </a:r>
            <a:r>
              <a:rPr lang="en-US" sz="2800" dirty="0"/>
              <a:t> </a:t>
            </a:r>
            <a:r>
              <a:rPr lang="en-US" sz="2800" dirty="0" err="1"/>
              <a:t>thời</a:t>
            </a:r>
            <a:r>
              <a:rPr lang="en-US" sz="2800" dirty="0"/>
              <a:t> </a:t>
            </a:r>
            <a:r>
              <a:rPr lang="en-US" sz="2800" dirty="0" err="1"/>
              <a:t>gian</a:t>
            </a:r>
            <a:endParaRPr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786C1E-F4AE-979F-5E05-C3204700CDE0}"/>
              </a:ext>
            </a:extLst>
          </p:cNvPr>
          <p:cNvSpPr txBox="1"/>
          <p:nvPr/>
        </p:nvSpPr>
        <p:spPr>
          <a:xfrm>
            <a:off x="762466" y="1041873"/>
            <a:ext cx="7743359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T</a:t>
            </a:r>
            <a:r>
              <a:rPr lang="vi-VN" sz="2000" b="1" dirty="0">
                <a:solidFill>
                  <a:schemeClr val="bg2">
                    <a:lumMod val="25000"/>
                  </a:schemeClr>
                </a:solidFill>
              </a:rPr>
              <a:t>P=(0, DC)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gọi là có thể thực thi được nếu và chỉ nếu DC có 1 giải pháp </a:t>
            </a:r>
            <a:r>
              <a:rPr lang="el-GR" dirty="0">
                <a:solidFill>
                  <a:schemeClr val="bg2">
                    <a:lumMod val="25000"/>
                  </a:schemeClr>
                </a:solidFill>
              </a:rPr>
              <a:t>σ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el-GR" dirty="0"/>
              <a:t>σ</a:t>
            </a:r>
            <a:r>
              <a:rPr lang="vi-VN" sz="2000" dirty="0"/>
              <a:t>: biểu thời gian (schedule) của TP</a:t>
            </a:r>
            <a:endParaRPr lang="en-US" sz="2000" dirty="0"/>
          </a:p>
        </p:txBody>
      </p:sp>
      <p:pic>
        <p:nvPicPr>
          <p:cNvPr id="7" name="Picture 6" descr="A white text with black numbers and a white background&#10;&#10;AI-generated content may be incorrect.">
            <a:extLst>
              <a:ext uri="{FF2B5EF4-FFF2-40B4-BE49-F238E27FC236}">
                <a16:creationId xmlns:a16="http://schemas.microsoft.com/office/drawing/2014/main" id="{C01D566B-F1B9-0729-8E4E-1A86A1D33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0232" y="1937223"/>
            <a:ext cx="3438868" cy="28124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2BC73F-AB7A-B79C-1492-28757AFB0195}"/>
              </a:ext>
            </a:extLst>
          </p:cNvPr>
          <p:cNvSpPr txBox="1"/>
          <p:nvPr/>
        </p:nvSpPr>
        <p:spPr>
          <a:xfrm>
            <a:off x="762466" y="2765153"/>
            <a:ext cx="7743359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Gap-free, earliest solution: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«Earliest » :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Giải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pháp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thực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hiện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sớm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nhất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Giải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pháp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có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start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nhỏ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nhất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«Gap-free »: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Giải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pháp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không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có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1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khoảng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thời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gian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trống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trong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phần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trình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diễn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  <a:p>
            <a:pPr marL="342900" indent="-342900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Mong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muốn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giải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pháp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: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sớm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nhất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+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liên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tục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(gap-free)</a:t>
            </a:r>
          </a:p>
        </p:txBody>
      </p:sp>
    </p:spTree>
    <p:extLst>
      <p:ext uri="{BB962C8B-B14F-4D97-AF65-F5344CB8AC3E}">
        <p14:creationId xmlns:p14="http://schemas.microsoft.com/office/powerpoint/2010/main" val="3315114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6A57A-EAC6-6818-C91A-A6E71667D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949AB-1226-C8B5-56BB-CFBDC190D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Bell-Ford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4965FD-1CBE-BE9E-CB16-2067C9D5DEC9}"/>
              </a:ext>
            </a:extLst>
          </p:cNvPr>
          <p:cNvSpPr txBox="1"/>
          <p:nvPr/>
        </p:nvSpPr>
        <p:spPr>
          <a:xfrm>
            <a:off x="743417" y="718023"/>
            <a:ext cx="7714784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Để tìm giải pháp hiệu quả cho trình diễn với ràng buộc thời gian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Bài toán quy hoạch tuyến tính với đk các biến nhận giá trị nguyên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Thuật toán </a:t>
            </a:r>
            <a:r>
              <a:rPr lang="vi-VN" sz="2000" b="1" dirty="0">
                <a:solidFill>
                  <a:srgbClr val="C00000"/>
                </a:solidFill>
              </a:rPr>
              <a:t>Bell-Ford</a:t>
            </a:r>
            <a:r>
              <a:rPr lang="vi-VN" sz="2000" b="1" dirty="0">
                <a:solidFill>
                  <a:schemeClr val="bg2">
                    <a:lumMod val="25000"/>
                  </a:schemeClr>
                </a:solidFill>
              </a:rPr>
              <a:t>:</a:t>
            </a:r>
            <a:endParaRPr lang="en-US" sz="2000" b="1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/>
              <a:t>Đầu vào: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tập các ràng buộc sai phân DC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Chuyển DC thành </a:t>
            </a:r>
            <a:r>
              <a:rPr lang="vi-VN" sz="2000" dirty="0"/>
              <a:t>1 đồ thị có trọng số G</a:t>
            </a:r>
            <a:r>
              <a:rPr lang="vi-VN" sz="2000" baseline="-25000" dirty="0"/>
              <a:t>DC</a:t>
            </a:r>
            <a:r>
              <a:rPr lang="vi-VN" sz="2000" dirty="0"/>
              <a:t> </a:t>
            </a:r>
            <a:endParaRPr lang="en-US" sz="2000" dirty="0"/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2000" dirty="0"/>
              <a:t>DC</a:t>
            </a:r>
            <a:r>
              <a:rPr lang="en-US" sz="2000" dirty="0"/>
              <a:t> </a:t>
            </a:r>
            <a:r>
              <a:rPr lang="vi-VN" sz="2000" dirty="0"/>
              <a:t>có</a:t>
            </a:r>
            <a:r>
              <a:rPr lang="en-US" sz="2000" dirty="0"/>
              <a:t> </a:t>
            </a:r>
            <a:r>
              <a:rPr lang="vi-VN" sz="2000" dirty="0"/>
              <a:t>giải pháp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nếu và chỉ nếu đồ thị không có chu trình âm 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Tìm </a:t>
            </a:r>
            <a:r>
              <a:rPr lang="vi-VN" sz="2000" dirty="0"/>
              <a:t>đường ngắn nhất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đến mỗi nút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/>
              <a:t>Ra: 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1 giải pháp cho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1 Chu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</a:rPr>
              <a:t>trình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</a:rPr>
              <a:t>âm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= 1 chu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trình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mà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tổng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các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cạnh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trên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trên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1 chu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trình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có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giá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trị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âm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5" name="Picture 4" descr="A blue circle with arrows and numbers&#10;&#10;AI-generated content may be incorrect.">
            <a:extLst>
              <a:ext uri="{FF2B5EF4-FFF2-40B4-BE49-F238E27FC236}">
                <a16:creationId xmlns:a16="http://schemas.microsoft.com/office/drawing/2014/main" id="{DD39710C-9B95-C69F-D4B3-F3BFA91E3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6113" y="4495800"/>
            <a:ext cx="2654769" cy="174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507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39076-22A4-5BB5-BB98-F46749962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DCF9E-30BF-4B8D-B90D-AEEB8D65D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Bell-Ford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C90F31-68CF-FE82-1A83-480A94747C8A}"/>
              </a:ext>
            </a:extLst>
          </p:cNvPr>
          <p:cNvSpPr txBox="1"/>
          <p:nvPr/>
        </p:nvSpPr>
        <p:spPr>
          <a:xfrm>
            <a:off x="743417" y="718023"/>
            <a:ext cx="7714784" cy="4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>
                <a:latin typeface="+mj-lt"/>
              </a:rPr>
              <a:t>Chuyển DC =&gt; G</a:t>
            </a:r>
            <a:r>
              <a:rPr lang="en-US" sz="2000" b="1" baseline="-25000">
                <a:latin typeface="+mj-lt"/>
              </a:rPr>
              <a:t>dc</a:t>
            </a:r>
            <a:r>
              <a:rPr lang="en-US" sz="2000" b="1">
                <a:latin typeface="+mj-lt"/>
              </a:rPr>
              <a:t>:</a:t>
            </a:r>
            <a:endParaRPr lang="en-US" sz="2000" b="1" dirty="0">
              <a:latin typeface="+mj-lt"/>
            </a:endParaRPr>
          </a:p>
        </p:txBody>
      </p:sp>
      <p:pic>
        <p:nvPicPr>
          <p:cNvPr id="8" name="Picture 7" descr="A diagram of a diagram&#10;&#10;AI-generated content may be incorrect.">
            <a:extLst>
              <a:ext uri="{FF2B5EF4-FFF2-40B4-BE49-F238E27FC236}">
                <a16:creationId xmlns:a16="http://schemas.microsoft.com/office/drawing/2014/main" id="{A9F75CDA-FC85-E336-4EDC-75EDF121C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2947" y="1408483"/>
            <a:ext cx="6553517" cy="34640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8575B9-788A-F794-3EAA-FB48BECCDBB6}"/>
              </a:ext>
            </a:extLst>
          </p:cNvPr>
          <p:cNvSpPr txBox="1"/>
          <p:nvPr/>
        </p:nvSpPr>
        <p:spPr>
          <a:xfrm>
            <a:off x="6728460" y="4994613"/>
            <a:ext cx="1973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G</a:t>
            </a:r>
            <a:r>
              <a:rPr lang="en-US" b="1" baseline="-25000">
                <a:solidFill>
                  <a:schemeClr val="bg2">
                    <a:lumMod val="25000"/>
                  </a:schemeClr>
                </a:solidFill>
              </a:rPr>
              <a:t>DC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= (V, E, w)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E3CBAF-F838-EEC5-1D2E-50CEB8D7B54D}"/>
              </a:ext>
            </a:extLst>
          </p:cNvPr>
          <p:cNvSpPr txBox="1"/>
          <p:nvPr/>
        </p:nvSpPr>
        <p:spPr>
          <a:xfrm>
            <a:off x="4614377" y="554698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2">
                    <a:lumMod val="25000"/>
                  </a:schemeClr>
                </a:solidFill>
              </a:rPr>
              <a:t>V = {s</a:t>
            </a:r>
            <a:r>
              <a:rPr lang="en-US" baseline="-25000">
                <a:solidFill>
                  <a:schemeClr val="bg2">
                    <a:lumMod val="25000"/>
                  </a:schemeClr>
                </a:solidFill>
              </a:rPr>
              <a:t>i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, e</a:t>
            </a:r>
            <a:r>
              <a:rPr lang="en-US" baseline="-25000">
                <a:solidFill>
                  <a:schemeClr val="bg2">
                    <a:lumMod val="25000"/>
                  </a:schemeClr>
                </a:solidFill>
              </a:rPr>
              <a:t>i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, i = 1..n} E: với mỗi x – y &lt;= c     1 cạnh từ y sang x với </a:t>
            </a: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w(y,x) = c 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cạnh từ start tới s</a:t>
            </a:r>
            <a:r>
              <a:rPr lang="en-US" baseline="-25000">
                <a:solidFill>
                  <a:schemeClr val="bg2">
                    <a:lumMod val="25000"/>
                  </a:schemeClr>
                </a:solidFill>
              </a:rPr>
              <a:t>i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, e</a:t>
            </a:r>
            <a:r>
              <a:rPr lang="en-US" baseline="-25000">
                <a:solidFill>
                  <a:schemeClr val="bg2">
                    <a:lumMod val="25000"/>
                  </a:schemeClr>
                </a:solidFill>
              </a:rPr>
              <a:t>i</a:t>
            </a:r>
            <a:r>
              <a:rPr lang="en-US">
                <a:solidFill>
                  <a:schemeClr val="bg2">
                    <a:lumMod val="25000"/>
                  </a:schemeClr>
                </a:solidFill>
              </a:rPr>
              <a:t>, i = 1..n có trọng số 0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76AA529-2306-61CA-226E-E28C3E4091EB}"/>
              </a:ext>
            </a:extLst>
          </p:cNvPr>
          <p:cNvCxnSpPr/>
          <p:nvPr/>
        </p:nvCxnSpPr>
        <p:spPr>
          <a:xfrm>
            <a:off x="8565427" y="5740450"/>
            <a:ext cx="164307" cy="0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653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1AFA9-B8BF-3D26-B876-86F4F9CBC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67F3D-A807-94C8-7AB0-FB8217603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Bell-Ford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C74F6E-CD75-7358-1BE8-FBBF89891AA4}"/>
              </a:ext>
            </a:extLst>
          </p:cNvPr>
          <p:cNvSpPr txBox="1"/>
          <p:nvPr/>
        </p:nvSpPr>
        <p:spPr>
          <a:xfrm>
            <a:off x="762466" y="724373"/>
            <a:ext cx="7743359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000" b="1" dirty="0">
                <a:latin typeface="+mj-lt"/>
              </a:rPr>
              <a:t>Tìm đường ngắn nhất cho mỗi nút</a:t>
            </a:r>
            <a:r>
              <a:rPr lang="en-US" sz="2000" b="1" dirty="0">
                <a:latin typeface="+mj-lt"/>
              </a:rPr>
              <a:t>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Tìm đường ngắn nhất đi đến mỗi nút từ nút </a:t>
            </a:r>
            <a:r>
              <a:rPr lang="vi-VN" sz="2000" b="1" dirty="0">
                <a:solidFill>
                  <a:schemeClr val="bg2">
                    <a:lumMod val="25000"/>
                  </a:schemeClr>
                </a:solidFill>
              </a:rPr>
              <a:t>start</a:t>
            </a:r>
            <a:endParaRPr lang="en-US" sz="2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6" name="Picture 5" descr="A math equation with numbers and symbols&#10;&#10;AI-generated content may be incorrect.">
            <a:extLst>
              <a:ext uri="{FF2B5EF4-FFF2-40B4-BE49-F238E27FC236}">
                <a16:creationId xmlns:a16="http://schemas.microsoft.com/office/drawing/2014/main" id="{260A6245-E884-6156-DE5F-5F2E60DBE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6613" y="1844474"/>
            <a:ext cx="5974487" cy="16952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2C62B9-A39F-7C2B-1D74-5B72F9617BBB}"/>
              </a:ext>
            </a:extLst>
          </p:cNvPr>
          <p:cNvSpPr txBox="1"/>
          <p:nvPr/>
        </p:nvSpPr>
        <p:spPr>
          <a:xfrm>
            <a:off x="762466" y="410793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Không có chu trình âm =&gt;</a:t>
            </a:r>
          </a:p>
        </p:txBody>
      </p:sp>
      <p:pic>
        <p:nvPicPr>
          <p:cNvPr id="13" name="Picture 12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C155CC58-B125-B495-67DF-7511AE768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97" y="3905308"/>
            <a:ext cx="4988003" cy="234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405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C4CC9-5D8E-D4E1-13E9-E35E66DF7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38CDA-21E2-CDEA-A81E-6587C3234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Bell-Ford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C4121E-459D-6CF6-E238-AE2FD50E7AFA}"/>
              </a:ext>
            </a:extLst>
          </p:cNvPr>
          <p:cNvSpPr txBox="1"/>
          <p:nvPr/>
        </p:nvSpPr>
        <p:spPr>
          <a:xfrm>
            <a:off x="762466" y="657698"/>
            <a:ext cx="10448459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000" b="1" dirty="0">
                <a:latin typeface="+mj-lt"/>
              </a:rPr>
              <a:t>Thuật toán</a:t>
            </a:r>
            <a:r>
              <a:rPr lang="en-US" sz="2000" b="1" dirty="0">
                <a:latin typeface="+mj-lt"/>
              </a:rPr>
              <a:t>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Mỗi nút N trên G</a:t>
            </a:r>
            <a:r>
              <a:rPr lang="vi-VN" sz="2000" baseline="-25000" dirty="0">
                <a:solidFill>
                  <a:schemeClr val="bg2">
                    <a:lumMod val="25000"/>
                  </a:schemeClr>
                </a:solidFill>
              </a:rPr>
              <a:t>DC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 có 2 trường: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b="1" dirty="0">
                <a:solidFill>
                  <a:schemeClr val="bg2">
                    <a:lumMod val="25000"/>
                  </a:schemeClr>
                </a:solidFill>
              </a:rPr>
              <a:t>Bestval(N)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: đường đi ngắn nhất từ </a:t>
            </a:r>
            <a:r>
              <a:rPr lang="vi-VN" sz="2000" b="1" dirty="0">
                <a:solidFill>
                  <a:schemeClr val="bg2">
                    <a:lumMod val="25000"/>
                  </a:schemeClr>
                </a:solidFill>
              </a:rPr>
              <a:t>start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 cho đến N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b="1" dirty="0">
                <a:solidFill>
                  <a:schemeClr val="bg2">
                    <a:lumMod val="25000"/>
                  </a:schemeClr>
                </a:solidFill>
              </a:rPr>
              <a:t>Bestpar(N)</a:t>
            </a: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: chỉ đến nút ngay trước N trên đường đi ngắn nhất từ </a:t>
            </a:r>
            <a:r>
              <a:rPr lang="vi-VN" sz="2000" b="1" dirty="0">
                <a:solidFill>
                  <a:schemeClr val="bg2">
                    <a:lumMod val="25000"/>
                  </a:schemeClr>
                </a:solidFill>
              </a:rPr>
              <a:t>start 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=&gt;</a:t>
            </a:r>
            <a:r>
              <a:rPr lang="vi-VN" sz="2000" b="1" dirty="0">
                <a:solidFill>
                  <a:schemeClr val="bg2">
                    <a:lumMod val="25000"/>
                  </a:schemeClr>
                </a:solidFill>
              </a:rPr>
              <a:t> N </a:t>
            </a:r>
            <a:endParaRPr lang="en-US" sz="2000" b="1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solidFill>
                  <a:schemeClr val="bg2">
                    <a:lumMod val="25000"/>
                  </a:schemeClr>
                </a:solidFill>
              </a:rPr>
              <a:t>Đường đi ngắn nhất = đường đi có chi phí thấp nhất = tổng trọng số trên các cạnh là nhỏ nhất</a:t>
            </a:r>
            <a:endParaRPr lang="en-US" sz="2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5" name="Picture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DF5A7E44-7129-A41D-6A5B-2407451E1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419" y="3269950"/>
            <a:ext cx="3302877" cy="2587925"/>
          </a:xfrm>
          <a:prstGeom prst="rect">
            <a:avLst/>
          </a:prstGeom>
        </p:spPr>
      </p:pic>
      <p:pic>
        <p:nvPicPr>
          <p:cNvPr id="11" name="Picture 10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B991C6B5-2A36-1840-0F82-7FED13FB16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095" y="3269950"/>
            <a:ext cx="3019794" cy="20604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F5A51E6-EB53-5643-0A97-0540F9829AFD}"/>
              </a:ext>
            </a:extLst>
          </p:cNvPr>
          <p:cNvSpPr txBox="1"/>
          <p:nvPr/>
        </p:nvSpPr>
        <p:spPr>
          <a:xfrm>
            <a:off x="1546340" y="5940139"/>
            <a:ext cx="251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Khởi tạo các giá trị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B2EB97-2915-04FE-9A4E-98A71C6E151D}"/>
              </a:ext>
            </a:extLst>
          </p:cNvPr>
          <p:cNvSpPr txBox="1"/>
          <p:nvPr/>
        </p:nvSpPr>
        <p:spPr>
          <a:xfrm>
            <a:off x="6489644" y="5616973"/>
            <a:ext cx="32828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Cập nhật lại các giá trị </a:t>
            </a:r>
            <a:r>
              <a:rPr lang="en-US" b="1">
                <a:solidFill>
                  <a:srgbClr val="C00000"/>
                </a:solidFill>
              </a:rPr>
              <a:t>Bestval</a:t>
            </a:r>
            <a:r>
              <a:rPr lang="en-US" b="1"/>
              <a:t> và </a:t>
            </a:r>
            <a:r>
              <a:rPr lang="en-US" b="1">
                <a:solidFill>
                  <a:srgbClr val="C00000"/>
                </a:solidFill>
              </a:rPr>
              <a:t>Bestpar </a:t>
            </a:r>
            <a:r>
              <a:rPr lang="en-US" b="1"/>
              <a:t>cho mỗi nút</a:t>
            </a:r>
          </a:p>
        </p:txBody>
      </p:sp>
    </p:spTree>
    <p:extLst>
      <p:ext uri="{BB962C8B-B14F-4D97-AF65-F5344CB8AC3E}">
        <p14:creationId xmlns:p14="http://schemas.microsoft.com/office/powerpoint/2010/main" val="2745035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12C7F-A878-4929-2650-2183ADC80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B2065-B9DD-ABD4-34AA-CCEE4196A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Bell-Ford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39AEA8-CB38-ECC2-5BEC-5F1969B43C13}"/>
              </a:ext>
            </a:extLst>
          </p:cNvPr>
          <p:cNvSpPr txBox="1"/>
          <p:nvPr/>
        </p:nvSpPr>
        <p:spPr>
          <a:xfrm>
            <a:off x="762466" y="657698"/>
            <a:ext cx="10448459" cy="4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000" b="1">
                <a:latin typeface="+mj-lt"/>
              </a:rPr>
              <a:t>Thuật toán</a:t>
            </a:r>
            <a:r>
              <a:rPr lang="en-US" sz="2000" b="1">
                <a:latin typeface="+mj-lt"/>
              </a:rPr>
              <a:t>:</a:t>
            </a:r>
            <a:endParaRPr lang="en-US" sz="2000" b="1" dirty="0">
              <a:latin typeface="+mj-lt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57FE01-0BF8-48CD-5BA8-635C8A369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7819" y="1335899"/>
            <a:ext cx="6891931" cy="454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617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0C5B3-21E2-2107-C272-4F8FBE28C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291DB-56B6-8FC2-3E62-4845513CD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Bell-Ford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3BA57F-CD08-3145-ED99-1A3D4D809829}"/>
              </a:ext>
            </a:extLst>
          </p:cNvPr>
          <p:cNvSpPr txBox="1"/>
          <p:nvPr/>
        </p:nvSpPr>
        <p:spPr>
          <a:xfrm>
            <a:off x="762466" y="657698"/>
            <a:ext cx="10448459" cy="4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>
                <a:latin typeface="+mj-lt"/>
              </a:rPr>
              <a:t>Ví dụ:</a:t>
            </a:r>
            <a:endParaRPr lang="en-US" sz="2000" b="1" dirty="0">
              <a:latin typeface="+mj-lt"/>
            </a:endParaRP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2FB9C4EA-7565-CA07-34E1-6F8D67DC3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135" y="1072593"/>
            <a:ext cx="3884531" cy="3115012"/>
          </a:xfrm>
          <a:prstGeom prst="rect">
            <a:avLst/>
          </a:prstGeom>
        </p:spPr>
      </p:pic>
      <p:pic>
        <p:nvPicPr>
          <p:cNvPr id="8" name="Picture 7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AFD5FD9F-50E8-C1C5-64C6-CA794B7DB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0942" y="1624599"/>
            <a:ext cx="1772595" cy="20931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C519D5-C6D6-7647-6B16-C4B7CBD8CADC}"/>
              </a:ext>
            </a:extLst>
          </p:cNvPr>
          <p:cNvSpPr txBox="1"/>
          <p:nvPr/>
        </p:nvSpPr>
        <p:spPr>
          <a:xfrm>
            <a:off x="2888665" y="4308079"/>
            <a:ext cx="641466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/>
              <a:t>G = (V, E, w) </a:t>
            </a:r>
          </a:p>
          <a:p>
            <a:r>
              <a:rPr lang="pt-BR" b="1"/>
              <a:t>V = {s</a:t>
            </a:r>
            <a:r>
              <a:rPr lang="pt-BR" b="1" baseline="-25000"/>
              <a:t>1</a:t>
            </a:r>
            <a:r>
              <a:rPr lang="pt-BR" b="1"/>
              <a:t>, e</a:t>
            </a:r>
            <a:r>
              <a:rPr lang="pt-BR" b="1" baseline="-25000"/>
              <a:t>1</a:t>
            </a:r>
            <a:r>
              <a:rPr lang="pt-BR" b="1"/>
              <a:t>, s</a:t>
            </a:r>
            <a:r>
              <a:rPr lang="pt-BR" b="1" baseline="-25000"/>
              <a:t>2</a:t>
            </a:r>
            <a:r>
              <a:rPr lang="pt-BR" b="1"/>
              <a:t>, e</a:t>
            </a:r>
            <a:r>
              <a:rPr lang="pt-BR" b="1" baseline="-25000"/>
              <a:t>2</a:t>
            </a:r>
            <a:r>
              <a:rPr lang="pt-BR" b="1"/>
              <a:t>}, n = 4 </a:t>
            </a:r>
          </a:p>
          <a:p>
            <a:r>
              <a:rPr lang="pt-BR" b="1">
                <a:solidFill>
                  <a:srgbClr val="C00000"/>
                </a:solidFill>
              </a:rPr>
              <a:t>E = {(e</a:t>
            </a:r>
            <a:r>
              <a:rPr lang="pt-BR" b="1" baseline="-25000">
                <a:solidFill>
                  <a:srgbClr val="C00000"/>
                </a:solidFill>
              </a:rPr>
              <a:t>1</a:t>
            </a:r>
            <a:r>
              <a:rPr lang="pt-BR" b="1">
                <a:solidFill>
                  <a:srgbClr val="C00000"/>
                </a:solidFill>
              </a:rPr>
              <a:t>, s</a:t>
            </a:r>
            <a:r>
              <a:rPr lang="pt-BR" b="1" baseline="-25000">
                <a:solidFill>
                  <a:srgbClr val="C00000"/>
                </a:solidFill>
              </a:rPr>
              <a:t>1</a:t>
            </a:r>
            <a:r>
              <a:rPr lang="pt-BR" b="1">
                <a:solidFill>
                  <a:srgbClr val="C00000"/>
                </a:solidFill>
              </a:rPr>
              <a:t>), (s</a:t>
            </a:r>
            <a:r>
              <a:rPr lang="pt-BR" b="1" baseline="-25000">
                <a:solidFill>
                  <a:srgbClr val="C00000"/>
                </a:solidFill>
              </a:rPr>
              <a:t>1</a:t>
            </a:r>
            <a:r>
              <a:rPr lang="pt-BR" b="1">
                <a:solidFill>
                  <a:srgbClr val="C00000"/>
                </a:solidFill>
              </a:rPr>
              <a:t>, e</a:t>
            </a:r>
            <a:r>
              <a:rPr lang="pt-BR" b="1" baseline="-25000">
                <a:solidFill>
                  <a:srgbClr val="C00000"/>
                </a:solidFill>
              </a:rPr>
              <a:t>1</a:t>
            </a:r>
            <a:r>
              <a:rPr lang="pt-BR" b="1">
                <a:solidFill>
                  <a:srgbClr val="C00000"/>
                </a:solidFill>
              </a:rPr>
              <a:t>), (e</a:t>
            </a:r>
            <a:r>
              <a:rPr lang="pt-BR" b="1" baseline="-25000">
                <a:solidFill>
                  <a:srgbClr val="C00000"/>
                </a:solidFill>
              </a:rPr>
              <a:t>2</a:t>
            </a:r>
            <a:r>
              <a:rPr lang="pt-BR" b="1">
                <a:solidFill>
                  <a:srgbClr val="C00000"/>
                </a:solidFill>
              </a:rPr>
              <a:t>, s</a:t>
            </a:r>
            <a:r>
              <a:rPr lang="pt-BR" b="1" baseline="-25000">
                <a:solidFill>
                  <a:srgbClr val="C00000"/>
                </a:solidFill>
              </a:rPr>
              <a:t>2</a:t>
            </a:r>
            <a:r>
              <a:rPr lang="pt-BR" b="1">
                <a:solidFill>
                  <a:srgbClr val="C00000"/>
                </a:solidFill>
              </a:rPr>
              <a:t>), (s</a:t>
            </a:r>
            <a:r>
              <a:rPr lang="pt-BR" b="1" baseline="-25000">
                <a:solidFill>
                  <a:srgbClr val="C00000"/>
                </a:solidFill>
              </a:rPr>
              <a:t>2</a:t>
            </a:r>
            <a:r>
              <a:rPr lang="pt-BR" b="1">
                <a:solidFill>
                  <a:srgbClr val="C00000"/>
                </a:solidFill>
              </a:rPr>
              <a:t>, e</a:t>
            </a:r>
            <a:r>
              <a:rPr lang="pt-BR" b="1" baseline="-25000">
                <a:solidFill>
                  <a:srgbClr val="C00000"/>
                </a:solidFill>
              </a:rPr>
              <a:t>2</a:t>
            </a:r>
            <a:r>
              <a:rPr lang="pt-BR" b="1">
                <a:solidFill>
                  <a:srgbClr val="C00000"/>
                </a:solidFill>
              </a:rPr>
              <a:t>), (s</a:t>
            </a:r>
            <a:r>
              <a:rPr lang="pt-BR" b="1" baseline="-25000">
                <a:solidFill>
                  <a:srgbClr val="C00000"/>
                </a:solidFill>
              </a:rPr>
              <a:t>2</a:t>
            </a:r>
            <a:r>
              <a:rPr lang="pt-BR" b="1">
                <a:solidFill>
                  <a:srgbClr val="C00000"/>
                </a:solidFill>
              </a:rPr>
              <a:t>, e</a:t>
            </a:r>
            <a:r>
              <a:rPr lang="pt-BR" b="1" baseline="-25000">
                <a:solidFill>
                  <a:srgbClr val="C00000"/>
                </a:solidFill>
              </a:rPr>
              <a:t>1</a:t>
            </a:r>
            <a:r>
              <a:rPr lang="pt-BR" b="1">
                <a:solidFill>
                  <a:srgbClr val="C00000"/>
                </a:solidFill>
              </a:rPr>
              <a:t>), (e</a:t>
            </a:r>
            <a:r>
              <a:rPr lang="pt-BR" b="1" baseline="-25000">
                <a:solidFill>
                  <a:srgbClr val="C00000"/>
                </a:solidFill>
              </a:rPr>
              <a:t>1</a:t>
            </a:r>
            <a:r>
              <a:rPr lang="pt-BR" b="1">
                <a:solidFill>
                  <a:srgbClr val="C00000"/>
                </a:solidFill>
              </a:rPr>
              <a:t>, s</a:t>
            </a:r>
            <a:r>
              <a:rPr lang="pt-BR" b="1" baseline="-25000">
                <a:solidFill>
                  <a:srgbClr val="C00000"/>
                </a:solidFill>
              </a:rPr>
              <a:t>2</a:t>
            </a:r>
            <a:r>
              <a:rPr lang="pt-BR" b="1">
                <a:solidFill>
                  <a:srgbClr val="C00000"/>
                </a:solidFill>
              </a:rPr>
              <a:t>)}, m = 6</a:t>
            </a:r>
          </a:p>
          <a:p>
            <a:r>
              <a:rPr lang="pt-BR" b="1"/>
              <a:t>w : w(e</a:t>
            </a:r>
            <a:r>
              <a:rPr lang="pt-BR" b="1" baseline="-25000"/>
              <a:t>1</a:t>
            </a:r>
            <a:r>
              <a:rPr lang="pt-BR" b="1"/>
              <a:t>, s</a:t>
            </a:r>
            <a:r>
              <a:rPr lang="pt-BR" b="1" baseline="-25000"/>
              <a:t>1</a:t>
            </a:r>
            <a:r>
              <a:rPr lang="pt-BR" b="1"/>
              <a:t>) = -3, w(s</a:t>
            </a:r>
            <a:r>
              <a:rPr lang="pt-BR" b="1" baseline="-25000"/>
              <a:t>1</a:t>
            </a:r>
            <a:r>
              <a:rPr lang="pt-BR" b="1"/>
              <a:t>, e</a:t>
            </a:r>
            <a:r>
              <a:rPr lang="pt-BR" b="1" baseline="-25000"/>
              <a:t>1</a:t>
            </a:r>
            <a:r>
              <a:rPr lang="pt-BR" b="1"/>
              <a:t>) = 5, w(e</a:t>
            </a:r>
            <a:r>
              <a:rPr lang="pt-BR" b="1" baseline="-25000"/>
              <a:t>2</a:t>
            </a:r>
            <a:r>
              <a:rPr lang="pt-BR" b="1"/>
              <a:t>, s</a:t>
            </a:r>
            <a:r>
              <a:rPr lang="pt-BR" b="1" baseline="-25000"/>
              <a:t>2</a:t>
            </a:r>
            <a:r>
              <a:rPr lang="pt-BR" b="1"/>
              <a:t>) = -4, </a:t>
            </a:r>
          </a:p>
          <a:p>
            <a:r>
              <a:rPr lang="pt-BR" b="1"/>
              <a:t>      w(s</a:t>
            </a:r>
            <a:r>
              <a:rPr lang="pt-BR" b="1" baseline="-25000"/>
              <a:t>2</a:t>
            </a:r>
            <a:r>
              <a:rPr lang="pt-BR" b="1"/>
              <a:t>, e</a:t>
            </a:r>
            <a:r>
              <a:rPr lang="pt-BR" b="1" baseline="-25000"/>
              <a:t>2</a:t>
            </a:r>
            <a:r>
              <a:rPr lang="pt-BR" b="1"/>
              <a:t>) = 6, w(s</a:t>
            </a:r>
            <a:r>
              <a:rPr lang="pt-BR" b="1" baseline="-25000"/>
              <a:t>2</a:t>
            </a:r>
            <a:r>
              <a:rPr lang="pt-BR" b="1"/>
              <a:t>, e</a:t>
            </a:r>
            <a:r>
              <a:rPr lang="pt-BR" b="1" baseline="-25000"/>
              <a:t>1</a:t>
            </a:r>
            <a:r>
              <a:rPr lang="pt-BR" b="1"/>
              <a:t>) = 0, w(e</a:t>
            </a:r>
            <a:r>
              <a:rPr lang="pt-BR" b="1" baseline="-25000"/>
              <a:t>1</a:t>
            </a:r>
            <a:r>
              <a:rPr lang="pt-BR" b="1"/>
              <a:t>, s</a:t>
            </a:r>
            <a:r>
              <a:rPr lang="pt-BR" b="1" baseline="-25000"/>
              <a:t>2</a:t>
            </a:r>
            <a:r>
              <a:rPr lang="pt-BR" b="1"/>
              <a:t>) = 2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420252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EAC14-EA37-47EB-A02D-2EB04ADD0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CC778-138F-D4BE-ED5F-7F76DE602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Bell-Ford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3D4139-E633-FEF0-1C04-993558433F48}"/>
              </a:ext>
            </a:extLst>
          </p:cNvPr>
          <p:cNvSpPr txBox="1"/>
          <p:nvPr/>
        </p:nvSpPr>
        <p:spPr>
          <a:xfrm>
            <a:off x="762466" y="657698"/>
            <a:ext cx="10448459" cy="4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>
                <a:latin typeface="+mj-lt"/>
              </a:rPr>
              <a:t>Ví dụ:</a:t>
            </a:r>
            <a:endParaRPr lang="en-US" sz="2000" b="1" dirty="0">
              <a:latin typeface="+mj-lt"/>
            </a:endParaRPr>
          </a:p>
        </p:txBody>
      </p:sp>
      <p:pic>
        <p:nvPicPr>
          <p:cNvPr id="6" name="Picture 5" descr="A diagram of a diagram of a number&#10;&#10;AI-generated content may be incorrect.">
            <a:extLst>
              <a:ext uri="{FF2B5EF4-FFF2-40B4-BE49-F238E27FC236}">
                <a16:creationId xmlns:a16="http://schemas.microsoft.com/office/drawing/2014/main" id="{D1BABD60-64FF-A048-0705-C8F94E2F97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093"/>
          <a:stretch>
            <a:fillRect/>
          </a:stretch>
        </p:blipFill>
        <p:spPr>
          <a:xfrm>
            <a:off x="762466" y="1674081"/>
            <a:ext cx="5080895" cy="2550447"/>
          </a:xfrm>
          <a:prstGeom prst="rect">
            <a:avLst/>
          </a:prstGeom>
        </p:spPr>
      </p:pic>
      <p:pic>
        <p:nvPicPr>
          <p:cNvPr id="9" name="Picture 8" descr="A diagram of a diagram&#10;&#10;AI-generated content may be incorrect.">
            <a:extLst>
              <a:ext uri="{FF2B5EF4-FFF2-40B4-BE49-F238E27FC236}">
                <a16:creationId xmlns:a16="http://schemas.microsoft.com/office/drawing/2014/main" id="{C428FA50-DDAE-012A-5EA4-8815EB99B5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311"/>
          <a:stretch>
            <a:fillRect/>
          </a:stretch>
        </p:blipFill>
        <p:spPr>
          <a:xfrm>
            <a:off x="6169152" y="1674080"/>
            <a:ext cx="2207085" cy="2550447"/>
          </a:xfrm>
          <a:prstGeom prst="rect">
            <a:avLst/>
          </a:prstGeom>
        </p:spPr>
      </p:pic>
      <p:pic>
        <p:nvPicPr>
          <p:cNvPr id="12" name="Picture 11" descr="A diagram of a diagram&#10;&#10;AI-generated content may be incorrect.">
            <a:extLst>
              <a:ext uri="{FF2B5EF4-FFF2-40B4-BE49-F238E27FC236}">
                <a16:creationId xmlns:a16="http://schemas.microsoft.com/office/drawing/2014/main" id="{74AA2A7E-6C41-57A5-77E2-ECF86D4C93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0501" y="1530034"/>
            <a:ext cx="2200776" cy="2561294"/>
          </a:xfrm>
          <a:prstGeom prst="rect">
            <a:avLst/>
          </a:prstGeom>
        </p:spPr>
      </p:pic>
      <p:pic>
        <p:nvPicPr>
          <p:cNvPr id="14" name="Picture 13" descr="A math equation with numbers and symbols&#10;&#10;AI-generated content may be incorrect.">
            <a:extLst>
              <a:ext uri="{FF2B5EF4-FFF2-40B4-BE49-F238E27FC236}">
                <a16:creationId xmlns:a16="http://schemas.microsoft.com/office/drawing/2014/main" id="{5688B486-3860-D4D1-E70E-48ED987510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8614" y="4978732"/>
            <a:ext cx="3784134" cy="11464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690509-6694-3086-CB85-64804713E4D2}"/>
              </a:ext>
            </a:extLst>
          </p:cNvPr>
          <p:cNvSpPr txBox="1"/>
          <p:nvPr/>
        </p:nvSpPr>
        <p:spPr>
          <a:xfrm>
            <a:off x="1344168" y="4224528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Sau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2443EE-9439-4423-839A-028923602467}"/>
              </a:ext>
            </a:extLst>
          </p:cNvPr>
          <p:cNvSpPr txBox="1"/>
          <p:nvPr/>
        </p:nvSpPr>
        <p:spPr>
          <a:xfrm>
            <a:off x="4166616" y="4224528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Sau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876FEF-E459-42B1-1E93-B2669709BCE1}"/>
              </a:ext>
            </a:extLst>
          </p:cNvPr>
          <p:cNvSpPr txBox="1"/>
          <p:nvPr/>
        </p:nvSpPr>
        <p:spPr>
          <a:xfrm>
            <a:off x="6641674" y="4224527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Sau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4E68EA-34D1-357E-2776-D6227589FBE0}"/>
              </a:ext>
            </a:extLst>
          </p:cNvPr>
          <p:cNvSpPr txBox="1"/>
          <p:nvPr/>
        </p:nvSpPr>
        <p:spPr>
          <a:xfrm>
            <a:off x="9116732" y="4224527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Sau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1957072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02612-71A4-D199-869B-1572AF300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0FC5BE5-4087-46E7-2E62-A6181A887F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2438" y="2517788"/>
            <a:ext cx="7827123" cy="2194234"/>
          </a:xfrm>
        </p:spPr>
        <p:txBody>
          <a:bodyPr/>
          <a:lstStyle/>
          <a:p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6F79C-F257-E5A6-C1BE-C30315F7D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761970"/>
            <a:fld id="{31D26D55-0A22-487A-A687-61FB58A6F16A}" type="slidenum">
              <a:rPr lang="en-US">
                <a:solidFill>
                  <a:prstClr val="white"/>
                </a:solidFill>
              </a:rPr>
              <a:pPr defTabSz="761970"/>
              <a:t>19</a:t>
            </a:fld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27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3B773-E71D-124D-EDBC-4F14B6BEC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297F2-1CFC-8DE8-E9F9-02BE325FA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Trình</a:t>
            </a:r>
            <a:r>
              <a:rPr lang="en-US" sz="2800" dirty="0"/>
              <a:t> </a:t>
            </a:r>
            <a:r>
              <a:rPr lang="en-US" sz="2800" dirty="0" err="1"/>
              <a:t>diễn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ràng</a:t>
            </a:r>
            <a:r>
              <a:rPr lang="en-US" sz="2800" dirty="0"/>
              <a:t> </a:t>
            </a:r>
            <a:r>
              <a:rPr lang="en-US" sz="2800" dirty="0" err="1"/>
              <a:t>buộc</a:t>
            </a:r>
            <a:r>
              <a:rPr lang="en-US" sz="2800" dirty="0"/>
              <a:t> </a:t>
            </a:r>
            <a:r>
              <a:rPr lang="en-US" sz="2800" dirty="0" err="1"/>
              <a:t>không</a:t>
            </a:r>
            <a:r>
              <a:rPr lang="en-US" sz="2800" dirty="0"/>
              <a:t> </a:t>
            </a:r>
            <a:r>
              <a:rPr lang="en-US" sz="2800" dirty="0" err="1"/>
              <a:t>gian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32F4E3-CDA6-379E-F855-C2EDB8AA8BFC}"/>
              </a:ext>
            </a:extLst>
          </p:cNvPr>
          <p:cNvSpPr txBox="1"/>
          <p:nvPr/>
        </p:nvSpPr>
        <p:spPr>
          <a:xfrm>
            <a:off x="762466" y="657698"/>
            <a:ext cx="10448459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>
                <a:latin typeface="+mj-lt"/>
              </a:rPr>
              <a:t>Định nghĩa:</a:t>
            </a:r>
            <a:endParaRPr lang="en-US" sz="2000" b="1" dirty="0">
              <a:latin typeface="+mj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Trình diễn với ràng buộc không gian (spatial presentation): </a:t>
            </a:r>
            <a:r>
              <a:rPr lang="en-US" sz="2000" b="1">
                <a:solidFill>
                  <a:schemeClr val="bg2">
                    <a:lumMod val="25000"/>
                  </a:schemeClr>
                </a:solidFill>
              </a:rPr>
              <a:t>SP = (O, DC)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>
                <a:solidFill>
                  <a:schemeClr val="bg2">
                    <a:lumMod val="25000"/>
                  </a:schemeClr>
                </a:solidFill>
              </a:rPr>
              <a:t>tập các đối tượng, O = {o</a:t>
            </a:r>
            <a:r>
              <a:rPr lang="pt-BR" sz="2000" baseline="-25000">
                <a:solidFill>
                  <a:schemeClr val="bg2">
                    <a:lumMod val="25000"/>
                  </a:schemeClr>
                </a:solidFill>
              </a:rPr>
              <a:t>1</a:t>
            </a:r>
            <a:r>
              <a:rPr lang="pt-BR" sz="2000">
                <a:solidFill>
                  <a:schemeClr val="bg2">
                    <a:lumMod val="25000"/>
                  </a:schemeClr>
                </a:solidFill>
              </a:rPr>
              <a:t>, o</a:t>
            </a:r>
            <a:r>
              <a:rPr lang="pt-BR" sz="2000" baseline="-25000">
                <a:solidFill>
                  <a:schemeClr val="bg2">
                    <a:lumMod val="25000"/>
                  </a:schemeClr>
                </a:solidFill>
              </a:rPr>
              <a:t>2</a:t>
            </a:r>
            <a:r>
              <a:rPr lang="pt-BR" sz="2000">
                <a:solidFill>
                  <a:schemeClr val="bg2">
                    <a:lumMod val="25000"/>
                  </a:schemeClr>
                </a:solidFill>
              </a:rPr>
              <a:t>, …, o</a:t>
            </a:r>
            <a:r>
              <a:rPr lang="pt-BR" sz="2000" baseline="-25000">
                <a:solidFill>
                  <a:schemeClr val="bg2">
                    <a:lumMod val="25000"/>
                  </a:schemeClr>
                </a:solidFill>
              </a:rPr>
              <a:t>3</a:t>
            </a:r>
            <a:r>
              <a:rPr lang="pt-BR" sz="2000">
                <a:solidFill>
                  <a:schemeClr val="bg2">
                    <a:lumMod val="25000"/>
                  </a:schemeClr>
                </a:solidFill>
              </a:rPr>
              <a:t>}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Mỗi đối tượng có các biến cho mỗi oi </a:t>
            </a:r>
            <a:endParaRPr lang="en-US" sz="2000">
              <a:solidFill>
                <a:schemeClr val="bg2">
                  <a:lumMod val="25000"/>
                </a:schemeClr>
              </a:solidFill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b="1">
                <a:solidFill>
                  <a:schemeClr val="bg2">
                    <a:lumMod val="25000"/>
                  </a:schemeClr>
                </a:solidFill>
              </a:rPr>
              <a:t>W</a:t>
            </a:r>
            <a:r>
              <a:rPr lang="vi-VN" sz="2000" b="1" baseline="-25000">
                <a:solidFill>
                  <a:schemeClr val="bg2">
                    <a:lumMod val="25000"/>
                  </a:schemeClr>
                </a:solidFill>
              </a:rPr>
              <a:t>i</a:t>
            </a:r>
            <a:r>
              <a:rPr lang="vi-VN" sz="2000" b="1">
                <a:solidFill>
                  <a:schemeClr val="bg2">
                    <a:lumMod val="25000"/>
                  </a:schemeClr>
                </a:solidFill>
              </a:rPr>
              <a:t>, H</a:t>
            </a:r>
            <a:r>
              <a:rPr lang="vi-VN" sz="2000" b="1" baseline="-25000">
                <a:solidFill>
                  <a:schemeClr val="bg2">
                    <a:lumMod val="25000"/>
                  </a:schemeClr>
                </a:solidFill>
              </a:rPr>
              <a:t>i</a:t>
            </a:r>
            <a:r>
              <a:rPr lang="vi-VN" sz="2000" b="1">
                <a:solidFill>
                  <a:schemeClr val="bg2">
                    <a:lumMod val="25000"/>
                  </a:schemeClr>
                </a:solidFill>
              </a:rPr>
              <a:t>, X</a:t>
            </a:r>
            <a:r>
              <a:rPr lang="vi-VN" sz="2000" b="1" baseline="-25000">
                <a:solidFill>
                  <a:schemeClr val="bg2">
                    <a:lumMod val="25000"/>
                  </a:schemeClr>
                </a:solidFill>
              </a:rPr>
              <a:t>i</a:t>
            </a:r>
            <a:r>
              <a:rPr lang="vi-VN" sz="2000" b="1">
                <a:solidFill>
                  <a:schemeClr val="bg2">
                    <a:lumMod val="25000"/>
                  </a:schemeClr>
                </a:solidFill>
              </a:rPr>
              <a:t>, Y</a:t>
            </a:r>
            <a:r>
              <a:rPr lang="vi-VN" sz="2000" b="1" baseline="-25000">
                <a:solidFill>
                  <a:schemeClr val="bg2">
                    <a:lumMod val="25000"/>
                  </a:schemeClr>
                </a:solidFill>
              </a:rPr>
              <a:t>i</a:t>
            </a:r>
            <a:r>
              <a:rPr lang="vi-VN" sz="2000" b="1">
                <a:solidFill>
                  <a:schemeClr val="bg2">
                    <a:lumMod val="25000"/>
                  </a:schemeClr>
                </a:solidFill>
              </a:rPr>
              <a:t>,</a:t>
            </a: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 R</a:t>
            </a:r>
            <a:r>
              <a:rPr lang="vi-VN" sz="2000" baseline="-25000">
                <a:solidFill>
                  <a:schemeClr val="bg2">
                    <a:lumMod val="25000"/>
                  </a:schemeClr>
                </a:solidFill>
              </a:rPr>
              <a:t>i</a:t>
            </a: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= W</a:t>
            </a:r>
            <a:r>
              <a:rPr lang="vi-VN" sz="2000" baseline="-25000">
                <a:solidFill>
                  <a:schemeClr val="bg2">
                    <a:lumMod val="25000"/>
                  </a:schemeClr>
                </a:solidFill>
              </a:rPr>
              <a:t>i</a:t>
            </a: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 + X</a:t>
            </a:r>
            <a:r>
              <a:rPr lang="vi-VN" sz="2000" baseline="-25000">
                <a:solidFill>
                  <a:schemeClr val="bg2">
                    <a:lumMod val="25000"/>
                  </a:schemeClr>
                </a:solidFill>
              </a:rPr>
              <a:t>i</a:t>
            </a: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, U</a:t>
            </a:r>
            <a:r>
              <a:rPr lang="vi-VN" sz="2000" baseline="-25000">
                <a:solidFill>
                  <a:schemeClr val="bg2">
                    <a:lumMod val="25000"/>
                  </a:schemeClr>
                </a:solidFill>
              </a:rPr>
              <a:t>i</a:t>
            </a: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= H</a:t>
            </a:r>
            <a:r>
              <a:rPr lang="vi-VN" sz="2000" baseline="-25000">
                <a:solidFill>
                  <a:schemeClr val="bg2">
                    <a:lumMod val="25000"/>
                  </a:schemeClr>
                </a:solidFill>
              </a:rPr>
              <a:t>i</a:t>
            </a: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 + Y</a:t>
            </a:r>
            <a:r>
              <a:rPr lang="vi-VN" sz="2000" baseline="-25000">
                <a:solidFill>
                  <a:schemeClr val="bg2">
                    <a:lumMod val="25000"/>
                  </a:schemeClr>
                </a:solidFill>
              </a:rPr>
              <a:t>i</a:t>
            </a:r>
            <a:endParaRPr lang="en-US" sz="2000" baseline="-25000">
              <a:solidFill>
                <a:schemeClr val="bg2">
                  <a:lumMod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DC: biểu diễn bằng các biến và giải quyết tương tự với ràng buộc thời gian (</a:t>
            </a:r>
            <a:r>
              <a:rPr lang="vi-VN" sz="2000" b="1">
                <a:solidFill>
                  <a:schemeClr val="bg2">
                    <a:lumMod val="25000"/>
                  </a:schemeClr>
                </a:solidFill>
              </a:rPr>
              <a:t>TP</a:t>
            </a:r>
            <a:r>
              <a:rPr lang="vi-VN" sz="2000">
                <a:solidFill>
                  <a:schemeClr val="bg2">
                    <a:lumMod val="25000"/>
                  </a:schemeClr>
                </a:solidFill>
              </a:rPr>
              <a:t>)</a:t>
            </a:r>
            <a:endParaRPr lang="en-US" sz="2000" b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6" name="Picture 5" descr="A diagram of a diagram of a liquid&#10;&#10;AI-generated content may be incorrect.">
            <a:extLst>
              <a:ext uri="{FF2B5EF4-FFF2-40B4-BE49-F238E27FC236}">
                <a16:creationId xmlns:a16="http://schemas.microsoft.com/office/drawing/2014/main" id="{87486FCC-4D74-61D7-3440-A70A4E926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797" y="3550315"/>
            <a:ext cx="3905795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4340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8F241-170D-96AB-17EF-15418B46B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B6A32-22AE-7452-57C9-639A02FEA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3Trình </a:t>
            </a:r>
            <a:r>
              <a:rPr lang="en-US" sz="2800" dirty="0" err="1"/>
              <a:t>diễn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ràng</a:t>
            </a:r>
            <a:r>
              <a:rPr lang="en-US" sz="2800" dirty="0"/>
              <a:t> </a:t>
            </a:r>
            <a:r>
              <a:rPr lang="en-US" sz="2800" dirty="0" err="1"/>
              <a:t>buộc</a:t>
            </a:r>
            <a:r>
              <a:rPr lang="en-US" sz="2800" dirty="0"/>
              <a:t> </a:t>
            </a:r>
            <a:r>
              <a:rPr lang="en-US" sz="2800" dirty="0" err="1"/>
              <a:t>không</a:t>
            </a:r>
            <a:r>
              <a:rPr lang="en-US" sz="2800" dirty="0"/>
              <a:t> </a:t>
            </a:r>
            <a:r>
              <a:rPr lang="en-US" sz="2800" dirty="0" err="1"/>
              <a:t>gian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48F504-DE21-F852-6B10-94407A0031D6}"/>
              </a:ext>
            </a:extLst>
          </p:cNvPr>
          <p:cNvSpPr txBox="1"/>
          <p:nvPr/>
        </p:nvSpPr>
        <p:spPr>
          <a:xfrm>
            <a:off x="762466" y="657698"/>
            <a:ext cx="10448459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>
                <a:latin typeface="+mj-lt"/>
              </a:rPr>
              <a:t>Ví dụ:</a:t>
            </a:r>
            <a:endParaRPr lang="en-US" sz="2000" b="1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sz="2000" b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5" name="Picture 4" descr="A close-up of a fish&#10;&#10;AI-generated content may be incorrect.">
            <a:extLst>
              <a:ext uri="{FF2B5EF4-FFF2-40B4-BE49-F238E27FC236}">
                <a16:creationId xmlns:a16="http://schemas.microsoft.com/office/drawing/2014/main" id="{8E73D4CD-E703-415C-0211-C025B7F9F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094" y="804571"/>
            <a:ext cx="4888750" cy="251013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B27445-AC71-7F0C-4CD8-54BA06B13C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4767" y="3543300"/>
            <a:ext cx="5612934" cy="233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996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007D6-E43A-ACDE-01C8-1DF0899B5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E506B-E050-10CA-8AF7-6CB1F56A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3. </a:t>
            </a:r>
            <a:r>
              <a:rPr lang="en-US" sz="2800" dirty="0" err="1"/>
              <a:t>Trình</a:t>
            </a:r>
            <a:r>
              <a:rPr lang="en-US" sz="2800" dirty="0"/>
              <a:t> </a:t>
            </a:r>
            <a:r>
              <a:rPr lang="en-US" sz="2800" dirty="0" err="1"/>
              <a:t>diễn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ràng</a:t>
            </a:r>
            <a:r>
              <a:rPr lang="en-US" sz="2800" dirty="0"/>
              <a:t> </a:t>
            </a:r>
            <a:r>
              <a:rPr lang="en-US" sz="2800" dirty="0" err="1"/>
              <a:t>buộc</a:t>
            </a:r>
            <a:r>
              <a:rPr lang="en-US" sz="2800" dirty="0"/>
              <a:t> </a:t>
            </a:r>
            <a:r>
              <a:rPr lang="en-US" sz="2800" dirty="0" err="1"/>
              <a:t>không</a:t>
            </a:r>
            <a:r>
              <a:rPr lang="en-US" sz="2800" dirty="0"/>
              <a:t> </a:t>
            </a:r>
            <a:r>
              <a:rPr lang="en-US" sz="2800" dirty="0" err="1"/>
              <a:t>gian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6698C3-1689-9382-E19D-4B11E7841C23}"/>
              </a:ext>
            </a:extLst>
          </p:cNvPr>
          <p:cNvSpPr txBox="1"/>
          <p:nvPr/>
        </p:nvSpPr>
        <p:spPr>
          <a:xfrm>
            <a:off x="762466" y="2308698"/>
            <a:ext cx="10448459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>
                <a:latin typeface="+mj-lt"/>
              </a:rPr>
              <a:t>Kết luận:</a:t>
            </a:r>
            <a:endParaRPr lang="en-US" sz="2000" b="1" dirty="0">
              <a:latin typeface="+mj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Trình diễn DL ĐPT với ràng buộc thời gian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Trình diễn DL ĐPT với ràng buộc không gian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Giải pháp cho bài toán trình diễn DL với các ràng buộc không gian/ thời gian</a:t>
            </a:r>
            <a:endParaRPr lang="en-US" sz="2000" b="1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508765"/>
      </p:ext>
    </p:extLst>
  </p:cSld>
  <p:clrMapOvr>
    <a:masterClrMapping/>
  </p:clrMapOvr>
</p:sld>
</file>

<file path=ppt/theme/theme1.xml><?xml version="1.0" encoding="utf-8"?>
<a:theme xmlns:a="http://schemas.openxmlformats.org/drawingml/2006/main" name="Opening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O3010-chapter1" id="{AB987AF6-F5B5-40B1-B7B2-011B4456F90D}" vid="{A1FCA969-387E-4DB4-9551-88DE0367AE2C}"/>
    </a:ext>
  </a:extLst>
</a:theme>
</file>

<file path=ppt/theme/theme2.xml><?xml version="1.0" encoding="utf-8"?>
<a:theme xmlns:a="http://schemas.openxmlformats.org/drawingml/2006/main" name="Body slide">
  <a:themeElements>
    <a:clrScheme name="pptx template 1">
      <a:dk1>
        <a:srgbClr val="0070C0"/>
      </a:dk1>
      <a:lt1>
        <a:sysClr val="window" lastClr="FFFFFF"/>
      </a:lt1>
      <a:dk2>
        <a:srgbClr val="0070C0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O3010-chapter1" id="{AB987AF6-F5B5-40B1-B7B2-011B4456F90D}" vid="{40093B85-BF9A-493F-85B6-14614628567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884</TotalTime>
  <Words>1357</Words>
  <Application>Microsoft Office PowerPoint</Application>
  <PresentationFormat>Widescreen</PresentationFormat>
  <Paragraphs>154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Arial</vt:lpstr>
      <vt:lpstr>Courier New</vt:lpstr>
      <vt:lpstr>Symbol</vt:lpstr>
      <vt:lpstr>Times New Roman</vt:lpstr>
      <vt:lpstr>Opening slide</vt:lpstr>
      <vt:lpstr>Body slide</vt:lpstr>
      <vt:lpstr>PowerPoint Presentation</vt:lpstr>
      <vt:lpstr>Mục lục</vt:lpstr>
      <vt:lpstr>Tổng quan</vt:lpstr>
      <vt:lpstr>Tổng quan</vt:lpstr>
      <vt:lpstr>Tổng quan</vt:lpstr>
      <vt:lpstr>PowerPoint Presentation</vt:lpstr>
      <vt:lpstr>Trình diễn với ràng buộc thời gian</vt:lpstr>
      <vt:lpstr>Trình diễn với ràng buộc thời gian</vt:lpstr>
      <vt:lpstr>Ngôn ngữ mô tả ràng buộc</vt:lpstr>
      <vt:lpstr>Trình diễn với ràng buộc thời gian</vt:lpstr>
      <vt:lpstr>Trình diễn với ràng buộc thời gian</vt:lpstr>
      <vt:lpstr>Thuật toán Bell-Ford</vt:lpstr>
      <vt:lpstr>Thuật toán Bell-Ford</vt:lpstr>
      <vt:lpstr>Thuật toán Bell-Ford</vt:lpstr>
      <vt:lpstr>Thuật toán Bell-Ford</vt:lpstr>
      <vt:lpstr>Thuật toán Bell-Ford</vt:lpstr>
      <vt:lpstr>Thuật toán Bell-Ford</vt:lpstr>
      <vt:lpstr>Thuật toán Bell-Ford</vt:lpstr>
      <vt:lpstr>PowerPoint Presentation</vt:lpstr>
      <vt:lpstr>Trình diễn với ràng buộc không gian</vt:lpstr>
      <vt:lpstr>3Trình diễn với ràng buộc không gian</vt:lpstr>
      <vt:lpstr>3. Trình diễn với ràng buộc không gian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Minh Hai Ngo</dc:creator>
  <cp:lastModifiedBy>Hung. Nguyen Viet - CMC ATI</cp:lastModifiedBy>
  <cp:revision>49</cp:revision>
  <dcterms:created xsi:type="dcterms:W3CDTF">2025-04-30T14:15:42Z</dcterms:created>
  <dcterms:modified xsi:type="dcterms:W3CDTF">2025-12-11T08:20:59Z</dcterms:modified>
</cp:coreProperties>
</file>