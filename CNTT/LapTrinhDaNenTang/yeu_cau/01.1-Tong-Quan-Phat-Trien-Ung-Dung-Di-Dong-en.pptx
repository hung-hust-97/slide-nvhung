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0" r:id="rId3"/>
  </p:sldMasterIdLst>
  <p:notesMasterIdLst>
    <p:notesMasterId r:id="rId13"/>
  </p:notesMasterIdLst>
  <p:sldIdLst>
    <p:sldId id="267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744135" y="2597642"/>
            <a:ext cx="12960668" cy="26330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76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744134" y="5320406"/>
            <a:ext cx="12960668" cy="4953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sub-title</a:t>
            </a:r>
            <a:endParaRPr lang="en-US" dirty="0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8560" y="779145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6999" y="1906924"/>
            <a:ext cx="13155431" cy="5486400"/>
          </a:xfrm>
        </p:spPr>
        <p:txBody>
          <a:bodyPr/>
          <a:lstStyle>
            <a:lvl1pPr marL="0" indent="0" algn="l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7" name="Title 1"/>
          <p:cNvSpPr txBox="1"/>
          <p:nvPr userDrawn="1"/>
        </p:nvSpPr>
        <p:spPr>
          <a:xfrm>
            <a:off x="3973646" y="-13709"/>
            <a:ext cx="10656755" cy="947534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29085" y="23152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7000" y="1917577"/>
            <a:ext cx="13166084" cy="5494778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29085" y="23152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7001" y="1917578"/>
            <a:ext cx="13166084" cy="5497052"/>
          </a:xfrm>
        </p:spPr>
        <p:txBody>
          <a:bodyPr/>
          <a:lstStyle>
            <a:lvl1pPr marL="0" indent="0">
              <a:buNone/>
              <a:defRPr sz="2880">
                <a:solidFill>
                  <a:srgbClr val="0070C0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7000" y="1928230"/>
            <a:ext cx="6568200" cy="5484126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27130" y="1928230"/>
            <a:ext cx="6568199" cy="5484126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7000" y="1923930"/>
            <a:ext cx="6568200" cy="988694"/>
          </a:xfrm>
        </p:spPr>
        <p:txBody>
          <a:bodyPr anchor="b"/>
          <a:lstStyle>
            <a:lvl1pPr marL="0" indent="0">
              <a:buNone/>
              <a:defRPr sz="2880" b="1">
                <a:latin typeface="+mj-lt"/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6999" y="3014858"/>
            <a:ext cx="6568199" cy="441273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15201" y="1923930"/>
            <a:ext cx="6568199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315199" y="3014858"/>
            <a:ext cx="6568200" cy="441273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3181" y="1928230"/>
            <a:ext cx="7947173" cy="5475746"/>
          </a:xfrm>
        </p:spPr>
        <p:txBody>
          <a:bodyPr/>
          <a:lstStyle>
            <a:lvl1pPr>
              <a:defRPr sz="3840">
                <a:latin typeface="+mj-lt"/>
              </a:defRPr>
            </a:lvl1pPr>
            <a:lvl2pPr>
              <a:defRPr sz="3360">
                <a:latin typeface="+mj-lt"/>
              </a:defRPr>
            </a:lvl2pPr>
            <a:lvl3pPr>
              <a:defRPr sz="2880">
                <a:latin typeface="+mj-lt"/>
              </a:defRPr>
            </a:lvl3pPr>
            <a:lvl4pPr>
              <a:defRPr sz="2400">
                <a:latin typeface="+mj-lt"/>
              </a:defRPr>
            </a:lvl4pPr>
            <a:lvl5pPr>
              <a:defRPr sz="2400">
                <a:latin typeface="+mj-lt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00" y="1928231"/>
            <a:ext cx="4809852" cy="547574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59262" y="1928230"/>
            <a:ext cx="8011092" cy="5465093"/>
          </a:xfrm>
        </p:spPr>
        <p:txBody>
          <a:bodyPr>
            <a:normAutofit/>
          </a:bodyPr>
          <a:lstStyle>
            <a:lvl1pPr marL="0" indent="0">
              <a:buNone/>
              <a:defRPr sz="336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00" y="1928231"/>
            <a:ext cx="4779926" cy="5465093"/>
          </a:xfrm>
        </p:spPr>
        <p:txBody>
          <a:bodyPr>
            <a:normAutofit/>
          </a:bodyPr>
          <a:lstStyle>
            <a:lvl1pPr marL="0" indent="0">
              <a:buNone/>
              <a:defRPr sz="28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29085" y="13105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6999" y="1917578"/>
            <a:ext cx="13155431" cy="549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6999" y="1906924"/>
            <a:ext cx="13155431" cy="55054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3" Type="http://schemas.openxmlformats.org/officeDocument/2006/relationships/theme" Target="../theme/theme2.xml"/><Relationship Id="rId12" Type="http://schemas.openxmlformats.org/officeDocument/2006/relationships/image" Target="../media/image4.png"/><Relationship Id="rId11" Type="http://schemas.openxmlformats.org/officeDocument/2006/relationships/image" Target="../media/image3.jpeg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909" y="832674"/>
            <a:ext cx="3516583" cy="157936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8560" y="7773417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7655" y="28597"/>
            <a:ext cx="10975981" cy="560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7000" y="1576675"/>
            <a:ext cx="13136400" cy="5835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8560" y="779145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8661" y="153680"/>
            <a:ext cx="1744740" cy="3099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hdr="0" ftr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2760" b="1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j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j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3" Type="http://schemas.openxmlformats.org/officeDocument/2006/relationships/slideLayout" Target="../slideLayouts/slideLayout5.xml"/><Relationship Id="rId12" Type="http://schemas.openxmlformats.org/officeDocument/2006/relationships/image" Target="../media/image22.png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443726" y="2935573"/>
            <a:ext cx="9940431" cy="2633081"/>
          </a:xfrm>
        </p:spPr>
        <p:txBody>
          <a:bodyPr/>
          <a:lstStyle/>
          <a:p>
            <a:r>
              <a:rPr lang="en-US" altLang="en-US" sz="6000"/>
              <a:t>Cross-platform application development</a:t>
            </a:r>
            <a:endParaRPr lang="en-US" altLang="en-US" sz="6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44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44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44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</a:fld>
            <a:endParaRPr kumimoji="0" lang="en-US" sz="144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1626" y="592641"/>
            <a:ext cx="5098774" cy="7636959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793790" y="1789986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Overview of Mobile App Development</a:t>
            </a:r>
            <a:endParaRPr lang="en-US" sz="4450"/>
          </a:p>
        </p:txBody>
      </p:sp>
      <p:sp>
        <p:nvSpPr>
          <p:cNvPr id="12" name="Text 1"/>
          <p:cNvSpPr/>
          <p:nvPr/>
        </p:nvSpPr>
        <p:spPr>
          <a:xfrm>
            <a:off x="793790" y="3530800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altLang="en-US" sz="1750">
                <a:latin typeface="Arial" panose="020B0604020202020204" pitchFamily="34" charset="0"/>
                <a:cs typeface="Arial" panose="020B0604020202020204" pitchFamily="34" charset="0"/>
              </a:rPr>
              <a:t>Nowadays, mobile applications are becoming more and more popular.</a:t>
            </a:r>
            <a:endParaRPr lang="en-US" altLang="en-US" sz="1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2"/>
          <p:cNvSpPr/>
          <p:nvPr/>
        </p:nvSpPr>
        <p:spPr>
          <a:xfrm>
            <a:off x="793789" y="4139573"/>
            <a:ext cx="7556421" cy="4857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altLang="en-US" sz="1750">
                <a:latin typeface="Arial" panose="020B0604020202020204" pitchFamily="34" charset="0"/>
                <a:cs typeface="Arial" panose="020B0604020202020204" pitchFamily="34" charset="0"/>
              </a:rPr>
              <a:t>Users are moving from desktop to mobile experience.</a:t>
            </a:r>
            <a:endParaRPr lang="en-US" altLang="en-US" sz="17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altLang="en-US" sz="1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3"/>
          <p:cNvSpPr/>
          <p:nvPr/>
        </p:nvSpPr>
        <p:spPr>
          <a:xfrm>
            <a:off x="793787" y="4871197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altLang="en-US" sz="1750">
                <a:latin typeface="Arial" panose="020B0604020202020204" pitchFamily="34" charset="0"/>
                <a:cs typeface="Arial" panose="020B0604020202020204" pitchFamily="34" charset="0"/>
              </a:rPr>
              <a:t>For the average user, a computer is only useful for work.</a:t>
            </a:r>
            <a:endParaRPr lang="en-US" altLang="en-US" sz="1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4"/>
          <p:cNvSpPr/>
          <p:nvPr/>
        </p:nvSpPr>
        <p:spPr>
          <a:xfrm>
            <a:off x="793788" y="5479970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altLang="en-US" sz="1750">
                <a:latin typeface="Arial" panose="020B0604020202020204" pitchFamily="34" charset="0"/>
                <a:cs typeface="Arial" panose="020B0604020202020204" pitchFamily="34" charset="0"/>
              </a:rPr>
              <a:t>The most popular operating systems are iOS and Android.</a:t>
            </a:r>
            <a:endParaRPr lang="en-US" altLang="en-US" sz="1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793790" y="639972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D26D55-0A22-487A-A687-61FB58A6F16A}" type="slidenum">
              <a:rPr lang="en-US" smtClean="0"/>
            </a:fld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4760" y="587494"/>
            <a:ext cx="5085160" cy="762774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793790" y="685800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The Prospect of Mobile Application</a:t>
            </a:r>
            <a:endParaRPr lang="en-US" sz="4450"/>
          </a:p>
        </p:txBody>
      </p:sp>
      <p:sp>
        <p:nvSpPr>
          <p:cNvPr id="8" name="Shape 1"/>
          <p:cNvSpPr/>
          <p:nvPr/>
        </p:nvSpPr>
        <p:spPr>
          <a:xfrm>
            <a:off x="1048941" y="2443520"/>
            <a:ext cx="30480" cy="5100280"/>
          </a:xfrm>
          <a:prstGeom prst="roundRect">
            <a:avLst>
              <a:gd name="adj" fmla="val 312558"/>
            </a:avLst>
          </a:prstGeom>
          <a:solidFill>
            <a:srgbClr val="B3CFE4"/>
          </a:solidFill>
        </p:spPr>
      </p:sp>
      <p:sp>
        <p:nvSpPr>
          <p:cNvPr id="9" name="Shape 2"/>
          <p:cNvSpPr/>
          <p:nvPr/>
        </p:nvSpPr>
        <p:spPr>
          <a:xfrm>
            <a:off x="1273612" y="2938582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3CFE4"/>
          </a:solidFill>
        </p:spPr>
      </p:sp>
      <p:sp>
        <p:nvSpPr>
          <p:cNvPr id="10" name="Shape 3"/>
          <p:cNvSpPr/>
          <p:nvPr/>
        </p:nvSpPr>
        <p:spPr>
          <a:xfrm>
            <a:off x="793790" y="269867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DE9FE"/>
          </a:solidFill>
          <a:ln w="7620">
            <a:solidFill>
              <a:srgbClr val="B3CFE4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60" y="2741176"/>
            <a:ext cx="340162" cy="425291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2183011" y="267033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altLang="en-US" sz="2200" b="1">
                <a:latin typeface="Arial" panose="020B0604020202020204" pitchFamily="34" charset="0"/>
                <a:cs typeface="Arial" panose="020B0604020202020204" pitchFamily="34" charset="0"/>
              </a:rPr>
              <a:t>Uptrend</a:t>
            </a:r>
            <a:endParaRPr lang="en-US" altLang="en-US" sz="2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5"/>
          <p:cNvSpPr/>
          <p:nvPr/>
        </p:nvSpPr>
        <p:spPr>
          <a:xfrm>
            <a:off x="2183011" y="3160752"/>
            <a:ext cx="616719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altLang="en-US" sz="1750">
                <a:latin typeface="Arial" panose="020B0604020202020204" pitchFamily="34" charset="0"/>
                <a:cs typeface="Arial" panose="020B0604020202020204" pitchFamily="34" charset="0"/>
              </a:rPr>
              <a:t>Global users are spending more time on mobile devices.</a:t>
            </a:r>
            <a:endParaRPr lang="en-US" altLang="en-US" sz="1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1273612" y="4835247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3CFE4"/>
          </a:solidFill>
        </p:spPr>
      </p:sp>
      <p:sp>
        <p:nvSpPr>
          <p:cNvPr id="15" name="Shape 7"/>
          <p:cNvSpPr/>
          <p:nvPr/>
        </p:nvSpPr>
        <p:spPr>
          <a:xfrm>
            <a:off x="793790" y="459533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DE9FE"/>
          </a:solidFill>
          <a:ln w="7620">
            <a:solidFill>
              <a:srgbClr val="B3CFE4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4637842"/>
            <a:ext cx="340162" cy="425291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2183011" y="456699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altLang="en-US" sz="2200" b="1">
                <a:latin typeface="Arial" panose="020B0604020202020204" pitchFamily="34" charset="0"/>
                <a:cs typeface="Arial" panose="020B0604020202020204" pitchFamily="34" charset="0"/>
              </a:rPr>
              <a:t>USA</a:t>
            </a:r>
            <a:endParaRPr lang="en-US" altLang="en-US" sz="2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9"/>
          <p:cNvSpPr/>
          <p:nvPr/>
        </p:nvSpPr>
        <p:spPr>
          <a:xfrm>
            <a:off x="2183130" y="5057140"/>
            <a:ext cx="594042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altLang="en-US" sz="1750">
                <a:latin typeface="Arial" panose="020B0604020202020204" pitchFamily="34" charset="0"/>
                <a:cs typeface="Arial" panose="020B0604020202020204" pitchFamily="34" charset="0"/>
              </a:rPr>
              <a:t>Mobile usage time increased by 60% from 6/2017 to  6/2025 (2h31 min → 4h02 min).</a:t>
            </a:r>
            <a:endParaRPr lang="en-US" altLang="en-US" sz="1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0"/>
          <p:cNvSpPr/>
          <p:nvPr/>
        </p:nvSpPr>
        <p:spPr>
          <a:xfrm>
            <a:off x="1273612" y="6731913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3CFE4"/>
          </a:solidFill>
        </p:spPr>
      </p:sp>
      <p:sp>
        <p:nvSpPr>
          <p:cNvPr id="20" name="Shape 11"/>
          <p:cNvSpPr/>
          <p:nvPr/>
        </p:nvSpPr>
        <p:spPr>
          <a:xfrm>
            <a:off x="793790" y="649200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DE9FE"/>
          </a:solidFill>
          <a:ln w="7620">
            <a:solidFill>
              <a:srgbClr val="B3CFE4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6534507"/>
            <a:ext cx="340162" cy="425291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2183011" y="646366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altLang="en-US" sz="2200" b="1">
                <a:latin typeface="Arial" panose="020B0604020202020204" pitchFamily="34" charset="0"/>
                <a:cs typeface="Arial" panose="020B0604020202020204" pitchFamily="34" charset="0"/>
              </a:rPr>
              <a:t>Challenge</a:t>
            </a:r>
            <a:endParaRPr lang="en-US" altLang="en-US" sz="2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2183011" y="6954083"/>
            <a:ext cx="616719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altLang="en-US" sz="1750">
                <a:latin typeface="Arial" panose="020B0604020202020204" pitchFamily="34" charset="0"/>
                <a:cs typeface="Arial" panose="020B0604020202020204" pitchFamily="34" charset="0"/>
              </a:rPr>
              <a:t>25% of apps are used only once.</a:t>
            </a:r>
            <a:endParaRPr lang="en-US" altLang="en-US" sz="1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0865316" y="7627621"/>
            <a:ext cx="3291840" cy="438150"/>
          </a:xfrm>
        </p:spPr>
        <p:txBody>
          <a:bodyPr/>
          <a:lstStyle/>
          <a:p>
            <a:fld id="{31D26D55-0A22-487A-A687-61FB58A6F16A}" type="slidenum">
              <a:rPr lang="en-US" smtClean="0"/>
            </a:fld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79452"/>
            <a:ext cx="5080221" cy="7620331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6045756" y="893088"/>
            <a:ext cx="6978729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User Experience Cocept</a:t>
            </a:r>
            <a:endParaRPr lang="en-US" sz="4450"/>
          </a:p>
        </p:txBody>
      </p:sp>
      <p:sp>
        <p:nvSpPr>
          <p:cNvPr id="20" name="Shape 1"/>
          <p:cNvSpPr/>
          <p:nvPr/>
        </p:nvSpPr>
        <p:spPr>
          <a:xfrm>
            <a:off x="6045756" y="2650808"/>
            <a:ext cx="3376017" cy="2773799"/>
          </a:xfrm>
          <a:prstGeom prst="roundRect">
            <a:avLst>
              <a:gd name="adj" fmla="val 3435"/>
            </a:avLst>
          </a:prstGeom>
          <a:solidFill>
            <a:srgbClr val="CDE9FE"/>
          </a:solidFill>
          <a:ln w="7620">
            <a:solidFill>
              <a:srgbClr val="B3CFE4"/>
            </a:solidFill>
            <a:prstDash val="solid"/>
          </a:ln>
        </p:spPr>
      </p:sp>
      <p:sp>
        <p:nvSpPr>
          <p:cNvPr id="21" name="Text 2"/>
          <p:cNvSpPr/>
          <p:nvPr/>
        </p:nvSpPr>
        <p:spPr>
          <a:xfrm>
            <a:off x="6280190" y="288524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Definition of Ux</a:t>
            </a:r>
            <a:endParaRPr lang="en-US" sz="2200"/>
          </a:p>
        </p:txBody>
      </p:sp>
      <p:sp>
        <p:nvSpPr>
          <p:cNvPr id="22" name="Text 3"/>
          <p:cNvSpPr/>
          <p:nvPr/>
        </p:nvSpPr>
        <p:spPr>
          <a:xfrm>
            <a:off x="6280190" y="3375660"/>
            <a:ext cx="2907149" cy="18145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altLang="en-US" sz="175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experience refers to a user's interaction with a product, application, or operating system.</a:t>
            </a:r>
            <a:endParaRPr lang="en-US" altLang="en-US" sz="175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9648587" y="2650808"/>
            <a:ext cx="3376017" cy="2773799"/>
          </a:xfrm>
          <a:prstGeom prst="roundRect">
            <a:avLst>
              <a:gd name="adj" fmla="val 3435"/>
            </a:avLst>
          </a:prstGeom>
          <a:solidFill>
            <a:srgbClr val="CDE9FE"/>
          </a:solidFill>
          <a:ln w="7620">
            <a:solidFill>
              <a:srgbClr val="B3CFE4"/>
            </a:solidFill>
            <a:prstDash val="solid"/>
          </a:ln>
        </p:spPr>
      </p:sp>
      <p:sp>
        <p:nvSpPr>
          <p:cNvPr id="24" name="Text 5"/>
          <p:cNvSpPr/>
          <p:nvPr/>
        </p:nvSpPr>
        <p:spPr>
          <a:xfrm>
            <a:off x="9883140" y="2885440"/>
            <a:ext cx="2764155" cy="7086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lvl="0" algn="l">
              <a:lnSpc>
                <a:spcPts val="2750"/>
              </a:lnSpc>
              <a:buClrTx/>
              <a:buSzTx/>
              <a:buFontTx/>
            </a:pPr>
            <a:r>
              <a:rPr lang="en-US" sz="2200" b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sym typeface="+mn-ea"/>
              </a:rPr>
              <a:t>More than just the</a:t>
            </a:r>
            <a:endParaRPr lang="en-US" sz="2200" b="1">
              <a:solidFill>
                <a:srgbClr val="000000"/>
              </a:solidFill>
              <a:latin typeface="Arial" panose="020B0604020202020204" pitchFamily="34" charset="0"/>
              <a:ea typeface="Inter Bold" pitchFamily="34" charset="-122"/>
              <a:cs typeface="Arial" panose="020B0604020202020204" pitchFamily="34" charset="0"/>
              <a:sym typeface="+mn-ea"/>
            </a:endParaRPr>
          </a:p>
          <a:p>
            <a:pPr lvl="0" algn="l">
              <a:lnSpc>
                <a:spcPts val="2750"/>
              </a:lnSpc>
              <a:buClrTx/>
              <a:buSzTx/>
              <a:buFontTx/>
            </a:pPr>
            <a:r>
              <a:rPr lang="en-US" sz="2200" b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sym typeface="+mn-ea"/>
              </a:rPr>
              <a:t>interface</a:t>
            </a:r>
            <a:endParaRPr lang="en-US" sz="2200" b="1">
              <a:solidFill>
                <a:srgbClr val="000000"/>
              </a:solidFill>
              <a:latin typeface="Arial" panose="020B0604020202020204" pitchFamily="34" charset="0"/>
              <a:ea typeface="Inter Bold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5" name="Text 6"/>
          <p:cNvSpPr/>
          <p:nvPr/>
        </p:nvSpPr>
        <p:spPr>
          <a:xfrm>
            <a:off x="9883021" y="3729990"/>
            <a:ext cx="290714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altLang="en-US" sz="175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UX is not necessarily about designing an interface with beautiful colors and easy-to-read fonts.</a:t>
            </a:r>
            <a:endParaRPr lang="en-US" altLang="en-US" sz="175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6045756" y="5651421"/>
            <a:ext cx="6978729" cy="1685092"/>
          </a:xfrm>
          <a:prstGeom prst="roundRect">
            <a:avLst>
              <a:gd name="adj" fmla="val 5654"/>
            </a:avLst>
          </a:prstGeom>
          <a:solidFill>
            <a:srgbClr val="CDE9FE"/>
          </a:solidFill>
          <a:ln w="7620">
            <a:solidFill>
              <a:srgbClr val="B3CFE4"/>
            </a:solidFill>
            <a:prstDash val="solid"/>
          </a:ln>
        </p:spPr>
      </p:sp>
      <p:sp>
        <p:nvSpPr>
          <p:cNvPr id="27" name="Text 8"/>
          <p:cNvSpPr/>
          <p:nvPr/>
        </p:nvSpPr>
        <p:spPr>
          <a:xfrm>
            <a:off x="6280190" y="588585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Influencing factors</a:t>
            </a:r>
            <a:endParaRPr lang="en-US" altLang="en-US" sz="2200"/>
          </a:p>
        </p:txBody>
      </p:sp>
      <p:sp>
        <p:nvSpPr>
          <p:cNvPr id="28" name="Text 9"/>
          <p:cNvSpPr/>
          <p:nvPr/>
        </p:nvSpPr>
        <p:spPr>
          <a:xfrm>
            <a:off x="6280190" y="6376273"/>
            <a:ext cx="650986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altLang="en-US" sz="175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 time, interface</a:t>
            </a:r>
            <a:r>
              <a:rPr lang="en-US" altLang="en-US" sz="175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icons, interaction with device hardware.</a:t>
            </a:r>
            <a:endParaRPr lang="en-US" altLang="en-US" sz="175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6" name="Text 0"/>
          <p:cNvSpPr/>
          <p:nvPr/>
        </p:nvSpPr>
        <p:spPr>
          <a:xfrm>
            <a:off x="3008888" y="830759"/>
            <a:ext cx="7958018" cy="6400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altLang="en-US" sz="4000" b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Experience Honeycomb</a:t>
            </a:r>
            <a:endParaRPr lang="en-US" altLang="en-US" sz="4000" b="1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8182" y="3678436"/>
            <a:ext cx="8779431" cy="8779431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859" y="7000042"/>
            <a:ext cx="345638" cy="431959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8182" y="3678436"/>
            <a:ext cx="8779431" cy="8779431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989" y="5524143"/>
            <a:ext cx="345638" cy="431959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8182" y="3678436"/>
            <a:ext cx="8779431" cy="8779431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2888" y="4672013"/>
            <a:ext cx="345638" cy="431959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8182" y="3678436"/>
            <a:ext cx="8779431" cy="8779431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7030" y="4672013"/>
            <a:ext cx="345638" cy="431959"/>
          </a:xfrm>
          <a:prstGeom prst="rect">
            <a:avLst/>
          </a:prstGeom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98182" y="3678436"/>
            <a:ext cx="8779431" cy="8779431"/>
          </a:xfrm>
          <a:prstGeom prst="rect">
            <a:avLst/>
          </a:prstGeom>
        </p:spPr>
      </p:pic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2928" y="5524143"/>
            <a:ext cx="345638" cy="431959"/>
          </a:xfrm>
          <a:prstGeom prst="rect">
            <a:avLst/>
          </a:prstGeom>
        </p:spPr>
      </p:pic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98182" y="3678436"/>
            <a:ext cx="8779431" cy="8779431"/>
          </a:xfrm>
          <a:prstGeom prst="rect">
            <a:avLst/>
          </a:prstGeom>
        </p:spPr>
      </p:pic>
      <p:pic>
        <p:nvPicPr>
          <p:cNvPr id="18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95059" y="7000042"/>
            <a:ext cx="345638" cy="431959"/>
          </a:xfrm>
          <a:prstGeom prst="rect">
            <a:avLst/>
          </a:prstGeom>
        </p:spPr>
      </p:pic>
      <p:sp>
        <p:nvSpPr>
          <p:cNvPr id="19" name="Text 1"/>
          <p:cNvSpPr/>
          <p:nvPr/>
        </p:nvSpPr>
        <p:spPr>
          <a:xfrm>
            <a:off x="717550" y="4156710"/>
            <a:ext cx="1834515" cy="4089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Usable</a:t>
            </a:r>
            <a:endParaRPr lang="en-US" sz="2000"/>
          </a:p>
        </p:txBody>
      </p:sp>
      <p:sp>
        <p:nvSpPr>
          <p:cNvPr id="20" name="Text 2"/>
          <p:cNvSpPr/>
          <p:nvPr/>
        </p:nvSpPr>
        <p:spPr>
          <a:xfrm>
            <a:off x="564515" y="4540885"/>
            <a:ext cx="2140585" cy="982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Simple and easy to use. Short learning curve.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3"/>
          <p:cNvSpPr/>
          <p:nvPr/>
        </p:nvSpPr>
        <p:spPr>
          <a:xfrm>
            <a:off x="2858770" y="3343275"/>
            <a:ext cx="1834515" cy="434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Useful</a:t>
            </a:r>
            <a:endParaRPr lang="en-US" sz="2000"/>
          </a:p>
        </p:txBody>
      </p:sp>
      <p:sp>
        <p:nvSpPr>
          <p:cNvPr id="22" name="Text 4"/>
          <p:cNvSpPr/>
          <p:nvPr/>
        </p:nvSpPr>
        <p:spPr>
          <a:xfrm>
            <a:off x="2858333" y="3687842"/>
            <a:ext cx="1834396" cy="655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Response users needs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5"/>
          <p:cNvSpPr/>
          <p:nvPr/>
        </p:nvSpPr>
        <p:spPr>
          <a:xfrm>
            <a:off x="4832350" y="2261235"/>
            <a:ext cx="1834515" cy="441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Desirable</a:t>
            </a:r>
            <a:endParaRPr lang="en-US" sz="2000"/>
          </a:p>
        </p:txBody>
      </p:sp>
      <p:sp>
        <p:nvSpPr>
          <p:cNvPr id="24" name="Text 6"/>
          <p:cNvSpPr/>
          <p:nvPr/>
        </p:nvSpPr>
        <p:spPr>
          <a:xfrm>
            <a:off x="4832271" y="2703195"/>
            <a:ext cx="1834396" cy="655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Intuitive, easy to understand aesthetics.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7"/>
          <p:cNvSpPr/>
          <p:nvPr/>
        </p:nvSpPr>
        <p:spPr>
          <a:xfrm>
            <a:off x="7141845" y="2249805"/>
            <a:ext cx="1834515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Findable</a:t>
            </a:r>
            <a:endParaRPr lang="en-US" sz="2000"/>
          </a:p>
        </p:txBody>
      </p:sp>
      <p:sp>
        <p:nvSpPr>
          <p:cNvPr id="26" name="Text 8"/>
          <p:cNvSpPr/>
          <p:nvPr/>
        </p:nvSpPr>
        <p:spPr>
          <a:xfrm>
            <a:off x="7027545" y="2705100"/>
            <a:ext cx="2061210" cy="982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Information is easy to navigate from anywhere.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9"/>
          <p:cNvSpPr/>
          <p:nvPr/>
        </p:nvSpPr>
        <p:spPr>
          <a:xfrm>
            <a:off x="9282430" y="2931795"/>
            <a:ext cx="1834515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Accessible</a:t>
            </a:r>
            <a:endParaRPr lang="en-US" sz="2000"/>
          </a:p>
        </p:txBody>
      </p:sp>
      <p:sp>
        <p:nvSpPr>
          <p:cNvPr id="28" name="Text 10"/>
          <p:cNvSpPr/>
          <p:nvPr/>
        </p:nvSpPr>
        <p:spPr>
          <a:xfrm>
            <a:off x="9142730" y="3450590"/>
            <a:ext cx="1987550" cy="982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Disabled users also have a good experience.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11424285" y="4232275"/>
            <a:ext cx="1834515" cy="3784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Credible</a:t>
            </a:r>
            <a:endParaRPr lang="en-US" sz="2000"/>
          </a:p>
        </p:txBody>
      </p:sp>
      <p:sp>
        <p:nvSpPr>
          <p:cNvPr id="30" name="Text 12"/>
          <p:cNvSpPr/>
          <p:nvPr/>
        </p:nvSpPr>
        <p:spPr>
          <a:xfrm>
            <a:off x="11424523" y="4672251"/>
            <a:ext cx="1834396" cy="982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Do not disclose user personal information.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D26D55-0A22-487A-A687-61FB58A6F16A}" type="slidenum">
              <a:rPr lang="en-US" smtClean="0"/>
            </a:fld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182" y="591378"/>
            <a:ext cx="5078896" cy="7618344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709493" y="958493"/>
            <a:ext cx="7725013" cy="12670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altLang="en-US" sz="3950" b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in Mobile Design</a:t>
            </a:r>
            <a:endParaRPr lang="en-US" altLang="en-US" sz="3950" b="1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709493" y="2518886"/>
            <a:ext cx="456128" cy="456128"/>
          </a:xfrm>
          <a:prstGeom prst="roundRect">
            <a:avLst>
              <a:gd name="adj" fmla="val 18668"/>
            </a:avLst>
          </a:prstGeom>
          <a:solidFill>
            <a:srgbClr val="CDE9FE"/>
          </a:solidFill>
          <a:ln w="7620">
            <a:solidFill>
              <a:srgbClr val="B3CFE4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55" y="2556867"/>
            <a:ext cx="304086" cy="380047"/>
          </a:xfrm>
          <a:prstGeom prst="rect">
            <a:avLst/>
          </a:prstGeom>
        </p:spPr>
      </p:pic>
      <p:sp>
        <p:nvSpPr>
          <p:cNvPr id="28" name="Text 2"/>
          <p:cNvSpPr/>
          <p:nvPr/>
        </p:nvSpPr>
        <p:spPr>
          <a:xfrm>
            <a:off x="1368266" y="2518886"/>
            <a:ext cx="2534126" cy="3167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altLang="en-US" sz="1950" b="1">
                <a:latin typeface="Arial" panose="020B0604020202020204" pitchFamily="34" charset="0"/>
                <a:cs typeface="Arial" panose="020B0604020202020204" pitchFamily="34" charset="0"/>
              </a:rPr>
              <a:t>Screen limits</a:t>
            </a:r>
            <a:endParaRPr lang="en-US" altLang="en-US" sz="195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3"/>
          <p:cNvSpPr/>
          <p:nvPr/>
        </p:nvSpPr>
        <p:spPr>
          <a:xfrm>
            <a:off x="1368266" y="2957155"/>
            <a:ext cx="7066240" cy="6486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altLang="en-US" sz="1550">
                <a:latin typeface="Arial" panose="020B0604020202020204" pitchFamily="34" charset="0"/>
                <a:cs typeface="Arial" panose="020B0604020202020204" pitchFamily="34" charset="0"/>
              </a:rPr>
              <a:t>Content needs to be rearranged or hidden when displayed on mobile screens.</a:t>
            </a:r>
            <a:endParaRPr lang="en-US" altLang="en-US" sz="15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4"/>
          <p:cNvSpPr/>
          <p:nvPr/>
        </p:nvSpPr>
        <p:spPr>
          <a:xfrm>
            <a:off x="709493" y="3727371"/>
            <a:ext cx="456128" cy="456128"/>
          </a:xfrm>
          <a:prstGeom prst="roundRect">
            <a:avLst>
              <a:gd name="adj" fmla="val 18668"/>
            </a:avLst>
          </a:prstGeom>
          <a:solidFill>
            <a:srgbClr val="CDE9FE"/>
          </a:solidFill>
          <a:ln w="7620">
            <a:solidFill>
              <a:srgbClr val="B3CFE4"/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55" y="3765352"/>
            <a:ext cx="304086" cy="380047"/>
          </a:xfrm>
          <a:prstGeom prst="rect">
            <a:avLst/>
          </a:prstGeom>
        </p:spPr>
      </p:pic>
      <p:sp>
        <p:nvSpPr>
          <p:cNvPr id="32" name="Text 5"/>
          <p:cNvSpPr/>
          <p:nvPr/>
        </p:nvSpPr>
        <p:spPr>
          <a:xfrm>
            <a:off x="1368266" y="3727371"/>
            <a:ext cx="2534126" cy="3167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>
                <a:solidFill>
                  <a:srgbClr val="0070C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Internet speed</a:t>
            </a:r>
            <a:endParaRPr lang="en-US" sz="1950"/>
          </a:p>
        </p:txBody>
      </p:sp>
      <p:sp>
        <p:nvSpPr>
          <p:cNvPr id="33" name="Text 6"/>
          <p:cNvSpPr/>
          <p:nvPr/>
        </p:nvSpPr>
        <p:spPr>
          <a:xfrm>
            <a:off x="1368425" y="4165600"/>
            <a:ext cx="7018655" cy="3244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altLang="en-US" sz="1550">
                <a:latin typeface="Arial" panose="020B0604020202020204" pitchFamily="34" charset="0"/>
                <a:cs typeface="Arial" panose="020B0604020202020204" pitchFamily="34" charset="0"/>
              </a:rPr>
              <a:t>If the access time increases from 1s to 10s, the probability of users </a:t>
            </a:r>
            <a:endParaRPr lang="en-US" altLang="en-US" sz="15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2550"/>
              </a:lnSpc>
              <a:buNone/>
            </a:pPr>
            <a:r>
              <a:rPr lang="en-US" altLang="en-US" sz="1550">
                <a:latin typeface="Arial" panose="020B0604020202020204" pitchFamily="34" charset="0"/>
                <a:cs typeface="Arial" panose="020B0604020202020204" pitchFamily="34" charset="0"/>
              </a:rPr>
              <a:t>abandoning increases by 123%.</a:t>
            </a:r>
            <a:endParaRPr lang="en-US" altLang="en-US" sz="15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7"/>
          <p:cNvSpPr/>
          <p:nvPr/>
        </p:nvSpPr>
        <p:spPr>
          <a:xfrm>
            <a:off x="709493" y="5020135"/>
            <a:ext cx="456128" cy="456128"/>
          </a:xfrm>
          <a:prstGeom prst="roundRect">
            <a:avLst>
              <a:gd name="adj" fmla="val 18668"/>
            </a:avLst>
          </a:prstGeom>
          <a:solidFill>
            <a:srgbClr val="CDE9FE"/>
          </a:solidFill>
          <a:ln w="7620">
            <a:solidFill>
              <a:srgbClr val="B3CFE4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55" y="5058116"/>
            <a:ext cx="304086" cy="380047"/>
          </a:xfrm>
          <a:prstGeom prst="rect">
            <a:avLst/>
          </a:prstGeom>
        </p:spPr>
      </p:pic>
      <p:sp>
        <p:nvSpPr>
          <p:cNvPr id="36" name="Text 8"/>
          <p:cNvSpPr/>
          <p:nvPr/>
        </p:nvSpPr>
        <p:spPr>
          <a:xfrm>
            <a:off x="1368266" y="5020135"/>
            <a:ext cx="2534126" cy="3167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altLang="en-US" sz="1950" b="1">
                <a:latin typeface="Arial" panose="020B0604020202020204" pitchFamily="34" charset="0"/>
                <a:cs typeface="Arial" panose="020B0604020202020204" pitchFamily="34" charset="0"/>
              </a:rPr>
              <a:t>Device limits</a:t>
            </a:r>
            <a:endParaRPr lang="en-US" altLang="en-US" sz="195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9"/>
          <p:cNvSpPr/>
          <p:nvPr/>
        </p:nvSpPr>
        <p:spPr>
          <a:xfrm>
            <a:off x="1368266" y="5458404"/>
            <a:ext cx="7066240" cy="3243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altLang="en-US" sz="1550">
                <a:latin typeface="Arial" panose="020B0604020202020204" pitchFamily="34" charset="0"/>
                <a:cs typeface="Arial" panose="020B0604020202020204" pitchFamily="34" charset="0"/>
              </a:rPr>
              <a:t>Experience changes as battery or storage capacity decreases.</a:t>
            </a:r>
            <a:endParaRPr lang="en-US" altLang="en-US" sz="15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10"/>
          <p:cNvSpPr/>
          <p:nvPr/>
        </p:nvSpPr>
        <p:spPr>
          <a:xfrm>
            <a:off x="709493" y="6172081"/>
            <a:ext cx="456128" cy="456128"/>
          </a:xfrm>
          <a:prstGeom prst="roundRect">
            <a:avLst>
              <a:gd name="adj" fmla="val 18668"/>
            </a:avLst>
          </a:prstGeom>
          <a:solidFill>
            <a:srgbClr val="CDE9FE"/>
          </a:solidFill>
          <a:ln w="7620">
            <a:solidFill>
              <a:srgbClr val="B3CFE4"/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455" y="6210062"/>
            <a:ext cx="304086" cy="380047"/>
          </a:xfrm>
          <a:prstGeom prst="rect">
            <a:avLst/>
          </a:prstGeom>
        </p:spPr>
      </p:pic>
      <p:sp>
        <p:nvSpPr>
          <p:cNvPr id="40" name="Text 11"/>
          <p:cNvSpPr/>
          <p:nvPr/>
        </p:nvSpPr>
        <p:spPr>
          <a:xfrm>
            <a:off x="1368266" y="6172081"/>
            <a:ext cx="2534126" cy="3167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altLang="en-US" sz="1950" b="1">
                <a:latin typeface="Arial" panose="020B0604020202020204" pitchFamily="34" charset="0"/>
                <a:cs typeface="Arial" panose="020B0604020202020204" pitchFamily="34" charset="0"/>
              </a:rPr>
              <a:t>Fragmentation</a:t>
            </a:r>
            <a:endParaRPr lang="en-US" altLang="en-US" sz="195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12"/>
          <p:cNvSpPr/>
          <p:nvPr/>
        </p:nvSpPr>
        <p:spPr>
          <a:xfrm>
            <a:off x="1368266" y="6610350"/>
            <a:ext cx="7066240" cy="6486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altLang="en-US" sz="1550">
                <a:latin typeface="Arial" panose="020B0604020202020204" pitchFamily="34" charset="0"/>
                <a:cs typeface="Arial" panose="020B0604020202020204" pitchFamily="34" charset="0"/>
              </a:rPr>
              <a:t>Different versions of operating systems make it difficult for developers.</a:t>
            </a:r>
            <a:endParaRPr lang="en-US" altLang="en-US" sz="15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32563"/>
            <a:ext cx="10975981" cy="548640"/>
          </a:xfrm>
        </p:spPr>
        <p:txBody>
          <a:bodyPr>
            <a:normAutofit/>
          </a:bodyPr>
          <a:lstStyle/>
          <a:p>
            <a:r>
              <a:rPr lang="en-US" altLang="en-US"/>
              <a:t>10 Laws of Mobile HCI</a:t>
            </a:r>
            <a:endParaRPr lang="en-US" altLang="en-US"/>
          </a:p>
        </p:txBody>
      </p:sp>
      <p:sp>
        <p:nvSpPr>
          <p:cNvPr id="60" name="Shape 1"/>
          <p:cNvSpPr/>
          <p:nvPr/>
        </p:nvSpPr>
        <p:spPr>
          <a:xfrm>
            <a:off x="6865739" y="1012388"/>
            <a:ext cx="15240" cy="6832163"/>
          </a:xfrm>
          <a:prstGeom prst="roundRect">
            <a:avLst>
              <a:gd name="adj" fmla="val 384272"/>
            </a:avLst>
          </a:prstGeom>
          <a:solidFill>
            <a:srgbClr val="B3CFE4"/>
          </a:solidFill>
        </p:spPr>
      </p:sp>
      <p:sp>
        <p:nvSpPr>
          <p:cNvPr id="61" name="Shape 2"/>
          <p:cNvSpPr/>
          <p:nvPr/>
        </p:nvSpPr>
        <p:spPr>
          <a:xfrm>
            <a:off x="6313468" y="1318379"/>
            <a:ext cx="418267" cy="15240"/>
          </a:xfrm>
          <a:prstGeom prst="roundRect">
            <a:avLst>
              <a:gd name="adj" fmla="val 384272"/>
            </a:avLst>
          </a:prstGeom>
          <a:solidFill>
            <a:srgbClr val="B3CFE4"/>
          </a:solidFill>
        </p:spPr>
      </p:sp>
      <p:sp>
        <p:nvSpPr>
          <p:cNvPr id="62" name="Shape 3"/>
          <p:cNvSpPr/>
          <p:nvPr/>
        </p:nvSpPr>
        <p:spPr>
          <a:xfrm>
            <a:off x="6716494" y="1169194"/>
            <a:ext cx="313730" cy="313730"/>
          </a:xfrm>
          <a:prstGeom prst="roundRect">
            <a:avLst>
              <a:gd name="adj" fmla="val 18667"/>
            </a:avLst>
          </a:prstGeom>
          <a:solidFill>
            <a:srgbClr val="CDE9FE"/>
          </a:solidFill>
          <a:ln w="7620">
            <a:solidFill>
              <a:srgbClr val="B3CFE4"/>
            </a:solidFill>
            <a:prstDash val="solid"/>
          </a:ln>
        </p:spPr>
      </p:sp>
      <p:sp>
        <p:nvSpPr>
          <p:cNvPr id="63" name="Text 4"/>
          <p:cNvSpPr/>
          <p:nvPr/>
        </p:nvSpPr>
        <p:spPr>
          <a:xfrm>
            <a:off x="6768763" y="1195328"/>
            <a:ext cx="209074" cy="2613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ts val="1600"/>
              </a:lnSpc>
            </a:pPr>
            <a:r>
              <a:rPr lang="en-US" sz="1600" b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1</a:t>
            </a:r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Text 5"/>
          <p:cNvSpPr/>
          <p:nvPr/>
        </p:nvSpPr>
        <p:spPr>
          <a:xfrm>
            <a:off x="4433411" y="1151811"/>
            <a:ext cx="1742837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lvl="0" algn="r">
              <a:lnSpc>
                <a:spcPts val="1700"/>
              </a:lnSpc>
              <a:buClrTx/>
              <a:buSzTx/>
              <a:buFontTx/>
            </a:pPr>
            <a:r>
              <a:rPr lang="en-US" sz="1350" b="1">
                <a:solidFill>
                  <a:srgbClr val="0070C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sym typeface="+mn-ea"/>
              </a:rPr>
              <a:t>Rule </a:t>
            </a:r>
            <a:r>
              <a:rPr lang="en-US" sz="1350" b="1">
                <a:solidFill>
                  <a:srgbClr val="0070C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sym typeface="+mn-ea"/>
              </a:rPr>
              <a:t>1: Mobility</a:t>
            </a:r>
            <a:endParaRPr lang="en-US" sz="1350" b="1">
              <a:solidFill>
                <a:srgbClr val="0070C0"/>
              </a:solidFill>
              <a:latin typeface="Arial" panose="020B0604020202020204" pitchFamily="34" charset="0"/>
              <a:ea typeface="Inter Bold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65" name="Text 6"/>
          <p:cNvSpPr/>
          <p:nvPr/>
        </p:nvSpPr>
        <p:spPr>
          <a:xfrm>
            <a:off x="487918" y="1453277"/>
            <a:ext cx="5688330" cy="2230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lvl="0" algn="r">
              <a:lnSpc>
                <a:spcPts val="1750"/>
              </a:lnSpc>
              <a:buClrTx/>
              <a:buSzTx/>
              <a:buFontTx/>
            </a:pPr>
            <a:r>
              <a:rPr lang="en-US" sz="1050">
                <a:solidFill>
                  <a:srgbClr val="0070C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  <a:sym typeface="+mn-ea"/>
              </a:rPr>
              <a:t>Mobile </a:t>
            </a:r>
            <a:r>
              <a:rPr lang="en-US" sz="1050">
                <a:solidFill>
                  <a:srgbClr val="0070C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  <a:sym typeface="+mn-ea"/>
              </a:rPr>
              <a:t>app </a:t>
            </a:r>
            <a:r>
              <a:rPr lang="en-US" sz="1050">
                <a:solidFill>
                  <a:srgbClr val="0070C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  <a:sym typeface="+mn-ea"/>
              </a:rPr>
              <a:t>design must accommodate user mobility.</a:t>
            </a:r>
            <a:endParaRPr lang="en-US" sz="1050">
              <a:solidFill>
                <a:srgbClr val="0070C0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66" name="Shape 7"/>
          <p:cNvSpPr/>
          <p:nvPr/>
        </p:nvSpPr>
        <p:spPr>
          <a:xfrm>
            <a:off x="7014984" y="2015490"/>
            <a:ext cx="418267" cy="15240"/>
          </a:xfrm>
          <a:prstGeom prst="roundRect">
            <a:avLst>
              <a:gd name="adj" fmla="val 384272"/>
            </a:avLst>
          </a:prstGeom>
          <a:solidFill>
            <a:srgbClr val="B3CFE4"/>
          </a:solidFill>
        </p:spPr>
      </p:sp>
      <p:sp>
        <p:nvSpPr>
          <p:cNvPr id="67" name="Shape 8"/>
          <p:cNvSpPr/>
          <p:nvPr/>
        </p:nvSpPr>
        <p:spPr>
          <a:xfrm>
            <a:off x="6716494" y="1866305"/>
            <a:ext cx="313730" cy="313730"/>
          </a:xfrm>
          <a:prstGeom prst="roundRect">
            <a:avLst>
              <a:gd name="adj" fmla="val 18667"/>
            </a:avLst>
          </a:prstGeom>
          <a:solidFill>
            <a:srgbClr val="CDE9FE"/>
          </a:solidFill>
          <a:ln w="7620">
            <a:solidFill>
              <a:srgbClr val="B3CFE4"/>
            </a:solidFill>
            <a:prstDash val="solid"/>
          </a:ln>
        </p:spPr>
      </p:sp>
      <p:sp>
        <p:nvSpPr>
          <p:cNvPr id="68" name="Text 9"/>
          <p:cNvSpPr/>
          <p:nvPr/>
        </p:nvSpPr>
        <p:spPr>
          <a:xfrm>
            <a:off x="6768763" y="1892439"/>
            <a:ext cx="209074" cy="2613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ts val="1600"/>
              </a:lnSpc>
            </a:pPr>
            <a:r>
              <a:rPr lang="en-US" sz="1600" b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2</a:t>
            </a:r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Text 10"/>
          <p:cNvSpPr/>
          <p:nvPr/>
        </p:nvSpPr>
        <p:spPr>
          <a:xfrm>
            <a:off x="7570470" y="1848922"/>
            <a:ext cx="1765816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lvl="0" algn="l">
              <a:lnSpc>
                <a:spcPts val="1700"/>
              </a:lnSpc>
              <a:buClrTx/>
              <a:buSzTx/>
              <a:buFontTx/>
            </a:pPr>
            <a:r>
              <a:rPr lang="en-US" sz="1350" b="1">
                <a:solidFill>
                  <a:srgbClr val="0070C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sym typeface="+mn-ea"/>
              </a:rPr>
              <a:t>Rule 2: Individuality</a:t>
            </a:r>
            <a:endParaRPr lang="en-US" sz="1350" b="1">
              <a:solidFill>
                <a:srgbClr val="0070C0"/>
              </a:solidFill>
              <a:latin typeface="Arial" panose="020B0604020202020204" pitchFamily="34" charset="0"/>
              <a:ea typeface="Inter Bold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0" name="Text 11"/>
          <p:cNvSpPr/>
          <p:nvPr/>
        </p:nvSpPr>
        <p:spPr>
          <a:xfrm>
            <a:off x="7570470" y="2150388"/>
            <a:ext cx="5688449" cy="2230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lvl="0" algn="l">
              <a:lnSpc>
                <a:spcPts val="1750"/>
              </a:lnSpc>
              <a:buClrTx/>
              <a:buSzTx/>
              <a:buFontTx/>
            </a:pPr>
            <a:r>
              <a:rPr lang="en-US" sz="1050">
                <a:solidFill>
                  <a:srgbClr val="0070C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  <a:sym typeface="+mn-ea"/>
              </a:rPr>
              <a:t>Mobile apps must create personalized experiences for each user.</a:t>
            </a:r>
            <a:endParaRPr lang="en-US" sz="1050">
              <a:solidFill>
                <a:srgbClr val="0070C0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1" name="Shape 12"/>
          <p:cNvSpPr/>
          <p:nvPr/>
        </p:nvSpPr>
        <p:spPr>
          <a:xfrm>
            <a:off x="6313468" y="2642830"/>
            <a:ext cx="418267" cy="15240"/>
          </a:xfrm>
          <a:prstGeom prst="roundRect">
            <a:avLst>
              <a:gd name="adj" fmla="val 384272"/>
            </a:avLst>
          </a:prstGeom>
          <a:solidFill>
            <a:srgbClr val="B3CFE4"/>
          </a:solidFill>
        </p:spPr>
      </p:sp>
      <p:sp>
        <p:nvSpPr>
          <p:cNvPr id="72" name="Shape 13"/>
          <p:cNvSpPr/>
          <p:nvPr/>
        </p:nvSpPr>
        <p:spPr>
          <a:xfrm>
            <a:off x="6716494" y="2493645"/>
            <a:ext cx="313730" cy="313730"/>
          </a:xfrm>
          <a:prstGeom prst="roundRect">
            <a:avLst>
              <a:gd name="adj" fmla="val 18667"/>
            </a:avLst>
          </a:prstGeom>
          <a:solidFill>
            <a:srgbClr val="CDE9FE"/>
          </a:solidFill>
          <a:ln w="7620">
            <a:solidFill>
              <a:srgbClr val="B3CFE4"/>
            </a:solidFill>
            <a:prstDash val="solid"/>
          </a:ln>
        </p:spPr>
      </p:sp>
      <p:sp>
        <p:nvSpPr>
          <p:cNvPr id="73" name="Text 14"/>
          <p:cNvSpPr/>
          <p:nvPr/>
        </p:nvSpPr>
        <p:spPr>
          <a:xfrm>
            <a:off x="6768763" y="2519779"/>
            <a:ext cx="209074" cy="2613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ts val="1600"/>
              </a:lnSpc>
            </a:pPr>
            <a:r>
              <a:rPr lang="en-US" sz="1600" b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3</a:t>
            </a:r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Text 15"/>
          <p:cNvSpPr/>
          <p:nvPr/>
        </p:nvSpPr>
        <p:spPr>
          <a:xfrm>
            <a:off x="4416147" y="2476262"/>
            <a:ext cx="1760101" cy="2178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>
              <a:lnSpc>
                <a:spcPts val="1700"/>
              </a:lnSpc>
            </a:pPr>
            <a:r>
              <a:rPr lang="en-US" sz="1350" b="1">
                <a:solidFill>
                  <a:srgbClr val="0070C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Rule 3: Continuity</a:t>
            </a:r>
            <a:endParaRPr lang="en-US" alt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Text 16"/>
          <p:cNvSpPr/>
          <p:nvPr/>
        </p:nvSpPr>
        <p:spPr>
          <a:xfrm>
            <a:off x="487918" y="2777728"/>
            <a:ext cx="5688330" cy="4460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lvl="0" algn="r">
              <a:lnSpc>
                <a:spcPts val="1750"/>
              </a:lnSpc>
              <a:buClrTx/>
              <a:buSzTx/>
              <a:buFontTx/>
            </a:pPr>
            <a:r>
              <a:rPr lang="en-US" sz="1050">
                <a:solidFill>
                  <a:srgbClr val="0070C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  <a:sym typeface="+mn-ea"/>
              </a:rPr>
              <a:t>Mobile </a:t>
            </a:r>
            <a:r>
              <a:rPr lang="en-US" sz="1050">
                <a:solidFill>
                  <a:srgbClr val="0070C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  <a:sym typeface="+mn-ea"/>
              </a:rPr>
              <a:t>applications must ensure continuity, users are not interrupted while </a:t>
            </a:r>
            <a:r>
              <a:rPr lang="en-US" sz="1050">
                <a:solidFill>
                  <a:srgbClr val="0070C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  <a:sym typeface="+mn-ea"/>
              </a:rPr>
              <a:t>moving</a:t>
            </a:r>
            <a:r>
              <a:rPr lang="en-US" sz="1050">
                <a:solidFill>
                  <a:srgbClr val="0070C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  <a:sym typeface="+mn-ea"/>
              </a:rPr>
              <a:t>.</a:t>
            </a:r>
            <a:endParaRPr lang="en-US" sz="1050">
              <a:solidFill>
                <a:srgbClr val="0070C0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6" name="Shape 17"/>
          <p:cNvSpPr/>
          <p:nvPr/>
        </p:nvSpPr>
        <p:spPr>
          <a:xfrm>
            <a:off x="7014984" y="3270290"/>
            <a:ext cx="418267" cy="15240"/>
          </a:xfrm>
          <a:prstGeom prst="roundRect">
            <a:avLst>
              <a:gd name="adj" fmla="val 384272"/>
            </a:avLst>
          </a:prstGeom>
          <a:solidFill>
            <a:srgbClr val="B3CFE4"/>
          </a:solidFill>
        </p:spPr>
      </p:sp>
      <p:sp>
        <p:nvSpPr>
          <p:cNvPr id="77" name="Shape 18"/>
          <p:cNvSpPr/>
          <p:nvPr/>
        </p:nvSpPr>
        <p:spPr>
          <a:xfrm>
            <a:off x="6716494" y="3121104"/>
            <a:ext cx="313730" cy="313730"/>
          </a:xfrm>
          <a:prstGeom prst="roundRect">
            <a:avLst>
              <a:gd name="adj" fmla="val 18667"/>
            </a:avLst>
          </a:prstGeom>
          <a:solidFill>
            <a:srgbClr val="CDE9FE"/>
          </a:solidFill>
          <a:ln w="7620">
            <a:solidFill>
              <a:srgbClr val="B3CFE4"/>
            </a:solidFill>
            <a:prstDash val="solid"/>
          </a:ln>
        </p:spPr>
      </p:sp>
      <p:sp>
        <p:nvSpPr>
          <p:cNvPr id="78" name="Text 19"/>
          <p:cNvSpPr/>
          <p:nvPr/>
        </p:nvSpPr>
        <p:spPr>
          <a:xfrm>
            <a:off x="6768763" y="3147239"/>
            <a:ext cx="209074" cy="2613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ts val="1600"/>
              </a:lnSpc>
            </a:pPr>
            <a:r>
              <a:rPr lang="en-US" sz="1600" b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4</a:t>
            </a:r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Text 20"/>
          <p:cNvSpPr/>
          <p:nvPr/>
        </p:nvSpPr>
        <p:spPr>
          <a:xfrm>
            <a:off x="7570470" y="3103721"/>
            <a:ext cx="1828086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lvl="0" algn="l">
              <a:lnSpc>
                <a:spcPts val="1700"/>
              </a:lnSpc>
              <a:buClrTx/>
              <a:buSzTx/>
              <a:buFontTx/>
            </a:pPr>
            <a:r>
              <a:rPr lang="en-US" sz="1350" b="1">
                <a:solidFill>
                  <a:srgbClr val="0070C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sym typeface="+mn-ea"/>
              </a:rPr>
              <a:t>Rule 4: </a:t>
            </a:r>
            <a:r>
              <a:rPr lang="en-US" sz="1350" b="1">
                <a:solidFill>
                  <a:srgbClr val="0070C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sym typeface="+mn-ea"/>
              </a:rPr>
              <a:t>Simplicity</a:t>
            </a:r>
            <a:endParaRPr lang="en-US" sz="1350" b="1">
              <a:solidFill>
                <a:srgbClr val="0070C0"/>
              </a:solidFill>
              <a:latin typeface="Arial" panose="020B0604020202020204" pitchFamily="34" charset="0"/>
              <a:ea typeface="Inter Bold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80" name="Text 21"/>
          <p:cNvSpPr/>
          <p:nvPr/>
        </p:nvSpPr>
        <p:spPr>
          <a:xfrm>
            <a:off x="7570470" y="3405188"/>
            <a:ext cx="5688449" cy="2230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lvl="0" algn="l">
              <a:lnSpc>
                <a:spcPts val="1750"/>
              </a:lnSpc>
              <a:buClrTx/>
              <a:buSzTx/>
              <a:buFontTx/>
            </a:pPr>
            <a:r>
              <a:rPr lang="en-US" sz="1050">
                <a:solidFill>
                  <a:srgbClr val="0070C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  <a:sym typeface="+mn-ea"/>
              </a:rPr>
              <a:t>Mobile application interface should be simple and easy to use.</a:t>
            </a:r>
            <a:endParaRPr lang="en-US" sz="1050">
              <a:solidFill>
                <a:srgbClr val="0070C0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81" name="Shape 22"/>
          <p:cNvSpPr/>
          <p:nvPr/>
        </p:nvSpPr>
        <p:spPr>
          <a:xfrm>
            <a:off x="6313468" y="3897749"/>
            <a:ext cx="418267" cy="15240"/>
          </a:xfrm>
          <a:prstGeom prst="roundRect">
            <a:avLst>
              <a:gd name="adj" fmla="val 384272"/>
            </a:avLst>
          </a:prstGeom>
          <a:solidFill>
            <a:srgbClr val="B3CFE4"/>
          </a:solidFill>
        </p:spPr>
      </p:sp>
      <p:sp>
        <p:nvSpPr>
          <p:cNvPr id="82" name="Shape 23"/>
          <p:cNvSpPr/>
          <p:nvPr/>
        </p:nvSpPr>
        <p:spPr>
          <a:xfrm>
            <a:off x="6716494" y="3748564"/>
            <a:ext cx="313730" cy="313730"/>
          </a:xfrm>
          <a:prstGeom prst="roundRect">
            <a:avLst>
              <a:gd name="adj" fmla="val 18667"/>
            </a:avLst>
          </a:prstGeom>
          <a:solidFill>
            <a:srgbClr val="CDE9FE"/>
          </a:solidFill>
          <a:ln w="7620">
            <a:solidFill>
              <a:srgbClr val="B3CFE4"/>
            </a:solidFill>
            <a:prstDash val="solid"/>
          </a:ln>
        </p:spPr>
      </p:sp>
      <p:sp>
        <p:nvSpPr>
          <p:cNvPr id="83" name="Text 24"/>
          <p:cNvSpPr/>
          <p:nvPr/>
        </p:nvSpPr>
        <p:spPr>
          <a:xfrm>
            <a:off x="6768763" y="3774698"/>
            <a:ext cx="209074" cy="2613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ts val="1600"/>
              </a:lnSpc>
            </a:pPr>
            <a:r>
              <a:rPr lang="en-US" sz="1600" b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5</a:t>
            </a:r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Text 25"/>
          <p:cNvSpPr/>
          <p:nvPr/>
        </p:nvSpPr>
        <p:spPr>
          <a:xfrm>
            <a:off x="4358045" y="3731181"/>
            <a:ext cx="1818203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lvl="0" algn="r">
              <a:lnSpc>
                <a:spcPts val="1700"/>
              </a:lnSpc>
              <a:buClrTx/>
              <a:buSzTx/>
              <a:buFontTx/>
            </a:pPr>
            <a:r>
              <a:rPr lang="en-US" sz="1350" b="1">
                <a:solidFill>
                  <a:srgbClr val="0070C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sym typeface="+mn-ea"/>
              </a:rPr>
              <a:t>Rule 5: </a:t>
            </a:r>
            <a:r>
              <a:rPr lang="en-US" sz="1350" b="1">
                <a:solidFill>
                  <a:srgbClr val="0070C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sym typeface="+mn-ea"/>
              </a:rPr>
              <a:t>Efficiency</a:t>
            </a:r>
            <a:endParaRPr lang="en-US" sz="1350" b="1">
              <a:solidFill>
                <a:srgbClr val="0070C0"/>
              </a:solidFill>
              <a:latin typeface="Arial" panose="020B0604020202020204" pitchFamily="34" charset="0"/>
              <a:ea typeface="Inter Bold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85" name="Text 26"/>
          <p:cNvSpPr/>
          <p:nvPr/>
        </p:nvSpPr>
        <p:spPr>
          <a:xfrm>
            <a:off x="487918" y="4032647"/>
            <a:ext cx="5688330" cy="2230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lvl="0" algn="r">
              <a:lnSpc>
                <a:spcPts val="1750"/>
              </a:lnSpc>
              <a:buClrTx/>
              <a:buSzTx/>
              <a:buFontTx/>
            </a:pPr>
            <a:r>
              <a:rPr lang="en-US" sz="1050">
                <a:solidFill>
                  <a:srgbClr val="0070C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  <a:sym typeface="+mn-ea"/>
              </a:rPr>
              <a:t>Mobile applications must meet user needs effectively.</a:t>
            </a:r>
            <a:endParaRPr lang="en-US" sz="1050">
              <a:solidFill>
                <a:srgbClr val="0070C0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86" name="Shape 27"/>
          <p:cNvSpPr/>
          <p:nvPr/>
        </p:nvSpPr>
        <p:spPr>
          <a:xfrm>
            <a:off x="7014984" y="4525208"/>
            <a:ext cx="418267" cy="15240"/>
          </a:xfrm>
          <a:prstGeom prst="roundRect">
            <a:avLst>
              <a:gd name="adj" fmla="val 384272"/>
            </a:avLst>
          </a:prstGeom>
          <a:solidFill>
            <a:srgbClr val="B3CFE4"/>
          </a:solidFill>
        </p:spPr>
      </p:sp>
      <p:sp>
        <p:nvSpPr>
          <p:cNvPr id="87" name="Shape 28"/>
          <p:cNvSpPr/>
          <p:nvPr/>
        </p:nvSpPr>
        <p:spPr>
          <a:xfrm>
            <a:off x="6716494" y="4376023"/>
            <a:ext cx="313730" cy="313730"/>
          </a:xfrm>
          <a:prstGeom prst="roundRect">
            <a:avLst>
              <a:gd name="adj" fmla="val 18667"/>
            </a:avLst>
          </a:prstGeom>
          <a:solidFill>
            <a:srgbClr val="CDE9FE"/>
          </a:solidFill>
          <a:ln w="7620">
            <a:solidFill>
              <a:srgbClr val="B3CFE4"/>
            </a:solidFill>
            <a:prstDash val="solid"/>
          </a:ln>
        </p:spPr>
      </p:sp>
      <p:sp>
        <p:nvSpPr>
          <p:cNvPr id="88" name="Text 29"/>
          <p:cNvSpPr/>
          <p:nvPr/>
        </p:nvSpPr>
        <p:spPr>
          <a:xfrm>
            <a:off x="6768763" y="4402157"/>
            <a:ext cx="209074" cy="2613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ts val="1600"/>
              </a:lnSpc>
            </a:pPr>
            <a:r>
              <a:rPr lang="en-US" sz="1600" b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6</a:t>
            </a:r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9" name="Text 30"/>
          <p:cNvSpPr/>
          <p:nvPr/>
        </p:nvSpPr>
        <p:spPr>
          <a:xfrm>
            <a:off x="7570470" y="4358640"/>
            <a:ext cx="1917144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lvl="0" algn="l">
              <a:lnSpc>
                <a:spcPts val="1700"/>
              </a:lnSpc>
              <a:buClrTx/>
              <a:buSzTx/>
              <a:buFontTx/>
            </a:pPr>
            <a:r>
              <a:rPr lang="en-US" sz="1350" b="1">
                <a:solidFill>
                  <a:srgbClr val="0070C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sym typeface="+mn-ea"/>
              </a:rPr>
              <a:t>Rule 6: </a:t>
            </a:r>
            <a:r>
              <a:rPr lang="en-US" sz="1350" b="1">
                <a:solidFill>
                  <a:srgbClr val="0070C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sym typeface="+mn-ea"/>
              </a:rPr>
              <a:t>Adaptability</a:t>
            </a:r>
            <a:endParaRPr lang="en-US" sz="1350" b="1">
              <a:solidFill>
                <a:srgbClr val="0070C0"/>
              </a:solidFill>
              <a:latin typeface="Arial" panose="020B0604020202020204" pitchFamily="34" charset="0"/>
              <a:ea typeface="Inter Bold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90" name="Text 31"/>
          <p:cNvSpPr/>
          <p:nvPr/>
        </p:nvSpPr>
        <p:spPr>
          <a:xfrm>
            <a:off x="7570470" y="4660106"/>
            <a:ext cx="5688449" cy="2230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lvl="0" algn="l">
              <a:lnSpc>
                <a:spcPts val="1750"/>
              </a:lnSpc>
              <a:buClrTx/>
              <a:buSzTx/>
              <a:buFontTx/>
            </a:pPr>
            <a:r>
              <a:rPr lang="en-US" altLang="en-US" sz="1050">
                <a:solidFill>
                  <a:srgbClr val="0070C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  <a:sym typeface="+mn-ea"/>
              </a:rPr>
              <a:t>Mobile applications must adapt to different mobile devices.</a:t>
            </a:r>
            <a:endParaRPr lang="en-US" altLang="en-US" sz="1050">
              <a:solidFill>
                <a:srgbClr val="0070C0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91" name="Shape 32"/>
          <p:cNvSpPr/>
          <p:nvPr/>
        </p:nvSpPr>
        <p:spPr>
          <a:xfrm>
            <a:off x="6313468" y="5152668"/>
            <a:ext cx="418267" cy="15240"/>
          </a:xfrm>
          <a:prstGeom prst="roundRect">
            <a:avLst>
              <a:gd name="adj" fmla="val 384272"/>
            </a:avLst>
          </a:prstGeom>
          <a:solidFill>
            <a:srgbClr val="B3CFE4"/>
          </a:solidFill>
        </p:spPr>
      </p:sp>
      <p:sp>
        <p:nvSpPr>
          <p:cNvPr id="92" name="Shape 33"/>
          <p:cNvSpPr/>
          <p:nvPr/>
        </p:nvSpPr>
        <p:spPr>
          <a:xfrm>
            <a:off x="6716494" y="5003483"/>
            <a:ext cx="313730" cy="313730"/>
          </a:xfrm>
          <a:prstGeom prst="roundRect">
            <a:avLst>
              <a:gd name="adj" fmla="val 18667"/>
            </a:avLst>
          </a:prstGeom>
          <a:solidFill>
            <a:srgbClr val="CDE9FE"/>
          </a:solidFill>
          <a:ln w="7620">
            <a:solidFill>
              <a:srgbClr val="B3CFE4"/>
            </a:solidFill>
            <a:prstDash val="solid"/>
          </a:ln>
        </p:spPr>
      </p:sp>
      <p:sp>
        <p:nvSpPr>
          <p:cNvPr id="93" name="Text 34"/>
          <p:cNvSpPr/>
          <p:nvPr/>
        </p:nvSpPr>
        <p:spPr>
          <a:xfrm>
            <a:off x="6768763" y="5029617"/>
            <a:ext cx="209074" cy="2613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ts val="1600"/>
              </a:lnSpc>
            </a:pPr>
            <a:r>
              <a:rPr lang="en-US" sz="1600" b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7</a:t>
            </a:r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4" name="Text 35"/>
          <p:cNvSpPr/>
          <p:nvPr/>
        </p:nvSpPr>
        <p:spPr>
          <a:xfrm>
            <a:off x="4433411" y="4986099"/>
            <a:ext cx="1742837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lvl="0" algn="r">
              <a:lnSpc>
                <a:spcPts val="1700"/>
              </a:lnSpc>
              <a:buClrTx/>
              <a:buSzTx/>
              <a:buFontTx/>
            </a:pPr>
            <a:r>
              <a:rPr lang="en-US" sz="1350" b="1">
                <a:solidFill>
                  <a:srgbClr val="0070C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sym typeface="+mn-ea"/>
              </a:rPr>
              <a:t>Rule 7: Confidentiality</a:t>
            </a:r>
            <a:endParaRPr lang="en-US" sz="1350" b="1">
              <a:solidFill>
                <a:srgbClr val="0070C0"/>
              </a:solidFill>
              <a:latin typeface="Arial" panose="020B0604020202020204" pitchFamily="34" charset="0"/>
              <a:ea typeface="Inter Bold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95" name="Text 36"/>
          <p:cNvSpPr/>
          <p:nvPr/>
        </p:nvSpPr>
        <p:spPr>
          <a:xfrm>
            <a:off x="487918" y="5287566"/>
            <a:ext cx="5688330" cy="2230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lvl="0" algn="r">
              <a:lnSpc>
                <a:spcPts val="1750"/>
              </a:lnSpc>
              <a:buClrTx/>
              <a:buSzTx/>
              <a:buFontTx/>
            </a:pPr>
            <a:r>
              <a:rPr lang="en-US" sz="1050">
                <a:solidFill>
                  <a:srgbClr val="0070C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  <a:sym typeface="+mn-ea"/>
              </a:rPr>
              <a:t>Mobile applications must ensure the security of user information.</a:t>
            </a:r>
            <a:endParaRPr lang="en-US" sz="1050">
              <a:solidFill>
                <a:srgbClr val="0070C0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96" name="Shape 37"/>
          <p:cNvSpPr/>
          <p:nvPr/>
        </p:nvSpPr>
        <p:spPr>
          <a:xfrm>
            <a:off x="7014984" y="5780127"/>
            <a:ext cx="418267" cy="15240"/>
          </a:xfrm>
          <a:prstGeom prst="roundRect">
            <a:avLst>
              <a:gd name="adj" fmla="val 384272"/>
            </a:avLst>
          </a:prstGeom>
          <a:solidFill>
            <a:srgbClr val="B3CFE4"/>
          </a:solidFill>
        </p:spPr>
      </p:sp>
      <p:sp>
        <p:nvSpPr>
          <p:cNvPr id="97" name="Shape 38"/>
          <p:cNvSpPr/>
          <p:nvPr/>
        </p:nvSpPr>
        <p:spPr>
          <a:xfrm>
            <a:off x="6716494" y="5630942"/>
            <a:ext cx="313730" cy="313730"/>
          </a:xfrm>
          <a:prstGeom prst="roundRect">
            <a:avLst>
              <a:gd name="adj" fmla="val 18667"/>
            </a:avLst>
          </a:prstGeom>
          <a:solidFill>
            <a:srgbClr val="CDE9FE"/>
          </a:solidFill>
          <a:ln w="7620">
            <a:solidFill>
              <a:srgbClr val="B3CFE4"/>
            </a:solidFill>
            <a:prstDash val="solid"/>
          </a:ln>
        </p:spPr>
      </p:sp>
      <p:sp>
        <p:nvSpPr>
          <p:cNvPr id="98" name="Text 39"/>
          <p:cNvSpPr/>
          <p:nvPr/>
        </p:nvSpPr>
        <p:spPr>
          <a:xfrm>
            <a:off x="6768763" y="5657076"/>
            <a:ext cx="209074" cy="2613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ts val="1600"/>
              </a:lnSpc>
            </a:pPr>
            <a:r>
              <a:rPr lang="en-US" sz="1600" b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8</a:t>
            </a:r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9" name="Text 40"/>
          <p:cNvSpPr/>
          <p:nvPr/>
        </p:nvSpPr>
        <p:spPr>
          <a:xfrm>
            <a:off x="7570470" y="5613559"/>
            <a:ext cx="1742837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lvl="0" algn="l">
              <a:lnSpc>
                <a:spcPts val="1700"/>
              </a:lnSpc>
              <a:buClrTx/>
              <a:buSzTx/>
              <a:buFontTx/>
            </a:pPr>
            <a:r>
              <a:rPr lang="en-US" sz="1350" b="1">
                <a:solidFill>
                  <a:srgbClr val="0070C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sym typeface="+mn-ea"/>
              </a:rPr>
              <a:t>Rule 8: Connectivity</a:t>
            </a:r>
            <a:endParaRPr lang="en-US" sz="1350" b="1">
              <a:solidFill>
                <a:srgbClr val="0070C0"/>
              </a:solidFill>
              <a:latin typeface="Arial" panose="020B0604020202020204" pitchFamily="34" charset="0"/>
              <a:ea typeface="Inter Bold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00" name="Text 41"/>
          <p:cNvSpPr/>
          <p:nvPr/>
        </p:nvSpPr>
        <p:spPr>
          <a:xfrm>
            <a:off x="7570470" y="5915025"/>
            <a:ext cx="5688449" cy="2230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lvl="0" algn="l">
              <a:lnSpc>
                <a:spcPts val="1750"/>
              </a:lnSpc>
              <a:buClrTx/>
              <a:buSzTx/>
              <a:buFontTx/>
            </a:pPr>
            <a:r>
              <a:rPr lang="en-US" sz="1050">
                <a:solidFill>
                  <a:srgbClr val="0070C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  <a:sym typeface="+mn-ea"/>
              </a:rPr>
              <a:t>Mobile </a:t>
            </a:r>
            <a:r>
              <a:rPr lang="en-US" sz="1050">
                <a:solidFill>
                  <a:srgbClr val="0070C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  <a:sym typeface="+mn-ea"/>
              </a:rPr>
              <a:t>apps </a:t>
            </a:r>
            <a:r>
              <a:rPr lang="en-US" sz="1050">
                <a:solidFill>
                  <a:srgbClr val="0070C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  <a:sym typeface="+mn-ea"/>
              </a:rPr>
              <a:t>should connect users to useful services and information.</a:t>
            </a:r>
            <a:endParaRPr lang="en-US" sz="1050">
              <a:solidFill>
                <a:srgbClr val="0070C0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01" name="Shape 42"/>
          <p:cNvSpPr/>
          <p:nvPr/>
        </p:nvSpPr>
        <p:spPr>
          <a:xfrm>
            <a:off x="6313468" y="6407587"/>
            <a:ext cx="418267" cy="15240"/>
          </a:xfrm>
          <a:prstGeom prst="roundRect">
            <a:avLst>
              <a:gd name="adj" fmla="val 384272"/>
            </a:avLst>
          </a:prstGeom>
          <a:solidFill>
            <a:srgbClr val="B3CFE4"/>
          </a:solidFill>
        </p:spPr>
      </p:sp>
      <p:sp>
        <p:nvSpPr>
          <p:cNvPr id="102" name="Shape 43"/>
          <p:cNvSpPr/>
          <p:nvPr/>
        </p:nvSpPr>
        <p:spPr>
          <a:xfrm>
            <a:off x="6716494" y="6258401"/>
            <a:ext cx="313730" cy="313730"/>
          </a:xfrm>
          <a:prstGeom prst="roundRect">
            <a:avLst>
              <a:gd name="adj" fmla="val 18667"/>
            </a:avLst>
          </a:prstGeom>
          <a:solidFill>
            <a:srgbClr val="CDE9FE"/>
          </a:solidFill>
          <a:ln w="7620">
            <a:solidFill>
              <a:srgbClr val="B3CFE4"/>
            </a:solidFill>
            <a:prstDash val="solid"/>
          </a:ln>
        </p:spPr>
      </p:sp>
      <p:sp>
        <p:nvSpPr>
          <p:cNvPr id="103" name="Text 44"/>
          <p:cNvSpPr/>
          <p:nvPr/>
        </p:nvSpPr>
        <p:spPr>
          <a:xfrm>
            <a:off x="6768763" y="6284535"/>
            <a:ext cx="209074" cy="2613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ts val="1600"/>
              </a:lnSpc>
            </a:pPr>
            <a:r>
              <a:rPr lang="en-US" sz="1600" b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9</a:t>
            </a:r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4" name="Text 45"/>
          <p:cNvSpPr/>
          <p:nvPr/>
        </p:nvSpPr>
        <p:spPr>
          <a:xfrm>
            <a:off x="4169331" y="6241018"/>
            <a:ext cx="2006918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lvl="0" algn="r">
              <a:lnSpc>
                <a:spcPts val="1700"/>
              </a:lnSpc>
              <a:buClrTx/>
              <a:buSzTx/>
              <a:buFontTx/>
            </a:pPr>
            <a:r>
              <a:rPr lang="en-US" sz="1350" b="1">
                <a:solidFill>
                  <a:srgbClr val="0070C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sym typeface="+mn-ea"/>
              </a:rPr>
              <a:t>Rule 9: Friendliness</a:t>
            </a:r>
            <a:endParaRPr lang="en-US" sz="1350" b="1">
              <a:solidFill>
                <a:srgbClr val="0070C0"/>
              </a:solidFill>
              <a:latin typeface="Arial" panose="020B0604020202020204" pitchFamily="34" charset="0"/>
              <a:ea typeface="Inter Bold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05" name="Text 46"/>
          <p:cNvSpPr/>
          <p:nvPr/>
        </p:nvSpPr>
        <p:spPr>
          <a:xfrm>
            <a:off x="487918" y="6542484"/>
            <a:ext cx="5688330" cy="2230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lvl="0" algn="r">
              <a:lnSpc>
                <a:spcPts val="1750"/>
              </a:lnSpc>
              <a:buClrTx/>
              <a:buSzTx/>
              <a:buFontTx/>
            </a:pPr>
            <a:r>
              <a:rPr lang="en-US" sz="1050">
                <a:solidFill>
                  <a:srgbClr val="0070C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  <a:sym typeface="+mn-ea"/>
              </a:rPr>
              <a:t>Mobile apps should be user-friendly, easy to use and learn.</a:t>
            </a:r>
            <a:endParaRPr lang="en-US" sz="1050">
              <a:solidFill>
                <a:srgbClr val="0070C0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06" name="Shape 47"/>
          <p:cNvSpPr/>
          <p:nvPr/>
        </p:nvSpPr>
        <p:spPr>
          <a:xfrm>
            <a:off x="7014984" y="7035046"/>
            <a:ext cx="418267" cy="15240"/>
          </a:xfrm>
          <a:prstGeom prst="roundRect">
            <a:avLst>
              <a:gd name="adj" fmla="val 384272"/>
            </a:avLst>
          </a:prstGeom>
          <a:solidFill>
            <a:srgbClr val="B3CFE4"/>
          </a:solidFill>
        </p:spPr>
      </p:sp>
      <p:sp>
        <p:nvSpPr>
          <p:cNvPr id="107" name="Shape 48"/>
          <p:cNvSpPr/>
          <p:nvPr/>
        </p:nvSpPr>
        <p:spPr>
          <a:xfrm>
            <a:off x="6716494" y="6885861"/>
            <a:ext cx="313730" cy="313730"/>
          </a:xfrm>
          <a:prstGeom prst="roundRect">
            <a:avLst>
              <a:gd name="adj" fmla="val 18667"/>
            </a:avLst>
          </a:prstGeom>
          <a:solidFill>
            <a:srgbClr val="CDE9FE"/>
          </a:solidFill>
          <a:ln w="7620">
            <a:solidFill>
              <a:srgbClr val="B3CFE4"/>
            </a:solidFill>
            <a:prstDash val="solid"/>
          </a:ln>
        </p:spPr>
      </p:sp>
      <p:sp>
        <p:nvSpPr>
          <p:cNvPr id="108" name="Text 49"/>
          <p:cNvSpPr/>
          <p:nvPr/>
        </p:nvSpPr>
        <p:spPr>
          <a:xfrm>
            <a:off x="6768763" y="6911995"/>
            <a:ext cx="209074" cy="2613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ts val="1600"/>
              </a:lnSpc>
            </a:pPr>
            <a:r>
              <a:rPr lang="en-US" sz="1600" b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10</a:t>
            </a:r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9" name="Text 50"/>
          <p:cNvSpPr/>
          <p:nvPr/>
        </p:nvSpPr>
        <p:spPr>
          <a:xfrm>
            <a:off x="7570470" y="6868478"/>
            <a:ext cx="1913096" cy="2178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lvl="0" algn="l">
              <a:lnSpc>
                <a:spcPts val="1700"/>
              </a:lnSpc>
              <a:buClrTx/>
              <a:buSzTx/>
              <a:buFontTx/>
            </a:pPr>
            <a:r>
              <a:rPr lang="en-US" sz="1350" b="1">
                <a:solidFill>
                  <a:srgbClr val="0070C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sym typeface="+mn-ea"/>
              </a:rPr>
              <a:t>Rule 10: Creativity</a:t>
            </a:r>
            <a:endParaRPr lang="en-US" sz="1350" b="1">
              <a:solidFill>
                <a:srgbClr val="0070C0"/>
              </a:solidFill>
              <a:latin typeface="Arial" panose="020B0604020202020204" pitchFamily="34" charset="0"/>
              <a:ea typeface="Inter Bold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10" name="Text 51"/>
          <p:cNvSpPr/>
          <p:nvPr/>
        </p:nvSpPr>
        <p:spPr>
          <a:xfrm>
            <a:off x="7570470" y="7169944"/>
            <a:ext cx="5688449" cy="2230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lvl="0" algn="l">
              <a:lnSpc>
                <a:spcPts val="1750"/>
              </a:lnSpc>
              <a:buClrTx/>
              <a:buSzTx/>
              <a:buFontTx/>
            </a:pPr>
            <a:r>
              <a:rPr lang="en-US" altLang="en-US" sz="1050">
                <a:solidFill>
                  <a:srgbClr val="0070C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  <a:sym typeface="+mn-ea"/>
              </a:rPr>
              <a:t>Mobile apps must deliver innovative and unique experiences to users.</a:t>
            </a:r>
            <a:endParaRPr lang="en-US" altLang="en-US" sz="1050">
              <a:solidFill>
                <a:srgbClr val="0070C0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D26D55-0A22-487A-A687-61FB58A6F16A}" type="slidenum">
              <a:rPr lang="en-US" smtClean="0"/>
            </a:fld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0424"/>
            <a:ext cx="14630400" cy="7455408"/>
          </a:xfrm>
          <a:prstGeom prst="rect">
            <a:avLst/>
          </a:prstGeom>
        </p:spPr>
      </p:pic>
      <p:sp>
        <p:nvSpPr>
          <p:cNvPr id="2" name="Rectangles 1"/>
          <p:cNvSpPr/>
          <p:nvPr/>
        </p:nvSpPr>
        <p:spPr>
          <a:xfrm>
            <a:off x="800100" y="3898900"/>
            <a:ext cx="11087100" cy="1130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en-US" sz="3600" b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Principles of experience design</a:t>
            </a:r>
            <a:endParaRPr lang="en-US" altLang="en-US" sz="3600" b="1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939800" y="6172200"/>
            <a:ext cx="3048635" cy="774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sz="2400" b="1">
                <a:solidFill>
                  <a:srgbClr val="0070C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Consistent</a:t>
            </a:r>
            <a:endParaRPr lang="en-US" altLang="en-US" sz="2400" b="1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939800" y="6852920"/>
            <a:ext cx="3010535" cy="774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lvl="0" algn="l">
              <a:lnSpc>
                <a:spcPts val="2550"/>
              </a:lnSpc>
              <a:buClrTx/>
              <a:buSzTx/>
              <a:buFontTx/>
            </a:pPr>
            <a:r>
              <a:rPr lang="en-US" alt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Follow naming conventions and notifications</a:t>
            </a:r>
            <a:endParaRPr lang="en-US" altLang="en-US" sz="16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191635" y="6172200"/>
            <a:ext cx="3048635" cy="774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r>
              <a:rPr lang="en-US" sz="2400" b="1">
                <a:solidFill>
                  <a:srgbClr val="0070C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sym typeface="+mn-ea"/>
              </a:rPr>
              <a:t>Error </a:t>
            </a:r>
            <a:r>
              <a:rPr lang="en-US" sz="2400" b="1">
                <a:solidFill>
                  <a:srgbClr val="0070C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sym typeface="+mn-ea"/>
              </a:rPr>
              <a:t>prevention</a:t>
            </a:r>
            <a:endParaRPr lang="en-US" sz="2400" b="1">
              <a:solidFill>
                <a:srgbClr val="0070C0"/>
              </a:solidFill>
              <a:latin typeface="Arial" panose="020B0604020202020204" pitchFamily="34" charset="0"/>
              <a:ea typeface="Inter Bold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4191635" y="6852920"/>
            <a:ext cx="3010535" cy="774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lvl="0" algn="l">
              <a:lnSpc>
                <a:spcPts val="2550"/>
              </a:lnSpc>
              <a:buClrTx/>
              <a:buSzTx/>
              <a:buFontTx/>
            </a:pPr>
            <a:r>
              <a:rPr lang="en-US" alt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Help users avoid entering incorrect data</a:t>
            </a:r>
            <a:endParaRPr lang="en-US" alt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7202170" y="6172200"/>
            <a:ext cx="3520440" cy="774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r>
              <a:rPr lang="en-US" altLang="en-US" sz="2400" b="1">
                <a:solidFill>
                  <a:srgbClr val="0070C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sym typeface="+mn-ea"/>
              </a:rPr>
              <a:t>Recognition over recall</a:t>
            </a:r>
            <a:endParaRPr lang="en-US" altLang="en-US" sz="2400" b="1">
              <a:solidFill>
                <a:srgbClr val="0070C0"/>
              </a:solidFill>
              <a:latin typeface="Arial" panose="020B0604020202020204" pitchFamily="34" charset="0"/>
              <a:ea typeface="Inter Bold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7202170" y="6852920"/>
            <a:ext cx="3010535" cy="774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lvl="0" algn="l">
              <a:lnSpc>
                <a:spcPts val="2550"/>
              </a:lnSpc>
              <a:buClrTx/>
              <a:buSzTx/>
              <a:buFontTx/>
            </a:pPr>
            <a:r>
              <a:rPr lang="en-US" alt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Icons must be immediately understandable.</a:t>
            </a:r>
            <a:endParaRPr lang="en-US" alt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7240270" y="7626985"/>
            <a:ext cx="3010535" cy="6026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lvl="0" algn="l">
              <a:lnSpc>
                <a:spcPts val="2550"/>
              </a:lnSpc>
              <a:buClrTx/>
              <a:buSzTx/>
              <a:buFontTx/>
            </a:pPr>
            <a:endParaRPr lang="en-US" alt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10722610" y="6171565"/>
            <a:ext cx="3048635" cy="774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r>
              <a:rPr lang="en-US" altLang="en-US" sz="2400" b="1">
                <a:solidFill>
                  <a:srgbClr val="0070C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sym typeface="+mn-ea"/>
              </a:rPr>
              <a:t>Minimalism</a:t>
            </a:r>
            <a:endParaRPr lang="en-US" altLang="en-US" sz="2400" b="1">
              <a:solidFill>
                <a:srgbClr val="0070C0"/>
              </a:solidFill>
              <a:latin typeface="Arial" panose="020B0604020202020204" pitchFamily="34" charset="0"/>
              <a:ea typeface="Inter Bold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10722610" y="6852285"/>
            <a:ext cx="3010535" cy="774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lvl="0" algn="l">
              <a:lnSpc>
                <a:spcPts val="2550"/>
              </a:lnSpc>
              <a:buClrTx/>
              <a:buSzTx/>
              <a:buFontTx/>
            </a:pPr>
            <a:r>
              <a:rPr lang="en-US" alt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Each unit of information competes with the others.</a:t>
            </a:r>
            <a:endParaRPr lang="en-US" alt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7" name="Text 0"/>
          <p:cNvSpPr/>
          <p:nvPr/>
        </p:nvSpPr>
        <p:spPr>
          <a:xfrm>
            <a:off x="793790" y="1569839"/>
            <a:ext cx="935736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445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Experience Evaluation</a:t>
            </a:r>
            <a:endParaRPr lang="en-US" altLang="en-US" sz="4450" b="1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5550"/>
              </a:lnSpc>
            </a:pPr>
            <a:endParaRPr lang="en-US" altLang="en-US" sz="4450" b="1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732246"/>
            <a:ext cx="3928229" cy="2427803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793790" y="544353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lvl="0" algn="l">
              <a:lnSpc>
                <a:spcPts val="2750"/>
              </a:lnSpc>
              <a:buClrTx/>
              <a:buSzTx/>
              <a:buFontTx/>
            </a:pPr>
            <a:r>
              <a:rPr lang="en-US" sz="2200" b="1">
                <a:solidFill>
                  <a:srgbClr val="0070C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sym typeface="+mn-ea"/>
              </a:rPr>
              <a:t>Music Player Interface</a:t>
            </a:r>
            <a:endParaRPr lang="en-US" sz="2200" b="1">
              <a:solidFill>
                <a:srgbClr val="0070C0"/>
              </a:solidFill>
              <a:latin typeface="Arial" panose="020B0604020202020204" pitchFamily="34" charset="0"/>
              <a:ea typeface="Inter Bold" pitchFamily="34" charset="-122"/>
              <a:cs typeface="Arial" panose="020B0604020202020204" pitchFamily="34" charset="0"/>
              <a:sym typeface="+mn-ea"/>
            </a:endParaRPr>
          </a:p>
          <a:p>
            <a:pPr lvl="0" algn="l">
              <a:lnSpc>
                <a:spcPts val="2750"/>
              </a:lnSpc>
              <a:buClrTx/>
              <a:buSzTx/>
              <a:buFontTx/>
            </a:pPr>
            <a:endParaRPr lang="en-US" sz="2200" b="1">
              <a:solidFill>
                <a:srgbClr val="0070C0"/>
              </a:solidFill>
              <a:latin typeface="Arial" panose="020B0604020202020204" pitchFamily="34" charset="0"/>
              <a:ea typeface="Inter Bold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0" name="Text 2"/>
          <p:cNvSpPr/>
          <p:nvPr/>
        </p:nvSpPr>
        <p:spPr>
          <a:xfrm>
            <a:off x="793790" y="5933956"/>
            <a:ext cx="392822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altLang="en-US" sz="17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Intuitive design with easily accessible controls.</a:t>
            </a:r>
            <a:endParaRPr lang="en-US" altLang="en-US" sz="175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endParaRPr lang="en-US" altLang="en-US" sz="175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180" y="2732246"/>
            <a:ext cx="3928229" cy="2427803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5062180" y="544353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lvl="0" algn="l">
              <a:lnSpc>
                <a:spcPts val="2750"/>
              </a:lnSpc>
              <a:buClrTx/>
              <a:buSzTx/>
              <a:buFontTx/>
            </a:pPr>
            <a:r>
              <a:rPr lang="en-US" sz="2200" b="1">
                <a:solidFill>
                  <a:srgbClr val="0070C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sym typeface="+mn-ea"/>
              </a:rPr>
              <a:t>Contact List</a:t>
            </a:r>
            <a:endParaRPr lang="en-US" sz="2200" b="1">
              <a:solidFill>
                <a:srgbClr val="0070C0"/>
              </a:solidFill>
              <a:latin typeface="Arial" panose="020B0604020202020204" pitchFamily="34" charset="0"/>
              <a:ea typeface="Inter Bold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3" name="Text 4"/>
          <p:cNvSpPr/>
          <p:nvPr/>
        </p:nvSpPr>
        <p:spPr>
          <a:xfrm>
            <a:off x="5062180" y="5933956"/>
            <a:ext cx="3928229" cy="7258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lvl="0" algn="l">
              <a:lnSpc>
                <a:spcPts val="2850"/>
              </a:lnSpc>
              <a:buClrTx/>
              <a:buSzTx/>
              <a:buFontTx/>
            </a:pPr>
            <a:r>
              <a:rPr lang="en-US" altLang="en-US" sz="175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Organized logically, easy to search, and quick to access.</a:t>
            </a:r>
            <a:endParaRPr lang="en-US" altLang="en-US" sz="175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0571" y="2732246"/>
            <a:ext cx="3928348" cy="2427803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9330571" y="544353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lvl="0" algn="l">
              <a:lnSpc>
                <a:spcPts val="2750"/>
              </a:lnSpc>
              <a:buClrTx/>
              <a:buSzTx/>
              <a:buFontTx/>
            </a:pPr>
            <a:r>
              <a:rPr lang="en-US" sz="2200" b="1">
                <a:solidFill>
                  <a:srgbClr val="0070C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sym typeface="+mn-ea"/>
              </a:rPr>
              <a:t>Empty List</a:t>
            </a:r>
            <a:endParaRPr lang="en-US" sz="2200" b="1">
              <a:solidFill>
                <a:srgbClr val="0070C0"/>
              </a:solidFill>
              <a:latin typeface="Arial" panose="020B0604020202020204" pitchFamily="34" charset="0"/>
              <a:ea typeface="Inter Bold" pitchFamily="34" charset="-122"/>
              <a:cs typeface="Arial" panose="020B0604020202020204" pitchFamily="34" charset="0"/>
              <a:sym typeface="+mn-ea"/>
            </a:endParaRPr>
          </a:p>
          <a:p>
            <a:pPr lvl="0" algn="l">
              <a:lnSpc>
                <a:spcPts val="2750"/>
              </a:lnSpc>
              <a:buClrTx/>
              <a:buSzTx/>
              <a:buFontTx/>
            </a:pPr>
            <a:endParaRPr lang="en-US" sz="2200" b="1">
              <a:solidFill>
                <a:srgbClr val="0070C0"/>
              </a:solidFill>
              <a:latin typeface="Arial" panose="020B0604020202020204" pitchFamily="34" charset="0"/>
              <a:ea typeface="Inter Bold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6" name="Text 6"/>
          <p:cNvSpPr/>
          <p:nvPr/>
        </p:nvSpPr>
        <p:spPr>
          <a:xfrm>
            <a:off x="9330571" y="5933956"/>
            <a:ext cx="3928348" cy="7258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lvl="0" algn="l">
              <a:lnSpc>
                <a:spcPts val="2850"/>
              </a:lnSpc>
              <a:buClrTx/>
              <a:buSzTx/>
              <a:buFontTx/>
            </a:pPr>
            <a:r>
              <a:rPr lang="en-US" altLang="en-US" sz="175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Display a friendly message when no data is available.</a:t>
            </a:r>
            <a:endParaRPr lang="en-US" altLang="en-US" sz="175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ing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ody slide">
  <a:themeElements>
    <a:clrScheme name="pptx template 1">
      <a:dk1>
        <a:srgbClr val="0070C0"/>
      </a:dk1>
      <a:lt1>
        <a:sysClr val="window" lastClr="FFFFFF"/>
      </a:lt1>
      <a:dk2>
        <a:srgbClr val="0070C0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2909</Words>
  <Application>WPS Presentation</Application>
  <PresentationFormat>Custom</PresentationFormat>
  <Paragraphs>203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Inter Bold</vt:lpstr>
      <vt:lpstr>Inter</vt:lpstr>
      <vt:lpstr>Calibri</vt:lpstr>
      <vt:lpstr>Arial Unicode MS</vt:lpstr>
      <vt:lpstr>Times New Roman</vt:lpstr>
      <vt:lpstr>Opening slide</vt:lpstr>
      <vt:lpstr>Body slide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10 Luật Của Mobile HCI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Cường Lê</cp:lastModifiedBy>
  <cp:revision>3</cp:revision>
  <dcterms:created xsi:type="dcterms:W3CDTF">2025-04-24T06:43:00Z</dcterms:created>
  <dcterms:modified xsi:type="dcterms:W3CDTF">2025-05-14T02:15:57Z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566CAAF096E54AD5A8052998D59344FD_12</vt:lpwstr>
  </property>
  <property fmtid="{D5CDD505-2E9C-101B-9397-08002B2CF9AE}" pid="3" name="KSOProductBuildVer">
    <vt:lpwstr>1033-12.2.0.21179</vt:lpwstr>
  </property>
</Properties>
</file>