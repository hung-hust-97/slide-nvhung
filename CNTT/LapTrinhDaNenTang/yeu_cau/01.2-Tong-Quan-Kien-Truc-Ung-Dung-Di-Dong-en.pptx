
<file path=[Content_Types].xml><?xml version="1.0" encoding="utf-8"?>
<Types xmlns="http://schemas.openxmlformats.org/package/2006/content-types">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3"/>
  </p:sldMasterIdLst>
  <p:notesMasterIdLst>
    <p:notesMasterId r:id="rId6"/>
  </p:notesMasterIdLst>
  <p:sldIdLst>
    <p:sldId id="267" r:id="rId4"/>
    <p:sldId id="282" r:id="rId5"/>
    <p:sldId id="283" r:id="rId7"/>
    <p:sldId id="284" r:id="rId8"/>
    <p:sldId id="291" r:id="rId9"/>
    <p:sldId id="285" r:id="rId10"/>
    <p:sldId id="286" r:id="rId11"/>
    <p:sldId id="292" r:id="rId12"/>
    <p:sldId id="293" r:id="rId13"/>
    <p:sldId id="287" r:id="rId14"/>
    <p:sldId id="294" r:id="rId15"/>
    <p:sldId id="295" r:id="rId16"/>
    <p:sldId id="288" r:id="rId17"/>
    <p:sldId id="296" r:id="rId18"/>
    <p:sldId id="289" r:id="rId19"/>
    <p:sldId id="290" r:id="rId20"/>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5146" autoAdjust="0"/>
  </p:normalViewPr>
  <p:slideViewPr>
    <p:cSldViewPr snapToGrid="0" snapToObjects="1">
      <p:cViewPr varScale="1">
        <p:scale>
          <a:sx n="81" d="100"/>
          <a:sy n="81" d="100"/>
        </p:scale>
        <p:origin x="1098" y="10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r>
              <a:rPr lang="en-US" sz="1800" b="0" i="0" u="none" strike="noStrike" baseline="0">
                <a:latin typeface="Arial" panose="020B0604020202020204" pitchFamily="34" charset="0"/>
              </a:rPr>
              <a:t>Khi nhắc đến kiến trúc cho một ứng dụng di động, ta phải quan tâm đến cả kiến trúc của phần cứng thiết bị và kiến trúc của cả hệ thống server hỗ trợ.</a:t>
            </a:r>
            <a:endParaRPr lang="en-US" sz="1800" b="0" i="0" u="none" strike="noStrike" baseline="0">
              <a:latin typeface="Arial" panose="020B0604020202020204" pitchFamily="34" charset="0"/>
            </a:endParaRPr>
          </a:p>
          <a:p>
            <a:pPr algn="l"/>
            <a:r>
              <a:rPr lang="en-US" sz="1800" b="0" i="0" u="none" strike="noStrike" baseline="0">
                <a:solidFill>
                  <a:srgbClr val="000000"/>
                </a:solidFill>
                <a:latin typeface="Arial" panose="020B0604020202020204" pitchFamily="34" charset="0"/>
              </a:rPr>
              <a:t>Cả </a:t>
            </a:r>
            <a:r>
              <a:rPr lang="en-US" sz="1800" b="1" i="0" u="none" strike="noStrike" baseline="0">
                <a:solidFill>
                  <a:srgbClr val="0000FF"/>
                </a:solidFill>
                <a:latin typeface="Arial" panose="020B0604020202020204" pitchFamily="34" charset="0"/>
              </a:rPr>
              <a:t>phần cứng + ứng dụng di động + server </a:t>
            </a:r>
            <a:r>
              <a:rPr lang="en-US" sz="1800" b="0" i="0" u="none" strike="noStrike" baseline="0">
                <a:solidFill>
                  <a:srgbClr val="000000"/>
                </a:solidFill>
                <a:latin typeface="Arial" panose="020B0604020202020204" pitchFamily="34" charset="0"/>
              </a:rPr>
              <a:t>phải tạo thành một hệ thống đồng nhất, trong suốt và khả chuyển</a:t>
            </a:r>
            <a:endParaRPr 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endParaRPr lang="en-US" dirty="0"/>
          </a:p>
        </p:txBody>
      </p:sp>
      <p:sp>
        <p:nvSpPr>
          <p:cNvPr id="8" name="Text Placeholder 7"/>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endParaRPr lang="en-US" dirty="0"/>
          </a:p>
        </p:txBody>
      </p:sp>
      <p:sp>
        <p:nvSpPr>
          <p:cNvPr id="9" name="Slide Number Placeholder 4"/>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46999" y="1906924"/>
            <a:ext cx="13155431" cy="5486400"/>
          </a:xfrm>
        </p:spPr>
        <p:txBody>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endParaRPr lang="en-US" dirty="0"/>
          </a:p>
        </p:txBody>
      </p:sp>
      <p:sp>
        <p:nvSpPr>
          <p:cNvPr id="7" name="Title 1"/>
          <p:cNvSpPr txBox="1"/>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a:p>
        </p:txBody>
      </p:sp>
      <p:sp>
        <p:nvSpPr>
          <p:cNvPr id="8"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000" y="1917577"/>
            <a:ext cx="13166084" cy="549477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8" name="Title Placeholder 1"/>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7001" y="1917578"/>
            <a:ext cx="13166084" cy="5497052"/>
          </a:xfrm>
        </p:spPr>
        <p:txBody>
          <a:bodyPr/>
          <a:lstStyle>
            <a:lvl1pPr marL="0" indent="0">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endParaRPr lang="en-US" dirty="0"/>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8"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47000" y="1928230"/>
            <a:ext cx="6568200"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7327130" y="1928230"/>
            <a:ext cx="6568199"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7000" y="1923930"/>
            <a:ext cx="6568200" cy="988694"/>
          </a:xfrm>
        </p:spPr>
        <p:txBody>
          <a:bodyPr anchor="b"/>
          <a:lstStyle>
            <a:lvl1pPr marL="0" indent="0">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746999" y="3014858"/>
            <a:ext cx="6568199"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7315201" y="1923930"/>
            <a:ext cx="656819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7315199" y="3014858"/>
            <a:ext cx="6568200"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9" name="Slide Number Placeholder 4"/>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11"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7"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endParaRPr lang="en-US" dirty="0"/>
          </a:p>
        </p:txBody>
      </p:sp>
      <p:sp>
        <p:nvSpPr>
          <p:cNvPr id="7"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a:p>
        </p:txBody>
      </p:sp>
      <p:sp>
        <p:nvSpPr>
          <p:cNvPr id="4" name="Text Placeholder 3"/>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endParaRPr lang="en-US" dirty="0"/>
          </a:p>
        </p:txBody>
      </p:sp>
      <p:sp>
        <p:nvSpPr>
          <p:cNvPr id="7"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46999" y="1917578"/>
            <a:ext cx="13155431" cy="549477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8"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46999" y="1906924"/>
            <a:ext cx="13155431" cy="550543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3" Type="http://schemas.openxmlformats.org/officeDocument/2006/relationships/theme" Target="../theme/theme2.xml"/><Relationship Id="rId12" Type="http://schemas.openxmlformats.org/officeDocument/2006/relationships/image" Target="../media/image4.png"/><Relationship Id="rId11" Type="http://schemas.openxmlformats.org/officeDocument/2006/relationships/image" Target="../media/image3.jpeg"/><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Slide Number Placeholder 4"/>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pic>
        <p:nvPicPr>
          <p:cNvPr id="7" name="Picture 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Arial" panose="020B0604020202020204" pitchFamily="34" charset="0"/>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Arial" panose="020B0604020202020204" pitchFamily="34" charset="0"/>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Arial" panose="020B0604020202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5.xml"/><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5.xml"/><Relationship Id="rId2" Type="http://schemas.openxmlformats.org/officeDocument/2006/relationships/image" Target="../media/image14.pn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16.png"/><Relationship Id="rId1" Type="http://schemas.openxmlformats.org/officeDocument/2006/relationships/image" Target="../media/image1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5.xml"/><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5.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443726" y="2935573"/>
            <a:ext cx="9940431" cy="2633081"/>
          </a:xfrm>
        </p:spPr>
        <p:txBody>
          <a:bodyPr/>
          <a:lstStyle/>
          <a:p>
            <a:r>
              <a:rPr lang="en-US" altLang="en-US" sz="6000"/>
              <a:t>Cross-Platform Application Development</a:t>
            </a:r>
            <a:endParaRPr lang="en-US" altLang="en-US" sz="6000"/>
          </a:p>
          <a:p>
            <a:endParaRPr lang="en-US" altLang="en-US" sz="6000"/>
          </a:p>
          <a:p>
            <a:endParaRPr lang="en-US" altLang="en-US" sz="6000"/>
          </a:p>
        </p:txBody>
      </p:sp>
      <p:sp>
        <p:nvSpPr>
          <p:cNvPr id="4" name="Slide Number Placehold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44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fld>
            <a:endParaRPr kumimoji="0" lang="en-US" sz="144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rPr>
              <a:t>Mobile System Architecture</a:t>
            </a:r>
            <a:endParaRPr lang="en-US" altLang="en-US" sz="3600" b="1" dirty="0">
              <a:solidFill>
                <a:schemeClr val="bg1"/>
              </a:solidFill>
              <a:latin typeface="Arial" panose="020B0604020202020204" pitchFamily="34" charset="0"/>
            </a:endParaRPr>
          </a:p>
          <a:p>
            <a:pPr>
              <a:lnSpc>
                <a:spcPts val="5550"/>
              </a:lnSpc>
            </a:pPr>
            <a:endParaRPr lang="en-US" altLang="en-US" sz="3600" b="1" dirty="0">
              <a:solidFill>
                <a:schemeClr val="bg1"/>
              </a:solidFill>
              <a:latin typeface="Arial" panose="020B0604020202020204" pitchFamily="34" charset="0"/>
            </a:endParaRPr>
          </a:p>
        </p:txBody>
      </p:sp>
      <p:sp>
        <p:nvSpPr>
          <p:cNvPr id="3" name="Text 1"/>
          <p:cNvSpPr/>
          <p:nvPr/>
        </p:nvSpPr>
        <p:spPr>
          <a:xfrm>
            <a:off x="1062752" y="5628491"/>
            <a:ext cx="2835235" cy="354330"/>
          </a:xfrm>
          <a:prstGeom prst="rect">
            <a:avLst/>
          </a:prstGeom>
          <a:noFill/>
        </p:spPr>
        <p:txBody>
          <a:bodyPr wrap="none" lIns="0" tIns="0" rIns="0" bIns="0" rtlCol="0" anchor="t"/>
          <a:lstStyle/>
          <a:p>
            <a:pPr algn="l">
              <a:lnSpc>
                <a:spcPts val="2750"/>
              </a:lnSpc>
            </a:pPr>
            <a:r>
              <a:rPr lang="en-US" altLang="en-US" sz="3200" b="1" dirty="0">
                <a:solidFill>
                  <a:prstClr val="black"/>
                </a:solidFill>
                <a:latin typeface="Arial" panose="020B0604020202020204" pitchFamily="34" charset="0"/>
              </a:rPr>
              <a:t>Uniformity</a:t>
            </a:r>
            <a:endParaRPr lang="en-US" altLang="en-US" sz="3200" b="1" dirty="0">
              <a:solidFill>
                <a:prstClr val="black"/>
              </a:solidFill>
              <a:latin typeface="Arial" panose="020B0604020202020204" pitchFamily="34" charset="0"/>
            </a:endParaRPr>
          </a:p>
        </p:txBody>
      </p:sp>
      <p:sp>
        <p:nvSpPr>
          <p:cNvPr id="5" name="Text 2"/>
          <p:cNvSpPr/>
          <p:nvPr/>
        </p:nvSpPr>
        <p:spPr>
          <a:xfrm>
            <a:off x="1062990" y="6209665"/>
            <a:ext cx="4145280" cy="725805"/>
          </a:xfrm>
          <a:prstGeom prst="rect">
            <a:avLst/>
          </a:prstGeom>
          <a:noFill/>
        </p:spPr>
        <p:txBody>
          <a:bodyPr wrap="square" lIns="0" tIns="0" rIns="0" bIns="0" rtlCol="0" anchor="t"/>
          <a:lstStyle/>
          <a:p>
            <a:pPr>
              <a:lnSpc>
                <a:spcPts val="2850"/>
              </a:lnSpc>
            </a:pPr>
            <a:r>
              <a:rPr lang="en-US" altLang="en-US" sz="2000" dirty="0">
                <a:solidFill>
                  <a:schemeClr val="tx1"/>
                </a:solidFill>
                <a:latin typeface="Arial" panose="020B0604020202020204" pitchFamily="34" charset="0"/>
              </a:rPr>
              <a:t>Data can be easily transferred between hardware, apps, and servers.</a:t>
            </a:r>
            <a:endParaRPr lang="en-US" altLang="en-US" sz="2000" dirty="0">
              <a:solidFill>
                <a:schemeClr val="tx1"/>
              </a:solidFill>
              <a:latin typeface="Arial" panose="020B0604020202020204" pitchFamily="34" charset="0"/>
            </a:endParaRPr>
          </a:p>
        </p:txBody>
      </p:sp>
      <p:sp>
        <p:nvSpPr>
          <p:cNvPr id="6" name="Text 3"/>
          <p:cNvSpPr/>
          <p:nvPr/>
        </p:nvSpPr>
        <p:spPr>
          <a:xfrm>
            <a:off x="5409366" y="5628491"/>
            <a:ext cx="2835235" cy="354330"/>
          </a:xfrm>
          <a:prstGeom prst="rect">
            <a:avLst/>
          </a:prstGeom>
          <a:noFill/>
        </p:spPr>
        <p:txBody>
          <a:bodyPr wrap="none" lIns="0" tIns="0" rIns="0" bIns="0" rtlCol="0" anchor="t"/>
          <a:lstStyle/>
          <a:p>
            <a:pPr algn="l">
              <a:lnSpc>
                <a:spcPts val="2750"/>
              </a:lnSpc>
            </a:pPr>
            <a:r>
              <a:rPr lang="en-US" altLang="en-US" sz="3200" b="1" dirty="0">
                <a:solidFill>
                  <a:prstClr val="black"/>
                </a:solidFill>
                <a:latin typeface="Arial" panose="020B0604020202020204" pitchFamily="34" charset="0"/>
              </a:rPr>
              <a:t>Transparency</a:t>
            </a:r>
            <a:endParaRPr lang="en-US" altLang="en-US" sz="3200" b="1" dirty="0">
              <a:solidFill>
                <a:prstClr val="black"/>
              </a:solidFill>
              <a:latin typeface="Arial" panose="020B0604020202020204" pitchFamily="34" charset="0"/>
            </a:endParaRPr>
          </a:p>
        </p:txBody>
      </p:sp>
      <p:sp>
        <p:nvSpPr>
          <p:cNvPr id="7" name="Text 4"/>
          <p:cNvSpPr/>
          <p:nvPr/>
        </p:nvSpPr>
        <p:spPr>
          <a:xfrm>
            <a:off x="5409366" y="6209635"/>
            <a:ext cx="3785592" cy="725805"/>
          </a:xfrm>
          <a:prstGeom prst="rect">
            <a:avLst/>
          </a:prstGeom>
          <a:noFill/>
        </p:spPr>
        <p:txBody>
          <a:bodyPr wrap="square" lIns="0" tIns="0" rIns="0" bIns="0" rtlCol="0" anchor="t"/>
          <a:lstStyle/>
          <a:p>
            <a:pPr>
              <a:lnSpc>
                <a:spcPts val="2850"/>
              </a:lnSpc>
            </a:pPr>
            <a:r>
              <a:rPr lang="en-US" altLang="en-US" sz="2000" dirty="0">
                <a:solidFill>
                  <a:schemeClr val="tx1"/>
                </a:solidFill>
                <a:latin typeface="Arial" panose="020B0604020202020204" pitchFamily="34" charset="0"/>
              </a:rPr>
              <a:t>Detect and handle errors from other components.</a:t>
            </a:r>
            <a:endParaRPr lang="en-US" altLang="en-US" sz="2000" dirty="0">
              <a:solidFill>
                <a:schemeClr val="tx1"/>
              </a:solidFill>
              <a:latin typeface="Arial" panose="020B0604020202020204" pitchFamily="34" charset="0"/>
            </a:endParaRPr>
          </a:p>
        </p:txBody>
      </p:sp>
      <p:sp>
        <p:nvSpPr>
          <p:cNvPr id="8" name="Text 5"/>
          <p:cNvSpPr/>
          <p:nvPr/>
        </p:nvSpPr>
        <p:spPr>
          <a:xfrm>
            <a:off x="9755981" y="5628491"/>
            <a:ext cx="2835235" cy="354330"/>
          </a:xfrm>
          <a:prstGeom prst="rect">
            <a:avLst/>
          </a:prstGeom>
          <a:noFill/>
        </p:spPr>
        <p:txBody>
          <a:bodyPr wrap="none" lIns="0" tIns="0" rIns="0" bIns="0" rtlCol="0" anchor="t"/>
          <a:lstStyle/>
          <a:p>
            <a:pPr algn="l">
              <a:lnSpc>
                <a:spcPts val="2750"/>
              </a:lnSpc>
            </a:pPr>
            <a:r>
              <a:rPr lang="en-US" altLang="en-US" sz="3200" b="1" dirty="0">
                <a:solidFill>
                  <a:prstClr val="black"/>
                </a:solidFill>
                <a:latin typeface="Arial" panose="020B0604020202020204" pitchFamily="34" charset="0"/>
              </a:rPr>
              <a:t>Portability</a:t>
            </a:r>
            <a:endParaRPr lang="en-US" altLang="en-US" sz="3200" b="1" dirty="0">
              <a:solidFill>
                <a:prstClr val="black"/>
              </a:solidFill>
              <a:latin typeface="Arial" panose="020B0604020202020204" pitchFamily="34" charset="0"/>
            </a:endParaRPr>
          </a:p>
        </p:txBody>
      </p:sp>
      <p:sp>
        <p:nvSpPr>
          <p:cNvPr id="9" name="Text 6"/>
          <p:cNvSpPr/>
          <p:nvPr/>
        </p:nvSpPr>
        <p:spPr>
          <a:xfrm>
            <a:off x="9755981" y="6209635"/>
            <a:ext cx="3785592" cy="725805"/>
          </a:xfrm>
          <a:prstGeom prst="rect">
            <a:avLst/>
          </a:prstGeom>
          <a:noFill/>
        </p:spPr>
        <p:txBody>
          <a:bodyPr wrap="square" lIns="0" tIns="0" rIns="0" bIns="0" rtlCol="0" anchor="t"/>
          <a:lstStyle/>
          <a:p>
            <a:pPr>
              <a:lnSpc>
                <a:spcPts val="2850"/>
              </a:lnSpc>
            </a:pPr>
            <a:r>
              <a:rPr lang="en-US" altLang="en-US" sz="2000" dirty="0">
                <a:solidFill>
                  <a:schemeClr val="tx1"/>
                </a:solidFill>
                <a:latin typeface="Arial" panose="020B0604020202020204" pitchFamily="34" charset="0"/>
              </a:rPr>
              <a:t>Components can be replaced easily, reducing edit time.</a:t>
            </a:r>
            <a:endParaRPr lang="en-US" altLang="en-US" sz="2000" dirty="0">
              <a:solidFill>
                <a:schemeClr val="tx1"/>
              </a:solidFill>
              <a:latin typeface="Arial" panose="020B0604020202020204" pitchFamily="34" charset="0"/>
            </a:endParaRPr>
          </a:p>
        </p:txBody>
      </p:sp>
      <p:pic>
        <p:nvPicPr>
          <p:cNvPr id="17" name="Picture 16"/>
          <p:cNvPicPr>
            <a:picLocks noChangeAspect="1"/>
          </p:cNvPicPr>
          <p:nvPr/>
        </p:nvPicPr>
        <p:blipFill>
          <a:blip r:embed="rId1"/>
          <a:srcRect l="17861" r="7180"/>
          <a:stretch>
            <a:fillRect/>
          </a:stretch>
        </p:blipFill>
        <p:spPr>
          <a:xfrm>
            <a:off x="4664397" y="721282"/>
            <a:ext cx="5989717" cy="45009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fld>
            <a:endParaRPr lang="en-US"/>
          </a:p>
        </p:txBody>
      </p:sp>
      <p:sp>
        <p:nvSpPr>
          <p:cNvPr id="22" name="Text 0"/>
          <p:cNvSpPr/>
          <p:nvPr/>
        </p:nvSpPr>
        <p:spPr>
          <a:xfrm>
            <a:off x="38577" y="-55530"/>
            <a:ext cx="11099750" cy="630614"/>
          </a:xfrm>
          <a:prstGeom prst="rect">
            <a:avLst/>
          </a:prstGeom>
          <a:noFill/>
        </p:spPr>
        <p:txBody>
          <a:bodyPr wrap="square" lIns="0" tIns="0" rIns="0" bIns="0" rtlCol="0" anchor="t"/>
          <a:lstStyle/>
          <a:p>
            <a:pPr marL="0" indent="0" algn="l">
              <a:lnSpc>
                <a:spcPts val="5550"/>
              </a:lnSpc>
              <a:buNone/>
            </a:pPr>
            <a:r>
              <a:rPr lang="en-US" altLang="en-US" sz="3200" b="1" dirty="0">
                <a:solidFill>
                  <a:schemeClr val="bg1"/>
                </a:solidFill>
                <a:latin typeface="Arial" panose="020B0604020202020204" pitchFamily="34" charset="0"/>
              </a:rPr>
              <a:t>History of Mobile Programming</a:t>
            </a:r>
            <a:endParaRPr lang="en-US" altLang="en-US" sz="3200" b="1" dirty="0">
              <a:solidFill>
                <a:schemeClr val="bg1"/>
              </a:solidFill>
              <a:latin typeface="Arial" panose="020B0604020202020204" pitchFamily="34" charset="0"/>
            </a:endParaRPr>
          </a:p>
          <a:p>
            <a:pPr marL="0" indent="0" algn="l">
              <a:lnSpc>
                <a:spcPts val="5550"/>
              </a:lnSpc>
              <a:buNone/>
            </a:pPr>
            <a:endParaRPr lang="en-US" altLang="en-US" sz="3200" b="1" dirty="0">
              <a:solidFill>
                <a:schemeClr val="bg1"/>
              </a:solidFill>
              <a:latin typeface="Arial" panose="020B0604020202020204" pitchFamily="34" charset="0"/>
            </a:endParaRPr>
          </a:p>
        </p:txBody>
      </p:sp>
      <p:grpSp>
        <p:nvGrpSpPr>
          <p:cNvPr id="46" name="Group 45"/>
          <p:cNvGrpSpPr/>
          <p:nvPr/>
        </p:nvGrpSpPr>
        <p:grpSpPr>
          <a:xfrm>
            <a:off x="123647" y="961704"/>
            <a:ext cx="6978729" cy="1425455"/>
            <a:chOff x="123647" y="961704"/>
            <a:chExt cx="6978729" cy="1425455"/>
          </a:xfrm>
        </p:grpSpPr>
        <p:sp>
          <p:nvSpPr>
            <p:cNvPr id="23" name="Shape 1"/>
            <p:cNvSpPr/>
            <p:nvPr/>
          </p:nvSpPr>
          <p:spPr>
            <a:xfrm>
              <a:off x="123647" y="961704"/>
              <a:ext cx="510302" cy="510302"/>
            </a:xfrm>
            <a:prstGeom prst="roundRect">
              <a:avLst>
                <a:gd name="adj" fmla="val 18669"/>
              </a:avLst>
            </a:prstGeom>
            <a:solidFill>
              <a:srgbClr val="CDE9FE"/>
            </a:solidFill>
            <a:ln w="7620">
              <a:solidFill>
                <a:srgbClr val="B3CFE4"/>
              </a:solidFill>
              <a:prstDash val="solid"/>
            </a:ln>
          </p:spPr>
        </p:sp>
        <p:sp>
          <p:nvSpPr>
            <p:cNvPr id="24" name="Text 2"/>
            <p:cNvSpPr/>
            <p:nvPr/>
          </p:nvSpPr>
          <p:spPr>
            <a:xfrm>
              <a:off x="208717" y="1004210"/>
              <a:ext cx="340162" cy="425291"/>
            </a:xfrm>
            <a:prstGeom prst="rect">
              <a:avLst/>
            </a:prstGeom>
            <a:noFill/>
          </p:spPr>
          <p:txBody>
            <a:bodyPr wrap="none" lIns="0" tIns="0" rIns="0" bIns="0" rtlCol="0" anchor="t"/>
            <a:lstStyle/>
            <a:p>
              <a:pPr marL="0" indent="0" algn="ctr">
                <a:lnSpc>
                  <a:spcPts val="2650"/>
                </a:lnSpc>
                <a:buNone/>
              </a:pPr>
              <a:r>
                <a:rPr lang="en-US" sz="2650" b="1" dirty="0">
                  <a:solidFill>
                    <a:srgbClr val="000000"/>
                  </a:solidFill>
                  <a:latin typeface="Arial" panose="020B0604020202020204" pitchFamily="34" charset="0"/>
                  <a:ea typeface="Inter Bold" pitchFamily="34" charset="-122"/>
                  <a:cs typeface="Arial" panose="020B0604020202020204" pitchFamily="34" charset="0"/>
                </a:rPr>
                <a:t>1</a:t>
              </a:r>
              <a:endParaRPr lang="en-US" sz="2650" dirty="0">
                <a:latin typeface="Arial" panose="020B0604020202020204" pitchFamily="34" charset="0"/>
              </a:endParaRPr>
            </a:p>
          </p:txBody>
        </p:sp>
        <p:sp>
          <p:nvSpPr>
            <p:cNvPr id="25" name="Text 3"/>
            <p:cNvSpPr/>
            <p:nvPr/>
          </p:nvSpPr>
          <p:spPr>
            <a:xfrm>
              <a:off x="860763" y="961704"/>
              <a:ext cx="2638901" cy="354330"/>
            </a:xfrm>
            <a:prstGeom prst="rect">
              <a:avLst/>
            </a:prstGeom>
            <a:noFill/>
          </p:spPr>
          <p:txBody>
            <a:bodyPr wrap="none" lIns="0" tIns="0" rIns="0" bIns="0" rtlCol="0" anchor="t"/>
            <a:lstStyle/>
            <a:p>
              <a:pPr marL="0" indent="0" algn="l">
                <a:lnSpc>
                  <a:spcPts val="2750"/>
                </a:lnSpc>
                <a:buNone/>
              </a:pPr>
              <a:r>
                <a:rPr lang="en-US" altLang="en-US" sz="2200" b="1" dirty="0">
                  <a:latin typeface="Arial" panose="020B0604020202020204" pitchFamily="34" charset="0"/>
                </a:rPr>
                <a:t>Initial stage (1973 – 1996)</a:t>
              </a:r>
              <a:endParaRPr lang="en-US" altLang="en-US" sz="2200" b="1" dirty="0">
                <a:latin typeface="Arial" panose="020B0604020202020204" pitchFamily="34" charset="0"/>
              </a:endParaRPr>
            </a:p>
            <a:p>
              <a:pPr marL="0" indent="0" algn="l">
                <a:lnSpc>
                  <a:spcPts val="2750"/>
                </a:lnSpc>
                <a:buNone/>
              </a:pPr>
              <a:endParaRPr lang="en-US" altLang="en-US" sz="2200" b="1" dirty="0">
                <a:latin typeface="Arial" panose="020B0604020202020204" pitchFamily="34" charset="0"/>
              </a:endParaRPr>
            </a:p>
          </p:txBody>
        </p:sp>
        <p:sp>
          <p:nvSpPr>
            <p:cNvPr id="26" name="Text 4"/>
            <p:cNvSpPr/>
            <p:nvPr/>
          </p:nvSpPr>
          <p:spPr>
            <a:xfrm>
              <a:off x="905461" y="1298451"/>
              <a:ext cx="6196915" cy="1088708"/>
            </a:xfrm>
            <a:prstGeom prst="rect">
              <a:avLst/>
            </a:prstGeom>
            <a:noFill/>
          </p:spPr>
          <p:txBody>
            <a:bodyPr wrap="square" lIns="0" tIns="0" rIns="0" bIns="0" rtlCol="0" anchor="t"/>
            <a:lstStyle/>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Mainly basic mobile phones, no smart functions. </a:t>
              </a:r>
              <a:endParaRPr lang="en-US" altLang="en-US" sz="1750" dirty="0">
                <a:latin typeface="Arial" panose="020B0604020202020204" pitchFamily="34" charset="0"/>
              </a:endParaRPr>
            </a:p>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Large size, only has calling function.</a:t>
              </a:r>
              <a:endParaRPr lang="en-US" altLang="en-US" sz="1750" dirty="0">
                <a:latin typeface="Arial" panose="020B0604020202020204" pitchFamily="34" charset="0"/>
              </a:endParaRPr>
            </a:p>
          </p:txBody>
        </p:sp>
      </p:grpSp>
      <p:grpSp>
        <p:nvGrpSpPr>
          <p:cNvPr id="47" name="Group 46"/>
          <p:cNvGrpSpPr/>
          <p:nvPr/>
        </p:nvGrpSpPr>
        <p:grpSpPr>
          <a:xfrm>
            <a:off x="123646" y="2690862"/>
            <a:ext cx="6717090" cy="1505482"/>
            <a:chOff x="123646" y="2553849"/>
            <a:chExt cx="6717090" cy="1505482"/>
          </a:xfrm>
        </p:grpSpPr>
        <p:sp>
          <p:nvSpPr>
            <p:cNvPr id="27" name="Shape 5"/>
            <p:cNvSpPr/>
            <p:nvPr/>
          </p:nvSpPr>
          <p:spPr>
            <a:xfrm>
              <a:off x="123646" y="2553849"/>
              <a:ext cx="510302" cy="510302"/>
            </a:xfrm>
            <a:prstGeom prst="roundRect">
              <a:avLst>
                <a:gd name="adj" fmla="val 18669"/>
              </a:avLst>
            </a:prstGeom>
            <a:solidFill>
              <a:srgbClr val="CDE9FE"/>
            </a:solidFill>
            <a:ln w="7620">
              <a:solidFill>
                <a:srgbClr val="B3CFE4"/>
              </a:solidFill>
              <a:prstDash val="solid"/>
            </a:ln>
          </p:spPr>
        </p:sp>
        <p:sp>
          <p:nvSpPr>
            <p:cNvPr id="28" name="Text 6"/>
            <p:cNvSpPr/>
            <p:nvPr/>
          </p:nvSpPr>
          <p:spPr>
            <a:xfrm>
              <a:off x="208716" y="2596355"/>
              <a:ext cx="340162" cy="425291"/>
            </a:xfrm>
            <a:prstGeom prst="rect">
              <a:avLst/>
            </a:prstGeom>
            <a:noFill/>
          </p:spPr>
          <p:txBody>
            <a:bodyPr wrap="none" lIns="0" tIns="0" rIns="0" bIns="0" rtlCol="0" anchor="t"/>
            <a:lstStyle/>
            <a:p>
              <a:pPr marL="0" indent="0" algn="ctr">
                <a:lnSpc>
                  <a:spcPts val="2650"/>
                </a:lnSpc>
                <a:buNone/>
              </a:pPr>
              <a:r>
                <a:rPr lang="en-US" sz="2650" b="1" dirty="0">
                  <a:solidFill>
                    <a:srgbClr val="000000"/>
                  </a:solidFill>
                  <a:latin typeface="Arial" panose="020B0604020202020204" pitchFamily="34" charset="0"/>
                  <a:ea typeface="Inter Bold" pitchFamily="34" charset="-122"/>
                  <a:cs typeface="Arial" panose="020B0604020202020204" pitchFamily="34" charset="0"/>
                </a:rPr>
                <a:t>2</a:t>
              </a:r>
              <a:endParaRPr lang="en-US" sz="2650" dirty="0">
                <a:latin typeface="Arial" panose="020B0604020202020204" pitchFamily="34" charset="0"/>
              </a:endParaRPr>
            </a:p>
          </p:txBody>
        </p:sp>
        <p:sp>
          <p:nvSpPr>
            <p:cNvPr id="29" name="Text 7"/>
            <p:cNvSpPr/>
            <p:nvPr/>
          </p:nvSpPr>
          <p:spPr>
            <a:xfrm>
              <a:off x="860762" y="2553849"/>
              <a:ext cx="5979973" cy="354330"/>
            </a:xfrm>
            <a:prstGeom prst="rect">
              <a:avLst/>
            </a:prstGeom>
            <a:noFill/>
          </p:spPr>
          <p:txBody>
            <a:bodyPr wrap="none" lIns="0" tIns="0" rIns="0" bIns="0" rtlCol="0" anchor="t"/>
            <a:lstStyle/>
            <a:p>
              <a:pPr marL="0" indent="0" algn="l">
                <a:lnSpc>
                  <a:spcPts val="2750"/>
                </a:lnSpc>
                <a:buNone/>
              </a:pPr>
              <a:r>
                <a:rPr lang="en-US" altLang="en-US" sz="2200" b="1" dirty="0">
                  <a:latin typeface="Arial" panose="020B0604020202020204" pitchFamily="34" charset="0"/>
                </a:rPr>
                <a:t>Early smartphone phase (1997 – 2006)</a:t>
              </a:r>
              <a:endParaRPr lang="en-US" altLang="en-US" sz="2200" b="1" dirty="0">
                <a:latin typeface="Arial" panose="020B0604020202020204" pitchFamily="34" charset="0"/>
              </a:endParaRPr>
            </a:p>
          </p:txBody>
        </p:sp>
        <p:sp>
          <p:nvSpPr>
            <p:cNvPr id="30" name="Text 8"/>
            <p:cNvSpPr/>
            <p:nvPr/>
          </p:nvSpPr>
          <p:spPr>
            <a:xfrm>
              <a:off x="905461" y="2970623"/>
              <a:ext cx="5935275" cy="1088708"/>
            </a:xfrm>
            <a:prstGeom prst="rect">
              <a:avLst/>
            </a:prstGeom>
            <a:noFill/>
          </p:spPr>
          <p:txBody>
            <a:bodyPr wrap="square" lIns="0" tIns="0" rIns="0" bIns="0" rtlCol="0" anchor="t"/>
            <a:lstStyle/>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Combination of phone and PDA. </a:t>
              </a:r>
              <a:endParaRPr lang="en-US" altLang="en-US" sz="1750" dirty="0">
                <a:latin typeface="Arial" panose="020B0604020202020204" pitchFamily="34" charset="0"/>
              </a:endParaRPr>
            </a:p>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Supports email, calendar, physical QWERTY keyboard. </a:t>
              </a:r>
              <a:endParaRPr lang="en-US" altLang="en-US" sz="1750" dirty="0">
                <a:latin typeface="Arial" panose="020B0604020202020204" pitchFamily="34" charset="0"/>
              </a:endParaRPr>
            </a:p>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Aimed at business and professional users.</a:t>
              </a:r>
              <a:endParaRPr lang="en-US" altLang="en-US" sz="1750" dirty="0">
                <a:latin typeface="Arial" panose="020B0604020202020204" pitchFamily="34" charset="0"/>
              </a:endParaRPr>
            </a:p>
          </p:txBody>
        </p:sp>
      </p:grpSp>
      <p:grpSp>
        <p:nvGrpSpPr>
          <p:cNvPr id="52" name="Group 51"/>
          <p:cNvGrpSpPr/>
          <p:nvPr/>
        </p:nvGrpSpPr>
        <p:grpSpPr>
          <a:xfrm>
            <a:off x="123647" y="6221981"/>
            <a:ext cx="7924298" cy="1696996"/>
            <a:chOff x="100544" y="5386118"/>
            <a:chExt cx="7924298" cy="1696996"/>
          </a:xfrm>
        </p:grpSpPr>
        <p:sp>
          <p:nvSpPr>
            <p:cNvPr id="31" name="Shape 9"/>
            <p:cNvSpPr/>
            <p:nvPr/>
          </p:nvSpPr>
          <p:spPr>
            <a:xfrm>
              <a:off x="100544" y="5386119"/>
              <a:ext cx="510302" cy="510302"/>
            </a:xfrm>
            <a:prstGeom prst="roundRect">
              <a:avLst>
                <a:gd name="adj" fmla="val 18669"/>
              </a:avLst>
            </a:prstGeom>
            <a:solidFill>
              <a:srgbClr val="CDE9FE"/>
            </a:solidFill>
            <a:ln w="7620">
              <a:solidFill>
                <a:srgbClr val="B3CFE4"/>
              </a:solidFill>
              <a:prstDash val="solid"/>
            </a:ln>
          </p:spPr>
        </p:sp>
        <p:sp>
          <p:nvSpPr>
            <p:cNvPr id="32" name="Text 10"/>
            <p:cNvSpPr/>
            <p:nvPr/>
          </p:nvSpPr>
          <p:spPr>
            <a:xfrm>
              <a:off x="185614" y="5428625"/>
              <a:ext cx="340162" cy="425291"/>
            </a:xfrm>
            <a:prstGeom prst="rect">
              <a:avLst/>
            </a:prstGeom>
            <a:noFill/>
          </p:spPr>
          <p:txBody>
            <a:bodyPr wrap="none" lIns="0" tIns="0" rIns="0" bIns="0" rtlCol="0" anchor="t"/>
            <a:lstStyle/>
            <a:p>
              <a:pPr marL="0" indent="0" algn="ctr">
                <a:lnSpc>
                  <a:spcPts val="2650"/>
                </a:lnSpc>
                <a:buNone/>
              </a:pPr>
              <a:r>
                <a:rPr lang="en-US" sz="2650" b="1">
                  <a:solidFill>
                    <a:srgbClr val="000000"/>
                  </a:solidFill>
                  <a:latin typeface="Arial" panose="020B0604020202020204" pitchFamily="34" charset="0"/>
                  <a:ea typeface="Inter Bold" pitchFamily="34" charset="-122"/>
                  <a:cs typeface="Arial" panose="020B0604020202020204" pitchFamily="34" charset="0"/>
                </a:rPr>
                <a:t>4</a:t>
              </a:r>
              <a:endParaRPr lang="en-US" sz="2650" dirty="0">
                <a:latin typeface="Arial" panose="020B0604020202020204" pitchFamily="34" charset="0"/>
              </a:endParaRPr>
            </a:p>
          </p:txBody>
        </p:sp>
        <p:sp>
          <p:nvSpPr>
            <p:cNvPr id="33" name="Text 11"/>
            <p:cNvSpPr/>
            <p:nvPr/>
          </p:nvSpPr>
          <p:spPr>
            <a:xfrm>
              <a:off x="837660" y="5386118"/>
              <a:ext cx="7034807" cy="806799"/>
            </a:xfrm>
            <a:prstGeom prst="rect">
              <a:avLst/>
            </a:prstGeom>
            <a:noFill/>
          </p:spPr>
          <p:txBody>
            <a:bodyPr wrap="none" lIns="0" tIns="0" rIns="0" bIns="0" rtlCol="0" anchor="t"/>
            <a:lstStyle/>
            <a:p>
              <a:pPr marL="0" indent="0" algn="l">
                <a:lnSpc>
                  <a:spcPts val="2750"/>
                </a:lnSpc>
                <a:buNone/>
              </a:pPr>
              <a:r>
                <a:rPr lang="en-US" altLang="en-US" sz="2200" b="1" dirty="0">
                  <a:latin typeface="Arial" panose="020B0604020202020204" pitchFamily="34" charset="0"/>
                </a:rPr>
                <a:t>The period of strong development and intelligence </a:t>
              </a:r>
              <a:endParaRPr lang="en-US" altLang="en-US" sz="2200" b="1" dirty="0">
                <a:latin typeface="Arial" panose="020B0604020202020204" pitchFamily="34" charset="0"/>
              </a:endParaRPr>
            </a:p>
            <a:p>
              <a:pPr marL="0" indent="0" algn="l">
                <a:lnSpc>
                  <a:spcPts val="2750"/>
                </a:lnSpc>
                <a:buNone/>
              </a:pPr>
              <a:r>
                <a:rPr lang="en-US" altLang="en-US" sz="2200" b="1" dirty="0">
                  <a:latin typeface="Arial" panose="020B0604020202020204" pitchFamily="34" charset="0"/>
                </a:rPr>
                <a:t>(2010 – present)</a:t>
              </a:r>
              <a:endParaRPr lang="en-US" altLang="en-US" sz="2200" b="1" dirty="0">
                <a:latin typeface="Arial" panose="020B0604020202020204" pitchFamily="34" charset="0"/>
              </a:endParaRPr>
            </a:p>
          </p:txBody>
        </p:sp>
        <p:sp>
          <p:nvSpPr>
            <p:cNvPr id="34" name="Text 12"/>
            <p:cNvSpPr/>
            <p:nvPr/>
          </p:nvSpPr>
          <p:spPr>
            <a:xfrm>
              <a:off x="901135" y="6033935"/>
              <a:ext cx="7123707" cy="1049179"/>
            </a:xfrm>
            <a:prstGeom prst="rect">
              <a:avLst/>
            </a:prstGeom>
            <a:noFill/>
          </p:spPr>
          <p:txBody>
            <a:bodyPr wrap="none" lIns="0" tIns="0" rIns="0" bIns="0" rtlCol="0" anchor="t"/>
            <a:lstStyle/>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Smartphones have become the center of digital life. </a:t>
              </a:r>
              <a:endParaRPr lang="en-US" altLang="en-US" sz="1750" dirty="0">
                <a:latin typeface="Arial" panose="020B0604020202020204" pitchFamily="34" charset="0"/>
              </a:endParaRPr>
            </a:p>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Integrating modern technology: AI, AR, high-end cameras, facial recognition, fingerprints, 5G...</a:t>
              </a:r>
              <a:endParaRPr lang="en-US" altLang="en-US" sz="1750" dirty="0">
                <a:latin typeface="Arial" panose="020B0604020202020204" pitchFamily="34" charset="0"/>
              </a:endParaRPr>
            </a:p>
          </p:txBody>
        </p:sp>
      </p:grpSp>
      <p:pic>
        <p:nvPicPr>
          <p:cNvPr id="2050" name="Picture 2" descr="timeline of the evolution and invention of the first smartpho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30198" y="673927"/>
            <a:ext cx="6816258" cy="4544172"/>
          </a:xfrm>
          <a:prstGeom prst="rect">
            <a:avLst/>
          </a:prstGeom>
          <a:noFill/>
          <a:extLst>
            <a:ext uri="{909E8E84-426E-40DD-AFC4-6F175D3DCCD1}">
              <a14:hiddenFill xmlns:a14="http://schemas.microsoft.com/office/drawing/2010/main">
                <a:solidFill>
                  <a:srgbClr val="FFFFFF"/>
                </a:solidFill>
              </a14:hiddenFill>
            </a:ext>
          </a:extLst>
        </p:spPr>
      </p:pic>
      <p:grpSp>
        <p:nvGrpSpPr>
          <p:cNvPr id="53" name="Group 52"/>
          <p:cNvGrpSpPr/>
          <p:nvPr/>
        </p:nvGrpSpPr>
        <p:grpSpPr>
          <a:xfrm>
            <a:off x="123646" y="4498576"/>
            <a:ext cx="6672391" cy="1183622"/>
            <a:chOff x="123647" y="4141591"/>
            <a:chExt cx="6672391" cy="1183622"/>
          </a:xfrm>
        </p:grpSpPr>
        <p:sp>
          <p:nvSpPr>
            <p:cNvPr id="39" name="Shape 9"/>
            <p:cNvSpPr/>
            <p:nvPr/>
          </p:nvSpPr>
          <p:spPr>
            <a:xfrm>
              <a:off x="123647" y="4141591"/>
              <a:ext cx="510302" cy="510302"/>
            </a:xfrm>
            <a:prstGeom prst="roundRect">
              <a:avLst>
                <a:gd name="adj" fmla="val 18669"/>
              </a:avLst>
            </a:prstGeom>
            <a:solidFill>
              <a:srgbClr val="CDE9FE"/>
            </a:solidFill>
            <a:ln w="7620">
              <a:solidFill>
                <a:srgbClr val="B3CFE4"/>
              </a:solidFill>
              <a:prstDash val="solid"/>
            </a:ln>
          </p:spPr>
        </p:sp>
        <p:sp>
          <p:nvSpPr>
            <p:cNvPr id="40" name="Text 11"/>
            <p:cNvSpPr/>
            <p:nvPr/>
          </p:nvSpPr>
          <p:spPr>
            <a:xfrm>
              <a:off x="860763" y="4141591"/>
              <a:ext cx="5894903" cy="354330"/>
            </a:xfrm>
            <a:prstGeom prst="rect">
              <a:avLst/>
            </a:prstGeom>
            <a:noFill/>
          </p:spPr>
          <p:txBody>
            <a:bodyPr wrap="none" lIns="0" tIns="0" rIns="0" bIns="0" rtlCol="0" anchor="t"/>
            <a:lstStyle/>
            <a:p>
              <a:pPr marL="0" indent="0" algn="l">
                <a:lnSpc>
                  <a:spcPts val="2750"/>
                </a:lnSpc>
                <a:buNone/>
              </a:pPr>
              <a:r>
                <a:rPr lang="en-US" altLang="en-US" sz="2200" b="1" dirty="0">
                  <a:latin typeface="Arial" panose="020B0604020202020204" pitchFamily="34" charset="0"/>
                </a:rPr>
                <a:t>The revolutionary period (2007 – 2009)</a:t>
              </a:r>
              <a:endParaRPr lang="en-US" altLang="en-US" sz="2200" b="1" dirty="0">
                <a:latin typeface="Arial" panose="020B0604020202020204" pitchFamily="34" charset="0"/>
              </a:endParaRPr>
            </a:p>
          </p:txBody>
        </p:sp>
        <p:sp>
          <p:nvSpPr>
            <p:cNvPr id="41" name="Text 12"/>
            <p:cNvSpPr/>
            <p:nvPr/>
          </p:nvSpPr>
          <p:spPr>
            <a:xfrm>
              <a:off x="901135" y="4502937"/>
              <a:ext cx="5894903" cy="822276"/>
            </a:xfrm>
            <a:prstGeom prst="rect">
              <a:avLst/>
            </a:prstGeom>
            <a:noFill/>
          </p:spPr>
          <p:txBody>
            <a:bodyPr wrap="none" lIns="0" tIns="0" rIns="0" bIns="0" rtlCol="0" anchor="t"/>
            <a:lstStyle/>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Full touch interface, eliminating physical keyboard.</a:t>
              </a:r>
              <a:endParaRPr lang="en-US" altLang="en-US" sz="1750" dirty="0">
                <a:latin typeface="Arial" panose="020B0604020202020204" pitchFamily="34" charset="0"/>
              </a:endParaRPr>
            </a:p>
            <a:p>
              <a:pPr marL="285750" indent="-285750" algn="l">
                <a:lnSpc>
                  <a:spcPts val="2850"/>
                </a:lnSpc>
                <a:buFont typeface="Arial" panose="020B0604020202020204" pitchFamily="34" charset="0"/>
                <a:buChar char="•"/>
              </a:pPr>
              <a:r>
                <a:rPr lang="en-US" altLang="en-US" sz="1750" dirty="0">
                  <a:latin typeface="Arial" panose="020B0604020202020204" pitchFamily="34" charset="0"/>
                </a:rPr>
                <a:t>Focus on user experience and application ecosystem.</a:t>
              </a:r>
              <a:endParaRPr lang="en-US" altLang="en-US" sz="1750" dirty="0">
                <a:latin typeface="Arial" panose="020B0604020202020204" pitchFamily="34" charset="0"/>
              </a:endParaRPr>
            </a:p>
          </p:txBody>
        </p:sp>
        <p:sp>
          <p:nvSpPr>
            <p:cNvPr id="42" name="Text 10"/>
            <p:cNvSpPr/>
            <p:nvPr/>
          </p:nvSpPr>
          <p:spPr>
            <a:xfrm>
              <a:off x="208717" y="4226602"/>
              <a:ext cx="340162" cy="425291"/>
            </a:xfrm>
            <a:prstGeom prst="rect">
              <a:avLst/>
            </a:prstGeom>
            <a:noFill/>
          </p:spPr>
          <p:txBody>
            <a:bodyPr wrap="none" lIns="0" tIns="0" rIns="0" bIns="0" rtlCol="0" anchor="t"/>
            <a:lstStyle/>
            <a:p>
              <a:pPr marL="0" indent="0" algn="ctr">
                <a:lnSpc>
                  <a:spcPts val="2650"/>
                </a:lnSpc>
                <a:buNone/>
              </a:pPr>
              <a:r>
                <a:rPr lang="en-US" sz="2650" b="1" dirty="0">
                  <a:solidFill>
                    <a:srgbClr val="000000"/>
                  </a:solidFill>
                  <a:latin typeface="Arial" panose="020B0604020202020204" pitchFamily="34" charset="0"/>
                  <a:ea typeface="Inter Bold" pitchFamily="34" charset="-122"/>
                  <a:cs typeface="Arial" panose="020B0604020202020204" pitchFamily="34" charset="0"/>
                </a:rPr>
                <a:t>3</a:t>
              </a:r>
              <a:endParaRPr lang="en-US" sz="2650" dirty="0">
                <a:latin typeface="Arial" panose="020B0604020202020204" pitchFamily="34" charset="0"/>
              </a:endParaRPr>
            </a:p>
          </p:txBody>
        </p:sp>
      </p:grpSp>
      <p:pic>
        <p:nvPicPr>
          <p:cNvPr id="2052" name="Picture 4" descr="Android hay iOS, vị vương trong làng hệ điều hà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0610" y="5316942"/>
            <a:ext cx="4598279" cy="24178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091433" y="7597142"/>
            <a:ext cx="3291840" cy="438150"/>
          </a:xfrm>
        </p:spPr>
        <p:txBody>
          <a:bodyPr/>
          <a:lstStyle/>
          <a:p>
            <a:fld id="{31D26D55-0A22-487A-A687-61FB58A6F16A}" type="slidenum">
              <a:rPr lang="en-US" smtClean="0"/>
            </a:fld>
            <a:endParaRPr lang="en-US"/>
          </a:p>
        </p:txBody>
      </p:sp>
      <p:sp>
        <p:nvSpPr>
          <p:cNvPr id="5" name="Title 4"/>
          <p:cNvSpPr>
            <a:spLocks noGrp="1"/>
          </p:cNvSpPr>
          <p:nvPr>
            <p:ph type="title"/>
          </p:nvPr>
        </p:nvSpPr>
        <p:spPr>
          <a:xfrm>
            <a:off x="0" y="119359"/>
            <a:ext cx="10975981" cy="548640"/>
          </a:xfrm>
        </p:spPr>
        <p:txBody>
          <a:bodyPr>
            <a:normAutofit/>
          </a:bodyPr>
          <a:lstStyle/>
          <a:p>
            <a:r>
              <a:rPr lang="en-US" altLang="en-US"/>
              <a:t>Mobile Software Architecture</a:t>
            </a:r>
            <a:endParaRPr lang="en-US" altLang="en-US"/>
          </a:p>
        </p:txBody>
      </p:sp>
      <p:sp>
        <p:nvSpPr>
          <p:cNvPr id="6" name="Text 0"/>
          <p:cNvSpPr/>
          <p:nvPr/>
        </p:nvSpPr>
        <p:spPr>
          <a:xfrm>
            <a:off x="503651" y="1275198"/>
            <a:ext cx="8030170" cy="708779"/>
          </a:xfrm>
          <a:prstGeom prst="rect">
            <a:avLst/>
          </a:prstGeom>
          <a:noFill/>
        </p:spPr>
        <p:txBody>
          <a:bodyPr wrap="none" lIns="0" tIns="0" rIns="0" bIns="0" rtlCol="0" anchor="t"/>
          <a:lstStyle/>
          <a:p>
            <a:pPr>
              <a:lnSpc>
                <a:spcPts val="5550"/>
              </a:lnSpc>
            </a:pPr>
            <a:endParaRPr lang="en-US" sz="4450" dirty="0">
              <a:solidFill>
                <a:prstClr val="black"/>
              </a:solidFill>
              <a:latin typeface="Arial" panose="020B0604020202020204" pitchFamily="34" charset="0"/>
            </a:endParaRPr>
          </a:p>
        </p:txBody>
      </p:sp>
      <p:sp>
        <p:nvSpPr>
          <p:cNvPr id="7" name="Text 1"/>
          <p:cNvSpPr/>
          <p:nvPr/>
        </p:nvSpPr>
        <p:spPr>
          <a:xfrm>
            <a:off x="414751" y="1205428"/>
            <a:ext cx="2835235" cy="354330"/>
          </a:xfrm>
          <a:prstGeom prst="rect">
            <a:avLst/>
          </a:prstGeom>
          <a:noFill/>
        </p:spPr>
        <p:txBody>
          <a:bodyPr wrap="none" lIns="0" tIns="0" rIns="0" bIns="0" rtlCol="0" anchor="t"/>
          <a:lstStyle/>
          <a:p>
            <a:pPr>
              <a:lnSpc>
                <a:spcPts val="2750"/>
              </a:lnSpc>
            </a:pPr>
            <a:r>
              <a:rPr lang="en-US" sz="2200" b="1" dirty="0">
                <a:solidFill>
                  <a:srgbClr val="000000"/>
                </a:solidFill>
                <a:latin typeface="Arial" panose="020B0604020202020204" pitchFamily="34" charset="0"/>
                <a:ea typeface="Inter Bold" pitchFamily="34" charset="-122"/>
                <a:cs typeface="Arial" panose="020B0604020202020204" pitchFamily="34" charset="0"/>
              </a:rPr>
              <a:t>MVC</a:t>
            </a:r>
            <a:endParaRPr lang="en-US" sz="2200" dirty="0">
              <a:solidFill>
                <a:prstClr val="black"/>
              </a:solidFill>
              <a:latin typeface="Arial" panose="020B0604020202020204" pitchFamily="34" charset="0"/>
            </a:endParaRPr>
          </a:p>
        </p:txBody>
      </p:sp>
      <p:sp>
        <p:nvSpPr>
          <p:cNvPr id="8" name="Text 2"/>
          <p:cNvSpPr/>
          <p:nvPr/>
        </p:nvSpPr>
        <p:spPr>
          <a:xfrm>
            <a:off x="414751" y="1786572"/>
            <a:ext cx="3785592" cy="725805"/>
          </a:xfrm>
          <a:prstGeom prst="rect">
            <a:avLst/>
          </a:prstGeom>
          <a:noFill/>
        </p:spPr>
        <p:txBody>
          <a:bodyPr wrap="square" lIns="0" tIns="0" rIns="0" bIns="0" rtlCol="0" anchor="t"/>
          <a:lstStyle/>
          <a:p>
            <a:pPr>
              <a:lnSpc>
                <a:spcPts val="2850"/>
              </a:lnSpc>
            </a:pPr>
            <a:r>
              <a:rPr lang="en-US" sz="1750" dirty="0">
                <a:solidFill>
                  <a:srgbClr val="0070C0"/>
                </a:solidFill>
                <a:latin typeface="Arial" panose="020B0604020202020204" pitchFamily="34" charset="0"/>
                <a:ea typeface="Inter" pitchFamily="34" charset="-122"/>
                <a:cs typeface="Arial" panose="020B0604020202020204" pitchFamily="34" charset="0"/>
              </a:rPr>
              <a:t>Model-View-Controller: </a:t>
            </a:r>
            <a:r>
              <a:rPr lang="en-US" altLang="en-US" sz="1750" dirty="0">
                <a:solidFill>
                  <a:srgbClr val="0070C0"/>
                </a:solidFill>
                <a:latin typeface="Arial" panose="020B0604020202020204" pitchFamily="34" charset="0"/>
                <a:ea typeface="Inter" pitchFamily="34" charset="-122"/>
                <a:cs typeface="Arial" panose="020B0604020202020204" pitchFamily="34" charset="0"/>
              </a:rPr>
              <a:t>Clearly separates display, processing, and data.</a:t>
            </a:r>
            <a:endParaRPr lang="en-US" sz="1750" dirty="0">
              <a:solidFill>
                <a:prstClr val="black"/>
              </a:solidFill>
              <a:latin typeface="Arial" panose="020B0604020202020204" pitchFamily="34" charset="0"/>
            </a:endParaRPr>
          </a:p>
        </p:txBody>
      </p:sp>
      <p:sp>
        <p:nvSpPr>
          <p:cNvPr id="9" name="Text 3"/>
          <p:cNvSpPr/>
          <p:nvPr/>
        </p:nvSpPr>
        <p:spPr>
          <a:xfrm>
            <a:off x="5271545" y="1175166"/>
            <a:ext cx="2835235" cy="354330"/>
          </a:xfrm>
          <a:prstGeom prst="rect">
            <a:avLst/>
          </a:prstGeom>
          <a:noFill/>
        </p:spPr>
        <p:txBody>
          <a:bodyPr wrap="none" lIns="0" tIns="0" rIns="0" bIns="0" rtlCol="0" anchor="t"/>
          <a:lstStyle/>
          <a:p>
            <a:pPr>
              <a:lnSpc>
                <a:spcPts val="2750"/>
              </a:lnSpc>
            </a:pPr>
            <a:r>
              <a:rPr lang="en-US" sz="2200" b="1" dirty="0">
                <a:solidFill>
                  <a:srgbClr val="000000"/>
                </a:solidFill>
                <a:latin typeface="Arial" panose="020B0604020202020204" pitchFamily="34" charset="0"/>
                <a:ea typeface="Inter Bold" pitchFamily="34" charset="-122"/>
                <a:cs typeface="Arial" panose="020B0604020202020204" pitchFamily="34" charset="0"/>
              </a:rPr>
              <a:t>MVVM</a:t>
            </a:r>
            <a:endParaRPr lang="en-US" sz="2200" dirty="0">
              <a:solidFill>
                <a:prstClr val="black"/>
              </a:solidFill>
              <a:latin typeface="Arial" panose="020B0604020202020204" pitchFamily="34" charset="0"/>
            </a:endParaRPr>
          </a:p>
        </p:txBody>
      </p:sp>
      <p:sp>
        <p:nvSpPr>
          <p:cNvPr id="10" name="Text 4"/>
          <p:cNvSpPr/>
          <p:nvPr/>
        </p:nvSpPr>
        <p:spPr>
          <a:xfrm>
            <a:off x="5271545" y="1756310"/>
            <a:ext cx="3785592" cy="1088708"/>
          </a:xfrm>
          <a:prstGeom prst="rect">
            <a:avLst/>
          </a:prstGeom>
          <a:noFill/>
        </p:spPr>
        <p:txBody>
          <a:bodyPr wrap="square" lIns="0" tIns="0" rIns="0" bIns="0" rtlCol="0" anchor="t"/>
          <a:lstStyle/>
          <a:p>
            <a:pPr>
              <a:lnSpc>
                <a:spcPts val="2850"/>
              </a:lnSpc>
            </a:pPr>
            <a:r>
              <a:rPr lang="en-US" sz="1750" dirty="0">
                <a:solidFill>
                  <a:srgbClr val="0070C0"/>
                </a:solidFill>
                <a:latin typeface="Arial" panose="020B0604020202020204" pitchFamily="34" charset="0"/>
                <a:ea typeface="Inter" pitchFamily="34" charset="-122"/>
                <a:cs typeface="Arial" panose="020B0604020202020204" pitchFamily="34" charset="0"/>
              </a:rPr>
              <a:t>Model-View-ViewModel: </a:t>
            </a:r>
            <a:r>
              <a:rPr lang="en-US" altLang="en-US" sz="1750" dirty="0">
                <a:solidFill>
                  <a:schemeClr val="tx1"/>
                </a:solidFill>
                <a:latin typeface="Arial" panose="020B0604020202020204" pitchFamily="34" charset="0"/>
              </a:rPr>
              <a:t>Supports two-way data binding, common on Android.</a:t>
            </a:r>
            <a:endParaRPr lang="en-US" altLang="en-US" sz="1750" dirty="0">
              <a:solidFill>
                <a:schemeClr val="tx1"/>
              </a:solidFill>
              <a:latin typeface="Arial" panose="020B0604020202020204" pitchFamily="34" charset="0"/>
            </a:endParaRPr>
          </a:p>
        </p:txBody>
      </p:sp>
      <p:sp>
        <p:nvSpPr>
          <p:cNvPr id="11" name="Text 5"/>
          <p:cNvSpPr/>
          <p:nvPr/>
        </p:nvSpPr>
        <p:spPr>
          <a:xfrm>
            <a:off x="10128339" y="1222157"/>
            <a:ext cx="2835235" cy="354330"/>
          </a:xfrm>
          <a:prstGeom prst="rect">
            <a:avLst/>
          </a:prstGeom>
          <a:noFill/>
        </p:spPr>
        <p:txBody>
          <a:bodyPr wrap="none" lIns="0" tIns="0" rIns="0" bIns="0" rtlCol="0" anchor="t">
            <a:noAutofit/>
          </a:bodyPr>
          <a:lstStyle/>
          <a:p>
            <a:pPr lvl="0" algn="l">
              <a:lnSpc>
                <a:spcPts val="2750"/>
              </a:lnSpc>
              <a:buClrTx/>
              <a:buSzTx/>
              <a:buFontTx/>
            </a:pPr>
            <a:r>
              <a:rPr lang="en-US" sz="2200" b="1" dirty="0">
                <a:solidFill>
                  <a:srgbClr val="000000"/>
                </a:solidFill>
                <a:latin typeface="Arial" panose="020B0604020202020204" pitchFamily="34" charset="0"/>
                <a:ea typeface="Inter Bold" pitchFamily="34" charset="-122"/>
                <a:cs typeface="Arial" panose="020B0604020202020204" pitchFamily="34" charset="0"/>
                <a:sym typeface="+mn-ea"/>
              </a:rPr>
              <a:t>Three-Layer Architecture</a:t>
            </a:r>
            <a:endParaRPr lang="en-US" sz="2200" b="1" dirty="0">
              <a:solidFill>
                <a:srgbClr val="000000"/>
              </a:solidFill>
              <a:latin typeface="Arial" panose="020B0604020202020204" pitchFamily="34" charset="0"/>
              <a:ea typeface="Inter Bold" pitchFamily="34" charset="-122"/>
              <a:cs typeface="Arial" panose="020B0604020202020204" pitchFamily="34" charset="0"/>
              <a:sym typeface="+mn-ea"/>
            </a:endParaRPr>
          </a:p>
        </p:txBody>
      </p:sp>
      <p:sp>
        <p:nvSpPr>
          <p:cNvPr id="12" name="Text 6"/>
          <p:cNvSpPr/>
          <p:nvPr/>
        </p:nvSpPr>
        <p:spPr>
          <a:xfrm>
            <a:off x="10128250" y="1803400"/>
            <a:ext cx="4201795" cy="725805"/>
          </a:xfrm>
          <a:prstGeom prst="rect">
            <a:avLst/>
          </a:prstGeom>
          <a:noFill/>
        </p:spPr>
        <p:txBody>
          <a:bodyPr wrap="square" lIns="0" tIns="0" rIns="0" bIns="0" rtlCol="0" anchor="t">
            <a:noAutofit/>
          </a:bodyPr>
          <a:lstStyle/>
          <a:p>
            <a:pPr lvl="0" algn="l">
              <a:lnSpc>
                <a:spcPts val="2850"/>
              </a:lnSpc>
              <a:buClrTx/>
              <a:buSzTx/>
              <a:buFontTx/>
            </a:pPr>
            <a:r>
              <a:rPr lang="en-US" sz="1750" dirty="0">
                <a:solidFill>
                  <a:srgbClr val="0070C0"/>
                </a:solidFill>
                <a:latin typeface="Arial" panose="020B0604020202020204" pitchFamily="34" charset="0"/>
                <a:ea typeface="Inter" pitchFamily="34" charset="-122"/>
                <a:cs typeface="Arial" panose="020B0604020202020204" pitchFamily="34" charset="0"/>
                <a:sym typeface="+mn-ea"/>
              </a:rPr>
              <a:t>Presentation, business, and data layers are separated for easier maintenance.</a:t>
            </a:r>
            <a:endParaRPr lang="en-US" sz="1750" dirty="0">
              <a:solidFill>
                <a:srgbClr val="0070C0"/>
              </a:solidFill>
              <a:latin typeface="Arial" panose="020B0604020202020204" pitchFamily="34" charset="0"/>
              <a:ea typeface="Inter" pitchFamily="34" charset="-122"/>
              <a:cs typeface="Arial" panose="020B0604020202020204" pitchFamily="34" charset="0"/>
              <a:sym typeface="+mn-ea"/>
            </a:endParaRPr>
          </a:p>
        </p:txBody>
      </p:sp>
      <p:pic>
        <p:nvPicPr>
          <p:cNvPr id="14" name="Picture 13"/>
          <p:cNvPicPr>
            <a:picLocks noChangeAspect="1"/>
          </p:cNvPicPr>
          <p:nvPr/>
        </p:nvPicPr>
        <p:blipFill>
          <a:blip r:embed="rId1"/>
          <a:stretch>
            <a:fillRect/>
          </a:stretch>
        </p:blipFill>
        <p:spPr>
          <a:xfrm>
            <a:off x="9899855" y="2775425"/>
            <a:ext cx="4572318" cy="4096266"/>
          </a:xfrm>
          <a:prstGeom prst="rect">
            <a:avLst/>
          </a:prstGeom>
        </p:spPr>
      </p:pic>
      <p:pic>
        <p:nvPicPr>
          <p:cNvPr id="16" name="Picture 15"/>
          <p:cNvPicPr>
            <a:picLocks noChangeAspect="1"/>
          </p:cNvPicPr>
          <p:nvPr/>
        </p:nvPicPr>
        <p:blipFill>
          <a:blip r:embed="rId2"/>
          <a:stretch>
            <a:fillRect/>
          </a:stretch>
        </p:blipFill>
        <p:spPr>
          <a:xfrm>
            <a:off x="289317" y="3009463"/>
            <a:ext cx="3590665" cy="3900969"/>
          </a:xfrm>
          <a:prstGeom prst="rect">
            <a:avLst/>
          </a:prstGeom>
        </p:spPr>
      </p:pic>
      <p:pic>
        <p:nvPicPr>
          <p:cNvPr id="18" name="Picture 17"/>
          <p:cNvPicPr>
            <a:picLocks noChangeAspect="1"/>
          </p:cNvPicPr>
          <p:nvPr/>
        </p:nvPicPr>
        <p:blipFill>
          <a:blip r:embed="rId3"/>
          <a:srcRect l="9895" t="6734" r="9636" b="4501"/>
          <a:stretch>
            <a:fillRect/>
          </a:stretch>
        </p:blipFill>
        <p:spPr>
          <a:xfrm>
            <a:off x="4427833" y="3682682"/>
            <a:ext cx="5062383" cy="19923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0987360" y="7666086"/>
            <a:ext cx="3511912" cy="438150"/>
          </a:xfrm>
        </p:spPr>
        <p:txBody>
          <a:bodyPr/>
          <a:lstStyle/>
          <a:p>
            <a:fld id="{31D26D55-0A22-487A-A687-61FB58A6F16A}" type="slidenum">
              <a:rPr lang="en-US" smtClean="0"/>
            </a:fld>
            <a:endParaRPr lang="en-US"/>
          </a:p>
        </p:txBody>
      </p:sp>
      <p:sp>
        <p:nvSpPr>
          <p:cNvPr id="7" name="Text 0"/>
          <p:cNvSpPr/>
          <p:nvPr/>
        </p:nvSpPr>
        <p:spPr>
          <a:xfrm>
            <a:off x="159185" y="-23342"/>
            <a:ext cx="7865745" cy="708779"/>
          </a:xfrm>
          <a:prstGeom prst="rect">
            <a:avLst/>
          </a:prstGeom>
          <a:noFill/>
        </p:spPr>
        <p:txBody>
          <a:bodyPr wrap="none" lIns="0" tIns="0" rIns="0" bIns="0" rtlCol="0" anchor="t"/>
          <a:lstStyle/>
          <a:p>
            <a:pPr algn="l">
              <a:lnSpc>
                <a:spcPts val="5550"/>
              </a:lnSpc>
            </a:pPr>
            <a:r>
              <a:rPr lang="en-US" altLang="en-US" sz="3200" b="1" dirty="0">
                <a:solidFill>
                  <a:schemeClr val="bg1"/>
                </a:solidFill>
                <a:latin typeface="Arial" panose="020B0604020202020204" pitchFamily="34" charset="0"/>
              </a:rPr>
              <a:t>Android Application Architecture</a:t>
            </a:r>
            <a:endParaRPr lang="en-US" altLang="en-US" sz="3200" b="1" dirty="0">
              <a:solidFill>
                <a:schemeClr val="bg1"/>
              </a:solidFill>
              <a:latin typeface="Arial" panose="020B0604020202020204" pitchFamily="34" charset="0"/>
            </a:endParaRPr>
          </a:p>
        </p:txBody>
      </p:sp>
      <p:pic>
        <p:nvPicPr>
          <p:cNvPr id="3" name="Picture 2"/>
          <p:cNvPicPr>
            <a:picLocks noChangeAspect="1"/>
          </p:cNvPicPr>
          <p:nvPr/>
        </p:nvPicPr>
        <p:blipFill>
          <a:blip r:embed="rId1"/>
          <a:stretch>
            <a:fillRect/>
          </a:stretch>
        </p:blipFill>
        <p:spPr>
          <a:xfrm>
            <a:off x="7139622" y="888425"/>
            <a:ext cx="7359650" cy="6100718"/>
          </a:xfrm>
          <a:prstGeom prst="rect">
            <a:avLst/>
          </a:prstGeom>
        </p:spPr>
      </p:pic>
      <p:sp>
        <p:nvSpPr>
          <p:cNvPr id="6" name="TextBox 5"/>
          <p:cNvSpPr txBox="1"/>
          <p:nvPr/>
        </p:nvSpPr>
        <p:spPr>
          <a:xfrm>
            <a:off x="9277350" y="6959029"/>
            <a:ext cx="7359650" cy="584775"/>
          </a:xfrm>
          <a:prstGeom prst="rect">
            <a:avLst/>
          </a:prstGeom>
          <a:noFill/>
        </p:spPr>
        <p:txBody>
          <a:bodyPr wrap="square">
            <a:spAutoFit/>
          </a:bodyPr>
          <a:lstStyle/>
          <a:p>
            <a:r>
              <a:rPr lang="en-US" sz="3200"/>
              <a:t>Hệ điều hành Android</a:t>
            </a:r>
            <a:endParaRPr lang="en-US" sz="3200"/>
          </a:p>
        </p:txBody>
      </p:sp>
      <p:sp>
        <p:nvSpPr>
          <p:cNvPr id="15" name="TextBox 14"/>
          <p:cNvSpPr txBox="1"/>
          <p:nvPr/>
        </p:nvSpPr>
        <p:spPr>
          <a:xfrm>
            <a:off x="0" y="1771134"/>
            <a:ext cx="6969125" cy="5262245"/>
          </a:xfrm>
          <a:prstGeom prst="rect">
            <a:avLst/>
          </a:prstGeom>
          <a:noFill/>
        </p:spPr>
        <p:txBody>
          <a:bodyPr wrap="square">
            <a:spAutoFit/>
          </a:bodyPr>
          <a:lstStyle/>
          <a:p>
            <a:pPr marL="342900" indent="-342900">
              <a:buFont typeface="Arial" panose="020B0604020202020204" pitchFamily="34" charset="0"/>
              <a:buChar char="•"/>
            </a:pPr>
            <a:r>
              <a:rPr lang="en-US" altLang="en-US" sz="2400" b="1">
                <a:latin typeface="Arial" panose="020B0604020202020204" pitchFamily="34" charset="0"/>
                <a:cs typeface="Arial" panose="020B0604020202020204" pitchFamily="34" charset="0"/>
              </a:rPr>
              <a:t>Linux Kernel:</a:t>
            </a:r>
            <a:r>
              <a:rPr lang="en-US" altLang="en-US" sz="2400">
                <a:latin typeface="Arial" panose="020B0604020202020204" pitchFamily="34" charset="0"/>
                <a:cs typeface="Arial" panose="020B0604020202020204" pitchFamily="34" charset="0"/>
              </a:rPr>
              <a:t> Core processor providing hardware abstraction.</a:t>
            </a: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b="1">
                <a:latin typeface="Arial" panose="020B0604020202020204" pitchFamily="34" charset="0"/>
                <a:cs typeface="Arial" panose="020B0604020202020204" pitchFamily="34" charset="0"/>
              </a:rPr>
              <a:t>Libraries:</a:t>
            </a:r>
            <a:r>
              <a:rPr lang="en-US" altLang="en-US" sz="2400">
                <a:latin typeface="Arial" panose="020B0604020202020204" pitchFamily="34" charset="0"/>
                <a:cs typeface="Arial" panose="020B0604020202020204" pitchFamily="34" charset="0"/>
              </a:rPr>
              <a:t> Libraries built on the Linux kernel and Java-based libraries supporting Android.</a:t>
            </a: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b="1">
                <a:latin typeface="Arial" panose="020B0604020202020204" pitchFamily="34" charset="0"/>
                <a:cs typeface="Arial" panose="020B0604020202020204" pitchFamily="34" charset="0"/>
              </a:rPr>
              <a:t>Android Runtime: </a:t>
            </a:r>
            <a:r>
              <a:rPr lang="en-US" altLang="en-US" sz="2400">
                <a:latin typeface="Arial" panose="020B0604020202020204" pitchFamily="34" charset="0"/>
                <a:cs typeface="Arial" panose="020B0604020202020204" pitchFamily="34" charset="0"/>
              </a:rPr>
              <a:t>The execution “brain” of Android apps.</a:t>
            </a: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b="1">
                <a:latin typeface="Arial" panose="020B0604020202020204" pitchFamily="34" charset="0"/>
                <a:cs typeface="Arial" panose="020B0604020202020204" pitchFamily="34" charset="0"/>
              </a:rPr>
              <a:t>Application Framework: </a:t>
            </a:r>
            <a:r>
              <a:rPr lang="en-US" altLang="en-US" sz="2400">
                <a:latin typeface="Arial" panose="020B0604020202020204" pitchFamily="34" charset="0"/>
                <a:cs typeface="Arial" panose="020B0604020202020204" pitchFamily="34" charset="0"/>
              </a:rPr>
              <a:t>Higher-level services for apps via Java classes.</a:t>
            </a: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b="1">
                <a:latin typeface="Arial" panose="020B0604020202020204" pitchFamily="34" charset="0"/>
                <a:cs typeface="Arial" panose="020B0604020202020204" pitchFamily="34" charset="0"/>
              </a:rPr>
              <a:t>Application:</a:t>
            </a:r>
            <a:r>
              <a:rPr lang="en-US" altLang="en-US" sz="2400">
                <a:latin typeface="Arial" panose="020B0604020202020204" pitchFamily="34" charset="0"/>
                <a:cs typeface="Arial" panose="020B0604020202020204" pitchFamily="34" charset="0"/>
              </a:rPr>
              <a:t> User-created apps reside here.</a:t>
            </a:r>
            <a:endParaRPr lang="en-US" alt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0987360" y="7666086"/>
            <a:ext cx="3511912" cy="438150"/>
          </a:xfrm>
        </p:spPr>
        <p:txBody>
          <a:bodyPr/>
          <a:lstStyle/>
          <a:p>
            <a:fld id="{31D26D55-0A22-487A-A687-61FB58A6F16A}" type="slidenum">
              <a:rPr lang="en-US" smtClean="0"/>
            </a:fld>
            <a:endParaRPr lang="en-US"/>
          </a:p>
        </p:txBody>
      </p:sp>
      <p:sp>
        <p:nvSpPr>
          <p:cNvPr id="7" name="Text 0"/>
          <p:cNvSpPr/>
          <p:nvPr/>
        </p:nvSpPr>
        <p:spPr>
          <a:xfrm>
            <a:off x="159185" y="-23342"/>
            <a:ext cx="7865745" cy="708779"/>
          </a:xfrm>
          <a:prstGeom prst="rect">
            <a:avLst/>
          </a:prstGeom>
          <a:noFill/>
        </p:spPr>
        <p:txBody>
          <a:bodyPr wrap="none" lIns="0" tIns="0" rIns="0" bIns="0" rtlCol="0" anchor="t"/>
          <a:lstStyle/>
          <a:p>
            <a:pPr>
              <a:lnSpc>
                <a:spcPts val="5550"/>
              </a:lnSpc>
            </a:pPr>
            <a:r>
              <a:rPr lang="en-US" sz="3200" b="1">
                <a:solidFill>
                  <a:schemeClr val="bg1"/>
                </a:solidFill>
                <a:latin typeface="Arial" panose="020B0604020202020204" pitchFamily="34" charset="0"/>
                <a:ea typeface="Inter Bold" pitchFamily="34" charset="-122"/>
                <a:cs typeface="Arial" panose="020B0604020202020204" pitchFamily="34" charset="0"/>
              </a:rPr>
              <a:t>Kiến Trúc Ứng Dụng Android</a:t>
            </a:r>
            <a:endParaRPr lang="en-US" sz="3200" dirty="0">
              <a:solidFill>
                <a:schemeClr val="bg1"/>
              </a:solidFill>
              <a:latin typeface="Arial" panose="020B0604020202020204" pitchFamily="34" charset="0"/>
            </a:endParaRPr>
          </a:p>
        </p:txBody>
      </p:sp>
      <p:sp>
        <p:nvSpPr>
          <p:cNvPr id="8" name="Shape 1"/>
          <p:cNvSpPr/>
          <p:nvPr/>
        </p:nvSpPr>
        <p:spPr>
          <a:xfrm>
            <a:off x="136442" y="3529672"/>
            <a:ext cx="4524430" cy="3049292"/>
          </a:xfrm>
          <a:prstGeom prst="roundRect">
            <a:avLst>
              <a:gd name="adj" fmla="val 4652"/>
            </a:avLst>
          </a:prstGeom>
          <a:solidFill>
            <a:srgbClr val="CDE9FE"/>
          </a:solidFill>
          <a:ln w="7620">
            <a:solidFill>
              <a:srgbClr val="B3CFE4"/>
            </a:solidFill>
            <a:prstDash val="solid"/>
          </a:ln>
        </p:spPr>
      </p:sp>
      <p:sp>
        <p:nvSpPr>
          <p:cNvPr id="9" name="Text 2"/>
          <p:cNvSpPr/>
          <p:nvPr/>
        </p:nvSpPr>
        <p:spPr>
          <a:xfrm>
            <a:off x="370877" y="3764106"/>
            <a:ext cx="2835235" cy="354330"/>
          </a:xfrm>
          <a:prstGeom prst="rect">
            <a:avLst/>
          </a:prstGeom>
          <a:noFill/>
        </p:spPr>
        <p:txBody>
          <a:bodyPr wrap="none" lIns="0" tIns="0" rIns="0" bIns="0" rtlCol="0" anchor="t"/>
          <a:lstStyle/>
          <a:p>
            <a:pPr algn="l">
              <a:lnSpc>
                <a:spcPts val="2750"/>
              </a:lnSpc>
            </a:pPr>
            <a:r>
              <a:rPr lang="en-US" altLang="en-US" sz="2200" b="1" dirty="0">
                <a:solidFill>
                  <a:prstClr val="black"/>
                </a:solidFill>
                <a:latin typeface="Arial" panose="020B0604020202020204" pitchFamily="34" charset="0"/>
              </a:rPr>
              <a:t>Separate Sandbox</a:t>
            </a:r>
            <a:endParaRPr lang="en-US" altLang="en-US" sz="2200" b="1" dirty="0">
              <a:solidFill>
                <a:prstClr val="black"/>
              </a:solidFill>
              <a:latin typeface="Arial" panose="020B0604020202020204" pitchFamily="34" charset="0"/>
            </a:endParaRPr>
          </a:p>
        </p:txBody>
      </p:sp>
      <p:sp>
        <p:nvSpPr>
          <p:cNvPr id="10" name="Text 3"/>
          <p:cNvSpPr/>
          <p:nvPr/>
        </p:nvSpPr>
        <p:spPr>
          <a:xfrm>
            <a:off x="370877" y="4254524"/>
            <a:ext cx="3818020" cy="1187054"/>
          </a:xfrm>
          <a:prstGeom prst="rect">
            <a:avLst/>
          </a:prstGeom>
          <a:noFill/>
        </p:spPr>
        <p:txBody>
          <a:bodyPr wrap="square" lIns="0" tIns="0" rIns="0" bIns="0" rtlCol="0" anchor="t"/>
          <a:lstStyle/>
          <a:p>
            <a:pPr>
              <a:lnSpc>
                <a:spcPts val="2850"/>
              </a:lnSpc>
            </a:pPr>
            <a:r>
              <a:rPr lang="en-US" altLang="en-US" sz="1750" dirty="0">
                <a:solidFill>
                  <a:prstClr val="black"/>
                </a:solidFill>
                <a:latin typeface="Arial" panose="020B0604020202020204" pitchFamily="34" charset="0"/>
              </a:rPr>
              <a:t>Files have restricted permissions</a:t>
            </a:r>
            <a:endParaRPr lang="en-US" altLang="en-US" sz="1750" dirty="0">
              <a:solidFill>
                <a:prstClr val="black"/>
              </a:solidFill>
              <a:latin typeface="Arial" panose="020B0604020202020204" pitchFamily="34" charset="0"/>
            </a:endParaRPr>
          </a:p>
          <a:p>
            <a:pPr>
              <a:lnSpc>
                <a:spcPts val="2850"/>
              </a:lnSpc>
            </a:pPr>
            <a:r>
              <a:rPr lang="en-US" altLang="en-US" sz="1750" dirty="0">
                <a:solidFill>
                  <a:prstClr val="black"/>
                </a:solidFill>
                <a:latin typeface="Arial" panose="020B0604020202020204" pitchFamily="34" charset="0"/>
              </a:rPr>
              <a:t>Each app has its own process ID.</a:t>
            </a:r>
            <a:endParaRPr lang="en-US" altLang="en-US" sz="1750" dirty="0">
              <a:solidFill>
                <a:prstClr val="black"/>
              </a:solidFill>
              <a:latin typeface="Arial" panose="020B0604020202020204" pitchFamily="34" charset="0"/>
            </a:endParaRPr>
          </a:p>
        </p:txBody>
      </p:sp>
      <p:sp>
        <p:nvSpPr>
          <p:cNvPr id="11" name="Shape 4"/>
          <p:cNvSpPr/>
          <p:nvPr/>
        </p:nvSpPr>
        <p:spPr>
          <a:xfrm>
            <a:off x="9815567" y="3546912"/>
            <a:ext cx="4683704" cy="3032051"/>
          </a:xfrm>
          <a:prstGeom prst="roundRect">
            <a:avLst>
              <a:gd name="adj" fmla="val 4652"/>
            </a:avLst>
          </a:prstGeom>
          <a:solidFill>
            <a:srgbClr val="CDE9FE"/>
          </a:solidFill>
          <a:ln w="7620">
            <a:solidFill>
              <a:srgbClr val="B3CFE4"/>
            </a:solidFill>
            <a:prstDash val="solid"/>
          </a:ln>
        </p:spPr>
        <p:txBody>
          <a:bodyPr/>
          <a:lstStyle/>
          <a:p>
            <a:endParaRPr lang="en-US"/>
          </a:p>
        </p:txBody>
      </p:sp>
      <p:sp>
        <p:nvSpPr>
          <p:cNvPr id="12" name="Text 5"/>
          <p:cNvSpPr/>
          <p:nvPr/>
        </p:nvSpPr>
        <p:spPr>
          <a:xfrm>
            <a:off x="10065674" y="3781347"/>
            <a:ext cx="3024781" cy="354330"/>
          </a:xfrm>
          <a:prstGeom prst="rect">
            <a:avLst/>
          </a:prstGeom>
          <a:noFill/>
        </p:spPr>
        <p:txBody>
          <a:bodyPr wrap="none" lIns="0" tIns="0" rIns="0" bIns="0" rtlCol="0" anchor="t"/>
          <a:lstStyle/>
          <a:p>
            <a:pPr algn="l">
              <a:lnSpc>
                <a:spcPts val="2750"/>
              </a:lnSpc>
            </a:pPr>
            <a:r>
              <a:rPr lang="en-US" altLang="en-US" sz="2200" b="1" dirty="0">
                <a:solidFill>
                  <a:prstClr val="black"/>
                </a:solidFill>
                <a:latin typeface="Arial" panose="020B0604020202020204" pitchFamily="34" charset="0"/>
              </a:rPr>
              <a:t>Data Sharing</a:t>
            </a:r>
            <a:endParaRPr lang="en-US" altLang="en-US" sz="2200" b="1" dirty="0">
              <a:solidFill>
                <a:prstClr val="black"/>
              </a:solidFill>
              <a:latin typeface="Arial" panose="020B0604020202020204" pitchFamily="34" charset="0"/>
            </a:endParaRPr>
          </a:p>
        </p:txBody>
      </p:sp>
      <p:sp>
        <p:nvSpPr>
          <p:cNvPr id="13" name="Text 6"/>
          <p:cNvSpPr/>
          <p:nvPr/>
        </p:nvSpPr>
        <p:spPr>
          <a:xfrm>
            <a:off x="10065674" y="4271765"/>
            <a:ext cx="4433598" cy="2471223"/>
          </a:xfrm>
          <a:prstGeom prst="rect">
            <a:avLst/>
          </a:prstGeom>
          <a:noFill/>
        </p:spPr>
        <p:txBody>
          <a:bodyPr wrap="square" lIns="0" tIns="0" rIns="0" bIns="0" rtlCol="0" anchor="t"/>
          <a:lstStyle/>
          <a:p>
            <a:pPr>
              <a:lnSpc>
                <a:spcPts val="2850"/>
              </a:lnSpc>
            </a:pPr>
            <a:r>
              <a:rPr lang="en-US" altLang="en-US" sz="1750" dirty="0">
                <a:solidFill>
                  <a:prstClr val="black"/>
                </a:solidFill>
                <a:latin typeface="Arial" panose="020B0604020202020204" pitchFamily="34" charset="0"/>
              </a:rPr>
              <a:t>Each Android app can share data with other apps</a:t>
            </a:r>
            <a:endParaRPr lang="en-US" altLang="en-US" sz="1750" dirty="0">
              <a:solidFill>
                <a:prstClr val="black"/>
              </a:solidFill>
              <a:latin typeface="Arial" panose="020B0604020202020204" pitchFamily="34" charset="0"/>
            </a:endParaRPr>
          </a:p>
          <a:p>
            <a:pPr>
              <a:lnSpc>
                <a:spcPts val="2850"/>
              </a:lnSpc>
            </a:pPr>
            <a:r>
              <a:rPr lang="en-US" altLang="en-US" sz="1750" dirty="0">
                <a:solidFill>
                  <a:prstClr val="black"/>
                </a:solidFill>
                <a:latin typeface="Arial" panose="020B0604020202020204" pitchFamily="34" charset="0"/>
              </a:rPr>
              <a:t>Each app can set up data sharing with other apps</a:t>
            </a:r>
            <a:endParaRPr lang="en-US" altLang="en-US" sz="1750" dirty="0">
              <a:solidFill>
                <a:prstClr val="black"/>
              </a:solidFill>
              <a:latin typeface="Arial" panose="020B0604020202020204" pitchFamily="34" charset="0"/>
            </a:endParaRPr>
          </a:p>
          <a:p>
            <a:pPr>
              <a:lnSpc>
                <a:spcPts val="2850"/>
              </a:lnSpc>
            </a:pPr>
            <a:r>
              <a:rPr lang="en-US" altLang="en-US" sz="1750" dirty="0">
                <a:solidFill>
                  <a:prstClr val="black"/>
                </a:solidFill>
                <a:latin typeface="Arial" panose="020B0604020202020204" pitchFamily="34" charset="0"/>
              </a:rPr>
              <a:t>Each app can still have access to address, phone status, SMS</a:t>
            </a:r>
            <a:endParaRPr lang="en-US" altLang="en-US" sz="1750" dirty="0">
              <a:solidFill>
                <a:prstClr val="black"/>
              </a:solidFill>
              <a:latin typeface="Arial" panose="020B0604020202020204" pitchFamily="34" charset="0"/>
            </a:endParaRPr>
          </a:p>
        </p:txBody>
      </p:sp>
      <p:sp>
        <p:nvSpPr>
          <p:cNvPr id="16" name="Text 9"/>
          <p:cNvSpPr/>
          <p:nvPr/>
        </p:nvSpPr>
        <p:spPr>
          <a:xfrm>
            <a:off x="5448629" y="5654280"/>
            <a:ext cx="3727490" cy="1088708"/>
          </a:xfrm>
          <a:prstGeom prst="rect">
            <a:avLst/>
          </a:prstGeom>
          <a:noFill/>
        </p:spPr>
        <p:txBody>
          <a:bodyPr wrap="square" lIns="0" tIns="0" rIns="0" bIns="0" rtlCol="0" anchor="t"/>
          <a:lstStyle/>
          <a:p>
            <a:pPr>
              <a:lnSpc>
                <a:spcPts val="2850"/>
              </a:lnSpc>
            </a:pPr>
            <a:endParaRPr lang="en-US" sz="1750" dirty="0">
              <a:solidFill>
                <a:prstClr val="black"/>
              </a:solidFill>
              <a:latin typeface="Arial" panose="020B0604020202020204" pitchFamily="34" charset="0"/>
            </a:endParaRPr>
          </a:p>
        </p:txBody>
      </p:sp>
      <p:sp>
        <p:nvSpPr>
          <p:cNvPr id="19" name="TextBox 18"/>
          <p:cNvSpPr txBox="1"/>
          <p:nvPr/>
        </p:nvSpPr>
        <p:spPr>
          <a:xfrm>
            <a:off x="133785" y="841105"/>
            <a:ext cx="10093882" cy="2306955"/>
          </a:xfrm>
          <a:prstGeom prst="rect">
            <a:avLst/>
          </a:prstGeom>
          <a:noFill/>
        </p:spPr>
        <p:txBody>
          <a:bodyPr wrap="square">
            <a:spAutoFit/>
          </a:bodyPr>
          <a:lstStyle/>
          <a:p>
            <a:pPr marL="285750" indent="-285750">
              <a:buFont typeface="Arial" panose="020B0604020202020204" pitchFamily="34" charset="0"/>
              <a:buChar char="•"/>
            </a:pPr>
            <a:r>
              <a:rPr lang="en-US" altLang="en-US" sz="2400">
                <a:latin typeface="Arial" panose="020B0604020202020204" pitchFamily="34" charset="0"/>
                <a:cs typeface="Arial" panose="020B0604020202020204" pitchFamily="34" charset="0"/>
              </a:rPr>
              <a:t>All Android apps are written in Java (or another language if using cross-platform technology)</a:t>
            </a:r>
            <a:endParaRPr lang="en-US" altLang="en-US" sz="2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2400">
                <a:latin typeface="Arial" panose="020B0604020202020204" pitchFamily="34" charset="0"/>
                <a:cs typeface="Arial" panose="020B0604020202020204" pitchFamily="34" charset="0"/>
              </a:rPr>
              <a:t>The executable file of an Android app has the extension APK</a:t>
            </a:r>
            <a:endParaRPr lang="en-US" altLang="en-US" sz="2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2400">
                <a:latin typeface="Arial" panose="020B0604020202020204" pitchFamily="34" charset="0"/>
                <a:cs typeface="Arial" panose="020B0604020202020204" pitchFamily="34" charset="0"/>
              </a:rPr>
              <a:t>When it is uploaded to the Store, Google will update a signature to this executable file.</a:t>
            </a:r>
            <a:endParaRPr lang="en-US" altLang="en-US" sz="2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2400">
                <a:latin typeface="Arial" panose="020B0604020202020204" pitchFamily="34" charset="0"/>
                <a:cs typeface="Arial" panose="020B0604020202020204" pitchFamily="34" charset="0"/>
              </a:rPr>
              <a:t>You can also use the App signing service to store your private keys.</a:t>
            </a:r>
            <a:endParaRPr lang="en-US" altLang="en-US" sz="2400">
              <a:latin typeface="Arial" panose="020B0604020202020204" pitchFamily="34" charset="0"/>
              <a:cs typeface="Arial" panose="020B0604020202020204" pitchFamily="34" charset="0"/>
            </a:endParaRPr>
          </a:p>
        </p:txBody>
      </p:sp>
      <p:sp>
        <p:nvSpPr>
          <p:cNvPr id="20" name="Shape 4"/>
          <p:cNvSpPr/>
          <p:nvPr/>
        </p:nvSpPr>
        <p:spPr>
          <a:xfrm>
            <a:off x="5043118" y="3529672"/>
            <a:ext cx="4390203" cy="3049293"/>
          </a:xfrm>
          <a:prstGeom prst="roundRect">
            <a:avLst>
              <a:gd name="adj" fmla="val 4652"/>
            </a:avLst>
          </a:prstGeom>
          <a:solidFill>
            <a:srgbClr val="CDE9FE"/>
          </a:solidFill>
          <a:ln w="7620">
            <a:solidFill>
              <a:srgbClr val="B3CFE4"/>
            </a:solidFill>
            <a:prstDash val="solid"/>
          </a:ln>
        </p:spPr>
        <p:txBody>
          <a:bodyPr/>
          <a:lstStyle/>
          <a:p>
            <a:endParaRPr lang="en-US"/>
          </a:p>
        </p:txBody>
      </p:sp>
      <p:sp>
        <p:nvSpPr>
          <p:cNvPr id="21" name="Text 5"/>
          <p:cNvSpPr/>
          <p:nvPr/>
        </p:nvSpPr>
        <p:spPr>
          <a:xfrm>
            <a:off x="5277554" y="3764106"/>
            <a:ext cx="2863808" cy="387693"/>
          </a:xfrm>
          <a:prstGeom prst="rect">
            <a:avLst/>
          </a:prstGeom>
          <a:noFill/>
        </p:spPr>
        <p:txBody>
          <a:bodyPr wrap="none" lIns="0" tIns="0" rIns="0" bIns="0" rtlCol="0" anchor="t"/>
          <a:lstStyle/>
          <a:p>
            <a:pPr algn="l">
              <a:lnSpc>
                <a:spcPts val="2750"/>
              </a:lnSpc>
            </a:pPr>
            <a:r>
              <a:rPr lang="en-US" altLang="en-US" sz="2200" b="1" dirty="0">
                <a:solidFill>
                  <a:prstClr val="black"/>
                </a:solidFill>
                <a:latin typeface="Arial" panose="020B0604020202020204" pitchFamily="34" charset="0"/>
              </a:rPr>
              <a:t>Private VM virtual machine</a:t>
            </a:r>
            <a:endParaRPr lang="en-US" altLang="en-US" sz="2200" b="1" dirty="0">
              <a:solidFill>
                <a:prstClr val="black"/>
              </a:solidFill>
              <a:latin typeface="Arial" panose="020B0604020202020204" pitchFamily="34" charset="0"/>
            </a:endParaRPr>
          </a:p>
        </p:txBody>
      </p:sp>
      <p:sp>
        <p:nvSpPr>
          <p:cNvPr id="22" name="Text 6"/>
          <p:cNvSpPr/>
          <p:nvPr/>
        </p:nvSpPr>
        <p:spPr>
          <a:xfrm>
            <a:off x="5277554" y="4254525"/>
            <a:ext cx="3765054" cy="794146"/>
          </a:xfrm>
          <a:prstGeom prst="rect">
            <a:avLst/>
          </a:prstGeom>
          <a:noFill/>
        </p:spPr>
        <p:txBody>
          <a:bodyPr wrap="square" lIns="0" tIns="0" rIns="0" bIns="0" rtlCol="0" anchor="t"/>
          <a:lstStyle/>
          <a:p>
            <a:pPr>
              <a:lnSpc>
                <a:spcPts val="2850"/>
              </a:lnSpc>
            </a:pPr>
            <a:r>
              <a:rPr lang="en-US" altLang="en-US" sz="1750">
                <a:solidFill>
                  <a:srgbClr val="000000"/>
                </a:solidFill>
                <a:latin typeface="Arial" panose="020B0604020202020204" pitchFamily="34" charset="0"/>
                <a:ea typeface="Inter" pitchFamily="34" charset="-122"/>
                <a:cs typeface="Arial" panose="020B0604020202020204" pitchFamily="34" charset="0"/>
              </a:rPr>
              <a:t>Source code runs independently per app, supporting "Write once, run everywhere" with a clear and easy-to-learn syntax.</a:t>
            </a:r>
            <a:r>
              <a:rPr lang="en-US" sz="1750">
                <a:solidFill>
                  <a:srgbClr val="000000"/>
                </a:solidFill>
                <a:latin typeface="Arial" panose="020B0604020202020204" pitchFamily="34" charset="0"/>
                <a:ea typeface="Inter" pitchFamily="34" charset="-122"/>
                <a:cs typeface="Arial" panose="020B0604020202020204" pitchFamily="34" charset="0"/>
              </a:rPr>
              <a:t> </a:t>
            </a:r>
            <a:endParaRPr lang="en-US" sz="1750">
              <a:solidFill>
                <a:srgbClr val="000000"/>
              </a:solidFill>
              <a:latin typeface="Arial" panose="020B0604020202020204" pitchFamily="34" charset="0"/>
              <a:ea typeface="Inter" pitchFamily="34" charset="-122"/>
              <a:cs typeface="Arial" panose="020B0604020202020204" pitchFamily="34" charset="0"/>
            </a:endParaRPr>
          </a:p>
          <a:p>
            <a:pPr>
              <a:lnSpc>
                <a:spcPts val="2850"/>
              </a:lnSpc>
            </a:pPr>
            <a:r>
              <a:rPr lang="en-US" altLang="en-US" sz="1750">
                <a:solidFill>
                  <a:prstClr val="black"/>
                </a:solidFill>
                <a:latin typeface="Arial" panose="020B0604020202020204" pitchFamily="34" charset="0"/>
              </a:rPr>
              <a:t>Each application has its own process ID.</a:t>
            </a:r>
            <a:endParaRPr lang="en-US" altLang="en-US" sz="1750">
              <a:solidFill>
                <a:prstClr val="black"/>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fld>
            <a:endParaRPr lang="en-US"/>
          </a:p>
        </p:txBody>
      </p:sp>
      <p:sp>
        <p:nvSpPr>
          <p:cNvPr id="7" name="Text 0"/>
          <p:cNvSpPr/>
          <p:nvPr/>
        </p:nvSpPr>
        <p:spPr>
          <a:xfrm>
            <a:off x="123746" y="-61010"/>
            <a:ext cx="6617970" cy="708779"/>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5550"/>
              </a:lnSpc>
              <a:spcBef>
                <a:spcPts val="0"/>
              </a:spcBef>
              <a:spcAft>
                <a:spcPts val="0"/>
              </a:spcAft>
              <a:buClrTx/>
              <a:buSzTx/>
              <a:buFontTx/>
              <a:buNone/>
              <a:defRPr/>
            </a:pPr>
            <a:r>
              <a:rPr kumimoji="0" lang="en-US" altLang="en-US" sz="3600" b="1"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iOS Application Architecture</a:t>
            </a:r>
            <a:endParaRPr kumimoji="0" lang="en-US" altLang="en-US" sz="3600" b="1" i="0" u="none" strike="noStrike" kern="1200" cap="none" spc="0" normalizeH="0" baseline="0" noProof="0" dirty="0">
              <a:ln>
                <a:noFill/>
              </a:ln>
              <a:solidFill>
                <a:schemeClr val="bg1"/>
              </a:solidFill>
              <a:effectLst/>
              <a:uLnTx/>
              <a:uFillTx/>
              <a:latin typeface="Arial" panose="020B0604020202020204" pitchFamily="34" charset="0"/>
              <a:ea typeface="+mn-ea"/>
              <a:cs typeface="+mn-cs"/>
            </a:endParaRPr>
          </a:p>
        </p:txBody>
      </p:sp>
      <p:pic>
        <p:nvPicPr>
          <p:cNvPr id="23" name="Picture 22"/>
          <p:cNvPicPr>
            <a:picLocks noChangeAspect="1"/>
          </p:cNvPicPr>
          <p:nvPr/>
        </p:nvPicPr>
        <p:blipFill>
          <a:blip r:embed="rId1"/>
          <a:stretch>
            <a:fillRect/>
          </a:stretch>
        </p:blipFill>
        <p:spPr>
          <a:xfrm>
            <a:off x="8151846" y="1787207"/>
            <a:ext cx="6364254" cy="4792227"/>
          </a:xfrm>
          <a:prstGeom prst="rect">
            <a:avLst/>
          </a:prstGeom>
        </p:spPr>
      </p:pic>
      <p:sp>
        <p:nvSpPr>
          <p:cNvPr id="25" name="TextBox 24"/>
          <p:cNvSpPr txBox="1"/>
          <p:nvPr/>
        </p:nvSpPr>
        <p:spPr>
          <a:xfrm>
            <a:off x="-31194" y="2172452"/>
            <a:ext cx="7973566" cy="3928110"/>
          </a:xfrm>
          <a:prstGeom prst="rect">
            <a:avLst/>
          </a:prstGeom>
          <a:noFill/>
        </p:spPr>
        <p:txBody>
          <a:bodyPr wrap="square">
            <a:spAutoFit/>
          </a:bodyPr>
          <a:lstStyle/>
          <a:p>
            <a:pPr marL="342900" indent="-342900">
              <a:lnSpc>
                <a:spcPct val="130000"/>
              </a:lnSpc>
              <a:buFont typeface="Arial" panose="020B0604020202020204" pitchFamily="34" charset="0"/>
              <a:buChar char="•"/>
            </a:pPr>
            <a:r>
              <a:rPr lang="en-US" sz="2400" b="1">
                <a:latin typeface="Arial" panose="020B0604020202020204" pitchFamily="34" charset="0"/>
                <a:cs typeface="Arial" panose="020B0604020202020204" pitchFamily="34" charset="0"/>
              </a:rPr>
              <a:t>Cocoa Touch: </a:t>
            </a:r>
            <a:r>
              <a:rPr lang="en-US" altLang="en-US" sz="2400">
                <a:latin typeface="Arial" panose="020B0604020202020204" pitchFamily="34" charset="0"/>
                <a:cs typeface="Arial" panose="020B0604020202020204" pitchFamily="34" charset="0"/>
              </a:rPr>
              <a:t>Provides frameworks and APIs (application programming interface) for UI (User interface) and event handling.</a:t>
            </a:r>
            <a:endParaRPr lang="en-US" sz="2400">
              <a:latin typeface="Arial" panose="020B0604020202020204" pitchFamily="34" charset="0"/>
              <a:cs typeface="Arial" panose="020B0604020202020204" pitchFamily="34" charset="0"/>
            </a:endParaRPr>
          </a:p>
          <a:p>
            <a:pPr marL="342900" indent="-342900">
              <a:lnSpc>
                <a:spcPct val="130000"/>
              </a:lnSpc>
              <a:buFont typeface="Arial" panose="020B0604020202020204" pitchFamily="34" charset="0"/>
              <a:buChar char="•"/>
            </a:pPr>
            <a:r>
              <a:rPr lang="en-US" sz="2400" b="1">
                <a:latin typeface="Arial" panose="020B0604020202020204" pitchFamily="34" charset="0"/>
                <a:cs typeface="Arial" panose="020B0604020202020204" pitchFamily="34" charset="0"/>
              </a:rPr>
              <a:t>Media</a:t>
            </a:r>
            <a:r>
              <a:rPr 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Manages audio, video, images, and graphics.</a:t>
            </a:r>
            <a:endParaRPr lang="en-US" altLang="en-US" sz="2400">
              <a:latin typeface="Arial" panose="020B0604020202020204" pitchFamily="34" charset="0"/>
              <a:cs typeface="Arial" panose="020B0604020202020204" pitchFamily="34" charset="0"/>
            </a:endParaRPr>
          </a:p>
          <a:p>
            <a:pPr marL="342900" indent="-342900">
              <a:lnSpc>
                <a:spcPct val="130000"/>
              </a:lnSpc>
              <a:buFont typeface="Arial" panose="020B0604020202020204" pitchFamily="34" charset="0"/>
              <a:buChar char="•"/>
            </a:pPr>
            <a:r>
              <a:rPr lang="en-US" sz="2400" b="1">
                <a:latin typeface="Arial" panose="020B0604020202020204" pitchFamily="34" charset="0"/>
                <a:cs typeface="Arial" panose="020B0604020202020204" pitchFamily="34" charset="0"/>
              </a:rPr>
              <a:t>Core Service</a:t>
            </a:r>
            <a:r>
              <a:rPr 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Offers essential system services for higher-level frameworks.</a:t>
            </a:r>
            <a:endParaRPr lang="en-US" altLang="en-US" sz="2400">
              <a:latin typeface="Arial" panose="020B0604020202020204" pitchFamily="34" charset="0"/>
              <a:cs typeface="Arial" panose="020B0604020202020204" pitchFamily="34" charset="0"/>
            </a:endParaRPr>
          </a:p>
          <a:p>
            <a:pPr marL="342900" indent="-342900">
              <a:lnSpc>
                <a:spcPct val="130000"/>
              </a:lnSpc>
              <a:buFont typeface="Arial" panose="020B0604020202020204" pitchFamily="34" charset="0"/>
              <a:buChar char="•"/>
            </a:pPr>
            <a:r>
              <a:rPr lang="en-US" sz="2400" b="1">
                <a:latin typeface="Arial" panose="020B0604020202020204" pitchFamily="34" charset="0"/>
                <a:cs typeface="Arial" panose="020B0604020202020204" pitchFamily="34" charset="0"/>
              </a:rPr>
              <a:t>Core OS</a:t>
            </a:r>
            <a:r>
              <a:rPr 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Handles memory, processes, file systems, security, and hardware drivers.</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fld>
            <a:endParaRPr lang="en-US"/>
          </a:p>
        </p:txBody>
      </p:sp>
      <p:sp>
        <p:nvSpPr>
          <p:cNvPr id="7" name="Text 0"/>
          <p:cNvSpPr/>
          <p:nvPr/>
        </p:nvSpPr>
        <p:spPr>
          <a:xfrm>
            <a:off x="-31194" y="-61010"/>
            <a:ext cx="6617970" cy="708779"/>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5550"/>
              </a:lnSpc>
              <a:spcBef>
                <a:spcPts val="0"/>
              </a:spcBef>
              <a:spcAft>
                <a:spcPts val="0"/>
              </a:spcAft>
              <a:buClrTx/>
              <a:buSzTx/>
              <a:buFontTx/>
              <a:buNone/>
              <a:defRPr/>
            </a:pPr>
            <a:r>
              <a:rPr lang="en-US" altLang="en-US" sz="3600" b="1" noProof="0" dirty="0">
                <a:ln>
                  <a:noFill/>
                </a:ln>
                <a:solidFill>
                  <a:schemeClr val="bg1"/>
                </a:solidFill>
                <a:effectLst/>
                <a:uLnTx/>
                <a:uFillTx/>
                <a:latin typeface="Arial" panose="020B0604020202020204" pitchFamily="34" charset="0"/>
                <a:sym typeface="+mn-ea"/>
              </a:rPr>
              <a:t>iOS Application Architecture</a:t>
            </a:r>
            <a:endParaRPr kumimoji="0" lang="en-US" sz="3600" b="0" i="0" u="none" strike="noStrike" kern="1200" cap="none" spc="0" normalizeH="0" baseline="0" noProof="0" dirty="0">
              <a:ln>
                <a:noFill/>
              </a:ln>
              <a:solidFill>
                <a:schemeClr val="bg1"/>
              </a:solidFill>
              <a:effectLst/>
              <a:uLnTx/>
              <a:uFillTx/>
              <a:latin typeface="Arial" panose="020B0604020202020204" pitchFamily="34" charset="0"/>
              <a:ea typeface="+mn-ea"/>
              <a:cs typeface="+mn-cs"/>
            </a:endParaRPr>
          </a:p>
        </p:txBody>
      </p:sp>
      <p:pic>
        <p:nvPicPr>
          <p:cNvPr id="17" name="Image 1"/>
          <p:cNvPicPr>
            <a:picLocks noChangeAspect="1"/>
          </p:cNvPicPr>
          <p:nvPr/>
        </p:nvPicPr>
        <p:blipFill>
          <a:blip r:embed="rId1"/>
          <a:stretch>
            <a:fillRect/>
          </a:stretch>
        </p:blipFill>
        <p:spPr>
          <a:xfrm>
            <a:off x="13608487" y="228600"/>
            <a:ext cx="907613" cy="510421"/>
          </a:xfrm>
          <a:prstGeom prst="rect">
            <a:avLst/>
          </a:prstGeom>
        </p:spPr>
      </p:pic>
      <p:pic>
        <p:nvPicPr>
          <p:cNvPr id="3" name="Picture 2"/>
          <p:cNvPicPr>
            <a:picLocks noChangeAspect="1"/>
          </p:cNvPicPr>
          <p:nvPr/>
        </p:nvPicPr>
        <p:blipFill>
          <a:blip r:embed="rId2"/>
          <a:stretch>
            <a:fillRect/>
          </a:stretch>
        </p:blipFill>
        <p:spPr>
          <a:xfrm>
            <a:off x="405932" y="739021"/>
            <a:ext cx="13076008" cy="4392951"/>
          </a:xfrm>
          <a:prstGeom prst="rect">
            <a:avLst/>
          </a:prstGeom>
        </p:spPr>
      </p:pic>
      <p:sp>
        <p:nvSpPr>
          <p:cNvPr id="14" name="TextBox 13"/>
          <p:cNvSpPr txBox="1"/>
          <p:nvPr/>
        </p:nvSpPr>
        <p:spPr>
          <a:xfrm>
            <a:off x="3426032" y="5503963"/>
            <a:ext cx="7673718" cy="1630045"/>
          </a:xfrm>
          <a:prstGeom prst="rect">
            <a:avLst/>
          </a:prstGeom>
          <a:noFill/>
        </p:spPr>
        <p:txBody>
          <a:bodyPr wrap="square">
            <a:spAutoFit/>
          </a:bodyPr>
          <a:lstStyle/>
          <a:p>
            <a:r>
              <a:rPr lang="en-US" altLang="en-US" sz="2000" b="1">
                <a:latin typeface="+mj-lt"/>
              </a:rPr>
              <a:t>Differences between iOS and Android:</a:t>
            </a:r>
            <a:endParaRPr lang="en-US" altLang="en-US" sz="2000" b="1">
              <a:latin typeface="+mj-lt"/>
            </a:endParaRPr>
          </a:p>
          <a:p>
            <a:pPr marL="342900" indent="-342900">
              <a:buFont typeface="Arial" panose="020B0604020202020204" pitchFamily="34" charset="0"/>
              <a:buChar char="•"/>
            </a:pPr>
            <a:r>
              <a:rPr lang="en-US" altLang="en-US" sz="2000">
                <a:latin typeface="+mj-lt"/>
              </a:rPr>
              <a:t>Each iOS layer has a specific component.</a:t>
            </a:r>
            <a:endParaRPr lang="en-US" altLang="en-US" sz="2000">
              <a:latin typeface="+mj-lt"/>
            </a:endParaRPr>
          </a:p>
          <a:p>
            <a:pPr marL="342900" indent="-342900">
              <a:buFont typeface="Arial" panose="020B0604020202020204" pitchFamily="34" charset="0"/>
              <a:buChar char="•"/>
            </a:pPr>
            <a:r>
              <a:rPr lang="en-US" altLang="en-US" sz="2000">
                <a:latin typeface="+mj-lt"/>
              </a:rPr>
              <a:t>Media layer is dedicated to multimedia.</a:t>
            </a:r>
            <a:endParaRPr lang="en-US" altLang="en-US" sz="2000">
              <a:latin typeface="+mj-lt"/>
            </a:endParaRPr>
          </a:p>
          <a:p>
            <a:pPr marL="342900" indent="-342900">
              <a:buFont typeface="Arial" panose="020B0604020202020204" pitchFamily="34" charset="0"/>
              <a:buChar char="•"/>
            </a:pPr>
            <a:r>
              <a:rPr lang="en-US" altLang="en-US" sz="2000">
                <a:latin typeface="+mj-lt"/>
              </a:rPr>
              <a:t>No Java VM layer needed.</a:t>
            </a:r>
            <a:endParaRPr lang="en-US" altLang="en-US" sz="2000">
              <a:latin typeface="+mj-lt"/>
            </a:endParaRPr>
          </a:p>
          <a:p>
            <a:pPr marL="342900" indent="-342900">
              <a:buFont typeface="Arial" panose="020B0604020202020204" pitchFamily="34" charset="0"/>
              <a:buChar char="•"/>
            </a:pPr>
            <a:r>
              <a:rPr lang="en-US" altLang="en-US" sz="2000">
                <a:latin typeface="+mj-lt"/>
              </a:rPr>
              <a:t>iOS architecture is less transparently published than Android.</a:t>
            </a:r>
            <a:endParaRPr lang="en-US" altLang="en-US" sz="200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fld>
            <a:endParaRPr lang="en-US"/>
          </a:p>
        </p:txBody>
      </p:sp>
      <p:sp>
        <p:nvSpPr>
          <p:cNvPr id="7" name="Text 0"/>
          <p:cNvSpPr/>
          <p:nvPr/>
        </p:nvSpPr>
        <p:spPr>
          <a:xfrm>
            <a:off x="-19764" y="-72440"/>
            <a:ext cx="6617970" cy="708779"/>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5550"/>
              </a:lnSpc>
              <a:spcBef>
                <a:spcPts val="0"/>
              </a:spcBef>
              <a:spcAft>
                <a:spcPts val="0"/>
              </a:spcAft>
              <a:buClrTx/>
              <a:buSzTx/>
              <a:buFontTx/>
              <a:buNone/>
              <a:defRPr/>
            </a:pPr>
            <a:r>
              <a:rPr lang="en-US" altLang="en-US" sz="3600" b="1" noProof="0" dirty="0">
                <a:ln>
                  <a:noFill/>
                </a:ln>
                <a:solidFill>
                  <a:schemeClr val="bg1"/>
                </a:solidFill>
                <a:effectLst/>
                <a:uLnTx/>
                <a:uFillTx/>
                <a:latin typeface="Arial" panose="020B0604020202020204" pitchFamily="34" charset="0"/>
                <a:sym typeface="+mn-ea"/>
              </a:rPr>
              <a:t>iOS Application Architecture</a:t>
            </a:r>
            <a:endParaRPr kumimoji="0" lang="en-US" sz="3600" b="0" i="0" u="none" strike="noStrike" kern="1200" cap="none" spc="0" normalizeH="0" baseline="0" noProof="0" dirty="0">
              <a:ln>
                <a:noFill/>
              </a:ln>
              <a:solidFill>
                <a:schemeClr val="bg1"/>
              </a:solidFill>
              <a:effectLst/>
              <a:uLnTx/>
              <a:uFillTx/>
              <a:latin typeface="Arial" panose="020B0604020202020204" pitchFamily="34" charset="0"/>
              <a:ea typeface="+mn-ea"/>
              <a:cs typeface="+mn-cs"/>
            </a:endParaRPr>
          </a:p>
        </p:txBody>
      </p:sp>
      <p:pic>
        <p:nvPicPr>
          <p:cNvPr id="5" name="Picture 4"/>
          <p:cNvPicPr>
            <a:picLocks noChangeAspect="1"/>
          </p:cNvPicPr>
          <p:nvPr/>
        </p:nvPicPr>
        <p:blipFill>
          <a:blip r:embed="rId1"/>
          <a:stretch>
            <a:fillRect/>
          </a:stretch>
        </p:blipFill>
        <p:spPr>
          <a:xfrm>
            <a:off x="7315200" y="734631"/>
            <a:ext cx="7054376" cy="2004084"/>
          </a:xfrm>
          <a:prstGeom prst="rect">
            <a:avLst/>
          </a:prstGeom>
        </p:spPr>
      </p:pic>
      <p:pic>
        <p:nvPicPr>
          <p:cNvPr id="8" name="Picture 7"/>
          <p:cNvPicPr>
            <a:picLocks noChangeAspect="1"/>
          </p:cNvPicPr>
          <p:nvPr/>
        </p:nvPicPr>
        <p:blipFill>
          <a:blip r:embed="rId2"/>
          <a:stretch>
            <a:fillRect/>
          </a:stretch>
        </p:blipFill>
        <p:spPr>
          <a:xfrm>
            <a:off x="7315200" y="3410064"/>
            <a:ext cx="6691191" cy="4536954"/>
          </a:xfrm>
          <a:prstGeom prst="rect">
            <a:avLst/>
          </a:prstGeom>
        </p:spPr>
      </p:pic>
      <p:sp>
        <p:nvSpPr>
          <p:cNvPr id="10" name="TextBox 9"/>
          <p:cNvSpPr txBox="1"/>
          <p:nvPr/>
        </p:nvSpPr>
        <p:spPr>
          <a:xfrm>
            <a:off x="124692" y="2557713"/>
            <a:ext cx="7190508" cy="3107690"/>
          </a:xfrm>
          <a:prstGeom prst="rect">
            <a:avLst/>
          </a:prstGeom>
          <a:noFill/>
        </p:spPr>
        <p:txBody>
          <a:bodyPr wrap="square">
            <a:spAutoFit/>
          </a:bodyPr>
          <a:lstStyle/>
          <a:p>
            <a:r>
              <a:rPr lang="en-US" altLang="en-US" sz="2800">
                <a:latin typeface="+mj-lt"/>
              </a:rPr>
              <a:t>MVC in </a:t>
            </a:r>
            <a:r>
              <a:rPr lang="en-US" altLang="en-US" sz="2800" b="1">
                <a:latin typeface="+mj-lt"/>
              </a:rPr>
              <a:t>iOS</a:t>
            </a:r>
            <a:endParaRPr lang="en-US" altLang="en-US" sz="2800">
              <a:latin typeface="+mj-lt"/>
            </a:endParaRPr>
          </a:p>
          <a:p>
            <a:pPr marL="457200" indent="-457200">
              <a:buFont typeface="Arial" panose="020B0604020202020204" pitchFamily="34" charset="0"/>
              <a:buChar char="•"/>
            </a:pPr>
            <a:r>
              <a:rPr lang="en-US" altLang="en-US" sz="2800">
                <a:latin typeface="+mj-lt"/>
              </a:rPr>
              <a:t>Model-View-Controller is still a fundamental approach to designing applications for mobile devices</a:t>
            </a:r>
            <a:endParaRPr lang="en-US" altLang="en-US" sz="2800">
              <a:latin typeface="+mj-lt"/>
            </a:endParaRPr>
          </a:p>
          <a:p>
            <a:pPr marL="457200" indent="-457200">
              <a:buFont typeface="Arial" panose="020B0604020202020204" pitchFamily="34" charset="0"/>
              <a:buChar char="•"/>
            </a:pPr>
            <a:r>
              <a:rPr lang="en-US" altLang="en-US" sz="2800">
                <a:latin typeface="+mj-lt"/>
              </a:rPr>
              <a:t>Due to the object-oriented capabilities of Objective-C, MVC is one of the design patterns for both </a:t>
            </a:r>
            <a:r>
              <a:rPr lang="en-US" altLang="en-US" sz="2800" b="1">
                <a:latin typeface="+mj-lt"/>
              </a:rPr>
              <a:t>iOS</a:t>
            </a:r>
            <a:r>
              <a:rPr lang="en-US" altLang="en-US" sz="2800">
                <a:latin typeface="+mj-lt"/>
              </a:rPr>
              <a:t> and OS X</a:t>
            </a:r>
            <a:endParaRPr lang="en-US" altLang="en-US" sz="280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latin typeface="+mj-lt"/>
              </a:rPr>
            </a:fld>
            <a:endParaRPr lang="en-US">
              <a:latin typeface="+mj-lt"/>
            </a:endParaRPr>
          </a:p>
        </p:txBody>
      </p:sp>
      <p:sp>
        <p:nvSpPr>
          <p:cNvPr id="6" name="Text 0"/>
          <p:cNvSpPr/>
          <p:nvPr/>
        </p:nvSpPr>
        <p:spPr>
          <a:xfrm>
            <a:off x="0" y="0"/>
            <a:ext cx="6317337"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mj-lt"/>
              </a:rPr>
              <a:t>Cross-Platform Architecture</a:t>
            </a:r>
            <a:endParaRPr lang="en-US" altLang="en-US" sz="3600" b="1" dirty="0">
              <a:solidFill>
                <a:schemeClr val="bg1"/>
              </a:solidFill>
              <a:latin typeface="+mj-lt"/>
            </a:endParaRPr>
          </a:p>
        </p:txBody>
      </p:sp>
      <p:graphicFrame>
        <p:nvGraphicFramePr>
          <p:cNvPr id="2" name="Table 1"/>
          <p:cNvGraphicFramePr>
            <a:graphicFrameLocks noGrp="1"/>
          </p:cNvGraphicFramePr>
          <p:nvPr/>
        </p:nvGraphicFramePr>
        <p:xfrm>
          <a:off x="788010" y="1953280"/>
          <a:ext cx="13034868" cy="5088785"/>
        </p:xfrm>
        <a:graphic>
          <a:graphicData uri="http://schemas.openxmlformats.org/drawingml/2006/table">
            <a:tbl>
              <a:tblPr firstRow="1" bandRow="1">
                <a:tableStyleId>{5C22544A-7EE6-4342-B048-85BDC9FD1C3A}</a:tableStyleId>
              </a:tblPr>
              <a:tblGrid>
                <a:gridCol w="4344956"/>
                <a:gridCol w="4344956"/>
                <a:gridCol w="4344956"/>
              </a:tblGrid>
              <a:tr h="653866">
                <a:tc>
                  <a:txBody>
                    <a:bodyPr/>
                    <a:lstStyle/>
                    <a:p>
                      <a:pPr algn="ctr"/>
                      <a:r>
                        <a:rPr lang="en-US" altLang="en-US">
                          <a:latin typeface="+mj-lt"/>
                        </a:rPr>
                        <a:t>Tools</a:t>
                      </a:r>
                      <a:endParaRPr lang="en-US" altLang="en-US">
                        <a:latin typeface="+mj-lt"/>
                      </a:endParaRPr>
                    </a:p>
                  </a:txBody>
                  <a:tcPr anchor="ctr"/>
                </a:tc>
                <a:tc>
                  <a:txBody>
                    <a:bodyPr/>
                    <a:lstStyle/>
                    <a:p>
                      <a:pPr algn="ctr"/>
                      <a:r>
                        <a:rPr lang="en-US">
                          <a:latin typeface="+mj-lt"/>
                        </a:rPr>
                        <a:t>Android</a:t>
                      </a:r>
                      <a:endParaRPr lang="en-US">
                        <a:latin typeface="+mj-lt"/>
                      </a:endParaRPr>
                    </a:p>
                  </a:txBody>
                  <a:tcPr anchor="ctr"/>
                </a:tc>
                <a:tc>
                  <a:txBody>
                    <a:bodyPr/>
                    <a:lstStyle/>
                    <a:p>
                      <a:pPr algn="ctr"/>
                      <a:r>
                        <a:rPr lang="en-US">
                          <a:latin typeface="+mj-lt"/>
                        </a:rPr>
                        <a:t>iOS</a:t>
                      </a:r>
                      <a:endParaRPr lang="en-US">
                        <a:latin typeface="+mj-lt"/>
                      </a:endParaRPr>
                    </a:p>
                  </a:txBody>
                  <a:tcPr anchor="ctr"/>
                </a:tc>
              </a:tr>
              <a:tr h="653866">
                <a:tc>
                  <a:txBody>
                    <a:bodyPr/>
                    <a:lstStyle/>
                    <a:p>
                      <a:r>
                        <a:rPr lang="en-US" altLang="en-US">
                          <a:latin typeface="+mj-lt"/>
                        </a:rPr>
                        <a:t>Open source IDE</a:t>
                      </a:r>
                      <a:endParaRPr lang="en-US" altLang="en-US">
                        <a:latin typeface="+mj-lt"/>
                      </a:endParaRPr>
                    </a:p>
                  </a:txBody>
                  <a:tcPr/>
                </a:tc>
                <a:tc>
                  <a:txBody>
                    <a:bodyPr/>
                    <a:lstStyle/>
                    <a:p>
                      <a:r>
                        <a:rPr lang="en-US">
                          <a:latin typeface="+mj-lt"/>
                        </a:rPr>
                        <a:t>Android Studio</a:t>
                      </a:r>
                      <a:endParaRPr lang="en-US">
                        <a:latin typeface="+mj-lt"/>
                      </a:endParaRPr>
                    </a:p>
                  </a:txBody>
                  <a:tcPr/>
                </a:tc>
                <a:tc>
                  <a:txBody>
                    <a:bodyPr/>
                    <a:lstStyle/>
                    <a:p>
                      <a:r>
                        <a:rPr lang="en-US">
                          <a:latin typeface="+mj-lt"/>
                        </a:rPr>
                        <a:t>N/A</a:t>
                      </a:r>
                      <a:endParaRPr lang="en-US">
                        <a:latin typeface="+mj-lt"/>
                      </a:endParaRPr>
                    </a:p>
                  </a:txBody>
                  <a:tcPr/>
                </a:tc>
              </a:tr>
              <a:tr h="653866">
                <a:tc>
                  <a:txBody>
                    <a:bodyPr/>
                    <a:lstStyle/>
                    <a:p>
                      <a:r>
                        <a:rPr lang="en-US" altLang="en-US">
                          <a:latin typeface="+mj-lt"/>
                        </a:rPr>
                        <a:t>Copyright IDE</a:t>
                      </a:r>
                      <a:endParaRPr lang="en-US" altLang="en-US">
                        <a:latin typeface="+mj-lt"/>
                      </a:endParaRPr>
                    </a:p>
                  </a:txBody>
                  <a:tcPr/>
                </a:tc>
                <a:tc>
                  <a:txBody>
                    <a:bodyPr/>
                    <a:lstStyle/>
                    <a:p>
                      <a:r>
                        <a:rPr lang="en-US">
                          <a:latin typeface="+mj-lt"/>
                        </a:rPr>
                        <a:t>IntelliJ IDEA</a:t>
                      </a:r>
                      <a:endParaRPr lang="en-US">
                        <a:latin typeface="+mj-lt"/>
                      </a:endParaRPr>
                    </a:p>
                  </a:txBody>
                  <a:tcPr/>
                </a:tc>
                <a:tc>
                  <a:txBody>
                    <a:bodyPr/>
                    <a:lstStyle/>
                    <a:p>
                      <a:r>
                        <a:rPr lang="en-US">
                          <a:latin typeface="+mj-lt"/>
                        </a:rPr>
                        <a:t>XCode</a:t>
                      </a:r>
                      <a:endParaRPr lang="en-US">
                        <a:latin typeface="+mj-lt"/>
                      </a:endParaRPr>
                    </a:p>
                  </a:txBody>
                  <a:tcPr/>
                </a:tc>
              </a:tr>
              <a:tr h="653866">
                <a:tc>
                  <a:txBody>
                    <a:bodyPr/>
                    <a:lstStyle/>
                    <a:p>
                      <a:r>
                        <a:rPr lang="en-US" altLang="en-US">
                          <a:latin typeface="+mj-lt"/>
                        </a:rPr>
                        <a:t>Testing tools</a:t>
                      </a:r>
                      <a:endParaRPr lang="en-US" altLang="en-US">
                        <a:latin typeface="+mj-lt"/>
                      </a:endParaRPr>
                    </a:p>
                  </a:txBody>
                  <a:tcPr/>
                </a:tc>
                <a:tc>
                  <a:txBody>
                    <a:bodyPr/>
                    <a:lstStyle/>
                    <a:p>
                      <a:r>
                        <a:rPr lang="en-US">
                          <a:latin typeface="+mj-lt"/>
                        </a:rPr>
                        <a:t>Jubit, Espresso</a:t>
                      </a:r>
                      <a:endParaRPr lang="en-US">
                        <a:latin typeface="+mj-lt"/>
                      </a:endParaRPr>
                    </a:p>
                  </a:txBody>
                  <a:tcPr/>
                </a:tc>
                <a:tc>
                  <a:txBody>
                    <a:bodyPr/>
                    <a:lstStyle/>
                    <a:p>
                      <a:r>
                        <a:rPr lang="en-US">
                          <a:latin typeface="+mj-lt"/>
                        </a:rPr>
                        <a:t>XCUnit</a:t>
                      </a:r>
                      <a:endParaRPr lang="en-US">
                        <a:latin typeface="+mj-lt"/>
                      </a:endParaRPr>
                    </a:p>
                  </a:txBody>
                  <a:tcPr/>
                </a:tc>
              </a:tr>
              <a:tr h="653866">
                <a:tc>
                  <a:txBody>
                    <a:bodyPr/>
                    <a:lstStyle/>
                    <a:p>
                      <a:r>
                        <a:rPr lang="en-US" altLang="en-US">
                          <a:latin typeface="+mj-lt"/>
                        </a:rPr>
                        <a:t>Performance measurement tools</a:t>
                      </a:r>
                      <a:endParaRPr lang="en-US" altLang="en-US">
                        <a:latin typeface="+mj-lt"/>
                      </a:endParaRPr>
                    </a:p>
                  </a:txBody>
                  <a:tcPr/>
                </a:tc>
                <a:tc>
                  <a:txBody>
                    <a:bodyPr/>
                    <a:lstStyle/>
                    <a:p>
                      <a:r>
                        <a:rPr lang="en-US">
                          <a:latin typeface="+mj-lt"/>
                        </a:rPr>
                        <a:t>Android Profiler</a:t>
                      </a:r>
                      <a:endParaRPr lang="en-US">
                        <a:latin typeface="+mj-lt"/>
                      </a:endParaRPr>
                    </a:p>
                  </a:txBody>
                  <a:tcPr/>
                </a:tc>
                <a:tc>
                  <a:txBody>
                    <a:bodyPr/>
                    <a:lstStyle/>
                    <a:p>
                      <a:r>
                        <a:rPr lang="en-US">
                          <a:latin typeface="+mj-lt"/>
                        </a:rPr>
                        <a:t>Xcode Instruments</a:t>
                      </a:r>
                      <a:endParaRPr lang="en-US">
                        <a:latin typeface="+mj-lt"/>
                      </a:endParaRPr>
                    </a:p>
                  </a:txBody>
                  <a:tcPr/>
                </a:tc>
              </a:tr>
              <a:tr h="653866">
                <a:tc>
                  <a:txBody>
                    <a:bodyPr/>
                    <a:lstStyle/>
                    <a:p>
                      <a:r>
                        <a:rPr lang="en-US" altLang="en-US">
                          <a:latin typeface="+mj-lt"/>
                        </a:rPr>
                        <a:t>Source code management tools</a:t>
                      </a:r>
                      <a:endParaRPr lang="en-US" altLang="en-US">
                        <a:latin typeface="+mj-lt"/>
                      </a:endParaRPr>
                    </a:p>
                  </a:txBody>
                  <a:tcPr/>
                </a:tc>
                <a:tc gridSpan="2">
                  <a:txBody>
                    <a:bodyPr/>
                    <a:lstStyle/>
                    <a:p>
                      <a:pPr algn="ctr"/>
                      <a:r>
                        <a:rPr lang="en-US">
                          <a:latin typeface="+mj-lt"/>
                        </a:rPr>
                        <a:t>Git, Subversion, CVS</a:t>
                      </a:r>
                      <a:endParaRPr lang="en-US">
                        <a:latin typeface="+mj-lt"/>
                      </a:endParaRPr>
                    </a:p>
                  </a:txBody>
                  <a:tcPr anchor="ctr"/>
                </a:tc>
                <a:tc hMerge="1">
                  <a:tcPr/>
                </a:tc>
              </a:tr>
              <a:tr h="1165589">
                <a:tc>
                  <a:txBody>
                    <a:bodyPr/>
                    <a:lstStyle/>
                    <a:p>
                      <a:r>
                        <a:rPr lang="en-US" altLang="en-US">
                          <a:latin typeface="+mj-lt"/>
                        </a:rPr>
                        <a:t>Emulator</a:t>
                      </a:r>
                      <a:endParaRPr lang="en-US" altLang="en-US">
                        <a:latin typeface="+mj-lt"/>
                      </a:endParaRPr>
                    </a:p>
                  </a:txBody>
                  <a:tcPr/>
                </a:tc>
                <a:tc>
                  <a:txBody>
                    <a:bodyPr/>
                    <a:lstStyle/>
                    <a:p>
                      <a:r>
                        <a:rPr lang="sv-SE">
                          <a:latin typeface="+mj-lt"/>
                        </a:rPr>
                        <a:t>Android Emulator, Intel</a:t>
                      </a:r>
                      <a:endParaRPr lang="sv-SE">
                        <a:latin typeface="+mj-lt"/>
                      </a:endParaRPr>
                    </a:p>
                    <a:p>
                      <a:r>
                        <a:rPr lang="sv-SE">
                          <a:latin typeface="+mj-lt"/>
                        </a:rPr>
                        <a:t>HAXM, Genymotion</a:t>
                      </a:r>
                      <a:endParaRPr lang="en-US">
                        <a:latin typeface="+mj-lt"/>
                      </a:endParaRPr>
                    </a:p>
                  </a:txBody>
                  <a:tcPr/>
                </a:tc>
                <a:tc>
                  <a:txBody>
                    <a:bodyPr/>
                    <a:lstStyle/>
                    <a:p>
                      <a:r>
                        <a:rPr lang="en-US">
                          <a:latin typeface="+mj-lt"/>
                        </a:rPr>
                        <a:t>iPhone Simulator</a:t>
                      </a:r>
                      <a:endParaRPr lang="en-US">
                        <a:latin typeface="+mj-lt"/>
                      </a:endParaRPr>
                    </a:p>
                  </a:txBody>
                  <a:tcPr/>
                </a:tc>
              </a:tr>
            </a:tbl>
          </a:graphicData>
        </a:graphic>
      </p:graphicFrame>
      <p:sp>
        <p:nvSpPr>
          <p:cNvPr id="3" name="TextBox 2"/>
          <p:cNvSpPr txBox="1"/>
          <p:nvPr/>
        </p:nvSpPr>
        <p:spPr>
          <a:xfrm>
            <a:off x="653143" y="914400"/>
            <a:ext cx="10307781" cy="829945"/>
          </a:xfrm>
          <a:prstGeom prst="rect">
            <a:avLst/>
          </a:prstGeom>
          <a:noFill/>
        </p:spPr>
        <p:txBody>
          <a:bodyPr wrap="square" rtlCol="0">
            <a:spAutoFit/>
          </a:bodyPr>
          <a:lstStyle/>
          <a:p>
            <a:r>
              <a:rPr lang="en-US" altLang="en-US" sz="2400">
                <a:latin typeface="+mj-lt"/>
              </a:rPr>
              <a:t>If not using cross-platform tools, separate development is needed for each platform.</a:t>
            </a:r>
            <a:endParaRPr lang="en-US" altLang="en-US" sz="240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latin typeface="+mj-lt"/>
              </a:rPr>
            </a:fld>
            <a:endParaRPr lang="en-US">
              <a:latin typeface="+mj-lt"/>
            </a:endParaRPr>
          </a:p>
        </p:txBody>
      </p:sp>
      <p:sp>
        <p:nvSpPr>
          <p:cNvPr id="6" name="Text 0"/>
          <p:cNvSpPr/>
          <p:nvPr/>
        </p:nvSpPr>
        <p:spPr>
          <a:xfrm>
            <a:off x="0" y="0"/>
            <a:ext cx="6317337"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mj-lt"/>
              </a:rPr>
              <a:t>Cross-Platform Architecture</a:t>
            </a:r>
            <a:endParaRPr lang="en-US" altLang="en-US" sz="3600" b="1" dirty="0">
              <a:solidFill>
                <a:schemeClr val="bg1"/>
              </a:solidFill>
              <a:latin typeface="+mj-lt"/>
            </a:endParaRPr>
          </a:p>
        </p:txBody>
      </p:sp>
      <p:sp>
        <p:nvSpPr>
          <p:cNvPr id="7" name="TextBox 6"/>
          <p:cNvSpPr txBox="1"/>
          <p:nvPr/>
        </p:nvSpPr>
        <p:spPr>
          <a:xfrm>
            <a:off x="317500" y="1409065"/>
            <a:ext cx="6303010" cy="4154170"/>
          </a:xfrm>
          <a:prstGeom prst="rect">
            <a:avLst/>
          </a:prstGeom>
          <a:noFill/>
        </p:spPr>
        <p:txBody>
          <a:bodyPr wrap="square">
            <a:spAutoFit/>
          </a:bodyPr>
          <a:lstStyle/>
          <a:p>
            <a:pPr marL="285750" indent="-285750">
              <a:buFont typeface="Arial" panose="020B0604020202020204" pitchFamily="34" charset="0"/>
              <a:buChar char="•"/>
            </a:pPr>
            <a:r>
              <a:rPr lang="en-US" altLang="en-US" sz="2200" b="1">
                <a:latin typeface="Arial" panose="020B0604020202020204" pitchFamily="34" charset="0"/>
              </a:rPr>
              <a:t>Definition: </a:t>
            </a:r>
            <a:r>
              <a:rPr lang="en-US" altLang="en-US" sz="2200">
                <a:latin typeface="Arial" panose="020B0604020202020204" pitchFamily="34" charset="0"/>
              </a:rPr>
              <a:t>Apps developed using frameworks that support cross-platform development. “Write once, run anywhere.”</a:t>
            </a:r>
            <a:endParaRPr lang="en-US" altLang="en-US" sz="2200">
              <a:latin typeface="Arial" panose="020B0604020202020204" pitchFamily="34" charset="0"/>
            </a:endParaRPr>
          </a:p>
          <a:p>
            <a:pPr marL="285750" indent="-285750">
              <a:buFont typeface="Arial" panose="020B0604020202020204" pitchFamily="34" charset="0"/>
              <a:buChar char="•"/>
            </a:pPr>
            <a:r>
              <a:rPr lang="en-US" altLang="en-US" sz="2200" b="1">
                <a:latin typeface="Arial" panose="020B0604020202020204" pitchFamily="34" charset="0"/>
                <a:sym typeface="+mn-ea"/>
              </a:rPr>
              <a:t>Evaluation: </a:t>
            </a:r>
            <a:r>
              <a:rPr lang="en-US" altLang="en-US" sz="2200">
                <a:latin typeface="Arial" panose="020B0604020202020204" pitchFamily="34" charset="0"/>
                <a:sym typeface="+mn-ea"/>
              </a:rPr>
              <a:t>Consider the following when deciding to use cross-platform:</a:t>
            </a:r>
            <a:endParaRPr lang="en-US" altLang="en-US" sz="2200">
              <a:latin typeface="Arial" panose="020B0604020202020204" pitchFamily="34" charset="0"/>
            </a:endParaRPr>
          </a:p>
          <a:p>
            <a:pPr marL="742950" lvl="1" indent="-285750">
              <a:buFont typeface="Arial" panose="020B0604020202020204" pitchFamily="34" charset="0"/>
              <a:buChar char="•"/>
            </a:pPr>
            <a:r>
              <a:rPr lang="en-US" altLang="en-US" sz="2200">
                <a:latin typeface="Arial" panose="020B0604020202020204" pitchFamily="34" charset="0"/>
                <a:sym typeface="+mn-ea"/>
              </a:rPr>
              <a:t>Target user group (Android, iOS, or both)?</a:t>
            </a:r>
            <a:endParaRPr lang="en-US" altLang="en-US" sz="2200">
              <a:latin typeface="Arial" panose="020B0604020202020204" pitchFamily="34" charset="0"/>
            </a:endParaRPr>
          </a:p>
          <a:p>
            <a:pPr marL="742950" lvl="1" indent="-285750">
              <a:buFont typeface="Arial" panose="020B0604020202020204" pitchFamily="34" charset="0"/>
              <a:buChar char="•"/>
            </a:pPr>
            <a:r>
              <a:rPr lang="en-US" altLang="en-US" sz="2200">
                <a:latin typeface="Arial" panose="020B0604020202020204" pitchFamily="34" charset="0"/>
                <a:sym typeface="+mn-ea"/>
              </a:rPr>
              <a:t>Budget for development?</a:t>
            </a:r>
            <a:endParaRPr lang="en-US" altLang="en-US" sz="2200">
              <a:latin typeface="Arial" panose="020B0604020202020204" pitchFamily="34" charset="0"/>
            </a:endParaRPr>
          </a:p>
          <a:p>
            <a:pPr marL="742950" lvl="1" indent="-285750">
              <a:buFont typeface="Arial" panose="020B0604020202020204" pitchFamily="34" charset="0"/>
              <a:buChar char="•"/>
            </a:pPr>
            <a:r>
              <a:rPr lang="en-US" altLang="en-US" sz="2200">
                <a:latin typeface="Arial" panose="020B0604020202020204" pitchFamily="34" charset="0"/>
                <a:sym typeface="+mn-ea"/>
              </a:rPr>
              <a:t>User experience expectations?</a:t>
            </a:r>
            <a:endParaRPr lang="en-US" altLang="en-US" sz="2200">
              <a:latin typeface="Arial" panose="020B0604020202020204" pitchFamily="34" charset="0"/>
            </a:endParaRPr>
          </a:p>
          <a:p>
            <a:pPr marL="742950" lvl="1" indent="-285750">
              <a:buFont typeface="Arial" panose="020B0604020202020204" pitchFamily="34" charset="0"/>
              <a:buChar char="•"/>
            </a:pPr>
            <a:r>
              <a:rPr lang="en-US" altLang="en-US" sz="2200">
                <a:latin typeface="Arial" panose="020B0604020202020204" pitchFamily="34" charset="0"/>
                <a:sym typeface="+mn-ea"/>
              </a:rPr>
              <a:t>Preferred payment solution?</a:t>
            </a:r>
            <a:endParaRPr lang="en-US" altLang="en-US" sz="2200">
              <a:latin typeface="Arial" panose="020B0604020202020204" pitchFamily="34" charset="0"/>
            </a:endParaRPr>
          </a:p>
          <a:p>
            <a:pPr marL="285750" indent="-285750">
              <a:buFont typeface="Arial" panose="020B0604020202020204" pitchFamily="34" charset="0"/>
              <a:buChar char="•"/>
            </a:pPr>
            <a:r>
              <a:rPr lang="en-US" altLang="en-US" sz="2200" b="1">
                <a:latin typeface="Arial" panose="020B0604020202020204" pitchFamily="34" charset="0"/>
              </a:rPr>
              <a:t>General Assessment: </a:t>
            </a:r>
            <a:r>
              <a:rPr lang="en-US" altLang="en-US" sz="2200">
                <a:latin typeface="Arial" panose="020B0604020202020204" pitchFamily="34" charset="0"/>
              </a:rPr>
              <a:t>Cross-platform apps are faster and cheaper to develop, but often not as high-quality.</a:t>
            </a:r>
            <a:endParaRPr lang="en-US" sz="2200">
              <a:latin typeface="Arial" panose="020B0604020202020204" pitchFamily="34" charset="0"/>
            </a:endParaRPr>
          </a:p>
        </p:txBody>
      </p:sp>
      <p:pic>
        <p:nvPicPr>
          <p:cNvPr id="8" name="Picture 7"/>
          <p:cNvPicPr>
            <a:picLocks noChangeAspect="1"/>
          </p:cNvPicPr>
          <p:nvPr/>
        </p:nvPicPr>
        <p:blipFill>
          <a:blip r:embed="rId1"/>
          <a:stretch>
            <a:fillRect/>
          </a:stretch>
        </p:blipFill>
        <p:spPr>
          <a:xfrm>
            <a:off x="6807901" y="1408975"/>
            <a:ext cx="7822499" cy="48730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latin typeface="+mj-lt"/>
              </a:rPr>
            </a:fld>
            <a:endParaRPr lang="en-US">
              <a:latin typeface="+mj-lt"/>
            </a:endParaRPr>
          </a:p>
        </p:txBody>
      </p:sp>
      <p:sp>
        <p:nvSpPr>
          <p:cNvPr id="6" name="Text 0"/>
          <p:cNvSpPr/>
          <p:nvPr/>
        </p:nvSpPr>
        <p:spPr>
          <a:xfrm>
            <a:off x="0" y="0"/>
            <a:ext cx="6317337"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mj-lt"/>
              </a:rPr>
              <a:t>Cross-Platform Architecture</a:t>
            </a:r>
            <a:endParaRPr lang="en-US" altLang="en-US" sz="3600" b="1" dirty="0">
              <a:solidFill>
                <a:schemeClr val="bg1"/>
              </a:solidFill>
              <a:latin typeface="+mj-lt"/>
            </a:endParaRPr>
          </a:p>
        </p:txBody>
      </p:sp>
      <p:pic>
        <p:nvPicPr>
          <p:cNvPr id="8" name="Picture 7"/>
          <p:cNvPicPr>
            <a:picLocks noChangeAspect="1"/>
          </p:cNvPicPr>
          <p:nvPr/>
        </p:nvPicPr>
        <p:blipFill>
          <a:blip r:embed="rId1"/>
          <a:stretch>
            <a:fillRect/>
          </a:stretch>
        </p:blipFill>
        <p:spPr>
          <a:xfrm>
            <a:off x="6807901" y="1408975"/>
            <a:ext cx="7822499" cy="4873072"/>
          </a:xfrm>
          <a:prstGeom prst="rect">
            <a:avLst/>
          </a:prstGeom>
        </p:spPr>
      </p:pic>
      <p:sp>
        <p:nvSpPr>
          <p:cNvPr id="3" name="TextBox 2"/>
          <p:cNvSpPr txBox="1"/>
          <p:nvPr/>
        </p:nvSpPr>
        <p:spPr>
          <a:xfrm>
            <a:off x="305789" y="1698728"/>
            <a:ext cx="6213763" cy="1445260"/>
          </a:xfrm>
          <a:prstGeom prst="rect">
            <a:avLst/>
          </a:prstGeom>
          <a:noFill/>
        </p:spPr>
        <p:txBody>
          <a:bodyPr wrap="square">
            <a:spAutoFit/>
          </a:bodyPr>
          <a:lstStyle/>
          <a:p>
            <a:r>
              <a:rPr lang="en-US" altLang="en-US" sz="2200" b="1">
                <a:latin typeface="+mj-lt"/>
              </a:rPr>
              <a:t>Previous issues:</a:t>
            </a:r>
            <a:endParaRPr lang="en-US" altLang="en-US" sz="2200" b="1">
              <a:latin typeface="+mj-lt"/>
            </a:endParaRPr>
          </a:p>
          <a:p>
            <a:pPr marL="342900" indent="-342900">
              <a:buFont typeface="Arial" panose="020B0604020202020204" pitchFamily="34" charset="0"/>
              <a:buChar char="•"/>
            </a:pPr>
            <a:r>
              <a:rPr lang="en-US" altLang="en-US" sz="2200">
                <a:latin typeface="+mj-lt"/>
              </a:rPr>
              <a:t>Poor UI and performance</a:t>
            </a:r>
            <a:endParaRPr lang="en-US" altLang="en-US" sz="2200">
              <a:latin typeface="+mj-lt"/>
            </a:endParaRPr>
          </a:p>
          <a:p>
            <a:pPr marL="342900" indent="-342900">
              <a:buFont typeface="Arial" panose="020B0604020202020204" pitchFamily="34" charset="0"/>
              <a:buChar char="•"/>
            </a:pPr>
            <a:r>
              <a:rPr lang="en-US" altLang="en-US" sz="2200">
                <a:latin typeface="+mj-lt"/>
              </a:rPr>
              <a:t>Large app size</a:t>
            </a:r>
            <a:endParaRPr lang="en-US" altLang="en-US" sz="2200">
              <a:latin typeface="+mj-lt"/>
            </a:endParaRPr>
          </a:p>
          <a:p>
            <a:pPr marL="342900" indent="-342900">
              <a:buFont typeface="Arial" panose="020B0604020202020204" pitchFamily="34" charset="0"/>
              <a:buChar char="•"/>
            </a:pPr>
            <a:r>
              <a:rPr lang="en-US" altLang="en-US" sz="2200">
                <a:latin typeface="+mj-lt"/>
              </a:rPr>
              <a:t>Ignored by platform developers</a:t>
            </a:r>
            <a:endParaRPr lang="en-US" altLang="en-US" sz="2200">
              <a:latin typeface="+mj-lt"/>
            </a:endParaRPr>
          </a:p>
        </p:txBody>
      </p:sp>
      <p:sp>
        <p:nvSpPr>
          <p:cNvPr id="9" name="TextBox 8"/>
          <p:cNvSpPr txBox="1"/>
          <p:nvPr/>
        </p:nvSpPr>
        <p:spPr>
          <a:xfrm>
            <a:off x="305789" y="3298611"/>
            <a:ext cx="6502112" cy="2122805"/>
          </a:xfrm>
          <a:prstGeom prst="rect">
            <a:avLst/>
          </a:prstGeom>
          <a:noFill/>
        </p:spPr>
        <p:txBody>
          <a:bodyPr wrap="square">
            <a:spAutoFit/>
          </a:bodyPr>
          <a:lstStyle/>
          <a:p>
            <a:r>
              <a:rPr lang="en-US" altLang="en-US" sz="2200" b="1">
                <a:latin typeface="+mj-lt"/>
              </a:rPr>
              <a:t>Current improvements:</a:t>
            </a:r>
            <a:endParaRPr lang="en-US" altLang="en-US" sz="2200" b="1">
              <a:latin typeface="+mj-lt"/>
            </a:endParaRPr>
          </a:p>
          <a:p>
            <a:pPr marL="342900" indent="-342900">
              <a:buFont typeface="Arial" panose="020B0604020202020204" pitchFamily="34" charset="0"/>
              <a:buChar char="•"/>
            </a:pPr>
            <a:r>
              <a:rPr lang="en-US" altLang="en-US" sz="2200">
                <a:latin typeface="+mj-lt"/>
              </a:rPr>
              <a:t>Better customizable UIs</a:t>
            </a:r>
            <a:endParaRPr lang="en-US" altLang="en-US" sz="2200">
              <a:latin typeface="+mj-lt"/>
            </a:endParaRPr>
          </a:p>
          <a:p>
            <a:pPr marL="342900" indent="-342900">
              <a:buFont typeface="Arial" panose="020B0604020202020204" pitchFamily="34" charset="0"/>
              <a:buChar char="•"/>
            </a:pPr>
            <a:r>
              <a:rPr lang="en-US" altLang="en-US" sz="2200">
                <a:latin typeface="+mj-lt"/>
              </a:rPr>
              <a:t>Backed by major tech companies (Microsoft, Google, Facebook)</a:t>
            </a:r>
            <a:endParaRPr lang="en-US" altLang="en-US" sz="2200">
              <a:latin typeface="+mj-lt"/>
            </a:endParaRPr>
          </a:p>
          <a:p>
            <a:pPr marL="342900" indent="-342900">
              <a:buFont typeface="Arial" panose="020B0604020202020204" pitchFamily="34" charset="0"/>
              <a:buChar char="•"/>
            </a:pPr>
            <a:r>
              <a:rPr lang="en-US" altLang="en-US" sz="2200">
                <a:latin typeface="+mj-lt"/>
              </a:rPr>
              <a:t>Smaller installation sizes</a:t>
            </a:r>
            <a:endParaRPr lang="en-US" altLang="en-US" sz="2200">
              <a:latin typeface="+mj-lt"/>
            </a:endParaRPr>
          </a:p>
          <a:p>
            <a:pPr marL="342900" indent="-342900">
              <a:buFont typeface="Arial" panose="020B0604020202020204" pitchFamily="34" charset="0"/>
              <a:buChar char="•"/>
            </a:pPr>
            <a:r>
              <a:rPr lang="en-US" altLang="en-US" sz="2200">
                <a:latin typeface="+mj-lt"/>
              </a:rPr>
              <a:t>More development tools available</a:t>
            </a:r>
            <a:endParaRPr lang="en-US" altLang="en-US" sz="220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fld>
            <a:endParaRPr lang="en-US"/>
          </a:p>
        </p:txBody>
      </p:sp>
      <p:pic>
        <p:nvPicPr>
          <p:cNvPr id="6" name="Image 0" descr="preencoded.png"/>
          <p:cNvPicPr>
            <a:picLocks noChangeAspect="1"/>
          </p:cNvPicPr>
          <p:nvPr/>
        </p:nvPicPr>
        <p:blipFill>
          <a:blip r:embed="rId1"/>
          <a:stretch>
            <a:fillRect/>
          </a:stretch>
        </p:blipFill>
        <p:spPr>
          <a:xfrm>
            <a:off x="0" y="582738"/>
            <a:ext cx="5111160" cy="7666740"/>
          </a:xfrm>
          <a:prstGeom prst="rect">
            <a:avLst/>
          </a:prstGeom>
        </p:spPr>
      </p:pic>
      <p:sp>
        <p:nvSpPr>
          <p:cNvPr id="7" name="Text 0"/>
          <p:cNvSpPr/>
          <p:nvPr/>
        </p:nvSpPr>
        <p:spPr>
          <a:xfrm>
            <a:off x="6280190" y="1651159"/>
            <a:ext cx="6978729" cy="1417558"/>
          </a:xfrm>
          <a:prstGeom prst="rect">
            <a:avLst/>
          </a:prstGeom>
          <a:noFill/>
        </p:spPr>
        <p:txBody>
          <a:bodyPr wrap="square" lIns="0" tIns="0" rIns="0" bIns="0" rtlCol="0" anchor="t"/>
          <a:lstStyle/>
          <a:p>
            <a:pPr>
              <a:lnSpc>
                <a:spcPts val="5550"/>
              </a:lnSpc>
            </a:pPr>
            <a:r>
              <a:rPr lang="en-US" altLang="en-US" sz="4450" b="1" dirty="0">
                <a:solidFill>
                  <a:prstClr val="black"/>
                </a:solidFill>
                <a:latin typeface="Arial" panose="020B0604020202020204" pitchFamily="34" charset="0"/>
              </a:rPr>
              <a:t>Popular Cross-Platform Frameworks</a:t>
            </a:r>
            <a:endParaRPr lang="en-US" altLang="en-US" sz="4450" b="1" dirty="0">
              <a:solidFill>
                <a:prstClr val="black"/>
              </a:solidFill>
              <a:latin typeface="Arial" panose="020B0604020202020204" pitchFamily="34" charset="0"/>
            </a:endParaRPr>
          </a:p>
        </p:txBody>
      </p:sp>
      <p:sp>
        <p:nvSpPr>
          <p:cNvPr id="8" name="Shape 1"/>
          <p:cNvSpPr/>
          <p:nvPr/>
        </p:nvSpPr>
        <p:spPr>
          <a:xfrm>
            <a:off x="6280190" y="3664029"/>
            <a:ext cx="510302" cy="510302"/>
          </a:xfrm>
          <a:prstGeom prst="roundRect">
            <a:avLst>
              <a:gd name="adj" fmla="val 18669"/>
            </a:avLst>
          </a:prstGeom>
          <a:solidFill>
            <a:srgbClr val="CDE9FE"/>
          </a:solidFill>
          <a:ln w="7620">
            <a:solidFill>
              <a:srgbClr val="B3CFE4"/>
            </a:solidFill>
            <a:prstDash val="solid"/>
          </a:ln>
        </p:spPr>
      </p:sp>
      <p:sp>
        <p:nvSpPr>
          <p:cNvPr id="9" name="Text 2"/>
          <p:cNvSpPr/>
          <p:nvPr/>
        </p:nvSpPr>
        <p:spPr>
          <a:xfrm>
            <a:off x="7017306" y="3664029"/>
            <a:ext cx="2638901" cy="354330"/>
          </a:xfrm>
          <a:prstGeom prst="rect">
            <a:avLst/>
          </a:prstGeom>
          <a:noFill/>
        </p:spPr>
        <p:txBody>
          <a:bodyPr wrap="none" lIns="0" tIns="0" rIns="0" bIns="0" rtlCol="0" anchor="t"/>
          <a:lstStyle/>
          <a:p>
            <a:pPr>
              <a:lnSpc>
                <a:spcPts val="2750"/>
              </a:lnSpc>
            </a:pPr>
            <a:r>
              <a:rPr lang="en-US" sz="2200" b="1" dirty="0">
                <a:solidFill>
                  <a:srgbClr val="0070C0"/>
                </a:solidFill>
                <a:latin typeface="Arial" panose="020B0604020202020204" pitchFamily="34" charset="0"/>
                <a:ea typeface="Inter Bold" pitchFamily="34" charset="-122"/>
                <a:cs typeface="Arial" panose="020B0604020202020204" pitchFamily="34" charset="0"/>
              </a:rPr>
              <a:t>React Native</a:t>
            </a:r>
            <a:endParaRPr lang="en-US" sz="2200" dirty="0">
              <a:solidFill>
                <a:prstClr val="black"/>
              </a:solidFill>
              <a:latin typeface="Arial" panose="020B0604020202020204" pitchFamily="34" charset="0"/>
            </a:endParaRPr>
          </a:p>
        </p:txBody>
      </p:sp>
      <p:sp>
        <p:nvSpPr>
          <p:cNvPr id="10" name="Text 3"/>
          <p:cNvSpPr/>
          <p:nvPr/>
        </p:nvSpPr>
        <p:spPr>
          <a:xfrm>
            <a:off x="7017306" y="4154448"/>
            <a:ext cx="2638901" cy="1088708"/>
          </a:xfrm>
          <a:prstGeom prst="rect">
            <a:avLst/>
          </a:prstGeom>
          <a:noFill/>
        </p:spPr>
        <p:txBody>
          <a:bodyPr wrap="square" lIns="0" tIns="0" rIns="0" bIns="0" rtlCol="0" anchor="t"/>
          <a:lstStyle/>
          <a:p>
            <a:pPr>
              <a:lnSpc>
                <a:spcPts val="2850"/>
              </a:lnSpc>
            </a:pPr>
            <a:r>
              <a:rPr lang="en-US" altLang="en-US" sz="1750" dirty="0">
                <a:solidFill>
                  <a:schemeClr val="tx1"/>
                </a:solidFill>
                <a:latin typeface="Arial" panose="020B0604020202020204" pitchFamily="34" charset="0"/>
              </a:rPr>
              <a:t>JavaScript-based, converts to native code with flexible UI.</a:t>
            </a:r>
            <a:endParaRPr lang="en-US" altLang="en-US" sz="1750" dirty="0">
              <a:solidFill>
                <a:schemeClr val="tx1"/>
              </a:solidFill>
              <a:latin typeface="Arial" panose="020B0604020202020204" pitchFamily="34" charset="0"/>
            </a:endParaRPr>
          </a:p>
        </p:txBody>
      </p:sp>
      <p:sp>
        <p:nvSpPr>
          <p:cNvPr id="11" name="Shape 4"/>
          <p:cNvSpPr/>
          <p:nvPr/>
        </p:nvSpPr>
        <p:spPr>
          <a:xfrm>
            <a:off x="9883021" y="3664029"/>
            <a:ext cx="510302" cy="510302"/>
          </a:xfrm>
          <a:prstGeom prst="roundRect">
            <a:avLst>
              <a:gd name="adj" fmla="val 18669"/>
            </a:avLst>
          </a:prstGeom>
          <a:solidFill>
            <a:srgbClr val="CDE9FE"/>
          </a:solidFill>
          <a:ln w="7620">
            <a:solidFill>
              <a:srgbClr val="B3CFE4"/>
            </a:solidFill>
            <a:prstDash val="solid"/>
          </a:ln>
        </p:spPr>
      </p:sp>
      <p:sp>
        <p:nvSpPr>
          <p:cNvPr id="12" name="Text 5"/>
          <p:cNvSpPr/>
          <p:nvPr/>
        </p:nvSpPr>
        <p:spPr>
          <a:xfrm>
            <a:off x="10620137" y="3664029"/>
            <a:ext cx="2638901" cy="354330"/>
          </a:xfrm>
          <a:prstGeom prst="rect">
            <a:avLst/>
          </a:prstGeom>
          <a:noFill/>
        </p:spPr>
        <p:txBody>
          <a:bodyPr wrap="none" lIns="0" tIns="0" rIns="0" bIns="0" rtlCol="0" anchor="t"/>
          <a:lstStyle/>
          <a:p>
            <a:pPr>
              <a:lnSpc>
                <a:spcPts val="2750"/>
              </a:lnSpc>
            </a:pPr>
            <a:r>
              <a:rPr lang="en-US" sz="2200" b="1" dirty="0">
                <a:solidFill>
                  <a:srgbClr val="0070C0"/>
                </a:solidFill>
                <a:latin typeface="Arial" panose="020B0604020202020204" pitchFamily="34" charset="0"/>
                <a:ea typeface="Inter Bold" pitchFamily="34" charset="-122"/>
                <a:cs typeface="Arial" panose="020B0604020202020204" pitchFamily="34" charset="0"/>
              </a:rPr>
              <a:t>Flutter</a:t>
            </a:r>
            <a:endParaRPr lang="en-US" sz="2200" dirty="0">
              <a:solidFill>
                <a:prstClr val="black"/>
              </a:solidFill>
              <a:latin typeface="Arial" panose="020B0604020202020204" pitchFamily="34" charset="0"/>
            </a:endParaRPr>
          </a:p>
        </p:txBody>
      </p:sp>
      <p:sp>
        <p:nvSpPr>
          <p:cNvPr id="13" name="Text 6"/>
          <p:cNvSpPr/>
          <p:nvPr/>
        </p:nvSpPr>
        <p:spPr>
          <a:xfrm>
            <a:off x="10620375" y="4154170"/>
            <a:ext cx="3113405" cy="1089025"/>
          </a:xfrm>
          <a:prstGeom prst="rect">
            <a:avLst/>
          </a:prstGeom>
          <a:noFill/>
        </p:spPr>
        <p:txBody>
          <a:bodyPr wrap="square" lIns="0" tIns="0" rIns="0" bIns="0" rtlCol="0" anchor="t"/>
          <a:lstStyle/>
          <a:p>
            <a:pPr>
              <a:lnSpc>
                <a:spcPts val="2850"/>
              </a:lnSpc>
            </a:pPr>
            <a:r>
              <a:rPr lang="en-US" altLang="en-US" sz="1750" dirty="0">
                <a:solidFill>
                  <a:schemeClr val="tx1"/>
                </a:solidFill>
                <a:latin typeface="Arial" panose="020B0604020202020204" pitchFamily="34" charset="0"/>
              </a:rPr>
              <a:t>Dart-based, uses its own engine, optimized performance, and independent UI.</a:t>
            </a:r>
            <a:endParaRPr lang="en-US" altLang="en-US" sz="1750" dirty="0">
              <a:solidFill>
                <a:schemeClr val="tx1"/>
              </a:solidFill>
              <a:latin typeface="Arial" panose="020B0604020202020204" pitchFamily="34" charset="0"/>
            </a:endParaRPr>
          </a:p>
        </p:txBody>
      </p:sp>
      <p:sp>
        <p:nvSpPr>
          <p:cNvPr id="14" name="Shape 7"/>
          <p:cNvSpPr/>
          <p:nvPr/>
        </p:nvSpPr>
        <p:spPr>
          <a:xfrm>
            <a:off x="6280190" y="5725120"/>
            <a:ext cx="510302" cy="510302"/>
          </a:xfrm>
          <a:prstGeom prst="roundRect">
            <a:avLst>
              <a:gd name="adj" fmla="val 18669"/>
            </a:avLst>
          </a:prstGeom>
          <a:solidFill>
            <a:srgbClr val="CDE9FE"/>
          </a:solidFill>
          <a:ln w="7620">
            <a:solidFill>
              <a:srgbClr val="B3CFE4"/>
            </a:solidFill>
            <a:prstDash val="solid"/>
          </a:ln>
        </p:spPr>
      </p:sp>
      <p:sp>
        <p:nvSpPr>
          <p:cNvPr id="15" name="Text 8"/>
          <p:cNvSpPr/>
          <p:nvPr/>
        </p:nvSpPr>
        <p:spPr>
          <a:xfrm>
            <a:off x="7017306" y="5725120"/>
            <a:ext cx="2835235" cy="354330"/>
          </a:xfrm>
          <a:prstGeom prst="rect">
            <a:avLst/>
          </a:prstGeom>
          <a:noFill/>
        </p:spPr>
        <p:txBody>
          <a:bodyPr wrap="none" lIns="0" tIns="0" rIns="0" bIns="0" rtlCol="0" anchor="t"/>
          <a:lstStyle/>
          <a:p>
            <a:pPr>
              <a:lnSpc>
                <a:spcPts val="2750"/>
              </a:lnSpc>
            </a:pPr>
            <a:r>
              <a:rPr lang="en-US" sz="2200" b="1" dirty="0">
                <a:solidFill>
                  <a:srgbClr val="0070C0"/>
                </a:solidFill>
                <a:latin typeface="Arial" panose="020B0604020202020204" pitchFamily="34" charset="0"/>
                <a:ea typeface="Inter Bold" pitchFamily="34" charset="-122"/>
                <a:cs typeface="Arial" panose="020B0604020202020204" pitchFamily="34" charset="0"/>
              </a:rPr>
              <a:t>Xamarin</a:t>
            </a:r>
            <a:endParaRPr lang="en-US" sz="2200" dirty="0">
              <a:solidFill>
                <a:prstClr val="black"/>
              </a:solidFill>
              <a:latin typeface="Arial" panose="020B0604020202020204" pitchFamily="34" charset="0"/>
            </a:endParaRPr>
          </a:p>
        </p:txBody>
      </p:sp>
      <p:sp>
        <p:nvSpPr>
          <p:cNvPr id="16" name="Text 9"/>
          <p:cNvSpPr/>
          <p:nvPr/>
        </p:nvSpPr>
        <p:spPr>
          <a:xfrm>
            <a:off x="7017306" y="6215539"/>
            <a:ext cx="6241613" cy="362903"/>
          </a:xfrm>
          <a:prstGeom prst="rect">
            <a:avLst/>
          </a:prstGeom>
          <a:noFill/>
        </p:spPr>
        <p:txBody>
          <a:bodyPr wrap="none" lIns="0" tIns="0" rIns="0" bIns="0" rtlCol="0" anchor="t"/>
          <a:lstStyle/>
          <a:p>
            <a:pPr algn="l">
              <a:lnSpc>
                <a:spcPts val="2850"/>
              </a:lnSpc>
            </a:pPr>
            <a:r>
              <a:rPr lang="en-US" altLang="en-US" sz="1750" dirty="0">
                <a:solidFill>
                  <a:schemeClr val="tx1"/>
                </a:solidFill>
                <a:latin typeface="Arial" panose="020B0604020202020204" pitchFamily="34" charset="0"/>
              </a:rPr>
              <a:t>C#-based, supports native bindings and cross-platform development.</a:t>
            </a:r>
            <a:endParaRPr lang="en-US" altLang="en-US" sz="1750" dirty="0">
              <a:solidFill>
                <a:schemeClr val="tx1"/>
              </a:solidFill>
              <a:latin typeface="Arial" panose="020B0604020202020204" pitchFamily="34" charset="0"/>
            </a:endParaRPr>
          </a:p>
        </p:txBody>
      </p:sp>
      <p:pic>
        <p:nvPicPr>
          <p:cNvPr id="17" name="Image 1" descr="preencoded.png"/>
          <p:cNvPicPr>
            <a:picLocks noChangeAspect="1"/>
          </p:cNvPicPr>
          <p:nvPr/>
        </p:nvPicPr>
        <p:blipFill>
          <a:blip r:embed="rId2"/>
          <a:stretch>
            <a:fillRect/>
          </a:stretch>
        </p:blipFill>
        <p:spPr>
          <a:xfrm>
            <a:off x="13494187" y="228600"/>
            <a:ext cx="907613" cy="5104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338560" y="7697985"/>
            <a:ext cx="3291840" cy="438150"/>
          </a:xfrm>
        </p:spPr>
        <p:txBody>
          <a:bodyPr/>
          <a:lstStyle/>
          <a:p>
            <a:fld id="{31D26D55-0A22-487A-A687-61FB58A6F16A}" type="slidenum">
              <a:rPr lang="en-US" smtClean="0">
                <a:latin typeface="+mj-lt"/>
              </a:rPr>
            </a:fld>
            <a:endParaRPr lang="en-US">
              <a:latin typeface="+mj-lt"/>
            </a:endParaRPr>
          </a:p>
        </p:txBody>
      </p:sp>
      <p:sp>
        <p:nvSpPr>
          <p:cNvPr id="6" name="Text 0"/>
          <p:cNvSpPr/>
          <p:nvPr/>
        </p:nvSpPr>
        <p:spPr>
          <a:xfrm>
            <a:off x="0" y="0"/>
            <a:ext cx="6317337"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mj-lt"/>
              </a:rPr>
              <a:t>Cross-Platform Architecture</a:t>
            </a:r>
            <a:endParaRPr lang="en-US" altLang="en-US" sz="3600" b="1" dirty="0">
              <a:solidFill>
                <a:schemeClr val="bg1"/>
              </a:solidFill>
              <a:latin typeface="+mj-lt"/>
            </a:endParaRPr>
          </a:p>
        </p:txBody>
      </p:sp>
      <p:pic>
        <p:nvPicPr>
          <p:cNvPr id="1026" name="Picture 2" descr="Google Trends Comparison Grap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26616" y="761716"/>
            <a:ext cx="9595261" cy="26007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21323" y="1775070"/>
            <a:ext cx="2005293" cy="461665"/>
          </a:xfrm>
          <a:prstGeom prst="rect">
            <a:avLst/>
          </a:prstGeom>
          <a:noFill/>
        </p:spPr>
        <p:txBody>
          <a:bodyPr wrap="none" rtlCol="0">
            <a:spAutoFit/>
          </a:bodyPr>
          <a:lstStyle/>
          <a:p>
            <a:r>
              <a:rPr lang="en-US" sz="2400"/>
              <a:t>Google Trends</a:t>
            </a:r>
            <a:endParaRPr lang="en-US" sz="2400"/>
          </a:p>
        </p:txBody>
      </p:sp>
      <p:pic>
        <p:nvPicPr>
          <p:cNvPr id="5" name="Picture 4"/>
          <p:cNvPicPr>
            <a:picLocks noChangeAspect="1"/>
          </p:cNvPicPr>
          <p:nvPr/>
        </p:nvPicPr>
        <p:blipFill>
          <a:blip r:embed="rId2"/>
          <a:stretch>
            <a:fillRect/>
          </a:stretch>
        </p:blipFill>
        <p:spPr>
          <a:xfrm>
            <a:off x="3409934" y="3362515"/>
            <a:ext cx="8628623" cy="4667081"/>
          </a:xfrm>
          <a:prstGeom prst="rect">
            <a:avLst/>
          </a:prstGeom>
        </p:spPr>
      </p:pic>
      <p:sp>
        <p:nvSpPr>
          <p:cNvPr id="7" name="TextBox 6"/>
          <p:cNvSpPr txBox="1"/>
          <p:nvPr/>
        </p:nvSpPr>
        <p:spPr>
          <a:xfrm>
            <a:off x="921323" y="5487884"/>
            <a:ext cx="2124299" cy="461665"/>
          </a:xfrm>
          <a:prstGeom prst="rect">
            <a:avLst/>
          </a:prstGeom>
          <a:noFill/>
        </p:spPr>
        <p:txBody>
          <a:bodyPr wrap="none" rtlCol="0">
            <a:spAutoFit/>
          </a:bodyPr>
          <a:lstStyle/>
          <a:p>
            <a:r>
              <a:rPr lang="en-US" sz="2400"/>
              <a:t>Stack Overflow</a:t>
            </a:r>
            <a:endParaRPr 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31D26D55-0A22-487A-A687-61FB58A6F16A}" type="slidenum">
              <a:rPr lang="en-US" smtClean="0"/>
            </a:fld>
            <a:endParaRPr lang="en-US"/>
          </a:p>
        </p:txBody>
      </p:sp>
      <p:sp>
        <p:nvSpPr>
          <p:cNvPr id="7" name="Text 0"/>
          <p:cNvSpPr/>
          <p:nvPr/>
        </p:nvSpPr>
        <p:spPr>
          <a:xfrm>
            <a:off x="793750" y="730885"/>
            <a:ext cx="7556500" cy="1036320"/>
          </a:xfrm>
          <a:prstGeom prst="rect">
            <a:avLst/>
          </a:prstGeom>
          <a:noFill/>
        </p:spPr>
        <p:txBody>
          <a:bodyPr wrap="square" lIns="0" tIns="0" rIns="0" bIns="0" rtlCol="0" anchor="t"/>
          <a:lstStyle/>
          <a:p>
            <a:pPr>
              <a:lnSpc>
                <a:spcPts val="5550"/>
              </a:lnSpc>
            </a:pPr>
            <a:r>
              <a:rPr lang="en-US" sz="4450" b="1" dirty="0">
                <a:solidFill>
                  <a:srgbClr val="000000"/>
                </a:solidFill>
                <a:latin typeface="Arial" panose="020B0604020202020204" pitchFamily="34" charset="0"/>
                <a:ea typeface="Inter Bold" pitchFamily="34" charset="-122"/>
                <a:cs typeface="Arial" panose="020B0604020202020204" pitchFamily="34" charset="0"/>
              </a:rPr>
              <a:t>Flutter Highlights</a:t>
            </a:r>
            <a:endParaRPr lang="en-US" sz="4450" dirty="0">
              <a:solidFill>
                <a:prstClr val="black"/>
              </a:solidFill>
              <a:latin typeface="Arial" panose="020B0604020202020204" pitchFamily="34" charset="0"/>
            </a:endParaRPr>
          </a:p>
        </p:txBody>
      </p:sp>
      <p:pic>
        <p:nvPicPr>
          <p:cNvPr id="8" name="Image 1" descr="preencoded.png"/>
          <p:cNvPicPr>
            <a:picLocks noChangeAspect="1"/>
          </p:cNvPicPr>
          <p:nvPr/>
        </p:nvPicPr>
        <p:blipFill>
          <a:blip r:embed="rId1"/>
          <a:stretch>
            <a:fillRect/>
          </a:stretch>
        </p:blipFill>
        <p:spPr>
          <a:xfrm>
            <a:off x="793790" y="2082483"/>
            <a:ext cx="1134070" cy="1669852"/>
          </a:xfrm>
          <a:prstGeom prst="rect">
            <a:avLst/>
          </a:prstGeom>
        </p:spPr>
      </p:pic>
      <p:sp>
        <p:nvSpPr>
          <p:cNvPr id="9" name="Text 1"/>
          <p:cNvSpPr/>
          <p:nvPr/>
        </p:nvSpPr>
        <p:spPr>
          <a:xfrm>
            <a:off x="2268022" y="2309297"/>
            <a:ext cx="2835235" cy="354330"/>
          </a:xfrm>
          <a:prstGeom prst="rect">
            <a:avLst/>
          </a:prstGeom>
          <a:noFill/>
        </p:spPr>
        <p:txBody>
          <a:bodyPr wrap="none" lIns="0" tIns="0" rIns="0" bIns="0" rtlCol="0" anchor="t"/>
          <a:lstStyle/>
          <a:p>
            <a:pPr algn="l">
              <a:lnSpc>
                <a:spcPts val="2750"/>
              </a:lnSpc>
            </a:pPr>
            <a:r>
              <a:rPr lang="en-US" altLang="en-US" sz="2200" b="1" dirty="0">
                <a:solidFill>
                  <a:schemeClr val="tx1"/>
                </a:solidFill>
                <a:latin typeface="Arial" panose="020B0604020202020204" pitchFamily="34" charset="0"/>
              </a:rPr>
              <a:t>Custom Widgets</a:t>
            </a:r>
            <a:endParaRPr lang="en-US" altLang="en-US" sz="2200" b="1" dirty="0">
              <a:solidFill>
                <a:schemeClr val="tx1"/>
              </a:solidFill>
              <a:latin typeface="Arial" panose="020B0604020202020204" pitchFamily="34" charset="0"/>
            </a:endParaRPr>
          </a:p>
        </p:txBody>
      </p:sp>
      <p:sp>
        <p:nvSpPr>
          <p:cNvPr id="10" name="Text 2"/>
          <p:cNvSpPr/>
          <p:nvPr/>
        </p:nvSpPr>
        <p:spPr>
          <a:xfrm>
            <a:off x="2268022" y="2799715"/>
            <a:ext cx="6082189" cy="725805"/>
          </a:xfrm>
          <a:prstGeom prst="rect">
            <a:avLst/>
          </a:prstGeom>
          <a:noFill/>
        </p:spPr>
        <p:txBody>
          <a:bodyPr wrap="square" lIns="0" tIns="0" rIns="0" bIns="0" rtlCol="0" anchor="t"/>
          <a:lstStyle/>
          <a:p>
            <a:pPr>
              <a:lnSpc>
                <a:spcPts val="2850"/>
              </a:lnSpc>
            </a:pPr>
            <a:r>
              <a:rPr lang="en-US" altLang="en-US" sz="1750" dirty="0">
                <a:solidFill>
                  <a:schemeClr val="tx1"/>
                </a:solidFill>
                <a:latin typeface="Arial" panose="020B0604020202020204" pitchFamily="34" charset="0"/>
              </a:rPr>
              <a:t>Doesn’t use native widgets, ensuring consistent UI across platforms.</a:t>
            </a:r>
            <a:endParaRPr lang="en-US" altLang="en-US" sz="1750" dirty="0">
              <a:solidFill>
                <a:schemeClr val="tx1"/>
              </a:solidFill>
              <a:latin typeface="Arial" panose="020B0604020202020204" pitchFamily="34" charset="0"/>
            </a:endParaRPr>
          </a:p>
        </p:txBody>
      </p:sp>
      <p:pic>
        <p:nvPicPr>
          <p:cNvPr id="11" name="Image 2" descr="preencoded.png"/>
          <p:cNvPicPr>
            <a:picLocks noChangeAspect="1"/>
          </p:cNvPicPr>
          <p:nvPr/>
        </p:nvPicPr>
        <p:blipFill>
          <a:blip r:embed="rId2"/>
          <a:stretch>
            <a:fillRect/>
          </a:stretch>
        </p:blipFill>
        <p:spPr>
          <a:xfrm>
            <a:off x="793790" y="3752334"/>
            <a:ext cx="1134070" cy="1669852"/>
          </a:xfrm>
          <a:prstGeom prst="rect">
            <a:avLst/>
          </a:prstGeom>
        </p:spPr>
      </p:pic>
      <p:sp>
        <p:nvSpPr>
          <p:cNvPr id="13" name="Text 4"/>
          <p:cNvSpPr/>
          <p:nvPr/>
        </p:nvSpPr>
        <p:spPr>
          <a:xfrm>
            <a:off x="2268220" y="4469765"/>
            <a:ext cx="5512435" cy="725805"/>
          </a:xfrm>
          <a:prstGeom prst="rect">
            <a:avLst/>
          </a:prstGeom>
          <a:noFill/>
        </p:spPr>
        <p:txBody>
          <a:bodyPr wrap="square" lIns="0" tIns="0" rIns="0" bIns="0" rtlCol="0" anchor="t"/>
          <a:lstStyle/>
          <a:p>
            <a:pPr>
              <a:lnSpc>
                <a:spcPts val="2850"/>
              </a:lnSpc>
            </a:pPr>
            <a:r>
              <a:rPr lang="en-US" altLang="en-US" sz="1750" dirty="0">
                <a:solidFill>
                  <a:schemeClr val="tx1"/>
                </a:solidFill>
                <a:latin typeface="Arial" panose="020B0604020202020204" pitchFamily="34" charset="0"/>
              </a:rPr>
              <a:t>Unlike JavaScript-native which may cause lag, Flutter directly accesses native files.</a:t>
            </a:r>
            <a:endParaRPr lang="en-US" altLang="en-US" sz="1750" dirty="0">
              <a:solidFill>
                <a:schemeClr val="tx1"/>
              </a:solidFill>
              <a:latin typeface="Arial" panose="020B0604020202020204" pitchFamily="34" charset="0"/>
            </a:endParaRPr>
          </a:p>
        </p:txBody>
      </p:sp>
      <p:pic>
        <p:nvPicPr>
          <p:cNvPr id="14" name="Image 3" descr="preencoded.png"/>
          <p:cNvPicPr>
            <a:picLocks noChangeAspect="1"/>
          </p:cNvPicPr>
          <p:nvPr/>
        </p:nvPicPr>
        <p:blipFill>
          <a:blip r:embed="rId3"/>
          <a:stretch>
            <a:fillRect/>
          </a:stretch>
        </p:blipFill>
        <p:spPr>
          <a:xfrm>
            <a:off x="793790" y="5422186"/>
            <a:ext cx="1134070" cy="1669852"/>
          </a:xfrm>
          <a:prstGeom prst="rect">
            <a:avLst/>
          </a:prstGeom>
        </p:spPr>
      </p:pic>
      <p:sp>
        <p:nvSpPr>
          <p:cNvPr id="15" name="Text 5"/>
          <p:cNvSpPr/>
          <p:nvPr/>
        </p:nvSpPr>
        <p:spPr>
          <a:xfrm>
            <a:off x="2268022" y="5649000"/>
            <a:ext cx="2835235" cy="354330"/>
          </a:xfrm>
          <a:prstGeom prst="rect">
            <a:avLst/>
          </a:prstGeom>
          <a:noFill/>
        </p:spPr>
        <p:txBody>
          <a:bodyPr wrap="none" lIns="0" tIns="0" rIns="0" bIns="0" rtlCol="0" anchor="t"/>
          <a:lstStyle/>
          <a:p>
            <a:pPr>
              <a:lnSpc>
                <a:spcPts val="2750"/>
              </a:lnSpc>
            </a:pPr>
            <a:r>
              <a:rPr lang="en-US" sz="2200" b="1" dirty="0">
                <a:solidFill>
                  <a:srgbClr val="0070C0"/>
                </a:solidFill>
                <a:latin typeface="Arial" panose="020B0604020202020204" pitchFamily="34" charset="0"/>
                <a:ea typeface="Inter Bold" pitchFamily="34" charset="-122"/>
                <a:cs typeface="Arial" panose="020B0604020202020204" pitchFamily="34" charset="0"/>
              </a:rPr>
              <a:t>Dart</a:t>
            </a:r>
            <a:endParaRPr lang="en-US" sz="2200" dirty="0">
              <a:solidFill>
                <a:prstClr val="black"/>
              </a:solidFill>
              <a:latin typeface="Arial" panose="020B0604020202020204" pitchFamily="34" charset="0"/>
            </a:endParaRPr>
          </a:p>
        </p:txBody>
      </p:sp>
      <p:sp>
        <p:nvSpPr>
          <p:cNvPr id="16" name="Text 6"/>
          <p:cNvSpPr/>
          <p:nvPr/>
        </p:nvSpPr>
        <p:spPr>
          <a:xfrm>
            <a:off x="2268220" y="6139180"/>
            <a:ext cx="5818505" cy="1520190"/>
          </a:xfrm>
          <a:prstGeom prst="rect">
            <a:avLst/>
          </a:prstGeom>
          <a:noFill/>
        </p:spPr>
        <p:txBody>
          <a:bodyPr wrap="square" lIns="0" tIns="0" rIns="0" bIns="0" rtlCol="0" anchor="t">
            <a:noAutofit/>
          </a:bodyPr>
          <a:lstStyle/>
          <a:p>
            <a:pPr lvl="0" algn="l">
              <a:lnSpc>
                <a:spcPts val="2850"/>
              </a:lnSpc>
              <a:buClrTx/>
              <a:buSzTx/>
              <a:buFontTx/>
            </a:pPr>
            <a:r>
              <a:rPr lang="en-US" altLang="en-US" sz="1750" dirty="0">
                <a:latin typeface="Arial" panose="020B0604020202020204" pitchFamily="34" charset="0"/>
                <a:sym typeface="+mn-ea"/>
              </a:rPr>
              <a:t>Supports both JIT (Just In Time) and AOT (Ahead Of Time) compilation for speed and optimization.</a:t>
            </a:r>
            <a:endParaRPr lang="en-US" altLang="en-US" sz="1750" dirty="0">
              <a:latin typeface="Arial" panose="020B0604020202020204" pitchFamily="34" charset="0"/>
              <a:sym typeface="+mn-ea"/>
            </a:endParaRPr>
          </a:p>
          <a:p>
            <a:pPr lvl="0" algn="l">
              <a:lnSpc>
                <a:spcPts val="2850"/>
              </a:lnSpc>
              <a:buClrTx/>
              <a:buSzTx/>
              <a:buFontTx/>
            </a:pPr>
            <a:r>
              <a:rPr lang="en-US" altLang="en-US" sz="1750" dirty="0">
                <a:latin typeface="Arial" panose="020B0604020202020204" pitchFamily="34" charset="0"/>
                <a:sym typeface="+mn-ea"/>
              </a:rPr>
              <a:t>Can also compile to JavaScript for web support.</a:t>
            </a:r>
            <a:endParaRPr lang="en-US" altLang="en-US" sz="1750" dirty="0">
              <a:latin typeface="Arial" panose="020B0604020202020204" pitchFamily="34" charset="0"/>
              <a:sym typeface="+mn-ea"/>
            </a:endParaRPr>
          </a:p>
        </p:txBody>
      </p:sp>
      <p:pic>
        <p:nvPicPr>
          <p:cNvPr id="3" name="Picture 2"/>
          <p:cNvPicPr>
            <a:picLocks noChangeAspect="1"/>
          </p:cNvPicPr>
          <p:nvPr/>
        </p:nvPicPr>
        <p:blipFill>
          <a:blip r:embed="rId4"/>
          <a:stretch>
            <a:fillRect/>
          </a:stretch>
        </p:blipFill>
        <p:spPr>
          <a:xfrm>
            <a:off x="8087096" y="2185515"/>
            <a:ext cx="6543304" cy="4228329"/>
          </a:xfrm>
          <a:prstGeom prst="rect">
            <a:avLst/>
          </a:prstGeom>
        </p:spPr>
      </p:pic>
      <p:sp>
        <p:nvSpPr>
          <p:cNvPr id="17" name="Text 3"/>
          <p:cNvSpPr/>
          <p:nvPr/>
        </p:nvSpPr>
        <p:spPr>
          <a:xfrm>
            <a:off x="2268022" y="3979148"/>
            <a:ext cx="2835235" cy="354330"/>
          </a:xfrm>
          <a:prstGeom prst="rect">
            <a:avLst/>
          </a:prstGeom>
          <a:noFill/>
        </p:spPr>
        <p:txBody>
          <a:bodyPr wrap="none" lIns="0" tIns="0" rIns="0" bIns="0" rtlCol="0" anchor="t"/>
          <a:lstStyle/>
          <a:p>
            <a:pPr algn="l">
              <a:lnSpc>
                <a:spcPts val="2750"/>
              </a:lnSpc>
            </a:pPr>
            <a:r>
              <a:rPr lang="en-US" altLang="en-US" sz="2200" b="1" dirty="0">
                <a:solidFill>
                  <a:prstClr val="black"/>
                </a:solidFill>
                <a:latin typeface="Arial" panose="020B0604020202020204" pitchFamily="34" charset="0"/>
              </a:rPr>
              <a:t>High Performance</a:t>
            </a:r>
            <a:endParaRPr lang="en-US" altLang="en-US" sz="2200" b="1" dirty="0">
              <a:solidFill>
                <a:prstClr val="black"/>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p:cNvSpPr/>
          <p:nvPr/>
        </p:nvSpPr>
        <p:spPr>
          <a:xfrm>
            <a:off x="0" y="0"/>
            <a:ext cx="6694646" cy="708779"/>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5550"/>
              </a:lnSpc>
              <a:spcBef>
                <a:spcPts val="0"/>
              </a:spcBef>
              <a:spcAft>
                <a:spcPts val="0"/>
              </a:spcAft>
              <a:buClrTx/>
              <a:buSzTx/>
              <a:buFontTx/>
              <a:buNone/>
              <a:defRPr/>
            </a:pPr>
            <a:r>
              <a:rPr kumimoji="0" lang="en-US" altLang="en-US" sz="3600" b="1"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Conclusion and Orientation</a:t>
            </a:r>
            <a:endParaRPr kumimoji="0" lang="en-US" altLang="en-US" sz="3600" b="1" i="0" u="none" strike="noStrike" kern="1200" cap="none" spc="0" normalizeH="0" baseline="0" noProof="0" dirty="0">
              <a:ln>
                <a:noFill/>
              </a:ln>
              <a:solidFill>
                <a:schemeClr val="bg1"/>
              </a:solidFill>
              <a:effectLst/>
              <a:uLnTx/>
              <a:uFillTx/>
              <a:latin typeface="Arial" panose="020B0604020202020204" pitchFamily="34" charset="0"/>
              <a:ea typeface="+mn-ea"/>
              <a:cs typeface="+mn-cs"/>
            </a:endParaRPr>
          </a:p>
        </p:txBody>
      </p:sp>
      <p:sp>
        <p:nvSpPr>
          <p:cNvPr id="7" name="Text 1"/>
          <p:cNvSpPr/>
          <p:nvPr/>
        </p:nvSpPr>
        <p:spPr>
          <a:xfrm>
            <a:off x="718185" y="3406140"/>
            <a:ext cx="3566795" cy="354330"/>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750"/>
              </a:lnSpc>
              <a:spcBef>
                <a:spcPts val="0"/>
              </a:spcBef>
              <a:spcAft>
                <a:spcPts val="0"/>
              </a:spcAft>
              <a:buClrTx/>
              <a:buSzTx/>
              <a:buFontTx/>
              <a:buNone/>
              <a:defRPr/>
            </a:pPr>
            <a:r>
              <a:rPr kumimoji="0" lang="en-US" altLang="en-US" sz="22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mn-cs"/>
              </a:rPr>
              <a:t>Choose the Right Architecture</a:t>
            </a:r>
            <a:endParaRPr kumimoji="0" lang="en-US" altLang="en-US" sz="22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8" name="Text 2"/>
          <p:cNvSpPr/>
          <p:nvPr/>
        </p:nvSpPr>
        <p:spPr>
          <a:xfrm>
            <a:off x="718285" y="3987284"/>
            <a:ext cx="3785592" cy="72580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850"/>
              </a:lnSpc>
              <a:spcBef>
                <a:spcPts val="0"/>
              </a:spcBef>
              <a:spcAft>
                <a:spcPts val="0"/>
              </a:spcAft>
              <a:buClrTx/>
              <a:buSzTx/>
              <a:buFontTx/>
              <a:buNone/>
              <a:defRPr/>
            </a:pPr>
            <a:r>
              <a:rPr kumimoji="0" lang="en-US" altLang="en-US" sz="175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Evaluate project needs, users, and available resources.</a:t>
            </a:r>
            <a:endParaRPr kumimoji="0" lang="en-US" altLang="en-US" sz="175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9" name="Text 3"/>
          <p:cNvSpPr/>
          <p:nvPr/>
        </p:nvSpPr>
        <p:spPr>
          <a:xfrm>
            <a:off x="5422404" y="3406140"/>
            <a:ext cx="3785592" cy="70866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750"/>
              </a:lnSpc>
              <a:spcBef>
                <a:spcPts val="0"/>
              </a:spcBef>
              <a:spcAft>
                <a:spcPts val="0"/>
              </a:spcAft>
              <a:buClrTx/>
              <a:buSzTx/>
              <a:buFontTx/>
              <a:buNone/>
              <a:defRPr/>
            </a:pPr>
            <a:r>
              <a:rPr kumimoji="0" lang="en-US" altLang="en-US" sz="22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mn-cs"/>
              </a:rPr>
              <a:t>Prioritize User Experience</a:t>
            </a:r>
            <a:endParaRPr kumimoji="0" lang="en-US" altLang="en-US" sz="22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10" name="Text 4"/>
          <p:cNvSpPr/>
          <p:nvPr/>
        </p:nvSpPr>
        <p:spPr>
          <a:xfrm>
            <a:off x="5422404" y="3987284"/>
            <a:ext cx="3785592" cy="72580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850"/>
              </a:lnSpc>
              <a:spcBef>
                <a:spcPts val="0"/>
              </a:spcBef>
              <a:spcAft>
                <a:spcPts val="0"/>
              </a:spcAft>
              <a:buClrTx/>
              <a:buSzTx/>
              <a:buFontTx/>
              <a:buNone/>
              <a:defRPr/>
            </a:pPr>
            <a:r>
              <a:rPr kumimoji="0" lang="en-US" altLang="en-US" sz="175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Ensure performance, friendly UI, and stability.</a:t>
            </a:r>
            <a:endParaRPr kumimoji="0" lang="en-US" altLang="en-US" sz="175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11" name="Text 5"/>
          <p:cNvSpPr/>
          <p:nvPr/>
        </p:nvSpPr>
        <p:spPr>
          <a:xfrm>
            <a:off x="9768840" y="3406140"/>
            <a:ext cx="3785870" cy="5695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750"/>
              </a:lnSpc>
              <a:spcBef>
                <a:spcPts val="0"/>
              </a:spcBef>
              <a:spcAft>
                <a:spcPts val="0"/>
              </a:spcAft>
              <a:buClrTx/>
              <a:buSzTx/>
              <a:buFontTx/>
              <a:buNone/>
              <a:defRPr/>
            </a:pPr>
            <a:r>
              <a:rPr kumimoji="0" lang="en-US" altLang="en-US" sz="22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mn-cs"/>
              </a:rPr>
              <a:t>Sustainable Development</a:t>
            </a:r>
            <a:endParaRPr kumimoji="0" lang="en-US" altLang="en-US" sz="22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12" name="Text 6"/>
          <p:cNvSpPr/>
          <p:nvPr/>
        </p:nvSpPr>
        <p:spPr>
          <a:xfrm>
            <a:off x="9769019" y="3987284"/>
            <a:ext cx="3785592" cy="72580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2850"/>
              </a:lnSpc>
              <a:spcBef>
                <a:spcPts val="0"/>
              </a:spcBef>
              <a:spcAft>
                <a:spcPts val="0"/>
              </a:spcAft>
              <a:buClrTx/>
              <a:buSzTx/>
              <a:buFontTx/>
              <a:buNone/>
              <a:defRPr/>
            </a:pPr>
            <a:r>
              <a:rPr kumimoji="0" lang="en-US" altLang="en-US" sz="175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Choose technologies that reduce cost and accelerate growth.</a:t>
            </a:r>
            <a:endParaRPr kumimoji="0" lang="en-US" altLang="en-US" sz="175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Tree>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5239</Words>
  <Application>WPS Presentation</Application>
  <PresentationFormat>Custom</PresentationFormat>
  <Paragraphs>275</Paragraphs>
  <Slides>16</Slides>
  <Notes>13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16</vt:i4>
      </vt:variant>
    </vt:vector>
  </HeadingPairs>
  <TitlesOfParts>
    <vt:vector size="27" baseType="lpstr">
      <vt:lpstr>Arial</vt:lpstr>
      <vt:lpstr>SimSun</vt:lpstr>
      <vt:lpstr>Wingdings</vt:lpstr>
      <vt:lpstr>Inter Bold</vt:lpstr>
      <vt:lpstr>Inter</vt:lpstr>
      <vt:lpstr>Arial Unicode MS</vt:lpstr>
      <vt:lpstr>Times New Roman</vt:lpstr>
      <vt:lpstr>Microsoft YaHei</vt:lpstr>
      <vt:lpstr>Calibri</vt:lpstr>
      <vt:lpstr>Opening slide</vt:lpstr>
      <vt:lpstr>Body slide</vt:lpstr>
      <vt:lpstr>PowerPoint 演示文稿</vt:lpstr>
      <vt:lpstr>PowerPoint 演示文稿</vt:lpstr>
      <vt:lpstr>PowerPoint 演示文稿</vt:lpstr>
      <vt:lpstr>Mobile Software Architecture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Cường Lê</cp:lastModifiedBy>
  <cp:revision>17</cp:revision>
  <dcterms:created xsi:type="dcterms:W3CDTF">2025-04-25T04:46:00Z</dcterms:created>
  <dcterms:modified xsi:type="dcterms:W3CDTF">2025-05-14T03:54:00Z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3DAF687920C54E7BBF3C1CB32EB28043_12</vt:lpwstr>
  </property>
  <property fmtid="{D5CDD505-2E9C-101B-9397-08002B2CF9AE}" pid="3" name="KSOProductBuildVer">
    <vt:lpwstr>1033-12.2.0.21179</vt:lpwstr>
  </property>
</Properties>
</file>