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0" r:id="rId3"/>
  </p:sldMasterIdLst>
  <p:notesMasterIdLst>
    <p:notesMasterId r:id="rId6"/>
  </p:notesMasterIdLst>
  <p:sldIdLst>
    <p:sldId id="267" r:id="rId4"/>
    <p:sldId id="282" r:id="rId5"/>
    <p:sldId id="284" r:id="rId7"/>
    <p:sldId id="285" r:id="rId8"/>
    <p:sldId id="286" r:id="rId9"/>
    <p:sldId id="287" r:id="rId10"/>
    <p:sldId id="288" r:id="rId11"/>
    <p:sldId id="305" r:id="rId12"/>
    <p:sldId id="290" r:id="rId13"/>
    <p:sldId id="291" r:id="rId14"/>
    <p:sldId id="292" r:id="rId15"/>
    <p:sldId id="293" r:id="rId16"/>
    <p:sldId id="295" r:id="rId17"/>
    <p:sldId id="296" r:id="rId18"/>
    <p:sldId id="297" r:id="rId19"/>
    <p:sldId id="298" r:id="rId20"/>
    <p:sldId id="299" r:id="rId21"/>
    <p:sldId id="300" r:id="rId22"/>
    <p:sldId id="301" r:id="rId23"/>
    <p:sldId id="302" r:id="rId24"/>
    <p:sldId id="303" r:id="rId25"/>
    <p:sldId id="304" r:id="rId26"/>
  </p:sldIdLst>
  <p:sldSz cx="14630400" cy="8229600"/>
  <p:notesSz cx="8229600" cy="14630400"/>
  <p:embeddedFontLst>
    <p:embeddedFont>
      <p:font typeface="Calibri" panose="020F0502020204030204"/>
      <p:regular r:id="rId30"/>
      <p:bold r:id="rId31"/>
      <p:italic r:id="rId32"/>
      <p:boldItalic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85146" autoAdjust="0"/>
  </p:normalViewPr>
  <p:slideViewPr>
    <p:cSldViewPr snapToGrid="0" snapToObjects="1">
      <p:cViewPr varScale="1">
        <p:scale>
          <a:sx n="81" d="100"/>
          <a:sy n="81" d="100"/>
        </p:scale>
        <p:origin x="1098" y="1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3" Type="http://schemas.openxmlformats.org/officeDocument/2006/relationships/font" Target="fonts/font4.fntdata"/><Relationship Id="rId32" Type="http://schemas.openxmlformats.org/officeDocument/2006/relationships/font" Target="fonts/font3.fntdata"/><Relationship Id="rId31" Type="http://schemas.openxmlformats.org/officeDocument/2006/relationships/font" Target="fonts/font2.fntdata"/><Relationship Id="rId30" Type="http://schemas.openxmlformats.org/officeDocument/2006/relationships/font" Target="fonts/font1.fntdata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algn="l"/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algn="l"/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algn="l"/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algn="l"/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algn="l"/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algn="l"/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algn="l"/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algn="l"/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algn="l"/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algn="l"/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algn="l"/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algn="l"/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algn="l"/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algn="l"/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algn="l"/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algn="l"/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algn="l"/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algn="l"/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algn="l"/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algn="l"/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pPr algn="l"/>
            <a:endParaRPr 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744135" y="2597642"/>
            <a:ext cx="12960668" cy="263308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76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744134" y="5320406"/>
            <a:ext cx="12960668" cy="4953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sub-title</a:t>
            </a:r>
            <a:endParaRPr lang="en-US" dirty="0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8560" y="779145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6999" y="1906924"/>
            <a:ext cx="13155431" cy="5486400"/>
          </a:xfrm>
        </p:spPr>
        <p:txBody>
          <a:bodyPr/>
          <a:lstStyle>
            <a:lvl1pPr marL="0" indent="0" algn="l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7" name="Title 1"/>
          <p:cNvSpPr txBox="1"/>
          <p:nvPr userDrawn="1"/>
        </p:nvSpPr>
        <p:spPr>
          <a:xfrm>
            <a:off x="3973646" y="-13709"/>
            <a:ext cx="10656755" cy="947534"/>
          </a:xfrm>
          <a:prstGeom prst="rect">
            <a:avLst/>
          </a:prstGeom>
        </p:spPr>
        <p:txBody>
          <a:bodyPr vert="horz" lIns="109728" tIns="54864" rIns="109728" bIns="54864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600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629085" y="23152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7000" y="1917577"/>
            <a:ext cx="13166084" cy="5494778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629085" y="23152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7001" y="1917578"/>
            <a:ext cx="13166084" cy="5497052"/>
          </a:xfrm>
        </p:spPr>
        <p:txBody>
          <a:bodyPr/>
          <a:lstStyle>
            <a:lvl1pPr marL="0" indent="0">
              <a:buNone/>
              <a:defRPr sz="2880">
                <a:solidFill>
                  <a:srgbClr val="0070C0"/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629085" y="0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7000" y="1928230"/>
            <a:ext cx="6568200" cy="5484126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27130" y="1928230"/>
            <a:ext cx="6568199" cy="5484126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629085" y="0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7000" y="1923930"/>
            <a:ext cx="6568200" cy="988694"/>
          </a:xfrm>
        </p:spPr>
        <p:txBody>
          <a:bodyPr anchor="b"/>
          <a:lstStyle>
            <a:lvl1pPr marL="0" indent="0">
              <a:buNone/>
              <a:defRPr sz="2880" b="1">
                <a:latin typeface="+mj-lt"/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6999" y="3014858"/>
            <a:ext cx="6568199" cy="441273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315201" y="1923930"/>
            <a:ext cx="6568199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315199" y="3014858"/>
            <a:ext cx="6568200" cy="441273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629085" y="0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29085" y="0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23181" y="1928230"/>
            <a:ext cx="7947173" cy="5475746"/>
          </a:xfrm>
        </p:spPr>
        <p:txBody>
          <a:bodyPr/>
          <a:lstStyle>
            <a:lvl1pPr>
              <a:defRPr sz="3840">
                <a:latin typeface="+mj-lt"/>
              </a:defRPr>
            </a:lvl1pPr>
            <a:lvl2pPr>
              <a:defRPr sz="3360">
                <a:latin typeface="+mj-lt"/>
              </a:defRPr>
            </a:lvl2pPr>
            <a:lvl3pPr>
              <a:defRPr sz="2880">
                <a:latin typeface="+mj-lt"/>
              </a:defRPr>
            </a:lvl3pPr>
            <a:lvl4pPr>
              <a:defRPr sz="2400">
                <a:latin typeface="+mj-lt"/>
              </a:defRPr>
            </a:lvl4pPr>
            <a:lvl5pPr>
              <a:defRPr sz="2400">
                <a:latin typeface="+mj-lt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7000" y="1928231"/>
            <a:ext cx="4809852" cy="547574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629085" y="0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859262" y="1928230"/>
            <a:ext cx="8011092" cy="5465093"/>
          </a:xfrm>
        </p:spPr>
        <p:txBody>
          <a:bodyPr>
            <a:normAutofit/>
          </a:bodyPr>
          <a:lstStyle>
            <a:lvl1pPr marL="0" indent="0">
              <a:buNone/>
              <a:defRPr sz="336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7000" y="1928231"/>
            <a:ext cx="4779926" cy="5465093"/>
          </a:xfrm>
        </p:spPr>
        <p:txBody>
          <a:bodyPr>
            <a:normAutofit/>
          </a:bodyPr>
          <a:lstStyle>
            <a:lvl1pPr marL="0" indent="0">
              <a:buNone/>
              <a:defRPr sz="288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629085" y="13105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6999" y="1917578"/>
            <a:ext cx="13155431" cy="54947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629085" y="0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6999" y="1906924"/>
            <a:ext cx="13155431" cy="55054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629085" y="0"/>
            <a:ext cx="10975981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09975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slideLayout" Target="../slideLayouts/slideLayout9.xml"/><Relationship Id="rId7" Type="http://schemas.openxmlformats.org/officeDocument/2006/relationships/slideLayout" Target="../slideLayouts/slideLayout8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3" Type="http://schemas.openxmlformats.org/officeDocument/2006/relationships/theme" Target="../theme/theme2.xml"/><Relationship Id="rId12" Type="http://schemas.openxmlformats.org/officeDocument/2006/relationships/image" Target="../media/image4.png"/><Relationship Id="rId11" Type="http://schemas.openxmlformats.org/officeDocument/2006/relationships/image" Target="../media/image3.jpeg"/><Relationship Id="rId10" Type="http://schemas.openxmlformats.org/officeDocument/2006/relationships/slideLayout" Target="../slideLayouts/slideLayout11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6909" y="832674"/>
            <a:ext cx="3516583" cy="157936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8560" y="7773417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7655" y="28597"/>
            <a:ext cx="10975981" cy="5600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7000" y="1576675"/>
            <a:ext cx="13136400" cy="5835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8560" y="779145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1D26D55-0A22-487A-A687-61FB58A6F16A}" type="slidenum">
              <a:rPr lang="en-US" smtClean="0"/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8661" y="153680"/>
            <a:ext cx="1744740" cy="30990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hdr="0" ftr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2760" b="1" kern="12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j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j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5.xml"/><Relationship Id="rId2" Type="http://schemas.openxmlformats.org/officeDocument/2006/relationships/tags" Target="../tags/tag1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443726" y="2935573"/>
            <a:ext cx="9940431" cy="2633081"/>
          </a:xfrm>
        </p:spPr>
        <p:txBody>
          <a:bodyPr/>
          <a:lstStyle/>
          <a:p>
            <a:r>
              <a:rPr lang="en-US" altLang="en-US" sz="6000"/>
              <a:t>Cross-Platform Application Development</a:t>
            </a:r>
            <a:endParaRPr lang="en-US" altLang="en-US" sz="6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44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44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73598" y="7791450"/>
            <a:ext cx="3291840" cy="4381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1676877" y="6307445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95534" y="-100904"/>
            <a:ext cx="779597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5550"/>
              </a:lnSpc>
            </a:pPr>
            <a:r>
              <a:rPr lang="en-US" altLang="en-US" sz="3600" b="1" dirty="0">
                <a:solidFill>
                  <a:schemeClr val="bg1"/>
                </a:solidFill>
                <a:latin typeface="Arial" panose="020B0604020202020204" pitchFamily="34" charset="0"/>
              </a:rPr>
              <a:t>Introduction to Dart Language</a:t>
            </a:r>
            <a:endParaRPr lang="en-US" altLang="en-US" sz="3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3915" y="1484957"/>
            <a:ext cx="8398824" cy="5259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Dart is an open-source, general-purpose programming language developed by Google.</a:t>
            </a:r>
            <a:endParaRPr lang="en-US" altLang="en-US" sz="2800">
              <a:latin typeface="Arial" panose="020B0604020202020204" pitchFamily="34" charset="0"/>
            </a:endParaRP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Dart was announced in 2011, with its stable release in 2013. The latest version is Dart 2.14.</a:t>
            </a:r>
            <a:endParaRPr lang="en-US" altLang="en-US" sz="2800">
              <a:latin typeface="Arial" panose="020B0604020202020204" pitchFamily="34" charset="0"/>
            </a:endParaRP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Dart is a cross-platform language used for developing web, desktop, server, and mobile applications.</a:t>
            </a:r>
            <a:endParaRPr lang="en-US" altLang="en-US" sz="2800">
              <a:latin typeface="Arial" panose="020B0604020202020204" pitchFamily="34" charset="0"/>
            </a:endParaRP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Flutter applications are written in Dart, providing developers with the best experience in building high-quality mobile apps.</a:t>
            </a:r>
            <a:endParaRPr lang="en-US" altLang="en-US" sz="2800">
              <a:latin typeface="Arial" panose="020B0604020202020204" pitchFamily="34" charset="0"/>
            </a:endParaRPr>
          </a:p>
        </p:txBody>
      </p:sp>
      <p:pic>
        <p:nvPicPr>
          <p:cNvPr id="1026" name="Picture 2" descr="Dart là gì? Ứng dụng của ngôn ngữ lập trình Dar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4082" y="2525734"/>
            <a:ext cx="5656318" cy="3178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73598" y="7791450"/>
            <a:ext cx="3291840" cy="4381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1676877" y="6307445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95534" y="-100904"/>
            <a:ext cx="779597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5550"/>
              </a:lnSpc>
            </a:pPr>
            <a:r>
              <a:rPr lang="en-US" altLang="en-US" sz="3600" b="1" dirty="0">
                <a:solidFill>
                  <a:schemeClr val="bg1"/>
                </a:solidFill>
                <a:latin typeface="Arial" panose="020B0604020202020204" pitchFamily="34" charset="0"/>
              </a:rPr>
              <a:t>Introduction to Dart Language </a:t>
            </a:r>
            <a:endParaRPr lang="en-US" altLang="en-US" sz="3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9559" y="2240109"/>
            <a:ext cx="6308766" cy="2934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en-US" sz="2800">
                <a:latin typeface="Arial" panose="020B0604020202020204" pitchFamily="34" charset="0"/>
              </a:rPr>
              <a:t>Characteristics of Dart:</a:t>
            </a:r>
            <a:endParaRPr lang="en-US" altLang="en-US" sz="2800">
              <a:latin typeface="Arial" panose="020B0604020202020204" pitchFamily="34" charset="0"/>
            </a:endParaRP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Productive tooling</a:t>
            </a:r>
            <a:endParaRPr lang="en-US" altLang="en-US" sz="2800">
              <a:latin typeface="Arial" panose="020B0604020202020204" pitchFamily="34" charset="0"/>
            </a:endParaRP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Garbage collection</a:t>
            </a:r>
            <a:endParaRPr lang="en-US" altLang="en-US" sz="2800">
              <a:latin typeface="Arial" panose="020B0604020202020204" pitchFamily="34" charset="0"/>
            </a:endParaRP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Type annotations</a:t>
            </a:r>
            <a:endParaRPr lang="en-US" altLang="en-US" sz="2800">
              <a:latin typeface="Arial" panose="020B0604020202020204" pitchFamily="34" charset="0"/>
            </a:endParaRP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Statically typed</a:t>
            </a:r>
            <a:endParaRPr lang="en-US" altLang="en-US" sz="2800">
              <a:latin typeface="Arial" panose="020B0604020202020204" pitchFamily="34" charset="0"/>
            </a:endParaRP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2800">
                <a:latin typeface="Arial" panose="020B0604020202020204" pitchFamily="34" charset="0"/>
              </a:rPr>
              <a:t>Portability</a:t>
            </a:r>
            <a:endParaRPr lang="en-US" altLang="en-US" sz="2800">
              <a:latin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6267" y="1429341"/>
            <a:ext cx="8674133" cy="48781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73598" y="7791450"/>
            <a:ext cx="3291840" cy="4381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1676877" y="6307445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95534" y="-100904"/>
            <a:ext cx="779597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5550"/>
              </a:lnSpc>
            </a:pPr>
            <a:r>
              <a:rPr lang="en-US" altLang="en-US" sz="3600" b="1" dirty="0">
                <a:solidFill>
                  <a:schemeClr val="bg1"/>
                </a:solidFill>
                <a:latin typeface="Arial" panose="020B0604020202020204" pitchFamily="34" charset="0"/>
              </a:rPr>
              <a:t>Execution Platforms</a:t>
            </a:r>
            <a:endParaRPr lang="en-US" altLang="en-US" sz="3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6141" y="3388045"/>
            <a:ext cx="9378117" cy="462248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2626360" y="1431925"/>
          <a:ext cx="9378315" cy="1944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8840"/>
                <a:gridCol w="4689475"/>
              </a:tblGrid>
              <a:tr h="1944370">
                <a:tc>
                  <a:txBody>
                    <a:bodyPr/>
                    <a:lstStyle/>
                    <a:p>
                      <a:r>
                        <a:rPr lang="en-US" alt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Mobile and desktop applications, including the Dart virtual machine (Dart VM) with Just-In-Time (JIT) and Ahead-Of-Time (AOT) compilation</a:t>
                      </a:r>
                      <a:endParaRPr lang="en-US" alt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Web-based applications.</a:t>
                      </a:r>
                      <a:endParaRPr lang="en-US" alt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Dart source code is compiled into</a:t>
                      </a:r>
                      <a:endParaRPr lang="en-US" alt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JavaScript</a:t>
                      </a:r>
                      <a:endParaRPr lang="en-US" altLang="en-US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73598" y="7791450"/>
            <a:ext cx="3291840" cy="4381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1676877" y="6307445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95534" y="-100904"/>
            <a:ext cx="779597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5550"/>
              </a:lnSpc>
            </a:pPr>
            <a:r>
              <a:rPr lang="en-US" altLang="en-US" sz="3600" b="1" dirty="0">
                <a:solidFill>
                  <a:schemeClr val="bg1"/>
                </a:solidFill>
                <a:latin typeface="Arial" panose="020B0604020202020204" pitchFamily="34" charset="0"/>
              </a:rPr>
              <a:t>Dart Application Development Tools</a:t>
            </a:r>
            <a:endParaRPr lang="en-US" altLang="en-US" sz="3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7392" y="1605578"/>
            <a:ext cx="8353007" cy="47018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2027462"/>
            <a:ext cx="6277392" cy="4154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b="1">
                <a:latin typeface="Arial" panose="020B0604020202020204" pitchFamily="34" charset="0"/>
              </a:rPr>
              <a:t>The Dart SDK provides specific tools for each Dart development ecosystem:</a:t>
            </a:r>
            <a:endParaRPr lang="en-US" altLang="en-US" sz="2400" b="1"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b="1">
                <a:latin typeface="Arial" panose="020B0604020202020204" pitchFamily="34" charset="0"/>
              </a:rPr>
              <a:t>dart</a:t>
            </a:r>
            <a:r>
              <a:rPr lang="vi-VN" sz="2400">
                <a:latin typeface="Arial" panose="020B0604020202020204" pitchFamily="34" charset="0"/>
              </a:rPr>
              <a:t>: </a:t>
            </a:r>
            <a:r>
              <a:rPr lang="en-US" altLang="en-US" sz="2400">
                <a:latin typeface="Arial" panose="020B0604020202020204" pitchFamily="34" charset="0"/>
              </a:rPr>
              <a:t>Command-line interface for creating, formatting, analyzing, testing, compiling, and running Dart code</a:t>
            </a:r>
            <a:endParaRPr lang="en-US" altLang="en-US" sz="2400"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b="1">
                <a:latin typeface="Arial" panose="020B0604020202020204" pitchFamily="34" charset="0"/>
              </a:rPr>
              <a:t>dartaotruntime</a:t>
            </a:r>
            <a:r>
              <a:rPr lang="vi-VN" sz="2400">
                <a:latin typeface="Arial" panose="020B0604020202020204" pitchFamily="34" charset="0"/>
              </a:rPr>
              <a:t>: </a:t>
            </a:r>
            <a:r>
              <a:rPr lang="en-US" altLang="en-US" sz="2400">
                <a:latin typeface="Arial" panose="020B0604020202020204" pitchFamily="34" charset="0"/>
              </a:rPr>
              <a:t>execution environment for AOT compiled apps</a:t>
            </a:r>
            <a:endParaRPr lang="en-US" altLang="en-US" sz="2400"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b="1">
                <a:latin typeface="Arial" panose="020B0604020202020204" pitchFamily="34" charset="0"/>
              </a:rPr>
              <a:t>dartdoc</a:t>
            </a:r>
            <a:r>
              <a:rPr lang="vi-VN" sz="2400">
                <a:latin typeface="Arial" panose="020B0604020202020204" pitchFamily="34" charset="0"/>
              </a:rPr>
              <a:t>: </a:t>
            </a:r>
            <a:r>
              <a:rPr lang="en-US" altLang="en-US" sz="2400">
                <a:latin typeface="Arial" panose="020B0604020202020204" pitchFamily="34" charset="0"/>
              </a:rPr>
              <a:t>documentation generator</a:t>
            </a:r>
            <a:endParaRPr lang="en-US" altLang="en-US" sz="2400"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b="1">
                <a:latin typeface="Arial" panose="020B0604020202020204" pitchFamily="34" charset="0"/>
              </a:rPr>
              <a:t>pub</a:t>
            </a:r>
            <a:r>
              <a:rPr lang="vi-VN" sz="2400">
                <a:latin typeface="Arial" panose="020B0604020202020204" pitchFamily="34" charset="0"/>
              </a:rPr>
              <a:t>:</a:t>
            </a:r>
            <a:r>
              <a:rPr lang="en-US" altLang="vi-VN" sz="2400">
                <a:latin typeface="Arial" panose="020B0604020202020204" pitchFamily="34" charset="0"/>
              </a:rPr>
              <a:t> </a:t>
            </a:r>
            <a:r>
              <a:rPr lang="en-US" altLang="en-US" sz="2400">
                <a:latin typeface="Arial" panose="020B0604020202020204" pitchFamily="34" charset="0"/>
              </a:rPr>
              <a:t>package manager</a:t>
            </a:r>
            <a:endParaRPr lang="en-US" altLang="en-US" sz="2400"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latin typeface="Arial" panose="020B0604020202020204" pitchFamily="34" charset="0"/>
              </a:rPr>
              <a:t>For web development, additional tools include: </a:t>
            </a:r>
            <a:r>
              <a:rPr lang="vi-VN" sz="2400">
                <a:latin typeface="Arial" panose="020B0604020202020204" pitchFamily="34" charset="0"/>
              </a:rPr>
              <a:t>dart2js, webdev, dartdevc,…</a:t>
            </a:r>
            <a:endParaRPr lang="vi-VN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73598" y="7791450"/>
            <a:ext cx="3291840" cy="4381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1676877" y="6307445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95534" y="-100904"/>
            <a:ext cx="779597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5550"/>
              </a:lnSpc>
            </a:pPr>
            <a:r>
              <a:rPr lang="en-US" altLang="en-US" sz="3600" b="1" dirty="0">
                <a:solidFill>
                  <a:schemeClr val="bg1"/>
                </a:solidFill>
                <a:latin typeface="Arial" panose="020B0604020202020204" pitchFamily="34" charset="0"/>
              </a:rPr>
              <a:t>Dart Development Tools</a:t>
            </a:r>
            <a:endParaRPr lang="en-US" altLang="en-US" sz="3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534" y="1151010"/>
            <a:ext cx="6278245" cy="2459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7665" indent="-354965">
              <a:lnSpc>
                <a:spcPct val="100000"/>
              </a:lnSpc>
              <a:spcBef>
                <a:spcPts val="105"/>
              </a:spcBef>
              <a:buSzPct val="63000"/>
              <a:buFont typeface="Arial" panose="020B0604020202020204"/>
              <a:buChar char="▪"/>
              <a:tabLst>
                <a:tab pos="367665" algn="l"/>
              </a:tabLst>
            </a:pPr>
            <a:r>
              <a:rPr lang="en-US" altLang="en-US" sz="3200">
                <a:latin typeface="Calibri" panose="020F0502020204030204"/>
                <a:cs typeface="Calibri" panose="020F0502020204030204"/>
              </a:rPr>
              <a:t>Example of a basic Dart program:</a:t>
            </a:r>
            <a:endParaRPr lang="en-US" altLang="en-US" sz="3200">
              <a:latin typeface="Calibri" panose="020F0502020204030204"/>
              <a:cs typeface="Calibri" panose="020F0502020204030204"/>
            </a:endParaRPr>
          </a:p>
          <a:p>
            <a:pPr marL="469900">
              <a:lnSpc>
                <a:spcPct val="100000"/>
              </a:lnSpc>
              <a:spcBef>
                <a:spcPts val="2365"/>
              </a:spcBef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//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First program</a:t>
            </a:r>
            <a:endParaRPr lang="en-US" sz="2000" spc="-2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lvl="1">
              <a:spcBef>
                <a:spcPts val="105"/>
              </a:spcBef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void</a:t>
            </a:r>
            <a:r>
              <a:rPr lang="en-US" sz="2000" spc="-2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main()</a:t>
            </a:r>
            <a:r>
              <a:rPr lang="en-US" sz="2000" spc="-2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-5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4865" lvl="1"/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var</a:t>
            </a:r>
            <a:r>
              <a:rPr lang="en-US" sz="2000" spc="-2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000" spc="-1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sz="2000" spc="-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-10">
                <a:latin typeface="Arial" panose="020B0604020202020204" pitchFamily="34" charset="0"/>
                <a:cs typeface="Arial" panose="020B0604020202020204" pitchFamily="34" charset="0"/>
              </a:rPr>
              <a:t>'World’;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4865" lvl="1"/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print('Hello</a:t>
            </a:r>
            <a:r>
              <a:rPr lang="en-US" sz="2000" spc="-6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spc="-10">
                <a:latin typeface="Arial" panose="020B0604020202020204" pitchFamily="34" charset="0"/>
                <a:cs typeface="Arial" panose="020B0604020202020204" pitchFamily="34" charset="0"/>
              </a:rPr>
              <a:t>$a');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lvl="1">
              <a:spcBef>
                <a:spcPts val="770"/>
              </a:spcBef>
            </a:pPr>
            <a:r>
              <a:rPr lang="en-US" sz="2000" spc="-5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US" sz="2000" spc="-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bject 5"/>
          <p:cNvSpPr txBox="1"/>
          <p:nvPr/>
        </p:nvSpPr>
        <p:spPr>
          <a:xfrm>
            <a:off x="95250" y="5552440"/>
            <a:ext cx="8653780" cy="1748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SzPct val="67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Executed via command line: </a:t>
            </a:r>
            <a:r>
              <a:rPr lang="en-US" altLang="en-US" sz="2800" b="1">
                <a:latin typeface="Arial" panose="020B0604020202020204" pitchFamily="34" charset="0"/>
                <a:cs typeface="Arial" panose="020B0604020202020204" pitchFamily="34" charset="0"/>
              </a:rPr>
              <a:t>dart hello_world.dart </a:t>
            </a:r>
            <a:endParaRPr lang="en-US" altLang="en-US" sz="28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SzPct val="67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800" b="1">
                <a:latin typeface="Arial" panose="020B0604020202020204" pitchFamily="34" charset="0"/>
                <a:cs typeface="Arial" panose="020B0604020202020204" pitchFamily="34" charset="0"/>
              </a:rPr>
              <a:t>DartPad:</a:t>
            </a: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An online tool that allows writing and executing Dart code from the browser at: https://www.dartpad.dev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object 6"/>
          <p:cNvSpPr txBox="1"/>
          <p:nvPr/>
        </p:nvSpPr>
        <p:spPr>
          <a:xfrm>
            <a:off x="2914907" y="4041716"/>
            <a:ext cx="2773045" cy="908685"/>
          </a:xfrm>
          <a:prstGeom prst="rect">
            <a:avLst/>
          </a:prstGeom>
          <a:ln w="25400">
            <a:solidFill>
              <a:srgbClr val="4471C4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05"/>
              </a:spcBef>
            </a:pP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The main() function is the starting point</a:t>
            </a: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2075">
              <a:lnSpc>
                <a:spcPct val="100000"/>
              </a:lnSpc>
              <a:spcBef>
                <a:spcPts val="305"/>
              </a:spcBef>
            </a:pP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of every Dart application.</a:t>
            </a: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6850" y="981083"/>
            <a:ext cx="7853550" cy="44255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73598" y="7791450"/>
            <a:ext cx="3291840" cy="4381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1676877" y="6307445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95534" y="-100904"/>
            <a:ext cx="779597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5550"/>
              </a:lnSpc>
            </a:pPr>
            <a:r>
              <a:rPr lang="en-US" altLang="en-US" sz="3600" b="1" dirty="0">
                <a:solidFill>
                  <a:schemeClr val="bg1"/>
                </a:solidFill>
                <a:latin typeface="Arial" panose="020B0604020202020204" pitchFamily="34" charset="0"/>
              </a:rPr>
              <a:t>Basic Syntax of Dart</a:t>
            </a:r>
            <a:endParaRPr lang="en-US" altLang="en-US" sz="3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6850" y="2063392"/>
            <a:ext cx="7853550" cy="4425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534" y="1964581"/>
            <a:ext cx="6380018" cy="4523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vi-VN" sz="2400" b="1">
                <a:latin typeface="Arial" panose="020B0604020202020204" pitchFamily="34" charset="0"/>
              </a:rPr>
              <a:t>Main () </a:t>
            </a:r>
            <a:r>
              <a:rPr lang="en-US" altLang="vi-VN" sz="2400">
                <a:latin typeface="Arial" panose="020B0604020202020204" pitchFamily="34" charset="0"/>
              </a:rPr>
              <a:t>function</a:t>
            </a:r>
            <a:r>
              <a:rPr lang="vi-VN" sz="2400">
                <a:latin typeface="Arial" panose="020B0604020202020204" pitchFamily="34" charset="0"/>
              </a:rPr>
              <a:t>: </a:t>
            </a:r>
            <a:r>
              <a:rPr lang="en-US" altLang="en-US" sz="2400">
                <a:latin typeface="Arial" panose="020B0604020202020204" pitchFamily="34" charset="0"/>
              </a:rPr>
              <a:t> A Dart application starts from the main function, which may or may not have parameters.</a:t>
            </a:r>
            <a:endParaRPr lang="en-US" altLang="en-US" sz="2400"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latin typeface="Arial" panose="020B0604020202020204" pitchFamily="34" charset="0"/>
              </a:rPr>
              <a:t>Dart is case-sensitive; every statement ends with a semicolon ;</a:t>
            </a:r>
            <a:endParaRPr lang="en-US" altLang="en-US" sz="2400"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latin typeface="Arial" panose="020B0604020202020204" pitchFamily="34" charset="0"/>
              </a:rPr>
              <a:t>A group of statements grouped together is called a statement block, using the pair of braces {} to create the block.</a:t>
            </a:r>
            <a:endParaRPr lang="en-US" altLang="en-US" sz="2400"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latin typeface="Arial" panose="020B0604020202020204" pitchFamily="34" charset="0"/>
              </a:rPr>
              <a:t>Blocks can be nested.</a:t>
            </a:r>
            <a:endParaRPr lang="en-US" altLang="en-US" sz="2400"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latin typeface="Arial" panose="020B0604020202020204" pitchFamily="34" charset="0"/>
              </a:rPr>
              <a:t>Comments:</a:t>
            </a:r>
            <a:endParaRPr lang="en-US" altLang="en-US" sz="2400">
              <a:latin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400">
                <a:latin typeface="Arial" panose="020B0604020202020204" pitchFamily="34" charset="0"/>
              </a:rPr>
              <a:t>Single-line: //</a:t>
            </a:r>
            <a:endParaRPr lang="en-US" altLang="en-US" sz="2400">
              <a:latin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en-US" sz="2400">
                <a:latin typeface="Arial" panose="020B0604020202020204" pitchFamily="34" charset="0"/>
              </a:rPr>
              <a:t>Multi-line: /* ... */</a:t>
            </a:r>
            <a:endParaRPr lang="en-US" altLang="en-US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73598" y="7791450"/>
            <a:ext cx="3291840" cy="4381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1676877" y="6307445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95534" y="-100904"/>
            <a:ext cx="779597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5550"/>
              </a:lnSpc>
            </a:pPr>
            <a:r>
              <a:rPr lang="en-US" altLang="en-US" sz="3600" b="1" dirty="0">
                <a:solidFill>
                  <a:schemeClr val="bg1"/>
                </a:solidFill>
                <a:latin typeface="Arial" panose="020B0604020202020204" pitchFamily="34" charset="0"/>
              </a:rPr>
              <a:t>Basic Syntax of Dart</a:t>
            </a:r>
            <a:endParaRPr lang="en-US" altLang="en-US" sz="3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0282" y="2268186"/>
            <a:ext cx="7490118" cy="42207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534" y="2267909"/>
            <a:ext cx="7044748" cy="378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latin typeface="Arial" panose="020B0604020202020204" pitchFamily="34" charset="0"/>
              </a:rPr>
              <a:t>dentifiers (variable names, function names, class names...): must start with a letter </a:t>
            </a:r>
            <a:r>
              <a:rPr lang="en-US" altLang="en-US" sz="2400" b="1">
                <a:latin typeface="Arial" panose="020B0604020202020204" pitchFamily="34" charset="0"/>
              </a:rPr>
              <a:t>(a-zA-Z)</a:t>
            </a:r>
            <a:r>
              <a:rPr lang="en-US" altLang="en-US" sz="2400">
                <a:latin typeface="Arial" panose="020B0604020202020204" pitchFamily="34" charset="0"/>
              </a:rPr>
              <a:t> or underscore </a:t>
            </a:r>
            <a:r>
              <a:rPr lang="en-US" altLang="en-US" sz="2400" b="1">
                <a:latin typeface="Arial" panose="020B0604020202020204" pitchFamily="34" charset="0"/>
              </a:rPr>
              <a:t>_</a:t>
            </a:r>
            <a:r>
              <a:rPr lang="en-US" altLang="en-US" sz="2400">
                <a:latin typeface="Arial" panose="020B0604020202020204" pitchFamily="34" charset="0"/>
              </a:rPr>
              <a:t>, followed by letters or digits.</a:t>
            </a:r>
            <a:endParaRPr lang="en-US" altLang="en-US" sz="2400"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latin typeface="Arial" panose="020B0604020202020204" pitchFamily="34" charset="0"/>
              </a:rPr>
              <a:t>Everything stored in a variable is an object (including numbers and </a:t>
            </a:r>
            <a:r>
              <a:rPr lang="en-US" altLang="en-US" sz="2400" b="1">
                <a:latin typeface="Arial" panose="020B0604020202020204" pitchFamily="34" charset="0"/>
              </a:rPr>
              <a:t>null</a:t>
            </a:r>
            <a:r>
              <a:rPr lang="en-US" altLang="en-US" sz="2400">
                <a:latin typeface="Arial" panose="020B0604020202020204" pitchFamily="34" charset="0"/>
              </a:rPr>
              <a:t>). All objects originate from class definitions; all classes inherit from the base class </a:t>
            </a:r>
            <a:r>
              <a:rPr lang="en-US" altLang="en-US" sz="2400" b="1">
                <a:latin typeface="Arial" panose="020B0604020202020204" pitchFamily="34" charset="0"/>
              </a:rPr>
              <a:t>Object</a:t>
            </a:r>
            <a:r>
              <a:rPr lang="en-US" altLang="en-US" sz="2400">
                <a:latin typeface="Arial" panose="020B0604020202020204" pitchFamily="34" charset="0"/>
              </a:rPr>
              <a:t>.</a:t>
            </a:r>
            <a:endParaRPr lang="en-US" altLang="en-US" sz="2400"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latin typeface="Arial" panose="020B0604020202020204" pitchFamily="34" charset="0"/>
              </a:rPr>
              <a:t>Dart doesn’t use </a:t>
            </a:r>
            <a:r>
              <a:rPr lang="en-US" altLang="en-US" sz="2400" b="1">
                <a:latin typeface="Arial" panose="020B0604020202020204" pitchFamily="34" charset="0"/>
              </a:rPr>
              <a:t>public, private</a:t>
            </a:r>
            <a:r>
              <a:rPr lang="en-US" altLang="en-US" sz="2400">
                <a:latin typeface="Arial" panose="020B0604020202020204" pitchFamily="34" charset="0"/>
              </a:rPr>
              <a:t>, or </a:t>
            </a:r>
            <a:r>
              <a:rPr lang="en-US" altLang="en-US" sz="2400" b="1">
                <a:latin typeface="Arial" panose="020B0604020202020204" pitchFamily="34" charset="0"/>
              </a:rPr>
              <a:t>protected</a:t>
            </a:r>
            <a:r>
              <a:rPr lang="en-US" altLang="en-US" sz="2400">
                <a:latin typeface="Arial" panose="020B0604020202020204" pitchFamily="34" charset="0"/>
              </a:rPr>
              <a:t> keywords.</a:t>
            </a:r>
            <a:endParaRPr lang="en-US" altLang="en-US" sz="2400"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latin typeface="Arial" panose="020B0604020202020204" pitchFamily="34" charset="0"/>
              </a:rPr>
              <a:t>A name starting with _ is considered </a:t>
            </a:r>
            <a:r>
              <a:rPr lang="en-US" altLang="en-US" sz="2400" b="1">
                <a:latin typeface="Arial" panose="020B0604020202020204" pitchFamily="34" charset="0"/>
              </a:rPr>
              <a:t>private</a:t>
            </a:r>
            <a:r>
              <a:rPr lang="en-US" altLang="en-US" sz="2400">
                <a:latin typeface="Arial" panose="020B0604020202020204" pitchFamily="34" charset="0"/>
              </a:rPr>
              <a:t>.</a:t>
            </a:r>
            <a:endParaRPr lang="en-US" altLang="en-US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73598" y="7791450"/>
            <a:ext cx="3291840" cy="4381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1676877" y="6273833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95534" y="-100904"/>
            <a:ext cx="779597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5550"/>
              </a:lnSpc>
            </a:pPr>
            <a:r>
              <a:rPr lang="en-US" altLang="en-US" sz="3600" b="1" dirty="0">
                <a:solidFill>
                  <a:schemeClr val="bg1"/>
                </a:solidFill>
                <a:latin typeface="Arial" panose="020B0604020202020204" pitchFamily="34" charset="0"/>
              </a:rPr>
              <a:t>Basic Syntax of Dart</a:t>
            </a:r>
            <a:endParaRPr lang="en-US" altLang="en-US" sz="3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0282" y="2268186"/>
            <a:ext cx="7490118" cy="42207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906517"/>
            <a:ext cx="9880270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latin typeface="Arial" panose="020B0604020202020204" pitchFamily="34" charset="0"/>
              </a:rPr>
              <a:t>Variable Declaration: Use var, the type is inferred from the assigned value.</a:t>
            </a:r>
            <a:endParaRPr lang="en-US" altLang="en-US" sz="2400">
              <a:latin typeface="Arial" panose="020B0604020202020204" pitchFamily="34" charset="0"/>
            </a:endParaRPr>
          </a:p>
          <a:p>
            <a:pPr marL="914400" lvl="2" indent="457200">
              <a:buFont typeface="Arial" panose="020B0604020202020204" pitchFamily="34" charset="0"/>
              <a:buNone/>
            </a:pPr>
            <a:r>
              <a:rPr lang="en-US" altLang="en-US">
                <a:latin typeface="Arial" panose="020B0604020202020204" pitchFamily="34" charset="0"/>
              </a:rPr>
              <a:t>var a = "Learn Dart"; // a is of type String</a:t>
            </a:r>
            <a:endParaRPr lang="en-US" altLang="en-US">
              <a:latin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33964" y="3515468"/>
          <a:ext cx="6600825" cy="958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5190"/>
                <a:gridCol w="794385"/>
                <a:gridCol w="238125"/>
                <a:gridCol w="1221105"/>
                <a:gridCol w="609600"/>
                <a:gridCol w="365760"/>
                <a:gridCol w="2486660"/>
              </a:tblGrid>
              <a:tr h="236220">
                <a:tc>
                  <a:txBody>
                    <a:bodyPr/>
                    <a:lstStyle/>
                    <a:p>
                      <a:pPr marL="31750">
                        <a:lnSpc>
                          <a:spcPts val="1650"/>
                        </a:lnSpc>
                      </a:pPr>
                      <a:r>
                        <a:rPr sz="1600" b="1" spc="-10" dirty="0">
                          <a:solidFill>
                            <a:srgbClr val="006F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String</a:t>
                      </a:r>
                      <a:endParaRPr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ts val="1650"/>
                        </a:lnSpc>
                      </a:pPr>
                      <a:r>
                        <a:rPr sz="1600" b="1" spc="-50" dirty="0">
                          <a:solidFill>
                            <a:srgbClr val="006F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  <a:endParaRPr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50"/>
                        </a:lnSpc>
                      </a:pPr>
                      <a:r>
                        <a:rPr sz="1600" b="1" spc="-50" dirty="0">
                          <a:solidFill>
                            <a:srgbClr val="006F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endParaRPr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650"/>
                        </a:lnSpc>
                      </a:pPr>
                      <a:r>
                        <a:rPr sz="1600" b="1" dirty="0">
                          <a:solidFill>
                            <a:srgbClr val="006F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'Chuỗi</a:t>
                      </a:r>
                      <a:r>
                        <a:rPr sz="1600" b="1" spc="-60" dirty="0">
                          <a:solidFill>
                            <a:srgbClr val="006F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006F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ký</a:t>
                      </a:r>
                      <a:endParaRPr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650"/>
                        </a:lnSpc>
                      </a:pPr>
                      <a:r>
                        <a:rPr sz="1600" b="1" spc="-20" dirty="0">
                          <a:solidFill>
                            <a:srgbClr val="006F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tự';</a:t>
                      </a:r>
                      <a:endParaRPr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650"/>
                        </a:lnSpc>
                      </a:pPr>
                      <a:r>
                        <a:rPr sz="1600" b="1" spc="-25" dirty="0">
                          <a:solidFill>
                            <a:srgbClr val="006F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//</a:t>
                      </a:r>
                      <a:endParaRPr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</a:pPr>
                      <a:r>
                        <a:rPr lang="en-US" altLang="en-US" sz="1600" b="1" spc="-20" dirty="0">
                          <a:solidFill>
                            <a:srgbClr val="006F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Declare string variable</a:t>
                      </a:r>
                      <a:endParaRPr lang="en-US" altLang="en-US" sz="1600" b="1" spc="-20" dirty="0">
                        <a:solidFill>
                          <a:srgbClr val="006FC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</a:tr>
              <a:tr h="243204">
                <a:tc>
                  <a:txBody>
                    <a:bodyPr/>
                    <a:lstStyle/>
                    <a:p>
                      <a:pPr marL="31750">
                        <a:lnSpc>
                          <a:spcPts val="1705"/>
                        </a:lnSpc>
                      </a:pPr>
                      <a:r>
                        <a:rPr sz="1600" b="1" spc="-10" dirty="0">
                          <a:solidFill>
                            <a:srgbClr val="006F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double</a:t>
                      </a:r>
                      <a:endParaRPr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ts val="1705"/>
                        </a:lnSpc>
                      </a:pPr>
                      <a:r>
                        <a:rPr sz="1600" b="1" spc="-50" dirty="0">
                          <a:solidFill>
                            <a:srgbClr val="006F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  <a:endParaRPr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05"/>
                        </a:lnSpc>
                      </a:pPr>
                      <a:r>
                        <a:rPr sz="1600" b="1" spc="-50" dirty="0">
                          <a:solidFill>
                            <a:srgbClr val="006F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endParaRPr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705"/>
                        </a:lnSpc>
                      </a:pPr>
                      <a:r>
                        <a:rPr sz="1600" b="1" spc="-10" dirty="0">
                          <a:solidFill>
                            <a:srgbClr val="006F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1.1234;</a:t>
                      </a:r>
                      <a:endParaRPr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705"/>
                        </a:lnSpc>
                      </a:pPr>
                      <a:r>
                        <a:rPr sz="1600" b="1" spc="-25" dirty="0">
                          <a:solidFill>
                            <a:srgbClr val="006F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//</a:t>
                      </a:r>
                      <a:endParaRPr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705"/>
                        </a:lnSpc>
                      </a:pPr>
                      <a:r>
                        <a:rPr lang="en-US" altLang="en-US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Declare real variable</a:t>
                      </a:r>
                      <a:endParaRPr lang="en-US" altLang="en-US" sz="16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</a:tr>
              <a:tr h="243204">
                <a:tc>
                  <a:txBody>
                    <a:bodyPr/>
                    <a:lstStyle/>
                    <a:p>
                      <a:pPr marL="31750">
                        <a:lnSpc>
                          <a:spcPts val="1705"/>
                        </a:lnSpc>
                      </a:pPr>
                      <a:r>
                        <a:rPr sz="1600" b="1" spc="-25" dirty="0">
                          <a:solidFill>
                            <a:srgbClr val="006F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</a:t>
                      </a:r>
                      <a:endParaRPr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ts val="1705"/>
                        </a:lnSpc>
                      </a:pPr>
                      <a:r>
                        <a:rPr sz="1600" b="1" spc="-50" dirty="0">
                          <a:solidFill>
                            <a:srgbClr val="006F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endParaRPr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05"/>
                        </a:lnSpc>
                      </a:pPr>
                      <a:r>
                        <a:rPr sz="1600" b="1" spc="-50" dirty="0">
                          <a:solidFill>
                            <a:srgbClr val="006F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endParaRPr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705"/>
                        </a:lnSpc>
                      </a:pPr>
                      <a:r>
                        <a:rPr sz="1600" b="1" spc="-25" dirty="0">
                          <a:solidFill>
                            <a:srgbClr val="006F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1;</a:t>
                      </a:r>
                      <a:endParaRPr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705"/>
                        </a:lnSpc>
                      </a:pPr>
                      <a:r>
                        <a:rPr sz="1600" b="1" spc="-25" dirty="0">
                          <a:solidFill>
                            <a:srgbClr val="006F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//</a:t>
                      </a:r>
                      <a:endParaRPr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705"/>
                        </a:lnSpc>
                      </a:pPr>
                      <a:r>
                        <a:rPr lang="en-US" altLang="en-US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Integer variable</a:t>
                      </a:r>
                      <a:endParaRPr lang="en-US" altLang="en-US" sz="16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</a:tr>
              <a:tr h="236220">
                <a:tc>
                  <a:txBody>
                    <a:bodyPr/>
                    <a:lstStyle/>
                    <a:p>
                      <a:pPr marL="31750">
                        <a:lnSpc>
                          <a:spcPts val="1705"/>
                        </a:lnSpc>
                      </a:pPr>
                      <a:r>
                        <a:rPr sz="1600" b="1" spc="-20" dirty="0">
                          <a:solidFill>
                            <a:srgbClr val="006F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bool</a:t>
                      </a:r>
                      <a:endParaRPr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ts val="1705"/>
                        </a:lnSpc>
                      </a:pPr>
                      <a:r>
                        <a:rPr sz="1600" b="1" spc="-10" dirty="0">
                          <a:solidFill>
                            <a:srgbClr val="006F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found</a:t>
                      </a:r>
                      <a:endParaRPr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05"/>
                        </a:lnSpc>
                      </a:pPr>
                      <a:r>
                        <a:rPr sz="1600" b="1" spc="-50" dirty="0">
                          <a:solidFill>
                            <a:srgbClr val="006F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endParaRPr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705"/>
                        </a:lnSpc>
                      </a:pPr>
                      <a:r>
                        <a:rPr sz="1600" b="1" spc="-10" dirty="0">
                          <a:solidFill>
                            <a:srgbClr val="006F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true;</a:t>
                      </a:r>
                      <a:endParaRPr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705"/>
                        </a:lnSpc>
                      </a:pPr>
                      <a:r>
                        <a:rPr sz="1600" b="1" spc="-25" dirty="0">
                          <a:solidFill>
                            <a:srgbClr val="006F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//</a:t>
                      </a:r>
                      <a:endParaRPr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705"/>
                        </a:lnSpc>
                      </a:pPr>
                      <a:r>
                        <a:rPr lang="en-US" altLang="en-US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Logical integer variable</a:t>
                      </a:r>
                      <a:endParaRPr lang="en-US" altLang="en-US" sz="16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5" name="object 3"/>
          <p:cNvSpPr txBox="1"/>
          <p:nvPr/>
        </p:nvSpPr>
        <p:spPr>
          <a:xfrm>
            <a:off x="95534" y="4688429"/>
            <a:ext cx="7044748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3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To allow any type: use dynamic.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object 6"/>
          <p:cNvGraphicFramePr>
            <a:graphicFrameLocks noGrp="1"/>
          </p:cNvGraphicFramePr>
          <p:nvPr/>
        </p:nvGraphicFramePr>
        <p:xfrm>
          <a:off x="359694" y="5403200"/>
          <a:ext cx="6659880" cy="9131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21330"/>
                <a:gridCol w="848360"/>
                <a:gridCol w="2539999"/>
              </a:tblGrid>
              <a:tr h="236220">
                <a:tc>
                  <a:txBody>
                    <a:bodyPr/>
                    <a:lstStyle/>
                    <a:p>
                      <a:pPr marL="31750">
                        <a:lnSpc>
                          <a:spcPts val="1650"/>
                        </a:lnSpc>
                      </a:pPr>
                      <a:r>
                        <a:rPr sz="1600" b="1" dirty="0">
                          <a:solidFill>
                            <a:srgbClr val="006F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dynamic</a:t>
                      </a:r>
                      <a:r>
                        <a:rPr sz="1600" b="1" spc="-35" dirty="0">
                          <a:solidFill>
                            <a:srgbClr val="006F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dirty="0">
                          <a:solidFill>
                            <a:srgbClr val="006F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dyn</a:t>
                      </a:r>
                      <a:r>
                        <a:rPr sz="1600" b="1" spc="-30" dirty="0">
                          <a:solidFill>
                            <a:srgbClr val="006F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dirty="0">
                          <a:solidFill>
                            <a:srgbClr val="006F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sz="1600" b="1" spc="-45" dirty="0">
                          <a:solidFill>
                            <a:srgbClr val="006F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spc="-20" dirty="0">
                          <a:solidFill>
                            <a:srgbClr val="006F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123;</a:t>
                      </a:r>
                      <a:endParaRPr sz="16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340" algn="r">
                        <a:lnSpc>
                          <a:spcPts val="1650"/>
                        </a:lnSpc>
                      </a:pPr>
                      <a:r>
                        <a:rPr sz="1600" b="1" spc="-25" dirty="0">
                          <a:solidFill>
                            <a:srgbClr val="006F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//</a:t>
                      </a:r>
                      <a:endParaRPr sz="16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650"/>
                        </a:lnSpc>
                      </a:pPr>
                      <a:r>
                        <a:rPr lang="en-US" altLang="en-US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Initialize to int number</a:t>
                      </a:r>
                      <a:endParaRPr lang="en-US" altLang="en-US" sz="16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</a:tr>
              <a:tr h="243840">
                <a:tc>
                  <a:txBody>
                    <a:bodyPr/>
                    <a:lstStyle/>
                    <a:p>
                      <a:pPr marL="31750">
                        <a:lnSpc>
                          <a:spcPts val="1705"/>
                        </a:lnSpc>
                      </a:pPr>
                      <a:r>
                        <a:rPr sz="1600" b="1" dirty="0">
                          <a:solidFill>
                            <a:srgbClr val="006F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dyn</a:t>
                      </a:r>
                      <a:r>
                        <a:rPr sz="1600" b="1" spc="-25" dirty="0">
                          <a:solidFill>
                            <a:srgbClr val="006F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dirty="0">
                          <a:solidFill>
                            <a:srgbClr val="006F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sz="1600" b="1" spc="-20" dirty="0">
                          <a:solidFill>
                            <a:srgbClr val="006F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006F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"Dynamic";</a:t>
                      </a:r>
                      <a:endParaRPr sz="16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340" algn="r">
                        <a:lnSpc>
                          <a:spcPts val="1705"/>
                        </a:lnSpc>
                      </a:pPr>
                      <a:r>
                        <a:rPr sz="1600" b="1" spc="-25" dirty="0">
                          <a:solidFill>
                            <a:srgbClr val="006F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//</a:t>
                      </a:r>
                      <a:endParaRPr sz="16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705"/>
                        </a:lnSpc>
                      </a:pPr>
                      <a:r>
                        <a:rPr lang="en-US" altLang="en-US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String assignment</a:t>
                      </a:r>
                      <a:endParaRPr lang="en-US" altLang="en-US" sz="16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</a:tr>
              <a:tr h="236220">
                <a:tc>
                  <a:txBody>
                    <a:bodyPr/>
                    <a:lstStyle/>
                    <a:p>
                      <a:pPr marL="31750">
                        <a:lnSpc>
                          <a:spcPts val="1705"/>
                        </a:lnSpc>
                      </a:pPr>
                      <a:r>
                        <a:rPr sz="1600" b="1" dirty="0">
                          <a:solidFill>
                            <a:srgbClr val="006F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dyn</a:t>
                      </a:r>
                      <a:r>
                        <a:rPr sz="1600" b="1" spc="-25" dirty="0">
                          <a:solidFill>
                            <a:srgbClr val="006F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dirty="0">
                          <a:solidFill>
                            <a:srgbClr val="006F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sz="1600" b="1" spc="-20" dirty="0">
                          <a:solidFill>
                            <a:srgbClr val="006F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006F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1.12345;</a:t>
                      </a:r>
                      <a:endParaRPr sz="16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3340" algn="r">
                        <a:lnSpc>
                          <a:spcPts val="1705"/>
                        </a:lnSpc>
                      </a:pPr>
                      <a:r>
                        <a:rPr sz="1600" b="1" spc="-25" dirty="0">
                          <a:solidFill>
                            <a:srgbClr val="006FC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//</a:t>
                      </a:r>
                      <a:endParaRPr sz="16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1705"/>
                        </a:lnSpc>
                      </a:pPr>
                      <a:r>
                        <a:rPr lang="en-US" altLang="en-US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Assign the number double</a:t>
                      </a:r>
                      <a:endParaRPr lang="en-US" altLang="en-US" sz="16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0" y="2465556"/>
            <a:ext cx="676910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>
                <a:latin typeface="Arial" panose="020B0604020202020204" pitchFamily="34" charset="0"/>
              </a:rPr>
              <a:t>Can also explicitly specify the data type.</a:t>
            </a:r>
            <a:endParaRPr lang="en-US" altLang="en-US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73598" y="7791450"/>
            <a:ext cx="3291840" cy="4381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1279753" y="7671547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95534" y="-100904"/>
            <a:ext cx="779597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5550"/>
              </a:lnSpc>
            </a:pPr>
            <a:r>
              <a:rPr lang="en-US" altLang="en-US" sz="3600" b="1" dirty="0">
                <a:solidFill>
                  <a:schemeClr val="bg1"/>
                </a:solidFill>
                <a:latin typeface="Arial" panose="020B0604020202020204" pitchFamily="34" charset="0"/>
              </a:rPr>
              <a:t>Declaring Constants in Dart</a:t>
            </a:r>
            <a:endParaRPr lang="en-US" altLang="en-US" sz="3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2069" y="2124563"/>
            <a:ext cx="6308332" cy="3554768"/>
          </a:xfrm>
          <a:prstGeom prst="rect">
            <a:avLst/>
          </a:prstGeom>
        </p:spPr>
      </p:pic>
      <p:sp>
        <p:nvSpPr>
          <p:cNvPr id="8" name="object 3"/>
          <p:cNvSpPr txBox="1"/>
          <p:nvPr/>
        </p:nvSpPr>
        <p:spPr>
          <a:xfrm>
            <a:off x="104627" y="1616954"/>
            <a:ext cx="6424930" cy="351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SzPct val="83000"/>
              <a:tabLst>
                <a:tab pos="367665" algn="l"/>
              </a:tabLst>
            </a:pPr>
            <a:r>
              <a:rPr lang="en-US" altLang="en-US" sz="2200" b="1" dirty="0">
                <a:latin typeface="+mj-lt"/>
                <a:cs typeface="Times New Roman" panose="02020603050405020304"/>
              </a:rPr>
              <a:t>Constant declaration:</a:t>
            </a:r>
            <a:r>
              <a:rPr sz="2200" b="1" spc="-5" dirty="0">
                <a:latin typeface="+mj-lt"/>
                <a:cs typeface="Times New Roman" panose="02020603050405020304"/>
              </a:rPr>
              <a:t> </a:t>
            </a:r>
            <a:r>
              <a:rPr lang="en-US" altLang="en-US" sz="2200">
                <a:latin typeface="+mj-lt"/>
                <a:cs typeface="Times New Roman" panose="02020603050405020304"/>
              </a:rPr>
              <a:t>Use const or final</a:t>
            </a:r>
            <a:endParaRPr lang="en-US" altLang="en-US" sz="2200">
              <a:latin typeface="+mj-lt"/>
              <a:cs typeface="Times New Roman" panose="02020603050405020304"/>
            </a:endParaRPr>
          </a:p>
        </p:txBody>
      </p:sp>
      <p:sp>
        <p:nvSpPr>
          <p:cNvPr id="11" name="object 4"/>
          <p:cNvSpPr txBox="1"/>
          <p:nvPr/>
        </p:nvSpPr>
        <p:spPr>
          <a:xfrm>
            <a:off x="95250" y="2169160"/>
            <a:ext cx="3576320" cy="947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14045">
              <a:lnSpc>
                <a:spcPct val="100000"/>
              </a:lnSpc>
              <a:spcBef>
                <a:spcPts val="95"/>
              </a:spcBef>
            </a:pPr>
            <a:r>
              <a:rPr lang="en-US" sz="2000" b="1">
                <a:solidFill>
                  <a:srgbClr val="006FC0"/>
                </a:solidFill>
                <a:latin typeface="+mj-lt"/>
                <a:cs typeface="Courier New" panose="02070309020205020404"/>
              </a:rPr>
              <a:t>C</a:t>
            </a:r>
            <a:r>
              <a:rPr sz="2000" b="1">
                <a:solidFill>
                  <a:srgbClr val="006FC0"/>
                </a:solidFill>
                <a:latin typeface="+mj-lt"/>
                <a:cs typeface="Courier New" panose="02070309020205020404"/>
              </a:rPr>
              <a:t>onst</a:t>
            </a:r>
            <a:r>
              <a:rPr lang="en-US" sz="2000" b="1" spc="-60">
                <a:solidFill>
                  <a:srgbClr val="006FC0"/>
                </a:solidFill>
                <a:latin typeface="+mj-lt"/>
                <a:cs typeface="Courier New" panose="02070309020205020404"/>
              </a:rPr>
              <a:t> </a:t>
            </a:r>
            <a:r>
              <a:rPr lang="en-US" sz="2000" b="1" spc="-10">
                <a:solidFill>
                  <a:srgbClr val="006FC0"/>
                </a:solidFill>
                <a:latin typeface="+mj-lt"/>
                <a:cs typeface="Courier New" panose="02070309020205020404"/>
              </a:rPr>
              <a:t>name</a:t>
            </a:r>
            <a:r>
              <a:rPr sz="2000" b="1" spc="-10" dirty="0">
                <a:solidFill>
                  <a:srgbClr val="006FC0"/>
                </a:solidFill>
                <a:latin typeface="+mj-lt"/>
                <a:cs typeface="Courier New" panose="02070309020205020404"/>
              </a:rPr>
              <a:t>_</a:t>
            </a:r>
            <a:r>
              <a:rPr lang="en-US" sz="2000" b="1" spc="-10" dirty="0">
                <a:solidFill>
                  <a:srgbClr val="006FC0"/>
                </a:solidFill>
                <a:latin typeface="+mj-lt"/>
                <a:cs typeface="Courier New" panose="02070309020205020404"/>
              </a:rPr>
              <a:t>constant</a:t>
            </a:r>
            <a:endParaRPr lang="en-US" sz="2000" b="1" spc="-10" dirty="0">
              <a:solidFill>
                <a:srgbClr val="006FC0"/>
              </a:solidFill>
              <a:latin typeface="+mj-lt"/>
              <a:cs typeface="Courier New" panose="02070309020205020404"/>
            </a:endParaRPr>
          </a:p>
          <a:p>
            <a:pPr marL="12700" marR="614045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solidFill>
                  <a:srgbClr val="006FC0"/>
                </a:solidFill>
                <a:latin typeface="+mj-lt"/>
                <a:cs typeface="Courier New" panose="02070309020205020404"/>
              </a:rPr>
              <a:t>final</a:t>
            </a:r>
            <a:r>
              <a:rPr sz="2000" b="1" spc="-60" dirty="0">
                <a:solidFill>
                  <a:srgbClr val="006FC0"/>
                </a:solidFill>
                <a:latin typeface="+mj-lt"/>
                <a:cs typeface="Courier New" panose="02070309020205020404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+mj-lt"/>
                <a:cs typeface="Courier New" panose="02070309020205020404"/>
              </a:rPr>
              <a:t>name_1</a:t>
            </a:r>
            <a:endParaRPr sz="2000">
              <a:latin typeface="+mj-lt"/>
              <a:cs typeface="Courier New" panose="02070309020205020404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006FC0"/>
                </a:solidFill>
                <a:latin typeface="+mj-lt"/>
                <a:cs typeface="Courier New" panose="02070309020205020404"/>
              </a:rPr>
              <a:t>final</a:t>
            </a:r>
            <a:r>
              <a:rPr sz="2000" b="1" spc="-60" dirty="0">
                <a:solidFill>
                  <a:srgbClr val="006FC0"/>
                </a:solidFill>
                <a:latin typeface="+mj-lt"/>
                <a:cs typeface="Courier New" panose="02070309020205020404"/>
              </a:rPr>
              <a:t> </a:t>
            </a:r>
            <a:r>
              <a:rPr sz="2000" b="1" dirty="0">
                <a:solidFill>
                  <a:srgbClr val="006FC0"/>
                </a:solidFill>
                <a:latin typeface="+mj-lt"/>
                <a:cs typeface="Courier New" panose="02070309020205020404"/>
              </a:rPr>
              <a:t>String</a:t>
            </a:r>
            <a:r>
              <a:rPr sz="2000" b="1" spc="-50" dirty="0">
                <a:solidFill>
                  <a:srgbClr val="006FC0"/>
                </a:solidFill>
                <a:latin typeface="+mj-lt"/>
                <a:cs typeface="Courier New" panose="02070309020205020404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+mj-lt"/>
                <a:cs typeface="Courier New" panose="02070309020205020404"/>
              </a:rPr>
              <a:t>name_2</a:t>
            </a:r>
            <a:endParaRPr sz="2000">
              <a:latin typeface="+mj-lt"/>
              <a:cs typeface="Courier New" panose="02070309020205020404"/>
            </a:endParaRPr>
          </a:p>
        </p:txBody>
      </p:sp>
      <p:sp>
        <p:nvSpPr>
          <p:cNvPr id="12" name="object 5"/>
          <p:cNvSpPr txBox="1"/>
          <p:nvPr/>
        </p:nvSpPr>
        <p:spPr>
          <a:xfrm>
            <a:off x="3184525" y="2169160"/>
            <a:ext cx="4916805" cy="1267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solidFill>
                  <a:srgbClr val="006FC0"/>
                </a:solidFill>
                <a:latin typeface="+mj-lt"/>
                <a:cs typeface="Courier New" panose="02070309020205020404"/>
              </a:rPr>
              <a:t>=</a:t>
            </a:r>
            <a:r>
              <a:rPr sz="2000" b="1" spc="-10" dirty="0">
                <a:solidFill>
                  <a:srgbClr val="006FC0"/>
                </a:solidFill>
                <a:latin typeface="+mj-lt"/>
                <a:cs typeface="Courier New" panose="02070309020205020404"/>
              </a:rPr>
              <a:t> </a:t>
            </a:r>
            <a:r>
              <a:rPr lang="en-US" altLang="en-US" sz="2000" b="1" dirty="0">
                <a:solidFill>
                  <a:srgbClr val="006FC0"/>
                </a:solidFill>
                <a:latin typeface="+mj-lt"/>
                <a:cs typeface="Courier New" panose="02070309020205020404"/>
              </a:rPr>
              <a:t>value_expression;</a:t>
            </a:r>
            <a:endParaRPr lang="en-US" altLang="en-US" sz="2000" b="1" dirty="0">
              <a:solidFill>
                <a:srgbClr val="006FC0"/>
              </a:solidFill>
              <a:latin typeface="+mj-lt"/>
              <a:cs typeface="Courier New" panose="02070309020205020404"/>
            </a:endParaRPr>
          </a:p>
          <a:p>
            <a:pPr marL="71755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solidFill>
                  <a:srgbClr val="006FC0"/>
                </a:solidFill>
                <a:latin typeface="+mj-lt"/>
                <a:cs typeface="Courier New" panose="02070309020205020404"/>
              </a:rPr>
              <a:t>= </a:t>
            </a:r>
            <a:r>
              <a:rPr lang="en-US" altLang="en-US" sz="2000" b="1" dirty="0">
                <a:solidFill>
                  <a:srgbClr val="006FC0"/>
                </a:solidFill>
                <a:latin typeface="+mj-lt"/>
                <a:cs typeface="Courier New" panose="02070309020205020404"/>
              </a:rPr>
              <a:t>value_expression;</a:t>
            </a:r>
            <a:endParaRPr lang="en-US" altLang="en-US" sz="2000" b="1" dirty="0">
              <a:solidFill>
                <a:srgbClr val="006FC0"/>
              </a:solidFill>
              <a:latin typeface="+mj-lt"/>
              <a:cs typeface="Courier New" panose="02070309020205020404"/>
            </a:endParaRPr>
          </a:p>
          <a:p>
            <a:pPr marL="71755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solidFill>
                  <a:srgbClr val="006FC0"/>
                </a:solidFill>
                <a:latin typeface="+mj-lt"/>
                <a:cs typeface="Courier New" panose="02070309020205020404"/>
              </a:rPr>
              <a:t>=</a:t>
            </a:r>
            <a:r>
              <a:rPr sz="2000" b="1" spc="-50" dirty="0">
                <a:solidFill>
                  <a:srgbClr val="006FC0"/>
                </a:solidFill>
                <a:latin typeface="+mj-lt"/>
                <a:cs typeface="Courier New" panose="02070309020205020404"/>
              </a:rPr>
              <a:t> </a:t>
            </a:r>
            <a:r>
              <a:rPr lang="en-US" altLang="en-US" sz="2000" b="1" spc="-50" dirty="0">
                <a:solidFill>
                  <a:srgbClr val="006FC0"/>
                </a:solidFill>
                <a:latin typeface="+mj-lt"/>
                <a:cs typeface="Courier New" panose="02070309020205020404"/>
              </a:rPr>
              <a:t>value_expression;</a:t>
            </a:r>
            <a:r>
              <a:rPr sz="2000" b="1" spc="-50" dirty="0">
                <a:solidFill>
                  <a:srgbClr val="006FC0"/>
                </a:solidFill>
                <a:latin typeface="+mj-lt"/>
                <a:cs typeface="Courier New" panose="02070309020205020404"/>
              </a:rPr>
              <a:t> </a:t>
            </a:r>
            <a:r>
              <a:rPr lang="en-US" altLang="en-US" sz="2000">
                <a:latin typeface="+mj-lt"/>
                <a:cs typeface="Courier New" panose="02070309020205020404"/>
              </a:rPr>
              <a:t>//Specify the type of the constant</a:t>
            </a:r>
            <a:endParaRPr lang="en-US" altLang="en-US" sz="2000">
              <a:latin typeface="+mj-lt"/>
              <a:cs typeface="Courier New" panose="02070309020205020404"/>
            </a:endParaRPr>
          </a:p>
        </p:txBody>
      </p:sp>
      <p:sp>
        <p:nvSpPr>
          <p:cNvPr id="13" name="object 6"/>
          <p:cNvSpPr txBox="1"/>
          <p:nvPr/>
        </p:nvSpPr>
        <p:spPr>
          <a:xfrm>
            <a:off x="104627" y="3673123"/>
            <a:ext cx="8260715" cy="3246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SzPct val="83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200" dirty="0">
                <a:solidFill>
                  <a:srgbClr val="006FC0"/>
                </a:solidFill>
                <a:latin typeface="+mj-lt"/>
                <a:cs typeface="Times New Roman" panose="02020603050405020304"/>
              </a:rPr>
              <a:t>const: compile-time constant; value must be known at code writing.</a:t>
            </a:r>
            <a:endParaRPr lang="en-US" altLang="en-US" sz="2200" dirty="0">
              <a:solidFill>
                <a:srgbClr val="006FC0"/>
              </a:solidFill>
              <a:latin typeface="+mj-lt"/>
              <a:cs typeface="Times New Roman" panose="02020603050405020304"/>
            </a:endParaRPr>
          </a:p>
          <a:p>
            <a:pPr marL="354965" marR="5080" indent="-342900">
              <a:lnSpc>
                <a:spcPct val="100000"/>
              </a:lnSpc>
              <a:buClr>
                <a:srgbClr val="000000"/>
              </a:buClr>
              <a:buSzPct val="83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200" dirty="0">
                <a:latin typeface="+mj-lt"/>
                <a:cs typeface="Times New Roman" panose="02020603050405020304"/>
              </a:rPr>
              <a:t>final: run-time constant; can only be assigned once</a:t>
            </a:r>
            <a:r>
              <a:rPr sz="2200" dirty="0">
                <a:latin typeface="+mj-lt"/>
                <a:cs typeface="Times New Roman" panose="02020603050405020304"/>
              </a:rPr>
              <a:t>,</a:t>
            </a:r>
            <a:r>
              <a:rPr sz="2200" spc="-5" dirty="0">
                <a:latin typeface="+mj-lt"/>
                <a:cs typeface="Times New Roman" panose="02020603050405020304"/>
              </a:rPr>
              <a:t> </a:t>
            </a:r>
            <a:r>
              <a:rPr lang="en-US" altLang="en-US" sz="2200">
                <a:latin typeface="+mj-lt"/>
                <a:cs typeface="Times New Roman" panose="02020603050405020304"/>
              </a:rPr>
              <a:t>The second assignment will be an error (there must be an assignment before use). It is called a runtime constant, the value of this constant can be different each time it is run.</a:t>
            </a:r>
            <a:endParaRPr lang="en-US" altLang="en-US" sz="2200">
              <a:latin typeface="+mj-lt"/>
              <a:cs typeface="Times New Roman" panose="02020603050405020304"/>
            </a:endParaRPr>
          </a:p>
          <a:p>
            <a:pPr marL="1564640">
              <a:lnSpc>
                <a:spcPct val="100000"/>
              </a:lnSpc>
              <a:spcBef>
                <a:spcPts val="485"/>
              </a:spcBef>
              <a:tabLst>
                <a:tab pos="3515995" algn="l"/>
              </a:tabLst>
            </a:pPr>
            <a:r>
              <a:rPr lang="en-US" altLang="en-US" sz="2200" b="1">
                <a:latin typeface="+mj-lt"/>
                <a:cs typeface="Courier New" panose="02070309020205020404"/>
              </a:rPr>
              <a:t>const minutes = 24 * 60;</a:t>
            </a:r>
            <a:endParaRPr lang="en-US" altLang="en-US" sz="2200" b="1">
              <a:latin typeface="+mj-lt"/>
              <a:cs typeface="Courier New" panose="02070309020205020404"/>
            </a:endParaRPr>
          </a:p>
          <a:p>
            <a:pPr marL="1564640">
              <a:lnSpc>
                <a:spcPct val="100000"/>
              </a:lnSpc>
              <a:spcBef>
                <a:spcPts val="485"/>
              </a:spcBef>
              <a:tabLst>
                <a:tab pos="3515995" algn="l"/>
              </a:tabLst>
            </a:pPr>
            <a:r>
              <a:rPr lang="en-US" altLang="en-US" sz="2200" b="1">
                <a:latin typeface="+mj-lt"/>
                <a:cs typeface="Courier New" panose="02070309020205020404"/>
              </a:rPr>
              <a:t>var randomValue = Random(800).nextInt(400);</a:t>
            </a:r>
            <a:endParaRPr lang="en-US" altLang="en-US" sz="2200" b="1">
              <a:latin typeface="+mj-lt"/>
              <a:cs typeface="Courier New" panose="02070309020205020404"/>
            </a:endParaRPr>
          </a:p>
          <a:p>
            <a:pPr marL="1564640">
              <a:lnSpc>
                <a:spcPct val="100000"/>
              </a:lnSpc>
              <a:spcBef>
                <a:spcPts val="485"/>
              </a:spcBef>
              <a:tabLst>
                <a:tab pos="3515995" algn="l"/>
              </a:tabLst>
            </a:pPr>
            <a:r>
              <a:rPr lang="en-US" altLang="en-US" sz="2200" b="1">
                <a:latin typeface="+mj-lt"/>
                <a:cs typeface="Courier New" panose="02070309020205020404"/>
              </a:rPr>
              <a:t>final a = randomValue * 2;</a:t>
            </a:r>
            <a:endParaRPr lang="en-US" altLang="en-US" sz="2200" b="1">
              <a:latin typeface="+mj-lt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73598" y="7791450"/>
            <a:ext cx="3291840" cy="4381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95534" y="-100904"/>
            <a:ext cx="779597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5550"/>
              </a:lnSpc>
            </a:pPr>
            <a:r>
              <a:rPr lang="en-US" altLang="en-US" sz="3600" b="1" dirty="0">
                <a:solidFill>
                  <a:schemeClr val="bg1"/>
                </a:solidFill>
                <a:latin typeface="Arial" panose="020B0604020202020204" pitchFamily="34" charset="0"/>
              </a:rPr>
              <a:t>Basic Data Types in Dart</a:t>
            </a:r>
            <a:endParaRPr lang="en-US" altLang="en-US" sz="3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78393" y="1188139"/>
            <a:ext cx="4122464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3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Basic data types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5" name="object 4"/>
          <p:cNvGraphicFramePr>
            <a:graphicFrameLocks noGrp="1"/>
          </p:cNvGraphicFramePr>
          <p:nvPr/>
        </p:nvGraphicFramePr>
        <p:xfrm>
          <a:off x="1078393" y="1843707"/>
          <a:ext cx="11224260" cy="5149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5553"/>
                <a:gridCol w="9568890"/>
              </a:tblGrid>
              <a:tr h="715266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Data types</a:t>
                      </a:r>
                      <a:endParaRPr lang="en-US"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anose="020B0604020202020204"/>
                          <a:cs typeface="Arial" panose="020B0604020202020204"/>
                        </a:rPr>
                        <a:t>Describe</a:t>
                      </a:r>
                      <a:endParaRPr lang="en-US"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</a:tr>
              <a:tr h="45723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25" dirty="0">
                          <a:latin typeface="Arial" panose="020B0604020202020204"/>
                          <a:cs typeface="Arial" panose="020B0604020202020204"/>
                        </a:rPr>
                        <a:t>int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lang="en-US" altLang="en-US" sz="1600">
                          <a:latin typeface="Arial" panose="020B0604020202020204"/>
                          <a:cs typeface="Arial" panose="020B0604020202020204"/>
                        </a:rPr>
                        <a:t>Representing integer values</a:t>
                      </a:r>
                      <a:endParaRPr lang="en-US" altLang="en-US"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45723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10" dirty="0">
                          <a:latin typeface="Arial" panose="020B0604020202020204"/>
                          <a:cs typeface="Arial" panose="020B0604020202020204"/>
                        </a:rPr>
                        <a:t>double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lang="en-US" altLang="en-US" sz="1600">
                          <a:latin typeface="Arial" panose="020B0604020202020204"/>
                          <a:cs typeface="Arial" panose="020B0604020202020204"/>
                        </a:rPr>
                        <a:t>Represents 64-bit real numbers</a:t>
                      </a:r>
                      <a:endParaRPr lang="en-US" altLang="en-US"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1448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10" dirty="0">
                          <a:latin typeface="Arial" panose="020B0604020202020204"/>
                          <a:cs typeface="Arial" panose="020B0604020202020204"/>
                        </a:rPr>
                        <a:t>String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lang="en-US" altLang="en-US" sz="1600">
                          <a:latin typeface="Arial" panose="020B0604020202020204"/>
                          <a:cs typeface="Arial" panose="020B0604020202020204"/>
                          <a:sym typeface="+mn-ea"/>
                        </a:rPr>
                        <a:t>Represents Unicode (UTF-16) character strings. They are entered in single quotes</a:t>
                      </a:r>
                      <a:endParaRPr lang="en-US" altLang="en-US" sz="160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lang="en-US" altLang="en-US" sz="1600">
                          <a:latin typeface="Arial" panose="020B0604020202020204"/>
                          <a:cs typeface="Arial" panose="020B0604020202020204"/>
                          <a:sym typeface="+mn-ea"/>
                        </a:rPr>
                        <a:t>'' or double quotes "". Use the symbols \", \' to represent the character ', " in the string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45802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20" dirty="0">
                          <a:latin typeface="Arial" panose="020B0604020202020204"/>
                          <a:cs typeface="Arial" panose="020B0604020202020204"/>
                        </a:rPr>
                        <a:t>bool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lang="en-US" altLang="en-US" sz="1600">
                          <a:latin typeface="Arial" panose="020B0604020202020204"/>
                          <a:cs typeface="Arial" panose="020B0604020202020204"/>
                          <a:sym typeface="+mn-ea"/>
                        </a:rPr>
                        <a:t>Represents true/false logic with two values ​​true and false.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306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latin typeface="Arial" panose="020B0604020202020204"/>
                          <a:cs typeface="Arial" panose="020B0604020202020204"/>
                        </a:rPr>
                        <a:t>List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dirty="0">
                          <a:latin typeface="Arial" panose="020B0604020202020204"/>
                          <a:cs typeface="Arial" panose="020B0604020202020204"/>
                        </a:rPr>
                        <a:t>/</a:t>
                      </a:r>
                      <a:r>
                        <a:rPr sz="1600" b="1" spc="-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spc="-20" dirty="0">
                          <a:latin typeface="Arial" panose="020B0604020202020204"/>
                          <a:cs typeface="Arial" panose="020B0604020202020204"/>
                        </a:rPr>
                        <a:t>Mảng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lang="en-US" altLang="en-US" sz="1600">
                          <a:latin typeface="Arial" panose="020B0604020202020204"/>
                          <a:cs typeface="Arial" panose="020B0604020202020204"/>
                          <a:sym typeface="+mn-ea"/>
                        </a:rPr>
                        <a:t>Also known as a list, it stores a collection of data, similar to the concept of JavaScript. Initialize an array using the symbol [], the values ​​of the listed elements are separated by ,. Array elements have indices from 0, to access any element use the symbol [index]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13168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b="1" spc="-25" dirty="0">
                          <a:latin typeface="Arial" panose="020B0604020202020204"/>
                          <a:cs typeface="Arial" panose="020B0604020202020204"/>
                        </a:rPr>
                        <a:t>Map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lang="en-US" altLang="en-US" sz="1600">
                          <a:latin typeface="Arial" panose="020B0604020202020204"/>
                          <a:cs typeface="Arial" panose="020B0604020202020204"/>
                          <a:sym typeface="+mn-ea"/>
                        </a:rPr>
                        <a:t>Also stores a collection of values ​​(also known as an associative array), instead of using indices from 0 to refer to an element, each element in the Map is stored in a key:value pair, use the symbol {} to initialize the Map or initialize with Map(); Access to a Map element using the dot symbol .key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73598" y="7791450"/>
            <a:ext cx="3291840" cy="4381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1279753" y="7671547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95534" y="-100904"/>
            <a:ext cx="779597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5550"/>
              </a:lnSpc>
            </a:pPr>
            <a:r>
              <a:rPr lang="en-US" altLang="en-US" sz="3600" b="1" dirty="0">
                <a:solidFill>
                  <a:schemeClr val="bg1"/>
                </a:solidFill>
                <a:latin typeface="Arial" panose="020B0604020202020204" pitchFamily="34" charset="0"/>
              </a:rPr>
              <a:t>Operators in Dart</a:t>
            </a:r>
            <a:endParaRPr lang="en-US" altLang="en-US" sz="3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2069" y="2124563"/>
            <a:ext cx="6308332" cy="355476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5534" y="1671224"/>
            <a:ext cx="7350759" cy="2160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ts val="3225"/>
              </a:lnSpc>
              <a:spcBef>
                <a:spcPts val="95"/>
              </a:spcBef>
              <a:buSzPct val="71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400" spc="-20">
                <a:latin typeface="Arial" panose="020B0604020202020204" pitchFamily="34" charset="0"/>
                <a:cs typeface="Arial" panose="020B0604020202020204" pitchFamily="34" charset="0"/>
              </a:rPr>
              <a:t>Arithmetic Operators</a:t>
            </a:r>
            <a:r>
              <a:rPr lang="vi-VN" sz="2400" spc="-2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vi-VN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4865" lvl="1" indent="-354965">
              <a:lnSpc>
                <a:spcPts val="2600"/>
              </a:lnSpc>
              <a:buSzPct val="83000"/>
              <a:buFont typeface="Arial" panose="020B0604020202020204"/>
              <a:buChar char="•"/>
              <a:tabLst>
                <a:tab pos="824865" algn="l"/>
              </a:tabLst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Common Operators</a:t>
            </a:r>
            <a:r>
              <a:rPr lang="vi-VN" sz="24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vi-VN" sz="2400" spc="-2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400" b="1">
                <a:latin typeface="Arial" panose="020B0604020202020204" pitchFamily="34" charset="0"/>
                <a:cs typeface="Arial" panose="020B0604020202020204" pitchFamily="34" charset="0"/>
              </a:rPr>
              <a:t>+,</a:t>
            </a:r>
            <a:r>
              <a:rPr lang="vi-VN" sz="2400" b="1" spc="-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400" b="1" spc="-1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vi-VN" sz="2400" b="1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vi-VN" sz="2400" b="1" spc="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400" b="1">
                <a:latin typeface="Arial" panose="020B0604020202020204" pitchFamily="34" charset="0"/>
                <a:cs typeface="Arial" panose="020B0604020202020204" pitchFamily="34" charset="0"/>
              </a:rPr>
              <a:t>*, </a:t>
            </a:r>
            <a:r>
              <a:rPr lang="vi-VN" sz="2400" b="1" spc="-5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endParaRPr lang="vi-VN" sz="24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4865" lvl="1" indent="-354965">
              <a:lnSpc>
                <a:spcPts val="2590"/>
              </a:lnSpc>
              <a:buSzPct val="83000"/>
              <a:buFont typeface="Arial" panose="020B0604020202020204"/>
              <a:buChar char="•"/>
              <a:tabLst>
                <a:tab pos="824865" algn="l"/>
              </a:tabLst>
            </a:pPr>
            <a:r>
              <a:rPr lang="vi-VN" sz="2400" b="1">
                <a:latin typeface="Arial" panose="020B0604020202020204" pitchFamily="34" charset="0"/>
                <a:cs typeface="Arial" panose="020B0604020202020204" pitchFamily="34" charset="0"/>
              </a:rPr>
              <a:t>~/</a:t>
            </a:r>
            <a:r>
              <a:rPr lang="vi-VN" sz="2400" spc="-1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40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integer division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4865" lvl="1" indent="-354965">
              <a:lnSpc>
                <a:spcPts val="2575"/>
              </a:lnSpc>
              <a:buSzPct val="83000"/>
              <a:buFont typeface="Arial" panose="020B0604020202020204"/>
              <a:buChar char="•"/>
              <a:tabLst>
                <a:tab pos="824865" algn="l"/>
              </a:tabLst>
            </a:pPr>
            <a:r>
              <a:rPr lang="vi-VN" sz="2400" b="1"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  <a:r>
              <a:rPr lang="vi-VN" sz="2400" b="1" spc="-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4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vi-VN" sz="2400" spc="-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modulo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indent="-457200">
              <a:lnSpc>
                <a:spcPts val="2805"/>
              </a:lnSpc>
              <a:buSzPct val="77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400" spc="15">
                <a:latin typeface="Arial" panose="020B0604020202020204" pitchFamily="34" charset="0"/>
                <a:cs typeface="Arial" panose="020B0604020202020204" pitchFamily="34" charset="0"/>
              </a:rPr>
              <a:t>Increment/Decrement:</a:t>
            </a:r>
            <a:r>
              <a:rPr lang="vi-VN" sz="2400" spc="1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400" b="1">
                <a:latin typeface="Arial" panose="020B0604020202020204" pitchFamily="34" charset="0"/>
                <a:cs typeface="Arial" panose="020B0604020202020204" pitchFamily="34" charset="0"/>
              </a:rPr>
              <a:t>++var,</a:t>
            </a:r>
            <a:r>
              <a:rPr lang="vi-VN" sz="2400" b="1" spc="-3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400" b="1">
                <a:latin typeface="Arial" panose="020B0604020202020204" pitchFamily="34" charset="0"/>
                <a:cs typeface="Arial" panose="020B0604020202020204" pitchFamily="34" charset="0"/>
              </a:rPr>
              <a:t>var++,</a:t>
            </a:r>
            <a:r>
              <a:rPr lang="vi-VN" sz="2400" b="1" spc="-2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400" b="1" spc="-10">
                <a:latin typeface="Arial" panose="020B0604020202020204" pitchFamily="34" charset="0"/>
                <a:cs typeface="Arial" panose="020B0604020202020204" pitchFamily="34" charset="0"/>
              </a:rPr>
              <a:t>--</a:t>
            </a:r>
            <a:r>
              <a:rPr lang="vi-VN" sz="2400" b="1">
                <a:latin typeface="Arial" panose="020B0604020202020204" pitchFamily="34" charset="0"/>
                <a:cs typeface="Arial" panose="020B0604020202020204" pitchFamily="34" charset="0"/>
              </a:rPr>
              <a:t>var,</a:t>
            </a:r>
            <a:r>
              <a:rPr lang="vi-VN" sz="2400" b="1" spc="-3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400" b="1">
                <a:latin typeface="Arial" panose="020B0604020202020204" pitchFamily="34" charset="0"/>
                <a:cs typeface="Arial" panose="020B0604020202020204" pitchFamily="34" charset="0"/>
              </a:rPr>
              <a:t>var</a:t>
            </a:r>
            <a:r>
              <a:rPr lang="vi-VN" sz="2400" b="1" spc="-2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400" b="1" spc="-1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vi-VN" sz="2400" b="1" spc="-5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vi-VN" sz="24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indent="-457200">
              <a:lnSpc>
                <a:spcPts val="2965"/>
              </a:lnSpc>
              <a:buSzPct val="77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Logical Operators: 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7609" y="4326262"/>
          <a:ext cx="8141970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4375"/>
                <a:gridCol w="6157616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Operator</a:t>
                      </a:r>
                      <a:endParaRPr lang="en-US" alt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Meaning</a:t>
                      </a:r>
                      <a:endParaRPr lang="en-US" alt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||</a:t>
                      </a:r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logical or, a || b, evaluates to true if either a or b is true.</a:t>
                      </a:r>
                      <a:endParaRPr lang="en-US" alt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&amp;&amp;</a:t>
                      </a:r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logical operator and , a &amp;&amp; b evaluates to true if both a and b are true.</a:t>
                      </a:r>
                      <a:endParaRPr lang="en-US" alt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!</a:t>
                      </a:r>
                      <a:r>
                        <a:rPr lang="en-US" alt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expression</a:t>
                      </a:r>
                      <a:endParaRPr lang="en-US" alt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Negation !a if a is true then the result of the operation is false</a:t>
                      </a:r>
                      <a:endParaRPr lang="en-US" alt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73598" y="7791450"/>
            <a:ext cx="3291840" cy="4381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1279753" y="7671547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95534" y="-100904"/>
            <a:ext cx="779597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5550"/>
              </a:lnSpc>
            </a:pPr>
            <a:r>
              <a:rPr lang="en-US" altLang="en-US" sz="3600" b="1" dirty="0">
                <a:solidFill>
                  <a:schemeClr val="bg1"/>
                </a:solidFill>
                <a:latin typeface="Arial" panose="020B0604020202020204" pitchFamily="34" charset="0"/>
                <a:sym typeface="+mn-ea"/>
              </a:rPr>
              <a:t>Operators in Dart</a:t>
            </a:r>
            <a:endParaRPr lang="en-US" sz="3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2069" y="2124563"/>
            <a:ext cx="6308332" cy="355476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5534" y="1671224"/>
            <a:ext cx="7350759" cy="391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ts val="2965"/>
              </a:lnSpc>
              <a:buSzPct val="77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Comparison operators: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812" y="2124563"/>
          <a:ext cx="8141970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445"/>
                <a:gridCol w="6359546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Operator</a:t>
                      </a:r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Meaning</a:t>
                      </a:r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==</a:t>
                      </a:r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Comparison by 3==3 results</a:t>
                      </a:r>
                      <a:r>
                        <a:rPr lang="en-US" altLang="en-US" sz="2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true</a:t>
                      </a:r>
                      <a:endParaRPr lang="en-US" altLang="en-US" sz="24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!=</a:t>
                      </a:r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Compare other 3!=3 results</a:t>
                      </a:r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</a:t>
                      </a:r>
                      <a:endParaRPr lang="en-US" sz="24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Compare other 3&gt;3 results</a:t>
                      </a:r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</a:t>
                      </a:r>
                      <a:endParaRPr lang="en-US" sz="24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</a:t>
                      </a:r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Compare other 3&lt;3 results</a:t>
                      </a:r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</a:t>
                      </a:r>
                      <a:endParaRPr lang="en-US" sz="24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&lt;=</a:t>
                      </a:r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Compare less than or equal to</a:t>
                      </a:r>
                      <a:endParaRPr lang="en-US" alt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&gt;=</a:t>
                      </a:r>
                      <a:endParaRPr 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Compare greater than or equal to</a:t>
                      </a:r>
                      <a:endParaRPr lang="en-US" altLang="en-US" sz="2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object 3"/>
          <p:cNvSpPr txBox="1"/>
          <p:nvPr/>
        </p:nvSpPr>
        <p:spPr>
          <a:xfrm>
            <a:off x="100965" y="5844540"/>
            <a:ext cx="8709025" cy="391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ts val="2965"/>
              </a:lnSpc>
              <a:buSzPct val="77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Assignment Operator: = and Shortcut Assignment Operators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812" y="6781777"/>
            <a:ext cx="4302252" cy="105460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73598" y="7791450"/>
            <a:ext cx="3291840" cy="4381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1279753" y="7671547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95534" y="-100904"/>
            <a:ext cx="779597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5550"/>
              </a:lnSpc>
            </a:pPr>
            <a:r>
              <a:rPr lang="en-US" altLang="en-US" sz="3600" b="1" dirty="0">
                <a:solidFill>
                  <a:schemeClr val="bg1"/>
                </a:solidFill>
                <a:latin typeface="Arial" panose="020B0604020202020204" pitchFamily="34" charset="0"/>
                <a:sym typeface="+mn-ea"/>
              </a:rPr>
              <a:t>Operators in Dart</a:t>
            </a:r>
            <a:endParaRPr lang="en-US" sz="3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8925" y="2124562"/>
            <a:ext cx="7251476" cy="408623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-73773" y="1619247"/>
            <a:ext cx="7480923" cy="1152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ts val="2965"/>
              </a:lnSpc>
              <a:buSzPct val="77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Conditional Operators:</a:t>
            </a:r>
            <a:endParaRPr lang="vi-VN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00" lvl="2" indent="-342900">
              <a:lnSpc>
                <a:spcPts val="2965"/>
              </a:lnSpc>
              <a:buSzPct val="77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condition ? expr1 : expr2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00" lvl="2" indent="-342900">
              <a:lnSpc>
                <a:spcPts val="2965"/>
              </a:lnSpc>
              <a:buSzPct val="77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expr1 ?? expr2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bject 3"/>
          <p:cNvSpPr txBox="1"/>
          <p:nvPr/>
        </p:nvSpPr>
        <p:spPr>
          <a:xfrm>
            <a:off x="184150" y="3170555"/>
            <a:ext cx="6921500" cy="4541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SzPct val="71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String Operations: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12800" lvl="1" indent="-342900">
              <a:spcBef>
                <a:spcPts val="95"/>
              </a:spcBef>
              <a:buSzPct val="71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Concatenation: +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12800" lvl="1" indent="-342900">
              <a:spcBef>
                <a:spcPts val="95"/>
              </a:spcBef>
              <a:buSzPct val="71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Comparison: ==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12800" lvl="1" indent="-342900">
              <a:spcBef>
                <a:spcPts val="95"/>
              </a:spcBef>
              <a:buSzPct val="71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Multi-line: use ''' or """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12800" lvl="1" indent="-342900">
              <a:spcBef>
                <a:spcPts val="95"/>
              </a:spcBef>
              <a:buSzPct val="71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String interpolation: $varName, ${expression}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27100" lvl="2" indent="457200">
              <a:spcBef>
                <a:spcPts val="95"/>
              </a:spcBef>
              <a:buSzPct val="71000"/>
              <a:buFont typeface="Arial" panose="020B0604020202020204" pitchFamily="34" charset="0"/>
              <a:buNone/>
              <a:tabLst>
                <a:tab pos="367665" algn="l"/>
              </a:tabLst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var a = 10;  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27100" lvl="2" indent="457200">
              <a:spcBef>
                <a:spcPts val="95"/>
              </a:spcBef>
              <a:buSzPct val="71000"/>
              <a:buFont typeface="Arial" panose="020B0604020202020204" pitchFamily="34" charset="0"/>
              <a:buNone/>
              <a:tabLst>
                <a:tab pos="367665" algn="l"/>
              </a:tabLst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var b = 20;  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27100" lvl="2" indent="457200">
              <a:spcBef>
                <a:spcPts val="95"/>
              </a:spcBef>
              <a:buSzPct val="71000"/>
              <a:buFont typeface="Arial" panose="020B0604020202020204" pitchFamily="34" charset="0"/>
              <a:buNone/>
              <a:tabLst>
                <a:tab pos="367665" algn="l"/>
              </a:tabLst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String result = "Two numbers $a, $b have sum ${a + b}";  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27100" lvl="2" indent="457200">
              <a:spcBef>
                <a:spcPts val="95"/>
              </a:spcBef>
              <a:buSzPct val="71000"/>
              <a:buFont typeface="Arial" panose="020B0604020202020204" pitchFamily="34" charset="0"/>
              <a:buNone/>
              <a:tabLst>
                <a:tab pos="367665" algn="l"/>
              </a:tabLst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print(result); // Output: Two numbers 10, 20 have sum 30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73598" y="7791450"/>
            <a:ext cx="3291840" cy="4381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1279753" y="7671547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95534" y="-100904"/>
            <a:ext cx="779597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5550"/>
              </a:lnSpc>
            </a:pPr>
            <a:r>
              <a:rPr lang="en-US" altLang="en-US" sz="3600" dirty="0">
                <a:solidFill>
                  <a:schemeClr val="bg1"/>
                </a:solidFill>
                <a:latin typeface="Arial" panose="020B0604020202020204" pitchFamily="34" charset="0"/>
              </a:rPr>
              <a:t>Operators in Dart</a:t>
            </a:r>
            <a:endParaRPr lang="en-US" altLang="en-US" sz="3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3803" y="2268187"/>
            <a:ext cx="6996597" cy="394260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53365" y="1308735"/>
            <a:ext cx="7030085" cy="391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ts val="2965"/>
              </a:lnSpc>
              <a:buSzPct val="77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Some operators on classes and objects: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53060" y="1807899"/>
          <a:ext cx="7062140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623"/>
                <a:gridCol w="518951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en-US" sz="216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sym typeface="+mn-ea"/>
                        </a:rPr>
                        <a:t>Operator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Meaning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[]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/>
                        <a:t>Accessing array elements</a:t>
                      </a:r>
                      <a:endParaRPr lang="en-US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/>
                        <a:t>Access object methods and properties</a:t>
                      </a:r>
                      <a:endParaRPr lang="en-US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/>
                        <a:t>Type conversion (var as MyClass)</a:t>
                      </a:r>
                      <a:endParaRPr lang="en-US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/>
                        <a:t>Type checking (var is MyClass)</a:t>
                      </a:r>
                      <a:endParaRPr lang="en-US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is!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/>
                        <a:t>Type checking (var is! MyClass)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object 3"/>
          <p:cNvSpPr txBox="1"/>
          <p:nvPr/>
        </p:nvSpPr>
        <p:spPr>
          <a:xfrm>
            <a:off x="257706" y="4473018"/>
            <a:ext cx="7211873" cy="3048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265" marR="5080" indent="-457200">
              <a:lnSpc>
                <a:spcPct val="100000"/>
              </a:lnSpc>
              <a:spcBef>
                <a:spcPts val="105"/>
              </a:spcBef>
              <a:buSzPct val="63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Dart provides some control flow syntax very similar to other programming languages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26465" marR="5080" lvl="1" indent="-457200">
              <a:lnSpc>
                <a:spcPct val="100000"/>
              </a:lnSpc>
              <a:spcBef>
                <a:spcPts val="105"/>
              </a:spcBef>
              <a:buSzPct val="63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if-else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26465" marR="5080" lvl="1" indent="-457200">
              <a:lnSpc>
                <a:spcPct val="100000"/>
              </a:lnSpc>
              <a:spcBef>
                <a:spcPts val="105"/>
              </a:spcBef>
              <a:buSzPct val="63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switch/case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26465" marR="5080" lvl="1" indent="-457200">
              <a:lnSpc>
                <a:spcPct val="100000"/>
              </a:lnSpc>
              <a:spcBef>
                <a:spcPts val="105"/>
              </a:spcBef>
              <a:buSzPct val="63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Looping constructs: for, while, and do-while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26465" marR="5080" lvl="1" indent="-457200">
              <a:lnSpc>
                <a:spcPct val="100000"/>
              </a:lnSpc>
              <a:spcBef>
                <a:spcPts val="105"/>
              </a:spcBef>
              <a:buSzPct val="63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break and continue statements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26465" marR="5080" lvl="1" indent="-457200">
              <a:lnSpc>
                <a:spcPct val="100000"/>
              </a:lnSpc>
              <a:spcBef>
                <a:spcPts val="105"/>
              </a:spcBef>
              <a:buSzPct val="63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Asserts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26465" marR="5080" lvl="1" indent="-457200">
              <a:lnSpc>
                <a:spcPct val="100000"/>
              </a:lnSpc>
              <a:spcBef>
                <a:spcPts val="105"/>
              </a:spcBef>
              <a:buSzPct val="63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Exception handling with: try/catch and throw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73598" y="7791450"/>
            <a:ext cx="3291840" cy="4381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1279753" y="7671547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95534" y="-100904"/>
            <a:ext cx="779597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5550"/>
              </a:lnSpc>
            </a:pPr>
            <a:r>
              <a:rPr lang="en-US" altLang="en-US" sz="3600" b="1" dirty="0">
                <a:solidFill>
                  <a:schemeClr val="bg1"/>
                </a:solidFill>
                <a:latin typeface="Arial" panose="020B0604020202020204" pitchFamily="34" charset="0"/>
              </a:rPr>
              <a:t>Control Structures in Dart</a:t>
            </a:r>
            <a:endParaRPr lang="en-US" altLang="en-US" sz="3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6951" y="1995054"/>
            <a:ext cx="7523449" cy="4239491"/>
          </a:xfrm>
          <a:prstGeom prst="rect">
            <a:avLst/>
          </a:prstGeom>
        </p:spPr>
      </p:pic>
      <p:sp>
        <p:nvSpPr>
          <p:cNvPr id="6" name="object 3"/>
          <p:cNvSpPr txBox="1"/>
          <p:nvPr/>
        </p:nvSpPr>
        <p:spPr>
          <a:xfrm>
            <a:off x="-110841" y="2554782"/>
            <a:ext cx="7093120" cy="2282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265" marR="5080" lvl="1" indent="0">
              <a:spcBef>
                <a:spcPts val="105"/>
              </a:spcBef>
              <a:buSzPct val="63000"/>
              <a:buFont typeface="Arial" panose="020B0604020202020204" pitchFamily="34" charset="0"/>
              <a:buNone/>
              <a:tabLst>
                <a:tab pos="367665" algn="l"/>
              </a:tabLst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Dart provides some control flow syntax very similar to other programming languages.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26465" marR="5080" lvl="1" indent="-457200">
              <a:spcBef>
                <a:spcPts val="105"/>
              </a:spcBef>
              <a:buSzPct val="63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Conditional: if-else, switch-case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26465" marR="5080" lvl="1" indent="-457200">
              <a:spcBef>
                <a:spcPts val="105"/>
              </a:spcBef>
              <a:buSzPct val="63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Loops: for, while, do-while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26465" marR="5080" lvl="1" indent="-457200">
              <a:spcBef>
                <a:spcPts val="105"/>
              </a:spcBef>
              <a:buSzPct val="63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Flow control: break, continue, assert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26465" marR="5080" lvl="1" indent="-457200">
              <a:spcBef>
                <a:spcPts val="105"/>
              </a:spcBef>
              <a:buSzPct val="63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Exception handling: try-catch, throw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73598" y="7791450"/>
            <a:ext cx="3291840" cy="4381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1279753" y="7671547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95534" y="-100904"/>
            <a:ext cx="779597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5550"/>
              </a:lnSpc>
            </a:pPr>
            <a:r>
              <a:rPr lang="en-US" altLang="en-US" sz="3600" b="1" dirty="0">
                <a:solidFill>
                  <a:schemeClr val="bg1"/>
                </a:solidFill>
                <a:latin typeface="Arial" panose="020B0604020202020204" pitchFamily="34" charset="0"/>
              </a:rPr>
              <a:t>Function construction</a:t>
            </a:r>
            <a:endParaRPr lang="en-US" altLang="en-US" sz="3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6951" y="1995054"/>
            <a:ext cx="7523449" cy="423949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52311" y="1524412"/>
            <a:ext cx="1783367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355600" indent="-342900">
              <a:lnSpc>
                <a:spcPct val="100000"/>
              </a:lnSpc>
              <a:spcBef>
                <a:spcPts val="100"/>
              </a:spcBef>
              <a:buSzPct val="83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400" spc="-10" dirty="0">
                <a:latin typeface="+mj-lt"/>
                <a:cs typeface="Times New Roman" panose="02020603050405020304"/>
              </a:rPr>
              <a:t>Syntax</a:t>
            </a:r>
            <a:r>
              <a:rPr sz="2400" spc="-10" dirty="0">
                <a:latin typeface="+mj-lt"/>
                <a:cs typeface="Times New Roman" panose="02020603050405020304"/>
              </a:rPr>
              <a:t>:</a:t>
            </a:r>
            <a:endParaRPr sz="2400">
              <a:latin typeface="+mj-lt"/>
              <a:cs typeface="Times New Roman" panose="020206030504050203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42745" y="1562100"/>
            <a:ext cx="5739765" cy="132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return_type function_name(parameter_list) {</a:t>
            </a:r>
            <a:endParaRPr lang="en-US" alt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  // statements</a:t>
            </a:r>
            <a:endParaRPr lang="en-US" alt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  return value;</a:t>
            </a:r>
            <a:endParaRPr lang="en-US" alt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US" alt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object 5"/>
          <p:cNvSpPr txBox="1"/>
          <p:nvPr/>
        </p:nvSpPr>
        <p:spPr>
          <a:xfrm>
            <a:off x="33926" y="3065944"/>
            <a:ext cx="6960640" cy="3115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54965">
              <a:lnSpc>
                <a:spcPct val="100000"/>
              </a:lnSpc>
              <a:spcBef>
                <a:spcPts val="100"/>
              </a:spcBef>
              <a:buSzPct val="83000"/>
              <a:buFont typeface="Arial" panose="020B0604020202020204"/>
              <a:buChar char="▪"/>
              <a:tabLst>
                <a:tab pos="354965" algn="l"/>
              </a:tabLst>
            </a:pPr>
            <a:r>
              <a:rPr lang="en-US" altLang="en-US" sz="2000">
                <a:latin typeface="+mj-lt"/>
                <a:cs typeface="Courier New" panose="02070309020205020404"/>
              </a:rPr>
              <a:t>In Dart, functions are first-class objects, meaning they can be assigned to variables or passed as parameters.</a:t>
            </a:r>
            <a:endParaRPr lang="en-US" altLang="en-US" sz="2000" b="1">
              <a:latin typeface="+mj-lt"/>
              <a:cs typeface="Courier New" panose="02070309020205020404"/>
            </a:endParaRPr>
          </a:p>
          <a:p>
            <a:pPr marL="354965" marR="5080" indent="-354965">
              <a:lnSpc>
                <a:spcPct val="100000"/>
              </a:lnSpc>
              <a:spcBef>
                <a:spcPts val="100"/>
              </a:spcBef>
              <a:buSzPct val="83000"/>
              <a:buFont typeface="Arial" panose="020B0604020202020204"/>
              <a:buChar char="▪"/>
              <a:tabLst>
                <a:tab pos="354965" algn="l"/>
              </a:tabLst>
            </a:pPr>
            <a:endParaRPr lang="en-US" altLang="en-US" sz="2000" b="1">
              <a:latin typeface="+mj-lt"/>
              <a:cs typeface="Courier New" panose="02070309020205020404"/>
            </a:endParaRPr>
          </a:p>
          <a:p>
            <a:pPr marR="5080">
              <a:lnSpc>
                <a:spcPct val="100000"/>
              </a:lnSpc>
              <a:spcBef>
                <a:spcPts val="100"/>
              </a:spcBef>
              <a:buSzPct val="83000"/>
              <a:tabLst>
                <a:tab pos="354965" algn="l"/>
              </a:tabLst>
            </a:pPr>
            <a:r>
              <a:rPr lang="en-US" sz="2000" b="1">
                <a:latin typeface="+mj-lt"/>
                <a:cs typeface="Courier New" panose="02070309020205020404"/>
              </a:rPr>
              <a:t>		</a:t>
            </a:r>
            <a:r>
              <a:rPr sz="2000" b="1">
                <a:latin typeface="+mj-lt"/>
                <a:cs typeface="Courier New" panose="02070309020205020404"/>
              </a:rPr>
              <a:t>String</a:t>
            </a:r>
            <a:r>
              <a:rPr sz="2000" b="1" spc="-75">
                <a:latin typeface="+mj-lt"/>
                <a:cs typeface="Courier New" panose="02070309020205020404"/>
              </a:rPr>
              <a:t> </a:t>
            </a:r>
            <a:r>
              <a:rPr sz="2000" b="1" dirty="0">
                <a:solidFill>
                  <a:srgbClr val="006FC0"/>
                </a:solidFill>
                <a:latin typeface="+mj-lt"/>
                <a:cs typeface="Courier New" panose="02070309020205020404"/>
              </a:rPr>
              <a:t>sayHello</a:t>
            </a:r>
            <a:r>
              <a:rPr sz="2000" b="1">
                <a:latin typeface="+mj-lt"/>
                <a:cs typeface="Courier New" panose="02070309020205020404"/>
              </a:rPr>
              <a:t>()</a:t>
            </a:r>
            <a:r>
              <a:rPr sz="2000" b="1" spc="-80">
                <a:latin typeface="+mj-lt"/>
                <a:cs typeface="Courier New" panose="02070309020205020404"/>
              </a:rPr>
              <a:t> </a:t>
            </a:r>
            <a:r>
              <a:rPr lang="en-US" sz="2000" b="1" spc="-80">
                <a:latin typeface="+mj-lt"/>
                <a:cs typeface="Courier New" panose="02070309020205020404"/>
              </a:rPr>
              <a:t> </a:t>
            </a:r>
            <a:r>
              <a:rPr sz="2000" b="1" spc="-50">
                <a:latin typeface="+mj-lt"/>
                <a:cs typeface="Courier New" panose="02070309020205020404"/>
              </a:rPr>
              <a:t>{</a:t>
            </a:r>
            <a:endParaRPr sz="2000">
              <a:latin typeface="+mj-lt"/>
              <a:cs typeface="Courier New" panose="02070309020205020404"/>
            </a:endParaRPr>
          </a:p>
          <a:p>
            <a:pPr marL="2579370">
              <a:lnSpc>
                <a:spcPct val="100000"/>
              </a:lnSpc>
            </a:pPr>
            <a:r>
              <a:rPr sz="2000" b="1" dirty="0">
                <a:latin typeface="+mj-lt"/>
                <a:cs typeface="Courier New" panose="02070309020205020404"/>
              </a:rPr>
              <a:t>return</a:t>
            </a:r>
            <a:r>
              <a:rPr sz="2000" b="1" spc="-60" dirty="0">
                <a:latin typeface="+mj-lt"/>
                <a:cs typeface="Courier New" panose="02070309020205020404"/>
              </a:rPr>
              <a:t> </a:t>
            </a:r>
            <a:r>
              <a:rPr sz="2000" b="1" dirty="0">
                <a:latin typeface="+mj-lt"/>
                <a:cs typeface="Courier New" panose="02070309020205020404"/>
              </a:rPr>
              <a:t>"Hello</a:t>
            </a:r>
            <a:r>
              <a:rPr sz="2000" b="1" spc="-65" dirty="0">
                <a:latin typeface="+mj-lt"/>
                <a:cs typeface="Courier New" panose="02070309020205020404"/>
              </a:rPr>
              <a:t> </a:t>
            </a:r>
            <a:r>
              <a:rPr sz="2000" b="1" spc="-10" dirty="0">
                <a:latin typeface="+mj-lt"/>
                <a:cs typeface="Courier New" panose="02070309020205020404"/>
              </a:rPr>
              <a:t>world!";</a:t>
            </a:r>
            <a:endParaRPr sz="2000">
              <a:latin typeface="+mj-lt"/>
              <a:cs typeface="Courier New" panose="02070309020205020404"/>
            </a:endParaRPr>
          </a:p>
          <a:p>
            <a:pPr marL="1664970">
              <a:lnSpc>
                <a:spcPct val="100000"/>
              </a:lnSpc>
            </a:pPr>
            <a:r>
              <a:rPr sz="2000" b="1" spc="-50">
                <a:latin typeface="+mj-lt"/>
                <a:cs typeface="Courier New" panose="02070309020205020404"/>
              </a:rPr>
              <a:t>}</a:t>
            </a:r>
            <a:endParaRPr lang="en-US" sz="2000" spc="-50">
              <a:latin typeface="+mj-lt"/>
              <a:cs typeface="Courier New" panose="02070309020205020404"/>
            </a:endParaRPr>
          </a:p>
          <a:p>
            <a:pPr marL="1664970">
              <a:lnSpc>
                <a:spcPct val="100000"/>
              </a:lnSpc>
            </a:pPr>
            <a:r>
              <a:rPr sz="2000" b="1">
                <a:latin typeface="+mj-lt"/>
                <a:cs typeface="Courier New" panose="02070309020205020404"/>
              </a:rPr>
              <a:t>void</a:t>
            </a:r>
            <a:r>
              <a:rPr sz="2000" b="1" spc="-55">
                <a:latin typeface="+mj-lt"/>
                <a:cs typeface="Courier New" panose="02070309020205020404"/>
              </a:rPr>
              <a:t> </a:t>
            </a:r>
            <a:r>
              <a:rPr sz="2000" b="1" dirty="0">
                <a:latin typeface="+mj-lt"/>
                <a:cs typeface="Courier New" panose="02070309020205020404"/>
              </a:rPr>
              <a:t>main</a:t>
            </a:r>
            <a:r>
              <a:rPr sz="2000" b="1">
                <a:latin typeface="+mj-lt"/>
                <a:cs typeface="Courier New" panose="02070309020205020404"/>
              </a:rPr>
              <a:t>()</a:t>
            </a:r>
            <a:r>
              <a:rPr sz="2000" b="1" spc="-45">
                <a:latin typeface="+mj-lt"/>
                <a:cs typeface="Courier New" panose="02070309020205020404"/>
              </a:rPr>
              <a:t> </a:t>
            </a:r>
            <a:r>
              <a:rPr lang="en-US" sz="2000" b="1" spc="-45">
                <a:latin typeface="+mj-lt"/>
                <a:cs typeface="Courier New" panose="02070309020205020404"/>
              </a:rPr>
              <a:t> </a:t>
            </a:r>
            <a:r>
              <a:rPr sz="2000" b="1" spc="-50">
                <a:latin typeface="+mj-lt"/>
                <a:cs typeface="Courier New" panose="02070309020205020404"/>
              </a:rPr>
              <a:t>{</a:t>
            </a:r>
            <a:endParaRPr lang="en-US" sz="2000" spc="-50">
              <a:latin typeface="+mj-lt"/>
              <a:cs typeface="Courier New" panose="02070309020205020404"/>
            </a:endParaRPr>
          </a:p>
          <a:p>
            <a:pPr marL="1664970">
              <a:lnSpc>
                <a:spcPct val="100000"/>
              </a:lnSpc>
            </a:pPr>
            <a:r>
              <a:rPr sz="2000" b="1">
                <a:latin typeface="+mj-lt"/>
                <a:cs typeface="Courier New" panose="02070309020205020404"/>
              </a:rPr>
              <a:t>var</a:t>
            </a:r>
            <a:r>
              <a:rPr sz="2000" b="1" spc="-70">
                <a:latin typeface="+mj-lt"/>
                <a:cs typeface="Courier New" panose="02070309020205020404"/>
              </a:rPr>
              <a:t> </a:t>
            </a:r>
            <a:r>
              <a:rPr sz="2000" b="1" dirty="0">
                <a:latin typeface="+mj-lt"/>
                <a:cs typeface="Courier New" panose="02070309020205020404"/>
              </a:rPr>
              <a:t>sayHelloFunction</a:t>
            </a:r>
            <a:r>
              <a:rPr sz="2000" b="1" spc="-65" dirty="0">
                <a:latin typeface="+mj-lt"/>
                <a:cs typeface="Courier New" panose="02070309020205020404"/>
              </a:rPr>
              <a:t> </a:t>
            </a:r>
            <a:r>
              <a:rPr sz="2000" b="1" dirty="0">
                <a:latin typeface="+mj-lt"/>
                <a:cs typeface="Courier New" panose="02070309020205020404"/>
              </a:rPr>
              <a:t>=</a:t>
            </a:r>
            <a:r>
              <a:rPr sz="2000" b="1" spc="-40" dirty="0">
                <a:latin typeface="+mj-lt"/>
                <a:cs typeface="Courier New" panose="02070309020205020404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+mj-lt"/>
                <a:cs typeface="Courier New" panose="02070309020205020404"/>
              </a:rPr>
              <a:t>sayHello</a:t>
            </a:r>
            <a:r>
              <a:rPr sz="2000" b="1" spc="-10" dirty="0">
                <a:latin typeface="+mj-lt"/>
                <a:cs typeface="Courier New" panose="02070309020205020404"/>
              </a:rPr>
              <a:t>; print</a:t>
            </a:r>
            <a:r>
              <a:rPr sz="2000" b="1" spc="-10">
                <a:latin typeface="+mj-lt"/>
                <a:cs typeface="Courier New" panose="02070309020205020404"/>
              </a:rPr>
              <a:t>(sayHelloFuncti</a:t>
            </a:r>
            <a:r>
              <a:rPr lang="en-US" sz="2000" b="1" spc="-10">
                <a:latin typeface="+mj-lt"/>
                <a:cs typeface="Courier New" panose="02070309020205020404"/>
              </a:rPr>
              <a:t> </a:t>
            </a:r>
            <a:r>
              <a:rPr sz="2000" b="1" spc="-10">
                <a:latin typeface="+mj-lt"/>
                <a:cs typeface="Courier New" panose="02070309020205020404"/>
              </a:rPr>
              <a:t>n</a:t>
            </a:r>
            <a:r>
              <a:rPr sz="2000" b="1" spc="-10" dirty="0">
                <a:latin typeface="+mj-lt"/>
                <a:cs typeface="Courier New" panose="02070309020205020404"/>
              </a:rPr>
              <a:t>());</a:t>
            </a:r>
            <a:endParaRPr sz="2000">
              <a:latin typeface="+mj-lt"/>
              <a:cs typeface="Courier New" panose="02070309020205020404"/>
            </a:endParaRPr>
          </a:p>
          <a:p>
            <a:pPr marL="1664970">
              <a:lnSpc>
                <a:spcPct val="100000"/>
              </a:lnSpc>
            </a:pPr>
            <a:r>
              <a:rPr sz="2000" b="1" spc="-50" dirty="0">
                <a:latin typeface="+mj-lt"/>
                <a:cs typeface="Courier New" panose="02070309020205020404"/>
              </a:rPr>
              <a:t>}</a:t>
            </a:r>
            <a:endParaRPr sz="2000">
              <a:latin typeface="+mj-lt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73598" y="7791450"/>
            <a:ext cx="3291840" cy="4381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1279753" y="7671547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95534" y="-100904"/>
            <a:ext cx="779597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5550"/>
              </a:lnSpc>
            </a:pPr>
            <a:r>
              <a:rPr lang="en-US" altLang="en-US" sz="3600" b="1" dirty="0">
                <a:solidFill>
                  <a:schemeClr val="bg1"/>
                </a:solidFill>
                <a:latin typeface="Arial" panose="020B0604020202020204" pitchFamily="34" charset="0"/>
              </a:rPr>
              <a:t>Function construction</a:t>
            </a:r>
            <a:endParaRPr lang="en-US" altLang="en-US" sz="3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9972" y="2208813"/>
            <a:ext cx="6195779" cy="349134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92659" y="1254963"/>
            <a:ext cx="6513784" cy="3167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 algn="just">
              <a:lnSpc>
                <a:spcPct val="100000"/>
              </a:lnSpc>
              <a:spcBef>
                <a:spcPts val="100"/>
              </a:spcBef>
              <a:buSzPct val="83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400" spc="-20">
                <a:latin typeface="Times New Roman" panose="02020603050405020304"/>
                <a:cs typeface="Times New Roman" panose="02020603050405020304"/>
              </a:rPr>
              <a:t>Optional parameters: when calling the function, whether to use it or not. Optional parameters are grouped in [], if when calling the function there is no parameter, it will receive the value null</a:t>
            </a:r>
            <a:endParaRPr lang="en-US" altLang="en-US" sz="2400" spc="-20">
              <a:latin typeface="Times New Roman" panose="02020603050405020304"/>
              <a:cs typeface="Times New Roman" panose="02020603050405020304"/>
            </a:endParaRPr>
          </a:p>
          <a:p>
            <a:pPr marL="354965" marR="5080" indent="-342900" algn="just">
              <a:lnSpc>
                <a:spcPct val="100000"/>
              </a:lnSpc>
              <a:spcBef>
                <a:spcPts val="100"/>
              </a:spcBef>
              <a:buSzPct val="83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endParaRPr lang="en-US" sz="2400" spc="-20">
              <a:latin typeface="Times New Roman" panose="02020603050405020304"/>
              <a:cs typeface="Times New Roman" panose="02020603050405020304"/>
            </a:endParaRPr>
          </a:p>
          <a:p>
            <a:pPr marL="12065" marR="5080" algn="just">
              <a:lnSpc>
                <a:spcPct val="100000"/>
              </a:lnSpc>
              <a:spcBef>
                <a:spcPts val="100"/>
              </a:spcBef>
              <a:buSzPct val="83000"/>
              <a:tabLst>
                <a:tab pos="367665" algn="l"/>
              </a:tabLst>
            </a:pPr>
            <a:r>
              <a:rPr lang="en-US" altLang="en-US" sz="1600" b="1">
                <a:latin typeface="Courier New" panose="02070309020205020404"/>
                <a:cs typeface="Courier New" panose="02070309020205020404"/>
              </a:rPr>
              <a:t>double sum(var a, [double b, double c]) {</a:t>
            </a:r>
            <a:endParaRPr lang="en-US" altLang="en-US" sz="1600" b="1">
              <a:latin typeface="Courier New" panose="02070309020205020404"/>
              <a:cs typeface="Courier New" panose="02070309020205020404"/>
            </a:endParaRPr>
          </a:p>
          <a:p>
            <a:pPr marL="12065" marR="5080" algn="just">
              <a:lnSpc>
                <a:spcPct val="100000"/>
              </a:lnSpc>
              <a:spcBef>
                <a:spcPts val="100"/>
              </a:spcBef>
              <a:buSzPct val="83000"/>
              <a:tabLst>
                <a:tab pos="367665" algn="l"/>
              </a:tabLst>
            </a:pPr>
            <a:r>
              <a:rPr lang="en-US" altLang="en-US" sz="1600" b="1">
                <a:latin typeface="Courier New" panose="02070309020205020404"/>
                <a:cs typeface="Courier New" panose="02070309020205020404"/>
              </a:rPr>
              <a:t>  var total = a;</a:t>
            </a:r>
            <a:endParaRPr lang="en-US" altLang="en-US" sz="1600" b="1">
              <a:latin typeface="Courier New" panose="02070309020205020404"/>
              <a:cs typeface="Courier New" panose="02070309020205020404"/>
            </a:endParaRPr>
          </a:p>
          <a:p>
            <a:pPr marL="12065" marR="5080" algn="just">
              <a:lnSpc>
                <a:spcPct val="100000"/>
              </a:lnSpc>
              <a:spcBef>
                <a:spcPts val="100"/>
              </a:spcBef>
              <a:buSzPct val="83000"/>
              <a:tabLst>
                <a:tab pos="367665" algn="l"/>
              </a:tabLst>
            </a:pPr>
            <a:r>
              <a:rPr lang="en-US" altLang="en-US" sz="1600" b="1">
                <a:latin typeface="Courier New" panose="02070309020205020404"/>
                <a:cs typeface="Courier New" panose="02070309020205020404"/>
              </a:rPr>
              <a:t>  if (b != null) total += b;</a:t>
            </a:r>
            <a:endParaRPr lang="en-US" altLang="en-US" sz="1600" b="1">
              <a:latin typeface="Courier New" panose="02070309020205020404"/>
              <a:cs typeface="Courier New" panose="02070309020205020404"/>
            </a:endParaRPr>
          </a:p>
          <a:p>
            <a:pPr marL="12065" marR="5080" algn="just">
              <a:lnSpc>
                <a:spcPct val="100000"/>
              </a:lnSpc>
              <a:spcBef>
                <a:spcPts val="100"/>
              </a:spcBef>
              <a:buSzPct val="83000"/>
              <a:tabLst>
                <a:tab pos="367665" algn="l"/>
              </a:tabLst>
            </a:pPr>
            <a:r>
              <a:rPr lang="en-US" altLang="en-US" sz="1600" b="1">
                <a:latin typeface="Courier New" panose="02070309020205020404"/>
                <a:cs typeface="Courier New" panose="02070309020205020404"/>
              </a:rPr>
              <a:t>  total += (c != null) ? c : 0;</a:t>
            </a:r>
            <a:endParaRPr lang="en-US" altLang="en-US" sz="1600" b="1">
              <a:latin typeface="Courier New" panose="02070309020205020404"/>
              <a:cs typeface="Courier New" panose="02070309020205020404"/>
            </a:endParaRPr>
          </a:p>
          <a:p>
            <a:pPr marL="12065" marR="5080" algn="just">
              <a:lnSpc>
                <a:spcPct val="100000"/>
              </a:lnSpc>
              <a:spcBef>
                <a:spcPts val="100"/>
              </a:spcBef>
              <a:buSzPct val="83000"/>
              <a:tabLst>
                <a:tab pos="367665" algn="l"/>
              </a:tabLst>
            </a:pPr>
            <a:r>
              <a:rPr lang="en-US" altLang="en-US" sz="1600" b="1">
                <a:latin typeface="Courier New" panose="02070309020205020404"/>
                <a:cs typeface="Courier New" panose="02070309020205020404"/>
              </a:rPr>
              <a:t>  return total</a:t>
            </a:r>
            <a:r>
              <a:rPr lang="en-US" altLang="en-US" sz="1600">
                <a:latin typeface="Courier New" panose="02070309020205020404"/>
                <a:cs typeface="Courier New" panose="02070309020205020404"/>
              </a:rPr>
              <a:t>;</a:t>
            </a:r>
            <a:endParaRPr lang="en-US" altLang="en-US" sz="1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7459" y="4422343"/>
            <a:ext cx="2831465" cy="997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0" dirty="0">
                <a:latin typeface="Courier New" panose="02070309020205020404"/>
                <a:cs typeface="Courier New" panose="02070309020205020404"/>
              </a:rPr>
              <a:t>}</a:t>
            </a:r>
            <a:endParaRPr sz="1600">
              <a:latin typeface="Courier New" panose="02070309020205020404"/>
              <a:cs typeface="Courier New" panose="02070309020205020404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600" b="1" spc="-10" dirty="0">
                <a:latin typeface="Courier New" panose="02070309020205020404"/>
                <a:cs typeface="Courier New" panose="02070309020205020404"/>
              </a:rPr>
              <a:t>print(</a:t>
            </a:r>
            <a:r>
              <a:rPr lang="en-US" sz="1600" b="1" spc="-10" dirty="0">
                <a:latin typeface="Courier New" panose="02070309020205020404"/>
                <a:cs typeface="Courier New" panose="02070309020205020404"/>
              </a:rPr>
              <a:t>sum</a:t>
            </a:r>
            <a:r>
              <a:rPr sz="1600" b="1" spc="-10" dirty="0">
                <a:latin typeface="Courier New" panose="02070309020205020404"/>
                <a:cs typeface="Courier New" panose="02070309020205020404"/>
              </a:rPr>
              <a:t>(1)); print(</a:t>
            </a:r>
            <a:r>
              <a:rPr lang="en-US" sz="1600" b="1" spc="-10" dirty="0">
                <a:latin typeface="Courier New" panose="02070309020205020404"/>
                <a:cs typeface="Courier New" panose="02070309020205020404"/>
              </a:rPr>
              <a:t>sum</a:t>
            </a:r>
            <a:r>
              <a:rPr sz="1600" b="1" spc="-10" dirty="0">
                <a:latin typeface="Courier New" panose="02070309020205020404"/>
                <a:cs typeface="Courier New" panose="02070309020205020404"/>
              </a:rPr>
              <a:t>(1,2)); print(</a:t>
            </a:r>
            <a:r>
              <a:rPr lang="en-US" sz="1600" b="1" spc="-10" dirty="0">
                <a:latin typeface="Courier New" panose="02070309020205020404"/>
                <a:cs typeface="Courier New" panose="02070309020205020404"/>
              </a:rPr>
              <a:t>sum</a:t>
            </a:r>
            <a:r>
              <a:rPr sz="1600" b="1" spc="-10" dirty="0">
                <a:latin typeface="Courier New" panose="02070309020205020404"/>
                <a:cs typeface="Courier New" panose="02070309020205020404"/>
              </a:rPr>
              <a:t>(1,2,3));</a:t>
            </a:r>
            <a:endParaRPr sz="1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00399" y="4666741"/>
            <a:ext cx="75755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ourier New" panose="02070309020205020404"/>
                <a:cs typeface="Courier New" panose="02070309020205020404"/>
              </a:rPr>
              <a:t>//1.0</a:t>
            </a:r>
            <a:endParaRPr sz="16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</a:pPr>
            <a:r>
              <a:rPr sz="1600" b="1" spc="-10" dirty="0">
                <a:latin typeface="Courier New" panose="02070309020205020404"/>
                <a:cs typeface="Courier New" panose="02070309020205020404"/>
              </a:rPr>
              <a:t>//3.0;</a:t>
            </a:r>
            <a:endParaRPr sz="16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</a:pPr>
            <a:r>
              <a:rPr sz="1600" b="1" spc="-10" dirty="0">
                <a:latin typeface="Courier New" panose="02070309020205020404"/>
                <a:cs typeface="Courier New" panose="02070309020205020404"/>
              </a:rPr>
              <a:t>//6.0;</a:t>
            </a:r>
            <a:endParaRPr sz="1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" name="object 3"/>
          <p:cNvSpPr txBox="1"/>
          <p:nvPr/>
        </p:nvSpPr>
        <p:spPr>
          <a:xfrm>
            <a:off x="165100" y="5683885"/>
            <a:ext cx="7721600" cy="75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665" indent="-354965">
              <a:lnSpc>
                <a:spcPct val="100000"/>
              </a:lnSpc>
              <a:spcBef>
                <a:spcPts val="100"/>
              </a:spcBef>
              <a:buSzPct val="83000"/>
              <a:buFont typeface="Arial" panose="020B0604020202020204"/>
              <a:buChar char="▪"/>
              <a:tabLst>
                <a:tab pos="367665" algn="l"/>
              </a:tabLst>
            </a:pP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Default parameter: when calling a function without a value for that parameter, it will take the default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object 8"/>
          <p:cNvSpPr txBox="1"/>
          <p:nvPr/>
        </p:nvSpPr>
        <p:spPr>
          <a:xfrm>
            <a:off x="1298793" y="7039524"/>
            <a:ext cx="6127750" cy="750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6540" marR="5080" indent="-24384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ourier New" panose="02070309020205020404"/>
                <a:cs typeface="Courier New" panose="02070309020205020404"/>
              </a:rPr>
              <a:t>double</a:t>
            </a:r>
            <a:r>
              <a:rPr sz="1600" b="1" spc="-60" dirty="0">
                <a:latin typeface="Courier New" panose="02070309020205020404"/>
                <a:cs typeface="Courier New" panose="02070309020205020404"/>
              </a:rPr>
              <a:t> </a:t>
            </a:r>
            <a:r>
              <a:rPr lang="en-US" sz="1600" b="1" dirty="0">
                <a:latin typeface="Courier New" panose="02070309020205020404"/>
                <a:cs typeface="Courier New" panose="02070309020205020404"/>
              </a:rPr>
              <a:t>sum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(var</a:t>
            </a:r>
            <a:r>
              <a:rPr sz="1600" b="1" spc="-6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a,</a:t>
            </a:r>
            <a:r>
              <a:rPr sz="1600" b="1" spc="-6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{double</a:t>
            </a:r>
            <a:r>
              <a:rPr sz="1600" b="1" spc="-6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b:1,</a:t>
            </a:r>
            <a:r>
              <a:rPr sz="1600" b="1" spc="-5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double</a:t>
            </a:r>
            <a:r>
              <a:rPr sz="1600" b="1" spc="-6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c:2})</a:t>
            </a:r>
            <a:r>
              <a:rPr sz="1600" b="1" spc="-5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spc="-50" dirty="0">
                <a:latin typeface="Courier New" panose="02070309020205020404"/>
                <a:cs typeface="Courier New" panose="02070309020205020404"/>
              </a:rPr>
              <a:t>{ 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return</a:t>
            </a:r>
            <a:r>
              <a:rPr sz="1600" b="1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a</a:t>
            </a:r>
            <a:r>
              <a:rPr sz="1600" b="1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+</a:t>
            </a:r>
            <a:r>
              <a:rPr sz="1600" b="1" spc="-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b</a:t>
            </a:r>
            <a:r>
              <a:rPr sz="1600" b="1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+</a:t>
            </a:r>
            <a:r>
              <a:rPr sz="1600" b="1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spc="-25" dirty="0">
                <a:latin typeface="Courier New" panose="02070309020205020404"/>
                <a:cs typeface="Courier New" panose="02070309020205020404"/>
              </a:rPr>
              <a:t>c;</a:t>
            </a:r>
            <a:endParaRPr sz="16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</a:pPr>
            <a:r>
              <a:rPr sz="1600" b="1" spc="-50" dirty="0">
                <a:latin typeface="Courier New" panose="02070309020205020404"/>
                <a:cs typeface="Courier New" panose="02070309020205020404"/>
              </a:rPr>
              <a:t>}</a:t>
            </a:r>
            <a:endParaRPr sz="1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4" name="object 9"/>
          <p:cNvSpPr txBox="1"/>
          <p:nvPr/>
        </p:nvSpPr>
        <p:spPr>
          <a:xfrm>
            <a:off x="527649" y="6608943"/>
            <a:ext cx="3387725" cy="256540"/>
          </a:xfrm>
          <a:prstGeom prst="rect">
            <a:avLst/>
          </a:prstGeom>
          <a:ln w="25400">
            <a:solidFill>
              <a:srgbClr val="4471C4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5"/>
              </a:spcBef>
            </a:pPr>
            <a:r>
              <a:rPr lang="en-US" altLang="en-US" sz="1400">
                <a:latin typeface="Arial" panose="020B0604020202020204"/>
                <a:cs typeface="Arial" panose="020B0604020202020204"/>
              </a:rPr>
              <a:t>parameter b defaults to 1, c defaults to 2</a:t>
            </a:r>
            <a:endParaRPr lang="en-US" altLang="en-US" sz="14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73598" y="7791450"/>
            <a:ext cx="3291840" cy="4381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95534" y="-100904"/>
            <a:ext cx="779597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5550"/>
              </a:lnSpc>
            </a:pPr>
            <a:r>
              <a:rPr lang="en-US" altLang="en-US" sz="3600" b="1" dirty="0">
                <a:solidFill>
                  <a:schemeClr val="bg1"/>
                </a:solidFill>
                <a:latin typeface="Arial" panose="020B0604020202020204" pitchFamily="34" charset="0"/>
                <a:sym typeface="+mn-ea"/>
              </a:rPr>
              <a:t>Function construction</a:t>
            </a:r>
            <a:endParaRPr lang="en-US" sz="3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8165" y="2122648"/>
            <a:ext cx="5982235" cy="337101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18114" y="1200782"/>
            <a:ext cx="8133715" cy="4083050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25"/>
              </a:spcBef>
              <a:buSzPct val="83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400" spc="-10" dirty="0">
                <a:latin typeface="Times New Roman" panose="02020603050405020304"/>
                <a:cs typeface="Times New Roman" panose="02020603050405020304"/>
              </a:rPr>
              <a:t>Shorthand Syntax (also known as arrow functions or lambda functions)</a:t>
            </a:r>
            <a:r>
              <a:rPr sz="2400" spc="-10" dirty="0">
                <a:latin typeface="Times New Roman" panose="02020603050405020304"/>
                <a:cs typeface="Times New Roman" panose="02020603050405020304"/>
              </a:rPr>
              <a:t>: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913765">
              <a:lnSpc>
                <a:spcPct val="100000"/>
              </a:lnSpc>
              <a:spcBef>
                <a:spcPts val="690"/>
              </a:spcBef>
            </a:pPr>
            <a:r>
              <a:rPr sz="2000" b="1" dirty="0">
                <a:latin typeface="Arial" panose="020B0604020202020204"/>
                <a:cs typeface="Arial" panose="020B0604020202020204"/>
              </a:rPr>
              <a:t>[return_type]</a:t>
            </a:r>
            <a:r>
              <a:rPr sz="20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solidFill>
                  <a:srgbClr val="006FC0"/>
                </a:solidFill>
                <a:latin typeface="Arial" panose="020B0604020202020204"/>
                <a:cs typeface="Arial" panose="020B0604020202020204"/>
              </a:rPr>
              <a:t>function_name</a:t>
            </a:r>
            <a:r>
              <a:rPr sz="2000" b="1" dirty="0">
                <a:latin typeface="Arial" panose="020B0604020202020204"/>
                <a:cs typeface="Arial" panose="020B0604020202020204"/>
              </a:rPr>
              <a:t>(parameters)</a:t>
            </a:r>
            <a:r>
              <a:rPr sz="2000" b="1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=&gt;</a:t>
            </a:r>
            <a:r>
              <a:rPr sz="2000" b="1" spc="-5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-10" dirty="0">
                <a:latin typeface="Arial" panose="020B0604020202020204"/>
                <a:cs typeface="Arial" panose="020B0604020202020204"/>
              </a:rPr>
              <a:t>expression;</a:t>
            </a:r>
            <a:endParaRPr sz="2000" dirty="0">
              <a:latin typeface="Arial" panose="020B0604020202020204"/>
              <a:cs typeface="Arial" panose="020B0604020202020204"/>
            </a:endParaRPr>
          </a:p>
          <a:p>
            <a:pPr marR="92710" algn="ctr">
              <a:lnSpc>
                <a:spcPct val="100000"/>
              </a:lnSpc>
              <a:spcBef>
                <a:spcPts val="1325"/>
              </a:spcBef>
            </a:pPr>
            <a:r>
              <a:rPr sz="1600" b="1" dirty="0">
                <a:latin typeface="Courier New" panose="02070309020205020404"/>
                <a:cs typeface="Courier New" panose="02070309020205020404"/>
              </a:rPr>
              <a:t>double</a:t>
            </a:r>
            <a:r>
              <a:rPr sz="1600" b="1" spc="-3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tinhtong(var</a:t>
            </a:r>
            <a:r>
              <a:rPr sz="1600" b="1" spc="-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a,</a:t>
            </a:r>
            <a:r>
              <a:rPr sz="1600" b="1" spc="-4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var</a:t>
            </a:r>
            <a:r>
              <a:rPr sz="1600" b="1" spc="-4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b)</a:t>
            </a:r>
            <a:r>
              <a:rPr sz="1600" b="1" spc="-4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=&gt;</a:t>
            </a:r>
            <a:r>
              <a:rPr sz="1600" b="1" spc="-4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a</a:t>
            </a:r>
            <a:r>
              <a:rPr sz="1600" b="1" spc="-4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+</a:t>
            </a:r>
            <a:r>
              <a:rPr sz="1600" b="1" spc="-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spc="-25" dirty="0">
                <a:latin typeface="Courier New" panose="02070309020205020404"/>
                <a:cs typeface="Courier New" panose="02070309020205020404"/>
              </a:rPr>
              <a:t>b;</a:t>
            </a:r>
            <a:endParaRPr sz="1600" dirty="0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1600" dirty="0">
              <a:latin typeface="Courier New" panose="02070309020205020404"/>
              <a:cs typeface="Courier New" panose="02070309020205020404"/>
            </a:endParaRPr>
          </a:p>
          <a:p>
            <a:pPr marL="354965" marR="67310" indent="-342900" algn="just">
              <a:lnSpc>
                <a:spcPct val="100000"/>
              </a:lnSpc>
              <a:buSzPct val="83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400" spc="-20" dirty="0">
                <a:latin typeface="Times New Roman" panose="02020603050405020304"/>
                <a:cs typeface="Times New Roman" panose="02020603050405020304"/>
              </a:rPr>
              <a:t>In most cases, functions are declared with a name. However, in many contexts where the function is used only once and does not require a name, it is called an </a:t>
            </a:r>
            <a:r>
              <a:rPr lang="en-US" altLang="en-US" sz="2400" b="1" spc="-20" dirty="0">
                <a:latin typeface="Times New Roman" panose="02020603050405020304"/>
                <a:cs typeface="Times New Roman" panose="02020603050405020304"/>
              </a:rPr>
              <a:t>anonymous function</a:t>
            </a:r>
            <a:r>
              <a:rPr lang="en-US" altLang="en-US" sz="2400" spc="-20" dirty="0">
                <a:latin typeface="Times New Roman" panose="02020603050405020304"/>
                <a:cs typeface="Times New Roman" panose="02020603050405020304"/>
              </a:rPr>
              <a:t>.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  <a:p>
            <a:pPr marL="1621790" marR="4916805" indent="-488315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ourier New" panose="02070309020205020404"/>
                <a:cs typeface="Courier New" panose="02070309020205020404"/>
              </a:rPr>
              <a:t>(var</a:t>
            </a:r>
            <a:r>
              <a:rPr sz="1600" b="1" spc="-3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a,</a:t>
            </a:r>
            <a:r>
              <a:rPr sz="1600" b="1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var</a:t>
            </a:r>
            <a:r>
              <a:rPr sz="1600" b="1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b)</a:t>
            </a:r>
            <a:r>
              <a:rPr sz="1600" b="1" spc="-3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spc="-50" dirty="0">
                <a:latin typeface="Courier New" panose="02070309020205020404"/>
                <a:cs typeface="Courier New" panose="02070309020205020404"/>
              </a:rPr>
              <a:t>{ 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return</a:t>
            </a:r>
            <a:r>
              <a:rPr sz="1600" b="1" spc="-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a</a:t>
            </a:r>
            <a:r>
              <a:rPr sz="1600" b="1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+</a:t>
            </a:r>
            <a:r>
              <a:rPr sz="1600" b="1" spc="-25" dirty="0">
                <a:latin typeface="Courier New" panose="02070309020205020404"/>
                <a:cs typeface="Courier New" panose="02070309020205020404"/>
              </a:rPr>
              <a:t> b;</a:t>
            </a:r>
            <a:endParaRPr sz="1600" dirty="0">
              <a:latin typeface="Courier New" panose="02070309020205020404"/>
              <a:cs typeface="Courier New" panose="02070309020205020404"/>
            </a:endParaRPr>
          </a:p>
          <a:p>
            <a:pPr marL="1133475">
              <a:lnSpc>
                <a:spcPct val="100000"/>
              </a:lnSpc>
            </a:pPr>
            <a:r>
              <a:rPr sz="1600" b="1" spc="-25" dirty="0">
                <a:latin typeface="Courier New" panose="02070309020205020404"/>
                <a:cs typeface="Courier New" panose="02070309020205020404"/>
              </a:rPr>
              <a:t>};</a:t>
            </a:r>
            <a:endParaRPr sz="1600" dirty="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" name="object 4"/>
          <p:cNvSpPr txBox="1"/>
          <p:nvPr/>
        </p:nvSpPr>
        <p:spPr>
          <a:xfrm>
            <a:off x="5122947" y="4610275"/>
            <a:ext cx="100139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ourier New" panose="02070309020205020404"/>
                <a:cs typeface="Courier New" panose="02070309020205020404"/>
              </a:rPr>
              <a:t>()</a:t>
            </a:r>
            <a:r>
              <a:rPr sz="1600" b="1" spc="-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=&gt;</a:t>
            </a:r>
            <a:r>
              <a:rPr sz="1600" b="1" spc="-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spc="-25" dirty="0">
                <a:latin typeface="Courier New" panose="02070309020205020404"/>
                <a:cs typeface="Courier New" panose="02070309020205020404"/>
              </a:rPr>
              <a:t>{}</a:t>
            </a:r>
            <a:endParaRPr sz="1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1" name="object 5"/>
          <p:cNvSpPr txBox="1"/>
          <p:nvPr/>
        </p:nvSpPr>
        <p:spPr>
          <a:xfrm>
            <a:off x="1339215" y="5368925"/>
            <a:ext cx="4496435" cy="1009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ourier New" panose="02070309020205020404"/>
                <a:cs typeface="Courier New" panose="02070309020205020404"/>
              </a:rPr>
              <a:t>//</a:t>
            </a:r>
            <a:r>
              <a:rPr lang="en-US" altLang="en-US" sz="1600" b="1" dirty="0">
                <a:latin typeface="Courier New" panose="02070309020205020404"/>
                <a:cs typeface="Courier New" panose="02070309020205020404"/>
              </a:rPr>
              <a:t>Arrow symbols can be used.</a:t>
            </a:r>
            <a:endParaRPr lang="en-US" altLang="en-US" sz="1600" b="1" dirty="0">
              <a:latin typeface="Courier New" panose="02070309020205020404"/>
              <a:cs typeface="Courier New" panose="02070309020205020404"/>
            </a:endParaRPr>
          </a:p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ourier New" panose="02070309020205020404"/>
                <a:cs typeface="Courier New" panose="02070309020205020404"/>
              </a:rPr>
              <a:t>(var</a:t>
            </a:r>
            <a:r>
              <a:rPr sz="1600" b="1" spc="-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a,</a:t>
            </a:r>
            <a:r>
              <a:rPr sz="1600" b="1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var</a:t>
            </a:r>
            <a:r>
              <a:rPr sz="1600" b="1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b)</a:t>
            </a:r>
            <a:r>
              <a:rPr sz="1600" b="1" spc="-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=&gt;</a:t>
            </a:r>
            <a:r>
              <a:rPr sz="1600" b="1" spc="-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spc="-50" dirty="0">
                <a:latin typeface="Courier New" panose="02070309020205020404"/>
                <a:cs typeface="Courier New" panose="02070309020205020404"/>
              </a:rPr>
              <a:t>{</a:t>
            </a:r>
            <a:endParaRPr sz="1600" dirty="0">
              <a:latin typeface="Courier New" panose="02070309020205020404"/>
              <a:cs typeface="Courier New" panose="02070309020205020404"/>
            </a:endParaRPr>
          </a:p>
          <a:p>
            <a:pPr marL="500380">
              <a:lnSpc>
                <a:spcPct val="100000"/>
              </a:lnSpc>
            </a:pPr>
            <a:r>
              <a:rPr sz="1600" b="1" dirty="0">
                <a:latin typeface="Courier New" panose="02070309020205020404"/>
                <a:cs typeface="Courier New" panose="02070309020205020404"/>
              </a:rPr>
              <a:t>return</a:t>
            </a:r>
            <a:r>
              <a:rPr sz="1600" b="1" spc="-3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a</a:t>
            </a:r>
            <a:r>
              <a:rPr sz="1600" b="1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+</a:t>
            </a:r>
            <a:r>
              <a:rPr sz="1600" b="1" spc="-3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spc="-25" dirty="0">
                <a:latin typeface="Courier New" panose="02070309020205020404"/>
                <a:cs typeface="Courier New" panose="02070309020205020404"/>
              </a:rPr>
              <a:t>b;</a:t>
            </a:r>
            <a:endParaRPr sz="1600" dirty="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</a:pPr>
            <a:r>
              <a:rPr sz="1600" b="1" spc="-50" dirty="0">
                <a:latin typeface="Courier New" panose="02070309020205020404"/>
                <a:cs typeface="Courier New" panose="02070309020205020404"/>
              </a:rPr>
              <a:t>}</a:t>
            </a:r>
            <a:endParaRPr sz="1600" dirty="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5" name="object 6"/>
          <p:cNvSpPr txBox="1"/>
          <p:nvPr/>
        </p:nvSpPr>
        <p:spPr>
          <a:xfrm>
            <a:off x="1339498" y="6471129"/>
            <a:ext cx="7347584" cy="762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ourier New" panose="02070309020205020404"/>
                <a:cs typeface="Courier New" panose="02070309020205020404"/>
              </a:rPr>
              <a:t>//</a:t>
            </a:r>
            <a:r>
              <a:rPr lang="en-US" altLang="en-US" sz="1600" b="1" dirty="0">
                <a:latin typeface="Courier New" panose="02070309020205020404"/>
                <a:cs typeface="Courier New" panose="02070309020205020404"/>
              </a:rPr>
              <a:t>If there is only 1 return expression as above, it can be written more concisely.</a:t>
            </a:r>
            <a:endParaRPr lang="en-US" altLang="en-US" sz="1600" b="1" dirty="0">
              <a:latin typeface="Courier New" panose="02070309020205020404"/>
              <a:cs typeface="Courier New" panose="02070309020205020404"/>
            </a:endParaRPr>
          </a:p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ourier New" panose="02070309020205020404"/>
                <a:cs typeface="Courier New" panose="02070309020205020404"/>
              </a:rPr>
              <a:t>(var</a:t>
            </a:r>
            <a:r>
              <a:rPr sz="1600" b="1" spc="-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a,</a:t>
            </a:r>
            <a:r>
              <a:rPr sz="1600" b="1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var</a:t>
            </a:r>
            <a:r>
              <a:rPr sz="1600" b="1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b)</a:t>
            </a:r>
            <a:r>
              <a:rPr sz="1600" b="1" spc="-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=&gt;</a:t>
            </a:r>
            <a:r>
              <a:rPr sz="1600" b="1" spc="-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return</a:t>
            </a:r>
            <a:r>
              <a:rPr sz="1600" b="1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a</a:t>
            </a:r>
            <a:r>
              <a:rPr sz="1600" b="1" spc="-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dirty="0">
                <a:latin typeface="Courier New" panose="02070309020205020404"/>
                <a:cs typeface="Courier New" panose="02070309020205020404"/>
              </a:rPr>
              <a:t>+</a:t>
            </a:r>
            <a:r>
              <a:rPr sz="1600" b="1" spc="-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600" b="1" spc="-25" dirty="0">
                <a:latin typeface="Courier New" panose="02070309020205020404"/>
                <a:cs typeface="Courier New" panose="02070309020205020404"/>
              </a:rPr>
              <a:t>b;</a:t>
            </a:r>
            <a:endParaRPr sz="1600" dirty="0">
              <a:latin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73598" y="7791450"/>
            <a:ext cx="3291840" cy="4381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95534" y="-100904"/>
            <a:ext cx="779597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5550"/>
              </a:lnSpc>
            </a:pPr>
            <a:r>
              <a:rPr lang="en-US" altLang="en-US" sz="3600" b="1" dirty="0">
                <a:solidFill>
                  <a:schemeClr val="bg1"/>
                </a:solidFill>
                <a:latin typeface="Arial" panose="020B0604020202020204" pitchFamily="34" charset="0"/>
              </a:rPr>
              <a:t>Package Management in Dart</a:t>
            </a:r>
            <a:endParaRPr lang="en-US" altLang="en-US" sz="3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7025" y="2122648"/>
            <a:ext cx="6511875" cy="3669465"/>
          </a:xfrm>
          <a:prstGeom prst="rect">
            <a:avLst/>
          </a:prstGeom>
        </p:spPr>
      </p:pic>
      <p:sp>
        <p:nvSpPr>
          <p:cNvPr id="5" name="object 3"/>
          <p:cNvSpPr txBox="1"/>
          <p:nvPr/>
        </p:nvSpPr>
        <p:spPr>
          <a:xfrm>
            <a:off x="489869" y="4556818"/>
            <a:ext cx="3441700" cy="5162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en-US" sz="1600" b="1">
                <a:latin typeface="+mj-lt"/>
                <a:cs typeface="Courier New" panose="02070309020205020404"/>
              </a:rPr>
              <a:t>name: my_project</a:t>
            </a:r>
            <a:endParaRPr lang="en-US" altLang="en-US" sz="1600" b="1">
              <a:latin typeface="+mj-lt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en-US" sz="1600" b="1">
                <a:latin typeface="+mj-lt"/>
                <a:cs typeface="Courier New" panose="02070309020205020404"/>
              </a:rPr>
              <a:t>description: Project description</a:t>
            </a:r>
            <a:endParaRPr lang="en-US" altLang="en-US" sz="1600" b="1">
              <a:latin typeface="+mj-lt"/>
              <a:cs typeface="Courier New" panose="02070309020205020404"/>
            </a:endParaRPr>
          </a:p>
        </p:txBody>
      </p:sp>
      <p:sp>
        <p:nvSpPr>
          <p:cNvPr id="6" name="object 4"/>
          <p:cNvSpPr txBox="1"/>
          <p:nvPr/>
        </p:nvSpPr>
        <p:spPr>
          <a:xfrm>
            <a:off x="489869" y="5191491"/>
            <a:ext cx="368617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+mj-lt"/>
                <a:cs typeface="Courier New" panose="02070309020205020404"/>
              </a:rPr>
              <a:t>dependencies:</a:t>
            </a:r>
            <a:endParaRPr sz="1600">
              <a:latin typeface="+mj-lt"/>
              <a:cs typeface="Courier New" panose="02070309020205020404"/>
            </a:endParaRPr>
          </a:p>
          <a:p>
            <a:pPr marL="500380" marR="5080" algn="just">
              <a:lnSpc>
                <a:spcPct val="100000"/>
              </a:lnSpc>
            </a:pPr>
            <a:r>
              <a:rPr sz="1600" b="1" dirty="0">
                <a:latin typeface="+mj-lt"/>
                <a:cs typeface="Courier New" panose="02070309020205020404"/>
              </a:rPr>
              <a:t>package1:</a:t>
            </a:r>
            <a:r>
              <a:rPr sz="1600" b="1" spc="-85" dirty="0">
                <a:latin typeface="+mj-lt"/>
                <a:cs typeface="Courier New" panose="02070309020205020404"/>
              </a:rPr>
              <a:t> </a:t>
            </a:r>
            <a:r>
              <a:rPr sz="1600" b="1" spc="-10" dirty="0">
                <a:latin typeface="+mj-lt"/>
                <a:cs typeface="Courier New" panose="02070309020205020404"/>
              </a:rPr>
              <a:t>'^version_pack1' </a:t>
            </a:r>
            <a:r>
              <a:rPr sz="1600" b="1" dirty="0">
                <a:latin typeface="+mj-lt"/>
                <a:cs typeface="Courier New" panose="02070309020205020404"/>
              </a:rPr>
              <a:t>package2:</a:t>
            </a:r>
            <a:r>
              <a:rPr sz="1600" b="1" spc="-85" dirty="0">
                <a:latin typeface="+mj-lt"/>
                <a:cs typeface="Courier New" panose="02070309020205020404"/>
              </a:rPr>
              <a:t> </a:t>
            </a:r>
            <a:r>
              <a:rPr sz="1600" b="1" spc="-10" dirty="0">
                <a:latin typeface="+mj-lt"/>
                <a:cs typeface="Courier New" panose="02070309020205020404"/>
              </a:rPr>
              <a:t>'^version_pack2' </a:t>
            </a:r>
            <a:r>
              <a:rPr sz="1600" b="1" dirty="0">
                <a:latin typeface="+mj-lt"/>
                <a:cs typeface="Courier New" panose="02070309020205020404"/>
              </a:rPr>
              <a:t>package3:</a:t>
            </a:r>
            <a:r>
              <a:rPr sz="1600" b="1" spc="-85" dirty="0">
                <a:latin typeface="+mj-lt"/>
                <a:cs typeface="Courier New" panose="02070309020205020404"/>
              </a:rPr>
              <a:t> </a:t>
            </a:r>
            <a:r>
              <a:rPr sz="1600" b="1" spc="-10" dirty="0">
                <a:latin typeface="+mj-lt"/>
                <a:cs typeface="Courier New" panose="02070309020205020404"/>
              </a:rPr>
              <a:t>'^version_pack3'</a:t>
            </a:r>
            <a:endParaRPr sz="1600">
              <a:latin typeface="+mj-lt"/>
              <a:cs typeface="Courier New" panose="02070309020205020404"/>
            </a:endParaRPr>
          </a:p>
        </p:txBody>
      </p:sp>
      <p:sp>
        <p:nvSpPr>
          <p:cNvPr id="7" name="object 5"/>
          <p:cNvSpPr txBox="1"/>
          <p:nvPr/>
        </p:nvSpPr>
        <p:spPr>
          <a:xfrm>
            <a:off x="197485" y="1391285"/>
            <a:ext cx="7693660" cy="2957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3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400" dirty="0">
                <a:latin typeface="+mj-lt"/>
                <a:cs typeface="Times New Roman" panose="02020603050405020304"/>
              </a:rPr>
              <a:t>Package Manager: Dart uses</a:t>
            </a:r>
            <a:r>
              <a:rPr lang="en-US" altLang="en-US" sz="2400" b="1" dirty="0">
                <a:latin typeface="+mj-lt"/>
                <a:cs typeface="Times New Roman" panose="02020603050405020304"/>
              </a:rPr>
              <a:t> pub</a:t>
            </a:r>
            <a:r>
              <a:rPr lang="en-US" altLang="en-US" sz="2400" dirty="0">
                <a:latin typeface="+mj-lt"/>
                <a:cs typeface="Times New Roman" panose="02020603050405020304"/>
              </a:rPr>
              <a:t>, https://pub.dev.</a:t>
            </a:r>
            <a:endParaRPr lang="en-US" altLang="en-US" sz="2400" dirty="0">
              <a:latin typeface="+mj-lt"/>
              <a:cs typeface="Times New Roman" panose="02020603050405020304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SzPct val="83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400" dirty="0">
                <a:latin typeface="+mj-lt"/>
                <a:cs typeface="Times New Roman" panose="02020603050405020304"/>
              </a:rPr>
              <a:t>Each package on pub.dev requires metadata to declare its dependencies.</a:t>
            </a:r>
            <a:endParaRPr lang="en-US" altLang="en-US" sz="2400" dirty="0">
              <a:latin typeface="+mj-lt"/>
              <a:cs typeface="Times New Roman" panose="02020603050405020304"/>
            </a:endParaRP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SzPct val="83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400" dirty="0">
                <a:latin typeface="+mj-lt"/>
                <a:cs typeface="Times New Roman" panose="02020603050405020304"/>
              </a:rPr>
              <a:t>This information is stored in the </a:t>
            </a:r>
            <a:r>
              <a:rPr lang="en-US" altLang="en-US" sz="2400" b="1" dirty="0">
                <a:latin typeface="+mj-lt"/>
                <a:cs typeface="Times New Roman" panose="02020603050405020304"/>
              </a:rPr>
              <a:t>pubspec.yaml </a:t>
            </a:r>
            <a:r>
              <a:rPr lang="en-US" altLang="en-US" sz="2400" dirty="0">
                <a:latin typeface="+mj-lt"/>
                <a:cs typeface="Times New Roman" panose="02020603050405020304"/>
              </a:rPr>
              <a:t>file.</a:t>
            </a:r>
            <a:endParaRPr lang="en-US" altLang="en-US" sz="2400" dirty="0">
              <a:latin typeface="+mj-lt"/>
              <a:cs typeface="Times New Roman" panose="02020603050405020304"/>
            </a:endParaRPr>
          </a:p>
          <a:p>
            <a:pPr marL="355600" indent="-342900">
              <a:lnSpc>
                <a:spcPts val="2810"/>
              </a:lnSpc>
              <a:buSzPct val="83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400" dirty="0">
                <a:latin typeface="+mj-lt"/>
                <a:cs typeface="Times New Roman" panose="02020603050405020304"/>
              </a:rPr>
              <a:t>Fields in a </a:t>
            </a:r>
            <a:r>
              <a:rPr lang="en-US" altLang="en-US" sz="2400" b="1" dirty="0">
                <a:latin typeface="+mj-lt"/>
                <a:cs typeface="Times New Roman" panose="02020603050405020304"/>
              </a:rPr>
              <a:t>pubspec.yaml </a:t>
            </a:r>
            <a:r>
              <a:rPr lang="en-US" altLang="en-US" sz="2400" dirty="0">
                <a:latin typeface="+mj-lt"/>
                <a:cs typeface="Times New Roman" panose="02020603050405020304"/>
              </a:rPr>
              <a:t>may include: </a:t>
            </a:r>
            <a:r>
              <a:rPr lang="en-US" altLang="en-US" sz="2400" dirty="0">
                <a:solidFill>
                  <a:schemeClr val="accent6"/>
                </a:solidFill>
                <a:latin typeface="+mj-lt"/>
                <a:cs typeface="Times New Roman" panose="02020603050405020304"/>
              </a:rPr>
              <a:t>name, version, description, dependencies, etc.</a:t>
            </a:r>
            <a:endParaRPr lang="en-US" altLang="en-US" sz="2400" dirty="0">
              <a:latin typeface="+mj-lt"/>
              <a:cs typeface="Times New Roman" panose="02020603050405020304"/>
            </a:endParaRPr>
          </a:p>
          <a:p>
            <a:pPr marL="355600" indent="-342900">
              <a:lnSpc>
                <a:spcPts val="2810"/>
              </a:lnSpc>
              <a:buSzPct val="83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400">
                <a:latin typeface="+mj-lt"/>
                <a:cs typeface="Times New Roman" panose="02020603050405020304"/>
              </a:rPr>
              <a:t>For example, the project uses the dialog and google_maps packages:</a:t>
            </a:r>
            <a:endParaRPr lang="en-US" altLang="en-US" sz="2400">
              <a:latin typeface="+mj-lt"/>
              <a:cs typeface="Times New Roman" panose="02020603050405020304"/>
            </a:endParaRPr>
          </a:p>
        </p:txBody>
      </p:sp>
      <p:sp>
        <p:nvSpPr>
          <p:cNvPr id="12" name="object 7"/>
          <p:cNvSpPr txBox="1"/>
          <p:nvPr/>
        </p:nvSpPr>
        <p:spPr>
          <a:xfrm>
            <a:off x="4662937" y="4556714"/>
            <a:ext cx="3444240" cy="5041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+mj-lt"/>
                <a:cs typeface="Courier New" panose="02070309020205020404"/>
              </a:rPr>
              <a:t>name:</a:t>
            </a:r>
            <a:r>
              <a:rPr sz="1600" b="1" spc="-50" dirty="0">
                <a:latin typeface="+mj-lt"/>
                <a:cs typeface="Courier New" panose="02070309020205020404"/>
              </a:rPr>
              <a:t> </a:t>
            </a:r>
            <a:r>
              <a:rPr sz="1600" b="1" spc="-10" dirty="0">
                <a:latin typeface="+mj-lt"/>
                <a:cs typeface="Courier New" panose="02070309020205020404"/>
              </a:rPr>
              <a:t>my_project</a:t>
            </a:r>
            <a:endParaRPr sz="1600" b="1">
              <a:latin typeface="+mj-lt"/>
              <a:cs typeface="Courier New" panose="02070309020205020404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+mj-lt"/>
                <a:cs typeface="Courier New" panose="02070309020205020404"/>
              </a:rPr>
              <a:t>description:</a:t>
            </a:r>
            <a:r>
              <a:rPr lang="en-US" sz="1600" b="1" dirty="0">
                <a:latin typeface="+mj-lt"/>
                <a:cs typeface="Courier New" panose="02070309020205020404"/>
              </a:rPr>
              <a:t> </a:t>
            </a:r>
            <a:r>
              <a:rPr lang="en-US" altLang="en-US" sz="1600" b="1">
                <a:latin typeface="+mj-lt"/>
                <a:cs typeface="Courier New" panose="02070309020205020404"/>
              </a:rPr>
              <a:t>Project description</a:t>
            </a:r>
            <a:endParaRPr lang="en-US" altLang="en-US" sz="1600" b="1">
              <a:latin typeface="+mj-lt"/>
              <a:cs typeface="Courier New" panose="02070309020205020404"/>
            </a:endParaRPr>
          </a:p>
        </p:txBody>
      </p:sp>
      <p:sp>
        <p:nvSpPr>
          <p:cNvPr id="13" name="object 8"/>
          <p:cNvSpPr txBox="1"/>
          <p:nvPr/>
        </p:nvSpPr>
        <p:spPr>
          <a:xfrm>
            <a:off x="4662937" y="5273786"/>
            <a:ext cx="307721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+mj-lt"/>
                <a:cs typeface="Courier New" panose="02070309020205020404"/>
              </a:rPr>
              <a:t>dependencies:</a:t>
            </a:r>
            <a:endParaRPr sz="1600">
              <a:latin typeface="+mj-lt"/>
              <a:cs typeface="Courier New" panose="02070309020205020404"/>
            </a:endParaRPr>
          </a:p>
          <a:p>
            <a:pPr marL="500380" marR="5080">
              <a:lnSpc>
                <a:spcPct val="100000"/>
              </a:lnSpc>
            </a:pPr>
            <a:r>
              <a:rPr sz="1600" b="1" dirty="0">
                <a:latin typeface="+mj-lt"/>
                <a:cs typeface="Courier New" panose="02070309020205020404"/>
              </a:rPr>
              <a:t>dialog:</a:t>
            </a:r>
            <a:r>
              <a:rPr sz="1600" b="1" spc="-65" dirty="0">
                <a:latin typeface="+mj-lt"/>
                <a:cs typeface="Courier New" panose="02070309020205020404"/>
              </a:rPr>
              <a:t> </a:t>
            </a:r>
            <a:r>
              <a:rPr sz="1600" b="1" spc="-10" dirty="0">
                <a:latin typeface="+mj-lt"/>
                <a:cs typeface="Courier New" panose="02070309020205020404"/>
              </a:rPr>
              <a:t>'^0.7.0' </a:t>
            </a:r>
            <a:r>
              <a:rPr sz="1600" b="1" dirty="0">
                <a:latin typeface="+mj-lt"/>
                <a:cs typeface="Courier New" panose="02070309020205020404"/>
              </a:rPr>
              <a:t>google_maps:</a:t>
            </a:r>
            <a:r>
              <a:rPr sz="1600" b="1" spc="-125" dirty="0">
                <a:latin typeface="+mj-lt"/>
                <a:cs typeface="Courier New" panose="02070309020205020404"/>
              </a:rPr>
              <a:t> </a:t>
            </a:r>
            <a:r>
              <a:rPr sz="1600" b="1" spc="-10" dirty="0">
                <a:latin typeface="+mj-lt"/>
                <a:cs typeface="Courier New" panose="02070309020205020404"/>
              </a:rPr>
              <a:t>'^3.3.2'</a:t>
            </a:r>
            <a:endParaRPr sz="1600">
              <a:latin typeface="+mj-lt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73598" y="7791450"/>
            <a:ext cx="3291840" cy="4381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95534" y="-100904"/>
            <a:ext cx="779597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5550"/>
              </a:lnSpc>
            </a:pPr>
            <a:r>
              <a:rPr lang="en-US" altLang="en-US" sz="3600" b="1" dirty="0">
                <a:solidFill>
                  <a:schemeClr val="bg1"/>
                </a:solidFill>
                <a:latin typeface="Arial" panose="020B0604020202020204" pitchFamily="34" charset="0"/>
                <a:sym typeface="+mn-ea"/>
              </a:rPr>
              <a:t>Package Management in Dart</a:t>
            </a:r>
            <a:endParaRPr lang="en-US" sz="3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7025" y="2122648"/>
            <a:ext cx="6511875" cy="366946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17559" y="4403622"/>
            <a:ext cx="7369809" cy="628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000">
                <a:latin typeface="Times New Roman" panose="02020603050405020304"/>
                <a:cs typeface="Times New Roman" panose="02020603050405020304"/>
              </a:rPr>
              <a:t>Load from project file, url points to the dart file path to load. For example:</a:t>
            </a:r>
            <a:endParaRPr lang="en-US" altLang="en-US"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4"/>
          <p:cNvSpPr txBox="1"/>
          <p:nvPr/>
        </p:nvSpPr>
        <p:spPr>
          <a:xfrm>
            <a:off x="417559" y="5408445"/>
            <a:ext cx="7388859" cy="1487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228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000">
                <a:latin typeface="Times New Roman" panose="02020603050405020304"/>
                <a:cs typeface="Times New Roman" panose="02020603050405020304"/>
              </a:rPr>
              <a:t>The library is loaded from downloaded packages, then the uri is in the form </a:t>
            </a:r>
            <a:r>
              <a:rPr lang="en-US" altLang="en-US" sz="2000" b="1">
                <a:latin typeface="Times New Roman" panose="02020603050405020304"/>
                <a:cs typeface="Times New Roman" panose="02020603050405020304"/>
              </a:rPr>
              <a:t>package:package_name/package_library.</a:t>
            </a:r>
            <a:endParaRPr lang="en-US" altLang="en-US" sz="2000" b="1">
              <a:latin typeface="Times New Roman" panose="02020603050405020304"/>
              <a:cs typeface="Times New Roman" panose="02020603050405020304"/>
            </a:endParaRPr>
          </a:p>
          <a:p>
            <a:pPr marL="355600" indent="-342900">
              <a:lnSpc>
                <a:spcPts val="228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000">
                <a:latin typeface="Times New Roman" panose="02020603050405020304"/>
                <a:cs typeface="Times New Roman" panose="02020603050405020304"/>
              </a:rPr>
              <a:t>For example, the googleapis_auth package, which has the auth_browser component that provides Auth authentication functionality with a google account, then load that library using</a:t>
            </a:r>
            <a:endParaRPr lang="en-US" altLang="en-US"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5"/>
          <p:cNvSpPr txBox="1"/>
          <p:nvPr/>
        </p:nvSpPr>
        <p:spPr>
          <a:xfrm>
            <a:off x="-20208" y="1455486"/>
            <a:ext cx="8075295" cy="257175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250"/>
              </a:spcBef>
              <a:buSzPct val="83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000" spc="-10" dirty="0">
                <a:latin typeface="Times New Roman" panose="02020603050405020304"/>
                <a:cs typeface="Times New Roman" panose="02020603050405020304"/>
              </a:rPr>
              <a:t>Load libraries for use in source code, syntax: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285750" marR="234950" indent="-285750" algn="ctr">
              <a:lnSpc>
                <a:spcPct val="100000"/>
              </a:lnSpc>
              <a:spcBef>
                <a:spcPts val="110"/>
              </a:spcBef>
              <a:buFont typeface="Arial" panose="020B0604020202020204" pitchFamily="34" charset="0"/>
              <a:buChar char="•"/>
            </a:pPr>
            <a:r>
              <a:rPr sz="2000" b="1" dirty="0">
                <a:solidFill>
                  <a:srgbClr val="006FC0"/>
                </a:solidFill>
                <a:latin typeface="Courier New" panose="02070309020205020404"/>
                <a:cs typeface="Courier New" panose="02070309020205020404"/>
              </a:rPr>
              <a:t>import</a:t>
            </a:r>
            <a:r>
              <a:rPr sz="2000" b="1" spc="-50" dirty="0">
                <a:solidFill>
                  <a:srgbClr val="006FC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Courier New" panose="02070309020205020404"/>
                <a:cs typeface="Courier New" panose="02070309020205020404"/>
              </a:rPr>
              <a:t>'uri';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354965" marR="5080" indent="-342900">
              <a:lnSpc>
                <a:spcPts val="2590"/>
              </a:lnSpc>
              <a:spcBef>
                <a:spcPts val="650"/>
              </a:spcBef>
              <a:buSzPct val="83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000" dirty="0">
                <a:latin typeface="Times New Roman" panose="02020603050405020304"/>
                <a:cs typeface="Times New Roman" panose="02020603050405020304"/>
              </a:rPr>
              <a:t>uri as a unique identifier pointing to the library to be loaded. It can have the following forms:</a:t>
            </a:r>
            <a:endParaRPr lang="en-US" altLang="en-US" sz="2000" dirty="0">
              <a:latin typeface="Times New Roman" panose="02020603050405020304"/>
              <a:cs typeface="Times New Roman" panose="02020603050405020304"/>
            </a:endParaRPr>
          </a:p>
          <a:p>
            <a:pPr marL="812165" marR="5080" lvl="1" indent="-342900">
              <a:lnSpc>
                <a:spcPts val="2590"/>
              </a:lnSpc>
              <a:spcBef>
                <a:spcPts val="650"/>
              </a:spcBef>
              <a:buSzPct val="83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000" spc="-1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Dart's built-in libraries have a uri structure </a:t>
            </a:r>
            <a:r>
              <a:rPr sz="2000" b="1" spc="-1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dart:</a:t>
            </a:r>
            <a:r>
              <a:rPr lang="en-US" sz="2000" b="1" spc="-10" dirty="0">
                <a:solidFill>
                  <a:srgbClr val="006FC0"/>
                </a:solidFill>
                <a:latin typeface="Times New Roman" panose="02020603050405020304"/>
                <a:cs typeface="Times New Roman" panose="02020603050405020304"/>
              </a:rPr>
              <a:t>name_libraries</a:t>
            </a:r>
            <a:endParaRPr lang="en-US" sz="2000" b="1" spc="-10" dirty="0">
              <a:solidFill>
                <a:srgbClr val="006FC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812165" marR="5080" lvl="1" indent="-342900">
              <a:lnSpc>
                <a:spcPts val="2590"/>
              </a:lnSpc>
              <a:spcBef>
                <a:spcPts val="650"/>
              </a:spcBef>
              <a:buSzPct val="83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Examples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dart</a:t>
            </a:r>
            <a:r>
              <a:rPr sz="2000" i="1" dirty="0">
                <a:latin typeface="Times New Roman" panose="02020603050405020304"/>
                <a:cs typeface="Times New Roman" panose="02020603050405020304"/>
              </a:rPr>
              <a:t>:convert,</a:t>
            </a:r>
            <a:r>
              <a:rPr sz="2000" i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i="1" dirty="0">
                <a:latin typeface="Times New Roman" panose="02020603050405020304"/>
                <a:cs typeface="Times New Roman" panose="02020603050405020304"/>
              </a:rPr>
              <a:t>dart:html,</a:t>
            </a:r>
            <a:r>
              <a:rPr sz="2000" i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i="1" dirty="0">
                <a:latin typeface="Times New Roman" panose="02020603050405020304"/>
                <a:cs typeface="Times New Roman" panose="02020603050405020304"/>
              </a:rPr>
              <a:t>dart:math,</a:t>
            </a:r>
            <a:r>
              <a:rPr sz="2000" i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i="1" dirty="0">
                <a:latin typeface="Times New Roman" panose="02020603050405020304"/>
                <a:cs typeface="Times New Roman" panose="02020603050405020304"/>
              </a:rPr>
              <a:t>dart:js,</a:t>
            </a:r>
            <a:r>
              <a:rPr sz="2000" i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i="1" dirty="0">
                <a:latin typeface="Times New Roman" panose="02020603050405020304"/>
                <a:cs typeface="Times New Roman" panose="02020603050405020304"/>
              </a:rPr>
              <a:t>dart:web_sql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.</a:t>
            </a:r>
            <a:r>
              <a:rPr sz="20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en-US" sz="2000">
                <a:latin typeface="Times New Roman" panose="02020603050405020304"/>
                <a:cs typeface="Times New Roman" panose="02020603050405020304"/>
              </a:rPr>
              <a:t>For example, if you need to load the math library </a:t>
            </a:r>
            <a:r>
              <a:rPr lang="en-US" altLang="en-US" sz="2000" i="1">
                <a:latin typeface="Times New Roman" panose="02020603050405020304"/>
                <a:cs typeface="Times New Roman" panose="02020603050405020304"/>
              </a:rPr>
              <a:t>dart:math</a:t>
            </a:r>
            <a:r>
              <a:rPr lang="en-US" altLang="en-US" sz="2000">
                <a:latin typeface="Times New Roman" panose="02020603050405020304"/>
                <a:cs typeface="Times New Roman" panose="02020603050405020304"/>
              </a:rPr>
              <a:t> then use</a:t>
            </a:r>
            <a:endParaRPr lang="en-US" altLang="en-US"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6"/>
          <p:cNvSpPr txBox="1"/>
          <p:nvPr/>
        </p:nvSpPr>
        <p:spPr>
          <a:xfrm>
            <a:off x="1923803" y="4114731"/>
            <a:ext cx="3374779" cy="269304"/>
          </a:xfrm>
          <a:prstGeom prst="rect">
            <a:avLst/>
          </a:prstGeom>
          <a:solidFill>
            <a:srgbClr val="EBEFF0"/>
          </a:solidFill>
        </p:spPr>
        <p:txBody>
          <a:bodyPr vert="horz" wrap="square" lIns="0" tIns="0" rIns="0" bIns="0" rtlCol="0">
            <a:spAutoFit/>
          </a:bodyPr>
          <a:lstStyle/>
          <a:p>
            <a:pPr marL="91440">
              <a:lnSpc>
                <a:spcPts val="1965"/>
              </a:lnSpc>
            </a:pPr>
            <a:r>
              <a:rPr sz="2000" b="1" dirty="0">
                <a:solidFill>
                  <a:srgbClr val="000087"/>
                </a:solidFill>
                <a:latin typeface="Courier New" panose="02070309020205020404"/>
                <a:cs typeface="Courier New" panose="02070309020205020404"/>
              </a:rPr>
              <a:t>import</a:t>
            </a:r>
            <a:r>
              <a:rPr sz="2000" b="1" spc="-175" dirty="0">
                <a:solidFill>
                  <a:srgbClr val="000087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b="1" spc="-10" dirty="0">
                <a:solidFill>
                  <a:srgbClr val="008700"/>
                </a:solidFill>
                <a:latin typeface="Courier New" panose="02070309020205020404"/>
                <a:cs typeface="Courier New" panose="02070309020205020404"/>
              </a:rPr>
              <a:t>'dart:math'</a:t>
            </a:r>
            <a:r>
              <a:rPr b="1" spc="-10" dirty="0">
                <a:solidFill>
                  <a:srgbClr val="666600"/>
                </a:solidFill>
                <a:latin typeface="Courier New" panose="02070309020205020404"/>
                <a:cs typeface="Courier New" panose="02070309020205020404"/>
              </a:rPr>
              <a:t>;</a:t>
            </a:r>
            <a:endParaRPr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4" name="object 7"/>
          <p:cNvSpPr txBox="1"/>
          <p:nvPr/>
        </p:nvSpPr>
        <p:spPr>
          <a:xfrm>
            <a:off x="1924101" y="5051176"/>
            <a:ext cx="3557209" cy="242374"/>
          </a:xfrm>
          <a:prstGeom prst="rect">
            <a:avLst/>
          </a:prstGeom>
          <a:solidFill>
            <a:srgbClr val="EBEFF0"/>
          </a:solidFill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ts val="1755"/>
              </a:lnSpc>
            </a:pPr>
            <a:r>
              <a:rPr b="1" dirty="0">
                <a:solidFill>
                  <a:srgbClr val="000087"/>
                </a:solidFill>
                <a:latin typeface="Courier New" panose="02070309020205020404"/>
                <a:cs typeface="Courier New" panose="02070309020205020404"/>
              </a:rPr>
              <a:t>import</a:t>
            </a:r>
            <a:r>
              <a:rPr b="1" spc="-50" dirty="0">
                <a:solidFill>
                  <a:srgbClr val="000087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b="1" spc="-10" dirty="0">
                <a:solidFill>
                  <a:srgbClr val="008700"/>
                </a:solidFill>
                <a:latin typeface="Courier New" panose="02070309020205020404"/>
                <a:cs typeface="Courier New" panose="02070309020205020404"/>
              </a:rPr>
              <a:t>'lib/mylib.dart'</a:t>
            </a:r>
            <a:r>
              <a:rPr b="1" spc="-10" dirty="0">
                <a:solidFill>
                  <a:srgbClr val="666600"/>
                </a:solidFill>
                <a:latin typeface="Courier New" panose="02070309020205020404"/>
                <a:cs typeface="Courier New" panose="02070309020205020404"/>
              </a:rPr>
              <a:t>;</a:t>
            </a:r>
            <a:endParaRPr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5" name="object 8"/>
          <p:cNvSpPr txBox="1"/>
          <p:nvPr/>
        </p:nvSpPr>
        <p:spPr>
          <a:xfrm>
            <a:off x="1923754" y="7050741"/>
            <a:ext cx="6603365" cy="473206"/>
          </a:xfrm>
          <a:prstGeom prst="rect">
            <a:avLst/>
          </a:prstGeom>
          <a:solidFill>
            <a:srgbClr val="EBEFF0"/>
          </a:solidFill>
        </p:spPr>
        <p:txBody>
          <a:bodyPr vert="horz" wrap="square" lIns="0" tIns="0" rIns="0" bIns="0" rtlCol="0">
            <a:spAutoFit/>
          </a:bodyPr>
          <a:lstStyle/>
          <a:p>
            <a:pPr marL="91440">
              <a:lnSpc>
                <a:spcPts val="1760"/>
              </a:lnSpc>
            </a:pPr>
            <a:r>
              <a:rPr b="1" dirty="0">
                <a:solidFill>
                  <a:srgbClr val="000087"/>
                </a:solidFill>
                <a:latin typeface="Courier New" panose="02070309020205020404"/>
                <a:cs typeface="Courier New" panose="02070309020205020404"/>
              </a:rPr>
              <a:t>import</a:t>
            </a:r>
            <a:r>
              <a:rPr b="1" spc="-50" dirty="0">
                <a:solidFill>
                  <a:srgbClr val="000087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b="1" spc="-10" dirty="0">
                <a:solidFill>
                  <a:srgbClr val="008700"/>
                </a:solidFill>
                <a:latin typeface="Courier New" panose="02070309020205020404"/>
                <a:cs typeface="Courier New" panose="02070309020205020404"/>
              </a:rPr>
              <a:t>"package:googleapis_auth/auth_browser.dart"</a:t>
            </a:r>
            <a:r>
              <a:rPr b="1" spc="-10" dirty="0">
                <a:solidFill>
                  <a:srgbClr val="666600"/>
                </a:solidFill>
                <a:latin typeface="Courier New" panose="02070309020205020404"/>
                <a:cs typeface="Courier New" panose="02070309020205020404"/>
              </a:rPr>
              <a:t>;</a:t>
            </a:r>
            <a:endParaRPr>
              <a:latin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73598" y="7791450"/>
            <a:ext cx="3291840" cy="43815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D26D55-0A22-487A-A687-61FB58A6F16A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95534" y="-100904"/>
            <a:ext cx="779597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ts val="5550"/>
              </a:lnSpc>
            </a:pPr>
            <a:r>
              <a:rPr lang="en-US" altLang="en-US" sz="3600" b="1" dirty="0">
                <a:solidFill>
                  <a:schemeClr val="bg1"/>
                </a:solidFill>
                <a:latin typeface="Arial" panose="020B0604020202020204" pitchFamily="34" charset="0"/>
                <a:sym typeface="+mn-ea"/>
              </a:rPr>
              <a:t>Package Management in Dart</a:t>
            </a:r>
            <a:endParaRPr lang="en-US" sz="3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" name="object 3"/>
          <p:cNvSpPr txBox="1"/>
          <p:nvPr/>
        </p:nvSpPr>
        <p:spPr>
          <a:xfrm>
            <a:off x="490283" y="1978355"/>
            <a:ext cx="5003800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SzPct val="83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400">
                <a:latin typeface="Times New Roman" panose="02020603050405020304"/>
                <a:cs typeface="Times New Roman" panose="02020603050405020304"/>
              </a:rPr>
              <a:t>Libraries provided in Dart:</a:t>
            </a:r>
            <a:endParaRPr lang="en-US" altLang="en-US"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7220" y="2547620"/>
            <a:ext cx="1416050" cy="320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355600" indent="-342900">
              <a:lnSpc>
                <a:spcPct val="100000"/>
              </a:lnSpc>
              <a:spcBef>
                <a:spcPts val="100"/>
              </a:spcBef>
              <a:buSzPct val="83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000">
                <a:solidFill>
                  <a:schemeClr val="accent6"/>
                </a:solidFill>
                <a:latin typeface="Times New Roman" panose="02020603050405020304"/>
                <a:cs typeface="Times New Roman" panose="02020603050405020304"/>
              </a:rPr>
              <a:t>dart:core</a:t>
            </a:r>
            <a:endParaRPr lang="en-US" altLang="en-US" sz="2000">
              <a:solidFill>
                <a:schemeClr val="accent6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2670810" y="2547620"/>
            <a:ext cx="9476105" cy="628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 indent="0">
              <a:lnSpc>
                <a:spcPct val="100000"/>
              </a:lnSpc>
              <a:spcBef>
                <a:spcPts val="100"/>
              </a:spcBef>
              <a:buSzPct val="83000"/>
              <a:buFont typeface="Arial" panose="020B0604020202020204" pitchFamily="34" charset="0"/>
              <a:buNone/>
              <a:tabLst>
                <a:tab pos="367665" algn="l"/>
              </a:tabLst>
            </a:pPr>
            <a:r>
              <a:rPr lang="en-US" altLang="en-US" sz="2000">
                <a:solidFill>
                  <a:schemeClr val="bg2">
                    <a:lumMod val="10000"/>
                  </a:schemeClr>
                </a:solidFill>
                <a:latin typeface="Times New Roman" panose="02020603050405020304"/>
                <a:cs typeface="Times New Roman" panose="02020603050405020304"/>
              </a:rPr>
              <a:t>The library provides basic functions and classes, it is automatically loaded so you will not need to import this library.</a:t>
            </a:r>
            <a:endParaRPr lang="en-US" altLang="en-US" sz="2000">
              <a:solidFill>
                <a:schemeClr val="bg2">
                  <a:lumMod val="10000"/>
                </a:schemeClr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3"/>
          <p:cNvSpPr txBox="1"/>
          <p:nvPr/>
        </p:nvSpPr>
        <p:spPr>
          <a:xfrm>
            <a:off x="617220" y="3175635"/>
            <a:ext cx="2252345" cy="320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355600" indent="-342900">
              <a:lnSpc>
                <a:spcPct val="100000"/>
              </a:lnSpc>
              <a:spcBef>
                <a:spcPts val="100"/>
              </a:spcBef>
              <a:buSzPct val="83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000">
                <a:solidFill>
                  <a:schemeClr val="accent6"/>
                </a:solidFill>
                <a:latin typeface="Times New Roman" panose="02020603050405020304"/>
                <a:cs typeface="Times New Roman" panose="02020603050405020304"/>
              </a:rPr>
              <a:t>dart:collection</a:t>
            </a:r>
            <a:endParaRPr lang="en-US" altLang="en-US" sz="2000">
              <a:solidFill>
                <a:schemeClr val="accent6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3"/>
          <p:cNvSpPr txBox="1"/>
          <p:nvPr/>
        </p:nvSpPr>
        <p:spPr>
          <a:xfrm>
            <a:off x="2670175" y="3175635"/>
            <a:ext cx="9476105" cy="320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 indent="0">
              <a:lnSpc>
                <a:spcPct val="100000"/>
              </a:lnSpc>
              <a:spcBef>
                <a:spcPts val="100"/>
              </a:spcBef>
              <a:buSzPct val="83000"/>
              <a:buFont typeface="Arial" panose="020B0604020202020204" pitchFamily="34" charset="0"/>
              <a:buNone/>
              <a:tabLst>
                <a:tab pos="367665" algn="l"/>
              </a:tabLst>
            </a:pPr>
            <a:r>
              <a:rPr lang="en-US" altLang="en-US" sz="2000">
                <a:solidFill>
                  <a:schemeClr val="bg2">
                    <a:lumMod val="10000"/>
                  </a:schemeClr>
                </a:solidFill>
                <a:latin typeface="Times New Roman" panose="02020603050405020304"/>
                <a:cs typeface="Times New Roman" panose="02020603050405020304"/>
              </a:rPr>
              <a:t>Provides data structures like HashSet, HashMap, Queue,...</a:t>
            </a:r>
            <a:endParaRPr lang="en-US" altLang="en-US" sz="2000">
              <a:solidFill>
                <a:schemeClr val="bg2">
                  <a:lumMod val="10000"/>
                </a:schemeClr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3"/>
          <p:cNvSpPr txBox="1"/>
          <p:nvPr/>
        </p:nvSpPr>
        <p:spPr>
          <a:xfrm>
            <a:off x="617220" y="3749675"/>
            <a:ext cx="2252345" cy="320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355600" indent="-342900">
              <a:lnSpc>
                <a:spcPct val="100000"/>
              </a:lnSpc>
              <a:spcBef>
                <a:spcPts val="100"/>
              </a:spcBef>
              <a:buSzPct val="83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000">
                <a:solidFill>
                  <a:schemeClr val="accent6"/>
                </a:solidFill>
                <a:latin typeface="Times New Roman" panose="02020603050405020304"/>
                <a:cs typeface="Times New Roman" panose="02020603050405020304"/>
              </a:rPr>
              <a:t>dart:math</a:t>
            </a:r>
            <a:endParaRPr lang="en-US" altLang="en-US" sz="2000">
              <a:solidFill>
                <a:schemeClr val="accent6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3"/>
          <p:cNvSpPr txBox="1"/>
          <p:nvPr/>
        </p:nvSpPr>
        <p:spPr>
          <a:xfrm>
            <a:off x="2670175" y="3749675"/>
            <a:ext cx="9476105" cy="320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 indent="0">
              <a:lnSpc>
                <a:spcPct val="100000"/>
              </a:lnSpc>
              <a:spcBef>
                <a:spcPts val="100"/>
              </a:spcBef>
              <a:buSzPct val="83000"/>
              <a:buFont typeface="Arial" panose="020B0604020202020204" pitchFamily="34" charset="0"/>
              <a:buNone/>
              <a:tabLst>
                <a:tab pos="367665" algn="l"/>
              </a:tabLst>
            </a:pPr>
            <a:r>
              <a:rPr lang="en-US" altLang="en-US" sz="2000">
                <a:solidFill>
                  <a:schemeClr val="bg2">
                    <a:lumMod val="10000"/>
                  </a:schemeClr>
                </a:solidFill>
                <a:latin typeface="Times New Roman" panose="02020603050405020304"/>
                <a:cs typeface="Times New Roman" panose="02020603050405020304"/>
              </a:rPr>
              <a:t>Provide mathematical functions</a:t>
            </a:r>
            <a:endParaRPr lang="en-US" altLang="en-US" sz="2000">
              <a:solidFill>
                <a:schemeClr val="bg2">
                  <a:lumMod val="10000"/>
                </a:schemeClr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object 3"/>
          <p:cNvSpPr txBox="1"/>
          <p:nvPr/>
        </p:nvSpPr>
        <p:spPr>
          <a:xfrm>
            <a:off x="617220" y="4252595"/>
            <a:ext cx="2252345" cy="320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355600" indent="-342900">
              <a:lnSpc>
                <a:spcPct val="100000"/>
              </a:lnSpc>
              <a:spcBef>
                <a:spcPts val="100"/>
              </a:spcBef>
              <a:buSzPct val="83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000">
                <a:solidFill>
                  <a:schemeClr val="accent6"/>
                </a:solidFill>
                <a:latin typeface="Times New Roman" panose="02020603050405020304"/>
                <a:cs typeface="Times New Roman" panose="02020603050405020304"/>
              </a:rPr>
              <a:t>dart:convert</a:t>
            </a:r>
            <a:endParaRPr lang="en-US" altLang="en-US" sz="2000">
              <a:solidFill>
                <a:schemeClr val="accent6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object 3"/>
          <p:cNvSpPr txBox="1"/>
          <p:nvPr/>
        </p:nvSpPr>
        <p:spPr>
          <a:xfrm>
            <a:off x="2670175" y="4252595"/>
            <a:ext cx="9476105" cy="320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 indent="0">
              <a:lnSpc>
                <a:spcPct val="100000"/>
              </a:lnSpc>
              <a:spcBef>
                <a:spcPts val="100"/>
              </a:spcBef>
              <a:buSzPct val="83000"/>
              <a:buFont typeface="Arial" panose="020B0604020202020204" pitchFamily="34" charset="0"/>
              <a:buNone/>
              <a:tabLst>
                <a:tab pos="367665" algn="l"/>
              </a:tabLst>
            </a:pPr>
            <a:r>
              <a:rPr lang="en-US" altLang="en-US" sz="2000">
                <a:solidFill>
                  <a:schemeClr val="bg2">
                    <a:lumMod val="10000"/>
                  </a:schemeClr>
                </a:solidFill>
                <a:latin typeface="Times New Roman" panose="02020603050405020304"/>
                <a:cs typeface="Times New Roman" panose="02020603050405020304"/>
              </a:rPr>
              <a:t>Data encoding and decoding capabilities, including JSON, UTF-8</a:t>
            </a:r>
            <a:endParaRPr lang="en-US" altLang="en-US" sz="2000">
              <a:solidFill>
                <a:schemeClr val="bg2">
                  <a:lumMod val="10000"/>
                </a:schemeClr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object 3"/>
          <p:cNvSpPr txBox="1"/>
          <p:nvPr/>
        </p:nvSpPr>
        <p:spPr>
          <a:xfrm>
            <a:off x="617220" y="4706620"/>
            <a:ext cx="2252345" cy="320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355600" indent="-342900">
              <a:lnSpc>
                <a:spcPct val="100000"/>
              </a:lnSpc>
              <a:spcBef>
                <a:spcPts val="100"/>
              </a:spcBef>
              <a:buSzPct val="83000"/>
              <a:buFont typeface="Arial" panose="020B0604020202020204" pitchFamily="34" charset="0"/>
              <a:buChar char="•"/>
              <a:tabLst>
                <a:tab pos="367665" algn="l"/>
              </a:tabLst>
            </a:pPr>
            <a:r>
              <a:rPr lang="en-US" altLang="en-US" sz="2000">
                <a:solidFill>
                  <a:schemeClr val="accent6"/>
                </a:solidFill>
                <a:latin typeface="Times New Roman" panose="02020603050405020304"/>
                <a:cs typeface="Times New Roman" panose="02020603050405020304"/>
              </a:rPr>
              <a:t>dart:io</a:t>
            </a:r>
            <a:endParaRPr lang="en-US" altLang="en-US" sz="2000">
              <a:solidFill>
                <a:schemeClr val="accent6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object 3"/>
          <p:cNvSpPr txBox="1"/>
          <p:nvPr/>
        </p:nvSpPr>
        <p:spPr>
          <a:xfrm>
            <a:off x="2670810" y="4706620"/>
            <a:ext cx="9476105" cy="320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 indent="0">
              <a:lnSpc>
                <a:spcPct val="100000"/>
              </a:lnSpc>
              <a:spcBef>
                <a:spcPts val="100"/>
              </a:spcBef>
              <a:buSzPct val="83000"/>
              <a:buFont typeface="Arial" panose="020B0604020202020204" pitchFamily="34" charset="0"/>
              <a:buNone/>
              <a:tabLst>
                <a:tab pos="367665" algn="l"/>
              </a:tabLst>
            </a:pPr>
            <a:r>
              <a:rPr lang="en-US" altLang="en-US" sz="2000">
                <a:solidFill>
                  <a:schemeClr val="bg2">
                    <a:lumMod val="10000"/>
                  </a:schemeClr>
                </a:solidFill>
                <a:latin typeface="Times New Roman" panose="02020603050405020304"/>
                <a:cs typeface="Times New Roman" panose="02020603050405020304"/>
              </a:rPr>
              <a:t>IO library provides File, Socket, HTTP functions</a:t>
            </a:r>
            <a:endParaRPr lang="en-US" altLang="en-US" sz="2000">
              <a:solidFill>
                <a:schemeClr val="bg2">
                  <a:lumMod val="10000"/>
                </a:schemeClr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object 3"/>
          <p:cNvSpPr txBox="1"/>
          <p:nvPr/>
        </p:nvSpPr>
        <p:spPr>
          <a:xfrm>
            <a:off x="2670175" y="5160645"/>
            <a:ext cx="9476105" cy="320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 indent="0">
              <a:lnSpc>
                <a:spcPct val="100000"/>
              </a:lnSpc>
              <a:spcBef>
                <a:spcPts val="100"/>
              </a:spcBef>
              <a:buSzPct val="83000"/>
              <a:buFont typeface="Arial" panose="020B0604020202020204" pitchFamily="34" charset="0"/>
              <a:buNone/>
              <a:tabLst>
                <a:tab pos="367665" algn="l"/>
              </a:tabLst>
            </a:pPr>
            <a:r>
              <a:rPr lang="en-US" altLang="en-US" sz="2000">
                <a:solidFill>
                  <a:schemeClr val="bg2">
                    <a:lumMod val="10000"/>
                  </a:schemeClr>
                </a:solidFill>
                <a:latin typeface="Times New Roman" panose="02020603050405020304"/>
                <a:cs typeface="Times New Roman" panose="02020603050405020304"/>
              </a:rPr>
              <a:t>Some libraries for Web like</a:t>
            </a:r>
            <a:r>
              <a:rPr lang="en-US" altLang="en-US" sz="2000">
                <a:solidFill>
                  <a:schemeClr val="accent6"/>
                </a:solidFill>
                <a:latin typeface="Times New Roman" panose="02020603050405020304"/>
                <a:cs typeface="Times New Roman" panose="02020603050405020304"/>
              </a:rPr>
              <a:t> dart:js, dart:html</a:t>
            </a:r>
            <a:endParaRPr lang="en-US" altLang="en-US" sz="2000">
              <a:solidFill>
                <a:schemeClr val="accent6"/>
              </a:solidFill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738*153"/>
  <p:tag name="TABLE_ENDDRAG_RECT" val="206*112*738*153"/>
</p:tagLst>
</file>

<file path=ppt/theme/theme1.xml><?xml version="1.0" encoding="utf-8"?>
<a:theme xmlns:a="http://schemas.openxmlformats.org/drawingml/2006/main" name="Opening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ody slide">
  <a:themeElements>
    <a:clrScheme name="pptx template 1">
      <a:dk1>
        <a:srgbClr val="0070C0"/>
      </a:dk1>
      <a:lt1>
        <a:sysClr val="window" lastClr="FFFFFF"/>
      </a:lt1>
      <a:dk2>
        <a:srgbClr val="0070C0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9597</Words>
  <Application>WPS Presentation</Application>
  <PresentationFormat>Custom</PresentationFormat>
  <Paragraphs>485</Paragraphs>
  <Slides>22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5" baseType="lpstr">
      <vt:lpstr>Arial</vt:lpstr>
      <vt:lpstr>SimSun</vt:lpstr>
      <vt:lpstr>Wingdings</vt:lpstr>
      <vt:lpstr>Inter Bold</vt:lpstr>
      <vt:lpstr>Arial</vt:lpstr>
      <vt:lpstr>Calibri</vt:lpstr>
      <vt:lpstr>Times New Roman</vt:lpstr>
      <vt:lpstr>Courier New</vt:lpstr>
      <vt:lpstr>Arial Unicode MS</vt:lpstr>
      <vt:lpstr>Microsoft YaHei</vt:lpstr>
      <vt:lpstr>Times New Roman</vt:lpstr>
      <vt:lpstr>Opening slide</vt:lpstr>
      <vt:lpstr>Body slide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Cường Lê</cp:lastModifiedBy>
  <cp:revision>17</cp:revision>
  <dcterms:created xsi:type="dcterms:W3CDTF">2025-04-25T04:46:00Z</dcterms:created>
  <dcterms:modified xsi:type="dcterms:W3CDTF">2025-05-14T03:46:25Z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97F432DEC0A6400A9702D455EE81F3B1_12</vt:lpwstr>
  </property>
  <property fmtid="{D5CDD505-2E9C-101B-9397-08002B2CF9AE}" pid="3" name="KSOProductBuildVer">
    <vt:lpwstr>1033-12.2.0.21179</vt:lpwstr>
  </property>
</Properties>
</file>