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67" r:id="rId4"/>
    <p:sldId id="282" r:id="rId5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5146" autoAdjust="0"/>
  </p:normalViewPr>
  <p:slideViewPr>
    <p:cSldViewPr snapToGrid="0" snapToObjects="1">
      <p:cViewPr varScale="1">
        <p:scale>
          <a:sx n="53" d="100"/>
          <a:sy n="53" d="100"/>
        </p:scale>
        <p:origin x="759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44135" y="2597642"/>
            <a:ext cx="12960668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7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44134" y="5320406"/>
            <a:ext cx="12960668" cy="495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999" y="1906924"/>
            <a:ext cx="13155431" cy="5486400"/>
          </a:xfrm>
        </p:spPr>
        <p:txBody>
          <a:bodyPr/>
          <a:lstStyle>
            <a:lvl1pPr marL="0" indent="0" algn="l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 txBox="1"/>
          <p:nvPr userDrawn="1"/>
        </p:nvSpPr>
        <p:spPr>
          <a:xfrm>
            <a:off x="3973646" y="-13709"/>
            <a:ext cx="10656755" cy="947534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000" y="1917577"/>
            <a:ext cx="13166084" cy="549477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1" y="1917578"/>
            <a:ext cx="13166084" cy="5497052"/>
          </a:xfrm>
        </p:spPr>
        <p:txBody>
          <a:bodyPr/>
          <a:lstStyle>
            <a:lvl1pPr marL="0" indent="0">
              <a:buNone/>
              <a:defRPr sz="2880">
                <a:solidFill>
                  <a:srgbClr val="0070C0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7000" y="1928230"/>
            <a:ext cx="6568200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7130" y="1928230"/>
            <a:ext cx="6568199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923930"/>
            <a:ext cx="6568200" cy="988694"/>
          </a:xfrm>
        </p:spPr>
        <p:txBody>
          <a:bodyPr anchor="b"/>
          <a:lstStyle>
            <a:lvl1pPr marL="0" indent="0">
              <a:buNone/>
              <a:defRPr sz="2880" b="1">
                <a:latin typeface="+mj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999" y="3014858"/>
            <a:ext cx="6568199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1" y="1923930"/>
            <a:ext cx="656819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199" y="3014858"/>
            <a:ext cx="6568200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3181" y="1928230"/>
            <a:ext cx="7947173" cy="5475746"/>
          </a:xfrm>
        </p:spPr>
        <p:txBody>
          <a:bodyPr/>
          <a:lstStyle>
            <a:lvl1pPr>
              <a:defRPr sz="3840">
                <a:latin typeface="+mj-lt"/>
              </a:defRPr>
            </a:lvl1pPr>
            <a:lvl2pPr>
              <a:defRPr sz="3360">
                <a:latin typeface="+mj-lt"/>
              </a:defRPr>
            </a:lvl2pPr>
            <a:lvl3pPr>
              <a:defRPr sz="288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809852" cy="547574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59262" y="1928230"/>
            <a:ext cx="8011092" cy="5465093"/>
          </a:xfrm>
        </p:spPr>
        <p:txBody>
          <a:bodyPr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779926" cy="5465093"/>
          </a:xfrm>
        </p:spPr>
        <p:txBody>
          <a:bodyPr>
            <a:normAutofit/>
          </a:bodyPr>
          <a:lstStyle>
            <a:lvl1pPr marL="0" indent="0">
              <a:buNone/>
              <a:defRPr sz="28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13105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17578"/>
            <a:ext cx="13155431" cy="549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06924"/>
            <a:ext cx="13155431" cy="5505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image" Target="../media/image4.png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909" y="832674"/>
            <a:ext cx="3516583" cy="15793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73417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655" y="28597"/>
            <a:ext cx="10975981" cy="560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576675"/>
            <a:ext cx="13136400" cy="58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661" y="153680"/>
            <a:ext cx="1744740" cy="309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76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j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j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43726" y="2935573"/>
            <a:ext cx="9940431" cy="2633081"/>
          </a:xfrm>
        </p:spPr>
        <p:txBody>
          <a:bodyPr/>
          <a:lstStyle/>
          <a:p>
            <a:r>
              <a:rPr lang="en-US" altLang="en-US" sz="6000"/>
              <a:t>Cross-platform application development</a:t>
            </a:r>
            <a:endParaRPr lang="en-US" altLang="en-US" sz="6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44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44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Object-Oriented Programming with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/>
          <p:nvPr/>
        </p:nvSpPr>
        <p:spPr>
          <a:xfrm>
            <a:off x="95534" y="1913926"/>
            <a:ext cx="8707055" cy="407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OOP principles in Dart: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Objects and Classes: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Dart classes contain methods, fields, and static members.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Encapsulation: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Hides internal object data and allows access only through methods (getters/setters).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Inheritance: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Classes inherit directly or indirectly from the parent class 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 Only single inheritance is supported. 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Mixins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are used to inherit behavior.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Abstraction: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Hides implementation details and exposes only necessary functionality.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Polymorphism: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Allows objects to take multiple forms, usually through method overriding or interfaces. Dart allows method overriding but does 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support method overloading.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Object-Oriented Programming with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/>
          <p:cNvSpPr txBox="1"/>
          <p:nvPr/>
        </p:nvSpPr>
        <p:spPr>
          <a:xfrm>
            <a:off x="472617" y="1329046"/>
            <a:ext cx="3261491" cy="1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class Product {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String manufacture = '';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String name = '';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var price;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int quantity;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378002" y="2822871"/>
            <a:ext cx="4282440" cy="3486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22606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Declare constructor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 marR="5080" indent="-213360">
              <a:lnSpc>
                <a:spcPct val="100000"/>
              </a:lnSpc>
              <a:tabLst>
                <a:tab pos="1928495" algn="l"/>
              </a:tabLs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Product(var price, {int quantity = 0}) {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 marR="5080" indent="-213360">
              <a:lnSpc>
                <a:spcPct val="100000"/>
              </a:lnSpc>
              <a:tabLst>
                <a:tab pos="1928495" algn="l"/>
              </a:tabLs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this.price = price;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 marR="5080" indent="-213360">
              <a:lnSpc>
                <a:spcPct val="100000"/>
              </a:lnSpc>
              <a:tabLst>
                <a:tab pos="1928495" algn="l"/>
              </a:tabLs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this.quantity = quantity;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 marR="5080" indent="-213360">
              <a:lnSpc>
                <a:spcPct val="100000"/>
              </a:lnSpc>
              <a:tabLst>
                <a:tab pos="1928495" algn="l"/>
              </a:tabLs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 marR="128079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Declare methods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 marR="128079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calulateTotal()</a:t>
            </a:r>
            <a:r>
              <a:rPr sz="1400" b="1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5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>
              <a:lnSpc>
                <a:spcPct val="100000"/>
              </a:lnSpc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sz="14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this.price</a:t>
            </a:r>
            <a:r>
              <a:rPr sz="14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14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this.quantity;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>
              <a:lnSpc>
                <a:spcPct val="100000"/>
              </a:lnSpc>
            </a:pPr>
            <a:r>
              <a:rPr sz="1400" b="1" spc="-5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>
              <a:lnSpc>
                <a:spcPct val="100000"/>
              </a:lnSpc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showTotal()</a:t>
            </a:r>
            <a:r>
              <a:rPr sz="1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5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9420" marR="429895">
              <a:lnSpc>
                <a:spcPct val="100000"/>
              </a:lnSpc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sz="14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4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this.calulateTotal();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print("</a:t>
            </a:r>
            <a:r>
              <a:rPr lang="en-US" altLang="en-US"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Total amount is: $total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>
              <a:lnSpc>
                <a:spcPct val="100000"/>
              </a:lnSpc>
            </a:pPr>
            <a:r>
              <a:rPr sz="1400" b="1" spc="-5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5660847" y="4130462"/>
            <a:ext cx="3218180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sz="14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sz="14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4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sz="14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Product(600,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quantity:</a:t>
            </a:r>
            <a:r>
              <a:rPr sz="14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25" dirty="0">
                <a:latin typeface="Arial" panose="020B0604020202020204" pitchFamily="34" charset="0"/>
                <a:cs typeface="Arial" panose="020B0604020202020204" pitchFamily="34" charset="0"/>
              </a:rPr>
              <a:t>1); 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product.showTotal();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960755">
              <a:lnSpc>
                <a:spcPct val="100000"/>
              </a:lnSpc>
            </a:pP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product.quantity</a:t>
            </a:r>
            <a:r>
              <a:rPr sz="1400"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4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25" dirty="0">
                <a:latin typeface="Arial" panose="020B0604020202020204" pitchFamily="34" charset="0"/>
                <a:cs typeface="Arial" panose="020B0604020202020204" pitchFamily="34" charset="0"/>
              </a:rPr>
              <a:t>2; </a:t>
            </a:r>
            <a:r>
              <a:rPr sz="1400" b="1" spc="-10" dirty="0">
                <a:latin typeface="Arial" panose="020B0604020202020204" pitchFamily="34" charset="0"/>
                <a:cs typeface="Arial" panose="020B0604020202020204" pitchFamily="34" charset="0"/>
              </a:rPr>
              <a:t>product.showTotal();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// OUTPUT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// Total amount is: 600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// Total amount is: 1200</a:t>
            </a: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5581218" y="3036700"/>
            <a:ext cx="2437130" cy="471170"/>
          </a:xfrm>
          <a:prstGeom prst="rect">
            <a:avLst/>
          </a:prstGeom>
          <a:ln w="25400">
            <a:solidFill>
              <a:srgbClr val="4471C4"/>
            </a:solidFill>
          </a:ln>
        </p:spPr>
        <p:txBody>
          <a:bodyPr vert="horz" wrap="square" lIns="0" tIns="40640" rIns="0" bIns="0" rtlCol="0">
            <a:spAutoFit/>
          </a:bodyPr>
          <a:lstStyle>
            <a:defPPr>
              <a:defRPr kern="0"/>
            </a:defPPr>
          </a:lstStyle>
          <a:p>
            <a:pPr marL="92075" marR="121285">
              <a:lnSpc>
                <a:spcPct val="100000"/>
              </a:lnSpc>
              <a:spcBef>
                <a:spcPts val="320"/>
              </a:spcBef>
            </a:pPr>
            <a:r>
              <a:rPr lang="en-US" altLang="en-US" sz="1400" dirty="0">
                <a:latin typeface="Arial" panose="020B0604020202020204"/>
                <a:cs typeface="Arial" panose="020B0604020202020204"/>
              </a:rPr>
              <a:t>To refer to a class object use the keyword </a:t>
            </a:r>
            <a:r>
              <a:rPr lang="en-US" altLang="en-US" sz="1400" b="1" dirty="0">
                <a:latin typeface="Arial" panose="020B0604020202020204"/>
                <a:cs typeface="Arial" panose="020B0604020202020204"/>
              </a:rPr>
              <a:t>this</a:t>
            </a:r>
            <a:endParaRPr lang="en-US" altLang="en-US" sz="1400" b="1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Object-Oriented Programming with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/>
          <p:cNvSpPr txBox="1">
            <a:spLocks noGrp="1"/>
          </p:cNvSpPr>
          <p:nvPr/>
        </p:nvSpPr>
        <p:spPr>
          <a:xfrm>
            <a:off x="317492" y="1052618"/>
            <a:ext cx="2888846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sz="20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spc="-10" dirty="0">
                <a:latin typeface="Arial" panose="020B0604020202020204" pitchFamily="34" charset="0"/>
                <a:cs typeface="Arial" panose="020B0604020202020204" pitchFamily="34" charset="0"/>
              </a:rPr>
              <a:t>Setter/Getter</a:t>
            </a:r>
            <a:endParaRPr sz="2000" b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/>
          <p:cNvSpPr txBox="1"/>
          <p:nvPr/>
        </p:nvSpPr>
        <p:spPr>
          <a:xfrm>
            <a:off x="317492" y="1542859"/>
            <a:ext cx="84994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 the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keyword before a method with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 parameters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define a Getter, and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before a method with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one parameter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define a Setter.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4666" y="2255103"/>
            <a:ext cx="10763305" cy="5507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>
                <a:latin typeface="+mj-lt"/>
              </a:rPr>
              <a:t>c</a:t>
            </a:r>
            <a:r>
              <a:rPr lang="en-US" altLang="en-US" sz="1600" dirty="0">
                <a:latin typeface="+mj-lt"/>
              </a:rPr>
              <a:t>class BankAccount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double _balance = 0.0;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// Getter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double get balance =&gt; _balance;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// Setter for deposit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set deposit(double amount)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if (amount &gt; 0)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  _balance += amount;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} else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  print("Deposit amount must be greater than 0");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}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}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// Setter for withdrawal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set withdraw(double amount)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if (amount &gt; 0 &amp;&amp; amount &lt;= _balance)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  _balance -= amount;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} else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  print("Invalid withdrawal or exceeds balance");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  }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}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}</a:t>
            </a:r>
            <a:endParaRPr lang="en-US" altLang="en-US" sz="1600" dirty="0">
              <a:latin typeface="+mj-lt"/>
            </a:endParaRPr>
          </a:p>
          <a:p>
            <a:endParaRPr lang="en-US" altLang="en-US" sz="1600" dirty="0"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1287" y="5132814"/>
            <a:ext cx="7404264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+mj-lt"/>
              </a:rPr>
              <a:t>void main() {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var account = BankAccount();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account.deposit = 1000;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print("Current balance: ${account.balance}");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account.withdraw = 200;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print("Balance after withdrawal: ${account.balance}");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  account.withdraw = 2000; // Exceeds balance</a:t>
            </a:r>
            <a:endParaRPr lang="en-US" altLang="en-US" sz="1600" dirty="0">
              <a:latin typeface="+mj-lt"/>
            </a:endParaRPr>
          </a:p>
          <a:p>
            <a:r>
              <a:rPr lang="en-US" altLang="en-US" sz="1600" dirty="0">
                <a:latin typeface="+mj-lt"/>
              </a:rPr>
              <a:t>}</a:t>
            </a:r>
            <a:endParaRPr lang="en-US" alt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Inheritance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/>
          <p:cNvSpPr txBox="1"/>
          <p:nvPr/>
        </p:nvSpPr>
        <p:spPr>
          <a:xfrm>
            <a:off x="95534" y="693807"/>
            <a:ext cx="9950991" cy="150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46990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sz="2400" spc="5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extends</a:t>
            </a:r>
            <a:r>
              <a:rPr lang="en-US" sz="2400" b="1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165" marR="5080" lvl="1" indent="-342900">
              <a:lnSpc>
                <a:spcPct val="100000"/>
              </a:lnSpc>
              <a:buSzPct val="83000"/>
              <a:buFont typeface="Arial" panose="020B0604020202020204" pitchFamily="34" charset="0"/>
              <a:buChar char="•"/>
              <a:tabLst>
                <a:tab pos="8248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Child class accesses parent data using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super.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165" marR="5080" lvl="1" indent="-342900">
              <a:lnSpc>
                <a:spcPct val="100000"/>
              </a:lnSpc>
              <a:buSzPct val="83000"/>
              <a:buFont typeface="Arial" panose="020B0604020202020204" pitchFamily="34" charset="0"/>
              <a:buChar char="•"/>
              <a:tabLst>
                <a:tab pos="8248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Override methods using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@override.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1389" y="2262686"/>
            <a:ext cx="7404264" cy="535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class Animal {</a:t>
            </a:r>
            <a:endParaRPr lang="en-US" altLang="en-US"/>
          </a:p>
          <a:p>
            <a:r>
              <a:rPr lang="en-US" altLang="en-US"/>
              <a:t>  String name;</a:t>
            </a:r>
            <a:endParaRPr lang="en-US" altLang="en-US"/>
          </a:p>
          <a:p>
            <a:r>
              <a:rPr lang="en-US" altLang="en-US"/>
              <a:t>  Animal(this.name);</a:t>
            </a:r>
            <a:endParaRPr lang="en-US" altLang="en-US"/>
          </a:p>
          <a:p>
            <a:r>
              <a:rPr lang="en-US" altLang="en-US"/>
              <a:t>  void makeSound() {</a:t>
            </a:r>
            <a:endParaRPr lang="en-US" altLang="en-US"/>
          </a:p>
          <a:p>
            <a:r>
              <a:rPr lang="en-US" altLang="en-US"/>
              <a:t>    print("$name makes a sound.");</a:t>
            </a:r>
            <a:endParaRPr lang="en-US" altLang="en-US"/>
          </a:p>
          <a:p>
            <a:r>
              <a:rPr lang="en-US" altLang="en-US"/>
              <a:t>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class Dog extends Animal {</a:t>
            </a:r>
            <a:endParaRPr lang="en-US" altLang="en-US"/>
          </a:p>
          <a:p>
            <a:r>
              <a:rPr lang="en-US" altLang="en-US"/>
              <a:t>  Dog(String name) : super(name);</a:t>
            </a:r>
            <a:endParaRPr lang="en-US" altLang="en-US"/>
          </a:p>
          <a:p>
            <a:r>
              <a:rPr lang="en-US" altLang="en-US"/>
              <a:t>  @override</a:t>
            </a:r>
            <a:endParaRPr lang="en-US" altLang="en-US"/>
          </a:p>
          <a:p>
            <a:r>
              <a:rPr lang="en-US" altLang="en-US"/>
              <a:t>  void makeSound() {</a:t>
            </a:r>
            <a:endParaRPr lang="en-US" altLang="en-US"/>
          </a:p>
          <a:p>
            <a:r>
              <a:rPr lang="en-US" altLang="en-US"/>
              <a:t>    print("$name barks: Woof! Woof!");</a:t>
            </a:r>
            <a:endParaRPr lang="en-US" altLang="en-US"/>
          </a:p>
          <a:p>
            <a:r>
              <a:rPr lang="en-US" altLang="en-US"/>
              <a:t>  }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void fetch() {</a:t>
            </a:r>
            <a:endParaRPr lang="en-US" altLang="en-US"/>
          </a:p>
          <a:p>
            <a:r>
              <a:rPr lang="en-US" altLang="en-US"/>
              <a:t>    print("$name is fetching the ball!");</a:t>
            </a:r>
            <a:endParaRPr lang="en-US" altLang="en-US"/>
          </a:p>
          <a:p>
            <a:r>
              <a:rPr lang="en-US" altLang="en-US"/>
              <a:t>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226136" y="5264844"/>
            <a:ext cx="7404264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void main() {</a:t>
            </a:r>
            <a:endParaRPr lang="en-US" altLang="en-US"/>
          </a:p>
          <a:p>
            <a:r>
              <a:rPr lang="en-US" altLang="en-US"/>
              <a:t>  Animal animal = Animal("Generic Animal");</a:t>
            </a:r>
            <a:endParaRPr lang="en-US" altLang="en-US"/>
          </a:p>
          <a:p>
            <a:r>
              <a:rPr lang="en-US" altLang="en-US"/>
              <a:t>  animal.makeSound();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Dog dog = Dog("Buddy");</a:t>
            </a:r>
            <a:endParaRPr lang="en-US" altLang="en-US"/>
          </a:p>
          <a:p>
            <a:r>
              <a:rPr lang="en-US" altLang="en-US"/>
              <a:t>  dog.makeSound();</a:t>
            </a:r>
            <a:endParaRPr lang="en-US" altLang="en-US"/>
          </a:p>
          <a:p>
            <a:r>
              <a:rPr lang="en-US" altLang="en-US"/>
              <a:t>  dog.fetch();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Inheritance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95534" y="766061"/>
            <a:ext cx="256921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0" spc="-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Cascade Operator</a:t>
            </a:r>
            <a:r>
              <a:rPr sz="2000" b="0" spc="-6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..</a:t>
            </a:r>
            <a:endParaRPr sz="2000" spc="-25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-6574" y="1212670"/>
            <a:ext cx="845883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lang="en-US" altLang="en-US" sz="2000">
                <a:latin typeface="Arial" panose="020B0604020202020204"/>
                <a:cs typeface="Arial" panose="020B0604020202020204"/>
              </a:rPr>
              <a:t>Instead of having to write the full object, just write it once, and the subsequent interactions replace it with ..</a:t>
            </a:r>
            <a:endParaRPr lang="en-US" altLang="en-US"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267" y="1968208"/>
            <a:ext cx="7404264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class Person {</a:t>
            </a:r>
            <a:endParaRPr lang="en-US" altLang="en-US"/>
          </a:p>
          <a:p>
            <a:r>
              <a:rPr lang="en-US" altLang="en-US"/>
              <a:t>  String? name;</a:t>
            </a:r>
            <a:endParaRPr lang="en-US" altLang="en-US"/>
          </a:p>
          <a:p>
            <a:r>
              <a:rPr lang="en-US" altLang="en-US"/>
              <a:t>  int? age;</a:t>
            </a:r>
            <a:endParaRPr lang="en-US" altLang="en-US"/>
          </a:p>
          <a:p>
            <a:r>
              <a:rPr lang="en-US" altLang="en-US"/>
              <a:t>  void introduce() {</a:t>
            </a:r>
            <a:endParaRPr lang="en-US" altLang="en-US"/>
          </a:p>
          <a:p>
            <a:r>
              <a:rPr lang="en-US" altLang="en-US"/>
              <a:t>    print("Hi, I'm $name and I'm $age years old.");</a:t>
            </a:r>
            <a:endParaRPr lang="en-US" altLang="en-US"/>
          </a:p>
          <a:p>
            <a:r>
              <a:rPr lang="en-US" altLang="en-US"/>
              <a:t>  }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48559" y="4150241"/>
            <a:ext cx="8458834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/>
              <a:t>Nested Cascade Example:</a:t>
            </a:r>
            <a:endParaRPr lang="en-US" altLang="en-US" dirty="0"/>
          </a:p>
          <a:p>
            <a:r>
              <a:rPr lang="en-US" altLang="en-US" dirty="0"/>
              <a:t>class Address {</a:t>
            </a:r>
            <a:endParaRPr lang="en-US" altLang="en-US" dirty="0"/>
          </a:p>
          <a:p>
            <a:r>
              <a:rPr lang="en-US" altLang="en-US" dirty="0"/>
              <a:t>  String? city;</a:t>
            </a:r>
            <a:endParaRPr lang="en-US" altLang="en-US" dirty="0"/>
          </a:p>
          <a:p>
            <a:r>
              <a:rPr lang="en-US" altLang="en-US" dirty="0"/>
              <a:t>  String? country;</a:t>
            </a:r>
            <a:endParaRPr lang="en-US" altLang="en-US" dirty="0"/>
          </a:p>
          <a:p>
            <a:r>
              <a:rPr lang="en-US" altLang="en-US" dirty="0"/>
              <a:t>  void show() {</a:t>
            </a:r>
            <a:endParaRPr lang="en-US" altLang="en-US" dirty="0"/>
          </a:p>
          <a:p>
            <a:r>
              <a:rPr lang="en-US" altLang="en-US" dirty="0"/>
              <a:t>    print("City: $city, Country: $country");}}</a:t>
            </a:r>
            <a:endParaRPr lang="en-US" altLang="en-US" dirty="0"/>
          </a:p>
          <a:p>
            <a:r>
              <a:rPr lang="en-US" altLang="en-US" dirty="0"/>
              <a:t>class User {</a:t>
            </a:r>
            <a:endParaRPr lang="en-US" altLang="en-US" dirty="0"/>
          </a:p>
          <a:p>
            <a:r>
              <a:rPr lang="en-US" altLang="en-US" dirty="0"/>
              <a:t>  String? name;</a:t>
            </a:r>
            <a:endParaRPr lang="en-US" altLang="en-US" dirty="0"/>
          </a:p>
          <a:p>
            <a:r>
              <a:rPr lang="en-US" altLang="en-US" dirty="0"/>
              <a:t>  Address? address;</a:t>
            </a:r>
            <a:endParaRPr lang="en-US" altLang="en-US" dirty="0"/>
          </a:p>
          <a:p>
            <a:r>
              <a:rPr lang="en-US" altLang="en-US" dirty="0"/>
              <a:t>  void showInfo() {</a:t>
            </a:r>
            <a:endParaRPr lang="en-US" altLang="en-US" dirty="0"/>
          </a:p>
          <a:p>
            <a:r>
              <a:rPr lang="en-US" altLang="en-US" dirty="0"/>
              <a:t>    print("User: $name");</a:t>
            </a:r>
            <a:endParaRPr lang="en-US" altLang="en-US" dirty="0"/>
          </a:p>
          <a:p>
            <a:r>
              <a:rPr lang="en-US" altLang="en-US" dirty="0"/>
              <a:t>    address?.show();}}</a:t>
            </a:r>
            <a:endParaRPr lang="en-US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259603" y="2397398"/>
            <a:ext cx="5296396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void main() {</a:t>
            </a:r>
            <a:endParaRPr lang="en-US" altLang="en-US"/>
          </a:p>
          <a:p>
            <a:r>
              <a:rPr lang="en-US" altLang="en-US"/>
              <a:t>  var person = Person()</a:t>
            </a:r>
            <a:endParaRPr lang="en-US" altLang="en-US"/>
          </a:p>
          <a:p>
            <a:r>
              <a:rPr lang="en-US" altLang="en-US"/>
              <a:t>    ..name = "Alice"</a:t>
            </a:r>
            <a:endParaRPr lang="en-US" altLang="en-US"/>
          </a:p>
          <a:p>
            <a:r>
              <a:rPr lang="en-US" altLang="en-US"/>
              <a:t>    ..age = 25</a:t>
            </a:r>
            <a:endParaRPr lang="en-US" altLang="en-US"/>
          </a:p>
          <a:p>
            <a:r>
              <a:rPr lang="en-US" altLang="en-US"/>
              <a:t>    ..introduce();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259603" y="5143765"/>
            <a:ext cx="7404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void main() {</a:t>
            </a:r>
            <a:endParaRPr lang="en-US"/>
          </a:p>
          <a:p>
            <a:r>
              <a:rPr lang="en-US"/>
              <a:t>  var user = User()</a:t>
            </a:r>
            <a:endParaRPr lang="en-US"/>
          </a:p>
          <a:p>
            <a:r>
              <a:rPr lang="en-US"/>
              <a:t>    ..name = "Bob"</a:t>
            </a:r>
            <a:endParaRPr lang="en-US"/>
          </a:p>
          <a:p>
            <a:r>
              <a:rPr lang="en-US"/>
              <a:t>    ..address = Address()</a:t>
            </a:r>
            <a:endParaRPr lang="en-US"/>
          </a:p>
          <a:p>
            <a:r>
              <a:rPr lang="en-US"/>
              <a:t>      ..city = "Hanoi"</a:t>
            </a:r>
            <a:endParaRPr lang="en-US"/>
          </a:p>
          <a:p>
            <a:r>
              <a:rPr lang="en-US"/>
              <a:t>      ..country = "Vietnam";</a:t>
            </a:r>
            <a:endParaRPr lang="en-US"/>
          </a:p>
          <a:p>
            <a:r>
              <a:rPr lang="en-US"/>
              <a:t>  user.showInfo();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Inheritance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3"/>
          <p:cNvSpPr txBox="1"/>
          <p:nvPr/>
        </p:nvSpPr>
        <p:spPr>
          <a:xfrm>
            <a:off x="113818" y="1475999"/>
            <a:ext cx="8251825" cy="31394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535"/>
              </a:spcBef>
              <a:buSzPct val="83000"/>
              <a:buChar char="-"/>
              <a:tabLst>
                <a:tab pos="367665" algn="l"/>
              </a:tabLst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Abstract class: cannot be instantiated directly, declared with abstract.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7665" indent="-354965">
              <a:lnSpc>
                <a:spcPct val="100000"/>
              </a:lnSpc>
              <a:spcBef>
                <a:spcPts val="535"/>
              </a:spcBef>
              <a:buSzPct val="83000"/>
              <a:buChar char="-"/>
              <a:tabLst>
                <a:tab pos="367665" algn="l"/>
              </a:tabLst>
            </a:pPr>
            <a:r>
              <a:rPr lang="en-US" altLang="en-US" sz="2200" spc="-10" dirty="0">
                <a:latin typeface="Arial" panose="020B0604020202020204" pitchFamily="34" charset="0"/>
                <a:cs typeface="Arial" panose="020B0604020202020204" pitchFamily="34" charset="0"/>
              </a:rPr>
              <a:t>Contains abstract methods (no implementation)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1">
              <a:spcBef>
                <a:spcPts val="315"/>
              </a:spcBef>
            </a:pP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abstract class B {</a:t>
            </a:r>
            <a:endParaRPr lang="en-US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1">
              <a:spcBef>
                <a:spcPts val="315"/>
              </a:spcBef>
            </a:pP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 void displayInfo(); // Abstract method</a:t>
            </a:r>
            <a:endParaRPr lang="en-US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1">
              <a:spcBef>
                <a:spcPts val="315"/>
              </a:spcBef>
            </a:pPr>
            <a:r>
              <a:rPr lang="en-US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>
              <a:lnSpc>
                <a:spcPts val="3310"/>
              </a:lnSpc>
              <a:spcBef>
                <a:spcPts val="15"/>
              </a:spcBef>
              <a:buSzPct val="83000"/>
              <a:buFont typeface="Arial" panose="020B0604020202020204"/>
              <a:buChar char="●"/>
              <a:tabLst>
                <a:tab pos="355600" algn="l"/>
              </a:tabLst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Interface: a class implementing an interface must define all methods and properties.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996010" y="4824765"/>
            <a:ext cx="392695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 marR="643890" indent="-21336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implements</a:t>
            </a:r>
            <a:r>
              <a:rPr b="1" spc="-3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50" dirty="0">
                <a:latin typeface="Arial" panose="020B0604020202020204" pitchFamily="34" charset="0"/>
                <a:cs typeface="Arial" panose="020B0604020202020204" pitchFamily="34" charset="0"/>
              </a:rPr>
              <a:t>{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b="1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override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 marR="1494155">
              <a:lnSpc>
                <a:spcPct val="100000"/>
              </a:lnSpc>
              <a:spcBef>
                <a:spcPts val="5"/>
              </a:spcBef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20" dirty="0">
                <a:latin typeface="Arial" panose="020B0604020202020204" pitchFamily="34" charset="0"/>
                <a:cs typeface="Arial" panose="020B0604020202020204" pitchFamily="34" charset="0"/>
              </a:rPr>
              <a:t>name;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b="1" spc="-1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override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>
              <a:lnSpc>
                <a:spcPct val="100000"/>
              </a:lnSpc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b="1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displayInfo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5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2780">
              <a:lnSpc>
                <a:spcPct val="100000"/>
              </a:lnSpc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25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6060">
              <a:lnSpc>
                <a:spcPct val="100000"/>
              </a:lnSpc>
            </a:pPr>
            <a:r>
              <a:rPr b="1" spc="-5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b="1" spc="-5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Inheritance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/>
          <p:nvPr/>
        </p:nvSpPr>
        <p:spPr>
          <a:xfrm>
            <a:off x="95534" y="1290428"/>
            <a:ext cx="8127365" cy="111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469265" marR="508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Mixins: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mixin is a class that is not used directly to create objects. It provides methods and properties to be reused in other classes.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534" y="2893068"/>
            <a:ext cx="7404264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mixin Logger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void log(String message)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  print("Log: $message");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class Service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void execute()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  print("Executing service...");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class ServiceLogger extends Service with Logger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void doSomething()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  log("Doing something important...");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9078" y="5588296"/>
            <a:ext cx="7404264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void main()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var s = ServiceLogger();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s.execute();       // Output: Executing service...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s.doSomething();   // Output: Log: Doing something important...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Callable class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3"/>
          <p:cNvSpPr txBox="1"/>
          <p:nvPr/>
        </p:nvSpPr>
        <p:spPr>
          <a:xfrm>
            <a:off x="0" y="1107952"/>
            <a:ext cx="7823200" cy="130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 algn="just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Callable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classes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Dart classes can also act like functions, that is, they can be called, take some arguments, and return a result.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5557782" y="3772090"/>
            <a:ext cx="3515360" cy="686435"/>
          </a:xfrm>
          <a:prstGeom prst="rect">
            <a:avLst/>
          </a:prstGeom>
          <a:ln w="25400">
            <a:solidFill>
              <a:srgbClr val="EC7C3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147320">
              <a:lnSpc>
                <a:spcPct val="100000"/>
              </a:lnSpc>
              <a:spcBef>
                <a:spcPts val="320"/>
              </a:spcBef>
            </a:pPr>
            <a:r>
              <a:rPr lang="en-US" altLang="en-US" sz="1400" b="1" dirty="0">
                <a:latin typeface="Arial" panose="020B0604020202020204"/>
                <a:cs typeface="Arial" panose="020B0604020202020204"/>
              </a:rPr>
              <a:t>The call()</a:t>
            </a:r>
            <a:r>
              <a:rPr lang="en-US" altLang="en-US" sz="1400" dirty="0">
                <a:latin typeface="Arial" panose="020B0604020202020204"/>
                <a:cs typeface="Arial" panose="020B0604020202020204"/>
              </a:rPr>
              <a:t> method is a special method in Dart. Any class that defines it can act as a normal Dart function.</a:t>
            </a:r>
            <a:endParaRPr lang="en-US" altLang="en-US"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309" y="3406600"/>
            <a:ext cx="740426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class MyCallable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void call(String message)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  print("You called me with: $message");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void main()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var obj = MyCallable();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obj("Hello!"); // Call like a function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Async programming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/>
          <p:nvPr/>
        </p:nvSpPr>
        <p:spPr>
          <a:xfrm>
            <a:off x="166219" y="1235685"/>
            <a:ext cx="7232107" cy="18370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67665" marR="1945005" indent="-355600">
              <a:lnSpc>
                <a:spcPts val="3030"/>
              </a:lnSpc>
              <a:spcBef>
                <a:spcPts val="470"/>
              </a:spcBef>
              <a:buSzPct val="71000"/>
              <a:buChar char="-"/>
              <a:tabLst>
                <a:tab pos="3676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Synchronous Programming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marR="149225" lvl="1" indent="-355600">
              <a:lnSpc>
                <a:spcPts val="2160"/>
              </a:lnSpc>
              <a:spcBef>
                <a:spcPts val="15"/>
              </a:spcBef>
              <a:buFont typeface="Arial" panose="020B0604020202020204"/>
              <a:buChar char="•"/>
              <a:tabLst>
                <a:tab pos="8248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Code running in Dart is run on a thread, the code is executed one statement after another.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marR="149225" lvl="1" indent="-355600">
              <a:lnSpc>
                <a:spcPts val="2160"/>
              </a:lnSpc>
              <a:spcBef>
                <a:spcPts val="15"/>
              </a:spcBef>
              <a:buFont typeface="Arial" panose="020B0604020202020204"/>
              <a:buChar char="•"/>
              <a:tabLst>
                <a:tab pos="8248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block of code blocks the thread (blocks the thread, for example reading a file, calling an API), the entire application will hang.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9276" y="3298557"/>
            <a:ext cx="762692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void main()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print("Start processing");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processData(); // This blocks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print("End");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void processData()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for (int i = 1; i &lt;= 3; i++)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  print("Processing... step $i");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}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endParaRPr lang="en-US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Async programming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3"/>
          <p:cNvSpPr txBox="1"/>
          <p:nvPr/>
        </p:nvSpPr>
        <p:spPr>
          <a:xfrm>
            <a:off x="95534" y="1977356"/>
            <a:ext cx="9012840" cy="3788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483235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483235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Asynchronous programming -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Asynchronous: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a method is doing its job, another block of code - another function is still being executed.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483235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asynchronous mechanism is a program that allows branching of the code process, making it feel like multi-threading (maybe still 1 thread) - sometimes running code in this branch, sometimes running code in another branch - feeling like executing many things at the same time.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3340"/>
              </a:lnSpc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Dart uses the Future class and the keywords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async, await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Async programming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/>
          <p:nvPr/>
        </p:nvSpPr>
        <p:spPr>
          <a:xfrm>
            <a:off x="95534" y="2663451"/>
            <a:ext cx="8241030" cy="3040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8128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Future&lt;T&gt;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 in Dart represents a value that will be provided at some point in the future.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8128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used to indicate that a method will return a result in the future; that is, a method returning a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Future&lt;T&gt;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does not immediately provide a usable result, but instead returns it after some computation at a later time.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Async programming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/>
          <p:cNvSpPr txBox="1"/>
          <p:nvPr/>
        </p:nvSpPr>
        <p:spPr>
          <a:xfrm>
            <a:off x="95534" y="1028939"/>
            <a:ext cx="8355965" cy="334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54965">
              <a:lnSpc>
                <a:spcPts val="2735"/>
              </a:lnSpc>
              <a:spcBef>
                <a:spcPts val="100"/>
              </a:spcBef>
              <a:buSzPct val="83000"/>
              <a:buChar char="-"/>
              <a:tabLst>
                <a:tab pos="367665" algn="l"/>
              </a:tabLst>
            </a:pPr>
            <a:r>
              <a:rPr lang="en-US" alt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Asynchronous function async: declared with the keyword async after, and the function's return object is Future&lt;T&gt;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>
              <a:lnSpc>
                <a:spcPct val="100000"/>
              </a:lnSpc>
              <a:spcBef>
                <a:spcPts val="810"/>
              </a:spcBef>
            </a:pPr>
            <a:r>
              <a:rPr lang="en-US" sz="16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Future&lt;void&gt; </a:t>
            </a:r>
            <a:r>
              <a:rPr lang="en-US" sz="1600" b="1" dirty="0" err="1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myAsyncFunction</a:t>
            </a:r>
            <a:r>
              <a:rPr lang="en-US" sz="16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async {</a:t>
            </a:r>
            <a:endParaRPr lang="en-US" sz="1600" b="1" dirty="0">
              <a:solidFill>
                <a:srgbClr val="006F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>
              <a:lnSpc>
                <a:spcPct val="100000"/>
              </a:lnSpc>
              <a:spcBef>
                <a:spcPts val="810"/>
              </a:spcBef>
            </a:pPr>
            <a:r>
              <a:rPr lang="en-US" sz="16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16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Asynchronous operations here</a:t>
            </a:r>
            <a:endParaRPr lang="en-US" altLang="en-US" sz="1600" b="1" dirty="0">
              <a:solidFill>
                <a:srgbClr val="006F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>
              <a:lnSpc>
                <a:spcPct val="100000"/>
              </a:lnSpc>
              <a:spcBef>
                <a:spcPts val="810"/>
              </a:spcBef>
            </a:pPr>
            <a:r>
              <a:rPr lang="en-US" sz="16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600" b="1" dirty="0">
              <a:solidFill>
                <a:srgbClr val="006F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>
              <a:lnSpc>
                <a:spcPct val="100000"/>
              </a:lnSpc>
              <a:spcBef>
                <a:spcPts val="810"/>
              </a:spcBef>
            </a:pPr>
            <a:r>
              <a:rPr lang="en-US" altLang="en-US" sz="2400" spc="-5" dirty="0">
                <a:latin typeface="Arial" panose="020B0604020202020204"/>
                <a:cs typeface="Arial" panose="020B0604020202020204"/>
              </a:rPr>
              <a:t>If the function is declared as async then the syntax can be used in the function</a:t>
            </a:r>
            <a:r>
              <a:rPr sz="2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await</a:t>
            </a:r>
            <a:r>
              <a:rPr sz="2400" b="1" spc="2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b="1" spc="20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  <a:r>
              <a:rPr sz="2400" b="1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sz="2400" b="1" spc="-15" dirty="0">
                <a:solidFill>
                  <a:srgbClr val="006F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indicates to wait for the expression to complete execution before executing the next code of the function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389" y="4645628"/>
            <a:ext cx="7404264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Future&lt;void&gt; fetchData() async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print("Starting data fetch...");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await Future.delayed(Duration(seconds: 2)); // Simulates delay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print("Data has been fetched!");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  <a:p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void main() {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print("Program started");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fetchData(); // Does not block main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  print("Program ended");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}</a:t>
            </a:r>
            <a:endParaRPr lang="en-US" altLang="en-US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6767</Words>
  <Application>WPS Presentation</Application>
  <PresentationFormat>Custom</PresentationFormat>
  <Paragraphs>299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Times New Roman</vt:lpstr>
      <vt:lpstr>Inter Bold</vt:lpstr>
      <vt:lpstr>Arial Unicode MS</vt:lpstr>
      <vt:lpstr>Microsoft YaHei</vt:lpstr>
      <vt:lpstr>Calibri</vt:lpstr>
      <vt:lpstr>Opening slide</vt:lpstr>
      <vt:lpstr>Body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Cascade Operator ..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Cường Lê</cp:lastModifiedBy>
  <cp:revision>20</cp:revision>
  <dcterms:created xsi:type="dcterms:W3CDTF">2025-04-25T04:46:00Z</dcterms:created>
  <dcterms:modified xsi:type="dcterms:W3CDTF">2025-05-14T06:58:08Z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034F6BB674234A1F955AA81F4EE2FB57_12</vt:lpwstr>
  </property>
  <property fmtid="{D5CDD505-2E9C-101B-9397-08002B2CF9AE}" pid="3" name="KSOProductBuildVer">
    <vt:lpwstr>1033-12.2.0.21179</vt:lpwstr>
  </property>
</Properties>
</file>