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3"/>
  </p:sldMasterIdLst>
  <p:notesMasterIdLst>
    <p:notesMasterId r:id="rId6"/>
  </p:notesMasterIdLst>
  <p:sldIdLst>
    <p:sldId id="267" r:id="rId4"/>
    <p:sldId id="282" r:id="rId5"/>
    <p:sldId id="283" r:id="rId7"/>
    <p:sldId id="284" r:id="rId8"/>
    <p:sldId id="286" r:id="rId9"/>
    <p:sldId id="285" r:id="rId10"/>
    <p:sldId id="287" r:id="rId11"/>
    <p:sldId id="288" r:id="rId12"/>
    <p:sldId id="291" r:id="rId13"/>
    <p:sldId id="292" r:id="rId14"/>
    <p:sldId id="293" r:id="rId15"/>
    <p:sldId id="294" r:id="rId16"/>
    <p:sldId id="295" r:id="rId17"/>
    <p:sldId id="296" r:id="rId18"/>
    <p:sldId id="297" r:id="rId19"/>
    <p:sldId id="298" r:id="rId20"/>
    <p:sldId id="299" r:id="rId21"/>
    <p:sldId id="308" r:id="rId22"/>
    <p:sldId id="310" r:id="rId23"/>
    <p:sldId id="311" r:id="rId24"/>
    <p:sldId id="312" r:id="rId25"/>
    <p:sldId id="313" r:id="rId26"/>
    <p:sldId id="303" r:id="rId27"/>
    <p:sldId id="304" r:id="rId28"/>
    <p:sldId id="305" r:id="rId29"/>
  </p:sldIdLst>
  <p:sldSz cx="14630400" cy="8229600"/>
  <p:notesSz cx="8229600" cy="14630400"/>
  <p:embeddedFontLst>
    <p:embeddedFont>
      <p:font typeface="Calibri" panose="020F0502020204030204"/>
      <p:regular r:id="rId33"/>
      <p:bold r:id="rId34"/>
      <p:italic r:id="rId35"/>
      <p:boldItalic r:id="rId36"/>
    </p:embeddedFont>
    <p:embeddedFont>
      <p:font typeface="Consolas" panose="020B0609020204030204"/>
      <p:regular r:id="rId37"/>
      <p:bold r:id="rId38"/>
      <p:italic r:id="rId39"/>
      <p:boldItalic r:id="rId40"/>
    </p:embeddedFont>
    <p:embeddedFont>
      <p:font typeface="Tahoma" panose="020B0604030504040204"/>
      <p:regular r:id="rId41"/>
      <p:bold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5146" autoAdjust="0"/>
  </p:normalViewPr>
  <p:slideViewPr>
    <p:cSldViewPr snapToGrid="0" snapToObjects="1">
      <p:cViewPr varScale="1">
        <p:scale>
          <a:sx n="114" d="100"/>
          <a:sy n="114" d="100"/>
        </p:scale>
        <p:origin x="1182" y="11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2" Type="http://schemas.openxmlformats.org/officeDocument/2006/relationships/font" Target="fonts/font10.fntdata"/><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slide" Target="slides/slide1.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228600" indent="-228600" algn="l">
              <a:buAutoNum type="arabicPeriod"/>
            </a:pPr>
            <a:r>
              <a:rPr lang="en-US" dirty="0" err="1"/>
              <a:t>Việc</a:t>
            </a:r>
            <a:r>
              <a:rPr lang="en-US" dirty="0"/>
              <a:t> </a:t>
            </a:r>
            <a:r>
              <a:rPr lang="vi-VN" dirty="0"/>
              <a:t>mô tả giao diện người dùng của mình sẽ trông như thế nào dựa trên trạng thái hiện tại của ứng dụng, thay vì phải chỉ định từng bước để thay đổi giao diện khi trạng thái thay đổi (cách tiếp cận mệnh lệnh - imperative)</a:t>
            </a:r>
            <a:endParaRPr lang="en-US" dirty="0"/>
          </a:p>
          <a:p>
            <a:pPr marL="228600" indent="-228600" algn="l">
              <a:buAutoNum type="arabicPeriod"/>
            </a:pPr>
            <a:r>
              <a:rPr lang="vi-VN" dirty="0"/>
              <a:t>Điểm quan trọng là có một "đường ống" mà qua đó dữ liệu (trạng thái) di chuyển. Khi trạng thái thay đổi, Flutter sẽ sử dụng thông tin này để xây dựng lại (rebuild) những phần giao diện người dùng bị ảnh hưởng, đảm bảo giao diện luôn phản ánh đúng trạng thái hiện tại.</a:t>
            </a:r>
            <a:endParaRPr lang="en-US" dirty="0"/>
          </a:p>
          <a:p>
            <a:pPr marL="228600" indent="-228600" algn="l">
              <a:buAutoNum type="arabicPeriod"/>
            </a:pPr>
            <a:endParaRPr lang="en-US"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endParaRPr 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endParaRPr lang="en-US" dirty="0"/>
          </a:p>
        </p:txBody>
      </p:sp>
      <p:sp>
        <p:nvSpPr>
          <p:cNvPr id="8" name="Text Placeholder 7"/>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endParaRPr lang="en-US" dirty="0"/>
          </a:p>
        </p:txBody>
      </p:sp>
      <p:sp>
        <p:nvSpPr>
          <p:cNvPr id="9" name="Slide Number Placeholder 4"/>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46999" y="1906924"/>
            <a:ext cx="13155431" cy="5486400"/>
          </a:xfrm>
        </p:spPr>
        <p:txBody>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endParaRPr lang="en-US" dirty="0"/>
          </a:p>
        </p:txBody>
      </p:sp>
      <p:sp>
        <p:nvSpPr>
          <p:cNvPr id="7" name="Title 1"/>
          <p:cNvSpPr txBox="1"/>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a:p>
        </p:txBody>
      </p:sp>
      <p:sp>
        <p:nvSpPr>
          <p:cNvPr id="8"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47000" y="1917577"/>
            <a:ext cx="13166084" cy="549477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8" name="Title Placeholder 1"/>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47001" y="1917578"/>
            <a:ext cx="13166084" cy="5497052"/>
          </a:xfrm>
        </p:spPr>
        <p:txBody>
          <a:bodyPr/>
          <a:lstStyle>
            <a:lvl1pPr marL="0" indent="0">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endParaRPr lang="en-US" dirty="0"/>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8"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47000" y="1928230"/>
            <a:ext cx="6568200"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7327130" y="1928230"/>
            <a:ext cx="6568199"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47000" y="1923930"/>
            <a:ext cx="6568200" cy="988694"/>
          </a:xfrm>
        </p:spPr>
        <p:txBody>
          <a:bodyPr anchor="b"/>
          <a:lstStyle>
            <a:lvl1pPr marL="0" indent="0">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746999" y="3014858"/>
            <a:ext cx="6568199"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7315201" y="1923930"/>
            <a:ext cx="656819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7315199" y="3014858"/>
            <a:ext cx="6568200"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9" name="Slide Number Placeholder 4"/>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11"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7"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endParaRPr lang="en-US" dirty="0"/>
          </a:p>
        </p:txBody>
      </p:sp>
      <p:sp>
        <p:nvSpPr>
          <p:cNvPr id="7"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a:p>
        </p:txBody>
      </p:sp>
      <p:sp>
        <p:nvSpPr>
          <p:cNvPr id="4" name="Text Placeholder 3"/>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endParaRPr lang="en-US" dirty="0"/>
          </a:p>
        </p:txBody>
      </p:sp>
      <p:sp>
        <p:nvSpPr>
          <p:cNvPr id="7"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9" name="Title Placeholder 1"/>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46999" y="1917578"/>
            <a:ext cx="13155431" cy="549477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
        <p:nvSpPr>
          <p:cNvPr id="8"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46999" y="1906924"/>
            <a:ext cx="13155431" cy="550543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itle Placeholder 1"/>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3" Type="http://schemas.openxmlformats.org/officeDocument/2006/relationships/theme" Target="../theme/theme2.xml"/><Relationship Id="rId12" Type="http://schemas.openxmlformats.org/officeDocument/2006/relationships/image" Target="../media/image4.png"/><Relationship Id="rId11" Type="http://schemas.openxmlformats.org/officeDocument/2006/relationships/image" Target="../media/image3.jpeg"/><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Slide Number Placeholder 4"/>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fld>
            <a:endParaRPr lang="en-US"/>
          </a:p>
        </p:txBody>
      </p:sp>
      <p:pic>
        <p:nvPicPr>
          <p:cNvPr id="7" name="Picture 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Arial" panose="020B0604020202020204" pitchFamily="34" charset="0"/>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Arial" panose="020B0604020202020204" pitchFamily="34" charset="0"/>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Arial" panose="020B0604020202020204" pitchFamily="34"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0.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5.xml"/><Relationship Id="rId2" Type="http://schemas.openxmlformats.org/officeDocument/2006/relationships/image" Target="../media/image12.jpe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image" Target="../media/image21.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5.xml"/><Relationship Id="rId2" Type="http://schemas.openxmlformats.org/officeDocument/2006/relationships/image" Target="../media/image23.jpeg"/><Relationship Id="rId1" Type="http://schemas.openxmlformats.org/officeDocument/2006/relationships/image" Target="../media/image2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443726" y="2935573"/>
            <a:ext cx="9940431" cy="2633081"/>
          </a:xfrm>
        </p:spPr>
        <p:txBody>
          <a:bodyPr/>
          <a:lstStyle/>
          <a:p>
            <a:r>
              <a:rPr lang="en-US" altLang="en-US" sz="6000">
                <a:sym typeface="+mn-ea"/>
              </a:rPr>
              <a:t>Cross-platform application development</a:t>
            </a:r>
            <a:endParaRPr lang="en-US" sz="6000"/>
          </a:p>
        </p:txBody>
      </p:sp>
      <p:sp>
        <p:nvSpPr>
          <p:cNvPr id="4" name="Slide Number Placehold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44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fld>
            <a:endParaRPr kumimoji="0" lang="en-US" sz="144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8122722" y="2398680"/>
            <a:ext cx="6507678" cy="3088605"/>
          </a:xfrm>
          <a:prstGeom prst="rect">
            <a:avLst/>
          </a:prstGeom>
        </p:spPr>
      </p:pic>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Arial" panose="020B0604020202020204" pitchFamily="34" charset="0"/>
              </a:rPr>
              <a:t>Introduction to Flutter</a:t>
            </a:r>
            <a:endParaRPr lang="en-US" altLang="en-US" sz="3600" b="1" dirty="0">
              <a:solidFill>
                <a:schemeClr val="bg1"/>
              </a:solidFill>
              <a:latin typeface="Arial" panose="020B0604020202020204" pitchFamily="34" charset="0"/>
            </a:endParaRPr>
          </a:p>
        </p:txBody>
      </p:sp>
      <p:sp>
        <p:nvSpPr>
          <p:cNvPr id="7" name="TextBox 6"/>
          <p:cNvSpPr txBox="1"/>
          <p:nvPr/>
        </p:nvSpPr>
        <p:spPr>
          <a:xfrm>
            <a:off x="291389" y="2305770"/>
            <a:ext cx="8056964" cy="3804285"/>
          </a:xfrm>
          <a:prstGeom prst="rect">
            <a:avLst/>
          </a:prstGeom>
          <a:noFill/>
        </p:spPr>
        <p:txBody>
          <a:bodyPr wrap="square">
            <a:spAutoFit/>
          </a:bodyPr>
          <a:lstStyle/>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400">
                <a:latin typeface="Arial" panose="020B0604020202020204" pitchFamily="34" charset="0"/>
                <a:cs typeface="Arial" panose="020B0604020202020204" pitchFamily="34" charset="0"/>
              </a:rPr>
              <a:t>Flutter is a cross-platform application development SDK developed by Google</a:t>
            </a:r>
            <a:r>
              <a:rPr lang="vi-VN" sz="2400">
                <a:latin typeface="Arial" panose="020B0604020202020204" pitchFamily="34" charset="0"/>
                <a:cs typeface="Arial" panose="020B0604020202020204" pitchFamily="34" charset="0"/>
              </a:rPr>
              <a:t>. </a:t>
            </a:r>
            <a:r>
              <a:rPr lang="en-US" altLang="en-US" sz="2400" spc="-20">
                <a:latin typeface="Arial" panose="020B0604020202020204" pitchFamily="34" charset="0"/>
                <a:cs typeface="Arial" panose="020B0604020202020204" pitchFamily="34" charset="0"/>
              </a:rPr>
              <a:t>It allows developers to build beautiful, high-performance apps from a single codebase</a:t>
            </a:r>
            <a:r>
              <a:rPr lang="vi-VN" sz="2400" spc="-20">
                <a:latin typeface="Arial" panose="020B0604020202020204" pitchFamily="34" charset="0"/>
                <a:cs typeface="Arial" panose="020B0604020202020204" pitchFamily="34" charset="0"/>
              </a:rPr>
              <a:t>:</a:t>
            </a:r>
            <a:endParaRPr lang="vi-VN" sz="2400">
              <a:latin typeface="Arial" panose="020B0604020202020204" pitchFamily="34" charset="0"/>
              <a:cs typeface="Arial" panose="020B0604020202020204" pitchFamily="34" charset="0"/>
            </a:endParaRPr>
          </a:p>
          <a:p>
            <a:pPr marL="812165" marR="166370" lvl="1" indent="-342900">
              <a:lnSpc>
                <a:spcPct val="100000"/>
              </a:lnSpc>
              <a:spcBef>
                <a:spcPts val="20"/>
              </a:spcBef>
              <a:buSzPct val="83000"/>
              <a:buFont typeface="Arial" panose="020B0604020202020204" pitchFamily="34" charset="0"/>
              <a:buChar char="•"/>
              <a:tabLst>
                <a:tab pos="824865" algn="l"/>
              </a:tabLst>
            </a:pPr>
            <a:r>
              <a:rPr lang="en-US" altLang="en-US" sz="2000" b="1">
                <a:latin typeface="Arial" panose="020B0604020202020204" pitchFamily="34" charset="0"/>
                <a:cs typeface="Arial" panose="020B0604020202020204" pitchFamily="34" charset="0"/>
              </a:rPr>
              <a:t>A complete UI Framework for mobile applications</a:t>
            </a:r>
            <a:endParaRPr lang="en-US" altLang="en-US" sz="2000" b="1">
              <a:latin typeface="Arial" panose="020B0604020202020204" pitchFamily="34" charset="0"/>
              <a:cs typeface="Arial" panose="020B0604020202020204" pitchFamily="34" charset="0"/>
            </a:endParaRPr>
          </a:p>
          <a:p>
            <a:pPr marL="812165" marR="166370" lvl="1" indent="-342900">
              <a:lnSpc>
                <a:spcPct val="100000"/>
              </a:lnSpc>
              <a:spcBef>
                <a:spcPts val="20"/>
              </a:spcBef>
              <a:buSzPct val="83000"/>
              <a:buFont typeface="Arial" panose="020B0604020202020204" pitchFamily="34" charset="0"/>
              <a:buChar char="•"/>
              <a:tabLst>
                <a:tab pos="824865" algn="l"/>
              </a:tabLst>
            </a:pPr>
            <a:r>
              <a:rPr lang="en-US" altLang="en-US" sz="2000" b="1">
                <a:latin typeface="Arial" panose="020B0604020202020204" pitchFamily="34" charset="0"/>
                <a:cs typeface="Arial" panose="020B0604020202020204" pitchFamily="34" charset="0"/>
              </a:rPr>
              <a:t>Rich widget catalog</a:t>
            </a:r>
            <a:endParaRPr lang="en-US" altLang="en-US" sz="2000" b="1">
              <a:latin typeface="Arial" panose="020B0604020202020204" pitchFamily="34" charset="0"/>
              <a:cs typeface="Arial" panose="020B0604020202020204" pitchFamily="34" charset="0"/>
            </a:endParaRPr>
          </a:p>
          <a:p>
            <a:pPr marL="812165" marR="166370" lvl="1" indent="-342900">
              <a:lnSpc>
                <a:spcPct val="100000"/>
              </a:lnSpc>
              <a:spcBef>
                <a:spcPts val="20"/>
              </a:spcBef>
              <a:buSzPct val="83000"/>
              <a:buFont typeface="Arial" panose="020B0604020202020204" pitchFamily="34" charset="0"/>
              <a:buChar char="•"/>
              <a:tabLst>
                <a:tab pos="824865" algn="l"/>
              </a:tabLst>
            </a:pPr>
            <a:r>
              <a:rPr lang="en-US" altLang="en-US" sz="2000" b="1">
                <a:latin typeface="Arial" panose="020B0604020202020204" pitchFamily="34" charset="0"/>
                <a:cs typeface="Arial" panose="020B0604020202020204" pitchFamily="34" charset="0"/>
              </a:rPr>
              <a:t>Developer tools</a:t>
            </a:r>
            <a:endParaRPr lang="en-US" altLang="en-US" sz="2000" b="1">
              <a:latin typeface="Arial" panose="020B0604020202020204" pitchFamily="34" charset="0"/>
              <a:cs typeface="Arial" panose="020B0604020202020204" pitchFamily="34" charset="0"/>
            </a:endParaRPr>
          </a:p>
          <a:p>
            <a:pPr marL="469265" marR="7620" indent="-457200">
              <a:lnSpc>
                <a:spcPts val="3360"/>
              </a:lnSpc>
              <a:spcBef>
                <a:spcPts val="95"/>
              </a:spcBef>
              <a:buSzPct val="71000"/>
              <a:buFont typeface="Arial" panose="020B0604020202020204" pitchFamily="34" charset="0"/>
              <a:buChar char="•"/>
              <a:tabLst>
                <a:tab pos="367665" algn="l"/>
              </a:tabLst>
            </a:pPr>
            <a:r>
              <a:rPr lang="en-US" altLang="en-US" sz="2400">
                <a:latin typeface="Arial" panose="020B0604020202020204" pitchFamily="34" charset="0"/>
                <a:cs typeface="Arial" panose="020B0604020202020204" pitchFamily="34" charset="0"/>
              </a:rPr>
              <a:t>Enables building platform-independent mobile apps. Currently supports Android, iOS, Fuchsia, Web, and Desktop</a:t>
            </a: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8122722" y="2398680"/>
            <a:ext cx="6507678" cy="3088605"/>
          </a:xfrm>
          <a:prstGeom prst="rect">
            <a:avLst/>
          </a:prstGeom>
        </p:spPr>
      </p:pic>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Arial" panose="020B0604020202020204" pitchFamily="34" charset="0"/>
                <a:sym typeface="+mn-ea"/>
              </a:rPr>
              <a:t>Introduction to Flutter</a:t>
            </a:r>
            <a:endParaRPr lang="en-US" sz="3600" dirty="0">
              <a:solidFill>
                <a:schemeClr val="bg1"/>
              </a:solidFill>
              <a:latin typeface="Arial" panose="020B0604020202020204" pitchFamily="34" charset="0"/>
            </a:endParaRPr>
          </a:p>
        </p:txBody>
      </p:sp>
      <p:sp>
        <p:nvSpPr>
          <p:cNvPr id="6" name="TextBox 5"/>
          <p:cNvSpPr txBox="1"/>
          <p:nvPr/>
        </p:nvSpPr>
        <p:spPr>
          <a:xfrm>
            <a:off x="0" y="1054735"/>
            <a:ext cx="11304905" cy="4977765"/>
          </a:xfrm>
          <a:prstGeom prst="rect">
            <a:avLst/>
          </a:prstGeom>
          <a:noFill/>
        </p:spPr>
        <p:txBody>
          <a:bodyPr wrap="square">
            <a:spAutoFit/>
          </a:bodyPr>
          <a:lstStyle/>
          <a:p>
            <a:pPr marL="457200" marR="3151505" indent="-457200">
              <a:lnSpc>
                <a:spcPct val="100000"/>
              </a:lnSpc>
              <a:spcBef>
                <a:spcPts val="95"/>
              </a:spcBef>
              <a:buSzPct val="71000"/>
              <a:buFont typeface="Arial" panose="020B0604020202020204" pitchFamily="34" charset="0"/>
              <a:buChar char="•"/>
              <a:tabLst>
                <a:tab pos="354965" algn="l"/>
              </a:tabLst>
            </a:pPr>
            <a:r>
              <a:rPr lang="en-US" altLang="en-US" sz="2400" b="1" dirty="0">
                <a:latin typeface="Arial" panose="020B0604020202020204" pitchFamily="34" charset="0"/>
                <a:cs typeface="Arial" panose="020B0604020202020204" pitchFamily="34" charset="0"/>
              </a:rPr>
              <a:t>Key Features of Flutter:</a:t>
            </a:r>
            <a:endParaRPr lang="en-US" altLang="en-US" sz="2400" b="1" dirty="0">
              <a:latin typeface="Arial" panose="020B0604020202020204" pitchFamily="34" charset="0"/>
              <a:cs typeface="Arial" panose="020B0604020202020204" pitchFamily="34" charset="0"/>
            </a:endParaRPr>
          </a:p>
          <a:p>
            <a:pPr marL="914400" marR="3151505" lvl="1" indent="-457200">
              <a:lnSpc>
                <a:spcPct val="100000"/>
              </a:lnSpc>
              <a:spcBef>
                <a:spcPts val="95"/>
              </a:spcBef>
              <a:buSzPct val="71000"/>
              <a:buFont typeface="Arial" panose="020B0604020202020204" pitchFamily="34" charset="0"/>
              <a:buChar char="•"/>
              <a:tabLst>
                <a:tab pos="354965" algn="l"/>
              </a:tabLst>
            </a:pPr>
            <a:r>
              <a:rPr lang="en-US" altLang="en-US" sz="2400" dirty="0">
                <a:latin typeface="Arial" panose="020B0604020202020204" pitchFamily="34" charset="0"/>
                <a:cs typeface="Arial" panose="020B0604020202020204" pitchFamily="34" charset="0"/>
              </a:rPr>
              <a:t>High performance</a:t>
            </a:r>
            <a:endParaRPr lang="en-US" altLang="en-US" sz="2400" dirty="0">
              <a:latin typeface="Arial" panose="020B0604020202020204" pitchFamily="34" charset="0"/>
              <a:cs typeface="Arial" panose="020B0604020202020204" pitchFamily="34" charset="0"/>
            </a:endParaRPr>
          </a:p>
          <a:p>
            <a:pPr marL="914400" marR="3151505" lvl="1" indent="-457200">
              <a:lnSpc>
                <a:spcPct val="100000"/>
              </a:lnSpc>
              <a:spcBef>
                <a:spcPts val="95"/>
              </a:spcBef>
              <a:buSzPct val="71000"/>
              <a:buFont typeface="Arial" panose="020B0604020202020204" pitchFamily="34" charset="0"/>
              <a:buChar char="•"/>
              <a:tabLst>
                <a:tab pos="354965" algn="l"/>
              </a:tabLst>
            </a:pPr>
            <a:r>
              <a:rPr lang="en-US" altLang="en-US" sz="2400" dirty="0">
                <a:latin typeface="Arial" panose="020B0604020202020204" pitchFamily="34" charset="0"/>
                <a:cs typeface="Arial" panose="020B0604020202020204" pitchFamily="34" charset="0"/>
              </a:rPr>
              <a:t>Full UI control: supports various widgets, beautiful and flexible UI, same UI across platforms</a:t>
            </a:r>
            <a:endParaRPr lang="en-US" altLang="en-US" sz="2400" dirty="0">
              <a:latin typeface="Arial" panose="020B0604020202020204" pitchFamily="34" charset="0"/>
              <a:cs typeface="Arial" panose="020B0604020202020204" pitchFamily="34" charset="0"/>
            </a:endParaRPr>
          </a:p>
          <a:p>
            <a:pPr marL="914400" marR="3151505" lvl="1" indent="-457200">
              <a:lnSpc>
                <a:spcPct val="100000"/>
              </a:lnSpc>
              <a:spcBef>
                <a:spcPts val="95"/>
              </a:spcBef>
              <a:buSzPct val="71000"/>
              <a:buFont typeface="Arial" panose="020B0604020202020204" pitchFamily="34" charset="0"/>
              <a:buChar char="•"/>
              <a:tabLst>
                <a:tab pos="354965" algn="l"/>
              </a:tabLst>
            </a:pPr>
            <a:r>
              <a:rPr lang="en-US" altLang="en-US" sz="2400" dirty="0">
                <a:latin typeface="Arial" panose="020B0604020202020204" pitchFamily="34" charset="0"/>
                <a:cs typeface="Arial" panose="020B0604020202020204" pitchFamily="34" charset="0"/>
              </a:rPr>
              <a:t>Efficient UI reuse thanks to widget tree architecture</a:t>
            </a:r>
            <a:endParaRPr lang="en-US" altLang="en-US" sz="2400" dirty="0">
              <a:latin typeface="Arial" panose="020B0604020202020204" pitchFamily="34" charset="0"/>
              <a:cs typeface="Arial" panose="020B0604020202020204" pitchFamily="34" charset="0"/>
            </a:endParaRPr>
          </a:p>
          <a:p>
            <a:pPr marL="914400" marR="3151505" lvl="1" indent="-457200">
              <a:lnSpc>
                <a:spcPct val="100000"/>
              </a:lnSpc>
              <a:spcBef>
                <a:spcPts val="95"/>
              </a:spcBef>
              <a:buSzPct val="71000"/>
              <a:buFont typeface="Arial" panose="020B0604020202020204" pitchFamily="34" charset="0"/>
              <a:buChar char="•"/>
              <a:tabLst>
                <a:tab pos="354965" algn="l"/>
              </a:tabLst>
            </a:pPr>
            <a:r>
              <a:rPr lang="en-US" altLang="en-US" sz="2400" dirty="0">
                <a:latin typeface="Arial" panose="020B0604020202020204" pitchFamily="34" charset="0"/>
                <a:cs typeface="Arial" panose="020B0604020202020204" pitchFamily="34" charset="0"/>
              </a:rPr>
              <a:t>Dart programming language: simple, easy to learn, rich package ecosystem, strong async/await support</a:t>
            </a:r>
            <a:endParaRPr lang="en-US" altLang="en-US" sz="2400" dirty="0">
              <a:latin typeface="Arial" panose="020B0604020202020204" pitchFamily="34" charset="0"/>
              <a:cs typeface="Arial" panose="020B0604020202020204" pitchFamily="34" charset="0"/>
            </a:endParaRPr>
          </a:p>
          <a:p>
            <a:pPr marL="914400" marR="3151505" lvl="1" indent="-457200">
              <a:lnSpc>
                <a:spcPct val="100000"/>
              </a:lnSpc>
              <a:spcBef>
                <a:spcPts val="95"/>
              </a:spcBef>
              <a:buSzPct val="71000"/>
              <a:buFont typeface="Arial" panose="020B0604020202020204" pitchFamily="34" charset="0"/>
              <a:buChar char="•"/>
              <a:tabLst>
                <a:tab pos="354965" algn="l"/>
              </a:tabLst>
            </a:pPr>
            <a:r>
              <a:rPr lang="en-US" altLang="en-US" sz="2400" dirty="0">
                <a:latin typeface="Arial" panose="020B0604020202020204" pitchFamily="34" charset="0"/>
                <a:cs typeface="Arial" panose="020B0604020202020204" pitchFamily="34" charset="0"/>
              </a:rPr>
              <a:t>Backed by Google</a:t>
            </a:r>
            <a:endParaRPr lang="en-US" altLang="en-US" sz="2400" dirty="0">
              <a:latin typeface="Arial" panose="020B0604020202020204" pitchFamily="34" charset="0"/>
              <a:cs typeface="Arial" panose="020B0604020202020204" pitchFamily="34" charset="0"/>
            </a:endParaRPr>
          </a:p>
          <a:p>
            <a:pPr marL="914400" marR="3151505" lvl="1" indent="-457200">
              <a:lnSpc>
                <a:spcPct val="100000"/>
              </a:lnSpc>
              <a:spcBef>
                <a:spcPts val="95"/>
              </a:spcBef>
              <a:buSzPct val="71000"/>
              <a:buFont typeface="Arial" panose="020B0604020202020204" pitchFamily="34" charset="0"/>
              <a:buChar char="•"/>
              <a:tabLst>
                <a:tab pos="354965" algn="l"/>
              </a:tabLst>
            </a:pPr>
            <a:r>
              <a:rPr lang="en-US" altLang="en-US" sz="2400" dirty="0">
                <a:latin typeface="Arial" panose="020B0604020202020204" pitchFamily="34" charset="0"/>
                <a:cs typeface="Arial" panose="020B0604020202020204" pitchFamily="34" charset="0"/>
              </a:rPr>
              <a:t>Hot Reload: Flutter retains application state on reload</a:t>
            </a:r>
            <a:endParaRPr lang="en-US" altLang="en-US" sz="2400" dirty="0">
              <a:latin typeface="Arial" panose="020B0604020202020204" pitchFamily="34" charset="0"/>
              <a:cs typeface="Arial" panose="020B0604020202020204" pitchFamily="34" charset="0"/>
            </a:endParaRPr>
          </a:p>
          <a:p>
            <a:pPr marL="914400" marR="3151505" lvl="1" indent="-457200">
              <a:lnSpc>
                <a:spcPct val="100000"/>
              </a:lnSpc>
              <a:spcBef>
                <a:spcPts val="95"/>
              </a:spcBef>
              <a:buSzPct val="71000"/>
              <a:buFont typeface="Arial" panose="020B0604020202020204" pitchFamily="34" charset="0"/>
              <a:buChar char="•"/>
              <a:tabLst>
                <a:tab pos="354965" algn="l"/>
              </a:tabLst>
            </a:pPr>
            <a:r>
              <a:rPr lang="en-US" altLang="en-US" sz="2400" dirty="0">
                <a:latin typeface="Arial" panose="020B0604020202020204" pitchFamily="34" charset="0"/>
                <a:cs typeface="Arial" panose="020B0604020202020204" pitchFamily="34" charset="0"/>
              </a:rPr>
              <a:t>Open source framework with a large developer community and extensive documentation</a:t>
            </a:r>
            <a:endParaRPr lang="en-US" altLang="en-US" sz="2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Arial" panose="020B0604020202020204" pitchFamily="34" charset="0"/>
              </a:rPr>
              <a:t>Flutter Architecture </a:t>
            </a:r>
            <a:endParaRPr lang="en-US" altLang="en-US" sz="3600" b="1" dirty="0">
              <a:solidFill>
                <a:schemeClr val="bg1"/>
              </a:solidFill>
              <a:latin typeface="Arial" panose="020B0604020202020204" pitchFamily="34" charset="0"/>
            </a:endParaRPr>
          </a:p>
        </p:txBody>
      </p:sp>
      <p:pic>
        <p:nvPicPr>
          <p:cNvPr id="3" name="Picture 2"/>
          <p:cNvPicPr>
            <a:picLocks noChangeAspect="1"/>
          </p:cNvPicPr>
          <p:nvPr/>
        </p:nvPicPr>
        <p:blipFill>
          <a:blip r:embed="rId1"/>
          <a:stretch>
            <a:fillRect/>
          </a:stretch>
        </p:blipFill>
        <p:spPr>
          <a:xfrm>
            <a:off x="7074977" y="2185060"/>
            <a:ext cx="7555423" cy="3859480"/>
          </a:xfrm>
          <a:prstGeom prst="rect">
            <a:avLst/>
          </a:prstGeom>
        </p:spPr>
      </p:pic>
      <p:sp>
        <p:nvSpPr>
          <p:cNvPr id="6" name="object 3"/>
          <p:cNvSpPr txBox="1"/>
          <p:nvPr/>
        </p:nvSpPr>
        <p:spPr>
          <a:xfrm>
            <a:off x="0" y="1184831"/>
            <a:ext cx="6863938" cy="5993130"/>
          </a:xfrm>
          <a:prstGeom prst="rect">
            <a:avLst/>
          </a:prstGeom>
        </p:spPr>
        <p:txBody>
          <a:bodyPr vert="horz" wrap="square" lIns="0" tIns="12065" rIns="0" bIns="0" rtlCol="0">
            <a:spAutoFit/>
          </a:bodyPr>
          <a:lstStyle>
            <a:defPPr>
              <a:defRPr kern="0"/>
            </a:defPPr>
          </a:lstStyle>
          <a:p>
            <a:pPr marL="469900" indent="-457200">
              <a:lnSpc>
                <a:spcPct val="100000"/>
              </a:lnSpc>
              <a:spcBef>
                <a:spcPts val="95"/>
              </a:spcBef>
              <a:buSzPct val="71000"/>
              <a:buFont typeface="Arial" panose="020B0604020202020204" pitchFamily="34" charset="0"/>
              <a:buChar char="•"/>
              <a:tabLst>
                <a:tab pos="367665" algn="l"/>
              </a:tabLst>
            </a:pPr>
            <a:r>
              <a:rPr sz="2800" dirty="0">
                <a:latin typeface="Arial" panose="020B0604020202020204" pitchFamily="34" charset="0"/>
                <a:cs typeface="Arial" panose="020B0604020202020204" pitchFamily="34" charset="0"/>
              </a:rPr>
              <a:t>Framework</a:t>
            </a:r>
            <a:r>
              <a:rPr lang="en-US" sz="2800" spc="-40" dirty="0">
                <a:latin typeface="Arial" panose="020B0604020202020204" pitchFamily="34" charset="0"/>
                <a:cs typeface="Arial" panose="020B0604020202020204" pitchFamily="34" charset="0"/>
              </a:rPr>
              <a:t> Layer</a:t>
            </a:r>
            <a:r>
              <a:rPr sz="2800" spc="-10" dirty="0">
                <a:latin typeface="Arial" panose="020B0604020202020204" pitchFamily="34" charset="0"/>
                <a:cs typeface="Arial" panose="020B0604020202020204" pitchFamily="34" charset="0"/>
              </a:rPr>
              <a:t>(Dart)</a:t>
            </a:r>
            <a:endParaRPr sz="2800" spc="-10" dirty="0">
              <a:latin typeface="Arial" panose="020B0604020202020204" pitchFamily="34" charset="0"/>
              <a:cs typeface="Arial" panose="020B0604020202020204" pitchFamily="34" charset="0"/>
            </a:endParaRPr>
          </a:p>
          <a:p>
            <a:pPr marL="12700" indent="0">
              <a:lnSpc>
                <a:spcPct val="100000"/>
              </a:lnSpc>
              <a:spcBef>
                <a:spcPts val="95"/>
              </a:spcBef>
              <a:buSzPct val="71000"/>
              <a:buFont typeface="Arial" panose="020B0604020202020204" pitchFamily="34" charset="0"/>
              <a:buNone/>
              <a:tabLst>
                <a:tab pos="367665" algn="l"/>
              </a:tabLst>
            </a:pPr>
            <a:endParaRPr sz="28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r>
              <a:rPr lang="en-US" altLang="en-US" sz="2200" b="1" dirty="0">
                <a:latin typeface="Arial" panose="020B0604020202020204" pitchFamily="34" charset="0"/>
                <a:cs typeface="Arial" panose="020B0604020202020204" pitchFamily="34" charset="0"/>
              </a:rPr>
              <a:t>Foundation:</a:t>
            </a:r>
            <a:r>
              <a:rPr lang="en-US" altLang="en-US" sz="2200" dirty="0">
                <a:latin typeface="Arial" panose="020B0604020202020204" pitchFamily="34" charset="0"/>
                <a:cs typeface="Arial" panose="020B0604020202020204" pitchFamily="34" charset="0"/>
              </a:rPr>
              <a:t> core library</a:t>
            </a: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r>
              <a:rPr lang="en-US" altLang="en-US" sz="2200" b="1" dirty="0">
                <a:latin typeface="Arial" panose="020B0604020202020204" pitchFamily="34" charset="0"/>
                <a:cs typeface="Arial" panose="020B0604020202020204" pitchFamily="34" charset="0"/>
              </a:rPr>
              <a:t>Animation/Painting/Gesture: </a:t>
            </a:r>
            <a:r>
              <a:rPr lang="en-US" altLang="en-US" sz="2200" dirty="0">
                <a:latin typeface="Arial" panose="020B0604020202020204" pitchFamily="34" charset="0"/>
                <a:cs typeface="Arial" panose="020B0604020202020204" pitchFamily="34" charset="0"/>
              </a:rPr>
              <a:t>handles animation, painting the UI, gesture recognition</a:t>
            </a: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r>
              <a:rPr lang="en-US" altLang="en-US" sz="2200" b="1" dirty="0">
                <a:latin typeface="Arial" panose="020B0604020202020204" pitchFamily="34" charset="0"/>
                <a:cs typeface="Arial" panose="020B0604020202020204" pitchFamily="34" charset="0"/>
              </a:rPr>
              <a:t>Rendering: </a:t>
            </a:r>
            <a:r>
              <a:rPr lang="en-US" altLang="en-US" sz="2200" dirty="0">
                <a:latin typeface="Arial" panose="020B0604020202020204" pitchFamily="34" charset="0"/>
                <a:cs typeface="Arial" panose="020B0604020202020204" pitchFamily="34" charset="0"/>
              </a:rPr>
              <a:t>UI components organized as a tree of RenderObjects</a:t>
            </a: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r>
              <a:rPr lang="en-US" altLang="en-US" sz="2200" b="1" dirty="0">
                <a:latin typeface="Arial" panose="020B0604020202020204" pitchFamily="34" charset="0"/>
                <a:cs typeface="Arial" panose="020B0604020202020204" pitchFamily="34" charset="0"/>
              </a:rPr>
              <a:t>Widgets:</a:t>
            </a:r>
            <a:r>
              <a:rPr lang="en-US" altLang="en-US" sz="2200" dirty="0">
                <a:latin typeface="Arial" panose="020B0604020202020204" pitchFamily="34" charset="0"/>
                <a:cs typeface="Arial" panose="020B0604020202020204" pitchFamily="34" charset="0"/>
              </a:rPr>
              <a:t> built in a tree structure; each widget inherits from RenderObject. Widgets hold UI state and rebuild when state changes</a:t>
            </a: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endParaRPr lang="en-US" altLang="en-US" sz="2200" dirty="0">
              <a:latin typeface="Arial" panose="020B0604020202020204" pitchFamily="34" charset="0"/>
              <a:cs typeface="Arial" panose="020B0604020202020204" pitchFamily="34" charset="0"/>
            </a:endParaRPr>
          </a:p>
          <a:p>
            <a:pPr marL="812800" lvl="1" indent="-342900">
              <a:lnSpc>
                <a:spcPct val="100000"/>
              </a:lnSpc>
              <a:spcBef>
                <a:spcPts val="25"/>
              </a:spcBef>
              <a:buSzPct val="91000"/>
              <a:buFont typeface="Arial" panose="020B0604020202020204" pitchFamily="34" charset="0"/>
              <a:buChar char="•"/>
              <a:tabLst>
                <a:tab pos="824865" algn="l"/>
              </a:tabLst>
            </a:pPr>
            <a:r>
              <a:rPr lang="en-US" altLang="en-US" sz="2200" b="1" dirty="0">
                <a:latin typeface="Arial" panose="020B0604020202020204" pitchFamily="34" charset="0"/>
                <a:cs typeface="Arial" panose="020B0604020202020204" pitchFamily="34" charset="0"/>
              </a:rPr>
              <a:t>Material/Cupertino:</a:t>
            </a:r>
            <a:r>
              <a:rPr lang="en-US" altLang="en-US" sz="2200" dirty="0">
                <a:latin typeface="Arial" panose="020B0604020202020204" pitchFamily="34" charset="0"/>
                <a:cs typeface="Arial" panose="020B0604020202020204" pitchFamily="34" charset="0"/>
              </a:rPr>
              <a:t> built from the widget library to implement Material (Android) or Cupertino (iOS) design</a:t>
            </a:r>
            <a:endParaRPr lang="en-US" altLang="en-US" sz="22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Arial" panose="020B0604020202020204" pitchFamily="34" charset="0"/>
              </a:rPr>
              <a:t>Flutter Architecture</a:t>
            </a:r>
            <a:endParaRPr lang="en-US" altLang="en-US" sz="3600" b="1" dirty="0">
              <a:solidFill>
                <a:schemeClr val="bg1"/>
              </a:solidFill>
              <a:latin typeface="Arial" panose="020B0604020202020204" pitchFamily="34" charset="0"/>
            </a:endParaRPr>
          </a:p>
        </p:txBody>
      </p:sp>
      <p:pic>
        <p:nvPicPr>
          <p:cNvPr id="3" name="Picture 2"/>
          <p:cNvPicPr>
            <a:picLocks noChangeAspect="1"/>
          </p:cNvPicPr>
          <p:nvPr/>
        </p:nvPicPr>
        <p:blipFill>
          <a:blip r:embed="rId1"/>
          <a:stretch>
            <a:fillRect/>
          </a:stretch>
        </p:blipFill>
        <p:spPr>
          <a:xfrm>
            <a:off x="7074977" y="2185060"/>
            <a:ext cx="7555423" cy="3859480"/>
          </a:xfrm>
          <a:prstGeom prst="rect">
            <a:avLst/>
          </a:prstGeom>
        </p:spPr>
      </p:pic>
      <p:sp>
        <p:nvSpPr>
          <p:cNvPr id="5" name="object 3"/>
          <p:cNvSpPr txBox="1"/>
          <p:nvPr/>
        </p:nvSpPr>
        <p:spPr>
          <a:xfrm>
            <a:off x="338278" y="1559252"/>
            <a:ext cx="6582319" cy="5291455"/>
          </a:xfrm>
          <a:prstGeom prst="rect">
            <a:avLst/>
          </a:prstGeom>
        </p:spPr>
        <p:txBody>
          <a:bodyPr vert="horz" wrap="square" lIns="0" tIns="12065" rIns="0" bIns="0" rtlCol="0">
            <a:spAutoFit/>
          </a:bodyPr>
          <a:lstStyle/>
          <a:p>
            <a:pPr marL="469900" indent="-457200">
              <a:lnSpc>
                <a:spcPct val="100000"/>
              </a:lnSpc>
              <a:spcBef>
                <a:spcPts val="95"/>
              </a:spcBef>
              <a:buSzPct val="71000"/>
              <a:buFont typeface="Arial" panose="020B0604020202020204" pitchFamily="34" charset="0"/>
              <a:buChar char="•"/>
              <a:tabLst>
                <a:tab pos="367665" algn="l"/>
              </a:tabLst>
            </a:pPr>
            <a:r>
              <a:rPr lang="en-US" altLang="en-US" sz="2800" spc="-10" dirty="0">
                <a:latin typeface="+mj-lt"/>
                <a:cs typeface="Arial" panose="020B0604020202020204" pitchFamily="34" charset="0"/>
              </a:rPr>
              <a:t>Engine Layer (C/C++)</a:t>
            </a:r>
            <a:endParaRPr lang="en-US" altLang="en-US" sz="2800" spc="-10" dirty="0">
              <a:latin typeface="+mj-lt"/>
              <a:cs typeface="Arial" panose="020B0604020202020204" pitchFamily="34" charset="0"/>
            </a:endParaRPr>
          </a:p>
          <a:p>
            <a:pPr marL="812165" marR="90805" lvl="1" indent="-342900">
              <a:lnSpc>
                <a:spcPct val="100000"/>
              </a:lnSpc>
              <a:spcBef>
                <a:spcPts val="25"/>
              </a:spcBef>
              <a:buSzPct val="91000"/>
              <a:buFont typeface="Arial" panose="020B0604020202020204" pitchFamily="34" charset="0"/>
              <a:buChar char="•"/>
              <a:tabLst>
                <a:tab pos="824865" algn="l"/>
              </a:tabLst>
            </a:pPr>
            <a:r>
              <a:rPr lang="en-US" altLang="en-US" sz="2200" spc="-20" dirty="0">
                <a:latin typeface="+mj-lt"/>
                <a:cs typeface="Arial" panose="020B0604020202020204" pitchFamily="34" charset="0"/>
              </a:rPr>
              <a:t>Implements core Flutter APIs including graphics (via Skia), text layout, file and network I/O, accessibility, plugin architecture, and Dart runtime</a:t>
            </a:r>
            <a:endParaRPr lang="en-US" altLang="en-US" sz="2200" spc="-20" dirty="0">
              <a:latin typeface="+mj-lt"/>
              <a:cs typeface="Arial" panose="020B0604020202020204" pitchFamily="34" charset="0"/>
            </a:endParaRPr>
          </a:p>
          <a:p>
            <a:pPr marL="812165" marR="90805" lvl="1" indent="-342900">
              <a:lnSpc>
                <a:spcPct val="100000"/>
              </a:lnSpc>
              <a:spcBef>
                <a:spcPts val="25"/>
              </a:spcBef>
              <a:buSzPct val="91000"/>
              <a:buFont typeface="Arial" panose="020B0604020202020204" pitchFamily="34" charset="0"/>
              <a:buChar char="•"/>
              <a:tabLst>
                <a:tab pos="824865" algn="l"/>
              </a:tabLst>
            </a:pPr>
            <a:r>
              <a:rPr lang="en-US" altLang="en-US" sz="2200" spc="-20" dirty="0">
                <a:latin typeface="+mj-lt"/>
                <a:cs typeface="Arial" panose="020B0604020202020204" pitchFamily="34" charset="0"/>
              </a:rPr>
              <a:t>Acts as a bridge between Dart source code and the device hardware or external software</a:t>
            </a:r>
            <a:endParaRPr lang="en-US" altLang="en-US" sz="2200" spc="-20" dirty="0">
              <a:latin typeface="+mj-lt"/>
              <a:cs typeface="Arial" panose="020B0604020202020204" pitchFamily="34" charset="0"/>
            </a:endParaRPr>
          </a:p>
          <a:p>
            <a:pPr marL="812165" marR="90805" lvl="1" indent="-342900">
              <a:lnSpc>
                <a:spcPct val="100000"/>
              </a:lnSpc>
              <a:spcBef>
                <a:spcPts val="25"/>
              </a:spcBef>
              <a:buSzPct val="91000"/>
              <a:buFont typeface="Arial" panose="020B0604020202020204" pitchFamily="34" charset="0"/>
              <a:buChar char="•"/>
              <a:tabLst>
                <a:tab pos="824865" algn="l"/>
              </a:tabLst>
            </a:pPr>
            <a:r>
              <a:rPr lang="en-US" altLang="en-US" sz="2200" spc="-20" dirty="0">
                <a:latin typeface="+mj-lt"/>
                <a:cs typeface="Arial" panose="020B0604020202020204" pitchFamily="34" charset="0"/>
              </a:rPr>
              <a:t>Interprets Dart code using JIT or AOT</a:t>
            </a:r>
            <a:endParaRPr lang="en-US" altLang="en-US" sz="2200" spc="-20" dirty="0">
              <a:latin typeface="+mj-lt"/>
              <a:cs typeface="Arial" panose="020B0604020202020204" pitchFamily="34" charset="0"/>
            </a:endParaRPr>
          </a:p>
          <a:p>
            <a:pPr marL="812165" marR="90805" lvl="1" indent="-342900">
              <a:lnSpc>
                <a:spcPct val="100000"/>
              </a:lnSpc>
              <a:spcBef>
                <a:spcPts val="25"/>
              </a:spcBef>
              <a:buSzPct val="91000"/>
              <a:buFont typeface="Arial" panose="020B0604020202020204" pitchFamily="34" charset="0"/>
              <a:buChar char="•"/>
              <a:tabLst>
                <a:tab pos="824865" algn="l"/>
              </a:tabLst>
            </a:pPr>
            <a:r>
              <a:rPr lang="en-US" altLang="en-US" sz="2200" spc="-20" dirty="0">
                <a:latin typeface="+mj-lt"/>
                <a:cs typeface="Arial" panose="020B0604020202020204" pitchFamily="34" charset="0"/>
              </a:rPr>
              <a:t>Executes the compiled/interpreted code and provides runtime systems like garbage collector and core libraries</a:t>
            </a:r>
            <a:r>
              <a:rPr sz="2200" spc="-20" dirty="0">
                <a:latin typeface="+mj-lt"/>
                <a:cs typeface="Arial" panose="020B0604020202020204" pitchFamily="34" charset="0"/>
              </a:rPr>
              <a:t>.</a:t>
            </a:r>
            <a:endParaRPr sz="2200" spc="-20" dirty="0">
              <a:latin typeface="+mj-lt"/>
              <a:cs typeface="Arial" panose="020B0604020202020204" pitchFamily="34" charset="0"/>
            </a:endParaRPr>
          </a:p>
          <a:p>
            <a:pPr marL="469265" marR="90805" lvl="1" indent="0">
              <a:lnSpc>
                <a:spcPct val="100000"/>
              </a:lnSpc>
              <a:spcBef>
                <a:spcPts val="25"/>
              </a:spcBef>
              <a:buSzPct val="91000"/>
              <a:buFont typeface="Arial" panose="020B0604020202020204" pitchFamily="34" charset="0"/>
              <a:buNone/>
              <a:tabLst>
                <a:tab pos="824865" algn="l"/>
              </a:tabLst>
            </a:pPr>
            <a:endParaRPr sz="2200">
              <a:latin typeface="+mj-lt"/>
              <a:cs typeface="Arial" panose="020B0604020202020204" pitchFamily="34" charset="0"/>
            </a:endParaRPr>
          </a:p>
          <a:p>
            <a:pPr marL="469900" indent="-457200">
              <a:lnSpc>
                <a:spcPts val="3340"/>
              </a:lnSpc>
              <a:buSzPct val="71000"/>
              <a:buFont typeface="Arial" panose="020B0604020202020204" pitchFamily="34" charset="0"/>
              <a:buChar char="•"/>
              <a:tabLst>
                <a:tab pos="367665" algn="l"/>
              </a:tabLst>
            </a:pPr>
            <a:r>
              <a:rPr lang="en-US" altLang="en-US" sz="2800" spc="-10" dirty="0">
                <a:latin typeface="+mj-lt"/>
                <a:cs typeface="Arial" panose="020B0604020202020204" pitchFamily="34" charset="0"/>
              </a:rPr>
              <a:t>Embedder Layer:</a:t>
            </a:r>
            <a:endParaRPr sz="2800">
              <a:latin typeface="+mj-lt"/>
              <a:cs typeface="Arial" panose="020B0604020202020204" pitchFamily="34" charset="0"/>
            </a:endParaRPr>
          </a:p>
          <a:p>
            <a:pPr marL="812165" marR="801370" lvl="1" indent="-342900">
              <a:lnSpc>
                <a:spcPct val="100000"/>
              </a:lnSpc>
              <a:spcBef>
                <a:spcPts val="25"/>
              </a:spcBef>
              <a:buSzPct val="91000"/>
              <a:buFont typeface="Arial" panose="020B0604020202020204" pitchFamily="34" charset="0"/>
              <a:buChar char="•"/>
              <a:tabLst>
                <a:tab pos="824865" algn="l"/>
              </a:tabLst>
            </a:pPr>
            <a:r>
              <a:rPr lang="en-US" altLang="en-US" sz="2200" spc="-10" dirty="0">
                <a:latin typeface="+mj-lt"/>
                <a:cs typeface="Arial" panose="020B0604020202020204" pitchFamily="34" charset="0"/>
              </a:rPr>
              <a:t>Provides access to platform-specific services (Android, iOS, etc.)</a:t>
            </a:r>
            <a:endParaRPr sz="2200">
              <a:latin typeface="+mj-lt"/>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Arial" panose="020B0604020202020204" pitchFamily="34" charset="0"/>
              </a:rPr>
              <a:t>Flutter Application</a:t>
            </a:r>
            <a:endParaRPr lang="en-US" altLang="en-US" sz="3600" b="1" dirty="0">
              <a:solidFill>
                <a:schemeClr val="bg1"/>
              </a:solidFill>
              <a:latin typeface="Arial" panose="020B0604020202020204" pitchFamily="34" charset="0"/>
            </a:endParaRPr>
          </a:p>
        </p:txBody>
      </p:sp>
      <p:sp>
        <p:nvSpPr>
          <p:cNvPr id="3" name="object 4"/>
          <p:cNvSpPr txBox="1"/>
          <p:nvPr/>
        </p:nvSpPr>
        <p:spPr>
          <a:xfrm>
            <a:off x="492658" y="1139731"/>
            <a:ext cx="8024495" cy="5892165"/>
          </a:xfrm>
          <a:prstGeom prst="rect">
            <a:avLst/>
          </a:prstGeom>
        </p:spPr>
        <p:txBody>
          <a:bodyPr vert="horz" wrap="square" lIns="0" tIns="12065" rIns="0" bIns="0" rtlCol="0">
            <a:spAutoFit/>
          </a:bodyPr>
          <a:lstStyle/>
          <a:p>
            <a:pPr marL="367665" indent="-354965">
              <a:lnSpc>
                <a:spcPct val="120000"/>
              </a:lnSpc>
              <a:spcBef>
                <a:spcPts val="95"/>
              </a:spcBef>
              <a:buSzPct val="71000"/>
              <a:buFont typeface="Arial" panose="020B0604020202020204"/>
              <a:buChar char="▪"/>
              <a:tabLst>
                <a:tab pos="367665" algn="l"/>
              </a:tabLst>
            </a:pPr>
            <a:r>
              <a:rPr lang="en-US" altLang="en-US" sz="2400" dirty="0">
                <a:latin typeface="+mj-lt"/>
                <a:cs typeface="Arial" panose="020B0604020202020204" pitchFamily="34" charset="0"/>
              </a:rPr>
              <a:t>Flutter apps are developed in Android Studio.</a:t>
            </a:r>
            <a:endParaRPr lang="en-US" altLang="en-US" sz="2400" dirty="0">
              <a:latin typeface="+mj-lt"/>
              <a:cs typeface="Arial" panose="020B0604020202020204" pitchFamily="34" charset="0"/>
            </a:endParaRPr>
          </a:p>
          <a:p>
            <a:pPr marL="367665" indent="-354965">
              <a:lnSpc>
                <a:spcPct val="120000"/>
              </a:lnSpc>
              <a:spcBef>
                <a:spcPts val="95"/>
              </a:spcBef>
              <a:buSzPct val="71000"/>
              <a:buFont typeface="Arial" panose="020B0604020202020204"/>
              <a:buChar char="▪"/>
              <a:tabLst>
                <a:tab pos="367665" algn="l"/>
              </a:tabLst>
            </a:pPr>
            <a:r>
              <a:rPr lang="en-US" altLang="en-US" sz="2400" spc="-10">
                <a:latin typeface="+mj-lt"/>
                <a:cs typeface="Arial" panose="020B0604020202020204" pitchFamily="34" charset="0"/>
              </a:rPr>
              <a:t>Typical Flutter project structure</a:t>
            </a:r>
            <a:r>
              <a:rPr sz="2400" spc="-10">
                <a:latin typeface="+mj-lt"/>
                <a:cs typeface="Arial" panose="020B0604020202020204" pitchFamily="34" charset="0"/>
              </a:rPr>
              <a:t>:</a:t>
            </a:r>
            <a:endParaRPr lang="en-US" sz="2400" spc="-10">
              <a:latin typeface="+mj-lt"/>
              <a:cs typeface="Arial" panose="020B0604020202020204" pitchFamily="34" charset="0"/>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android:</a:t>
            </a:r>
            <a:r>
              <a:rPr lang="en-US" altLang="en-US">
                <a:latin typeface="+mj-lt"/>
                <a:cs typeface="Arial" panose="020B0604020202020204"/>
              </a:rPr>
              <a:t> auto-generated code for Android</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ios: </a:t>
            </a:r>
            <a:r>
              <a:rPr lang="en-US" altLang="en-US">
                <a:latin typeface="+mj-lt"/>
                <a:cs typeface="Arial" panose="020B0604020202020204"/>
              </a:rPr>
              <a:t>auto-generated code for iOS</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lib:</a:t>
            </a:r>
            <a:r>
              <a:rPr lang="en-US" altLang="en-US">
                <a:latin typeface="+mj-lt"/>
                <a:cs typeface="Arial" panose="020B0604020202020204"/>
              </a:rPr>
              <a:t> main folder containing Dart code written using the Flutter framework</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lib/main.dart: </a:t>
            </a:r>
            <a:r>
              <a:rPr lang="en-US" altLang="en-US">
                <a:latin typeface="+mj-lt"/>
                <a:cs typeface="Arial" panose="020B0604020202020204"/>
              </a:rPr>
              <a:t>entry point of the Flutter application</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test:</a:t>
            </a:r>
            <a:r>
              <a:rPr lang="en-US" altLang="en-US">
                <a:latin typeface="+mj-lt"/>
                <a:cs typeface="Arial" panose="020B0604020202020204"/>
              </a:rPr>
              <a:t> folder with test code for the app</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test/widget_test.dart:</a:t>
            </a:r>
            <a:r>
              <a:rPr lang="en-US" altLang="en-US">
                <a:latin typeface="+mj-lt"/>
                <a:cs typeface="Arial" panose="020B0604020202020204"/>
              </a:rPr>
              <a:t> sample test code</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.gitignore:</a:t>
            </a:r>
            <a:r>
              <a:rPr lang="en-US" altLang="en-US">
                <a:latin typeface="+mj-lt"/>
                <a:cs typeface="Arial" panose="020B0604020202020204"/>
              </a:rPr>
              <a:t> Git version control configuration</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.metadata:</a:t>
            </a:r>
            <a:r>
              <a:rPr lang="en-US" altLang="en-US">
                <a:latin typeface="+mj-lt"/>
                <a:cs typeface="Arial" panose="020B0604020202020204"/>
              </a:rPr>
              <a:t> auto-generated by Flutter tools</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.packages: </a:t>
            </a:r>
            <a:r>
              <a:rPr lang="en-US" altLang="en-US">
                <a:latin typeface="+mj-lt"/>
                <a:cs typeface="Arial" panose="020B0604020202020204"/>
              </a:rPr>
              <a:t>tracks Flutter packages</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.iml:</a:t>
            </a:r>
            <a:r>
              <a:rPr lang="en-US" altLang="en-US">
                <a:latin typeface="+mj-lt"/>
                <a:cs typeface="Arial" panose="020B0604020202020204"/>
              </a:rPr>
              <a:t> Android Studio project file</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pubspec.yaml: </a:t>
            </a:r>
            <a:r>
              <a:rPr lang="en-US" altLang="en-US">
                <a:latin typeface="+mj-lt"/>
                <a:cs typeface="Arial" panose="020B0604020202020204"/>
              </a:rPr>
              <a:t>defines dependencies, uses Flutter's package manager, Pub</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pubspec.lock: </a:t>
            </a:r>
            <a:r>
              <a:rPr lang="en-US" altLang="en-US">
                <a:latin typeface="+mj-lt"/>
                <a:cs typeface="Arial" panose="020B0604020202020204"/>
              </a:rPr>
              <a:t>auto-generated by Pub</a:t>
            </a:r>
            <a:endParaRPr lang="en-US" altLang="en-US">
              <a:latin typeface="+mj-lt"/>
              <a:cs typeface="Arial" panose="020B0604020202020204"/>
            </a:endParaRPr>
          </a:p>
          <a:p>
            <a:pPr marL="824865" lvl="1" indent="-354965">
              <a:lnSpc>
                <a:spcPct val="120000"/>
              </a:lnSpc>
              <a:buSzPct val="71000"/>
              <a:buFont typeface="Arial" panose="020B0604020202020204"/>
              <a:buChar char="▪"/>
              <a:tabLst>
                <a:tab pos="367665" algn="l"/>
              </a:tabLst>
            </a:pPr>
            <a:r>
              <a:rPr lang="en-US" altLang="en-US" b="1">
                <a:latin typeface="+mj-lt"/>
                <a:cs typeface="Arial" panose="020B0604020202020204"/>
              </a:rPr>
              <a:t>README.md: </a:t>
            </a:r>
            <a:r>
              <a:rPr lang="en-US" altLang="en-US">
                <a:latin typeface="+mj-lt"/>
                <a:cs typeface="Arial" panose="020B0604020202020204"/>
              </a:rPr>
              <a:t>project description written in Markdown</a:t>
            </a:r>
            <a:endParaRPr lang="en-US" altLang="en-US">
              <a:latin typeface="+mj-lt"/>
              <a:cs typeface="Arial" panose="020B0604020202020204"/>
            </a:endParaRPr>
          </a:p>
        </p:txBody>
      </p:sp>
      <p:pic>
        <p:nvPicPr>
          <p:cNvPr id="6" name="Picture 5"/>
          <p:cNvPicPr>
            <a:picLocks noChangeAspect="1"/>
          </p:cNvPicPr>
          <p:nvPr/>
        </p:nvPicPr>
        <p:blipFill>
          <a:blip r:embed="rId1"/>
          <a:stretch>
            <a:fillRect/>
          </a:stretch>
        </p:blipFill>
        <p:spPr>
          <a:xfrm>
            <a:off x="9027088" y="727117"/>
            <a:ext cx="3792430" cy="71818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996917" y="6494186"/>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gn="l">
              <a:lnSpc>
                <a:spcPts val="5550"/>
              </a:lnSpc>
            </a:pPr>
            <a:r>
              <a:rPr lang="en-US" altLang="en-US" sz="3600" b="1" dirty="0">
                <a:solidFill>
                  <a:schemeClr val="bg1"/>
                </a:solidFill>
                <a:latin typeface="Arial" panose="020B0604020202020204" pitchFamily="34" charset="0"/>
              </a:rPr>
              <a:t>Flutter Application</a:t>
            </a:r>
            <a:endParaRPr lang="en-US" altLang="en-US" sz="3600" b="1" dirty="0">
              <a:solidFill>
                <a:schemeClr val="bg1"/>
              </a:solidFill>
              <a:latin typeface="Arial" panose="020B0604020202020204" pitchFamily="34" charset="0"/>
            </a:endParaRPr>
          </a:p>
        </p:txBody>
      </p:sp>
      <p:sp>
        <p:nvSpPr>
          <p:cNvPr id="5" name="object 3"/>
          <p:cNvSpPr txBox="1"/>
          <p:nvPr/>
        </p:nvSpPr>
        <p:spPr>
          <a:xfrm>
            <a:off x="555777" y="1665211"/>
            <a:ext cx="4804213" cy="882015"/>
          </a:xfrm>
          <a:prstGeom prst="rect">
            <a:avLst/>
          </a:prstGeom>
        </p:spPr>
        <p:txBody>
          <a:bodyPr vert="horz" wrap="square" lIns="0" tIns="12065" rIns="0" bIns="0" rtlCol="0">
            <a:spAutoFit/>
          </a:bodyPr>
          <a:lstStyle/>
          <a:p>
            <a:pPr marL="693420" indent="-457200">
              <a:lnSpc>
                <a:spcPct val="100000"/>
              </a:lnSpc>
              <a:spcBef>
                <a:spcPts val="95"/>
              </a:spcBef>
              <a:buSzPct val="71000"/>
              <a:buFont typeface="Arial" panose="020B0604020202020204" pitchFamily="34" charset="0"/>
              <a:buChar char="•"/>
              <a:tabLst>
                <a:tab pos="591185" algn="l"/>
              </a:tabLst>
            </a:pPr>
            <a:r>
              <a:rPr lang="en-US" altLang="en-US" sz="2800" i="1" spc="-10" dirty="0">
                <a:solidFill>
                  <a:srgbClr val="006FC0"/>
                </a:solidFill>
                <a:latin typeface="Arial" panose="020B0604020202020204" pitchFamily="34" charset="0"/>
                <a:cs typeface="Arial" panose="020B0604020202020204" pitchFamily="34" charset="0"/>
              </a:rPr>
              <a:t>lib/main.dart source code</a:t>
            </a:r>
            <a:endParaRPr sz="2800" dirty="0">
              <a:latin typeface="Arial" panose="020B0604020202020204" pitchFamily="34" charset="0"/>
              <a:cs typeface="Arial" panose="020B0604020202020204" pitchFamily="34" charset="0"/>
            </a:endParaRPr>
          </a:p>
          <a:p>
            <a:pPr marL="12700">
              <a:lnSpc>
                <a:spcPct val="100000"/>
              </a:lnSpc>
              <a:spcBef>
                <a:spcPts val="1745"/>
              </a:spcBef>
            </a:pPr>
            <a:r>
              <a:rPr sz="1400" b="1" dirty="0">
                <a:latin typeface="Arial" panose="020B0604020202020204" pitchFamily="34" charset="0"/>
                <a:cs typeface="Arial" panose="020B0604020202020204" pitchFamily="34" charset="0"/>
              </a:rPr>
              <a:t>import</a:t>
            </a:r>
            <a:r>
              <a:rPr sz="1400" b="1" spc="-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'package:flutter/material.dart';</a:t>
            </a:r>
            <a:endParaRPr sz="1400" dirty="0">
              <a:latin typeface="Arial" panose="020B0604020202020204" pitchFamily="34" charset="0"/>
              <a:cs typeface="Arial" panose="020B0604020202020204" pitchFamily="34" charset="0"/>
            </a:endParaRPr>
          </a:p>
        </p:txBody>
      </p:sp>
      <p:sp>
        <p:nvSpPr>
          <p:cNvPr id="7" name="object 4"/>
          <p:cNvSpPr txBox="1"/>
          <p:nvPr/>
        </p:nvSpPr>
        <p:spPr>
          <a:xfrm>
            <a:off x="588670" y="2760214"/>
            <a:ext cx="3324860" cy="228909"/>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panose="020B0604020202020204" pitchFamily="34" charset="0"/>
                <a:cs typeface="Arial" panose="020B0604020202020204" pitchFamily="34" charset="0"/>
              </a:rPr>
              <a:t>void</a:t>
            </a:r>
            <a:r>
              <a:rPr sz="1400" b="1" spc="-2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main()</a:t>
            </a:r>
            <a:r>
              <a:rPr sz="1400" b="1" spc="-3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=&gt;</a:t>
            </a:r>
            <a:r>
              <a:rPr sz="1400" b="1" spc="-30"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runApp(MyApp());</a:t>
            </a:r>
            <a:endParaRPr sz="1400">
              <a:latin typeface="Arial" panose="020B0604020202020204" pitchFamily="34" charset="0"/>
              <a:cs typeface="Arial" panose="020B0604020202020204" pitchFamily="34" charset="0"/>
            </a:endParaRPr>
          </a:p>
        </p:txBody>
      </p:sp>
      <p:sp>
        <p:nvSpPr>
          <p:cNvPr id="8" name="object 5"/>
          <p:cNvSpPr txBox="1"/>
          <p:nvPr/>
        </p:nvSpPr>
        <p:spPr>
          <a:xfrm>
            <a:off x="588670" y="3283001"/>
            <a:ext cx="5346065" cy="45275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panose="020B0604020202020204" pitchFamily="34" charset="0"/>
                <a:cs typeface="Arial" panose="020B0604020202020204" pitchFamily="34" charset="0"/>
              </a:rPr>
              <a:t>class</a:t>
            </a:r>
            <a:r>
              <a:rPr sz="1400" b="1" spc="-5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MyApp</a:t>
            </a:r>
            <a:r>
              <a:rPr sz="1400" b="1" spc="-6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extends</a:t>
            </a:r>
            <a:r>
              <a:rPr sz="1400" b="1" spc="-5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StatelessWidget</a:t>
            </a:r>
            <a:r>
              <a:rPr sz="1400" b="1" spc="-60" dirty="0">
                <a:latin typeface="Arial" panose="020B0604020202020204" pitchFamily="34" charset="0"/>
                <a:cs typeface="Arial" panose="020B0604020202020204" pitchFamily="34" charset="0"/>
              </a:rPr>
              <a:t> </a:t>
            </a:r>
            <a:r>
              <a:rPr sz="1400" b="1" spc="-50"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a:p>
            <a:pPr marL="332105">
              <a:lnSpc>
                <a:spcPct val="100000"/>
              </a:lnSpc>
            </a:pPr>
            <a:r>
              <a:rPr sz="1400" b="1" dirty="0">
                <a:latin typeface="Arial" panose="020B0604020202020204" pitchFamily="34" charset="0"/>
                <a:cs typeface="Arial" panose="020B0604020202020204" pitchFamily="34" charset="0"/>
              </a:rPr>
              <a:t>//</a:t>
            </a:r>
            <a:r>
              <a:rPr sz="1400" b="1" spc="-3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This</a:t>
            </a:r>
            <a:r>
              <a:rPr sz="1400" b="1" spc="-3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widget</a:t>
            </a:r>
            <a:r>
              <a:rPr sz="1400" b="1" spc="-2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is</a:t>
            </a:r>
            <a:r>
              <a:rPr sz="1400" b="1" spc="-3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the</a:t>
            </a:r>
            <a:r>
              <a:rPr sz="1400" b="1" spc="-3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root</a:t>
            </a:r>
            <a:r>
              <a:rPr sz="1400" b="1" spc="-2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of</a:t>
            </a:r>
            <a:r>
              <a:rPr sz="1400" b="1" spc="-2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your</a:t>
            </a:r>
            <a:r>
              <a:rPr sz="1400" b="1" spc="-20"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application.</a:t>
            </a:r>
            <a:endParaRPr sz="1400" dirty="0">
              <a:latin typeface="Arial" panose="020B0604020202020204" pitchFamily="34" charset="0"/>
              <a:cs typeface="Arial" panose="020B0604020202020204" pitchFamily="34" charset="0"/>
            </a:endParaRPr>
          </a:p>
        </p:txBody>
      </p:sp>
      <p:sp>
        <p:nvSpPr>
          <p:cNvPr id="9" name="object 6"/>
          <p:cNvSpPr txBox="1"/>
          <p:nvPr/>
        </p:nvSpPr>
        <p:spPr>
          <a:xfrm>
            <a:off x="908710" y="3709720"/>
            <a:ext cx="4707255" cy="238334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Arial" panose="020B0604020202020204" pitchFamily="34" charset="0"/>
                <a:cs typeface="Arial" panose="020B0604020202020204" pitchFamily="34" charset="0"/>
              </a:rPr>
              <a:t>@override</a:t>
            </a:r>
            <a:endParaRPr sz="1400" dirty="0">
              <a:latin typeface="Arial" panose="020B0604020202020204" pitchFamily="34" charset="0"/>
              <a:cs typeface="Arial" panose="020B0604020202020204" pitchFamily="34" charset="0"/>
            </a:endParaRPr>
          </a:p>
          <a:p>
            <a:pPr marL="332740" marR="854710" indent="-320040">
              <a:lnSpc>
                <a:spcPct val="100000"/>
              </a:lnSpc>
            </a:pPr>
            <a:r>
              <a:rPr sz="1400" b="1" dirty="0">
                <a:latin typeface="Arial" panose="020B0604020202020204" pitchFamily="34" charset="0"/>
                <a:cs typeface="Arial" panose="020B0604020202020204" pitchFamily="34" charset="0"/>
              </a:rPr>
              <a:t>Widget</a:t>
            </a:r>
            <a:r>
              <a:rPr sz="1400" b="1" spc="-8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build(BuildContext</a:t>
            </a:r>
            <a:r>
              <a:rPr sz="1400" b="1" spc="-9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context)</a:t>
            </a:r>
            <a:r>
              <a:rPr sz="1400" b="1" spc="-75" dirty="0">
                <a:latin typeface="Arial" panose="020B0604020202020204" pitchFamily="34" charset="0"/>
                <a:cs typeface="Arial" panose="020B0604020202020204" pitchFamily="34" charset="0"/>
              </a:rPr>
              <a:t> </a:t>
            </a:r>
            <a:r>
              <a:rPr sz="1400" b="1" spc="-5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return</a:t>
            </a:r>
            <a:r>
              <a:rPr sz="1400" b="1" spc="-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MaterialApp(</a:t>
            </a:r>
            <a:endParaRPr sz="1400" dirty="0">
              <a:latin typeface="Arial" panose="020B0604020202020204" pitchFamily="34" charset="0"/>
              <a:cs typeface="Arial" panose="020B0604020202020204" pitchFamily="34" charset="0"/>
            </a:endParaRPr>
          </a:p>
          <a:p>
            <a:pPr marL="650875" marR="5080">
              <a:lnSpc>
                <a:spcPct val="100000"/>
              </a:lnSpc>
            </a:pPr>
            <a:r>
              <a:rPr sz="1400" b="1" dirty="0">
                <a:latin typeface="Arial" panose="020B0604020202020204" pitchFamily="34" charset="0"/>
                <a:cs typeface="Arial" panose="020B0604020202020204" pitchFamily="34" charset="0"/>
              </a:rPr>
              <a:t>title:</a:t>
            </a:r>
            <a:r>
              <a:rPr sz="1400" b="1" spc="-5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'Hello</a:t>
            </a:r>
            <a:r>
              <a:rPr sz="1400" b="1" spc="-4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World</a:t>
            </a:r>
            <a:r>
              <a:rPr sz="1400" b="1" spc="-5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Demo</a:t>
            </a:r>
            <a:r>
              <a:rPr sz="1400" b="1" spc="-3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Application', </a:t>
            </a:r>
            <a:r>
              <a:rPr sz="1400" b="1" dirty="0">
                <a:latin typeface="Arial" panose="020B0604020202020204" pitchFamily="34" charset="0"/>
                <a:cs typeface="Arial" panose="020B0604020202020204" pitchFamily="34" charset="0"/>
              </a:rPr>
              <a:t>theme:</a:t>
            </a:r>
            <a:r>
              <a:rPr sz="1400" b="1" spc="-6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ThemeData(</a:t>
            </a:r>
            <a:endParaRPr sz="1400" dirty="0">
              <a:latin typeface="Arial" panose="020B0604020202020204" pitchFamily="34" charset="0"/>
              <a:cs typeface="Arial" panose="020B0604020202020204" pitchFamily="34" charset="0"/>
            </a:endParaRPr>
          </a:p>
          <a:p>
            <a:pPr marL="969645">
              <a:lnSpc>
                <a:spcPct val="100000"/>
              </a:lnSpc>
            </a:pPr>
            <a:r>
              <a:rPr sz="1400" b="1" dirty="0">
                <a:latin typeface="Arial" panose="020B0604020202020204" pitchFamily="34" charset="0"/>
                <a:cs typeface="Arial" panose="020B0604020202020204" pitchFamily="34" charset="0"/>
              </a:rPr>
              <a:t>primarySwatch:</a:t>
            </a:r>
            <a:r>
              <a:rPr sz="1400" b="1" spc="-120"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Colors.blue,</a:t>
            </a:r>
            <a:endParaRPr sz="1400" dirty="0">
              <a:latin typeface="Arial" panose="020B0604020202020204" pitchFamily="34" charset="0"/>
              <a:cs typeface="Arial" panose="020B0604020202020204" pitchFamily="34" charset="0"/>
            </a:endParaRPr>
          </a:p>
          <a:p>
            <a:pPr marL="650875">
              <a:lnSpc>
                <a:spcPct val="100000"/>
              </a:lnSpc>
            </a:pPr>
            <a:r>
              <a:rPr sz="1400" b="1" spc="-25"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a:p>
            <a:pPr marL="650875">
              <a:lnSpc>
                <a:spcPct val="100000"/>
              </a:lnSpc>
            </a:pPr>
            <a:r>
              <a:rPr sz="1400" b="1" dirty="0">
                <a:latin typeface="Arial" panose="020B0604020202020204" pitchFamily="34" charset="0"/>
                <a:cs typeface="Arial" panose="020B0604020202020204" pitchFamily="34" charset="0"/>
              </a:rPr>
              <a:t>home:</a:t>
            </a:r>
            <a:r>
              <a:rPr sz="1400" b="1" spc="-8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MyHomePage(title:</a:t>
            </a:r>
            <a:r>
              <a:rPr sz="1400" b="1" spc="-7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'Home</a:t>
            </a:r>
            <a:r>
              <a:rPr sz="1400" b="1" spc="-70"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page'),</a:t>
            </a:r>
            <a:endParaRPr sz="1400" dirty="0">
              <a:latin typeface="Arial" panose="020B0604020202020204" pitchFamily="34" charset="0"/>
              <a:cs typeface="Arial" panose="020B0604020202020204" pitchFamily="34" charset="0"/>
            </a:endParaRPr>
          </a:p>
          <a:p>
            <a:pPr marL="332740">
              <a:lnSpc>
                <a:spcPct val="100000"/>
              </a:lnSpc>
            </a:pPr>
            <a:r>
              <a:rPr sz="1400" b="1" spc="-25"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a:p>
            <a:pPr marL="12700">
              <a:lnSpc>
                <a:spcPct val="100000"/>
              </a:lnSpc>
            </a:pPr>
            <a:r>
              <a:rPr sz="1400" b="1" spc="-50" dirty="0">
                <a:latin typeface="Arial" panose="020B0604020202020204" pitchFamily="34" charset="0"/>
                <a:cs typeface="Arial" panose="020B0604020202020204" pitchFamily="34" charset="0"/>
              </a:rPr>
              <a:t>}</a:t>
            </a:r>
            <a:endParaRPr lang="en-US" sz="1400" b="1" spc="-50" dirty="0">
              <a:latin typeface="Arial" panose="020B0604020202020204" pitchFamily="34" charset="0"/>
              <a:cs typeface="Arial" panose="020B0604020202020204" pitchFamily="34" charset="0"/>
            </a:endParaRPr>
          </a:p>
          <a:p>
            <a:pPr marL="12700">
              <a:lnSpc>
                <a:spcPct val="100000"/>
              </a:lnSpc>
            </a:pPr>
            <a:r>
              <a:rPr lang="en-US" sz="1400" b="1" spc="-50"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p:txBody>
      </p:sp>
      <p:sp>
        <p:nvSpPr>
          <p:cNvPr id="11" name="object 8"/>
          <p:cNvSpPr/>
          <p:nvPr/>
        </p:nvSpPr>
        <p:spPr>
          <a:xfrm>
            <a:off x="4908042" y="2106803"/>
            <a:ext cx="4232275" cy="739140"/>
          </a:xfrm>
          <a:custGeom>
            <a:avLst/>
            <a:gdLst/>
            <a:ahLst/>
            <a:cxnLst/>
            <a:rect l="l" t="t" r="r" b="b"/>
            <a:pathLst>
              <a:path w="4232275" h="739139">
                <a:moveTo>
                  <a:pt x="0" y="738670"/>
                </a:moveTo>
                <a:lnTo>
                  <a:pt x="4231894" y="738670"/>
                </a:lnTo>
                <a:lnTo>
                  <a:pt x="4231894" y="0"/>
                </a:lnTo>
                <a:lnTo>
                  <a:pt x="0" y="0"/>
                </a:lnTo>
                <a:lnTo>
                  <a:pt x="0" y="738670"/>
                </a:lnTo>
                <a:close/>
              </a:path>
            </a:pathLst>
          </a:custGeom>
          <a:ln w="25399">
            <a:solidFill>
              <a:srgbClr val="4471C4"/>
            </a:solidFill>
          </a:ln>
        </p:spPr>
        <p:txBody>
          <a:bodyPr wrap="square" lIns="0" tIns="0" rIns="0" bIns="0" rtlCol="0"/>
          <a:lstStyle/>
          <a:p>
            <a:endParaRPr>
              <a:latin typeface="Arial" panose="020B0604020202020204" pitchFamily="34" charset="0"/>
            </a:endParaRPr>
          </a:p>
        </p:txBody>
      </p:sp>
      <p:sp>
        <p:nvSpPr>
          <p:cNvPr id="12" name="object 9"/>
          <p:cNvSpPr txBox="1"/>
          <p:nvPr/>
        </p:nvSpPr>
        <p:spPr>
          <a:xfrm>
            <a:off x="4987417" y="2134274"/>
            <a:ext cx="4054475" cy="659130"/>
          </a:xfrm>
          <a:prstGeom prst="rect">
            <a:avLst/>
          </a:prstGeom>
        </p:spPr>
        <p:txBody>
          <a:bodyPr vert="horz" wrap="square" lIns="0" tIns="13335" rIns="0" bIns="0" rtlCol="0">
            <a:spAutoFit/>
          </a:bodyPr>
          <a:lstStyle/>
          <a:p>
            <a:pPr marL="12700" marR="5080" algn="just">
              <a:lnSpc>
                <a:spcPct val="100000"/>
              </a:lnSpc>
              <a:spcBef>
                <a:spcPts val="105"/>
              </a:spcBef>
            </a:pPr>
            <a:r>
              <a:rPr lang="en-US" altLang="en-US" sz="1400" b="1">
                <a:solidFill>
                  <a:schemeClr val="bg2">
                    <a:lumMod val="10000"/>
                  </a:schemeClr>
                </a:solidFill>
                <a:latin typeface="Arial" panose="020B0604020202020204"/>
                <a:cs typeface="Arial" panose="020B0604020202020204"/>
              </a:rPr>
              <a:t>import flutter package,</a:t>
            </a:r>
            <a:r>
              <a:rPr lang="en-US" altLang="en-US" sz="1400">
                <a:solidFill>
                  <a:schemeClr val="bg2">
                    <a:lumMod val="10000"/>
                  </a:schemeClr>
                </a:solidFill>
                <a:latin typeface="Arial" panose="020B0604020202020204"/>
                <a:cs typeface="Arial" panose="020B0604020202020204"/>
              </a:rPr>
              <a:t> named material. </a:t>
            </a:r>
            <a:r>
              <a:rPr lang="en-US" altLang="en-US" sz="1400" b="1">
                <a:solidFill>
                  <a:schemeClr val="bg2">
                    <a:lumMod val="10000"/>
                  </a:schemeClr>
                </a:solidFill>
                <a:latin typeface="Arial" panose="020B0604020202020204"/>
                <a:cs typeface="Arial" panose="020B0604020202020204"/>
              </a:rPr>
              <a:t>Material</a:t>
            </a:r>
            <a:r>
              <a:rPr lang="en-US" altLang="en-US" sz="1400">
                <a:solidFill>
                  <a:schemeClr val="bg2">
                    <a:lumMod val="10000"/>
                  </a:schemeClr>
                </a:solidFill>
                <a:latin typeface="Arial" panose="020B0604020202020204"/>
                <a:cs typeface="Arial" panose="020B0604020202020204"/>
              </a:rPr>
              <a:t> is a flutter package used to create Material design user interfaces for Android</a:t>
            </a:r>
            <a:endParaRPr lang="en-US" altLang="en-US" sz="1400">
              <a:solidFill>
                <a:schemeClr val="bg2">
                  <a:lumMod val="10000"/>
                </a:schemeClr>
              </a:solidFill>
              <a:latin typeface="Arial" panose="020B0604020202020204"/>
              <a:cs typeface="Arial" panose="020B0604020202020204"/>
            </a:endParaRPr>
          </a:p>
        </p:txBody>
      </p:sp>
      <p:sp>
        <p:nvSpPr>
          <p:cNvPr id="13" name="object 10"/>
          <p:cNvSpPr txBox="1"/>
          <p:nvPr/>
        </p:nvSpPr>
        <p:spPr>
          <a:xfrm>
            <a:off x="5749670" y="3805225"/>
            <a:ext cx="3470275" cy="1804670"/>
          </a:xfrm>
          <a:prstGeom prst="rect">
            <a:avLst/>
          </a:prstGeom>
          <a:ln w="25400">
            <a:solidFill>
              <a:srgbClr val="4471C4"/>
            </a:solidFill>
          </a:ln>
        </p:spPr>
        <p:txBody>
          <a:bodyPr vert="horz" wrap="square" lIns="0" tIns="40640" rIns="0" bIns="0" rtlCol="0">
            <a:spAutoFit/>
          </a:bodyPr>
          <a:lstStyle/>
          <a:p>
            <a:pPr marL="92075" marR="249555">
              <a:lnSpc>
                <a:spcPct val="100000"/>
              </a:lnSpc>
              <a:spcBef>
                <a:spcPts val="320"/>
              </a:spcBef>
            </a:pPr>
            <a:r>
              <a:rPr lang="en-US" altLang="en-US" sz="1400">
                <a:solidFill>
                  <a:schemeClr val="bg2">
                    <a:lumMod val="10000"/>
                  </a:schemeClr>
                </a:solidFill>
                <a:latin typeface="Arial" panose="020B0604020202020204"/>
                <a:cs typeface="Arial" panose="020B0604020202020204"/>
              </a:rPr>
              <a:t>The starting point of a Flutter application is the main function of the application. </a:t>
            </a:r>
            <a:endParaRPr lang="en-US" altLang="en-US" sz="1400">
              <a:solidFill>
                <a:schemeClr val="bg2">
                  <a:lumMod val="10000"/>
                </a:schemeClr>
              </a:solidFill>
              <a:latin typeface="Arial" panose="020B0604020202020204"/>
              <a:cs typeface="Arial" panose="020B0604020202020204"/>
            </a:endParaRPr>
          </a:p>
          <a:p>
            <a:pPr marL="92075" marR="249555">
              <a:lnSpc>
                <a:spcPct val="100000"/>
              </a:lnSpc>
              <a:spcBef>
                <a:spcPts val="320"/>
              </a:spcBef>
            </a:pPr>
            <a:r>
              <a:rPr lang="en-US" altLang="en-US" sz="1400">
                <a:solidFill>
                  <a:schemeClr val="bg2">
                    <a:lumMod val="10000"/>
                  </a:schemeClr>
                </a:solidFill>
                <a:latin typeface="Arial" panose="020B0604020202020204"/>
                <a:cs typeface="Arial" panose="020B0604020202020204"/>
              </a:rPr>
              <a:t>The runApp method is called and passed an object of the MyApp class. The main purpose of the runApp method is to bring the widget interface to display on the screen.</a:t>
            </a:r>
            <a:endParaRPr lang="en-US" altLang="en-US" sz="1400">
              <a:solidFill>
                <a:schemeClr val="bg2">
                  <a:lumMod val="10000"/>
                </a:schemeClr>
              </a:solidFill>
              <a:latin typeface="Arial" panose="020B0604020202020204"/>
              <a:cs typeface="Arial" panose="020B0604020202020204"/>
            </a:endParaRPr>
          </a:p>
        </p:txBody>
      </p:sp>
      <p:sp>
        <p:nvSpPr>
          <p:cNvPr id="14" name="object 11"/>
          <p:cNvSpPr/>
          <p:nvPr/>
        </p:nvSpPr>
        <p:spPr>
          <a:xfrm>
            <a:off x="4170172" y="2433231"/>
            <a:ext cx="737870" cy="85725"/>
          </a:xfrm>
          <a:custGeom>
            <a:avLst/>
            <a:gdLst/>
            <a:ahLst/>
            <a:cxnLst/>
            <a:rect l="l" t="t" r="r" b="b"/>
            <a:pathLst>
              <a:path w="737870" h="85725">
                <a:moveTo>
                  <a:pt x="85725" y="0"/>
                </a:moveTo>
                <a:lnTo>
                  <a:pt x="0" y="42926"/>
                </a:lnTo>
                <a:lnTo>
                  <a:pt x="85725" y="85725"/>
                </a:lnTo>
                <a:lnTo>
                  <a:pt x="85725" y="57150"/>
                </a:lnTo>
                <a:lnTo>
                  <a:pt x="71373" y="57150"/>
                </a:lnTo>
                <a:lnTo>
                  <a:pt x="71373" y="28575"/>
                </a:lnTo>
                <a:lnTo>
                  <a:pt x="85725" y="28575"/>
                </a:lnTo>
                <a:lnTo>
                  <a:pt x="85725" y="0"/>
                </a:lnTo>
                <a:close/>
              </a:path>
              <a:path w="737870" h="85725">
                <a:moveTo>
                  <a:pt x="85725" y="28575"/>
                </a:moveTo>
                <a:lnTo>
                  <a:pt x="71373" y="28575"/>
                </a:lnTo>
                <a:lnTo>
                  <a:pt x="71373" y="57150"/>
                </a:lnTo>
                <a:lnTo>
                  <a:pt x="85725" y="57150"/>
                </a:lnTo>
                <a:lnTo>
                  <a:pt x="85725" y="28575"/>
                </a:lnTo>
                <a:close/>
              </a:path>
              <a:path w="737870" h="85725">
                <a:moveTo>
                  <a:pt x="737869" y="28575"/>
                </a:moveTo>
                <a:lnTo>
                  <a:pt x="85725" y="28575"/>
                </a:lnTo>
                <a:lnTo>
                  <a:pt x="85725" y="57150"/>
                </a:lnTo>
                <a:lnTo>
                  <a:pt x="737869" y="57150"/>
                </a:lnTo>
                <a:lnTo>
                  <a:pt x="737869" y="28575"/>
                </a:lnTo>
                <a:close/>
              </a:path>
            </a:pathLst>
          </a:custGeom>
          <a:solidFill>
            <a:srgbClr val="3E6DC3"/>
          </a:solidFill>
        </p:spPr>
        <p:txBody>
          <a:bodyPr wrap="square" lIns="0" tIns="0" rIns="0" bIns="0" rtlCol="0"/>
          <a:lstStyle/>
          <a:p>
            <a:endParaRPr>
              <a:latin typeface="Arial" panose="020B0604020202020204" pitchFamily="34" charset="0"/>
            </a:endParaRPr>
          </a:p>
        </p:txBody>
      </p:sp>
      <p:sp>
        <p:nvSpPr>
          <p:cNvPr id="15" name="object 12"/>
          <p:cNvSpPr/>
          <p:nvPr/>
        </p:nvSpPr>
        <p:spPr>
          <a:xfrm>
            <a:off x="3906647" y="2989123"/>
            <a:ext cx="3581400" cy="830580"/>
          </a:xfrm>
          <a:custGeom>
            <a:avLst/>
            <a:gdLst/>
            <a:ahLst/>
            <a:cxnLst/>
            <a:rect l="l" t="t" r="r" b="b"/>
            <a:pathLst>
              <a:path w="3581400" h="830579">
                <a:moveTo>
                  <a:pt x="86789" y="27871"/>
                </a:moveTo>
                <a:lnTo>
                  <a:pt x="80597" y="55818"/>
                </a:lnTo>
                <a:lnTo>
                  <a:pt x="3574795" y="830071"/>
                </a:lnTo>
                <a:lnTo>
                  <a:pt x="3580891" y="802131"/>
                </a:lnTo>
                <a:lnTo>
                  <a:pt x="86789" y="27871"/>
                </a:lnTo>
                <a:close/>
              </a:path>
              <a:path w="3581400" h="830579">
                <a:moveTo>
                  <a:pt x="92963" y="0"/>
                </a:moveTo>
                <a:lnTo>
                  <a:pt x="0" y="23240"/>
                </a:lnTo>
                <a:lnTo>
                  <a:pt x="74421" y="83692"/>
                </a:lnTo>
                <a:lnTo>
                  <a:pt x="80597" y="55818"/>
                </a:lnTo>
                <a:lnTo>
                  <a:pt x="66547" y="52704"/>
                </a:lnTo>
                <a:lnTo>
                  <a:pt x="72770" y="24764"/>
                </a:lnTo>
                <a:lnTo>
                  <a:pt x="87477" y="24764"/>
                </a:lnTo>
                <a:lnTo>
                  <a:pt x="92963" y="0"/>
                </a:lnTo>
                <a:close/>
              </a:path>
              <a:path w="3581400" h="830579">
                <a:moveTo>
                  <a:pt x="72770" y="24764"/>
                </a:moveTo>
                <a:lnTo>
                  <a:pt x="66547" y="52704"/>
                </a:lnTo>
                <a:lnTo>
                  <a:pt x="80597" y="55818"/>
                </a:lnTo>
                <a:lnTo>
                  <a:pt x="86789" y="27871"/>
                </a:lnTo>
                <a:lnTo>
                  <a:pt x="72770" y="24764"/>
                </a:lnTo>
                <a:close/>
              </a:path>
              <a:path w="3581400" h="830579">
                <a:moveTo>
                  <a:pt x="87477" y="24764"/>
                </a:moveTo>
                <a:lnTo>
                  <a:pt x="72770" y="24764"/>
                </a:lnTo>
                <a:lnTo>
                  <a:pt x="86789" y="27871"/>
                </a:lnTo>
                <a:lnTo>
                  <a:pt x="87477" y="24764"/>
                </a:lnTo>
                <a:close/>
              </a:path>
            </a:pathLst>
          </a:custGeom>
          <a:solidFill>
            <a:srgbClr val="3E6DC3"/>
          </a:solidFill>
        </p:spPr>
        <p:txBody>
          <a:bodyPr wrap="square" lIns="0" tIns="0" rIns="0" bIns="0" rtlCol="0"/>
          <a:lstStyle/>
          <a:p>
            <a:endParaRPr>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Ứng dụng Flutter</a:t>
            </a:r>
            <a:endParaRPr lang="en-US" sz="3600" dirty="0">
              <a:solidFill>
                <a:schemeClr val="bg1"/>
              </a:solidFill>
              <a:latin typeface="Arial" panose="020B0604020202020204" pitchFamily="34" charset="0"/>
            </a:endParaRPr>
          </a:p>
        </p:txBody>
      </p:sp>
      <p:sp>
        <p:nvSpPr>
          <p:cNvPr id="3" name="object 3"/>
          <p:cNvSpPr txBox="1"/>
          <p:nvPr/>
        </p:nvSpPr>
        <p:spPr>
          <a:xfrm>
            <a:off x="11384647" y="6074664"/>
            <a:ext cx="155575" cy="286297"/>
          </a:xfrm>
          <a:prstGeom prst="rect">
            <a:avLst/>
          </a:prstGeom>
        </p:spPr>
        <p:txBody>
          <a:bodyPr vert="horz" wrap="square" lIns="0" tIns="0" rIns="0" bIns="0" rtlCol="0">
            <a:spAutoFit/>
          </a:bodyPr>
          <a:lstStyle>
            <a:defPPr>
              <a:defRPr kern="0"/>
            </a:defPPr>
          </a:lstStyle>
          <a:p>
            <a:pPr>
              <a:lnSpc>
                <a:spcPts val="1140"/>
              </a:lnSpc>
            </a:pPr>
            <a:r>
              <a:rPr sz="1200" spc="-25" dirty="0">
                <a:solidFill>
                  <a:srgbClr val="878787"/>
                </a:solidFill>
                <a:latin typeface="Arial" panose="020B0604020202020204" pitchFamily="34" charset="0"/>
                <a:cs typeface="Arial" panose="020B0604020202020204" pitchFamily="34" charset="0"/>
              </a:rPr>
              <a:t>48</a:t>
            </a:r>
            <a:endParaRPr sz="1200">
              <a:latin typeface="Arial" panose="020B0604020202020204" pitchFamily="34" charset="0"/>
              <a:cs typeface="Arial" panose="020B0604020202020204" pitchFamily="34" charset="0"/>
            </a:endParaRPr>
          </a:p>
        </p:txBody>
      </p:sp>
      <p:sp>
        <p:nvSpPr>
          <p:cNvPr id="6" name="object 4"/>
          <p:cNvSpPr txBox="1"/>
          <p:nvPr/>
        </p:nvSpPr>
        <p:spPr>
          <a:xfrm>
            <a:off x="2999752" y="1900809"/>
            <a:ext cx="5878195" cy="1009650"/>
          </a:xfrm>
          <a:prstGeom prst="rect">
            <a:avLst/>
          </a:prstGeom>
        </p:spPr>
        <p:txBody>
          <a:bodyPr vert="horz" wrap="square" lIns="0" tIns="12065" rIns="0" bIns="0" rtlCol="0">
            <a:spAutoFit/>
          </a:bodyPr>
          <a:lstStyle>
            <a:defPPr>
              <a:defRPr kern="0"/>
            </a:defPPr>
          </a:lstStyle>
          <a:p>
            <a:pPr marL="469265" indent="-354965">
              <a:lnSpc>
                <a:spcPct val="100000"/>
              </a:lnSpc>
              <a:spcBef>
                <a:spcPts val="95"/>
              </a:spcBef>
              <a:buSzPct val="71000"/>
              <a:buFont typeface="Arial" panose="020B0604020202020204"/>
              <a:buChar char="▪"/>
              <a:tabLst>
                <a:tab pos="469265" algn="l"/>
              </a:tabLst>
            </a:pPr>
            <a:r>
              <a:rPr lang="en-US" altLang="en-US" sz="2800" i="1" spc="-10" dirty="0">
                <a:solidFill>
                  <a:srgbClr val="006FC0"/>
                </a:solidFill>
                <a:latin typeface="Arial" panose="020B0604020202020204" pitchFamily="34" charset="0"/>
                <a:cs typeface="Arial" panose="020B0604020202020204" pitchFamily="34" charset="0"/>
                <a:sym typeface="+mn-ea"/>
              </a:rPr>
              <a:t>lib/main.dart source code</a:t>
            </a:r>
            <a:endParaRPr sz="2800">
              <a:latin typeface="Arial" panose="020B0604020202020204" pitchFamily="34" charset="0"/>
              <a:cs typeface="Arial" panose="020B0604020202020204" pitchFamily="34" charset="0"/>
            </a:endParaRPr>
          </a:p>
          <a:p>
            <a:pPr marL="332740" marR="5080" indent="-320040">
              <a:lnSpc>
                <a:spcPct val="100000"/>
              </a:lnSpc>
              <a:spcBef>
                <a:spcPts val="1060"/>
              </a:spcBef>
            </a:pPr>
            <a:r>
              <a:rPr sz="1400" b="1" dirty="0">
                <a:latin typeface="Arial" panose="020B0604020202020204" pitchFamily="34" charset="0"/>
                <a:cs typeface="Arial" panose="020B0604020202020204" pitchFamily="34" charset="0"/>
              </a:rPr>
              <a:t>class</a:t>
            </a:r>
            <a:r>
              <a:rPr sz="1400" b="1" spc="-7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MyHomePage</a:t>
            </a:r>
            <a:r>
              <a:rPr sz="1400" b="1" spc="-6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extends</a:t>
            </a:r>
            <a:r>
              <a:rPr sz="1400" b="1" spc="-7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StatelessWidget</a:t>
            </a:r>
            <a:r>
              <a:rPr sz="1400" b="1" spc="-65" dirty="0">
                <a:latin typeface="Arial" panose="020B0604020202020204" pitchFamily="34" charset="0"/>
                <a:cs typeface="Arial" panose="020B0604020202020204" pitchFamily="34" charset="0"/>
              </a:rPr>
              <a:t> </a:t>
            </a:r>
            <a:r>
              <a:rPr sz="1400" b="1" spc="-5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MyHomePage({Key</a:t>
            </a:r>
            <a:r>
              <a:rPr sz="1400" b="1" spc="-65"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key,</a:t>
            </a:r>
            <a:r>
              <a:rPr sz="1400" b="1" spc="-6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this.title})</a:t>
            </a:r>
            <a:r>
              <a:rPr sz="1400" b="1" spc="-6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a:t>
            </a:r>
            <a:r>
              <a:rPr sz="1400" b="1" spc="-7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super(key:</a:t>
            </a:r>
            <a:r>
              <a:rPr sz="1400" b="1" spc="-70"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key);</a:t>
            </a:r>
            <a:endParaRPr sz="1400">
              <a:latin typeface="Arial" panose="020B0604020202020204" pitchFamily="34" charset="0"/>
              <a:cs typeface="Arial" panose="020B0604020202020204" pitchFamily="34" charset="0"/>
            </a:endParaRPr>
          </a:p>
        </p:txBody>
      </p:sp>
      <p:sp>
        <p:nvSpPr>
          <p:cNvPr id="17" name="object 5"/>
          <p:cNvSpPr txBox="1"/>
          <p:nvPr/>
        </p:nvSpPr>
        <p:spPr>
          <a:xfrm>
            <a:off x="3319792" y="2888412"/>
            <a:ext cx="3856990" cy="1952458"/>
          </a:xfrm>
          <a:prstGeom prst="rect">
            <a:avLst/>
          </a:prstGeom>
        </p:spPr>
        <p:txBody>
          <a:bodyPr vert="horz" wrap="square" lIns="0" tIns="13335" rIns="0" bIns="0" rtlCol="0">
            <a:spAutoFit/>
          </a:bodyPr>
          <a:lstStyle>
            <a:defPPr>
              <a:defRPr kern="0"/>
            </a:defPPr>
          </a:lstStyle>
          <a:p>
            <a:pPr marL="12700" marR="1814830">
              <a:lnSpc>
                <a:spcPct val="100000"/>
              </a:lnSpc>
              <a:spcBef>
                <a:spcPts val="105"/>
              </a:spcBef>
            </a:pPr>
            <a:r>
              <a:rPr sz="1400" b="1" dirty="0">
                <a:latin typeface="Arial" panose="020B0604020202020204" pitchFamily="34" charset="0"/>
                <a:cs typeface="Arial" panose="020B0604020202020204" pitchFamily="34" charset="0"/>
              </a:rPr>
              <a:t>final</a:t>
            </a:r>
            <a:r>
              <a:rPr sz="1400" b="1" spc="-5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String</a:t>
            </a:r>
            <a:r>
              <a:rPr sz="1400" b="1" spc="-4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title; @override</a:t>
            </a:r>
            <a:endParaRPr sz="1400" dirty="0">
              <a:latin typeface="Arial" panose="020B0604020202020204" pitchFamily="34" charset="0"/>
              <a:cs typeface="Arial" panose="020B0604020202020204" pitchFamily="34" charset="0"/>
            </a:endParaRPr>
          </a:p>
          <a:p>
            <a:pPr marL="332740" marR="5080" indent="-320040">
              <a:lnSpc>
                <a:spcPct val="100000"/>
              </a:lnSpc>
            </a:pPr>
            <a:r>
              <a:rPr sz="1400" b="1" dirty="0">
                <a:latin typeface="Arial" panose="020B0604020202020204" pitchFamily="34" charset="0"/>
                <a:cs typeface="Arial" panose="020B0604020202020204" pitchFamily="34" charset="0"/>
              </a:rPr>
              <a:t>Widget</a:t>
            </a:r>
            <a:r>
              <a:rPr sz="1400" b="1" spc="-8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build(BuildContext</a:t>
            </a:r>
            <a:r>
              <a:rPr sz="1400" b="1" spc="-9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context)</a:t>
            </a:r>
            <a:r>
              <a:rPr sz="1400" b="1" spc="-75" dirty="0">
                <a:latin typeface="Arial" panose="020B0604020202020204" pitchFamily="34" charset="0"/>
                <a:cs typeface="Arial" panose="020B0604020202020204" pitchFamily="34" charset="0"/>
              </a:rPr>
              <a:t> </a:t>
            </a:r>
            <a:r>
              <a:rPr sz="1400" b="1" spc="-50" dirty="0">
                <a:latin typeface="Arial" panose="020B0604020202020204" pitchFamily="34" charset="0"/>
                <a:cs typeface="Arial" panose="020B0604020202020204" pitchFamily="34" charset="0"/>
              </a:rPr>
              <a:t>{ </a:t>
            </a:r>
            <a:r>
              <a:rPr sz="1400" b="1" dirty="0">
                <a:latin typeface="Arial" panose="020B0604020202020204" pitchFamily="34" charset="0"/>
                <a:cs typeface="Arial" panose="020B0604020202020204" pitchFamily="34" charset="0"/>
              </a:rPr>
              <a:t>return</a:t>
            </a:r>
            <a:r>
              <a:rPr sz="1400" b="1" spc="-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Scaffold(</a:t>
            </a:r>
            <a:endParaRPr sz="1400" dirty="0">
              <a:latin typeface="Arial" panose="020B0604020202020204" pitchFamily="34" charset="0"/>
              <a:cs typeface="Arial" panose="020B0604020202020204" pitchFamily="34" charset="0"/>
            </a:endParaRPr>
          </a:p>
          <a:p>
            <a:pPr marL="650875">
              <a:lnSpc>
                <a:spcPct val="100000"/>
              </a:lnSpc>
            </a:pPr>
            <a:r>
              <a:rPr sz="1400" b="1" dirty="0">
                <a:latin typeface="Arial" panose="020B0604020202020204" pitchFamily="34" charset="0"/>
                <a:cs typeface="Arial" panose="020B0604020202020204" pitchFamily="34" charset="0"/>
              </a:rPr>
              <a:t>appBar:</a:t>
            </a:r>
            <a:r>
              <a:rPr sz="1400" b="1" spc="-60"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AppBar(</a:t>
            </a:r>
            <a:endParaRPr sz="1400" dirty="0">
              <a:latin typeface="Arial" panose="020B0604020202020204" pitchFamily="34" charset="0"/>
              <a:cs typeface="Arial" panose="020B0604020202020204" pitchFamily="34" charset="0"/>
            </a:endParaRPr>
          </a:p>
          <a:p>
            <a:pPr marL="969645">
              <a:lnSpc>
                <a:spcPct val="100000"/>
              </a:lnSpc>
            </a:pPr>
            <a:r>
              <a:rPr sz="1400" b="1" dirty="0">
                <a:latin typeface="Arial" panose="020B0604020202020204" pitchFamily="34" charset="0"/>
                <a:cs typeface="Arial" panose="020B0604020202020204" pitchFamily="34" charset="0"/>
              </a:rPr>
              <a:t>title:</a:t>
            </a:r>
            <a:r>
              <a:rPr sz="1400" b="1" spc="-4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Text(this.title),</a:t>
            </a:r>
            <a:endParaRPr sz="1400" dirty="0">
              <a:latin typeface="Arial" panose="020B0604020202020204" pitchFamily="34" charset="0"/>
              <a:cs typeface="Arial" panose="020B0604020202020204" pitchFamily="34" charset="0"/>
            </a:endParaRPr>
          </a:p>
          <a:p>
            <a:pPr marL="650875">
              <a:lnSpc>
                <a:spcPct val="100000"/>
              </a:lnSpc>
            </a:pPr>
            <a:r>
              <a:rPr sz="1400" b="1" spc="-25" dirty="0">
                <a:latin typeface="Arial" panose="020B0604020202020204" pitchFamily="34" charset="0"/>
                <a:cs typeface="Arial" panose="020B0604020202020204" pitchFamily="34" charset="0"/>
              </a:rPr>
              <a:t>),</a:t>
            </a:r>
            <a:endParaRPr sz="1400" dirty="0">
              <a:latin typeface="Arial" panose="020B0604020202020204" pitchFamily="34" charset="0"/>
              <a:cs typeface="Arial" panose="020B0604020202020204" pitchFamily="34" charset="0"/>
            </a:endParaRPr>
          </a:p>
          <a:p>
            <a:pPr marL="969645" marR="1814830" indent="-318770">
              <a:lnSpc>
                <a:spcPct val="100000"/>
              </a:lnSpc>
            </a:pPr>
            <a:r>
              <a:rPr sz="1400" b="1" dirty="0">
                <a:latin typeface="Arial" panose="020B0604020202020204" pitchFamily="34" charset="0"/>
                <a:cs typeface="Arial" panose="020B0604020202020204" pitchFamily="34" charset="0"/>
              </a:rPr>
              <a:t>body:</a:t>
            </a:r>
            <a:r>
              <a:rPr sz="1400" b="1" spc="-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Center( child: </a:t>
            </a:r>
            <a:r>
              <a:rPr sz="1400" b="1" spc="-20" dirty="0">
                <a:latin typeface="Arial" panose="020B0604020202020204" pitchFamily="34" charset="0"/>
                <a:cs typeface="Arial" panose="020B0604020202020204" pitchFamily="34" charset="0"/>
              </a:rPr>
              <a:t>Text(</a:t>
            </a:r>
            <a:endParaRPr sz="1400" dirty="0">
              <a:latin typeface="Arial" panose="020B0604020202020204" pitchFamily="34" charset="0"/>
              <a:cs typeface="Arial" panose="020B0604020202020204" pitchFamily="34" charset="0"/>
            </a:endParaRPr>
          </a:p>
        </p:txBody>
      </p:sp>
      <p:sp>
        <p:nvSpPr>
          <p:cNvPr id="18" name="object 6"/>
          <p:cNvSpPr txBox="1"/>
          <p:nvPr/>
        </p:nvSpPr>
        <p:spPr>
          <a:xfrm>
            <a:off x="4595735" y="5022265"/>
            <a:ext cx="1515110" cy="228268"/>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b="1" dirty="0">
                <a:latin typeface="Arial" panose="020B0604020202020204" pitchFamily="34" charset="0"/>
                <a:cs typeface="Arial" panose="020B0604020202020204" pitchFamily="34" charset="0"/>
              </a:rPr>
              <a:t>'Hello</a:t>
            </a:r>
            <a:r>
              <a:rPr sz="1400" b="1" spc="-40"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World',</a:t>
            </a:r>
            <a:endParaRPr sz="1400">
              <a:latin typeface="Arial" panose="020B0604020202020204" pitchFamily="34" charset="0"/>
              <a:cs typeface="Arial" panose="020B0604020202020204" pitchFamily="34" charset="0"/>
            </a:endParaRPr>
          </a:p>
        </p:txBody>
      </p:sp>
      <p:sp>
        <p:nvSpPr>
          <p:cNvPr id="19" name="object 7"/>
          <p:cNvSpPr txBox="1"/>
          <p:nvPr/>
        </p:nvSpPr>
        <p:spPr>
          <a:xfrm>
            <a:off x="4276838" y="5235626"/>
            <a:ext cx="132715" cy="228268"/>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b="1" spc="-50" dirty="0">
                <a:latin typeface="Arial" panose="020B0604020202020204" pitchFamily="34" charset="0"/>
                <a:cs typeface="Arial" panose="020B0604020202020204" pitchFamily="34" charset="0"/>
              </a:rPr>
              <a:t>)</a:t>
            </a:r>
            <a:endParaRPr sz="1400">
              <a:latin typeface="Arial" panose="020B0604020202020204" pitchFamily="34" charset="0"/>
              <a:cs typeface="Arial" panose="020B0604020202020204" pitchFamily="34" charset="0"/>
            </a:endParaRPr>
          </a:p>
        </p:txBody>
      </p:sp>
      <p:sp>
        <p:nvSpPr>
          <p:cNvPr id="20" name="object 8"/>
          <p:cNvSpPr txBox="1"/>
          <p:nvPr/>
        </p:nvSpPr>
        <p:spPr>
          <a:xfrm>
            <a:off x="3958323" y="5448985"/>
            <a:ext cx="238760" cy="228268"/>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b="1" spc="-25" dirty="0">
                <a:latin typeface="Arial" panose="020B0604020202020204" pitchFamily="34" charset="0"/>
                <a:cs typeface="Arial" panose="020B0604020202020204" pitchFamily="34" charset="0"/>
              </a:rPr>
              <a:t>),</a:t>
            </a:r>
            <a:endParaRPr sz="1400">
              <a:latin typeface="Arial" panose="020B0604020202020204" pitchFamily="34" charset="0"/>
              <a:cs typeface="Arial" panose="020B0604020202020204" pitchFamily="34" charset="0"/>
            </a:endParaRPr>
          </a:p>
        </p:txBody>
      </p:sp>
      <p:sp>
        <p:nvSpPr>
          <p:cNvPr id="21" name="object 9"/>
          <p:cNvSpPr txBox="1"/>
          <p:nvPr/>
        </p:nvSpPr>
        <p:spPr>
          <a:xfrm>
            <a:off x="3639832" y="5662346"/>
            <a:ext cx="236220" cy="228268"/>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b="1" spc="-25" dirty="0">
                <a:latin typeface="Arial" panose="020B0604020202020204" pitchFamily="34" charset="0"/>
                <a:cs typeface="Arial" panose="020B0604020202020204" pitchFamily="34" charset="0"/>
              </a:rPr>
              <a:t>);</a:t>
            </a:r>
            <a:endParaRPr sz="1400">
              <a:latin typeface="Arial" panose="020B0604020202020204" pitchFamily="34" charset="0"/>
              <a:cs typeface="Arial" panose="020B0604020202020204" pitchFamily="34" charset="0"/>
            </a:endParaRPr>
          </a:p>
        </p:txBody>
      </p:sp>
      <p:sp>
        <p:nvSpPr>
          <p:cNvPr id="22" name="object 10"/>
          <p:cNvSpPr txBox="1"/>
          <p:nvPr/>
        </p:nvSpPr>
        <p:spPr>
          <a:xfrm>
            <a:off x="3319792" y="5875731"/>
            <a:ext cx="132715" cy="228268"/>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b="1" spc="-50" dirty="0">
                <a:latin typeface="Arial" panose="020B0604020202020204" pitchFamily="34" charset="0"/>
                <a:cs typeface="Arial" panose="020B0604020202020204" pitchFamily="34" charset="0"/>
              </a:rPr>
              <a:t>}</a:t>
            </a:r>
            <a:endParaRPr sz="1400">
              <a:latin typeface="Arial" panose="020B0604020202020204" pitchFamily="34" charset="0"/>
              <a:cs typeface="Arial" panose="020B0604020202020204" pitchFamily="34" charset="0"/>
            </a:endParaRPr>
          </a:p>
        </p:txBody>
      </p:sp>
      <p:sp>
        <p:nvSpPr>
          <p:cNvPr id="23" name="object 11"/>
          <p:cNvSpPr txBox="1"/>
          <p:nvPr/>
        </p:nvSpPr>
        <p:spPr>
          <a:xfrm>
            <a:off x="2999752" y="6089396"/>
            <a:ext cx="132715" cy="228268"/>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b="1" spc="-50" dirty="0">
                <a:latin typeface="Arial" panose="020B0604020202020204" pitchFamily="34" charset="0"/>
                <a:cs typeface="Arial" panose="020B0604020202020204" pitchFamily="34" charset="0"/>
              </a:rPr>
              <a:t>}</a:t>
            </a:r>
            <a:endParaRPr sz="1400">
              <a:latin typeface="Arial" panose="020B0604020202020204" pitchFamily="34" charset="0"/>
              <a:cs typeface="Arial" panose="020B0604020202020204" pitchFamily="34" charset="0"/>
            </a:endParaRPr>
          </a:p>
        </p:txBody>
      </p:sp>
      <p:sp>
        <p:nvSpPr>
          <p:cNvPr id="24" name="object 12"/>
          <p:cNvSpPr/>
          <p:nvPr/>
        </p:nvSpPr>
        <p:spPr>
          <a:xfrm>
            <a:off x="5403202" y="3641140"/>
            <a:ext cx="1893570" cy="215265"/>
          </a:xfrm>
          <a:custGeom>
            <a:avLst/>
            <a:gdLst/>
            <a:ahLst/>
            <a:cxnLst/>
            <a:rect l="l" t="t" r="r" b="b"/>
            <a:pathLst>
              <a:path w="1893570" h="215264">
                <a:moveTo>
                  <a:pt x="86651" y="28550"/>
                </a:moveTo>
                <a:lnTo>
                  <a:pt x="84266" y="55752"/>
                </a:lnTo>
                <a:lnTo>
                  <a:pt x="84157" y="56991"/>
                </a:lnTo>
                <a:lnTo>
                  <a:pt x="1891029" y="214756"/>
                </a:lnTo>
                <a:lnTo>
                  <a:pt x="1893570" y="186309"/>
                </a:lnTo>
                <a:lnTo>
                  <a:pt x="86651" y="28550"/>
                </a:lnTo>
                <a:close/>
              </a:path>
              <a:path w="1893570" h="215264">
                <a:moveTo>
                  <a:pt x="89154" y="0"/>
                </a:moveTo>
                <a:lnTo>
                  <a:pt x="0" y="35305"/>
                </a:lnTo>
                <a:lnTo>
                  <a:pt x="81661" y="85471"/>
                </a:lnTo>
                <a:lnTo>
                  <a:pt x="84157" y="56991"/>
                </a:lnTo>
                <a:lnTo>
                  <a:pt x="69976" y="55752"/>
                </a:lnTo>
                <a:lnTo>
                  <a:pt x="72284" y="28550"/>
                </a:lnTo>
                <a:lnTo>
                  <a:pt x="72389" y="27304"/>
                </a:lnTo>
                <a:lnTo>
                  <a:pt x="86760" y="27304"/>
                </a:lnTo>
                <a:lnTo>
                  <a:pt x="89154" y="0"/>
                </a:lnTo>
                <a:close/>
              </a:path>
              <a:path w="1893570" h="215264">
                <a:moveTo>
                  <a:pt x="72389" y="27304"/>
                </a:moveTo>
                <a:lnTo>
                  <a:pt x="69976" y="55752"/>
                </a:lnTo>
                <a:lnTo>
                  <a:pt x="84157" y="56991"/>
                </a:lnTo>
                <a:lnTo>
                  <a:pt x="86651" y="28550"/>
                </a:lnTo>
                <a:lnTo>
                  <a:pt x="72389" y="27304"/>
                </a:lnTo>
                <a:close/>
              </a:path>
              <a:path w="1893570" h="215264">
                <a:moveTo>
                  <a:pt x="86760" y="27304"/>
                </a:moveTo>
                <a:lnTo>
                  <a:pt x="72389" y="27304"/>
                </a:lnTo>
                <a:lnTo>
                  <a:pt x="86651" y="28550"/>
                </a:lnTo>
                <a:lnTo>
                  <a:pt x="86760" y="27304"/>
                </a:lnTo>
                <a:close/>
              </a:path>
            </a:pathLst>
          </a:custGeom>
          <a:solidFill>
            <a:srgbClr val="3E6DC3"/>
          </a:solidFill>
        </p:spPr>
        <p:txBody>
          <a:bodyPr wrap="square" lIns="0" tIns="0" rIns="0" bIns="0" rtlCol="0"/>
          <a:lstStyle>
            <a:defPPr>
              <a:defRPr kern="0"/>
            </a:defPPr>
          </a:lstStyle>
          <a:p>
            <a:endParaRPr>
              <a:latin typeface="Arial" panose="020B0604020202020204" pitchFamily="34" charset="0"/>
            </a:endParaRPr>
          </a:p>
        </p:txBody>
      </p:sp>
      <p:sp>
        <p:nvSpPr>
          <p:cNvPr id="25" name="object 13"/>
          <p:cNvSpPr txBox="1"/>
          <p:nvPr/>
        </p:nvSpPr>
        <p:spPr>
          <a:xfrm>
            <a:off x="7295502" y="2933750"/>
            <a:ext cx="4335145" cy="1804670"/>
          </a:xfrm>
          <a:prstGeom prst="rect">
            <a:avLst/>
          </a:prstGeom>
          <a:ln w="25400">
            <a:solidFill>
              <a:srgbClr val="4471C4"/>
            </a:solidFill>
          </a:ln>
        </p:spPr>
        <p:txBody>
          <a:bodyPr vert="horz" wrap="square" lIns="0" tIns="40640" rIns="0" bIns="0" rtlCol="0">
            <a:spAutoFit/>
          </a:bodyPr>
          <a:lstStyle>
            <a:defPPr>
              <a:defRPr kern="0"/>
            </a:defPPr>
          </a:lstStyle>
          <a:p>
            <a:pPr marL="378460" marR="211455" indent="-287020">
              <a:lnSpc>
                <a:spcPct val="100000"/>
              </a:lnSpc>
              <a:spcBef>
                <a:spcPts val="320"/>
              </a:spcBef>
              <a:buFont typeface="Arial" panose="020B0604020202020204"/>
              <a:buChar char="•"/>
              <a:tabLst>
                <a:tab pos="378460" algn="l"/>
              </a:tabLst>
            </a:pPr>
            <a:r>
              <a:rPr lang="en-US" altLang="en-US" sz="1400" i="1" dirty="0">
                <a:solidFill>
                  <a:schemeClr val="bg2">
                    <a:lumMod val="10000"/>
                  </a:schemeClr>
                </a:solidFill>
                <a:latin typeface="Arial" panose="020B0604020202020204"/>
                <a:cs typeface="Arial" panose="020B0604020202020204"/>
              </a:rPr>
              <a:t>MyHomePage is similar to MyApp except it returns a Scaffold Widget.</a:t>
            </a:r>
            <a:endParaRPr lang="en-US" altLang="en-US" sz="1400" i="1" dirty="0">
              <a:solidFill>
                <a:schemeClr val="bg2">
                  <a:lumMod val="10000"/>
                </a:schemeClr>
              </a:solidFill>
              <a:latin typeface="Arial" panose="020B0604020202020204"/>
              <a:cs typeface="Arial" panose="020B0604020202020204"/>
            </a:endParaRPr>
          </a:p>
          <a:p>
            <a:pPr marL="378460" marR="211455" indent="-287020">
              <a:lnSpc>
                <a:spcPct val="100000"/>
              </a:lnSpc>
              <a:spcBef>
                <a:spcPts val="320"/>
              </a:spcBef>
              <a:buFont typeface="Arial" panose="020B0604020202020204"/>
              <a:buChar char="•"/>
              <a:tabLst>
                <a:tab pos="378460" algn="l"/>
              </a:tabLst>
            </a:pPr>
            <a:r>
              <a:rPr lang="en-US" altLang="en-US" sz="1400" spc="-10" dirty="0">
                <a:solidFill>
                  <a:schemeClr val="bg2">
                    <a:lumMod val="10000"/>
                  </a:schemeClr>
                </a:solidFill>
                <a:latin typeface="Arial" panose="020B0604020202020204"/>
                <a:cs typeface="Arial" panose="020B0604020202020204"/>
              </a:rPr>
              <a:t>Scaffold is a top level widget that stands behind the MaterialApp widget and is used to create material design UI</a:t>
            </a:r>
            <a:r>
              <a:rPr sz="1400" spc="-10" dirty="0">
                <a:solidFill>
                  <a:schemeClr val="bg2">
                    <a:lumMod val="10000"/>
                  </a:schemeClr>
                </a:solidFill>
                <a:latin typeface="Arial" panose="020B0604020202020204"/>
                <a:cs typeface="Arial" panose="020B0604020202020204"/>
              </a:rPr>
              <a:t>.</a:t>
            </a:r>
            <a:endParaRPr sz="1400" dirty="0">
              <a:solidFill>
                <a:schemeClr val="bg2">
                  <a:lumMod val="10000"/>
                </a:schemeClr>
              </a:solidFill>
              <a:latin typeface="Arial" panose="020B0604020202020204"/>
              <a:cs typeface="Arial" panose="020B0604020202020204"/>
            </a:endParaRPr>
          </a:p>
          <a:p>
            <a:pPr marL="378460" indent="-286385">
              <a:lnSpc>
                <a:spcPct val="100000"/>
              </a:lnSpc>
              <a:buChar char="•"/>
              <a:tabLst>
                <a:tab pos="378460" algn="l"/>
              </a:tabLst>
            </a:pPr>
            <a:r>
              <a:rPr lang="en-US" altLang="en-US" sz="1400" dirty="0">
                <a:solidFill>
                  <a:schemeClr val="bg2">
                    <a:lumMod val="10000"/>
                  </a:schemeClr>
                </a:solidFill>
                <a:latin typeface="Arial" panose="020B0604020202020204"/>
                <a:cs typeface="Arial" panose="020B0604020202020204"/>
              </a:rPr>
              <a:t>It has two most important properties appBar to display the top of the application and body to display the main content of the application.</a:t>
            </a:r>
            <a:endParaRPr lang="en-US" altLang="en-US" sz="1400" dirty="0">
              <a:solidFill>
                <a:schemeClr val="bg2">
                  <a:lumMod val="10000"/>
                </a:schemeClr>
              </a:solidFill>
              <a:latin typeface="Arial" panose="020B0604020202020204"/>
              <a:cs typeface="Arial" panose="020B0604020202020204"/>
            </a:endParaRPr>
          </a:p>
        </p:txBody>
      </p:sp>
      <p:sp>
        <p:nvSpPr>
          <p:cNvPr id="26" name="object 14"/>
          <p:cNvSpPr txBox="1"/>
          <p:nvPr/>
        </p:nvSpPr>
        <p:spPr>
          <a:xfrm>
            <a:off x="6143992" y="5119268"/>
            <a:ext cx="5486400" cy="1201420"/>
          </a:xfrm>
          <a:prstGeom prst="rect">
            <a:avLst/>
          </a:prstGeom>
          <a:solidFill>
            <a:srgbClr val="FFFFFF"/>
          </a:solidFill>
          <a:ln w="25400">
            <a:solidFill>
              <a:srgbClr val="4471C4"/>
            </a:solidFill>
          </a:ln>
        </p:spPr>
        <p:txBody>
          <a:bodyPr vert="horz" wrap="square" lIns="0" tIns="41275" rIns="0" bIns="0" rtlCol="0">
            <a:spAutoFit/>
          </a:bodyPr>
          <a:lstStyle>
            <a:defPPr>
              <a:defRPr kern="0"/>
            </a:defPPr>
          </a:lstStyle>
          <a:p>
            <a:pPr marL="92075" marR="309880">
              <a:lnSpc>
                <a:spcPct val="100000"/>
              </a:lnSpc>
              <a:spcBef>
                <a:spcPts val="325"/>
              </a:spcBef>
            </a:pPr>
            <a:r>
              <a:rPr lang="en-US" altLang="en-US" sz="1400">
                <a:solidFill>
                  <a:schemeClr val="bg2">
                    <a:lumMod val="10000"/>
                  </a:schemeClr>
                </a:solidFill>
                <a:latin typeface="Arial" panose="020B0604020202020204"/>
                <a:cs typeface="Arial" panose="020B0604020202020204"/>
              </a:rPr>
              <a:t>AppBar is another widget to create the front end of the application and uses the properties of appBar.</a:t>
            </a:r>
            <a:endParaRPr lang="en-US" altLang="en-US" sz="1400">
              <a:solidFill>
                <a:schemeClr val="bg2">
                  <a:lumMod val="10000"/>
                </a:schemeClr>
              </a:solidFill>
              <a:latin typeface="Arial" panose="020B0604020202020204"/>
              <a:cs typeface="Arial" panose="020B0604020202020204"/>
            </a:endParaRPr>
          </a:p>
          <a:p>
            <a:pPr marL="92075" marR="309880">
              <a:lnSpc>
                <a:spcPct val="100000"/>
              </a:lnSpc>
              <a:spcBef>
                <a:spcPts val="325"/>
              </a:spcBef>
            </a:pPr>
            <a:r>
              <a:rPr lang="en-US" altLang="en-US" sz="1400">
                <a:solidFill>
                  <a:schemeClr val="bg2">
                    <a:lumMod val="10000"/>
                  </a:schemeClr>
                </a:solidFill>
                <a:latin typeface="Arial" panose="020B0604020202020204"/>
                <a:cs typeface="Arial" panose="020B0604020202020204"/>
              </a:rPr>
              <a:t>In the properties of the body, we use a</a:t>
            </a:r>
            <a:endParaRPr lang="en-US" altLang="en-US" sz="1400">
              <a:solidFill>
                <a:schemeClr val="bg2">
                  <a:lumMod val="10000"/>
                </a:schemeClr>
              </a:solidFill>
              <a:latin typeface="Arial" panose="020B0604020202020204"/>
              <a:cs typeface="Arial" panose="020B0604020202020204"/>
            </a:endParaRPr>
          </a:p>
          <a:p>
            <a:pPr marL="92075" marR="309880">
              <a:lnSpc>
                <a:spcPct val="100000"/>
              </a:lnSpc>
              <a:spcBef>
                <a:spcPts val="325"/>
              </a:spcBef>
            </a:pPr>
            <a:r>
              <a:rPr lang="en-US" altLang="en-US" sz="1400">
                <a:solidFill>
                  <a:schemeClr val="bg2">
                    <a:lumMod val="10000"/>
                  </a:schemeClr>
                </a:solidFill>
                <a:latin typeface="Arial" panose="020B0604020202020204"/>
                <a:cs typeface="Arial" panose="020B0604020202020204"/>
              </a:rPr>
              <a:t>Center widget, which is a child widget. Text is the last widget, popular for displaying a text in the middle of the screen</a:t>
            </a:r>
            <a:endParaRPr lang="en-US" altLang="en-US" sz="1400">
              <a:solidFill>
                <a:schemeClr val="bg2">
                  <a:lumMod val="10000"/>
                </a:schemeClr>
              </a:solidFill>
              <a:latin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8122722" y="2398680"/>
            <a:ext cx="6507678" cy="3088605"/>
          </a:xfrm>
          <a:prstGeom prst="rect">
            <a:avLst/>
          </a:prstGeom>
        </p:spPr>
      </p:pic>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Flutter Widgets</a:t>
            </a:r>
            <a:endParaRPr lang="en-US" sz="3600" dirty="0">
              <a:solidFill>
                <a:schemeClr val="bg1"/>
              </a:solidFill>
              <a:latin typeface="Arial" panose="020B0604020202020204" pitchFamily="34" charset="0"/>
            </a:endParaRPr>
          </a:p>
        </p:txBody>
      </p:sp>
      <p:sp>
        <p:nvSpPr>
          <p:cNvPr id="3" name="object 3"/>
          <p:cNvSpPr txBox="1"/>
          <p:nvPr/>
        </p:nvSpPr>
        <p:spPr>
          <a:xfrm>
            <a:off x="202411" y="2620533"/>
            <a:ext cx="8128634" cy="3938905"/>
          </a:xfrm>
          <a:prstGeom prst="rect">
            <a:avLst/>
          </a:prstGeom>
        </p:spPr>
        <p:txBody>
          <a:bodyPr vert="horz" wrap="square" lIns="0" tIns="12065" rIns="0" bIns="0" rtlCol="0">
            <a:spAutoFit/>
          </a:bodyPr>
          <a:lstStyle>
            <a:defPPr>
              <a:defRPr kern="0"/>
            </a:defPPr>
          </a:lstStyle>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800">
                <a:latin typeface="Arial" panose="020B0604020202020204" pitchFamily="34" charset="0"/>
                <a:cs typeface="Arial" panose="020B0604020202020204" pitchFamily="34" charset="0"/>
              </a:rPr>
              <a:t>Widgets are the basic building blocks of Flutter UIs</a:t>
            </a:r>
            <a:endParaRPr lang="en-US" altLang="en-US" sz="2800">
              <a:latin typeface="Arial" panose="020B0604020202020204" pitchFamily="34" charset="0"/>
              <a:cs typeface="Arial" panose="020B0604020202020204" pitchFamily="34" charset="0"/>
            </a:endParaRPr>
          </a:p>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800">
                <a:latin typeface="Arial" panose="020B0604020202020204" pitchFamily="34" charset="0"/>
                <a:cs typeface="Arial" panose="020B0604020202020204" pitchFamily="34" charset="0"/>
              </a:rPr>
              <a:t>Every app is a top-level widget with one or more child widgets</a:t>
            </a:r>
            <a:endParaRPr lang="en-US" altLang="en-US" sz="2800">
              <a:latin typeface="Arial" panose="020B0604020202020204" pitchFamily="34" charset="0"/>
              <a:cs typeface="Arial" panose="020B0604020202020204" pitchFamily="34" charset="0"/>
            </a:endParaRPr>
          </a:p>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800">
                <a:latin typeface="Arial" panose="020B0604020202020204" pitchFamily="34" charset="0"/>
                <a:cs typeface="Arial" panose="020B0604020202020204" pitchFamily="34" charset="0"/>
              </a:rPr>
              <a:t>Each child can contain more widgets, forming a hierarchical tree</a:t>
            </a:r>
            <a:endParaRPr lang="en-US" altLang="en-US" sz="2800">
              <a:latin typeface="Arial" panose="020B0604020202020204" pitchFamily="34" charset="0"/>
              <a:cs typeface="Arial" panose="020B0604020202020204" pitchFamily="34" charset="0"/>
            </a:endParaRPr>
          </a:p>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800">
                <a:latin typeface="Arial" panose="020B0604020202020204" pitchFamily="34" charset="0"/>
                <a:cs typeface="Arial" panose="020B0604020202020204" pitchFamily="34" charset="0"/>
              </a:rPr>
              <a:t>This structure allows building complex UIs flexibly</a:t>
            </a:r>
            <a:endParaRPr lang="en-US" altLang="en-US" sz="2800">
              <a:latin typeface="Arial" panose="020B0604020202020204" pitchFamily="34" charset="0"/>
              <a:cs typeface="Arial" panose="020B0604020202020204" pitchFamily="34" charset="0"/>
            </a:endParaRPr>
          </a:p>
          <a:p>
            <a:pPr marL="469265" marR="5080" indent="-457200">
              <a:lnSpc>
                <a:spcPct val="100000"/>
              </a:lnSpc>
              <a:spcBef>
                <a:spcPts val="95"/>
              </a:spcBef>
              <a:buSzPct val="71000"/>
              <a:buFont typeface="Arial" panose="020B0604020202020204" pitchFamily="34" charset="0"/>
              <a:buChar char="•"/>
              <a:tabLst>
                <a:tab pos="367665" algn="l"/>
              </a:tabLst>
            </a:pPr>
            <a:endParaRPr lang="en-US" altLang="en-US" sz="280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Flutter Widgets</a:t>
            </a:r>
            <a:endParaRPr lang="en-US" sz="3600" dirty="0">
              <a:solidFill>
                <a:schemeClr val="bg1"/>
              </a:solidFill>
              <a:latin typeface="Arial" panose="020B0604020202020204" pitchFamily="34" charset="0"/>
            </a:endParaRPr>
          </a:p>
        </p:txBody>
      </p:sp>
      <p:sp>
        <p:nvSpPr>
          <p:cNvPr id="6" name="object 3"/>
          <p:cNvSpPr txBox="1"/>
          <p:nvPr/>
        </p:nvSpPr>
        <p:spPr>
          <a:xfrm>
            <a:off x="979545" y="2042711"/>
            <a:ext cx="5283493" cy="3014980"/>
          </a:xfrm>
          <a:prstGeom prst="rect">
            <a:avLst/>
          </a:prstGeom>
        </p:spPr>
        <p:txBody>
          <a:bodyPr vert="horz" wrap="square" lIns="0" tIns="12065" rIns="0" bIns="0" rtlCol="0">
            <a:spAutoFit/>
          </a:bodyPr>
          <a:lstStyle/>
          <a:p>
            <a:pPr marL="367665" indent="-354965">
              <a:lnSpc>
                <a:spcPct val="100000"/>
              </a:lnSpc>
              <a:spcBef>
                <a:spcPts val="95"/>
              </a:spcBef>
              <a:buSzPct val="71000"/>
              <a:buFont typeface="Arial" panose="020B0604020202020204"/>
              <a:buChar char="▪"/>
              <a:tabLst>
                <a:tab pos="367665" algn="l"/>
              </a:tabLst>
            </a:pPr>
            <a:r>
              <a:rPr lang="en-US" altLang="en-US" sz="2400" dirty="0">
                <a:latin typeface="Arial" panose="020B0604020202020204" pitchFamily="34" charset="0"/>
                <a:cs typeface="Arial" panose="020B0604020202020204" pitchFamily="34" charset="0"/>
              </a:rPr>
              <a:t>Widgets can be:</a:t>
            </a:r>
            <a:endParaRPr lang="en-US" altLang="en-US" sz="2400" dirty="0">
              <a:latin typeface="Arial" panose="020B0604020202020204" pitchFamily="34" charset="0"/>
              <a:cs typeface="Arial" panose="020B0604020202020204" pitchFamily="34" charset="0"/>
            </a:endParaRPr>
          </a:p>
          <a:p>
            <a:pPr marL="824865" lvl="1" indent="-354965">
              <a:lnSpc>
                <a:spcPct val="100000"/>
              </a:lnSpc>
              <a:spcBef>
                <a:spcPts val="95"/>
              </a:spcBef>
              <a:buSzPct val="71000"/>
              <a:buFont typeface="Arial" panose="020B0604020202020204"/>
              <a:buChar char="▪"/>
              <a:tabLst>
                <a:tab pos="367665" algn="l"/>
              </a:tabLst>
            </a:pPr>
            <a:r>
              <a:rPr lang="en-US" altLang="en-US" sz="2400" dirty="0">
                <a:latin typeface="Arial" panose="020B0604020202020204" pitchFamily="34" charset="0"/>
                <a:cs typeface="Arial" panose="020B0604020202020204" pitchFamily="34" charset="0"/>
              </a:rPr>
              <a:t>Structural elements (e.g., buttons, menus)</a:t>
            </a:r>
            <a:endParaRPr lang="en-US" altLang="en-US" sz="2400" dirty="0">
              <a:latin typeface="Arial" panose="020B0604020202020204" pitchFamily="34" charset="0"/>
              <a:cs typeface="Arial" panose="020B0604020202020204" pitchFamily="34" charset="0"/>
            </a:endParaRPr>
          </a:p>
          <a:p>
            <a:pPr marL="824865" lvl="1" indent="-354965">
              <a:lnSpc>
                <a:spcPct val="100000"/>
              </a:lnSpc>
              <a:spcBef>
                <a:spcPts val="95"/>
              </a:spcBef>
              <a:buSzPct val="71000"/>
              <a:buFont typeface="Arial" panose="020B0604020202020204"/>
              <a:buChar char="▪"/>
              <a:tabLst>
                <a:tab pos="367665" algn="l"/>
              </a:tabLst>
            </a:pPr>
            <a:r>
              <a:rPr lang="en-US" altLang="en-US" sz="2400" dirty="0">
                <a:latin typeface="Arial" panose="020B0604020202020204" pitchFamily="34" charset="0"/>
                <a:cs typeface="Arial" panose="020B0604020202020204" pitchFamily="34" charset="0"/>
              </a:rPr>
              <a:t>Styling elements (themes, styles, fonts)</a:t>
            </a:r>
            <a:endParaRPr lang="en-US" altLang="en-US" sz="2400" dirty="0">
              <a:latin typeface="Arial" panose="020B0604020202020204" pitchFamily="34" charset="0"/>
              <a:cs typeface="Arial" panose="020B0604020202020204" pitchFamily="34" charset="0"/>
            </a:endParaRPr>
          </a:p>
          <a:p>
            <a:pPr marL="824865" lvl="1" indent="-354965">
              <a:lnSpc>
                <a:spcPct val="100000"/>
              </a:lnSpc>
              <a:spcBef>
                <a:spcPts val="95"/>
              </a:spcBef>
              <a:buSzPct val="71000"/>
              <a:buFont typeface="Arial" panose="020B0604020202020204"/>
              <a:buChar char="▪"/>
              <a:tabLst>
                <a:tab pos="367665" algn="l"/>
              </a:tabLst>
            </a:pPr>
            <a:r>
              <a:rPr lang="en-US" altLang="en-US" sz="2400" dirty="0">
                <a:latin typeface="Arial" panose="020B0604020202020204" pitchFamily="34" charset="0"/>
                <a:cs typeface="Arial" panose="020B0604020202020204" pitchFamily="34" charset="0"/>
              </a:rPr>
              <a:t>Layout elements (padding, center, etc.)</a:t>
            </a:r>
            <a:endParaRPr lang="en-US" altLang="en-US" sz="2400" dirty="0">
              <a:latin typeface="Arial" panose="020B0604020202020204" pitchFamily="34" charset="0"/>
              <a:cs typeface="Arial" panose="020B0604020202020204" pitchFamily="34" charset="0"/>
            </a:endParaRPr>
          </a:p>
          <a:p>
            <a:pPr marL="824865" lvl="1" indent="-354965">
              <a:lnSpc>
                <a:spcPct val="100000"/>
              </a:lnSpc>
              <a:spcBef>
                <a:spcPts val="95"/>
              </a:spcBef>
              <a:buSzPct val="71000"/>
              <a:buFont typeface="Arial" panose="020B0604020202020204"/>
              <a:buChar char="▪"/>
              <a:tabLst>
                <a:tab pos="367665" algn="l"/>
              </a:tabLst>
            </a:pPr>
            <a:r>
              <a:rPr lang="en-US" altLang="en-US" sz="2400" dirty="0">
                <a:latin typeface="Arial" panose="020B0604020202020204" pitchFamily="34" charset="0"/>
                <a:cs typeface="Arial" panose="020B0604020202020204" pitchFamily="34" charset="0"/>
              </a:rPr>
              <a:t>And more...</a:t>
            </a:r>
            <a:endParaRPr lang="en-US" altLang="en-US" sz="2400" dirty="0">
              <a:latin typeface="Arial" panose="020B0604020202020204" pitchFamily="34" charset="0"/>
              <a:cs typeface="Arial" panose="020B0604020202020204" pitchFamily="34" charset="0"/>
            </a:endParaRPr>
          </a:p>
        </p:txBody>
      </p:sp>
      <p:pic>
        <p:nvPicPr>
          <p:cNvPr id="7" name="object 4"/>
          <p:cNvPicPr/>
          <p:nvPr/>
        </p:nvPicPr>
        <p:blipFill>
          <a:blip r:embed="rId1" cstate="print"/>
          <a:stretch>
            <a:fillRect/>
          </a:stretch>
        </p:blipFill>
        <p:spPr>
          <a:xfrm>
            <a:off x="6648933" y="2042711"/>
            <a:ext cx="5345557" cy="38063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Flutter Widgets</a:t>
            </a:r>
            <a:endParaRPr lang="en-US" sz="3600" dirty="0">
              <a:solidFill>
                <a:schemeClr val="bg1"/>
              </a:solidFill>
              <a:latin typeface="Arial" panose="020B0604020202020204" pitchFamily="34" charset="0"/>
            </a:endParaRPr>
          </a:p>
        </p:txBody>
      </p:sp>
      <p:sp>
        <p:nvSpPr>
          <p:cNvPr id="3" name="object 3"/>
          <p:cNvSpPr txBox="1"/>
          <p:nvPr/>
        </p:nvSpPr>
        <p:spPr>
          <a:xfrm>
            <a:off x="1319530" y="2209165"/>
            <a:ext cx="4772660" cy="1735455"/>
          </a:xfrm>
          <a:prstGeom prst="rect">
            <a:avLst/>
          </a:prstGeom>
        </p:spPr>
        <p:txBody>
          <a:bodyPr vert="horz" wrap="square" lIns="0" tIns="12065" rIns="0" bIns="0" rtlCol="0">
            <a:spAutoFit/>
          </a:bodyPr>
          <a:lstStyle/>
          <a:p>
            <a:pPr marL="367665" marR="5080" indent="-355600">
              <a:lnSpc>
                <a:spcPct val="100000"/>
              </a:lnSpc>
              <a:spcBef>
                <a:spcPts val="95"/>
              </a:spcBef>
              <a:buSzPct val="71000"/>
              <a:buFont typeface="Arial" panose="020B0604020202020204"/>
              <a:buChar char="▪"/>
              <a:tabLst>
                <a:tab pos="367665" algn="l"/>
              </a:tabLst>
            </a:pPr>
            <a:r>
              <a:rPr lang="en-US" altLang="en-US" sz="2800" dirty="0">
                <a:latin typeface="Arial" panose="020B0604020202020204" pitchFamily="34" charset="0"/>
                <a:cs typeface="Arial" panose="020B0604020202020204" pitchFamily="34" charset="0"/>
              </a:rPr>
              <a:t>Structure of the widget tree for the "Hello World" example (previously illustrated)</a:t>
            </a:r>
            <a:endParaRPr lang="en-US" altLang="en-US" sz="2800" dirty="0">
              <a:latin typeface="Arial" panose="020B0604020202020204" pitchFamily="34" charset="0"/>
              <a:cs typeface="Arial" panose="020B0604020202020204" pitchFamily="34" charset="0"/>
            </a:endParaRPr>
          </a:p>
        </p:txBody>
      </p:sp>
      <p:pic>
        <p:nvPicPr>
          <p:cNvPr id="5" name="object 4"/>
          <p:cNvPicPr/>
          <p:nvPr/>
        </p:nvPicPr>
        <p:blipFill>
          <a:blip r:embed="rId1" cstate="print"/>
          <a:stretch>
            <a:fillRect/>
          </a:stretch>
        </p:blipFill>
        <p:spPr>
          <a:xfrm>
            <a:off x="6289032" y="1962636"/>
            <a:ext cx="4465954" cy="49742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Flutter Widgets</a:t>
            </a:r>
            <a:endParaRPr lang="en-US" sz="3600" dirty="0">
              <a:solidFill>
                <a:schemeClr val="bg1"/>
              </a:solidFill>
              <a:latin typeface="Arial" panose="020B0604020202020204" pitchFamily="34" charset="0"/>
            </a:endParaRPr>
          </a:p>
        </p:txBody>
      </p:sp>
      <p:sp>
        <p:nvSpPr>
          <p:cNvPr id="6" name="object 3"/>
          <p:cNvSpPr txBox="1"/>
          <p:nvPr/>
        </p:nvSpPr>
        <p:spPr>
          <a:xfrm>
            <a:off x="2190939" y="1549605"/>
            <a:ext cx="9251644" cy="3385820"/>
          </a:xfrm>
          <a:prstGeom prst="rect">
            <a:avLst/>
          </a:prstGeom>
        </p:spPr>
        <p:txBody>
          <a:bodyPr vert="horz" wrap="square" lIns="0" tIns="12700" rIns="0" bIns="0" rtlCol="0">
            <a:spAutoFit/>
          </a:bodyPr>
          <a:lstStyle/>
          <a:p>
            <a:pPr marL="355600" indent="-342900">
              <a:lnSpc>
                <a:spcPct val="100000"/>
              </a:lnSpc>
              <a:spcBef>
                <a:spcPts val="100"/>
              </a:spcBef>
              <a:buSzPct val="83000"/>
              <a:buFont typeface="Arial" panose="020B0604020202020204" pitchFamily="34" charset="0"/>
              <a:buChar char="•"/>
              <a:tabLst>
                <a:tab pos="367665" algn="l"/>
              </a:tabLst>
            </a:pPr>
            <a:r>
              <a:rPr lang="en-US" altLang="en-US" sz="2400" dirty="0">
                <a:latin typeface="+mj-lt"/>
                <a:cs typeface="Arial" panose="020B0604020202020204" pitchFamily="34" charset="0"/>
              </a:rPr>
              <a:t>Flutter's approach to rendering user interfaces is declarative.</a:t>
            </a:r>
            <a:endParaRPr lang="en-US" altLang="en-US" sz="2400" dirty="0">
              <a:latin typeface="+mj-lt"/>
              <a:cs typeface="Arial" panose="020B0604020202020204" pitchFamily="34" charset="0"/>
            </a:endParaRPr>
          </a:p>
          <a:p>
            <a:pPr marL="355600" indent="-342900">
              <a:lnSpc>
                <a:spcPct val="100000"/>
              </a:lnSpc>
              <a:spcBef>
                <a:spcPts val="100"/>
              </a:spcBef>
              <a:buSzPct val="83000"/>
              <a:buFont typeface="Arial" panose="020B0604020202020204" pitchFamily="34" charset="0"/>
              <a:buChar char="•"/>
              <a:tabLst>
                <a:tab pos="367665" algn="l"/>
              </a:tabLst>
            </a:pPr>
            <a:r>
              <a:rPr lang="en-US" altLang="en-US" sz="2400" dirty="0" err="1">
                <a:latin typeface="Arial" panose="020B0604020202020204" pitchFamily="34" charset="0"/>
                <a:cs typeface="Arial" panose="020B0604020202020204" pitchFamily="34" charset="0"/>
              </a:rPr>
              <a:t>Widgets declare their appearance based on input configuration (properties) and internal state</a:t>
            </a:r>
            <a:endParaRPr lang="en-US" altLang="en-US" sz="2400" dirty="0" err="1">
              <a:latin typeface="Arial" panose="020B0604020202020204" pitchFamily="34" charset="0"/>
              <a:cs typeface="Arial" panose="020B0604020202020204" pitchFamily="34" charset="0"/>
            </a:endParaRPr>
          </a:p>
          <a:p>
            <a:pPr marL="355600" indent="-342900">
              <a:lnSpc>
                <a:spcPct val="100000"/>
              </a:lnSpc>
              <a:spcBef>
                <a:spcPts val="100"/>
              </a:spcBef>
              <a:buSzPct val="83000"/>
              <a:buFont typeface="Arial" panose="020B0604020202020204" pitchFamily="34" charset="0"/>
              <a:buChar char="•"/>
              <a:tabLst>
                <a:tab pos="367665" algn="l"/>
              </a:tabLst>
            </a:pPr>
            <a:r>
              <a:rPr lang="en-US" altLang="en-US" sz="2400" dirty="0">
                <a:latin typeface="Arial" panose="020B0604020202020204" pitchFamily="34" charset="0"/>
                <a:cs typeface="Arial" panose="020B0604020202020204" pitchFamily="34" charset="0"/>
              </a:rPr>
              <a:t>Advantage: UI is rebuilt when state changes, ensuring consistent display</a:t>
            </a:r>
            <a:endParaRPr lang="en-US" altLang="en-US" sz="2400" dirty="0">
              <a:latin typeface="Arial" panose="020B0604020202020204" pitchFamily="34" charset="0"/>
              <a:cs typeface="Arial" panose="020B0604020202020204" pitchFamily="34" charset="0"/>
            </a:endParaRPr>
          </a:p>
          <a:p>
            <a:pPr marL="355600" indent="-342900">
              <a:lnSpc>
                <a:spcPct val="100000"/>
              </a:lnSpc>
              <a:spcBef>
                <a:spcPts val="100"/>
              </a:spcBef>
              <a:buSzPct val="83000"/>
              <a:buFont typeface="Arial" panose="020B0604020202020204" pitchFamily="34" charset="0"/>
              <a:buChar char="•"/>
              <a:tabLst>
                <a:tab pos="367665" algn="l"/>
              </a:tabLst>
            </a:pPr>
            <a:r>
              <a:rPr lang="en-US" altLang="en-US" sz="2400" dirty="0">
                <a:latin typeface="Arial" panose="020B0604020202020204" pitchFamily="34" charset="0"/>
                <a:cs typeface="Arial" panose="020B0604020202020204" pitchFamily="34" charset="0"/>
              </a:rPr>
              <a:t>Developers only need to describe what the UI should look like for a given state</a:t>
            </a:r>
            <a:endParaRPr lang="en-US" altLang="en-US" sz="2400" dirty="0">
              <a:latin typeface="Arial" panose="020B0604020202020204" pitchFamily="34" charset="0"/>
              <a:cs typeface="Arial" panose="020B0604020202020204" pitchFamily="34" charset="0"/>
            </a:endParaRPr>
          </a:p>
          <a:p>
            <a:pPr marL="355600" indent="-342900">
              <a:lnSpc>
                <a:spcPct val="100000"/>
              </a:lnSpc>
              <a:spcBef>
                <a:spcPts val="100"/>
              </a:spcBef>
              <a:buSzPct val="83000"/>
              <a:buFont typeface="Arial" panose="020B0604020202020204" pitchFamily="34" charset="0"/>
              <a:buChar char="•"/>
              <a:tabLst>
                <a:tab pos="367665" algn="l"/>
              </a:tabLst>
            </a:pPr>
            <a:endParaRPr lang="en-US" altLang="en-US" sz="2400" dirty="0">
              <a:latin typeface="Arial" panose="020B0604020202020204" pitchFamily="34" charset="0"/>
              <a:cs typeface="Arial" panose="020B0604020202020204" pitchFamily="34" charset="0"/>
            </a:endParaRPr>
          </a:p>
          <a:p>
            <a:pPr marL="355600" indent="-342900">
              <a:lnSpc>
                <a:spcPts val="2865"/>
              </a:lnSpc>
              <a:buSzPct val="83000"/>
              <a:buFont typeface="Arial" panose="020B0604020202020204" pitchFamily="34" charset="0"/>
              <a:buChar char="•"/>
              <a:tabLst>
                <a:tab pos="367665" algn="l"/>
              </a:tabLst>
            </a:pPr>
            <a:r>
              <a:rPr lang="en-US" altLang="en-US" sz="2400" dirty="0">
                <a:latin typeface="Arial" panose="020B0604020202020204" pitchFamily="34" charset="0"/>
                <a:cs typeface="Arial" panose="020B0604020202020204" pitchFamily="34" charset="0"/>
              </a:rPr>
              <a:t>UI Formula:</a:t>
            </a:r>
            <a:endParaRPr lang="en-US" altLang="en-US" sz="2400" dirty="0">
              <a:latin typeface="Arial" panose="020B0604020202020204" pitchFamily="34" charset="0"/>
              <a:cs typeface="Arial" panose="020B0604020202020204" pitchFamily="34" charset="0"/>
            </a:endParaRPr>
          </a:p>
        </p:txBody>
      </p:sp>
      <p:pic>
        <p:nvPicPr>
          <p:cNvPr id="7" name="object 4"/>
          <p:cNvPicPr/>
          <p:nvPr/>
        </p:nvPicPr>
        <p:blipFill>
          <a:blip r:embed="rId1" cstate="print"/>
          <a:stretch>
            <a:fillRect/>
          </a:stretch>
        </p:blipFill>
        <p:spPr>
          <a:xfrm>
            <a:off x="4970397" y="5279693"/>
            <a:ext cx="4168775" cy="14003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Flutter Widgets</a:t>
            </a:r>
            <a:endParaRPr lang="en-US" sz="3600" dirty="0">
              <a:solidFill>
                <a:schemeClr val="bg1"/>
              </a:solidFill>
              <a:latin typeface="Arial" panose="020B0604020202020204" pitchFamily="34" charset="0"/>
            </a:endParaRPr>
          </a:p>
        </p:txBody>
      </p:sp>
      <p:sp>
        <p:nvSpPr>
          <p:cNvPr id="3" name="object 3"/>
          <p:cNvSpPr txBox="1"/>
          <p:nvPr/>
        </p:nvSpPr>
        <p:spPr>
          <a:xfrm>
            <a:off x="1418932" y="1820334"/>
            <a:ext cx="7795973" cy="442595"/>
          </a:xfrm>
          <a:prstGeom prst="rect">
            <a:avLst/>
          </a:prstGeom>
        </p:spPr>
        <p:txBody>
          <a:bodyPr vert="horz" wrap="square" lIns="0" tIns="12065" rIns="0" bIns="0" rtlCol="0">
            <a:spAutoFit/>
          </a:bodyPr>
          <a:lstStyle/>
          <a:p>
            <a:pPr marL="367665" indent="-354965">
              <a:lnSpc>
                <a:spcPct val="100000"/>
              </a:lnSpc>
              <a:spcBef>
                <a:spcPts val="95"/>
              </a:spcBef>
              <a:buSzPct val="71000"/>
              <a:buFont typeface="Arial" panose="020B0604020202020204"/>
              <a:buChar char="▪"/>
              <a:tabLst>
                <a:tab pos="367665" algn="l"/>
              </a:tabLst>
            </a:pPr>
            <a:r>
              <a:rPr lang="en-US" altLang="en-US" sz="2800">
                <a:latin typeface="Arial" panose="020B0604020202020204" pitchFamily="34" charset="0"/>
                <a:cs typeface="Arial" panose="020B0604020202020204" pitchFamily="34" charset="0"/>
              </a:rPr>
              <a:t>Widget Tree - build() Method Call</a:t>
            </a:r>
            <a:endParaRPr lang="en-US" altLang="en-US" sz="2800">
              <a:latin typeface="Arial" panose="020B0604020202020204" pitchFamily="34" charset="0"/>
              <a:cs typeface="Arial" panose="020B0604020202020204" pitchFamily="34" charset="0"/>
            </a:endParaRPr>
          </a:p>
        </p:txBody>
      </p:sp>
      <p:grpSp>
        <p:nvGrpSpPr>
          <p:cNvPr id="5" name="object 4"/>
          <p:cNvGrpSpPr/>
          <p:nvPr/>
        </p:nvGrpSpPr>
        <p:grpSpPr>
          <a:xfrm>
            <a:off x="1418933" y="2570162"/>
            <a:ext cx="9100820" cy="3089275"/>
            <a:chOff x="43714" y="2379217"/>
            <a:chExt cx="9100820" cy="3089275"/>
          </a:xfrm>
        </p:grpSpPr>
        <p:pic>
          <p:nvPicPr>
            <p:cNvPr id="8" name="object 5"/>
            <p:cNvPicPr/>
            <p:nvPr/>
          </p:nvPicPr>
          <p:blipFill>
            <a:blip r:embed="rId1" cstate="print"/>
            <a:stretch>
              <a:fillRect/>
            </a:stretch>
          </p:blipFill>
          <p:spPr>
            <a:xfrm>
              <a:off x="43714" y="2379217"/>
              <a:ext cx="5418836" cy="3088893"/>
            </a:xfrm>
            <a:prstGeom prst="rect">
              <a:avLst/>
            </a:prstGeom>
          </p:spPr>
        </p:pic>
        <p:pic>
          <p:nvPicPr>
            <p:cNvPr id="9" name="object 6"/>
            <p:cNvPicPr/>
            <p:nvPr/>
          </p:nvPicPr>
          <p:blipFill>
            <a:blip r:embed="rId2" cstate="print"/>
            <a:stretch>
              <a:fillRect/>
            </a:stretch>
          </p:blipFill>
          <p:spPr>
            <a:xfrm>
              <a:off x="5774309" y="2379217"/>
              <a:ext cx="3369691" cy="3088893"/>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a:solidFill>
                  <a:schemeClr val="bg1"/>
                </a:solidFill>
                <a:latin typeface="Arial" panose="020B0604020202020204" pitchFamily="34" charset="0"/>
                <a:ea typeface="Inter Bold" pitchFamily="34" charset="-122"/>
                <a:cs typeface="Arial" panose="020B0604020202020204" pitchFamily="34" charset="0"/>
              </a:rPr>
              <a:t>Stateless Widgets</a:t>
            </a:r>
            <a:endParaRPr lang="en-US" sz="3600" b="1" dirty="0">
              <a:solidFill>
                <a:schemeClr val="bg1"/>
              </a:solidFill>
              <a:latin typeface="Arial" panose="020B0604020202020204" pitchFamily="34" charset="0"/>
              <a:ea typeface="Inter Bold" pitchFamily="34" charset="-122"/>
              <a:cs typeface="Arial" panose="020B0604020202020204" pitchFamily="34" charset="0"/>
            </a:endParaRPr>
          </a:p>
        </p:txBody>
      </p:sp>
      <p:sp>
        <p:nvSpPr>
          <p:cNvPr id="6" name="object 3"/>
          <p:cNvSpPr txBox="1"/>
          <p:nvPr/>
        </p:nvSpPr>
        <p:spPr>
          <a:xfrm>
            <a:off x="432485" y="707658"/>
            <a:ext cx="9677472" cy="4591685"/>
          </a:xfrm>
          <a:prstGeom prst="rect">
            <a:avLst/>
          </a:prstGeom>
        </p:spPr>
        <p:txBody>
          <a:bodyPr vert="horz" wrap="square" lIns="0" tIns="174625" rIns="0" bIns="0" rtlCol="0" anchor="t">
            <a:spAutoFit/>
          </a:bodyPr>
          <a:lstStyle>
            <a:defPPr>
              <a:defRPr kern="0"/>
            </a:defPPr>
          </a:lstStyle>
          <a:p>
            <a:pPr marL="12700" marR="1086485">
              <a:lnSpc>
                <a:spcPts val="1940"/>
              </a:lnSpc>
              <a:spcBef>
                <a:spcPts val="930"/>
              </a:spcBef>
            </a:pPr>
            <a:r>
              <a:rPr lang="en-US" altLang="en-US" sz="2000" spc="-20" dirty="0">
                <a:latin typeface="+mj-lt"/>
                <a:cs typeface="Calibri" panose="020F0502020204030204"/>
              </a:rPr>
              <a:t>These widgets are completely immutable, which are widgets in Flutter whose state never changes after they are created</a:t>
            </a:r>
            <a:r>
              <a:rPr sz="2000" spc="-20" dirty="0">
                <a:latin typeface="+mj-lt"/>
                <a:cs typeface="Calibri" panose="020F0502020204030204"/>
              </a:rPr>
              <a:t>.</a:t>
            </a:r>
            <a:endParaRPr lang="en-US" sz="2000" dirty="0">
              <a:latin typeface="+mj-lt"/>
              <a:cs typeface="Calibri" panose="020F0502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class </a:t>
            </a:r>
            <a:r>
              <a:rPr lang="en-US" sz="1600" spc="-20" dirty="0" err="1">
                <a:solidFill>
                  <a:srgbClr val="D73949"/>
                </a:solidFill>
                <a:latin typeface="+mj-lt"/>
                <a:cs typeface="Consolas" panose="020B0609020204030204"/>
              </a:rPr>
              <a:t>MyStaticText</a:t>
            </a:r>
            <a:r>
              <a:rPr lang="en-US" sz="1600" spc="-20" dirty="0">
                <a:solidFill>
                  <a:srgbClr val="D73949"/>
                </a:solidFill>
                <a:latin typeface="+mj-lt"/>
                <a:cs typeface="Consolas" panose="020B0609020204030204"/>
              </a:rPr>
              <a:t> extends </a:t>
            </a:r>
            <a:r>
              <a:rPr lang="en-US" sz="1600" spc="-20" dirty="0" err="1">
                <a:solidFill>
                  <a:srgbClr val="D73949"/>
                </a:solidFill>
                <a:latin typeface="+mj-lt"/>
                <a:cs typeface="Consolas" panose="020B0609020204030204"/>
              </a:rPr>
              <a:t>StatelessWidget</a:t>
            </a:r>
            <a:r>
              <a:rPr lang="en-US" sz="1600" spc="-20" dirty="0">
                <a:solidFill>
                  <a:srgbClr val="D73949"/>
                </a:solidFill>
                <a:latin typeface="+mj-lt"/>
                <a:cs typeface="Consolas" panose="020B0609020204030204"/>
              </a:rPr>
              <a:t> {</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final String text;</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a:t>
            </a:r>
            <a:r>
              <a:rPr lang="en-US" sz="1600" spc="-20" dirty="0" err="1">
                <a:solidFill>
                  <a:srgbClr val="D73949"/>
                </a:solidFill>
                <a:latin typeface="+mj-lt"/>
                <a:cs typeface="Consolas" panose="020B0609020204030204"/>
              </a:rPr>
              <a:t>MyStaticText</a:t>
            </a:r>
            <a:r>
              <a:rPr lang="en-US" sz="1600" spc="-20" dirty="0">
                <a:solidFill>
                  <a:srgbClr val="D73949"/>
                </a:solidFill>
                <a:latin typeface="+mj-lt"/>
                <a:cs typeface="Consolas" panose="020B0609020204030204"/>
              </a:rPr>
              <a:t>({Key </a:t>
            </a:r>
            <a:r>
              <a:rPr lang="en-US" sz="1600" spc="-20" dirty="0" err="1">
                <a:solidFill>
                  <a:srgbClr val="D73949"/>
                </a:solidFill>
                <a:latin typeface="+mj-lt"/>
                <a:cs typeface="Consolas" panose="020B0609020204030204"/>
              </a:rPr>
              <a:t>key</a:t>
            </a:r>
            <a:r>
              <a:rPr lang="en-US" sz="1600" spc="-20" dirty="0">
                <a:solidFill>
                  <a:srgbClr val="D73949"/>
                </a:solidFill>
                <a:latin typeface="+mj-lt"/>
                <a:cs typeface="Consolas" panose="020B0609020204030204"/>
              </a:rPr>
              <a:t>, @required </a:t>
            </a:r>
            <a:r>
              <a:rPr lang="en-US" sz="1600" spc="-20" dirty="0" err="1">
                <a:solidFill>
                  <a:srgbClr val="D73949"/>
                </a:solidFill>
                <a:latin typeface="+mj-lt"/>
                <a:cs typeface="Consolas" panose="020B0609020204030204"/>
              </a:rPr>
              <a:t>this.text</a:t>
            </a:r>
            <a:r>
              <a:rPr lang="en-US" sz="1600" spc="-20" dirty="0">
                <a:solidFill>
                  <a:srgbClr val="D73949"/>
                </a:solidFill>
                <a:latin typeface="+mj-lt"/>
                <a:cs typeface="Consolas" panose="020B0609020204030204"/>
              </a:rPr>
              <a:t>}) : super(key: key);</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@override</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Widget build(</a:t>
            </a:r>
            <a:r>
              <a:rPr lang="en-US" sz="1600" spc="-20" dirty="0" err="1">
                <a:solidFill>
                  <a:srgbClr val="D73949"/>
                </a:solidFill>
                <a:latin typeface="+mj-lt"/>
                <a:cs typeface="Consolas" panose="020B0609020204030204"/>
              </a:rPr>
              <a:t>BuildContext</a:t>
            </a:r>
            <a:r>
              <a:rPr lang="en-US" sz="1600" spc="-20" dirty="0">
                <a:solidFill>
                  <a:srgbClr val="D73949"/>
                </a:solidFill>
                <a:latin typeface="+mj-lt"/>
                <a:cs typeface="Consolas" panose="020B0609020204030204"/>
              </a:rPr>
              <a:t> context) {</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return Text(</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text,</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style: </a:t>
            </a:r>
            <a:r>
              <a:rPr lang="en-US" sz="1600" spc="-20" dirty="0" err="1">
                <a:solidFill>
                  <a:srgbClr val="D73949"/>
                </a:solidFill>
                <a:latin typeface="+mj-lt"/>
                <a:cs typeface="Consolas" panose="020B0609020204030204"/>
              </a:rPr>
              <a:t>TextStyle</a:t>
            </a:r>
            <a:r>
              <a:rPr lang="en-US" sz="1600" spc="-20" dirty="0">
                <a:solidFill>
                  <a:srgbClr val="D73949"/>
                </a:solidFill>
                <a:latin typeface="+mj-lt"/>
                <a:cs typeface="Consolas" panose="020B0609020204030204"/>
              </a:rPr>
              <a:t>(</a:t>
            </a:r>
            <a:r>
              <a:rPr lang="en-US" sz="1600" spc="-20" dirty="0" err="1">
                <a:solidFill>
                  <a:srgbClr val="D73949"/>
                </a:solidFill>
                <a:latin typeface="+mj-lt"/>
                <a:cs typeface="Consolas" panose="020B0609020204030204"/>
              </a:rPr>
              <a:t>fontSize</a:t>
            </a:r>
            <a:r>
              <a:rPr lang="en-US" sz="1600" spc="-20" dirty="0">
                <a:solidFill>
                  <a:srgbClr val="D73949"/>
                </a:solidFill>
                <a:latin typeface="+mj-lt"/>
                <a:cs typeface="Consolas" panose="020B0609020204030204"/>
              </a:rPr>
              <a:t>: 20.0),</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  }</a:t>
            </a:r>
            <a:endParaRPr lang="en-US" sz="1600" spc="-20" dirty="0">
              <a:solidFill>
                <a:srgbClr val="D73949"/>
              </a:solidFill>
              <a:latin typeface="+mj-lt"/>
              <a:cs typeface="Consolas" panose="020B0609020204030204"/>
            </a:endParaRPr>
          </a:p>
          <a:p>
            <a:pPr marL="1303020" indent="-402590">
              <a:lnSpc>
                <a:spcPct val="100000"/>
              </a:lnSpc>
              <a:spcBef>
                <a:spcPts val="5"/>
              </a:spcBef>
              <a:buClr>
                <a:srgbClr val="000000"/>
              </a:buClr>
              <a:buFont typeface="Arial" panose="020B0604020202020204"/>
              <a:buAutoNum type="arabicPeriod"/>
              <a:tabLst>
                <a:tab pos="1303020" algn="l"/>
              </a:tabLst>
            </a:pPr>
            <a:r>
              <a:rPr lang="en-US" sz="1600" spc="-20" dirty="0">
                <a:solidFill>
                  <a:srgbClr val="D73949"/>
                </a:solidFill>
                <a:latin typeface="+mj-lt"/>
                <a:cs typeface="Consolas" panose="020B0609020204030204"/>
              </a:rPr>
              <a:t>}</a:t>
            </a:r>
            <a:endParaRPr lang="en-US" sz="1600" dirty="0">
              <a:latin typeface="+mj-lt"/>
              <a:cs typeface="Consolas" panose="020B0609020204030204"/>
            </a:endParaRPr>
          </a:p>
          <a:p>
            <a:pPr marL="285750" indent="-285750">
              <a:spcBef>
                <a:spcPts val="1210"/>
              </a:spcBef>
              <a:buFont typeface="Arial" panose="020B0604020202020204" pitchFamily="34" charset="0"/>
              <a:buChar char="•"/>
            </a:pPr>
            <a:r>
              <a:rPr lang="en-US" altLang="en-US" sz="1600" dirty="0">
                <a:latin typeface="+mj-lt"/>
                <a:cs typeface="Consolas" panose="020B0609020204030204"/>
              </a:rPr>
              <a:t>No internal state variables (typically found in a paired State class)</a:t>
            </a:r>
            <a:endParaRPr lang="en-US" altLang="en-US" sz="1600" dirty="0">
              <a:latin typeface="+mj-lt"/>
              <a:cs typeface="Consolas" panose="020B0609020204030204"/>
            </a:endParaRPr>
          </a:p>
          <a:p>
            <a:pPr marL="285750" indent="-285750">
              <a:spcBef>
                <a:spcPts val="1210"/>
              </a:spcBef>
              <a:buFont typeface="Arial" panose="020B0604020202020204" pitchFamily="34" charset="0"/>
              <a:buChar char="•"/>
            </a:pPr>
            <a:r>
              <a:rPr lang="en-US" altLang="en-US" sz="1600" dirty="0">
                <a:latin typeface="+mj-lt"/>
                <a:cs typeface="Consolas" panose="020B0609020204030204"/>
              </a:rPr>
              <a:t>Use for UI components that don’t change, like icons, static text, static images</a:t>
            </a:r>
            <a:endParaRPr lang="en-US" altLang="en-US" sz="1600" dirty="0">
              <a:latin typeface="+mj-lt"/>
              <a:cs typeface="Consolas" panose="020B0609020204030204"/>
            </a:endParaRPr>
          </a:p>
          <a:p>
            <a:pPr marL="285750" indent="-285750">
              <a:spcBef>
                <a:spcPts val="1210"/>
              </a:spcBef>
              <a:buFont typeface="Arial" panose="020B0604020202020204" pitchFamily="34" charset="0"/>
              <a:buChar char="•"/>
            </a:pPr>
            <a:r>
              <a:rPr lang="en-US" altLang="en-US" sz="1600" dirty="0">
                <a:latin typeface="+mj-lt"/>
                <a:cs typeface="Consolas" panose="020B0609020204030204"/>
              </a:rPr>
              <a:t>Improves performance; should be used for most parts of the app</a:t>
            </a:r>
            <a:endParaRPr lang="en-US" altLang="en-US" sz="1600" dirty="0">
              <a:latin typeface="+mj-lt"/>
              <a:cs typeface="Consolas" panose="020B0609020204030204"/>
            </a:endParaRPr>
          </a:p>
        </p:txBody>
      </p:sp>
      <p:pic>
        <p:nvPicPr>
          <p:cNvPr id="3" name="Picture 2"/>
          <p:cNvPicPr>
            <a:picLocks noChangeAspect="1"/>
          </p:cNvPicPr>
          <p:nvPr/>
        </p:nvPicPr>
        <p:blipFill>
          <a:blip r:embed="rId1"/>
          <a:stretch>
            <a:fillRect/>
          </a:stretch>
        </p:blipFill>
        <p:spPr>
          <a:xfrm>
            <a:off x="10206695" y="1895912"/>
            <a:ext cx="4132908" cy="3076227"/>
          </a:xfrm>
          <a:prstGeom prst="rect">
            <a:avLst/>
          </a:prstGeom>
        </p:spPr>
      </p:pic>
      <p:sp>
        <p:nvSpPr>
          <p:cNvPr id="9" name="TextBox 8"/>
          <p:cNvSpPr txBox="1"/>
          <p:nvPr/>
        </p:nvSpPr>
        <p:spPr>
          <a:xfrm>
            <a:off x="373763" y="5651019"/>
            <a:ext cx="8602458" cy="1198880"/>
          </a:xfrm>
          <a:prstGeom prst="rect">
            <a:avLst/>
          </a:prstGeom>
          <a:noFill/>
        </p:spPr>
        <p:txBody>
          <a:bodyPr wrap="square">
            <a:spAutoFit/>
          </a:bodyPr>
          <a:lstStyle/>
          <a:p>
            <a:r>
              <a:rPr lang="en-US" altLang="en-US" sz="1800" b="1" dirty="0">
                <a:latin typeface="+mj-lt"/>
                <a:cs typeface="Calibri" panose="020F0502020204030204"/>
              </a:rPr>
              <a:t>Should </a:t>
            </a:r>
            <a:r>
              <a:rPr lang="en-US" altLang="en-US" sz="1800" dirty="0">
                <a:latin typeface="+mj-lt"/>
                <a:cs typeface="Calibri" panose="020F0502020204030204"/>
              </a:rPr>
              <a:t>use Stateless Widgets for UI elements that do not need to change dynamically in response to user interaction or new data, such as icons, static images, or fixed header text.</a:t>
            </a:r>
            <a:endParaRPr lang="en-US" altLang="en-US" sz="1800" b="1" dirty="0">
              <a:latin typeface="+mj-lt"/>
              <a:cs typeface="Calibri" panose="020F0502020204030204"/>
            </a:endParaRPr>
          </a:p>
          <a:p>
            <a:r>
              <a:rPr lang="en-US" altLang="en-US" sz="1800" b="1" dirty="0">
                <a:latin typeface="+mj-lt"/>
                <a:cs typeface="Calibri" panose="020F0502020204030204"/>
              </a:rPr>
              <a:t>Should</a:t>
            </a:r>
            <a:r>
              <a:rPr lang="en-US" altLang="en-US" sz="1800" dirty="0">
                <a:latin typeface="+mj-lt"/>
                <a:cs typeface="Calibri" panose="020F0502020204030204"/>
              </a:rPr>
              <a:t> take up the majority of Flutter applications to improve performance.</a:t>
            </a:r>
            <a:endParaRPr lang="en-US" altLang="en-US" sz="1800" dirty="0">
              <a:latin typeface="+mj-lt"/>
              <a:cs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a:solidFill>
                  <a:schemeClr val="bg1"/>
                </a:solidFill>
                <a:latin typeface="Arial" panose="020B0604020202020204" pitchFamily="34" charset="0"/>
                <a:ea typeface="Inter Bold" pitchFamily="34" charset="-122"/>
                <a:cs typeface="Arial" panose="020B0604020202020204" pitchFamily="34" charset="0"/>
              </a:rPr>
              <a:t>Stateful Widgets</a:t>
            </a:r>
            <a:endParaRPr lang="en-US" sz="3600" b="1" dirty="0">
              <a:solidFill>
                <a:schemeClr val="bg1"/>
              </a:solidFill>
              <a:latin typeface="Arial" panose="020B0604020202020204" pitchFamily="34" charset="0"/>
              <a:ea typeface="Inter Bold" pitchFamily="34" charset="-122"/>
              <a:cs typeface="Arial" panose="020B0604020202020204" pitchFamily="34" charset="0"/>
            </a:endParaRPr>
          </a:p>
        </p:txBody>
      </p:sp>
      <p:sp>
        <p:nvSpPr>
          <p:cNvPr id="3" name="object 3"/>
          <p:cNvSpPr txBox="1"/>
          <p:nvPr/>
        </p:nvSpPr>
        <p:spPr>
          <a:xfrm>
            <a:off x="245167" y="1189535"/>
            <a:ext cx="8420661" cy="4751070"/>
          </a:xfrm>
          <a:prstGeom prst="rect">
            <a:avLst/>
          </a:prstGeom>
        </p:spPr>
        <p:txBody>
          <a:bodyPr vert="horz" wrap="square" lIns="0" tIns="174625" rIns="0" bIns="0" rtlCol="0">
            <a:spAutoFit/>
          </a:bodyPr>
          <a:lstStyle>
            <a:defPPr>
              <a:defRPr kern="0"/>
            </a:defPPr>
          </a:lstStyle>
          <a:p>
            <a:pPr marL="431800" indent="-342900">
              <a:spcBef>
                <a:spcPts val="850"/>
              </a:spcBef>
              <a:buFont typeface="Arial" panose="020B0604020202020204" pitchFamily="34" charset="0"/>
              <a:buChar char="•"/>
            </a:pPr>
            <a:r>
              <a:rPr lang="en-US" altLang="en-US" sz="2400" dirty="0">
                <a:latin typeface="+mj-lt"/>
                <a:cs typeface="Tahoma" panose="020B0604030504040204"/>
              </a:rPr>
              <a:t>A type of Flutter widget that holds state data that can change throughout the life of the widget.</a:t>
            </a:r>
            <a:endParaRPr lang="en-US" altLang="en-US" sz="2400" dirty="0">
              <a:latin typeface="+mj-lt"/>
              <a:cs typeface="Tahoma" panose="020B0604030504040204"/>
            </a:endParaRPr>
          </a:p>
          <a:p>
            <a:pPr marL="431800" indent="-342900">
              <a:spcBef>
                <a:spcPts val="850"/>
              </a:spcBef>
              <a:buFont typeface="Arial" panose="020B0604020202020204" pitchFamily="34" charset="0"/>
              <a:buChar char="•"/>
            </a:pPr>
            <a:r>
              <a:rPr lang="en-US" altLang="en-US" sz="2400" dirty="0">
                <a:latin typeface="+mj-lt"/>
                <a:cs typeface="Tahoma" panose="020B0604030504040204"/>
              </a:rPr>
              <a:t>Separation between widget and state: The StatefulWidget class itself is immutable, but the State object it creates can change.</a:t>
            </a:r>
            <a:endParaRPr lang="en-US" altLang="en-US" sz="2400" dirty="0">
              <a:latin typeface="+mj-lt"/>
              <a:cs typeface="Tahoma" panose="020B0604030504040204"/>
            </a:endParaRPr>
          </a:p>
          <a:p>
            <a:pPr marL="431800" indent="-342900">
              <a:spcBef>
                <a:spcPts val="850"/>
              </a:spcBef>
              <a:buFont typeface="Arial" panose="020B0604020202020204" pitchFamily="34" charset="0"/>
              <a:buChar char="•"/>
            </a:pPr>
            <a:r>
              <a:rPr lang="en-US" altLang="en-US" sz="2400" dirty="0">
                <a:latin typeface="+mj-lt"/>
                <a:cs typeface="Tahoma" panose="020B0604030504040204"/>
              </a:rPr>
              <a:t>Three reasons to use Stateful Widget:</a:t>
            </a:r>
            <a:endParaRPr lang="en-US" altLang="en-US" sz="2400" dirty="0">
              <a:latin typeface="+mj-lt"/>
              <a:cs typeface="Tahoma" panose="020B0604030504040204"/>
            </a:endParaRPr>
          </a:p>
          <a:p>
            <a:pPr marL="889000" lvl="1" indent="-342900">
              <a:spcBef>
                <a:spcPts val="850"/>
              </a:spcBef>
              <a:buFont typeface="Arial" panose="020B0604020202020204" pitchFamily="34" charset="0"/>
              <a:buAutoNum type="arabicPeriod"/>
            </a:pPr>
            <a:r>
              <a:rPr lang="en-US" altLang="en-US" spc="-20" dirty="0">
                <a:latin typeface="+mj-lt"/>
                <a:cs typeface="Tahoma" panose="020B0604030504040204"/>
              </a:rPr>
              <a:t>The widget needs to change data during its lifecycle</a:t>
            </a:r>
            <a:endParaRPr lang="en-US" altLang="en-US" spc="-20" dirty="0">
              <a:latin typeface="+mj-lt"/>
              <a:cs typeface="Tahoma" panose="020B0604030504040204"/>
            </a:endParaRPr>
          </a:p>
          <a:p>
            <a:pPr marL="889000" lvl="1" indent="-342900">
              <a:spcBef>
                <a:spcPts val="850"/>
              </a:spcBef>
              <a:buFont typeface="Arial" panose="020B0604020202020204" pitchFamily="34" charset="0"/>
              <a:buAutoNum type="arabicPeriod"/>
            </a:pPr>
            <a:r>
              <a:rPr lang="en-US" altLang="en-US" spc="-20" dirty="0">
                <a:latin typeface="+mj-lt"/>
                <a:cs typeface="Tahoma" panose="020B0604030504040204"/>
              </a:rPr>
              <a:t>The widget performs initialization on creation</a:t>
            </a:r>
            <a:endParaRPr lang="en-US" altLang="en-US" spc="-20" dirty="0">
              <a:latin typeface="+mj-lt"/>
              <a:cs typeface="Tahoma" panose="020B0604030504040204"/>
            </a:endParaRPr>
          </a:p>
          <a:p>
            <a:pPr marL="889000" lvl="1" indent="-342900">
              <a:spcBef>
                <a:spcPts val="850"/>
              </a:spcBef>
              <a:buFont typeface="Arial" panose="020B0604020202020204" pitchFamily="34" charset="0"/>
              <a:buAutoNum type="arabicPeriod"/>
            </a:pPr>
            <a:r>
              <a:rPr lang="en-US" altLang="en-US" spc="-20" dirty="0">
                <a:latin typeface="+mj-lt"/>
                <a:cs typeface="Tahoma" panose="020B0604030504040204"/>
              </a:rPr>
              <a:t>The widget disposes of resources at the end</a:t>
            </a:r>
            <a:r>
              <a:rPr spc="-20" dirty="0">
                <a:latin typeface="+mj-lt"/>
                <a:cs typeface="Tahoma" panose="020B0604030504040204"/>
              </a:rPr>
              <a:t>.</a:t>
            </a:r>
            <a:endParaRPr lang="en-US" spc="-20" dirty="0">
              <a:latin typeface="+mj-lt"/>
              <a:cs typeface="Tahoma" panose="020B0604030504040204"/>
            </a:endParaRPr>
          </a:p>
          <a:p>
            <a:pPr marL="12065" marR="244475">
              <a:spcBef>
                <a:spcPts val="1200"/>
              </a:spcBef>
              <a:buSzPct val="90000"/>
              <a:tabLst>
                <a:tab pos="431800" algn="l"/>
              </a:tabLst>
            </a:pPr>
            <a:r>
              <a:rPr lang="en-US" altLang="en-US" sz="2000" spc="-10" dirty="0">
                <a:highlight>
                  <a:srgbClr val="FFFF00"/>
                </a:highlight>
                <a:latin typeface="+mj-lt"/>
                <a:cs typeface="Tahoma" panose="020B0604030504040204"/>
              </a:rPr>
              <a:t>StatefulWidgets should not be used much for performance reasons</a:t>
            </a:r>
            <a:r>
              <a:rPr lang="vi-VN" sz="2000" spc="-10" dirty="0">
                <a:highlight>
                  <a:srgbClr val="FFFF00"/>
                </a:highlight>
                <a:latin typeface="+mj-lt"/>
                <a:cs typeface="Tahoma" panose="020B0604030504040204"/>
              </a:rPr>
              <a:t>.</a:t>
            </a:r>
            <a:endParaRPr lang="vi-VN" sz="2000" dirty="0">
              <a:highlight>
                <a:srgbClr val="FFFF00"/>
              </a:highlight>
              <a:latin typeface="+mj-lt"/>
              <a:cs typeface="Tahoma" panose="020B0604030504040204"/>
            </a:endParaRPr>
          </a:p>
          <a:p>
            <a:pPr marL="431800" marR="244475" indent="-419735">
              <a:spcBef>
                <a:spcPts val="1200"/>
              </a:spcBef>
              <a:buSzPct val="90000"/>
              <a:buFont typeface="Arial" panose="020B0604020202020204"/>
              <a:buAutoNum type="arabicPeriod"/>
              <a:tabLst>
                <a:tab pos="431800" algn="l"/>
              </a:tabLst>
            </a:pPr>
            <a:endParaRPr sz="2400" dirty="0">
              <a:latin typeface="+mj-lt"/>
              <a:cs typeface="Tahoma" panose="020B0604030504040204"/>
            </a:endParaRPr>
          </a:p>
        </p:txBody>
      </p:sp>
      <p:sp>
        <p:nvSpPr>
          <p:cNvPr id="6" name="TextBox 5"/>
          <p:cNvSpPr txBox="1"/>
          <p:nvPr/>
        </p:nvSpPr>
        <p:spPr>
          <a:xfrm>
            <a:off x="9085278" y="1189288"/>
            <a:ext cx="5466249" cy="5632311"/>
          </a:xfrm>
          <a:prstGeom prst="rect">
            <a:avLst/>
          </a:prstGeom>
          <a:noFill/>
        </p:spPr>
        <p:txBody>
          <a:bodyPr wrap="square">
            <a:spAutoFit/>
          </a:bodyPr>
          <a:lstStyle/>
          <a:p>
            <a:r>
              <a:rPr lang="en-US" dirty="0"/>
              <a:t>class </a:t>
            </a:r>
            <a:r>
              <a:rPr lang="en-US" b="1" dirty="0" err="1"/>
              <a:t>MyCounter</a:t>
            </a:r>
            <a:r>
              <a:rPr lang="en-US" dirty="0"/>
              <a:t> extends </a:t>
            </a:r>
            <a:r>
              <a:rPr lang="en-US" b="1" dirty="0" err="1"/>
              <a:t>StatefulWidget</a:t>
            </a:r>
            <a:r>
              <a:rPr lang="en-US" dirty="0"/>
              <a:t> {</a:t>
            </a:r>
            <a:endParaRPr lang="en-US" dirty="0"/>
          </a:p>
          <a:p>
            <a:r>
              <a:rPr lang="en-US" dirty="0"/>
              <a:t>  @override</a:t>
            </a:r>
            <a:endParaRPr lang="en-US" dirty="0"/>
          </a:p>
          <a:p>
            <a:r>
              <a:rPr lang="en-US" dirty="0"/>
              <a:t>  _</a:t>
            </a:r>
            <a:r>
              <a:rPr lang="en-US" dirty="0" err="1"/>
              <a:t>MyCounterState</a:t>
            </a:r>
            <a:r>
              <a:rPr lang="en-US" dirty="0"/>
              <a:t> </a:t>
            </a:r>
            <a:r>
              <a:rPr lang="en-US" dirty="0" err="1"/>
              <a:t>createState</a:t>
            </a:r>
            <a:r>
              <a:rPr lang="en-US" dirty="0"/>
              <a:t>() =&gt; _</a:t>
            </a:r>
            <a:r>
              <a:rPr lang="en-US" dirty="0" err="1"/>
              <a:t>MyCounterState</a:t>
            </a:r>
            <a:r>
              <a:rPr lang="en-US" dirty="0"/>
              <a:t>();</a:t>
            </a:r>
            <a:endParaRPr lang="en-US" dirty="0"/>
          </a:p>
          <a:p>
            <a:r>
              <a:rPr lang="en-US" dirty="0"/>
              <a:t>}</a:t>
            </a:r>
            <a:endParaRPr lang="en-US" dirty="0"/>
          </a:p>
          <a:p>
            <a:r>
              <a:rPr lang="en-US" dirty="0"/>
              <a:t>class _</a:t>
            </a:r>
            <a:r>
              <a:rPr lang="en-US" b="1" dirty="0" err="1"/>
              <a:t>MyCounterState</a:t>
            </a:r>
            <a:r>
              <a:rPr lang="en-US" dirty="0"/>
              <a:t> extends State&lt;</a:t>
            </a:r>
            <a:r>
              <a:rPr lang="en-US" b="1" dirty="0" err="1"/>
              <a:t>MyCounter</a:t>
            </a:r>
            <a:r>
              <a:rPr lang="en-US" dirty="0"/>
              <a:t>&gt; {</a:t>
            </a:r>
            <a:endParaRPr lang="en-US" dirty="0"/>
          </a:p>
          <a:p>
            <a:r>
              <a:rPr lang="en-US" dirty="0"/>
              <a:t>  int _counter = 0;</a:t>
            </a:r>
            <a:endParaRPr lang="en-US" dirty="0"/>
          </a:p>
          <a:p>
            <a:r>
              <a:rPr lang="en-US" dirty="0"/>
              <a:t>  void _</a:t>
            </a:r>
            <a:r>
              <a:rPr lang="en-US" dirty="0" err="1"/>
              <a:t>incrementCounter</a:t>
            </a:r>
            <a:r>
              <a:rPr lang="en-US" dirty="0"/>
              <a:t>() {</a:t>
            </a:r>
            <a:endParaRPr lang="en-US" dirty="0"/>
          </a:p>
          <a:p>
            <a:r>
              <a:rPr lang="en-US" dirty="0"/>
              <a:t>    </a:t>
            </a:r>
            <a:r>
              <a:rPr lang="en-US" dirty="0" err="1"/>
              <a:t>setState</a:t>
            </a:r>
            <a:r>
              <a:rPr lang="en-US" dirty="0"/>
              <a:t>(() {</a:t>
            </a:r>
            <a:endParaRPr lang="en-US" dirty="0"/>
          </a:p>
          <a:p>
            <a:r>
              <a:rPr lang="en-US" dirty="0"/>
              <a:t>      _counter++;</a:t>
            </a:r>
            <a:endParaRPr lang="en-US" dirty="0"/>
          </a:p>
          <a:p>
            <a:r>
              <a:rPr lang="en-US" dirty="0"/>
              <a:t>    });</a:t>
            </a:r>
            <a:endParaRPr lang="en-US" dirty="0"/>
          </a:p>
          <a:p>
            <a:r>
              <a:rPr lang="en-US" dirty="0"/>
              <a:t>  }</a:t>
            </a:r>
            <a:endParaRPr lang="en-US" dirty="0"/>
          </a:p>
          <a:p>
            <a:r>
              <a:rPr lang="en-US" dirty="0"/>
              <a:t>  </a:t>
            </a:r>
            <a:r>
              <a:rPr lang="en-US" b="1" dirty="0"/>
              <a:t>@override</a:t>
            </a:r>
            <a:endParaRPr lang="en-US" b="1" dirty="0"/>
          </a:p>
          <a:p>
            <a:r>
              <a:rPr lang="en-US" dirty="0"/>
              <a:t>  Widget build(</a:t>
            </a:r>
            <a:r>
              <a:rPr lang="en-US" dirty="0" err="1"/>
              <a:t>BuildContext</a:t>
            </a:r>
            <a:r>
              <a:rPr lang="en-US" dirty="0"/>
              <a:t> context) {</a:t>
            </a:r>
            <a:endParaRPr lang="en-US" dirty="0"/>
          </a:p>
          <a:p>
            <a:r>
              <a:rPr lang="en-US" dirty="0"/>
              <a:t>    return Column(</a:t>
            </a:r>
            <a:endParaRPr lang="en-US" dirty="0"/>
          </a:p>
          <a:p>
            <a:r>
              <a:rPr lang="en-US" dirty="0"/>
              <a:t>      children: &lt;Widget&gt;[</a:t>
            </a:r>
            <a:endParaRPr lang="en-US" dirty="0"/>
          </a:p>
          <a:p>
            <a:r>
              <a:rPr lang="en-US" dirty="0"/>
              <a:t>        Text('You have pushed the button $_counter times:'),</a:t>
            </a:r>
            <a:endParaRPr lang="en-US" dirty="0"/>
          </a:p>
          <a:p>
            <a:r>
              <a:rPr lang="en-US" dirty="0"/>
              <a:t>        </a:t>
            </a:r>
            <a:r>
              <a:rPr lang="en-US" dirty="0" err="1"/>
              <a:t>ElevatedButton</a:t>
            </a:r>
            <a:r>
              <a:rPr lang="en-US" dirty="0"/>
              <a:t>(</a:t>
            </a:r>
            <a:endParaRPr lang="en-US" dirty="0"/>
          </a:p>
          <a:p>
            <a:r>
              <a:rPr lang="en-US" dirty="0"/>
              <a:t>          </a:t>
            </a:r>
            <a:r>
              <a:rPr lang="en-US" dirty="0" err="1"/>
              <a:t>onPressed</a:t>
            </a:r>
            <a:r>
              <a:rPr lang="en-US" dirty="0"/>
              <a:t>: _</a:t>
            </a:r>
            <a:r>
              <a:rPr lang="en-US" dirty="0" err="1"/>
              <a:t>incrementCounter</a:t>
            </a:r>
            <a:r>
              <a:rPr lang="en-US" dirty="0"/>
              <a:t>,</a:t>
            </a:r>
            <a:endParaRPr lang="en-US" dirty="0"/>
          </a:p>
          <a:p>
            <a:r>
              <a:rPr lang="en-US" dirty="0"/>
              <a:t>          child: Text('Increment'),</a:t>
            </a:r>
            <a:endParaRPr lang="en-US" dirty="0"/>
          </a:p>
          <a:p>
            <a:r>
              <a:rPr lang="en-US" dirty="0"/>
              <a:t>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a:solidFill>
                  <a:schemeClr val="bg1"/>
                </a:solidFill>
                <a:latin typeface="Arial" panose="020B0604020202020204" pitchFamily="34" charset="0"/>
                <a:ea typeface="Inter Bold" pitchFamily="34" charset="-122"/>
                <a:cs typeface="Arial" panose="020B0604020202020204" pitchFamily="34" charset="0"/>
              </a:rPr>
              <a:t>Inherited Widget</a:t>
            </a:r>
            <a:endParaRPr lang="en-US" sz="3600" b="1" dirty="0">
              <a:solidFill>
                <a:schemeClr val="bg1"/>
              </a:solidFill>
              <a:latin typeface="Arial" panose="020B0604020202020204" pitchFamily="34" charset="0"/>
              <a:ea typeface="Inter Bold" pitchFamily="34" charset="-122"/>
              <a:cs typeface="Arial" panose="020B0604020202020204" pitchFamily="34" charset="0"/>
            </a:endParaRPr>
          </a:p>
        </p:txBody>
      </p:sp>
      <p:sp>
        <p:nvSpPr>
          <p:cNvPr id="19" name="object 45"/>
          <p:cNvSpPr txBox="1"/>
          <p:nvPr/>
        </p:nvSpPr>
        <p:spPr>
          <a:xfrm>
            <a:off x="192072" y="1395002"/>
            <a:ext cx="9044207" cy="3387725"/>
          </a:xfrm>
          <a:prstGeom prst="rect">
            <a:avLst/>
          </a:prstGeom>
        </p:spPr>
        <p:txBody>
          <a:bodyPr vert="horz" wrap="square" lIns="0" tIns="12700" rIns="0" bIns="0" rtlCol="0" anchor="ctr">
            <a:spAutoFit/>
          </a:bodyPr>
          <a:lstStyle>
            <a:defPPr>
              <a:defRPr kern="0"/>
            </a:defPPr>
          </a:lstStyle>
          <a:p>
            <a:pPr marL="355600" marR="5080" indent="-342900" algn="just">
              <a:spcBef>
                <a:spcPts val="100"/>
              </a:spcBef>
              <a:buFont typeface="Arial" panose="020B0604020202020204" pitchFamily="34" charset="0"/>
              <a:buChar char="•"/>
            </a:pPr>
            <a:r>
              <a:rPr lang="en-US" altLang="en-US" sz="2400" dirty="0">
                <a:latin typeface="+mj-lt"/>
                <a:cs typeface="Calibri" panose="020F0502020204030204"/>
              </a:rPr>
              <a:t>An Inherited Widget is a special widget in Flutter that plays an important role in efficiently passing data down the widget tree.</a:t>
            </a:r>
            <a:endParaRPr lang="en-US" altLang="en-US" sz="2400" dirty="0">
              <a:latin typeface="+mj-lt"/>
              <a:cs typeface="Calibri" panose="020F0502020204030204"/>
            </a:endParaRPr>
          </a:p>
          <a:p>
            <a:pPr marL="355600" marR="5080" indent="-342900" algn="just">
              <a:spcBef>
                <a:spcPts val="100"/>
              </a:spcBef>
              <a:buFont typeface="Arial" panose="020B0604020202020204" pitchFamily="34" charset="0"/>
              <a:buChar char="•"/>
            </a:pPr>
            <a:r>
              <a:rPr lang="en-US" altLang="en-US" sz="2400" dirty="0">
                <a:latin typeface="+mj-lt"/>
                <a:cs typeface="Calibri" panose="020F0502020204030204"/>
              </a:rPr>
              <a:t>An InheritedWidget can provide any type of data to all its descendants in the widget tree.</a:t>
            </a:r>
            <a:endParaRPr lang="en-US" altLang="en-US" sz="2400" dirty="0">
              <a:latin typeface="+mj-lt"/>
              <a:cs typeface="Calibri" panose="020F0502020204030204"/>
            </a:endParaRPr>
          </a:p>
          <a:p>
            <a:pPr marL="355600" marR="5080" indent="-342900" algn="just">
              <a:spcBef>
                <a:spcPts val="100"/>
              </a:spcBef>
              <a:buFont typeface="Arial" panose="020B0604020202020204" pitchFamily="34" charset="0"/>
              <a:buChar char="•"/>
            </a:pPr>
            <a:r>
              <a:rPr lang="en-US" altLang="en-US" sz="2400" dirty="0">
                <a:latin typeface="+mj-lt"/>
                <a:cs typeface="Calibri" panose="020F0502020204030204"/>
              </a:rPr>
              <a:t>The data is passed implicitly, without needing to pass it explicitly through constructor parameters.</a:t>
            </a:r>
            <a:endParaRPr lang="en-US" altLang="en-US" sz="2400" dirty="0">
              <a:latin typeface="+mj-lt"/>
              <a:cs typeface="Calibri" panose="020F0502020204030204"/>
            </a:endParaRPr>
          </a:p>
          <a:p>
            <a:pPr marL="355600" marR="5080" indent="-342900" algn="just">
              <a:spcBef>
                <a:spcPts val="100"/>
              </a:spcBef>
              <a:buFont typeface="Arial" panose="020B0604020202020204" pitchFamily="34" charset="0"/>
              <a:buChar char="•"/>
            </a:pPr>
            <a:r>
              <a:rPr lang="en-US" altLang="en-US" sz="2400" dirty="0">
                <a:latin typeface="+mj-lt"/>
                <a:cs typeface="Calibri" panose="020F0502020204030204"/>
              </a:rPr>
              <a:t>When the data inside the InheritedWidget changes, only the descendant widgets that are listening to it will rebuild.</a:t>
            </a:r>
            <a:endParaRPr lang="en-US" altLang="en-US" sz="2400" dirty="0">
              <a:latin typeface="+mj-lt"/>
              <a:cs typeface="Calibri" panose="020F0502020204030204"/>
            </a:endParaRPr>
          </a:p>
          <a:p>
            <a:pPr marL="355600" marR="5080" indent="-342900" algn="just">
              <a:spcBef>
                <a:spcPts val="100"/>
              </a:spcBef>
              <a:buFont typeface="Arial" panose="020B0604020202020204" pitchFamily="34" charset="0"/>
              <a:buChar char="•"/>
            </a:pPr>
            <a:r>
              <a:rPr lang="en-US" altLang="en-US" sz="2400" dirty="0">
                <a:latin typeface="+mj-lt"/>
                <a:cs typeface="Calibri" panose="020F0502020204030204"/>
              </a:rPr>
              <a:t>This helps optimize performance.</a:t>
            </a:r>
            <a:endParaRPr lang="en-US" altLang="en-US" sz="2400" dirty="0">
              <a:latin typeface="+mj-lt"/>
              <a:cs typeface="Calibri" panose="020F0502020204030204"/>
            </a:endParaRPr>
          </a:p>
        </p:txBody>
      </p:sp>
      <p:pic>
        <p:nvPicPr>
          <p:cNvPr id="48" name="Picture 47"/>
          <p:cNvPicPr>
            <a:picLocks noChangeAspect="1"/>
          </p:cNvPicPr>
          <p:nvPr/>
        </p:nvPicPr>
        <p:blipFill>
          <a:blip r:embed="rId1"/>
          <a:stretch>
            <a:fillRect/>
          </a:stretch>
        </p:blipFill>
        <p:spPr>
          <a:xfrm>
            <a:off x="9428125" y="911112"/>
            <a:ext cx="5037313" cy="5037313"/>
          </a:xfrm>
          <a:prstGeom prst="rect">
            <a:avLst/>
          </a:prstGeom>
        </p:spPr>
      </p:pic>
      <p:sp>
        <p:nvSpPr>
          <p:cNvPr id="7" name="TextBox 6"/>
          <p:cNvSpPr txBox="1"/>
          <p:nvPr/>
        </p:nvSpPr>
        <p:spPr>
          <a:xfrm>
            <a:off x="192072" y="5286040"/>
            <a:ext cx="9044206" cy="1691640"/>
          </a:xfrm>
          <a:prstGeom prst="rect">
            <a:avLst/>
          </a:prstGeom>
          <a:noFill/>
        </p:spPr>
        <p:txBody>
          <a:bodyPr wrap="square">
            <a:spAutoFit/>
          </a:bodyPr>
          <a:lstStyle/>
          <a:p>
            <a:r>
              <a:rPr lang="en-US" altLang="en-US" sz="2400" b="1" dirty="0">
                <a:latin typeface="Arial" panose="020B0604020202020204" pitchFamily="34" charset="0"/>
                <a:cs typeface="Arial" panose="020B0604020202020204" pitchFamily="34" charset="0"/>
              </a:rPr>
              <a:t>When to use:</a:t>
            </a:r>
            <a:endParaRPr lang="en-US" altLang="en-US" sz="2400" dirty="0">
              <a:latin typeface="Arial" panose="020B0604020202020204" pitchFamily="34" charset="0"/>
              <a:cs typeface="Arial" panose="020B0604020202020204" pitchFamily="34" charset="0"/>
            </a:endParaRPr>
          </a:p>
          <a:p>
            <a:r>
              <a:rPr lang="en-US" altLang="en-US" sz="2000" dirty="0">
                <a:latin typeface="Arial" panose="020B0604020202020204" pitchFamily="34" charset="0"/>
                <a:cs typeface="Arial" panose="020B0604020202020204" pitchFamily="34" charset="0"/>
              </a:rPr>
              <a:t>InheritedWidget is especially useful for managing and sharing state or data across a large portion of the widget tree.</a:t>
            </a:r>
            <a:endParaRPr lang="en-US" altLang="en-US" sz="2000" dirty="0">
              <a:latin typeface="Arial" panose="020B0604020202020204" pitchFamily="34" charset="0"/>
              <a:cs typeface="Arial" panose="020B0604020202020204" pitchFamily="34" charset="0"/>
            </a:endParaRPr>
          </a:p>
          <a:p>
            <a:r>
              <a:rPr lang="en-US" altLang="en-US" sz="2000" dirty="0">
                <a:latin typeface="Arial" panose="020B0604020202020204" pitchFamily="34" charset="0"/>
                <a:cs typeface="Arial" panose="020B0604020202020204" pitchFamily="34" charset="0"/>
              </a:rPr>
              <a:t>Common use cases include:App themes, Provider/BLoC, Authentication state, Locale/Localization, etc.</a:t>
            </a:r>
            <a:endParaRPr lang="en-US" altLang="en-US" sz="2000" dirty="0">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a:solidFill>
                  <a:schemeClr val="bg1"/>
                </a:solidFill>
                <a:latin typeface="Arial" panose="020B0604020202020204" pitchFamily="34" charset="0"/>
                <a:ea typeface="Inter Bold" pitchFamily="34" charset="-122"/>
                <a:cs typeface="Arial" panose="020B0604020202020204" pitchFamily="34" charset="0"/>
              </a:rPr>
              <a:t>Flutter State</a:t>
            </a:r>
            <a:endParaRPr lang="en-US" sz="3600" dirty="0">
              <a:solidFill>
                <a:schemeClr val="bg1"/>
              </a:solidFill>
              <a:latin typeface="Arial" panose="020B0604020202020204" pitchFamily="34" charset="0"/>
            </a:endParaRPr>
          </a:p>
        </p:txBody>
      </p:sp>
      <p:sp>
        <p:nvSpPr>
          <p:cNvPr id="3" name="object 3"/>
          <p:cNvSpPr txBox="1"/>
          <p:nvPr/>
        </p:nvSpPr>
        <p:spPr>
          <a:xfrm>
            <a:off x="95250" y="1598930"/>
            <a:ext cx="8447405" cy="4092575"/>
          </a:xfrm>
          <a:prstGeom prst="rect">
            <a:avLst/>
          </a:prstGeom>
        </p:spPr>
        <p:txBody>
          <a:bodyPr vert="horz" wrap="square" lIns="0" tIns="12065" rIns="0" bIns="0" rtlCol="0">
            <a:spAutoFit/>
          </a:bodyPr>
          <a:lstStyle>
            <a:defPPr>
              <a:defRPr kern="0"/>
            </a:defPPr>
          </a:lstStyle>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400" b="1" dirty="0">
                <a:latin typeface="Arial" panose="020B0604020202020204" pitchFamily="34" charset="0"/>
                <a:cs typeface="Arial" panose="020B0604020202020204" pitchFamily="34" charset="0"/>
              </a:rPr>
              <a:t>State </a:t>
            </a:r>
            <a:r>
              <a:rPr lang="en-US" altLang="en-US" sz="2400" dirty="0">
                <a:latin typeface="Arial" panose="020B0604020202020204" pitchFamily="34" charset="0"/>
                <a:cs typeface="Arial" panose="020B0604020202020204" pitchFamily="34" charset="0"/>
              </a:rPr>
              <a:t>is any piece of data that can change over the lifetime of the app</a:t>
            </a:r>
            <a:r>
              <a:rPr lang="vi-VN" sz="2400" dirty="0">
                <a:latin typeface="Arial" panose="020B0604020202020204" pitchFamily="34" charset="0"/>
                <a:cs typeface="Arial" panose="020B0604020202020204" pitchFamily="34" charset="0"/>
              </a:rPr>
              <a:t>, </a:t>
            </a:r>
            <a:r>
              <a:rPr lang="en-US" altLang="vi-VN" sz="2400" dirty="0">
                <a:latin typeface="Arial" panose="020B0604020202020204" pitchFamily="34" charset="0"/>
                <a:cs typeface="Arial" panose="020B0604020202020204" pitchFamily="34" charset="0"/>
              </a:rPr>
              <a:t>examples</a:t>
            </a:r>
            <a:r>
              <a:rPr lang="vi-VN" sz="2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altLang="en-US" sz="2000" dirty="0">
                <a:latin typeface="Arial" panose="020B0604020202020204" pitchFamily="34" charset="0"/>
                <a:cs typeface="Arial" panose="020B0604020202020204" pitchFamily="34" charset="0"/>
              </a:rPr>
              <a:t>User input (e.g., from a form)</a:t>
            </a:r>
            <a:endParaRPr lang="en-US" altLang="en-US" sz="200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altLang="en-US" sz="2000" dirty="0">
                <a:latin typeface="Arial" panose="020B0604020202020204" pitchFamily="34" charset="0"/>
                <a:cs typeface="Arial" panose="020B0604020202020204" pitchFamily="34" charset="0"/>
              </a:rPr>
              <a:t>Login state (logged in / not logged in)</a:t>
            </a:r>
            <a:endParaRPr lang="en-US" altLang="en-US" sz="200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altLang="en-US" sz="2000" dirty="0">
                <a:latin typeface="Arial" panose="020B0604020202020204" pitchFamily="34" charset="0"/>
                <a:cs typeface="Arial" panose="020B0604020202020204" pitchFamily="34" charset="0"/>
              </a:rPr>
              <a:t>A counter value</a:t>
            </a:r>
            <a:endParaRPr lang="en-US" altLang="en-US" sz="200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altLang="en-US" sz="2000" dirty="0">
                <a:latin typeface="Arial" panose="020B0604020202020204" pitchFamily="34" charset="0"/>
                <a:cs typeface="Arial" panose="020B0604020202020204" pitchFamily="34" charset="0"/>
              </a:rPr>
              <a:t>Data fetched from an API (e.g., a list of articles)</a:t>
            </a:r>
            <a:r>
              <a:rPr lang="vi-VN"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469900" indent="-457200">
              <a:lnSpc>
                <a:spcPct val="100000"/>
              </a:lnSpc>
              <a:buSzPct val="71000"/>
              <a:buFont typeface="Arial" panose="020B0604020202020204" pitchFamily="34" charset="0"/>
              <a:buChar char="•"/>
              <a:tabLst>
                <a:tab pos="367665" algn="l"/>
              </a:tabLst>
            </a:pPr>
            <a:r>
              <a:rPr lang="en-US" altLang="en-US" sz="2400" spc="-10" dirty="0">
                <a:latin typeface="Arial" panose="020B0604020202020204" pitchFamily="34" charset="0"/>
                <a:cs typeface="Arial" panose="020B0604020202020204" pitchFamily="34" charset="0"/>
              </a:rPr>
              <a:t>State classification</a:t>
            </a:r>
            <a:r>
              <a:rPr lang="vi-VN" sz="2400" spc="-10" dirty="0">
                <a:latin typeface="Arial" panose="020B0604020202020204" pitchFamily="34" charset="0"/>
                <a:cs typeface="Arial" panose="020B0604020202020204" pitchFamily="34" charset="0"/>
              </a:rPr>
              <a:t>:</a:t>
            </a:r>
            <a:endParaRPr lang="vi-VN" sz="2400" spc="-10" dirty="0">
              <a:latin typeface="Arial" panose="020B0604020202020204" pitchFamily="34" charset="0"/>
              <a:cs typeface="Arial" panose="020B0604020202020204" pitchFamily="34" charset="0"/>
            </a:endParaRPr>
          </a:p>
          <a:p>
            <a:pPr marL="927100" lvl="1" indent="-457200">
              <a:buSzPct val="71000"/>
              <a:buFont typeface="Arial" panose="020B0604020202020204" pitchFamily="34" charset="0"/>
              <a:buChar char="•"/>
              <a:tabLst>
                <a:tab pos="367665" algn="l"/>
              </a:tabLst>
            </a:pPr>
            <a:r>
              <a:rPr lang="en-US" altLang="en-US" sz="2200" dirty="0">
                <a:latin typeface="Arial" panose="020B0604020202020204" pitchFamily="34" charset="0"/>
                <a:cs typeface="Arial" panose="020B0604020202020204" pitchFamily="34" charset="0"/>
              </a:rPr>
              <a:t>Local state: Attached to a specific widget. Example: the current tab in a tab selector or the state of a checkbox</a:t>
            </a:r>
            <a:endParaRPr lang="en-US" altLang="en-US" sz="2200" dirty="0">
              <a:latin typeface="Arial" panose="020B0604020202020204" pitchFamily="34" charset="0"/>
              <a:cs typeface="Arial" panose="020B0604020202020204" pitchFamily="34" charset="0"/>
            </a:endParaRPr>
          </a:p>
          <a:p>
            <a:pPr marL="927100" lvl="1" indent="-457200">
              <a:buSzPct val="71000"/>
              <a:buFont typeface="Arial" panose="020B0604020202020204" pitchFamily="34" charset="0"/>
              <a:buChar char="•"/>
              <a:tabLst>
                <a:tab pos="367665" algn="l"/>
              </a:tabLst>
            </a:pPr>
            <a:r>
              <a:rPr lang="en-US" altLang="en-US" sz="2200" dirty="0">
                <a:latin typeface="Arial" panose="020B0604020202020204" pitchFamily="34" charset="0"/>
                <a:cs typeface="Arial" panose="020B0604020202020204" pitchFamily="34" charset="0"/>
              </a:rPr>
              <a:t>Application state: Global, shared across multiple widgets. Example: user’s login status, items in a shopping cart, or chat messages</a:t>
            </a:r>
            <a:endParaRPr lang="en-US" altLang="en-US" sz="22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1"/>
          <a:srcRect l="8772"/>
          <a:stretch>
            <a:fillRect/>
          </a:stretch>
        </p:blipFill>
        <p:spPr>
          <a:xfrm>
            <a:off x="8774346" y="1813069"/>
            <a:ext cx="5984704" cy="369010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a:solidFill>
                  <a:schemeClr val="bg1"/>
                </a:solidFill>
                <a:latin typeface="Arial" panose="020B0604020202020204" pitchFamily="34" charset="0"/>
                <a:ea typeface="Inter Bold" pitchFamily="34" charset="-122"/>
                <a:cs typeface="Arial" panose="020B0604020202020204" pitchFamily="34" charset="0"/>
              </a:rPr>
              <a:t>Quản </a:t>
            </a:r>
            <a:r>
              <a:rPr lang="en-US" sz="3600" b="1" dirty="0" err="1">
                <a:solidFill>
                  <a:schemeClr val="bg1"/>
                </a:solidFill>
                <a:latin typeface="Arial" panose="020B0604020202020204" pitchFamily="34" charset="0"/>
                <a:ea typeface="Inter Bold" pitchFamily="34" charset="-122"/>
                <a:cs typeface="Arial" panose="020B0604020202020204" pitchFamily="34" charset="0"/>
              </a:rPr>
              <a:t>lý</a:t>
            </a:r>
            <a:r>
              <a:rPr lang="en-US" sz="3600" b="1" dirty="0">
                <a:solidFill>
                  <a:schemeClr val="bg1"/>
                </a:solidFill>
                <a:latin typeface="Arial" panose="020B0604020202020204" pitchFamily="34" charset="0"/>
                <a:ea typeface="Inter Bold" pitchFamily="34" charset="-122"/>
                <a:cs typeface="Arial" panose="020B0604020202020204" pitchFamily="34" charset="0"/>
              </a:rPr>
              <a:t> </a:t>
            </a:r>
            <a:r>
              <a:rPr lang="en-US" sz="3600" b="1" dirty="0" err="1">
                <a:solidFill>
                  <a:schemeClr val="bg1"/>
                </a:solidFill>
                <a:latin typeface="Arial" panose="020B0604020202020204" pitchFamily="34" charset="0"/>
                <a:ea typeface="Inter Bold" pitchFamily="34" charset="-122"/>
                <a:cs typeface="Arial" panose="020B0604020202020204" pitchFamily="34" charset="0"/>
              </a:rPr>
              <a:t>trạng</a:t>
            </a:r>
            <a:r>
              <a:rPr lang="en-US" sz="3600" b="1" dirty="0">
                <a:solidFill>
                  <a:schemeClr val="bg1"/>
                </a:solidFill>
                <a:latin typeface="Arial" panose="020B0604020202020204" pitchFamily="34" charset="0"/>
                <a:ea typeface="Inter Bold" pitchFamily="34" charset="-122"/>
                <a:cs typeface="Arial" panose="020B0604020202020204" pitchFamily="34" charset="0"/>
              </a:rPr>
              <a:t> </a:t>
            </a:r>
            <a:r>
              <a:rPr lang="en-US" sz="3600" b="1" dirty="0" err="1">
                <a:solidFill>
                  <a:schemeClr val="bg1"/>
                </a:solidFill>
                <a:latin typeface="Arial" panose="020B0604020202020204" pitchFamily="34" charset="0"/>
                <a:ea typeface="Inter Bold" pitchFamily="34" charset="-122"/>
                <a:cs typeface="Arial" panose="020B0604020202020204" pitchFamily="34" charset="0"/>
              </a:rPr>
              <a:t>thái</a:t>
            </a:r>
            <a:endParaRPr lang="en-US" sz="3600" dirty="0">
              <a:solidFill>
                <a:schemeClr val="bg1"/>
              </a:solidFill>
              <a:latin typeface="Arial" panose="020B0604020202020204" pitchFamily="34" charset="0"/>
            </a:endParaRPr>
          </a:p>
        </p:txBody>
      </p:sp>
      <p:sp>
        <p:nvSpPr>
          <p:cNvPr id="3" name="object 3"/>
          <p:cNvSpPr txBox="1"/>
          <p:nvPr/>
        </p:nvSpPr>
        <p:spPr>
          <a:xfrm>
            <a:off x="164962" y="1025523"/>
            <a:ext cx="8410903" cy="6017895"/>
          </a:xfrm>
          <a:prstGeom prst="rect">
            <a:avLst/>
          </a:prstGeom>
        </p:spPr>
        <p:txBody>
          <a:bodyPr vert="horz" wrap="square" lIns="0" tIns="12065" rIns="0" bIns="0" rtlCol="0">
            <a:spAutoFit/>
          </a:bodyPr>
          <a:lstStyle>
            <a:defPPr>
              <a:defRPr kern="0"/>
            </a:defPPr>
          </a:lstStyle>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000" spc="-10" dirty="0">
                <a:latin typeface="Arial" panose="020B0604020202020204" pitchFamily="34" charset="0"/>
                <a:cs typeface="Arial" panose="020B0604020202020204" pitchFamily="34" charset="0"/>
              </a:rPr>
              <a:t>State management is one of the most important and necessary tasks in the lifecycle of an application.</a:t>
            </a:r>
            <a:endParaRPr lang="en-US" altLang="en-US" sz="2000" spc="-10" dirty="0">
              <a:latin typeface="Arial" panose="020B0604020202020204" pitchFamily="34" charset="0"/>
              <a:cs typeface="Arial" panose="020B0604020202020204" pitchFamily="34" charset="0"/>
            </a:endParaRPr>
          </a:p>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000" spc="-10" dirty="0">
                <a:latin typeface="Arial" panose="020B0604020202020204" pitchFamily="34" charset="0"/>
                <a:cs typeface="Arial" panose="020B0604020202020204" pitchFamily="34" charset="0"/>
              </a:rPr>
              <a:t>It is the method of tracking and handling data changes in the app and ensuring that the UI accurately reflects the current data</a:t>
            </a:r>
            <a:r>
              <a:rPr lang="en-US" sz="2000" spc="-10" dirty="0">
                <a:latin typeface="Arial" panose="020B0604020202020204" pitchFamily="34" charset="0"/>
                <a:cs typeface="Arial" panose="020B0604020202020204" pitchFamily="34" charset="0"/>
              </a:rPr>
              <a:t>. </a:t>
            </a:r>
            <a:r>
              <a:rPr lang="en-US" altLang="en-US" sz="2000" spc="-10" dirty="0">
                <a:latin typeface="Arial" panose="020B0604020202020204" pitchFamily="34" charset="0"/>
                <a:cs typeface="Arial" panose="020B0604020202020204" pitchFamily="34" charset="0"/>
              </a:rPr>
              <a:t>It answers questions such as:</a:t>
            </a:r>
            <a:endParaRPr lang="en-US" altLang="en-US" sz="2000" spc="-10" dirty="0">
              <a:latin typeface="Arial" panose="020B0604020202020204" pitchFamily="34" charset="0"/>
              <a:cs typeface="Arial" panose="020B0604020202020204" pitchFamily="34" charset="0"/>
            </a:endParaRPr>
          </a:p>
          <a:p>
            <a:pPr marL="926465" marR="5080" lvl="1" indent="-457200">
              <a:lnSpc>
                <a:spcPct val="100000"/>
              </a:lnSpc>
              <a:spcBef>
                <a:spcPts val="95"/>
              </a:spcBef>
              <a:buSzPct val="71000"/>
              <a:buFont typeface="Arial" panose="020B0604020202020204" pitchFamily="34" charset="0"/>
              <a:buChar char="•"/>
              <a:tabLst>
                <a:tab pos="367665" algn="l"/>
              </a:tabLst>
            </a:pPr>
            <a:r>
              <a:rPr lang="en-US" altLang="en-US" sz="2000" spc="-10" dirty="0">
                <a:latin typeface="Arial" panose="020B0604020202020204" pitchFamily="34" charset="0"/>
                <a:cs typeface="Arial" panose="020B0604020202020204" pitchFamily="34" charset="0"/>
              </a:rPr>
              <a:t>What should we do with a page after the user presses the refresh button in the URL?</a:t>
            </a:r>
            <a:endParaRPr lang="en-US" altLang="en-US" sz="2000" spc="-10" dirty="0">
              <a:latin typeface="Arial" panose="020B0604020202020204" pitchFamily="34" charset="0"/>
              <a:cs typeface="Arial" panose="020B0604020202020204" pitchFamily="34" charset="0"/>
            </a:endParaRPr>
          </a:p>
          <a:p>
            <a:pPr marL="926465" marR="5080" lvl="1" indent="-457200">
              <a:lnSpc>
                <a:spcPct val="100000"/>
              </a:lnSpc>
              <a:spcBef>
                <a:spcPts val="95"/>
              </a:spcBef>
              <a:buSzPct val="71000"/>
              <a:buFont typeface="Arial" panose="020B0604020202020204" pitchFamily="34" charset="0"/>
              <a:buChar char="•"/>
              <a:tabLst>
                <a:tab pos="367665" algn="l"/>
              </a:tabLst>
            </a:pPr>
            <a:r>
              <a:rPr lang="en-US" altLang="en-US" sz="2000" spc="-10" dirty="0">
                <a:latin typeface="Arial" panose="020B0604020202020204" pitchFamily="34" charset="0"/>
                <a:cs typeface="Arial" panose="020B0604020202020204" pitchFamily="34" charset="0"/>
              </a:rPr>
              <a:t>What should we do when the server updates or refreshes its data?</a:t>
            </a:r>
            <a:endParaRPr lang="en-US" altLang="en-US" sz="2000" spc="-10" dirty="0">
              <a:latin typeface="Arial" panose="020B0604020202020204" pitchFamily="34" charset="0"/>
              <a:cs typeface="Arial" panose="020B0604020202020204" pitchFamily="34" charset="0"/>
            </a:endParaRPr>
          </a:p>
          <a:p>
            <a:pPr marL="926465" marR="5080" lvl="1" indent="-457200">
              <a:lnSpc>
                <a:spcPct val="100000"/>
              </a:lnSpc>
              <a:spcBef>
                <a:spcPts val="95"/>
              </a:spcBef>
              <a:buSzPct val="71000"/>
              <a:buFont typeface="Arial" panose="020B0604020202020204" pitchFamily="34" charset="0"/>
              <a:buChar char="•"/>
              <a:tabLst>
                <a:tab pos="367665" algn="l"/>
              </a:tabLst>
            </a:pPr>
            <a:r>
              <a:rPr lang="en-US" altLang="en-US" sz="2000" spc="-10" dirty="0">
                <a:latin typeface="Arial" panose="020B0604020202020204" pitchFamily="34" charset="0"/>
                <a:cs typeface="Arial" panose="020B0604020202020204" pitchFamily="34" charset="0"/>
              </a:rPr>
              <a:t>How do components and services become aware of the current state?</a:t>
            </a:r>
            <a:endParaRPr lang="en-US" altLang="en-US" sz="2000" spc="-10" dirty="0">
              <a:latin typeface="Arial" panose="020B0604020202020204" pitchFamily="34" charset="0"/>
              <a:cs typeface="Arial" panose="020B0604020202020204" pitchFamily="34" charset="0"/>
            </a:endParaRPr>
          </a:p>
          <a:p>
            <a:pPr marL="926465" marR="5080" lvl="1" indent="-457200">
              <a:lnSpc>
                <a:spcPct val="100000"/>
              </a:lnSpc>
              <a:spcBef>
                <a:spcPts val="95"/>
              </a:spcBef>
              <a:buSzPct val="71000"/>
              <a:buFont typeface="Arial" panose="020B0604020202020204" pitchFamily="34" charset="0"/>
              <a:buChar char="•"/>
              <a:tabLst>
                <a:tab pos="367665" algn="l"/>
              </a:tabLst>
            </a:pPr>
            <a:r>
              <a:rPr lang="en-US" altLang="en-US" sz="2000" spc="-10" dirty="0">
                <a:latin typeface="Arial" panose="020B0604020202020204" pitchFamily="34" charset="0"/>
                <a:cs typeface="Arial" panose="020B0604020202020204" pitchFamily="34" charset="0"/>
              </a:rPr>
              <a:t>How do we ask the server to update the page?</a:t>
            </a:r>
            <a:endParaRPr lang="en-US" altLang="en-US" sz="2000" spc="-10" dirty="0">
              <a:latin typeface="Arial" panose="020B0604020202020204" pitchFamily="34" charset="0"/>
              <a:cs typeface="Arial" panose="020B0604020202020204" pitchFamily="34" charset="0"/>
            </a:endParaRPr>
          </a:p>
          <a:p>
            <a:pPr marL="469265" marR="5080" indent="-457200">
              <a:lnSpc>
                <a:spcPct val="100000"/>
              </a:lnSpc>
              <a:spcBef>
                <a:spcPts val="95"/>
              </a:spcBef>
              <a:buSzPct val="71000"/>
              <a:buFont typeface="Arial" panose="020B0604020202020204" pitchFamily="34" charset="0"/>
              <a:buChar char="•"/>
              <a:tabLst>
                <a:tab pos="367665" algn="l"/>
              </a:tabLst>
            </a:pPr>
            <a:r>
              <a:rPr lang="en-US" altLang="en-US" sz="2000" spc="-10" dirty="0">
                <a:latin typeface="Arial" panose="020B0604020202020204" pitchFamily="34" charset="0"/>
                <a:cs typeface="Arial" panose="020B0604020202020204" pitchFamily="34" charset="0"/>
              </a:rPr>
              <a:t>Popular state management methods</a:t>
            </a:r>
            <a:r>
              <a:rPr lang="en-US" sz="2000" spc="-10" dirty="0">
                <a:latin typeface="Arial" panose="020B0604020202020204" pitchFamily="34" charset="0"/>
                <a:cs typeface="Arial" panose="020B0604020202020204" pitchFamily="34" charset="0"/>
              </a:rPr>
              <a:t>:</a:t>
            </a:r>
            <a:endParaRPr lang="en-US" sz="2000" spc="-1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sz="2000" b="1" spc="-10" dirty="0">
                <a:latin typeface="Arial" panose="020B0604020202020204" pitchFamily="34" charset="0"/>
                <a:cs typeface="Arial" panose="020B0604020202020204" pitchFamily="34" charset="0"/>
              </a:rPr>
              <a:t>Provider</a:t>
            </a:r>
            <a:endParaRPr lang="en-US" sz="2000" b="1" spc="-1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sz="2000" b="1" spc="-10" dirty="0" err="1">
                <a:latin typeface="Arial" panose="020B0604020202020204" pitchFamily="34" charset="0"/>
                <a:cs typeface="Arial" panose="020B0604020202020204" pitchFamily="34" charset="0"/>
              </a:rPr>
              <a:t>GetX</a:t>
            </a:r>
            <a:endParaRPr lang="en-US" sz="2000" b="1" spc="-1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sz="2000" b="1" spc="-10" dirty="0" err="1">
                <a:latin typeface="Arial" panose="020B0604020202020204" pitchFamily="34" charset="0"/>
                <a:cs typeface="Arial" panose="020B0604020202020204" pitchFamily="34" charset="0"/>
              </a:rPr>
              <a:t>Riverpod</a:t>
            </a:r>
            <a:endParaRPr lang="en-US" sz="2000" b="1" spc="-1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sz="2000" b="1" spc="-10" dirty="0">
                <a:latin typeface="Arial" panose="020B0604020202020204" pitchFamily="34" charset="0"/>
                <a:cs typeface="Arial" panose="020B0604020202020204" pitchFamily="34" charset="0"/>
              </a:rPr>
              <a:t>Stateful Widgets</a:t>
            </a:r>
            <a:endParaRPr lang="en-US" sz="2000" b="1" spc="-1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sz="2000" b="1" spc="-10" dirty="0" err="1">
                <a:latin typeface="Arial" panose="020B0604020202020204" pitchFamily="34" charset="0"/>
                <a:cs typeface="Arial" panose="020B0604020202020204" pitchFamily="34" charset="0"/>
              </a:rPr>
              <a:t>BLoC</a:t>
            </a:r>
            <a:endParaRPr lang="en-US" sz="2000" b="1" spc="-1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sz="2000" b="1" spc="-10" dirty="0">
                <a:latin typeface="Arial" panose="020B0604020202020204" pitchFamily="34" charset="0"/>
                <a:cs typeface="Arial" panose="020B0604020202020204" pitchFamily="34" charset="0"/>
              </a:rPr>
              <a:t>Inherited Widget</a:t>
            </a:r>
            <a:endParaRPr lang="en-US" sz="2000" b="1" spc="-10" dirty="0">
              <a:latin typeface="Arial" panose="020B0604020202020204" pitchFamily="34" charset="0"/>
              <a:cs typeface="Arial" panose="020B0604020202020204" pitchFamily="34" charset="0"/>
            </a:endParaRPr>
          </a:p>
          <a:p>
            <a:pPr marL="926465" marR="5080" lvl="1" indent="-457200">
              <a:spcBef>
                <a:spcPts val="95"/>
              </a:spcBef>
              <a:buSzPct val="71000"/>
              <a:buFont typeface="Arial" panose="020B0604020202020204" pitchFamily="34" charset="0"/>
              <a:buChar char="•"/>
              <a:tabLst>
                <a:tab pos="367665" algn="l"/>
              </a:tabLst>
            </a:pPr>
            <a:r>
              <a:rPr lang="en-US" sz="2000" b="1" spc="-10" dirty="0">
                <a:latin typeface="Arial" panose="020B0604020202020204" pitchFamily="34" charset="0"/>
                <a:cs typeface="Arial" panose="020B0604020202020204" pitchFamily="34" charset="0"/>
              </a:rPr>
              <a:t>Redux</a:t>
            </a:r>
            <a:endParaRPr sz="2000" b="1"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1"/>
          <a:stretch>
            <a:fillRect/>
          </a:stretch>
        </p:blipFill>
        <p:spPr>
          <a:xfrm>
            <a:off x="8626646" y="1929468"/>
            <a:ext cx="5838792" cy="36954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a:solidFill>
                  <a:schemeClr val="bg1"/>
                </a:solidFill>
                <a:latin typeface="Arial" panose="020B0604020202020204" pitchFamily="34" charset="0"/>
                <a:ea typeface="Inter Bold" pitchFamily="34" charset="-122"/>
                <a:cs typeface="Arial" panose="020B0604020202020204" pitchFamily="34" charset="0"/>
              </a:rPr>
              <a:t>Provider</a:t>
            </a:r>
            <a:endParaRPr lang="en-US" sz="3600" dirty="0">
              <a:solidFill>
                <a:schemeClr val="bg1"/>
              </a:solidFill>
              <a:latin typeface="Arial" panose="020B0604020202020204" pitchFamily="34" charset="0"/>
            </a:endParaRPr>
          </a:p>
        </p:txBody>
      </p:sp>
      <p:sp>
        <p:nvSpPr>
          <p:cNvPr id="3" name="object 3"/>
          <p:cNvSpPr txBox="1"/>
          <p:nvPr/>
        </p:nvSpPr>
        <p:spPr>
          <a:xfrm>
            <a:off x="164962" y="1025523"/>
            <a:ext cx="8410903" cy="4825365"/>
          </a:xfrm>
          <a:prstGeom prst="rect">
            <a:avLst/>
          </a:prstGeom>
        </p:spPr>
        <p:txBody>
          <a:bodyPr vert="horz" wrap="square" lIns="0" tIns="12065" rIns="0" bIns="0" rtlCol="0">
            <a:spAutoFit/>
          </a:bodyPr>
          <a:lstStyle>
            <a:defPPr>
              <a:defRPr kern="0"/>
            </a:defPPr>
          </a:lstStyle>
          <a:p>
            <a:pPr marL="12065" marR="5080">
              <a:lnSpc>
                <a:spcPct val="100000"/>
              </a:lnSpc>
              <a:spcBef>
                <a:spcPts val="95"/>
              </a:spcBef>
              <a:buSzPct val="71000"/>
              <a:tabLst>
                <a:tab pos="367665" algn="l"/>
              </a:tabLst>
            </a:pPr>
            <a:r>
              <a:rPr lang="en-US" altLang="en-US" sz="2400" b="1" dirty="0">
                <a:latin typeface="+mj-lt"/>
              </a:rPr>
              <a:t>Description: </a:t>
            </a:r>
            <a:r>
              <a:rPr lang="en-US" altLang="en-US" sz="2400" dirty="0">
                <a:latin typeface="+mj-lt"/>
              </a:rPr>
              <a:t>Provider is a very popular state management solution in Flutter. It allows you to create and manage </a:t>
            </a:r>
            <a:r>
              <a:rPr lang="en-US" altLang="en-US" sz="2400" b="1" dirty="0">
                <a:latin typeface="+mj-lt"/>
              </a:rPr>
              <a:t>providers </a:t>
            </a:r>
            <a:r>
              <a:rPr lang="en-US" altLang="en-US" sz="2400" dirty="0">
                <a:latin typeface="+mj-lt"/>
              </a:rPr>
              <a:t>to store app state, enabling widgets to listen to state changes.</a:t>
            </a:r>
            <a:endParaRPr lang="en-US" altLang="en-US" sz="2400" dirty="0">
              <a:latin typeface="+mj-lt"/>
            </a:endParaRPr>
          </a:p>
          <a:p>
            <a:pPr marL="12065" marR="5080">
              <a:lnSpc>
                <a:spcPct val="100000"/>
              </a:lnSpc>
              <a:spcBef>
                <a:spcPts val="95"/>
              </a:spcBef>
              <a:buSzPct val="71000"/>
              <a:tabLst>
                <a:tab pos="367665" algn="l"/>
              </a:tabLst>
            </a:pPr>
            <a:r>
              <a:rPr lang="en-US" sz="2400" b="1" dirty="0">
                <a:latin typeface="+mj-lt"/>
              </a:rPr>
              <a:t>Use case: </a:t>
            </a:r>
            <a:r>
              <a:rPr lang="en-US" altLang="en-US" sz="2400" dirty="0">
                <a:latin typeface="+mj-lt"/>
              </a:rPr>
              <a:t>Managing global state or sharing state between multiple widgets.</a:t>
            </a:r>
            <a:endParaRPr lang="en-US" altLang="en-US" sz="2400" dirty="0">
              <a:latin typeface="+mj-lt"/>
            </a:endParaRPr>
          </a:p>
          <a:p>
            <a:pPr indent="0">
              <a:buFont typeface="Arial" panose="020B0604020202020204" pitchFamily="34" charset="0"/>
              <a:buNone/>
            </a:pPr>
            <a:r>
              <a:rPr lang="en-US" altLang="vi-VN" sz="2400" b="1" dirty="0">
                <a:latin typeface="+mj-lt"/>
              </a:rPr>
              <a:t>Pros</a:t>
            </a:r>
            <a:endParaRPr lang="en-US" altLang="vi-VN" sz="2400" b="1" dirty="0">
              <a:latin typeface="+mj-lt"/>
            </a:endParaRPr>
          </a:p>
          <a:p>
            <a:pPr marL="342900" indent="-342900">
              <a:buFont typeface="Arial" panose="020B0604020202020204" pitchFamily="34" charset="0"/>
              <a:buChar char="•"/>
            </a:pPr>
            <a:r>
              <a:rPr lang="en-US" altLang="en-US" sz="2000" dirty="0">
                <a:latin typeface="+mj-lt"/>
              </a:rPr>
              <a:t>Easy to use and widely adopted</a:t>
            </a:r>
            <a:endParaRPr lang="en-US" altLang="en-US" sz="2000" dirty="0">
              <a:latin typeface="+mj-lt"/>
            </a:endParaRPr>
          </a:p>
          <a:p>
            <a:pPr marL="342900" indent="-342900">
              <a:buFont typeface="Arial" panose="020B0604020202020204" pitchFamily="34" charset="0"/>
              <a:buChar char="•"/>
            </a:pPr>
            <a:r>
              <a:rPr lang="en-US" altLang="en-US" sz="2000" dirty="0">
                <a:latin typeface="+mj-lt"/>
              </a:rPr>
              <a:t>Supports state sharing between widgets without passing data via constructors.</a:t>
            </a:r>
            <a:endParaRPr lang="en-US" altLang="en-US" sz="2000" dirty="0">
              <a:latin typeface="+mj-lt"/>
            </a:endParaRPr>
          </a:p>
          <a:p>
            <a:pPr marL="342900" indent="-342900">
              <a:buFont typeface="Arial" panose="020B0604020202020204" pitchFamily="34" charset="0"/>
              <a:buChar char="•"/>
            </a:pPr>
            <a:r>
              <a:rPr lang="en-US" altLang="en-US" sz="2000" dirty="0">
                <a:latin typeface="+mj-lt"/>
              </a:rPr>
              <a:t>Well-integrated with Flutter and easy to test</a:t>
            </a:r>
            <a:r>
              <a:rPr lang="vi-VN" sz="2000" dirty="0">
                <a:latin typeface="+mj-lt"/>
              </a:rPr>
              <a:t>.</a:t>
            </a:r>
            <a:endParaRPr lang="en-US" sz="2000" dirty="0">
              <a:latin typeface="+mj-lt"/>
            </a:endParaRPr>
          </a:p>
          <a:p>
            <a:r>
              <a:rPr lang="en-US" altLang="vi-VN" sz="2400" b="1" dirty="0">
                <a:latin typeface="+mj-lt"/>
                <a:cs typeface="Arial" panose="020B0604020202020204" pitchFamily="34" charset="0"/>
              </a:rPr>
              <a:t>Cons</a:t>
            </a:r>
            <a:r>
              <a:rPr lang="en-US" sz="2400" b="1" dirty="0">
                <a:latin typeface="+mj-lt"/>
                <a:cs typeface="Arial" panose="020B0604020202020204" pitchFamily="34" charset="0"/>
              </a:rPr>
              <a:t> </a:t>
            </a:r>
            <a:endParaRPr lang="en-US" sz="2400" b="1" dirty="0">
              <a:latin typeface="+mj-lt"/>
              <a:cs typeface="Arial" panose="020B0604020202020204" pitchFamily="34" charset="0"/>
            </a:endParaRPr>
          </a:p>
          <a:p>
            <a:pPr marL="342900" indent="-342900">
              <a:buFont typeface="Arial" panose="020B0604020202020204" pitchFamily="34" charset="0"/>
              <a:buChar char="•"/>
            </a:pPr>
            <a:r>
              <a:rPr lang="en-US" altLang="en-US" sz="2000" dirty="0">
                <a:latin typeface="+mj-lt"/>
                <a:cs typeface="Arial" panose="020B0604020202020204" pitchFamily="34" charset="0"/>
              </a:rPr>
              <a:t>Requires understanding of ChangeNotifier and how Consumer works.</a:t>
            </a:r>
            <a:endParaRPr lang="en-US" altLang="en-US" sz="2000" dirty="0">
              <a:latin typeface="+mj-lt"/>
              <a:cs typeface="Arial" panose="020B0604020202020204" pitchFamily="34" charset="0"/>
            </a:endParaRPr>
          </a:p>
          <a:p>
            <a:pPr marL="342900" indent="-342900">
              <a:buFont typeface="Arial" panose="020B0604020202020204" pitchFamily="34" charset="0"/>
              <a:buChar char="•"/>
            </a:pPr>
            <a:r>
              <a:rPr lang="en-US" altLang="en-US" sz="2000" dirty="0">
                <a:latin typeface="+mj-lt"/>
                <a:cs typeface="Arial" panose="020B0604020202020204" pitchFamily="34" charset="0"/>
              </a:rPr>
              <a:t>Can become a bit complex in larger apps with many state variables.</a:t>
            </a:r>
            <a:endParaRPr lang="en-US" altLang="en-US" sz="2000" dirty="0">
              <a:latin typeface="+mj-lt"/>
              <a:cs typeface="Arial" panose="020B0604020202020204" pitchFamily="34" charset="0"/>
            </a:endParaRPr>
          </a:p>
        </p:txBody>
      </p:sp>
      <p:pic>
        <p:nvPicPr>
          <p:cNvPr id="5" name="Picture 4"/>
          <p:cNvPicPr>
            <a:picLocks noChangeAspect="1"/>
          </p:cNvPicPr>
          <p:nvPr/>
        </p:nvPicPr>
        <p:blipFill>
          <a:blip r:embed="rId1"/>
          <a:stretch>
            <a:fillRect/>
          </a:stretch>
        </p:blipFill>
        <p:spPr>
          <a:xfrm>
            <a:off x="8589402" y="2055303"/>
            <a:ext cx="6040998" cy="270981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err="1">
                <a:solidFill>
                  <a:schemeClr val="bg1"/>
                </a:solidFill>
                <a:latin typeface="Arial" panose="020B0604020202020204" pitchFamily="34" charset="0"/>
                <a:ea typeface="Inter Bold" pitchFamily="34" charset="-122"/>
                <a:cs typeface="Arial" panose="020B0604020202020204" pitchFamily="34" charset="0"/>
              </a:rPr>
              <a:t>GetX</a:t>
            </a:r>
            <a:endParaRPr lang="en-US" sz="3600" dirty="0">
              <a:solidFill>
                <a:schemeClr val="bg1"/>
              </a:solidFill>
              <a:latin typeface="Arial" panose="020B0604020202020204" pitchFamily="34" charset="0"/>
            </a:endParaRPr>
          </a:p>
        </p:txBody>
      </p:sp>
      <p:pic>
        <p:nvPicPr>
          <p:cNvPr id="6" name="Picture 5"/>
          <p:cNvPicPr>
            <a:picLocks noChangeAspect="1"/>
          </p:cNvPicPr>
          <p:nvPr/>
        </p:nvPicPr>
        <p:blipFill>
          <a:blip r:embed="rId1"/>
          <a:stretch>
            <a:fillRect/>
          </a:stretch>
        </p:blipFill>
        <p:spPr>
          <a:xfrm>
            <a:off x="9911223" y="1286544"/>
            <a:ext cx="2524750" cy="5100506"/>
          </a:xfrm>
          <a:prstGeom prst="rect">
            <a:avLst/>
          </a:prstGeom>
        </p:spPr>
      </p:pic>
      <p:sp>
        <p:nvSpPr>
          <p:cNvPr id="8" name="TextBox 7"/>
          <p:cNvSpPr txBox="1"/>
          <p:nvPr/>
        </p:nvSpPr>
        <p:spPr>
          <a:xfrm>
            <a:off x="351417" y="1559251"/>
            <a:ext cx="9203644" cy="4892675"/>
          </a:xfrm>
          <a:prstGeom prst="rect">
            <a:avLst/>
          </a:prstGeom>
          <a:noFill/>
        </p:spPr>
        <p:txBody>
          <a:bodyPr wrap="square">
            <a:spAutoFit/>
          </a:bodyPr>
          <a:lstStyle/>
          <a:p>
            <a:r>
              <a:rPr lang="en-US" altLang="en-US" sz="2400" b="1" dirty="0">
                <a:latin typeface="+mj-lt"/>
              </a:rPr>
              <a:t>Description</a:t>
            </a:r>
            <a:r>
              <a:rPr lang="vi-VN" sz="2400" b="1" dirty="0">
                <a:latin typeface="+mj-lt"/>
              </a:rPr>
              <a:t>: </a:t>
            </a:r>
            <a:r>
              <a:rPr lang="en-US" altLang="en-US" sz="2400" dirty="0">
                <a:latin typeface="+mj-lt"/>
              </a:rPr>
              <a:t>GetX is a powerful and lightweight state management library for Flutter.</a:t>
            </a:r>
            <a:endParaRPr lang="en-US" altLang="en-US" sz="2400" dirty="0">
              <a:latin typeface="+mj-lt"/>
            </a:endParaRPr>
          </a:p>
          <a:p>
            <a:r>
              <a:rPr lang="en-US" altLang="en-US" sz="2400" dirty="0">
                <a:latin typeface="+mj-lt"/>
              </a:rPr>
              <a:t>It provides a simple and effective way to handle navigation, state, and dependency injection.</a:t>
            </a:r>
            <a:endParaRPr lang="en-US" altLang="en-US" sz="2400" dirty="0">
              <a:latin typeface="+mj-lt"/>
            </a:endParaRPr>
          </a:p>
          <a:p>
            <a:r>
              <a:rPr lang="en-US" altLang="vi-VN" sz="2400" b="1" dirty="0">
                <a:latin typeface="+mj-lt"/>
              </a:rPr>
              <a:t>Use case</a:t>
            </a:r>
            <a:r>
              <a:rPr lang="vi-VN" sz="2400" b="1" dirty="0">
                <a:latin typeface="+mj-lt"/>
              </a:rPr>
              <a:t>: </a:t>
            </a:r>
            <a:r>
              <a:rPr lang="en-US" altLang="en-US" sz="2400" dirty="0">
                <a:latin typeface="+mj-lt"/>
              </a:rPr>
              <a:t>Global state management, routing, and dependency injection.</a:t>
            </a:r>
            <a:endParaRPr lang="en-US" altLang="en-US" sz="2400" b="1" dirty="0">
              <a:latin typeface="+mj-lt"/>
            </a:endParaRPr>
          </a:p>
          <a:p>
            <a:r>
              <a:rPr lang="en-US" altLang="vi-VN" sz="2400" b="1" dirty="0">
                <a:latin typeface="+mj-lt"/>
              </a:rPr>
              <a:t>Pros</a:t>
            </a:r>
            <a:r>
              <a:rPr lang="vi-VN" sz="2400" b="1" dirty="0">
                <a:latin typeface="+mj-lt"/>
              </a:rPr>
              <a:t>:</a:t>
            </a:r>
            <a:endParaRPr lang="en-US" sz="2400" b="1" dirty="0">
              <a:latin typeface="+mj-lt"/>
            </a:endParaRPr>
          </a:p>
          <a:p>
            <a:pPr marL="342900" indent="-342900">
              <a:buFont typeface="Arial" panose="020B0604020202020204" pitchFamily="34" charset="0"/>
              <a:buChar char="•"/>
            </a:pPr>
            <a:r>
              <a:rPr lang="en-US" altLang="en-US" sz="2000" dirty="0">
                <a:latin typeface="+mj-lt"/>
              </a:rPr>
              <a:t>High performance</a:t>
            </a:r>
            <a:endParaRPr lang="en-US" altLang="en-US" sz="2000" dirty="0">
              <a:latin typeface="+mj-lt"/>
            </a:endParaRPr>
          </a:p>
          <a:p>
            <a:pPr marL="342900" indent="-342900">
              <a:buFont typeface="Arial" panose="020B0604020202020204" pitchFamily="34" charset="0"/>
              <a:buChar char="•"/>
            </a:pPr>
            <a:r>
              <a:rPr lang="en-US" altLang="en-US" sz="2000" dirty="0">
                <a:latin typeface="+mj-lt"/>
              </a:rPr>
              <a:t>Very lightweight and easy to use</a:t>
            </a:r>
            <a:endParaRPr lang="en-US" altLang="en-US" sz="2000" dirty="0">
              <a:latin typeface="+mj-lt"/>
            </a:endParaRPr>
          </a:p>
          <a:p>
            <a:pPr marL="342900" indent="-342900">
              <a:buFont typeface="Arial" panose="020B0604020202020204" pitchFamily="34" charset="0"/>
              <a:buChar char="•"/>
            </a:pPr>
            <a:r>
              <a:rPr lang="en-US" altLang="en-US" sz="2000" dirty="0">
                <a:latin typeface="+mj-lt"/>
              </a:rPr>
              <a:t>Handles state and routing with minimal code</a:t>
            </a:r>
            <a:endParaRPr lang="en-US" altLang="en-US" sz="2000" dirty="0">
              <a:latin typeface="+mj-lt"/>
            </a:endParaRPr>
          </a:p>
          <a:p>
            <a:pPr marL="342900" indent="-342900">
              <a:buFont typeface="Arial" panose="020B0604020202020204" pitchFamily="34" charset="0"/>
              <a:buChar char="•"/>
            </a:pPr>
            <a:r>
              <a:rPr lang="en-US" altLang="en-US" sz="2000" dirty="0">
                <a:latin typeface="+mj-lt"/>
              </a:rPr>
              <a:t>Supports dependency injection with clear syntax</a:t>
            </a:r>
            <a:r>
              <a:rPr lang="vi-VN" sz="2000" dirty="0">
                <a:latin typeface="+mj-lt"/>
              </a:rPr>
              <a:t>.</a:t>
            </a:r>
            <a:endParaRPr lang="en-US" sz="2000" dirty="0">
              <a:latin typeface="+mj-lt"/>
            </a:endParaRPr>
          </a:p>
          <a:p>
            <a:r>
              <a:rPr lang="en-US" altLang="vi-VN" sz="2400" b="1" dirty="0">
                <a:latin typeface="+mj-lt"/>
              </a:rPr>
              <a:t>Cons</a:t>
            </a:r>
            <a:r>
              <a:rPr lang="vi-VN" sz="2400" b="1" dirty="0">
                <a:latin typeface="+mj-lt"/>
              </a:rPr>
              <a:t>:</a:t>
            </a:r>
            <a:endParaRPr lang="en-US" sz="2400" b="1" dirty="0">
              <a:latin typeface="+mj-lt"/>
            </a:endParaRPr>
          </a:p>
          <a:p>
            <a:pPr marL="342900" indent="-342900">
              <a:buFont typeface="Arial" panose="020B0604020202020204" pitchFamily="34" charset="0"/>
              <a:buChar char="•"/>
            </a:pPr>
            <a:r>
              <a:rPr lang="en-US" altLang="en-US" sz="2000" dirty="0">
                <a:latin typeface="+mj-lt"/>
              </a:rPr>
              <a:t>May be harder to maintain in large applications</a:t>
            </a:r>
            <a:endParaRPr lang="en-US" altLang="en-US" sz="2000" dirty="0">
              <a:latin typeface="+mj-lt"/>
            </a:endParaRPr>
          </a:p>
          <a:p>
            <a:pPr marL="342900" indent="-342900">
              <a:buFont typeface="Arial" panose="020B0604020202020204" pitchFamily="34" charset="0"/>
              <a:buChar char="•"/>
            </a:pPr>
            <a:r>
              <a:rPr lang="en-US" altLang="en-US" sz="2000" dirty="0">
                <a:latin typeface="+mj-lt"/>
              </a:rPr>
              <a:t>Smaller community compared to Provider and Riverpod</a:t>
            </a:r>
            <a:endParaRPr lang="en-US" altLang="en-US" sz="2000" dirty="0">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err="1">
                <a:solidFill>
                  <a:schemeClr val="bg1"/>
                </a:solidFill>
                <a:latin typeface="Arial" panose="020B0604020202020204" pitchFamily="34" charset="0"/>
                <a:ea typeface="Inter Bold" pitchFamily="34" charset="-122"/>
                <a:cs typeface="Arial" panose="020B0604020202020204" pitchFamily="34" charset="0"/>
              </a:rPr>
              <a:t>Riverpod</a:t>
            </a:r>
            <a:endParaRPr lang="en-US" sz="3600" dirty="0">
              <a:solidFill>
                <a:schemeClr val="bg1"/>
              </a:solidFill>
              <a:latin typeface="Arial" panose="020B0604020202020204" pitchFamily="34" charset="0"/>
            </a:endParaRPr>
          </a:p>
        </p:txBody>
      </p:sp>
      <p:sp>
        <p:nvSpPr>
          <p:cNvPr id="7" name="TextBox 6"/>
          <p:cNvSpPr txBox="1"/>
          <p:nvPr/>
        </p:nvSpPr>
        <p:spPr>
          <a:xfrm>
            <a:off x="289560" y="1081405"/>
            <a:ext cx="7755890" cy="6369685"/>
          </a:xfrm>
          <a:prstGeom prst="rect">
            <a:avLst/>
          </a:prstGeom>
          <a:noFill/>
        </p:spPr>
        <p:txBody>
          <a:bodyPr wrap="square">
            <a:spAutoFit/>
          </a:bodyPr>
          <a:lstStyle/>
          <a:p>
            <a:r>
              <a:rPr lang="en-US" altLang="en-US" sz="2400" b="1" dirty="0">
                <a:latin typeface="+mj-lt"/>
              </a:rPr>
              <a:t>Description: </a:t>
            </a:r>
            <a:r>
              <a:rPr lang="en-US" altLang="en-US" sz="2400" dirty="0">
                <a:latin typeface="+mj-lt"/>
              </a:rPr>
              <a:t>Riverpod is a state management library similar to Provider but with some improvements.</a:t>
            </a:r>
            <a:endParaRPr lang="en-US" altLang="en-US" sz="2400" dirty="0">
              <a:latin typeface="+mj-lt"/>
            </a:endParaRPr>
          </a:p>
          <a:p>
            <a:r>
              <a:rPr lang="en-US" altLang="en-US" sz="2400" dirty="0">
                <a:latin typeface="+mj-lt"/>
              </a:rPr>
              <a:t>It uses unidirectional data flow and helps reduce issues with readability, testability, and performance.</a:t>
            </a:r>
            <a:endParaRPr lang="en-US" altLang="en-US" sz="2400" dirty="0">
              <a:latin typeface="+mj-lt"/>
            </a:endParaRPr>
          </a:p>
          <a:p>
            <a:endParaRPr lang="en-US" altLang="en-US" sz="2400" dirty="0">
              <a:latin typeface="+mj-lt"/>
            </a:endParaRPr>
          </a:p>
          <a:p>
            <a:r>
              <a:rPr lang="en-US" altLang="en-US" sz="2400" b="1" dirty="0">
                <a:latin typeface="+mj-lt"/>
              </a:rPr>
              <a:t>Use case: </a:t>
            </a:r>
            <a:r>
              <a:rPr lang="en-US" altLang="en-US" sz="2400" dirty="0">
                <a:latin typeface="+mj-lt"/>
              </a:rPr>
              <a:t>Global state management, especially suitable for large, testable applications</a:t>
            </a:r>
            <a:endParaRPr lang="en-US" altLang="en-US" sz="2400" dirty="0">
              <a:latin typeface="+mj-lt"/>
            </a:endParaRPr>
          </a:p>
          <a:p>
            <a:endParaRPr lang="en-US" altLang="en-US" sz="2400" dirty="0">
              <a:latin typeface="+mj-lt"/>
            </a:endParaRPr>
          </a:p>
          <a:p>
            <a:r>
              <a:rPr lang="en-US" altLang="en-US" sz="2400" b="1" dirty="0">
                <a:latin typeface="+mj-lt"/>
              </a:rPr>
              <a:t>Pros:</a:t>
            </a:r>
            <a:endParaRPr lang="en-US" altLang="en-US" sz="2400" dirty="0">
              <a:latin typeface="+mj-lt"/>
            </a:endParaRPr>
          </a:p>
          <a:p>
            <a:pPr marL="342900" indent="-342900">
              <a:buFont typeface="Arial" panose="020B0604020202020204" pitchFamily="34" charset="0"/>
              <a:buChar char="•"/>
            </a:pPr>
            <a:r>
              <a:rPr lang="en-US" altLang="en-US" sz="2400" dirty="0">
                <a:latin typeface="+mj-lt"/>
              </a:rPr>
              <a:t>Reduces runtime errors; helps catch issues at compile time</a:t>
            </a:r>
            <a:endParaRPr lang="en-US" altLang="en-US" sz="2400" dirty="0">
              <a:latin typeface="+mj-lt"/>
            </a:endParaRPr>
          </a:p>
          <a:p>
            <a:pPr marL="342900" indent="-342900">
              <a:buFont typeface="Arial" panose="020B0604020202020204" pitchFamily="34" charset="0"/>
              <a:buChar char="•"/>
            </a:pPr>
            <a:r>
              <a:rPr lang="en-US" altLang="en-US" sz="2400" dirty="0">
                <a:latin typeface="+mj-lt"/>
              </a:rPr>
              <a:t>Does not depend on BuildContext, improving testability</a:t>
            </a:r>
            <a:endParaRPr lang="en-US" altLang="en-US" sz="2400" dirty="0">
              <a:latin typeface="+mj-lt"/>
            </a:endParaRPr>
          </a:p>
          <a:p>
            <a:pPr marL="342900" indent="-342900">
              <a:buFont typeface="Arial" panose="020B0604020202020204" pitchFamily="34" charset="0"/>
              <a:buChar char="•"/>
            </a:pPr>
            <a:r>
              <a:rPr lang="en-US" altLang="en-US" sz="2400" dirty="0">
                <a:latin typeface="+mj-lt"/>
              </a:rPr>
              <a:t>Better performance and code clarity</a:t>
            </a:r>
            <a:endParaRPr lang="en-US" altLang="en-US" sz="2400" dirty="0">
              <a:latin typeface="+mj-lt"/>
            </a:endParaRPr>
          </a:p>
          <a:p>
            <a:r>
              <a:rPr lang="en-US" altLang="en-US" sz="2400" b="1" dirty="0">
                <a:latin typeface="+mj-lt"/>
              </a:rPr>
              <a:t>Cons:</a:t>
            </a:r>
            <a:endParaRPr lang="en-US" altLang="en-US" sz="2400" dirty="0">
              <a:latin typeface="+mj-lt"/>
            </a:endParaRPr>
          </a:p>
          <a:p>
            <a:pPr marL="342900" indent="-342900">
              <a:buFont typeface="Arial" panose="020B0604020202020204" pitchFamily="34" charset="0"/>
              <a:buChar char="•"/>
            </a:pPr>
            <a:r>
              <a:rPr lang="en-US" altLang="en-US" sz="2400" dirty="0">
                <a:latin typeface="+mj-lt"/>
              </a:rPr>
              <a:t>Newer than Provider, requires learning its syntax and concepts</a:t>
            </a:r>
            <a:endParaRPr lang="en-US" altLang="en-US" sz="2400" dirty="0">
              <a:latin typeface="+mj-lt"/>
            </a:endParaRPr>
          </a:p>
        </p:txBody>
      </p:sp>
      <p:pic>
        <p:nvPicPr>
          <p:cNvPr id="9" name="Picture 8"/>
          <p:cNvPicPr>
            <a:picLocks noChangeAspect="1"/>
          </p:cNvPicPr>
          <p:nvPr/>
        </p:nvPicPr>
        <p:blipFill>
          <a:blip r:embed="rId1"/>
          <a:stretch>
            <a:fillRect/>
          </a:stretch>
        </p:blipFill>
        <p:spPr>
          <a:xfrm>
            <a:off x="8053718" y="2342538"/>
            <a:ext cx="6411720" cy="300647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dirty="0">
                <a:solidFill>
                  <a:schemeClr val="bg1"/>
                </a:solidFill>
                <a:latin typeface="Arial" panose="020B0604020202020204" pitchFamily="34" charset="0"/>
                <a:ea typeface="Inter Bold" pitchFamily="34" charset="-122"/>
                <a:cs typeface="Arial" panose="020B0604020202020204" pitchFamily="34" charset="0"/>
              </a:rPr>
              <a:t>Redux</a:t>
            </a:r>
            <a:endParaRPr lang="en-US" sz="3600" dirty="0">
              <a:solidFill>
                <a:schemeClr val="bg1"/>
              </a:solidFill>
              <a:latin typeface="Arial" panose="020B0604020202020204" pitchFamily="34" charset="0"/>
            </a:endParaRPr>
          </a:p>
        </p:txBody>
      </p:sp>
      <p:pic>
        <p:nvPicPr>
          <p:cNvPr id="13" name="Picture 12"/>
          <p:cNvPicPr>
            <a:picLocks noChangeAspect="1"/>
          </p:cNvPicPr>
          <p:nvPr/>
        </p:nvPicPr>
        <p:blipFill>
          <a:blip r:embed="rId1"/>
          <a:srcRect l="6274" t="14035" r="6187" b="14082"/>
          <a:stretch>
            <a:fillRect/>
          </a:stretch>
        </p:blipFill>
        <p:spPr>
          <a:xfrm>
            <a:off x="8123360" y="3020037"/>
            <a:ext cx="5780015" cy="1761688"/>
          </a:xfrm>
          <a:prstGeom prst="rect">
            <a:avLst/>
          </a:prstGeom>
        </p:spPr>
      </p:pic>
      <p:sp>
        <p:nvSpPr>
          <p:cNvPr id="15" name="TextBox 14"/>
          <p:cNvSpPr txBox="1"/>
          <p:nvPr/>
        </p:nvSpPr>
        <p:spPr>
          <a:xfrm>
            <a:off x="96168" y="1251416"/>
            <a:ext cx="7613949" cy="5631180"/>
          </a:xfrm>
          <a:prstGeom prst="rect">
            <a:avLst/>
          </a:prstGeom>
          <a:noFill/>
        </p:spPr>
        <p:txBody>
          <a:bodyPr wrap="square">
            <a:spAutoFit/>
          </a:bodyPr>
          <a:lstStyle/>
          <a:p>
            <a:r>
              <a:rPr lang="en-US" altLang="en-US" sz="2400" b="1" dirty="0">
                <a:latin typeface="+mj-lt"/>
              </a:rPr>
              <a:t>Description: </a:t>
            </a:r>
            <a:r>
              <a:rPr lang="en-US" altLang="en-US" sz="2400" dirty="0">
                <a:latin typeface="+mj-lt"/>
              </a:rPr>
              <a:t>Redux is a state management model based on the unidirectional data flow principle.</a:t>
            </a:r>
            <a:endParaRPr lang="en-US" altLang="en-US" sz="2400" dirty="0">
              <a:latin typeface="+mj-lt"/>
            </a:endParaRPr>
          </a:p>
          <a:p>
            <a:r>
              <a:rPr lang="en-US" altLang="en-US" sz="2400" dirty="0">
                <a:latin typeface="+mj-lt"/>
              </a:rPr>
              <a:t>It provides a clear separation between UI and business logic.</a:t>
            </a:r>
            <a:endParaRPr lang="en-US" altLang="en-US" sz="2400" dirty="0">
              <a:latin typeface="+mj-lt"/>
            </a:endParaRPr>
          </a:p>
          <a:p>
            <a:r>
              <a:rPr lang="en-US" altLang="en-US" sz="2400" b="1" dirty="0">
                <a:latin typeface="+mj-lt"/>
              </a:rPr>
              <a:t>Use case: </a:t>
            </a:r>
            <a:r>
              <a:rPr lang="en-US" altLang="en-US" sz="2400" dirty="0">
                <a:latin typeface="+mj-lt"/>
              </a:rPr>
              <a:t>Complex applications or apps requiring strict logic synchronization</a:t>
            </a:r>
            <a:endParaRPr lang="en-US" altLang="en-US" sz="2400" dirty="0">
              <a:latin typeface="+mj-lt"/>
            </a:endParaRPr>
          </a:p>
          <a:p>
            <a:r>
              <a:rPr lang="en-US" altLang="en-US" sz="2400" b="1" dirty="0">
                <a:latin typeface="+mj-lt"/>
              </a:rPr>
              <a:t>Pros:</a:t>
            </a:r>
            <a:endParaRPr lang="en-US" altLang="en-US" sz="2400" b="1" dirty="0">
              <a:latin typeface="+mj-lt"/>
            </a:endParaRPr>
          </a:p>
          <a:p>
            <a:pPr marL="342900" indent="-342900">
              <a:buFont typeface="Arial" panose="020B0604020202020204" pitchFamily="34" charset="0"/>
              <a:buChar char="•"/>
            </a:pPr>
            <a:r>
              <a:rPr lang="en-US" altLang="en-US" sz="2400" dirty="0">
                <a:latin typeface="+mj-lt"/>
              </a:rPr>
              <a:t>Clear state management and business logic separation</a:t>
            </a:r>
            <a:endParaRPr lang="en-US" altLang="en-US" sz="2400" dirty="0">
              <a:latin typeface="+mj-lt"/>
            </a:endParaRPr>
          </a:p>
          <a:p>
            <a:pPr marL="342900" indent="-342900">
              <a:buFont typeface="Arial" panose="020B0604020202020204" pitchFamily="34" charset="0"/>
              <a:buChar char="•"/>
            </a:pPr>
            <a:r>
              <a:rPr lang="en-US" altLang="en-US" sz="2400" dirty="0">
                <a:latin typeface="+mj-lt"/>
              </a:rPr>
              <a:t>Easy to test and debug; helps efficiently identify bugs</a:t>
            </a:r>
            <a:endParaRPr lang="en-US" altLang="en-US" sz="2400" dirty="0">
              <a:latin typeface="+mj-lt"/>
            </a:endParaRPr>
          </a:p>
          <a:p>
            <a:r>
              <a:rPr lang="en-US" altLang="en-US" sz="2400" b="1" dirty="0">
                <a:latin typeface="+mj-lt"/>
              </a:rPr>
              <a:t>Cons:</a:t>
            </a:r>
            <a:endParaRPr lang="en-US" altLang="en-US" sz="2400" b="1" dirty="0">
              <a:latin typeface="+mj-lt"/>
            </a:endParaRPr>
          </a:p>
          <a:p>
            <a:pPr marL="342900" indent="-342900">
              <a:buFont typeface="Arial" panose="020B0604020202020204" pitchFamily="34" charset="0"/>
              <a:buChar char="•"/>
            </a:pPr>
            <a:r>
              <a:rPr lang="en-US" altLang="en-US" sz="2400" dirty="0">
                <a:latin typeface="+mj-lt"/>
              </a:rPr>
              <a:t>More complex compared to solutions like Provider or Riverpod</a:t>
            </a:r>
            <a:endParaRPr lang="en-US" altLang="en-US" sz="2400" dirty="0">
              <a:latin typeface="+mj-lt"/>
            </a:endParaRPr>
          </a:p>
          <a:p>
            <a:pPr marL="342900" indent="-342900">
              <a:buFont typeface="Arial" panose="020B0604020202020204" pitchFamily="34" charset="0"/>
              <a:buChar char="•"/>
            </a:pPr>
            <a:r>
              <a:rPr lang="en-US" altLang="en-US" sz="2400" dirty="0">
                <a:latin typeface="+mj-lt"/>
              </a:rPr>
              <a:t>May be overkill for small applications</a:t>
            </a:r>
            <a:endParaRPr lang="en-US" altLang="en-US" sz="2400" dirty="0">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16" name="Shape 5"/>
          <p:cNvSpPr/>
          <p:nvPr/>
        </p:nvSpPr>
        <p:spPr>
          <a:xfrm>
            <a:off x="1676877" y="6307445"/>
            <a:ext cx="362903" cy="362903"/>
          </a:xfrm>
          <a:prstGeom prst="roundRect">
            <a:avLst>
              <a:gd name="adj" fmla="val 25194296"/>
            </a:avLst>
          </a:prstGeom>
          <a:noFill/>
          <a:ln w="7620">
            <a:solidFill>
              <a:srgbClr val="FFFFFF"/>
            </a:solidFill>
            <a:prstDash val="solid"/>
          </a:ln>
        </p:spPr>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Example</a:t>
            </a:r>
            <a:endParaRPr lang="en-US" sz="3600">
              <a:solidFill>
                <a:schemeClr val="bg1"/>
              </a:solidFill>
              <a:latin typeface="Arial" panose="020B0604020202020204" pitchFamily="34" charset="0"/>
            </a:endParaRPr>
          </a:p>
        </p:txBody>
      </p:sp>
      <p:sp>
        <p:nvSpPr>
          <p:cNvPr id="6" name="object 3"/>
          <p:cNvSpPr txBox="1"/>
          <p:nvPr/>
        </p:nvSpPr>
        <p:spPr>
          <a:xfrm>
            <a:off x="302357" y="987138"/>
            <a:ext cx="11333990" cy="1304925"/>
          </a:xfrm>
          <a:prstGeom prst="rect">
            <a:avLst/>
          </a:prstGeom>
        </p:spPr>
        <p:txBody>
          <a:bodyPr vert="horz" wrap="square" lIns="0" tIns="12700" rIns="0" bIns="0" rtlCol="0">
            <a:spAutoFit/>
          </a:bodyPr>
          <a:lstStyle>
            <a:defPPr>
              <a:defRPr kern="0"/>
            </a:defPPr>
          </a:lstStyle>
          <a:p>
            <a:pPr marL="12700">
              <a:spcBef>
                <a:spcPts val="100"/>
              </a:spcBef>
            </a:pPr>
            <a:r>
              <a:rPr lang="en-US" altLang="en-US" sz="2800" b="1" dirty="0">
                <a:latin typeface="Arial" panose="020B0604020202020204" pitchFamily="34" charset="0"/>
                <a:cs typeface="Arial" panose="020B0604020202020204" pitchFamily="34" charset="0"/>
              </a:rPr>
              <a:t>Example: </a:t>
            </a:r>
            <a:r>
              <a:rPr lang="en-US" altLang="en-US" sz="2800" dirty="0">
                <a:latin typeface="Arial" panose="020B0604020202020204" pitchFamily="34" charset="0"/>
                <a:cs typeface="Arial" panose="020B0604020202020204" pitchFamily="34" charset="0"/>
              </a:rPr>
              <a:t>The function of the program is simple: When the user clicks the “+” button at the bottom-right corner, the number at the center of the screen increases by 1.</a:t>
            </a:r>
            <a:endParaRPr lang="en-US" altLang="en-US" sz="2800" dirty="0">
              <a:latin typeface="Arial" panose="020B0604020202020204" pitchFamily="34" charset="0"/>
              <a:cs typeface="Arial" panose="020B0604020202020204" pitchFamily="34" charset="0"/>
            </a:endParaRPr>
          </a:p>
        </p:txBody>
      </p:sp>
      <p:pic>
        <p:nvPicPr>
          <p:cNvPr id="9" name="object 4"/>
          <p:cNvPicPr/>
          <p:nvPr/>
        </p:nvPicPr>
        <p:blipFill>
          <a:blip r:embed="rId1" cstate="print"/>
          <a:stretch>
            <a:fillRect/>
          </a:stretch>
        </p:blipFill>
        <p:spPr>
          <a:xfrm>
            <a:off x="6399971" y="2309248"/>
            <a:ext cx="4940964" cy="548220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Arial" panose="020B0604020202020204" pitchFamily="34" charset="0"/>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Arial" panose="020B0604020202020204" pitchFamily="34" charset="0"/>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Example</a:t>
            </a:r>
            <a:endParaRPr lang="en-US" sz="3600">
              <a:solidFill>
                <a:schemeClr val="bg1"/>
              </a:solidFill>
              <a:latin typeface="Arial" panose="020B0604020202020204" pitchFamily="34" charset="0"/>
            </a:endParaRPr>
          </a:p>
        </p:txBody>
      </p:sp>
      <p:sp>
        <p:nvSpPr>
          <p:cNvPr id="5" name="object 3"/>
          <p:cNvSpPr txBox="1"/>
          <p:nvPr/>
        </p:nvSpPr>
        <p:spPr>
          <a:xfrm>
            <a:off x="1670050" y="2464435"/>
            <a:ext cx="1460500" cy="268605"/>
          </a:xfrm>
          <a:prstGeom prst="rect">
            <a:avLst/>
          </a:prstGeom>
        </p:spPr>
        <p:txBody>
          <a:bodyPr vert="horz" wrap="square" lIns="0" tIns="0" rIns="0" bIns="0" rtlCol="0">
            <a:spAutoFit/>
          </a:bodyPr>
          <a:lstStyle/>
          <a:p>
            <a:pPr marL="12700">
              <a:lnSpc>
                <a:spcPts val="2095"/>
              </a:lnSpc>
              <a:tabLst>
                <a:tab pos="367665" algn="l"/>
              </a:tabLst>
            </a:pPr>
            <a:r>
              <a:rPr lang="en-US" sz="2000" spc="-50">
                <a:latin typeface="Arial" panose="020B0604020202020204" pitchFamily="34" charset="0"/>
                <a:cs typeface="Arial" panose="020B0604020202020204" pitchFamily="34" charset="0"/>
              </a:rPr>
              <a:t>Example:</a:t>
            </a:r>
            <a:endParaRPr lang="en-US" sz="1600">
              <a:latin typeface="Arial" panose="020B0604020202020204"/>
              <a:cs typeface="Arial" panose="020B0604020202020204"/>
            </a:endParaRPr>
          </a:p>
        </p:txBody>
      </p:sp>
      <p:grpSp>
        <p:nvGrpSpPr>
          <p:cNvPr id="7" name="object 4"/>
          <p:cNvGrpSpPr/>
          <p:nvPr/>
        </p:nvGrpSpPr>
        <p:grpSpPr>
          <a:xfrm>
            <a:off x="4885375" y="1848184"/>
            <a:ext cx="6137910" cy="4648835"/>
            <a:chOff x="2514600" y="1015746"/>
            <a:chExt cx="6137910" cy="4648835"/>
          </a:xfrm>
        </p:grpSpPr>
        <p:pic>
          <p:nvPicPr>
            <p:cNvPr id="8" name="object 5"/>
            <p:cNvPicPr/>
            <p:nvPr/>
          </p:nvPicPr>
          <p:blipFill>
            <a:blip r:embed="rId1" cstate="print"/>
            <a:stretch>
              <a:fillRect/>
            </a:stretch>
          </p:blipFill>
          <p:spPr>
            <a:xfrm>
              <a:off x="2529840" y="1015746"/>
              <a:ext cx="6122543" cy="1524000"/>
            </a:xfrm>
            <a:prstGeom prst="rect">
              <a:avLst/>
            </a:prstGeom>
          </p:spPr>
        </p:pic>
        <p:pic>
          <p:nvPicPr>
            <p:cNvPr id="10" name="object 6"/>
            <p:cNvPicPr/>
            <p:nvPr/>
          </p:nvPicPr>
          <p:blipFill>
            <a:blip r:embed="rId2" cstate="print"/>
            <a:stretch>
              <a:fillRect/>
            </a:stretch>
          </p:blipFill>
          <p:spPr>
            <a:xfrm>
              <a:off x="2514600" y="2539796"/>
              <a:ext cx="5642102" cy="3124200"/>
            </a:xfrm>
            <a:prstGeom prst="rect">
              <a:avLst/>
            </a:prstGeom>
          </p:spPr>
        </p:pic>
      </p:grpSp>
      <p:sp>
        <p:nvSpPr>
          <p:cNvPr id="11" name="object 7"/>
          <p:cNvSpPr txBox="1"/>
          <p:nvPr/>
        </p:nvSpPr>
        <p:spPr>
          <a:xfrm>
            <a:off x="5977822" y="1524976"/>
            <a:ext cx="2852420" cy="255270"/>
          </a:xfrm>
          <a:prstGeom prst="rect">
            <a:avLst/>
          </a:prstGeom>
          <a:ln w="25400">
            <a:solidFill>
              <a:srgbClr val="4471C4"/>
            </a:solidFill>
          </a:ln>
        </p:spPr>
        <p:txBody>
          <a:bodyPr vert="horz" wrap="square" lIns="0" tIns="40005" rIns="0" bIns="0" rtlCol="0">
            <a:spAutoFit/>
          </a:bodyPr>
          <a:lstStyle/>
          <a:p>
            <a:pPr marL="92075">
              <a:lnSpc>
                <a:spcPct val="100000"/>
              </a:lnSpc>
              <a:spcBef>
                <a:spcPts val="315"/>
              </a:spcBef>
            </a:pPr>
            <a:r>
              <a:rPr lang="en-US" altLang="en-US" sz="1400">
                <a:latin typeface="Arial" panose="020B0604020202020204"/>
                <a:cs typeface="Arial" panose="020B0604020202020204"/>
              </a:rPr>
              <a:t>MyHomePage is a StatefulWidget</a:t>
            </a:r>
            <a:endParaRPr lang="en-US" altLang="en-US" sz="1400">
              <a:latin typeface="Arial" panose="020B0604020202020204"/>
              <a:cs typeface="Arial" panose="020B0604020202020204"/>
            </a:endParaRPr>
          </a:p>
        </p:txBody>
      </p:sp>
      <p:sp>
        <p:nvSpPr>
          <p:cNvPr id="12" name="object 8"/>
          <p:cNvSpPr txBox="1"/>
          <p:nvPr/>
        </p:nvSpPr>
        <p:spPr>
          <a:xfrm>
            <a:off x="1670248" y="2868451"/>
            <a:ext cx="2552700" cy="471170"/>
          </a:xfrm>
          <a:prstGeom prst="rect">
            <a:avLst/>
          </a:prstGeom>
          <a:ln w="25400">
            <a:solidFill>
              <a:srgbClr val="4471C4"/>
            </a:solidFill>
          </a:ln>
        </p:spPr>
        <p:txBody>
          <a:bodyPr vert="horz" wrap="square" lIns="0" tIns="40640" rIns="0" bIns="0" rtlCol="0">
            <a:spAutoFit/>
          </a:bodyPr>
          <a:lstStyle/>
          <a:p>
            <a:pPr marL="91440" marR="195580">
              <a:lnSpc>
                <a:spcPct val="100000"/>
              </a:lnSpc>
              <a:spcBef>
                <a:spcPts val="320"/>
              </a:spcBef>
            </a:pPr>
            <a:r>
              <a:rPr lang="en-US" altLang="en-US" sz="1400">
                <a:latin typeface="Arial" panose="020B0604020202020204"/>
                <a:cs typeface="Arial" panose="020B0604020202020204"/>
              </a:rPr>
              <a:t>It defines a State object named _MyHomePageState</a:t>
            </a:r>
            <a:endParaRPr lang="en-US" altLang="en-US" sz="1400">
              <a:latin typeface="Arial" panose="020B0604020202020204"/>
              <a:cs typeface="Arial" panose="020B0604020202020204"/>
            </a:endParaRPr>
          </a:p>
        </p:txBody>
      </p:sp>
      <p:sp>
        <p:nvSpPr>
          <p:cNvPr id="13" name="object 9"/>
          <p:cNvSpPr/>
          <p:nvPr/>
        </p:nvSpPr>
        <p:spPr>
          <a:xfrm>
            <a:off x="4214451" y="2938492"/>
            <a:ext cx="1186467" cy="150279"/>
          </a:xfrm>
          <a:custGeom>
            <a:avLst/>
            <a:gdLst/>
            <a:ahLst/>
            <a:cxnLst/>
            <a:rect l="l" t="t" r="r" b="b"/>
            <a:pathLst>
              <a:path w="311150" h="220344">
                <a:moveTo>
                  <a:pt x="232218" y="36774"/>
                </a:moveTo>
                <a:lnTo>
                  <a:pt x="0" y="196341"/>
                </a:lnTo>
                <a:lnTo>
                  <a:pt x="16128" y="219837"/>
                </a:lnTo>
                <a:lnTo>
                  <a:pt x="248356" y="60263"/>
                </a:lnTo>
                <a:lnTo>
                  <a:pt x="232218" y="36774"/>
                </a:lnTo>
                <a:close/>
              </a:path>
              <a:path w="311150" h="220344">
                <a:moveTo>
                  <a:pt x="295022" y="28701"/>
                </a:moveTo>
                <a:lnTo>
                  <a:pt x="243966" y="28701"/>
                </a:lnTo>
                <a:lnTo>
                  <a:pt x="260095" y="52196"/>
                </a:lnTo>
                <a:lnTo>
                  <a:pt x="248356" y="60263"/>
                </a:lnTo>
                <a:lnTo>
                  <a:pt x="264540" y="83819"/>
                </a:lnTo>
                <a:lnTo>
                  <a:pt x="295022" y="28701"/>
                </a:lnTo>
                <a:close/>
              </a:path>
              <a:path w="311150" h="220344">
                <a:moveTo>
                  <a:pt x="243966" y="28701"/>
                </a:moveTo>
                <a:lnTo>
                  <a:pt x="232218" y="36774"/>
                </a:lnTo>
                <a:lnTo>
                  <a:pt x="248356" y="60263"/>
                </a:lnTo>
                <a:lnTo>
                  <a:pt x="260095" y="52196"/>
                </a:lnTo>
                <a:lnTo>
                  <a:pt x="243966" y="28701"/>
                </a:lnTo>
                <a:close/>
              </a:path>
              <a:path w="311150" h="220344">
                <a:moveTo>
                  <a:pt x="310895" y="0"/>
                </a:moveTo>
                <a:lnTo>
                  <a:pt x="216026" y="13207"/>
                </a:lnTo>
                <a:lnTo>
                  <a:pt x="232218" y="36774"/>
                </a:lnTo>
                <a:lnTo>
                  <a:pt x="243966" y="28701"/>
                </a:lnTo>
                <a:lnTo>
                  <a:pt x="295022" y="28701"/>
                </a:lnTo>
                <a:lnTo>
                  <a:pt x="310895" y="0"/>
                </a:lnTo>
                <a:close/>
              </a:path>
            </a:pathLst>
          </a:custGeom>
          <a:solidFill>
            <a:srgbClr val="3E6DC3"/>
          </a:solidFill>
        </p:spPr>
        <p:txBody>
          <a:bodyPr wrap="square" lIns="0" tIns="0" rIns="0" bIns="0" rtlCol="0"/>
          <a:lstStyle/>
          <a:p>
            <a:endParaRPr>
              <a:latin typeface="Arial" panose="020B0604020202020204" pitchFamily="34" charset="0"/>
            </a:endParaRPr>
          </a:p>
        </p:txBody>
      </p:sp>
      <p:sp>
        <p:nvSpPr>
          <p:cNvPr id="14" name="object 10"/>
          <p:cNvSpPr txBox="1"/>
          <p:nvPr/>
        </p:nvSpPr>
        <p:spPr>
          <a:xfrm>
            <a:off x="8658481" y="3818424"/>
            <a:ext cx="2865120" cy="902335"/>
          </a:xfrm>
          <a:prstGeom prst="rect">
            <a:avLst/>
          </a:prstGeom>
          <a:ln w="25400">
            <a:solidFill>
              <a:srgbClr val="4471C4"/>
            </a:solidFill>
          </a:ln>
        </p:spPr>
        <p:txBody>
          <a:bodyPr vert="horz" wrap="square" lIns="0" tIns="40640" rIns="0" bIns="0" rtlCol="0">
            <a:spAutoFit/>
          </a:bodyPr>
          <a:lstStyle/>
          <a:p>
            <a:pPr marL="92075" marR="132715">
              <a:lnSpc>
                <a:spcPct val="100000"/>
              </a:lnSpc>
              <a:spcBef>
                <a:spcPts val="320"/>
              </a:spcBef>
            </a:pPr>
            <a:r>
              <a:rPr lang="en-US" altLang="en-US" sz="1400">
                <a:latin typeface="Arial" panose="020B0604020202020204"/>
                <a:cs typeface="Arial" panose="020B0604020202020204"/>
              </a:rPr>
              <a:t>MyHomePage must return a valid State object from createState() → this is an instance of _MyHomePageState</a:t>
            </a:r>
            <a:endParaRPr lang="en-US" altLang="en-US" sz="1400">
              <a:latin typeface="Arial" panose="020B0604020202020204"/>
              <a:cs typeface="Arial" panose="020B0604020202020204"/>
            </a:endParaRPr>
          </a:p>
        </p:txBody>
      </p:sp>
      <p:sp>
        <p:nvSpPr>
          <p:cNvPr id="15" name="object 11"/>
          <p:cNvSpPr/>
          <p:nvPr/>
        </p:nvSpPr>
        <p:spPr>
          <a:xfrm>
            <a:off x="8482333" y="3088771"/>
            <a:ext cx="1902672" cy="743585"/>
          </a:xfrm>
          <a:custGeom>
            <a:avLst/>
            <a:gdLst/>
            <a:ahLst/>
            <a:cxnLst/>
            <a:rect l="l" t="t" r="r" b="b"/>
            <a:pathLst>
              <a:path w="2770504" h="743585">
                <a:moveTo>
                  <a:pt x="86655" y="27690"/>
                </a:moveTo>
                <a:lnTo>
                  <a:pt x="79583" y="55386"/>
                </a:lnTo>
                <a:lnTo>
                  <a:pt x="2763139" y="743458"/>
                </a:lnTo>
                <a:lnTo>
                  <a:pt x="2770124" y="715772"/>
                </a:lnTo>
                <a:lnTo>
                  <a:pt x="86655" y="27690"/>
                </a:lnTo>
                <a:close/>
              </a:path>
              <a:path w="2770504" h="743585">
                <a:moveTo>
                  <a:pt x="93725" y="0"/>
                </a:moveTo>
                <a:lnTo>
                  <a:pt x="0" y="20320"/>
                </a:lnTo>
                <a:lnTo>
                  <a:pt x="72516" y="83058"/>
                </a:lnTo>
                <a:lnTo>
                  <a:pt x="79583" y="55386"/>
                </a:lnTo>
                <a:lnTo>
                  <a:pt x="65659" y="51815"/>
                </a:lnTo>
                <a:lnTo>
                  <a:pt x="72771" y="24129"/>
                </a:lnTo>
                <a:lnTo>
                  <a:pt x="87564" y="24129"/>
                </a:lnTo>
                <a:lnTo>
                  <a:pt x="93725" y="0"/>
                </a:lnTo>
                <a:close/>
              </a:path>
              <a:path w="2770504" h="743585">
                <a:moveTo>
                  <a:pt x="72771" y="24129"/>
                </a:moveTo>
                <a:lnTo>
                  <a:pt x="65659" y="51815"/>
                </a:lnTo>
                <a:lnTo>
                  <a:pt x="79583" y="55386"/>
                </a:lnTo>
                <a:lnTo>
                  <a:pt x="86655" y="27690"/>
                </a:lnTo>
                <a:lnTo>
                  <a:pt x="72771" y="24129"/>
                </a:lnTo>
                <a:close/>
              </a:path>
              <a:path w="2770504" h="743585">
                <a:moveTo>
                  <a:pt x="87564" y="24129"/>
                </a:moveTo>
                <a:lnTo>
                  <a:pt x="72771" y="24129"/>
                </a:lnTo>
                <a:lnTo>
                  <a:pt x="86655" y="27690"/>
                </a:lnTo>
                <a:lnTo>
                  <a:pt x="87564" y="24129"/>
                </a:lnTo>
                <a:close/>
              </a:path>
            </a:pathLst>
          </a:custGeom>
          <a:solidFill>
            <a:srgbClr val="3E6DC3"/>
          </a:solidFill>
        </p:spPr>
        <p:txBody>
          <a:bodyPr wrap="square" lIns="0" tIns="0" rIns="0" bIns="0" rtlCol="0"/>
          <a:lstStyle/>
          <a:p>
            <a:endParaRPr>
              <a:latin typeface="Arial" panose="020B0604020202020204" pitchFamily="34" charset="0"/>
            </a:endParaRPr>
          </a:p>
        </p:txBody>
      </p:sp>
      <p:sp>
        <p:nvSpPr>
          <p:cNvPr id="17" name="object 12"/>
          <p:cNvSpPr txBox="1"/>
          <p:nvPr/>
        </p:nvSpPr>
        <p:spPr>
          <a:xfrm>
            <a:off x="1663690" y="3666138"/>
            <a:ext cx="2552700" cy="471170"/>
          </a:xfrm>
          <a:prstGeom prst="rect">
            <a:avLst/>
          </a:prstGeom>
          <a:ln w="25400">
            <a:solidFill>
              <a:srgbClr val="4471C4"/>
            </a:solidFill>
          </a:ln>
        </p:spPr>
        <p:txBody>
          <a:bodyPr vert="horz" wrap="square" lIns="0" tIns="40640" rIns="0" bIns="0" rtlCol="0">
            <a:spAutoFit/>
          </a:bodyPr>
          <a:lstStyle/>
          <a:p>
            <a:pPr marL="90805" marR="216535">
              <a:lnSpc>
                <a:spcPct val="100000"/>
              </a:lnSpc>
              <a:spcBef>
                <a:spcPts val="320"/>
              </a:spcBef>
            </a:pPr>
            <a:r>
              <a:rPr lang="en-US" altLang="en-US" sz="1400">
                <a:latin typeface="Arial" panose="020B0604020202020204"/>
                <a:cs typeface="Arial" panose="020B0604020202020204"/>
              </a:rPr>
              <a:t>A valid State widget is a class that extends State</a:t>
            </a:r>
            <a:endParaRPr lang="en-US" altLang="en-US" sz="1400">
              <a:latin typeface="Arial" panose="020B0604020202020204"/>
              <a:cs typeface="Arial" panose="020B0604020202020204"/>
            </a:endParaRPr>
          </a:p>
        </p:txBody>
      </p:sp>
      <p:sp>
        <p:nvSpPr>
          <p:cNvPr id="18" name="object 13"/>
          <p:cNvSpPr/>
          <p:nvPr/>
        </p:nvSpPr>
        <p:spPr>
          <a:xfrm>
            <a:off x="4203402" y="3538465"/>
            <a:ext cx="1019387" cy="396380"/>
          </a:xfrm>
          <a:custGeom>
            <a:avLst/>
            <a:gdLst/>
            <a:ahLst/>
            <a:cxnLst/>
            <a:rect l="l" t="t" r="r" b="b"/>
            <a:pathLst>
              <a:path w="288925" h="524510">
                <a:moveTo>
                  <a:pt x="235844" y="68859"/>
                </a:moveTo>
                <a:lnTo>
                  <a:pt x="0" y="510667"/>
                </a:lnTo>
                <a:lnTo>
                  <a:pt x="25145" y="524129"/>
                </a:lnTo>
                <a:lnTo>
                  <a:pt x="261009" y="82286"/>
                </a:lnTo>
                <a:lnTo>
                  <a:pt x="235844" y="68859"/>
                </a:lnTo>
                <a:close/>
              </a:path>
              <a:path w="288925" h="524510">
                <a:moveTo>
                  <a:pt x="287305" y="56261"/>
                </a:moveTo>
                <a:lnTo>
                  <a:pt x="242569" y="56261"/>
                </a:lnTo>
                <a:lnTo>
                  <a:pt x="267715" y="69723"/>
                </a:lnTo>
                <a:lnTo>
                  <a:pt x="261009" y="82286"/>
                </a:lnTo>
                <a:lnTo>
                  <a:pt x="286257" y="95758"/>
                </a:lnTo>
                <a:lnTo>
                  <a:pt x="287305" y="56261"/>
                </a:lnTo>
                <a:close/>
              </a:path>
              <a:path w="288925" h="524510">
                <a:moveTo>
                  <a:pt x="242569" y="56261"/>
                </a:moveTo>
                <a:lnTo>
                  <a:pt x="235844" y="68859"/>
                </a:lnTo>
                <a:lnTo>
                  <a:pt x="261009" y="82286"/>
                </a:lnTo>
                <a:lnTo>
                  <a:pt x="267715" y="69723"/>
                </a:lnTo>
                <a:lnTo>
                  <a:pt x="242569" y="56261"/>
                </a:lnTo>
                <a:close/>
              </a:path>
              <a:path w="288925" h="524510">
                <a:moveTo>
                  <a:pt x="288797" y="0"/>
                </a:moveTo>
                <a:lnTo>
                  <a:pt x="210565" y="55372"/>
                </a:lnTo>
                <a:lnTo>
                  <a:pt x="235844" y="68859"/>
                </a:lnTo>
                <a:lnTo>
                  <a:pt x="242569" y="56261"/>
                </a:lnTo>
                <a:lnTo>
                  <a:pt x="287305" y="56261"/>
                </a:lnTo>
                <a:lnTo>
                  <a:pt x="288797" y="0"/>
                </a:lnTo>
                <a:close/>
              </a:path>
            </a:pathLst>
          </a:custGeom>
          <a:solidFill>
            <a:srgbClr val="3E6DC3"/>
          </a:solidFill>
        </p:spPr>
        <p:txBody>
          <a:bodyPr wrap="square" lIns="0" tIns="0" rIns="0" bIns="0" rtlCol="0"/>
          <a:lstStyle/>
          <a:p>
            <a:endParaRPr>
              <a:latin typeface="Arial" panose="020B0604020202020204" pitchFamily="34" charset="0"/>
            </a:endParaRPr>
          </a:p>
        </p:txBody>
      </p:sp>
      <p:sp>
        <p:nvSpPr>
          <p:cNvPr id="19" name="object 14"/>
          <p:cNvSpPr txBox="1"/>
          <p:nvPr/>
        </p:nvSpPr>
        <p:spPr>
          <a:xfrm>
            <a:off x="1670248" y="4689771"/>
            <a:ext cx="2552700" cy="902335"/>
          </a:xfrm>
          <a:prstGeom prst="rect">
            <a:avLst/>
          </a:prstGeom>
          <a:ln w="25400">
            <a:solidFill>
              <a:srgbClr val="4471C4"/>
            </a:solidFill>
          </a:ln>
        </p:spPr>
        <p:txBody>
          <a:bodyPr vert="horz" wrap="square" lIns="0" tIns="40640" rIns="0" bIns="0" rtlCol="0">
            <a:spAutoFit/>
          </a:bodyPr>
          <a:lstStyle/>
          <a:p>
            <a:pPr marL="91440" marR="179070">
              <a:lnSpc>
                <a:spcPct val="100000"/>
              </a:lnSpc>
              <a:spcBef>
                <a:spcPts val="320"/>
              </a:spcBef>
            </a:pPr>
            <a:r>
              <a:rPr lang="en-US" altLang="en-US" sz="1400">
                <a:latin typeface="Arial" panose="020B0604020202020204"/>
                <a:cs typeface="Arial" panose="020B0604020202020204"/>
              </a:rPr>
              <a:t>The widget's state is defined by the _counter property, which stores the number of button presses.</a:t>
            </a:r>
            <a:endParaRPr lang="en-US" altLang="en-US" sz="1400">
              <a:latin typeface="Arial" panose="020B0604020202020204"/>
              <a:cs typeface="Arial" panose="020B0604020202020204"/>
            </a:endParaRPr>
          </a:p>
        </p:txBody>
      </p:sp>
      <p:sp>
        <p:nvSpPr>
          <p:cNvPr id="20" name="object 15"/>
          <p:cNvSpPr/>
          <p:nvPr/>
        </p:nvSpPr>
        <p:spPr>
          <a:xfrm>
            <a:off x="4209244" y="4081619"/>
            <a:ext cx="1191673" cy="1090714"/>
          </a:xfrm>
          <a:custGeom>
            <a:avLst/>
            <a:gdLst/>
            <a:ahLst/>
            <a:cxnLst/>
            <a:rect l="l" t="t" r="r" b="b"/>
            <a:pathLst>
              <a:path w="476250" h="1133475">
                <a:moveTo>
                  <a:pt x="423161" y="74183"/>
                </a:moveTo>
                <a:lnTo>
                  <a:pt x="0" y="1122680"/>
                </a:lnTo>
                <a:lnTo>
                  <a:pt x="26542" y="1133348"/>
                </a:lnTo>
                <a:lnTo>
                  <a:pt x="449698" y="84866"/>
                </a:lnTo>
                <a:lnTo>
                  <a:pt x="423161" y="74183"/>
                </a:lnTo>
                <a:close/>
              </a:path>
              <a:path w="476250" h="1133475">
                <a:moveTo>
                  <a:pt x="473366" y="60960"/>
                </a:moveTo>
                <a:lnTo>
                  <a:pt x="428497" y="60960"/>
                </a:lnTo>
                <a:lnTo>
                  <a:pt x="455040" y="71627"/>
                </a:lnTo>
                <a:lnTo>
                  <a:pt x="449698" y="84866"/>
                </a:lnTo>
                <a:lnTo>
                  <a:pt x="476122" y="95503"/>
                </a:lnTo>
                <a:lnTo>
                  <a:pt x="473366" y="60960"/>
                </a:lnTo>
                <a:close/>
              </a:path>
              <a:path w="476250" h="1133475">
                <a:moveTo>
                  <a:pt x="428497" y="60960"/>
                </a:moveTo>
                <a:lnTo>
                  <a:pt x="423161" y="74183"/>
                </a:lnTo>
                <a:lnTo>
                  <a:pt x="449698" y="84866"/>
                </a:lnTo>
                <a:lnTo>
                  <a:pt x="455040" y="71627"/>
                </a:lnTo>
                <a:lnTo>
                  <a:pt x="428497" y="60960"/>
                </a:lnTo>
                <a:close/>
              </a:path>
              <a:path w="476250" h="1133475">
                <a:moveTo>
                  <a:pt x="468502" y="0"/>
                </a:moveTo>
                <a:lnTo>
                  <a:pt x="396620" y="63500"/>
                </a:lnTo>
                <a:lnTo>
                  <a:pt x="423161" y="74183"/>
                </a:lnTo>
                <a:lnTo>
                  <a:pt x="428497" y="60960"/>
                </a:lnTo>
                <a:lnTo>
                  <a:pt x="473366" y="60960"/>
                </a:lnTo>
                <a:lnTo>
                  <a:pt x="468502" y="0"/>
                </a:lnTo>
                <a:close/>
              </a:path>
            </a:pathLst>
          </a:custGeom>
          <a:solidFill>
            <a:srgbClr val="3E6DC3"/>
          </a:solidFill>
        </p:spPr>
        <p:txBody>
          <a:bodyPr wrap="square" lIns="0" tIns="0" rIns="0" bIns="0" rtlCol="0"/>
          <a:lstStyle/>
          <a:p>
            <a:endParaRPr>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173598" y="7791450"/>
            <a:ext cx="3291840" cy="43815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D26D55-0A22-487A-A687-61FB58A6F16A}" type="slidenum">
              <a:rPr kumimoji="0" lang="en-US" sz="1600" b="0" i="0" u="none" strike="noStrike" kern="1200" cap="none" spc="0" normalizeH="0" baseline="0" noProof="0" smtClean="0">
                <a:ln>
                  <a:noFill/>
                </a:ln>
                <a:solidFill>
                  <a:srgbClr val="00B0F0"/>
                </a:solidFill>
                <a:effectLst/>
                <a:uLnTx/>
                <a:uFillTx/>
                <a:latin typeface="+mj-lt"/>
                <a:ea typeface="+mn-ea"/>
                <a:cs typeface="Arial" panose="020B0604020202020204" pitchFamily="34" charset="0"/>
              </a:rPr>
            </a:fld>
            <a:endParaRPr kumimoji="0" lang="en-US" sz="1600" b="0" i="0" u="none" strike="noStrike" kern="1200" cap="none" spc="0" normalizeH="0" baseline="0" noProof="0">
              <a:ln>
                <a:noFill/>
              </a:ln>
              <a:solidFill>
                <a:srgbClr val="00B0F0"/>
              </a:solidFill>
              <a:effectLst/>
              <a:uLnTx/>
              <a:uFillTx/>
              <a:latin typeface="+mj-lt"/>
              <a:ea typeface="+mn-ea"/>
              <a:cs typeface="Arial" panose="020B0604020202020204" pitchFamily="34" charset="0"/>
            </a:endParaRPr>
          </a:p>
        </p:txBody>
      </p:sp>
      <p:sp>
        <p:nvSpPr>
          <p:cNvPr id="2" name="Text 0"/>
          <p:cNvSpPr/>
          <p:nvPr/>
        </p:nvSpPr>
        <p:spPr>
          <a:xfrm>
            <a:off x="95534" y="-100904"/>
            <a:ext cx="7795974" cy="708779"/>
          </a:xfrm>
          <a:prstGeom prst="rect">
            <a:avLst/>
          </a:prstGeom>
          <a:noFill/>
        </p:spPr>
        <p:txBody>
          <a:bodyPr wrap="none" lIns="0" tIns="0" rIns="0" bIns="0" rtlCol="0" anchor="t"/>
          <a:lstStyle/>
          <a:p>
            <a:pPr>
              <a:lnSpc>
                <a:spcPts val="5550"/>
              </a:lnSpc>
            </a:pPr>
            <a:r>
              <a:rPr lang="en-US" sz="3600" b="1">
                <a:solidFill>
                  <a:schemeClr val="bg1"/>
                </a:solidFill>
                <a:latin typeface="Arial" panose="020B0604020202020204" pitchFamily="34" charset="0"/>
                <a:ea typeface="Inter Bold" pitchFamily="34" charset="-122"/>
                <a:cs typeface="Arial" panose="020B0604020202020204" pitchFamily="34" charset="0"/>
              </a:rPr>
              <a:t>Example</a:t>
            </a:r>
            <a:endParaRPr lang="en-US" sz="3600">
              <a:solidFill>
                <a:schemeClr val="bg1"/>
              </a:solidFill>
              <a:latin typeface="Arial" panose="020B0604020202020204" pitchFamily="34" charset="0"/>
            </a:endParaRPr>
          </a:p>
        </p:txBody>
      </p:sp>
      <p:pic>
        <p:nvPicPr>
          <p:cNvPr id="21" name="object 3"/>
          <p:cNvPicPr/>
          <p:nvPr/>
        </p:nvPicPr>
        <p:blipFill>
          <a:blip r:embed="rId1" cstate="print"/>
          <a:stretch>
            <a:fillRect/>
          </a:stretch>
        </p:blipFill>
        <p:spPr>
          <a:xfrm>
            <a:off x="4435035" y="1813424"/>
            <a:ext cx="9803479" cy="5145516"/>
          </a:xfrm>
          <a:prstGeom prst="rect">
            <a:avLst/>
          </a:prstGeom>
        </p:spPr>
      </p:pic>
      <p:sp>
        <p:nvSpPr>
          <p:cNvPr id="22" name="object 4"/>
          <p:cNvSpPr txBox="1"/>
          <p:nvPr/>
        </p:nvSpPr>
        <p:spPr>
          <a:xfrm>
            <a:off x="2124075" y="2949575"/>
            <a:ext cx="3162935" cy="1332230"/>
          </a:xfrm>
          <a:prstGeom prst="rect">
            <a:avLst/>
          </a:prstGeom>
          <a:ln w="25400">
            <a:solidFill>
              <a:srgbClr val="4471C4"/>
            </a:solidFill>
          </a:ln>
        </p:spPr>
        <p:txBody>
          <a:bodyPr vert="horz" wrap="square" lIns="0" tIns="40005" rIns="0" bIns="0" rtlCol="0">
            <a:spAutoFit/>
          </a:bodyPr>
          <a:lstStyle/>
          <a:p>
            <a:pPr marL="91440" marR="405130">
              <a:lnSpc>
                <a:spcPct val="100000"/>
              </a:lnSpc>
              <a:spcBef>
                <a:spcPts val="315"/>
              </a:spcBef>
            </a:pPr>
            <a:r>
              <a:rPr lang="en-US" altLang="en-US" sz="1400" b="1">
                <a:latin typeface="+mj-lt"/>
                <a:cs typeface="Arial" panose="020B0604020202020204"/>
              </a:rPr>
              <a:t>onPressed</a:t>
            </a:r>
            <a:r>
              <a:rPr lang="en-US" altLang="en-US" sz="1400">
                <a:latin typeface="+mj-lt"/>
                <a:cs typeface="Arial" panose="020B0604020202020204"/>
              </a:rPr>
              <a:t> of the FloatingActionButton receives a function (here </a:t>
            </a:r>
            <a:r>
              <a:rPr lang="en-US" altLang="en-US" sz="1400" b="1">
                <a:latin typeface="+mj-lt"/>
                <a:cs typeface="Arial" panose="020B0604020202020204"/>
              </a:rPr>
              <a:t>_incrementCounter())</a:t>
            </a:r>
            <a:r>
              <a:rPr lang="en-US" altLang="en-US" sz="1400">
                <a:latin typeface="+mj-lt"/>
                <a:cs typeface="Arial" panose="020B0604020202020204"/>
              </a:rPr>
              <a:t>, which is executed when the button is pressed.</a:t>
            </a:r>
            <a:endParaRPr lang="en-US" altLang="en-US" sz="1400">
              <a:latin typeface="+mj-lt"/>
              <a:cs typeface="Arial" panose="020B0604020202020204"/>
            </a:endParaRPr>
          </a:p>
        </p:txBody>
      </p:sp>
      <p:sp>
        <p:nvSpPr>
          <p:cNvPr id="23" name="object 5"/>
          <p:cNvSpPr/>
          <p:nvPr/>
        </p:nvSpPr>
        <p:spPr>
          <a:xfrm>
            <a:off x="4815079" y="4126989"/>
            <a:ext cx="1142408" cy="1197745"/>
          </a:xfrm>
          <a:custGeom>
            <a:avLst/>
            <a:gdLst/>
            <a:ahLst/>
            <a:cxnLst/>
            <a:rect l="l" t="t" r="r" b="b"/>
            <a:pathLst>
              <a:path w="659764" h="1005204">
                <a:moveTo>
                  <a:pt x="600929" y="941022"/>
                </a:moveTo>
                <a:lnTo>
                  <a:pt x="576961" y="956563"/>
                </a:lnTo>
                <a:lnTo>
                  <a:pt x="659638" y="1005077"/>
                </a:lnTo>
                <a:lnTo>
                  <a:pt x="653728" y="953007"/>
                </a:lnTo>
                <a:lnTo>
                  <a:pt x="608711" y="953007"/>
                </a:lnTo>
                <a:lnTo>
                  <a:pt x="600929" y="941022"/>
                </a:lnTo>
                <a:close/>
              </a:path>
              <a:path w="659764" h="1005204">
                <a:moveTo>
                  <a:pt x="624956" y="925443"/>
                </a:moveTo>
                <a:lnTo>
                  <a:pt x="600929" y="941022"/>
                </a:lnTo>
                <a:lnTo>
                  <a:pt x="608711" y="953007"/>
                </a:lnTo>
                <a:lnTo>
                  <a:pt x="632713" y="937387"/>
                </a:lnTo>
                <a:lnTo>
                  <a:pt x="624956" y="925443"/>
                </a:lnTo>
                <a:close/>
              </a:path>
              <a:path w="659764" h="1005204">
                <a:moveTo>
                  <a:pt x="648843" y="909954"/>
                </a:moveTo>
                <a:lnTo>
                  <a:pt x="624956" y="925443"/>
                </a:lnTo>
                <a:lnTo>
                  <a:pt x="632713" y="937387"/>
                </a:lnTo>
                <a:lnTo>
                  <a:pt x="608711" y="953007"/>
                </a:lnTo>
                <a:lnTo>
                  <a:pt x="653728" y="953007"/>
                </a:lnTo>
                <a:lnTo>
                  <a:pt x="648843" y="909954"/>
                </a:lnTo>
                <a:close/>
              </a:path>
              <a:path w="659764" h="1005204">
                <a:moveTo>
                  <a:pt x="23876" y="0"/>
                </a:moveTo>
                <a:lnTo>
                  <a:pt x="0" y="15493"/>
                </a:lnTo>
                <a:lnTo>
                  <a:pt x="600929" y="941022"/>
                </a:lnTo>
                <a:lnTo>
                  <a:pt x="624956" y="925443"/>
                </a:lnTo>
                <a:lnTo>
                  <a:pt x="23876" y="0"/>
                </a:lnTo>
                <a:close/>
              </a:path>
            </a:pathLst>
          </a:custGeom>
          <a:solidFill>
            <a:srgbClr val="3E6DC3"/>
          </a:solidFill>
        </p:spPr>
        <p:txBody>
          <a:bodyPr wrap="square" lIns="0" tIns="0" rIns="0" bIns="0" rtlCol="0"/>
          <a:lstStyle/>
          <a:p>
            <a:endParaRPr>
              <a:latin typeface="+mj-lt"/>
            </a:endParaRPr>
          </a:p>
        </p:txBody>
      </p:sp>
      <p:sp>
        <p:nvSpPr>
          <p:cNvPr id="24" name="object 6"/>
          <p:cNvSpPr txBox="1"/>
          <p:nvPr/>
        </p:nvSpPr>
        <p:spPr>
          <a:xfrm>
            <a:off x="2227454" y="4830283"/>
            <a:ext cx="2587625" cy="1589405"/>
          </a:xfrm>
          <a:prstGeom prst="rect">
            <a:avLst/>
          </a:prstGeom>
          <a:solidFill>
            <a:srgbClr val="FFFFFF"/>
          </a:solidFill>
          <a:ln w="25400">
            <a:solidFill>
              <a:srgbClr val="4471C4"/>
            </a:solidFill>
          </a:ln>
        </p:spPr>
        <p:txBody>
          <a:bodyPr vert="horz" wrap="square" lIns="0" tIns="40640" rIns="0" bIns="0" rtlCol="0">
            <a:spAutoFit/>
          </a:bodyPr>
          <a:lstStyle/>
          <a:p>
            <a:pPr marL="91440" marR="151765">
              <a:lnSpc>
                <a:spcPct val="100000"/>
              </a:lnSpc>
              <a:spcBef>
                <a:spcPts val="320"/>
              </a:spcBef>
            </a:pPr>
            <a:r>
              <a:rPr lang="en-US" altLang="en-US" sz="1400">
                <a:latin typeface="+mj-lt"/>
                <a:cs typeface="Arial" panose="020B0604020202020204"/>
              </a:rPr>
              <a:t>The </a:t>
            </a:r>
            <a:r>
              <a:rPr lang="en-US" altLang="en-US" sz="1400" b="1">
                <a:latin typeface="+mj-lt"/>
                <a:cs typeface="Arial" panose="020B0604020202020204"/>
              </a:rPr>
              <a:t>_incrementCounter() </a:t>
            </a:r>
            <a:r>
              <a:rPr lang="en-US" altLang="en-US" sz="1400">
                <a:latin typeface="+mj-lt"/>
                <a:cs typeface="Arial" panose="020B0604020202020204"/>
              </a:rPr>
              <a:t>function calls setState(), indicating that the widget’s state has changed.</a:t>
            </a:r>
            <a:endParaRPr lang="en-US" altLang="en-US" sz="1400">
              <a:latin typeface="+mj-lt"/>
              <a:cs typeface="Arial" panose="020B0604020202020204"/>
            </a:endParaRPr>
          </a:p>
          <a:p>
            <a:pPr marL="91440" marR="151765">
              <a:lnSpc>
                <a:spcPct val="100000"/>
              </a:lnSpc>
              <a:spcBef>
                <a:spcPts val="320"/>
              </a:spcBef>
            </a:pPr>
            <a:r>
              <a:rPr lang="en-US" altLang="en-US" sz="1400">
                <a:latin typeface="+mj-lt"/>
                <a:cs typeface="Arial" panose="020B0604020202020204"/>
              </a:rPr>
              <a:t>→ The framework is notified and </a:t>
            </a:r>
            <a:r>
              <a:rPr lang="en-US" altLang="en-US" sz="1400" b="1">
                <a:latin typeface="+mj-lt"/>
                <a:cs typeface="Arial" panose="020B0604020202020204"/>
              </a:rPr>
              <a:t>rebuilds</a:t>
            </a:r>
            <a:r>
              <a:rPr lang="en-US" altLang="en-US" sz="1400">
                <a:latin typeface="+mj-lt"/>
                <a:cs typeface="Arial" panose="020B0604020202020204"/>
              </a:rPr>
              <a:t> the affected child widgets.</a:t>
            </a:r>
            <a:endParaRPr lang="en-US" altLang="en-US" sz="1400">
              <a:latin typeface="+mj-lt"/>
              <a:cs typeface="Arial" panose="020B0604020202020204"/>
            </a:endParaRPr>
          </a:p>
        </p:txBody>
      </p:sp>
    </p:spTree>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11605</Words>
  <Application>WPS Presentation</Application>
  <PresentationFormat>Custom</PresentationFormat>
  <Paragraphs>376</Paragraphs>
  <Slides>25</Slides>
  <Notes>25</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25</vt:i4>
      </vt:variant>
    </vt:vector>
  </HeadingPairs>
  <TitlesOfParts>
    <vt:vector size="40" baseType="lpstr">
      <vt:lpstr>Arial</vt:lpstr>
      <vt:lpstr>SimSun</vt:lpstr>
      <vt:lpstr>Wingdings</vt:lpstr>
      <vt:lpstr>Inter Bold</vt:lpstr>
      <vt:lpstr>Arial</vt:lpstr>
      <vt:lpstr>Arial Unicode MS</vt:lpstr>
      <vt:lpstr>Calibri</vt:lpstr>
      <vt:lpstr>Consolas</vt:lpstr>
      <vt:lpstr>Tahoma</vt:lpstr>
      <vt:lpstr>Wingdings</vt:lpstr>
      <vt:lpstr>Times New Roman</vt:lpstr>
      <vt:lpstr>Microsoft YaHei</vt:lpstr>
      <vt:lpstr>Times New Roman</vt:lpstr>
      <vt:lpstr>Opening slide</vt:lpstr>
      <vt:lpstr>Body slide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Cường Lê</cp:lastModifiedBy>
  <cp:revision>17</cp:revision>
  <dcterms:created xsi:type="dcterms:W3CDTF">2025-04-25T04:46:00Z</dcterms:created>
  <dcterms:modified xsi:type="dcterms:W3CDTF">2025-05-14T06:50:50Z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92FDB0AFEC024B4691CAAA5C8D684F89_12</vt:lpwstr>
  </property>
  <property fmtid="{D5CDD505-2E9C-101B-9397-08002B2CF9AE}" pid="3" name="KSOProductBuildVer">
    <vt:lpwstr>1033-12.2.0.21179</vt:lpwstr>
  </property>
</Properties>
</file>