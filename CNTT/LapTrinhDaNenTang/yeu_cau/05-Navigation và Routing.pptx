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67" r:id="rId4"/>
    <p:sldId id="282" r:id="rId5"/>
    <p:sldId id="283" r:id="rId7"/>
    <p:sldId id="284" r:id="rId8"/>
    <p:sldId id="285" r:id="rId9"/>
    <p:sldId id="289" r:id="rId10"/>
    <p:sldId id="290" r:id="rId11"/>
    <p:sldId id="291" r:id="rId12"/>
    <p:sldId id="294" r:id="rId13"/>
    <p:sldId id="287" r:id="rId14"/>
    <p:sldId id="292" r:id="rId15"/>
    <p:sldId id="293" r:id="rId16"/>
    <p:sldId id="288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5146" autoAdjust="0"/>
  </p:normalViewPr>
  <p:slideViewPr>
    <p:cSldViewPr snapToGrid="0" snapToObjects="1">
      <p:cViewPr varScale="1">
        <p:scale>
          <a:sx n="81" d="100"/>
          <a:sy n="81" d="100"/>
        </p:scale>
        <p:origin x="1098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44135" y="2597642"/>
            <a:ext cx="12960668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7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44134" y="5320406"/>
            <a:ext cx="12960668" cy="495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999" y="1906924"/>
            <a:ext cx="13155431" cy="5486400"/>
          </a:xfrm>
        </p:spPr>
        <p:txBody>
          <a:bodyPr/>
          <a:lstStyle>
            <a:lvl1pPr marL="0" indent="0" algn="l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 txBox="1"/>
          <p:nvPr userDrawn="1"/>
        </p:nvSpPr>
        <p:spPr>
          <a:xfrm>
            <a:off x="3973646" y="-13709"/>
            <a:ext cx="10656755" cy="947534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000" y="1917577"/>
            <a:ext cx="13166084" cy="549477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1" y="1917578"/>
            <a:ext cx="13166084" cy="5497052"/>
          </a:xfrm>
        </p:spPr>
        <p:txBody>
          <a:bodyPr/>
          <a:lstStyle>
            <a:lvl1pPr marL="0" indent="0">
              <a:buNone/>
              <a:defRPr sz="2880">
                <a:solidFill>
                  <a:srgbClr val="0070C0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7000" y="1928230"/>
            <a:ext cx="6568200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7130" y="1928230"/>
            <a:ext cx="6568199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923930"/>
            <a:ext cx="6568200" cy="988694"/>
          </a:xfrm>
        </p:spPr>
        <p:txBody>
          <a:bodyPr anchor="b"/>
          <a:lstStyle>
            <a:lvl1pPr marL="0" indent="0">
              <a:buNone/>
              <a:defRPr sz="2880" b="1">
                <a:latin typeface="+mj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999" y="3014858"/>
            <a:ext cx="6568199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1" y="1923930"/>
            <a:ext cx="656819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199" y="3014858"/>
            <a:ext cx="6568200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3181" y="1928230"/>
            <a:ext cx="7947173" cy="5475746"/>
          </a:xfrm>
        </p:spPr>
        <p:txBody>
          <a:bodyPr/>
          <a:lstStyle>
            <a:lvl1pPr>
              <a:defRPr sz="3840">
                <a:latin typeface="+mj-lt"/>
              </a:defRPr>
            </a:lvl1pPr>
            <a:lvl2pPr>
              <a:defRPr sz="3360">
                <a:latin typeface="+mj-lt"/>
              </a:defRPr>
            </a:lvl2pPr>
            <a:lvl3pPr>
              <a:defRPr sz="288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809852" cy="547574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59262" y="1928230"/>
            <a:ext cx="8011092" cy="5465093"/>
          </a:xfrm>
        </p:spPr>
        <p:txBody>
          <a:bodyPr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779926" cy="5465093"/>
          </a:xfrm>
        </p:spPr>
        <p:txBody>
          <a:bodyPr>
            <a:normAutofit/>
          </a:bodyPr>
          <a:lstStyle>
            <a:lvl1pPr marL="0" indent="0">
              <a:buNone/>
              <a:defRPr sz="28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13105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17578"/>
            <a:ext cx="13155431" cy="549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06924"/>
            <a:ext cx="13155431" cy="5505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image" Target="../media/image4.png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909" y="832674"/>
            <a:ext cx="3516583" cy="15793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73417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655" y="28597"/>
            <a:ext cx="10975981" cy="560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576675"/>
            <a:ext cx="13136400" cy="58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661" y="153680"/>
            <a:ext cx="1744740" cy="309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76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j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j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43726" y="2935573"/>
            <a:ext cx="9940431" cy="2633081"/>
          </a:xfrm>
        </p:spPr>
        <p:txBody>
          <a:bodyPr/>
          <a:lstStyle/>
          <a:p>
            <a:r>
              <a:rPr lang="en-US" altLang="en-US" sz="6000">
                <a:sym typeface="+mn-ea"/>
              </a:rPr>
              <a:t>Cross-platform application development</a:t>
            </a:r>
            <a:endParaRPr lang="en-US" sz="6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44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44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Navigation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0515" y="1968500"/>
            <a:ext cx="8068945" cy="3538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 is the process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switching between different screens (pages/screens)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an app.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uses the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Navigator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navigation, which works like 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time a new page is opened: it is pushed onto the stack. When going back: it is popped from the stack.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Navigation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389" y="2745929"/>
            <a:ext cx="740426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Navigator is a widget that manages a stack of screens.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The main interface uses Navigator to control the UI.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Common methods include:push(), pop(), pushReplacement(), pushNamed() ... and more.</a:t>
            </a:r>
            <a:endParaRPr lang="en-US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Ví dụ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2688" y="1980332"/>
            <a:ext cx="7404264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/>
              <a:t>Navigator.push(context, MaterialPageRoute(</a:t>
            </a:r>
            <a:endParaRPr lang="en-US" altLang="en-US" sz="2400"/>
          </a:p>
          <a:p>
            <a:r>
              <a:rPr lang="en-US" altLang="en-US" sz="2400"/>
              <a:t>    builder: (context) =&gt; SecondPage(),</a:t>
            </a:r>
            <a:endParaRPr lang="en-US" altLang="en-US" sz="2400"/>
          </a:p>
          <a:p>
            <a:r>
              <a:rPr lang="en-US" altLang="en-US" sz="2400"/>
              <a:t>  ),</a:t>
            </a:r>
            <a:endParaRPr lang="en-US" altLang="en-US" sz="2400"/>
          </a:p>
          <a:p>
            <a:r>
              <a:rPr lang="en-US" altLang="en-US" sz="2400"/>
              <a:t>);</a:t>
            </a:r>
            <a:endParaRPr lang="en-US" altLang="en-US" sz="2400"/>
          </a:p>
          <a:p>
            <a:r>
              <a:rPr lang="en-US" altLang="en-US" sz="2400"/>
              <a:t>Navigator.pop(context); // Go back to the previous screen</a:t>
            </a:r>
            <a:endParaRPr lang="en-US" altLang="en-US" sz="2400"/>
          </a:p>
          <a:p>
            <a:endParaRPr lang="en-US" alt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1172688" y="4103140"/>
            <a:ext cx="7404264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/>
              <a:t>push</a:t>
            </a:r>
            <a:r>
              <a:rPr lang="vi-VN" sz="2400"/>
              <a:t>: </a:t>
            </a:r>
            <a:r>
              <a:rPr lang="en-US" sz="2400"/>
              <a:t>opens a new page</a:t>
            </a:r>
            <a:endParaRPr lang="en-US" sz="2400"/>
          </a:p>
          <a:p>
            <a:r>
              <a:rPr lang="vi-VN" sz="2400" b="1"/>
              <a:t>pop</a:t>
            </a:r>
            <a:r>
              <a:rPr lang="vi-VN" sz="2400"/>
              <a:t>: </a:t>
            </a:r>
            <a:r>
              <a:rPr lang="en-US" altLang="vi-VN" sz="2400"/>
              <a:t>goes back to the previous page</a:t>
            </a:r>
            <a:endParaRPr lang="en-US" altLang="vi-VN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Routing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8458" y="3035041"/>
            <a:ext cx="7404264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/>
              <a:t>Routing is the process of mapping a route name (string) to a specific Widget.</a:t>
            </a:r>
            <a:endParaRPr lang="en-US" altLang="en-US" sz="2800"/>
          </a:p>
          <a:p>
            <a:r>
              <a:rPr lang="en-US" altLang="en-US" sz="2800"/>
              <a:t>It helps in clearly managing screens, especially in apps with many pages.</a:t>
            </a:r>
            <a:endParaRPr lang="en-US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MaterialPageRoute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389" y="2502379"/>
            <a:ext cx="740426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This is the default route type in Flutter.</a:t>
            </a:r>
            <a:endParaRPr lang="en-US" altLang="en-US"/>
          </a:p>
          <a:p>
            <a:r>
              <a:rPr lang="en-US" altLang="en-US"/>
              <a:t>It provides a Material Design-style page transition.</a:t>
            </a:r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91389" y="3343082"/>
            <a:ext cx="7404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MaterialPageRoute(</a:t>
            </a:r>
            <a:endParaRPr lang="en-US"/>
          </a:p>
          <a:p>
            <a:r>
              <a:rPr lang="en-US"/>
              <a:t>  builder: (context) =&gt; MyPage(),</a:t>
            </a:r>
            <a:endParaRPr lang="en-US"/>
          </a:p>
          <a:p>
            <a:r>
              <a:rPr lang="en-US"/>
              <a:t>);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Named Routes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389" y="1559252"/>
            <a:ext cx="7404264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/>
              <a:t>Instead of creating a new route in every push(), define routes by name.</a:t>
            </a:r>
            <a:endParaRPr lang="en-US" altLang="en-US" sz="2400"/>
          </a:p>
          <a:p>
            <a:r>
              <a:rPr lang="en-US" altLang="en-US" sz="2400"/>
              <a:t>This makes management easier in large applications.</a:t>
            </a:r>
            <a:endParaRPr lang="en-US" altLang="en-US" sz="2400"/>
          </a:p>
        </p:txBody>
      </p:sp>
      <p:sp>
        <p:nvSpPr>
          <p:cNvPr id="10" name="TextBox 9"/>
          <p:cNvSpPr txBox="1"/>
          <p:nvPr/>
        </p:nvSpPr>
        <p:spPr>
          <a:xfrm>
            <a:off x="291389" y="2960638"/>
            <a:ext cx="74042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MaterialApp(</a:t>
            </a:r>
            <a:endParaRPr lang="en-US"/>
          </a:p>
          <a:p>
            <a:r>
              <a:rPr lang="en-US"/>
              <a:t>  initialRoute: '/',</a:t>
            </a:r>
            <a:endParaRPr lang="en-US"/>
          </a:p>
          <a:p>
            <a:r>
              <a:rPr lang="en-US"/>
              <a:t>  routes: {</a:t>
            </a:r>
            <a:endParaRPr lang="en-US"/>
          </a:p>
          <a:p>
            <a:r>
              <a:rPr lang="en-US"/>
              <a:t>    '/': (context) =&gt; HomePage(),</a:t>
            </a:r>
            <a:endParaRPr lang="en-US"/>
          </a:p>
          <a:p>
            <a:r>
              <a:rPr lang="en-US"/>
              <a:t>    '/login': (context) =&gt; LoginPage(),</a:t>
            </a:r>
            <a:endParaRPr lang="en-US"/>
          </a:p>
          <a:p>
            <a:r>
              <a:rPr lang="en-US"/>
              <a:t>    '/profile': (context) =&gt; ProfilePage(),</a:t>
            </a:r>
            <a:endParaRPr lang="en-US"/>
          </a:p>
          <a:p>
            <a:r>
              <a:rPr lang="en-US"/>
              <a:t>  },</a:t>
            </a:r>
            <a:endParaRPr lang="en-US"/>
          </a:p>
          <a:p>
            <a:r>
              <a:rPr lang="en-US"/>
              <a:t>);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Passing Data Through Routes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dart</a:t>
            </a: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dart</a:t>
            </a: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Copy</a:t>
            </a: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Edit</a:t>
            </a: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244" y="1877912"/>
            <a:ext cx="8051114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cs typeface="+mn-lt"/>
              </a:rPr>
              <a:t>Navigator.push(</a:t>
            </a:r>
            <a:endParaRPr lang="en-US" sz="2400">
              <a:cs typeface="+mn-lt"/>
            </a:endParaRPr>
          </a:p>
          <a:p>
            <a:r>
              <a:rPr lang="en-US" sz="2400">
                <a:cs typeface="+mn-lt"/>
              </a:rPr>
              <a:t>  context,</a:t>
            </a:r>
            <a:endParaRPr lang="en-US" sz="2400">
              <a:cs typeface="+mn-lt"/>
            </a:endParaRPr>
          </a:p>
          <a:p>
            <a:r>
              <a:rPr lang="en-US" sz="2400">
                <a:cs typeface="+mn-lt"/>
              </a:rPr>
              <a:t>  MaterialPageRoute(</a:t>
            </a:r>
            <a:endParaRPr lang="en-US" sz="2400">
              <a:cs typeface="+mn-lt"/>
            </a:endParaRPr>
          </a:p>
          <a:p>
            <a:r>
              <a:rPr lang="en-US" sz="2400">
                <a:cs typeface="+mn-lt"/>
              </a:rPr>
              <a:t>    builder: (context) =&gt; DetailPage(product: myProduct),</a:t>
            </a:r>
            <a:endParaRPr lang="en-US" sz="2400">
              <a:cs typeface="+mn-lt"/>
            </a:endParaRPr>
          </a:p>
          <a:p>
            <a:r>
              <a:rPr lang="en-US" sz="2400">
                <a:cs typeface="+mn-lt"/>
              </a:rPr>
              <a:t>  ),</a:t>
            </a:r>
            <a:endParaRPr lang="en-US" sz="2400">
              <a:cs typeface="+mn-lt"/>
            </a:endParaRPr>
          </a:p>
          <a:p>
            <a:r>
              <a:rPr lang="en-US" sz="2400">
                <a:cs typeface="+mn-lt"/>
              </a:rPr>
              <a:t>);</a:t>
            </a:r>
            <a:endParaRPr lang="en-US" sz="2400">
              <a:cs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244" y="4457200"/>
            <a:ext cx="6507678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You can pass data via the constructor or via settings.arguments.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Static Route Configuration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Copy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Edit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lnSpc>
                <a:spcPts val="5550"/>
              </a:lnSpc>
            </a:pP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4916" y="1664294"/>
            <a:ext cx="74042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void main() {</a:t>
            </a:r>
            <a:endParaRPr lang="en-US" sz="2400"/>
          </a:p>
          <a:p>
            <a:r>
              <a:rPr lang="en-US" sz="2400"/>
              <a:t>  runApp(MaterialApp(</a:t>
            </a:r>
            <a:endParaRPr lang="en-US" sz="2400"/>
          </a:p>
          <a:p>
            <a:r>
              <a:rPr lang="en-US" sz="2400"/>
              <a:t>    initialRoute: '/',</a:t>
            </a:r>
            <a:endParaRPr lang="en-US" sz="2400"/>
          </a:p>
          <a:p>
            <a:r>
              <a:rPr lang="en-US" sz="2400"/>
              <a:t>    routes: {</a:t>
            </a:r>
            <a:endParaRPr lang="en-US" sz="2400"/>
          </a:p>
          <a:p>
            <a:r>
              <a:rPr lang="en-US" sz="2400"/>
              <a:t>      '/': (context) =&gt; HomePage(),</a:t>
            </a:r>
            <a:endParaRPr lang="en-US" sz="2400"/>
          </a:p>
          <a:p>
            <a:r>
              <a:rPr lang="en-US" sz="2400"/>
              <a:t>      '/about': (context) =&gt; AboutPage(),</a:t>
            </a:r>
            <a:endParaRPr lang="en-US" sz="2400"/>
          </a:p>
          <a:p>
            <a:r>
              <a:rPr lang="en-US" sz="2400"/>
              <a:t>    },</a:t>
            </a:r>
            <a:endParaRPr lang="en-US" sz="2400"/>
          </a:p>
          <a:p>
            <a:r>
              <a:rPr lang="en-US" sz="2400"/>
              <a:t>  ));</a:t>
            </a:r>
            <a:endParaRPr lang="en-US" sz="2400"/>
          </a:p>
          <a:p>
            <a:r>
              <a:rPr lang="en-US" sz="2400"/>
              <a:t>}</a:t>
            </a:r>
            <a:endParaRPr lang="en-US" sz="2400"/>
          </a:p>
        </p:txBody>
      </p:sp>
      <p:sp>
        <p:nvSpPr>
          <p:cNvPr id="10" name="TextBox 9"/>
          <p:cNvSpPr txBox="1"/>
          <p:nvPr/>
        </p:nvSpPr>
        <p:spPr>
          <a:xfrm>
            <a:off x="344916" y="5114394"/>
            <a:ext cx="740426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vi-VN" sz="2400"/>
              <a:t>Use</a:t>
            </a:r>
            <a:r>
              <a:rPr lang="vi-VN" sz="2400"/>
              <a:t> Navigator.pushNamed(context, '/about')</a:t>
            </a:r>
            <a:r>
              <a:rPr lang="en-US" altLang="vi-VN" sz="2400"/>
              <a:t> </a:t>
            </a:r>
            <a:r>
              <a:rPr lang="en-US" altLang="en-US" sz="2400"/>
              <a:t>to navigate.</a:t>
            </a:r>
            <a:endParaRPr lang="en-US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Dynamic Route with onGenerateRoute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554" y="1852237"/>
            <a:ext cx="740426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MaterialApp(</a:t>
            </a:r>
            <a:endParaRPr lang="en-US"/>
          </a:p>
          <a:p>
            <a:r>
              <a:rPr lang="en-US"/>
              <a:t>  onGenerateRoute: (settings) {</a:t>
            </a:r>
            <a:endParaRPr lang="en-US"/>
          </a:p>
          <a:p>
            <a:r>
              <a:rPr lang="en-US"/>
              <a:t>    if (settings.name == '/product') {</a:t>
            </a:r>
            <a:endParaRPr lang="en-US"/>
          </a:p>
          <a:p>
            <a:r>
              <a:rPr lang="en-US"/>
              <a:t>      final id = settings.arguments as int;</a:t>
            </a:r>
            <a:endParaRPr lang="en-US"/>
          </a:p>
          <a:p>
            <a:r>
              <a:rPr lang="en-US"/>
              <a:t>      return MaterialPageRoute(</a:t>
            </a:r>
            <a:endParaRPr lang="en-US"/>
          </a:p>
          <a:p>
            <a:r>
              <a:rPr lang="en-US"/>
              <a:t>        builder: (context) =&gt; ProductPage(id: id),</a:t>
            </a:r>
            <a:endParaRPr lang="en-US"/>
          </a:p>
          <a:p>
            <a:r>
              <a:rPr lang="en-US"/>
              <a:t>      );</a:t>
            </a:r>
            <a:endParaRPr lang="en-US"/>
          </a:p>
          <a:p>
            <a:r>
              <a:rPr lang="en-US"/>
              <a:t>    }</a:t>
            </a:r>
            <a:endParaRPr lang="en-US"/>
          </a:p>
          <a:p>
            <a:r>
              <a:rPr lang="en-US"/>
              <a:t>    return null;</a:t>
            </a:r>
            <a:endParaRPr lang="en-US"/>
          </a:p>
          <a:p>
            <a:r>
              <a:rPr lang="en-US"/>
              <a:t>  },</a:t>
            </a:r>
            <a:endParaRPr lang="en-US"/>
          </a:p>
          <a:p>
            <a:r>
              <a:rPr lang="en-US"/>
              <a:t>);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18458" y="5280169"/>
            <a:ext cx="740426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/>
              <a:t>Useful when you need to pass data or perform complex logic checks.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Anonymous Routes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1388" y="2281535"/>
            <a:ext cx="76001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/>
              <a:t>An anonymous route in Flutter is a route that is not pre-declared in MaterialApp.routes, but is created on-demand.</a:t>
            </a:r>
            <a:endParaRPr lang="en-US" altLang="en-US" sz="2400"/>
          </a:p>
        </p:txBody>
      </p:sp>
      <p:sp>
        <p:nvSpPr>
          <p:cNvPr id="10" name="TextBox 9"/>
          <p:cNvSpPr txBox="1"/>
          <p:nvPr/>
        </p:nvSpPr>
        <p:spPr>
          <a:xfrm>
            <a:off x="291465" y="3547745"/>
            <a:ext cx="798322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No route name (/login, /home, etc.) → not used with pushNamed()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Created directly using MaterialPageRoute or a custom PageRoute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Suitable for small apps, few screens, or when centralized configuration is unnecessary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722" y="2398680"/>
            <a:ext cx="6507678" cy="30886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Example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389" y="2398680"/>
            <a:ext cx="74042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Navigator.push(</a:t>
            </a:r>
            <a:endParaRPr lang="en-US" sz="2400"/>
          </a:p>
          <a:p>
            <a:r>
              <a:rPr lang="en-US" sz="2400"/>
              <a:t>  context,</a:t>
            </a:r>
            <a:endParaRPr lang="en-US" sz="2400"/>
          </a:p>
          <a:p>
            <a:r>
              <a:rPr lang="en-US" sz="2400"/>
              <a:t>  MaterialPageRoute(builder: (context) =&gt; SecondPage()),</a:t>
            </a:r>
            <a:endParaRPr lang="en-US" sz="2400"/>
          </a:p>
          <a:p>
            <a:r>
              <a:rPr lang="en-US" sz="2400"/>
              <a:t>);</a:t>
            </a:r>
            <a:endParaRPr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291388" y="4114800"/>
            <a:ext cx="76001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/>
              <a:t>Here, no route needs to be defined in MaterialApp.</a:t>
            </a:r>
            <a:endParaRPr lang="en-US" altLang="en-US" sz="2400"/>
          </a:p>
          <a:p>
            <a:r>
              <a:rPr lang="en-US" altLang="en-US" sz="2400"/>
              <a:t>SecondPage is created directly when navigation is needed.</a:t>
            </a:r>
            <a:endParaRPr lang="en-US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Named và Anonymous Routes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481510" y="2542270"/>
          <a:ext cx="8241908" cy="219456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120954"/>
                <a:gridCol w="4120954"/>
              </a:tblGrid>
              <a:tr h="322850">
                <a:tc>
                  <a:txBody>
                    <a:bodyPr/>
                    <a:lstStyle/>
                    <a:p>
                      <a:r>
                        <a:rPr lang="en-US" sz="2400"/>
                        <a:t>Named Route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Anonymous Routes</a:t>
                      </a:r>
                      <a:endParaRPr lang="en-US" sz="2400"/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altLang="en-US" sz="2400"/>
                        <a:t>Easy to organize</a:t>
                      </a:r>
                      <a:endParaRPr lang="en-US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2400"/>
                        <a:t>Fast, no prior notification required</a:t>
                      </a:r>
                      <a:endParaRPr lang="en-US" altLang="en-US" sz="2400"/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altLang="en-US" sz="2400"/>
                        <a:t>Good for large apps</a:t>
                      </a:r>
                      <a:endParaRPr lang="en-US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2400"/>
                        <a:t>Good for simple logic</a:t>
                      </a:r>
                      <a:endParaRPr lang="en-US" altLang="en-US" sz="2400"/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lang="en-US" altLang="en-US" sz="2400"/>
                        <a:t>Deep linking possible</a:t>
                      </a:r>
                      <a:endParaRPr lang="en-US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sym typeface="+mn-ea"/>
                        </a:rPr>
                        <a:t>Deep linking not supported</a:t>
                      </a:r>
                      <a:endParaRPr lang="en-US" sz="24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2883</Words>
  <Application>WPS Presentation</Application>
  <PresentationFormat>Custom</PresentationFormat>
  <Paragraphs>168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Inter Bold</vt:lpstr>
      <vt:lpstr>Arial Unicode MS</vt:lpstr>
      <vt:lpstr>Times New Roman</vt:lpstr>
      <vt:lpstr>Microsoft YaHei</vt:lpstr>
      <vt:lpstr>Calibri</vt:lpstr>
      <vt:lpstr>Opening slide</vt:lpstr>
      <vt:lpstr>Body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Cường Lê</cp:lastModifiedBy>
  <cp:revision>17</cp:revision>
  <dcterms:created xsi:type="dcterms:W3CDTF">2025-04-25T04:46:00Z</dcterms:created>
  <dcterms:modified xsi:type="dcterms:W3CDTF">2025-05-14T06:58:07Z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7A582C4DD53C4B3A8191F37BA1CEF629_12</vt:lpwstr>
  </property>
  <property fmtid="{D5CDD505-2E9C-101B-9397-08002B2CF9AE}" pid="3" name="KSOProductBuildVer">
    <vt:lpwstr>1033-12.2.0.21179</vt:lpwstr>
  </property>
</Properties>
</file>