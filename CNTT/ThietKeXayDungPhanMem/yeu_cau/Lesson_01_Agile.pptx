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slideLayouts/slideLayout12.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60" r:id="rId4"/>
    <p:sldMasterId id="2147483672" r:id="rId5"/>
    <p:sldMasterId id="2147483683" r:id="rId6"/>
  </p:sldMasterIdLst>
  <p:notesMasterIdLst>
    <p:notesMasterId r:id="rId45"/>
  </p:notesMasterIdLst>
  <p:sldIdLst>
    <p:sldId id="267" r:id="rId7"/>
    <p:sldId id="283" r:id="rId8"/>
    <p:sldId id="271" r:id="rId9"/>
    <p:sldId id="284" r:id="rId10"/>
    <p:sldId id="285" r:id="rId11"/>
    <p:sldId id="286" r:id="rId12"/>
    <p:sldId id="287" r:id="rId13"/>
    <p:sldId id="288" r:id="rId14"/>
    <p:sldId id="272" r:id="rId15"/>
    <p:sldId id="273" r:id="rId16"/>
    <p:sldId id="289" r:id="rId17"/>
    <p:sldId id="290" r:id="rId18"/>
    <p:sldId id="291" r:id="rId19"/>
    <p:sldId id="292" r:id="rId20"/>
    <p:sldId id="293" r:id="rId21"/>
    <p:sldId id="294" r:id="rId22"/>
    <p:sldId id="295" r:id="rId23"/>
    <p:sldId id="297" r:id="rId24"/>
    <p:sldId id="298" r:id="rId25"/>
    <p:sldId id="299" r:id="rId26"/>
    <p:sldId id="300" r:id="rId27"/>
    <p:sldId id="301" r:id="rId28"/>
    <p:sldId id="302" r:id="rId29"/>
    <p:sldId id="303" r:id="rId30"/>
    <p:sldId id="305" r:id="rId31"/>
    <p:sldId id="306" r:id="rId32"/>
    <p:sldId id="307" r:id="rId33"/>
    <p:sldId id="309" r:id="rId34"/>
    <p:sldId id="310" r:id="rId35"/>
    <p:sldId id="311" r:id="rId36"/>
    <p:sldId id="312" r:id="rId37"/>
    <p:sldId id="277" r:id="rId38"/>
    <p:sldId id="278" r:id="rId39"/>
    <p:sldId id="279" r:id="rId40"/>
    <p:sldId id="281" r:id="rId41"/>
    <p:sldId id="313" r:id="rId42"/>
    <p:sldId id="314" r:id="rId43"/>
    <p:sldId id="269" r:id="rId44"/>
  </p:sldIdLst>
  <p:sldSz cx="14630400" cy="8229600"/>
  <p:notesSz cx="8229600" cy="14630400"/>
  <p:embeddedFontLst>
    <p:embeddedFont>
      <p:font typeface="Raleway" pitchFamily="2" charset="0"/>
      <p:regular r:id="rId46"/>
      <p:bold r:id="rId47"/>
      <p:italic r:id="rId48"/>
      <p:boldItalic r:id="rId49"/>
    </p:embeddedFont>
    <p:embeddedFont>
      <p:font typeface="Roboto" panose="02000000000000000000" pitchFamily="2" charset="0"/>
      <p:regular r:id="rId50"/>
      <p:bold r:id="rId51"/>
      <p:italic r:id="rId52"/>
      <p:boldItalic r:id="rId5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EE9349BD-0315-454F-852B-6A66338F98AA}">
          <p14:sldIdLst>
            <p14:sldId id="267"/>
          </p14:sldIdLst>
        </p14:section>
        <p14:section name="Agile" id="{14B43DE6-A195-4F2E-BA26-A996512010DF}">
          <p14:sldIdLst>
            <p14:sldId id="283"/>
            <p14:sldId id="271"/>
            <p14:sldId id="284"/>
            <p14:sldId id="285"/>
          </p14:sldIdLst>
        </p14:section>
        <p14:section name="Scrum overview" id="{96D7FC5E-2BD7-4A79-A689-F05852D0B1E9}">
          <p14:sldIdLst>
            <p14:sldId id="286"/>
            <p14:sldId id="287"/>
            <p14:sldId id="288"/>
            <p14:sldId id="272"/>
          </p14:sldIdLst>
        </p14:section>
        <p14:section name="Scrum roles" id="{5F80375E-D222-4BDC-A6B1-D1F75AA1286B}">
          <p14:sldIdLst>
            <p14:sldId id="273"/>
            <p14:sldId id="289"/>
            <p14:sldId id="290"/>
            <p14:sldId id="291"/>
            <p14:sldId id="292"/>
            <p14:sldId id="293"/>
            <p14:sldId id="294"/>
            <p14:sldId id="295"/>
            <p14:sldId id="297"/>
          </p14:sldIdLst>
        </p14:section>
        <p14:section name="Scrum artifacts" id="{E7B3A7E8-7683-4082-A57B-CC74E407C5DE}">
          <p14:sldIdLst>
            <p14:sldId id="298"/>
          </p14:sldIdLst>
        </p14:section>
        <p14:section name="Product Backlog" id="{C7175FB6-E346-411E-9466-D3C30D3B5BE5}">
          <p14:sldIdLst>
            <p14:sldId id="299"/>
            <p14:sldId id="300"/>
            <p14:sldId id="301"/>
            <p14:sldId id="302"/>
            <p14:sldId id="303"/>
            <p14:sldId id="305"/>
            <p14:sldId id="306"/>
            <p14:sldId id="307"/>
          </p14:sldIdLst>
        </p14:section>
        <p14:section name="Sprint Backlog" id="{7470CBEC-5616-42AE-9B92-5A3E1DD453F9}">
          <p14:sldIdLst>
            <p14:sldId id="309"/>
            <p14:sldId id="310"/>
          </p14:sldIdLst>
        </p14:section>
        <p14:section name="Scrum Increments" id="{1FD8886E-76BE-42F4-9BC8-831A2724BB71}">
          <p14:sldIdLst>
            <p14:sldId id="311"/>
          </p14:sldIdLst>
        </p14:section>
        <p14:section name="Scrum events" id="{1EA7985A-1BA1-42E6-B2CE-AA00A7D42EB5}">
          <p14:sldIdLst>
            <p14:sldId id="312"/>
            <p14:sldId id="277"/>
            <p14:sldId id="278"/>
            <p14:sldId id="279"/>
            <p14:sldId id="281"/>
            <p14:sldId id="313"/>
            <p14:sldId id="314"/>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B301E11-4917-4C43-903A-0C86D1F8F4B5}" v="2" dt="2026-01-07T00:08:08.69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6138" autoAdjust="0"/>
  </p:normalViewPr>
  <p:slideViewPr>
    <p:cSldViewPr snapToGrid="0">
      <p:cViewPr varScale="1">
        <p:scale>
          <a:sx n="47" d="100"/>
          <a:sy n="47" d="100"/>
        </p:scale>
        <p:origin x="1023" y="39"/>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openxmlformats.org/officeDocument/2006/relationships/slide" Target="slides/slide33.xml"/><Relationship Id="rId21" Type="http://schemas.openxmlformats.org/officeDocument/2006/relationships/slide" Target="slides/slide15.xml"/><Relationship Id="rId34" Type="http://schemas.openxmlformats.org/officeDocument/2006/relationships/slide" Target="slides/slide28.xml"/><Relationship Id="rId42" Type="http://schemas.openxmlformats.org/officeDocument/2006/relationships/slide" Target="slides/slide36.xml"/><Relationship Id="rId47" Type="http://schemas.openxmlformats.org/officeDocument/2006/relationships/font" Target="fonts/font2.fntdata"/><Relationship Id="rId50" Type="http://schemas.openxmlformats.org/officeDocument/2006/relationships/font" Target="fonts/font5.fntdata"/><Relationship Id="rId55" Type="http://schemas.openxmlformats.org/officeDocument/2006/relationships/viewProps" Target="viewProps.xml"/><Relationship Id="rId7" Type="http://schemas.openxmlformats.org/officeDocument/2006/relationships/slide" Target="slides/slide1.xml"/><Relationship Id="rId2" Type="http://schemas.openxmlformats.org/officeDocument/2006/relationships/customXml" Target="../customXml/item2.xml"/><Relationship Id="rId16" Type="http://schemas.openxmlformats.org/officeDocument/2006/relationships/slide" Target="slides/slide10.xml"/><Relationship Id="rId29" Type="http://schemas.openxmlformats.org/officeDocument/2006/relationships/slide" Target="slides/slide2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slide" Target="slides/slide31.xml"/><Relationship Id="rId40" Type="http://schemas.openxmlformats.org/officeDocument/2006/relationships/slide" Target="slides/slide34.xml"/><Relationship Id="rId45" Type="http://schemas.openxmlformats.org/officeDocument/2006/relationships/notesMaster" Target="notesMasters/notesMaster1.xml"/><Relationship Id="rId53" Type="http://schemas.openxmlformats.org/officeDocument/2006/relationships/font" Target="fonts/font8.fntdata"/><Relationship Id="rId58" Type="http://schemas.microsoft.com/office/2015/10/relationships/revisionInfo" Target="revisionInfo.xml"/><Relationship Id="rId5" Type="http://schemas.openxmlformats.org/officeDocument/2006/relationships/slideMaster" Target="slideMasters/slideMaster2.xml"/><Relationship Id="rId19" Type="http://schemas.openxmlformats.org/officeDocument/2006/relationships/slide" Target="slides/slide13.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slide" Target="slides/slide37.xml"/><Relationship Id="rId48" Type="http://schemas.openxmlformats.org/officeDocument/2006/relationships/font" Target="fonts/font3.fntdata"/><Relationship Id="rId56" Type="http://schemas.openxmlformats.org/officeDocument/2006/relationships/theme" Target="theme/theme1.xml"/><Relationship Id="rId8" Type="http://schemas.openxmlformats.org/officeDocument/2006/relationships/slide" Target="slides/slide2.xml"/><Relationship Id="rId51" Type="http://schemas.openxmlformats.org/officeDocument/2006/relationships/font" Target="fonts/font6.fntdata"/><Relationship Id="rId3" Type="http://schemas.openxmlformats.org/officeDocument/2006/relationships/customXml" Target="../customXml/item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46" Type="http://schemas.openxmlformats.org/officeDocument/2006/relationships/font" Target="fonts/font1.fntdata"/><Relationship Id="rId20" Type="http://schemas.openxmlformats.org/officeDocument/2006/relationships/slide" Target="slides/slide14.xml"/><Relationship Id="rId41" Type="http://schemas.openxmlformats.org/officeDocument/2006/relationships/slide" Target="slides/slide35.xml"/><Relationship Id="rId54"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49" Type="http://schemas.openxmlformats.org/officeDocument/2006/relationships/font" Target="fonts/font4.fntdata"/><Relationship Id="rId57" Type="http://schemas.openxmlformats.org/officeDocument/2006/relationships/tableStyles" Target="tableStyles.xml"/><Relationship Id="rId10" Type="http://schemas.openxmlformats.org/officeDocument/2006/relationships/slide" Target="slides/slide4.xml"/><Relationship Id="rId31" Type="http://schemas.openxmlformats.org/officeDocument/2006/relationships/slide" Target="slides/slide25.xml"/><Relationship Id="rId44" Type="http://schemas.openxmlformats.org/officeDocument/2006/relationships/slide" Target="slides/slide38.xml"/><Relationship Id="rId52" Type="http://schemas.openxmlformats.org/officeDocument/2006/relationships/font" Target="fonts/font7.fntdata"/></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A99BD7B-7384-44FD-80E1-9EDAC48F774B}"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US"/>
        </a:p>
      </dgm:t>
    </dgm:pt>
    <dgm:pt modelId="{B6758CE1-1D1D-4B9F-8D48-6A7EB64C1C0F}">
      <dgm:prSet phldrT="[Text]"/>
      <dgm:spPr/>
      <dgm:t>
        <a:bodyPr/>
        <a:lstStyle/>
        <a:p>
          <a:r>
            <a:rPr lang="en-US"/>
            <a:t>When to use</a:t>
          </a:r>
        </a:p>
      </dgm:t>
    </dgm:pt>
    <dgm:pt modelId="{225DA0C9-8AC4-4E7E-A9CE-FE6DA83A9FB0}" type="parTrans" cxnId="{87AC99A6-C74D-4F79-8284-FDA3A4D83EF4}">
      <dgm:prSet/>
      <dgm:spPr/>
      <dgm:t>
        <a:bodyPr/>
        <a:lstStyle/>
        <a:p>
          <a:endParaRPr lang="en-US"/>
        </a:p>
      </dgm:t>
    </dgm:pt>
    <dgm:pt modelId="{B3D58FFD-489E-42A4-A490-E0A7A88C66F7}" type="sibTrans" cxnId="{87AC99A6-C74D-4F79-8284-FDA3A4D83EF4}">
      <dgm:prSet/>
      <dgm:spPr/>
      <dgm:t>
        <a:bodyPr/>
        <a:lstStyle/>
        <a:p>
          <a:endParaRPr lang="en-US"/>
        </a:p>
      </dgm:t>
    </dgm:pt>
    <dgm:pt modelId="{C5646ABC-210A-4F4E-9A15-000333E87242}">
      <dgm:prSet phldrT="[Text]"/>
      <dgm:spPr/>
      <dgm:t>
        <a:bodyPr/>
        <a:lstStyle/>
        <a:p>
          <a:r>
            <a:rPr lang="en-US" b="1"/>
            <a:t>Uncertainty Exists</a:t>
          </a:r>
          <a:r>
            <a:rPr lang="en-US"/>
            <a:t>: There is ambiguity or lack of clarity in a user story or technical task.</a:t>
          </a:r>
        </a:p>
      </dgm:t>
    </dgm:pt>
    <dgm:pt modelId="{65C520AA-7218-46B1-977E-307204A88BF2}" type="parTrans" cxnId="{C444A42A-F257-4C57-BCE7-84BFC81DA140}">
      <dgm:prSet/>
      <dgm:spPr/>
      <dgm:t>
        <a:bodyPr/>
        <a:lstStyle/>
        <a:p>
          <a:endParaRPr lang="en-US"/>
        </a:p>
      </dgm:t>
    </dgm:pt>
    <dgm:pt modelId="{AEE4BB85-51A4-425E-8896-BD480E3790B0}" type="sibTrans" cxnId="{C444A42A-F257-4C57-BCE7-84BFC81DA140}">
      <dgm:prSet/>
      <dgm:spPr/>
      <dgm:t>
        <a:bodyPr/>
        <a:lstStyle/>
        <a:p>
          <a:endParaRPr lang="en-US"/>
        </a:p>
      </dgm:t>
    </dgm:pt>
    <dgm:pt modelId="{44F789B9-B6EF-439D-AFF1-08631F4B0EC4}">
      <dgm:prSet phldrT="[Text]"/>
      <dgm:spPr/>
      <dgm:t>
        <a:bodyPr/>
        <a:lstStyle/>
        <a:p>
          <a:r>
            <a:rPr lang="en-US"/>
            <a:t>Types</a:t>
          </a:r>
        </a:p>
      </dgm:t>
    </dgm:pt>
    <dgm:pt modelId="{4EC1451A-99DD-4654-9074-458947413900}" type="parTrans" cxnId="{33D905BC-55AA-4CDF-A19C-C05319FD8495}">
      <dgm:prSet/>
      <dgm:spPr/>
      <dgm:t>
        <a:bodyPr/>
        <a:lstStyle/>
        <a:p>
          <a:endParaRPr lang="en-US"/>
        </a:p>
      </dgm:t>
    </dgm:pt>
    <dgm:pt modelId="{83A64161-B5FB-4DD3-97F0-22F1FB30F774}" type="sibTrans" cxnId="{33D905BC-55AA-4CDF-A19C-C05319FD8495}">
      <dgm:prSet/>
      <dgm:spPr/>
      <dgm:t>
        <a:bodyPr/>
        <a:lstStyle/>
        <a:p>
          <a:endParaRPr lang="en-US"/>
        </a:p>
      </dgm:t>
    </dgm:pt>
    <dgm:pt modelId="{C13DF3FF-DBD5-45F5-878F-901A3712B32D}">
      <dgm:prSet phldrT="[Text]"/>
      <dgm:spPr/>
      <dgm:t>
        <a:bodyPr/>
        <a:lstStyle/>
        <a:p>
          <a:r>
            <a:rPr lang="en-US" b="1"/>
            <a:t>Technical Spike</a:t>
          </a:r>
          <a:r>
            <a:rPr lang="en-US"/>
            <a:t>: Focused on technical research or exploration. </a:t>
          </a:r>
        </a:p>
      </dgm:t>
    </dgm:pt>
    <dgm:pt modelId="{52D29894-EDCA-4627-8254-54D801DC627C}" type="parTrans" cxnId="{BA5C213F-2C97-4370-8E6E-8B9FDADD99DD}">
      <dgm:prSet/>
      <dgm:spPr/>
      <dgm:t>
        <a:bodyPr/>
        <a:lstStyle/>
        <a:p>
          <a:endParaRPr lang="en-US"/>
        </a:p>
      </dgm:t>
    </dgm:pt>
    <dgm:pt modelId="{253AA7B4-D683-482A-A036-BA7E24A94190}" type="sibTrans" cxnId="{BA5C213F-2C97-4370-8E6E-8B9FDADD99DD}">
      <dgm:prSet/>
      <dgm:spPr/>
      <dgm:t>
        <a:bodyPr/>
        <a:lstStyle/>
        <a:p>
          <a:endParaRPr lang="en-US"/>
        </a:p>
      </dgm:t>
    </dgm:pt>
    <dgm:pt modelId="{C93654E8-FF95-40E9-9F35-70FABCBDE45F}">
      <dgm:prSet phldrT="[Text]"/>
      <dgm:spPr/>
      <dgm:t>
        <a:bodyPr/>
        <a:lstStyle/>
        <a:p>
          <a:r>
            <a:rPr lang="en-US"/>
            <a:t>Characteristics</a:t>
          </a:r>
        </a:p>
      </dgm:t>
    </dgm:pt>
    <dgm:pt modelId="{923ECE3E-63E2-4AFC-AF5A-9A554FFE1C62}" type="parTrans" cxnId="{18DD28BA-C773-4CFB-AD5A-85FFC8E6E9C7}">
      <dgm:prSet/>
      <dgm:spPr/>
      <dgm:t>
        <a:bodyPr/>
        <a:lstStyle/>
        <a:p>
          <a:endParaRPr lang="en-US"/>
        </a:p>
      </dgm:t>
    </dgm:pt>
    <dgm:pt modelId="{D92DB99F-43BC-4EB7-A302-D20AF3BCEB29}" type="sibTrans" cxnId="{18DD28BA-C773-4CFB-AD5A-85FFC8E6E9C7}">
      <dgm:prSet/>
      <dgm:spPr/>
      <dgm:t>
        <a:bodyPr/>
        <a:lstStyle/>
        <a:p>
          <a:endParaRPr lang="en-US"/>
        </a:p>
      </dgm:t>
    </dgm:pt>
    <dgm:pt modelId="{8C258043-FCB4-421A-A9F7-A142402E2B0A}">
      <dgm:prSet phldrT="[Text]"/>
      <dgm:spPr/>
      <dgm:t>
        <a:bodyPr/>
        <a:lstStyle/>
        <a:p>
          <a:r>
            <a:rPr lang="en-US" b="1"/>
            <a:t>Time-Boxed</a:t>
          </a:r>
          <a:r>
            <a:rPr lang="en-US"/>
            <a:t>: limited in duration, often one or two days, to prevent them from consuming too much time.</a:t>
          </a:r>
        </a:p>
      </dgm:t>
    </dgm:pt>
    <dgm:pt modelId="{945E23D8-DF37-499A-B935-4D8EA4F8321D}" type="parTrans" cxnId="{4995478F-6F49-4AA9-95F7-43956E3013A7}">
      <dgm:prSet/>
      <dgm:spPr/>
      <dgm:t>
        <a:bodyPr/>
        <a:lstStyle/>
        <a:p>
          <a:endParaRPr lang="en-US"/>
        </a:p>
      </dgm:t>
    </dgm:pt>
    <dgm:pt modelId="{912BD098-BC14-4721-A223-28C5955B3389}" type="sibTrans" cxnId="{4995478F-6F49-4AA9-95F7-43956E3013A7}">
      <dgm:prSet/>
      <dgm:spPr/>
      <dgm:t>
        <a:bodyPr/>
        <a:lstStyle/>
        <a:p>
          <a:endParaRPr lang="en-US"/>
        </a:p>
      </dgm:t>
    </dgm:pt>
    <dgm:pt modelId="{6C75CF60-BB34-4D51-BFD1-1C76A2D7CBFE}">
      <dgm:prSet/>
      <dgm:spPr/>
      <dgm:t>
        <a:bodyPr/>
        <a:lstStyle/>
        <a:p>
          <a:r>
            <a:rPr lang="en-US" b="1"/>
            <a:t>Technical Challenges</a:t>
          </a:r>
          <a:r>
            <a:rPr lang="en-US"/>
            <a:t>: The team needs to evaluate technologies, frameworks, or approaches.</a:t>
          </a:r>
        </a:p>
      </dgm:t>
    </dgm:pt>
    <dgm:pt modelId="{5188CB08-8DF5-4D77-82B7-E9FE3C924A4C}" type="parTrans" cxnId="{9543FB47-503D-4E82-84E0-57EA82602ACE}">
      <dgm:prSet/>
      <dgm:spPr/>
      <dgm:t>
        <a:bodyPr/>
        <a:lstStyle/>
        <a:p>
          <a:endParaRPr lang="en-US"/>
        </a:p>
      </dgm:t>
    </dgm:pt>
    <dgm:pt modelId="{D93A26C0-9070-4975-8CBC-63762E7C7EB3}" type="sibTrans" cxnId="{9543FB47-503D-4E82-84E0-57EA82602ACE}">
      <dgm:prSet/>
      <dgm:spPr/>
      <dgm:t>
        <a:bodyPr/>
        <a:lstStyle/>
        <a:p>
          <a:endParaRPr lang="en-US"/>
        </a:p>
      </dgm:t>
    </dgm:pt>
    <dgm:pt modelId="{56742DC5-376B-46B0-8CE1-A12EFE882A04}">
      <dgm:prSet/>
      <dgm:spPr/>
      <dgm:t>
        <a:bodyPr/>
        <a:lstStyle/>
        <a:p>
          <a:r>
            <a:rPr lang="en-US" b="1"/>
            <a:t>Complex Requirements</a:t>
          </a:r>
          <a:r>
            <a:rPr lang="en-US"/>
            <a:t>: Requirements need clarification or further refinement.</a:t>
          </a:r>
        </a:p>
      </dgm:t>
    </dgm:pt>
    <dgm:pt modelId="{D843873A-B631-45D4-99B1-E7EC44D5F166}" type="parTrans" cxnId="{2D6B4BAB-C4B2-46B6-8839-E43A3E61D41F}">
      <dgm:prSet/>
      <dgm:spPr/>
      <dgm:t>
        <a:bodyPr/>
        <a:lstStyle/>
        <a:p>
          <a:endParaRPr lang="en-US"/>
        </a:p>
      </dgm:t>
    </dgm:pt>
    <dgm:pt modelId="{197BD10C-BAA8-4BBB-B7F3-85F4EEFC02E2}" type="sibTrans" cxnId="{2D6B4BAB-C4B2-46B6-8839-E43A3E61D41F}">
      <dgm:prSet/>
      <dgm:spPr/>
      <dgm:t>
        <a:bodyPr/>
        <a:lstStyle/>
        <a:p>
          <a:endParaRPr lang="en-US"/>
        </a:p>
      </dgm:t>
    </dgm:pt>
    <dgm:pt modelId="{9126AFE6-8BFE-4061-AC1F-7E0EBDA31225}">
      <dgm:prSet/>
      <dgm:spPr/>
      <dgm:t>
        <a:bodyPr/>
        <a:lstStyle/>
        <a:p>
          <a:r>
            <a:rPr lang="en-US" b="1"/>
            <a:t>Prototyping</a:t>
          </a:r>
          <a:r>
            <a:rPr lang="en-US"/>
            <a:t>: Testing an idea or concept before full implementation.</a:t>
          </a:r>
        </a:p>
      </dgm:t>
    </dgm:pt>
    <dgm:pt modelId="{C5F6EFB2-AFC7-4029-B281-3A836616CE42}" type="parTrans" cxnId="{1D076A49-29FC-4BE3-8483-AD3A388D5E89}">
      <dgm:prSet/>
      <dgm:spPr/>
      <dgm:t>
        <a:bodyPr/>
        <a:lstStyle/>
        <a:p>
          <a:endParaRPr lang="en-US"/>
        </a:p>
      </dgm:t>
    </dgm:pt>
    <dgm:pt modelId="{17D71688-8ADA-4BFB-B288-F183D68B2E93}" type="sibTrans" cxnId="{1D076A49-29FC-4BE3-8483-AD3A388D5E89}">
      <dgm:prSet/>
      <dgm:spPr/>
      <dgm:t>
        <a:bodyPr/>
        <a:lstStyle/>
        <a:p>
          <a:endParaRPr lang="en-US"/>
        </a:p>
      </dgm:t>
    </dgm:pt>
    <dgm:pt modelId="{A1983FA2-1A3C-467F-BD36-78C711BD20EC}">
      <dgm:prSet/>
      <dgm:spPr/>
      <dgm:t>
        <a:bodyPr/>
        <a:lstStyle/>
        <a:p>
          <a:r>
            <a:rPr lang="en-US"/>
            <a:t>Example: Investigate the feasibility of integrating with a third-party API.</a:t>
          </a:r>
        </a:p>
      </dgm:t>
    </dgm:pt>
    <dgm:pt modelId="{FE057F21-D4A8-41EC-8EDC-DD1EC9922135}" type="parTrans" cxnId="{0558502F-17A4-4450-BAA1-CAC9507D7795}">
      <dgm:prSet/>
      <dgm:spPr/>
      <dgm:t>
        <a:bodyPr/>
        <a:lstStyle/>
        <a:p>
          <a:endParaRPr lang="en-US"/>
        </a:p>
      </dgm:t>
    </dgm:pt>
    <dgm:pt modelId="{DBAE8909-353E-4587-9415-AF61B1FA4E61}" type="sibTrans" cxnId="{0558502F-17A4-4450-BAA1-CAC9507D7795}">
      <dgm:prSet/>
      <dgm:spPr/>
      <dgm:t>
        <a:bodyPr/>
        <a:lstStyle/>
        <a:p>
          <a:endParaRPr lang="en-US"/>
        </a:p>
      </dgm:t>
    </dgm:pt>
    <dgm:pt modelId="{BB9D6D0D-7AF6-40B3-B695-03D723C8E491}">
      <dgm:prSet/>
      <dgm:spPr/>
      <dgm:t>
        <a:bodyPr/>
        <a:lstStyle/>
        <a:p>
          <a:r>
            <a:rPr lang="en-US" b="1"/>
            <a:t>Functional Spike</a:t>
          </a:r>
          <a:r>
            <a:rPr lang="en-US"/>
            <a:t>: Focused on exploring and refining requirements. </a:t>
          </a:r>
        </a:p>
      </dgm:t>
    </dgm:pt>
    <dgm:pt modelId="{F7C71CB2-9E3F-42F8-9BFA-DCE7DBBC3C0C}" type="parTrans" cxnId="{8D0D9229-D16E-44BF-870B-DA799527AB1E}">
      <dgm:prSet/>
      <dgm:spPr/>
      <dgm:t>
        <a:bodyPr/>
        <a:lstStyle/>
        <a:p>
          <a:endParaRPr lang="en-US"/>
        </a:p>
      </dgm:t>
    </dgm:pt>
    <dgm:pt modelId="{63EE2BA8-C4F7-4CB5-8441-E8284E2CEDA3}" type="sibTrans" cxnId="{8D0D9229-D16E-44BF-870B-DA799527AB1E}">
      <dgm:prSet/>
      <dgm:spPr/>
      <dgm:t>
        <a:bodyPr/>
        <a:lstStyle/>
        <a:p>
          <a:endParaRPr lang="en-US"/>
        </a:p>
      </dgm:t>
    </dgm:pt>
    <dgm:pt modelId="{733DC405-DD08-4F76-8415-69DC73F15A2B}">
      <dgm:prSet/>
      <dgm:spPr/>
      <dgm:t>
        <a:bodyPr/>
        <a:lstStyle/>
        <a:p>
          <a:r>
            <a:rPr lang="en-US"/>
            <a:t>Example: Research user behavior to refine login flow requirements.</a:t>
          </a:r>
        </a:p>
      </dgm:t>
    </dgm:pt>
    <dgm:pt modelId="{F34CF036-4F4F-4CF6-B79F-9A8F9268BA48}" type="parTrans" cxnId="{6F8780AC-F4C1-4A59-85A7-05AAEEF4DB95}">
      <dgm:prSet/>
      <dgm:spPr/>
      <dgm:t>
        <a:bodyPr/>
        <a:lstStyle/>
        <a:p>
          <a:endParaRPr lang="en-US"/>
        </a:p>
      </dgm:t>
    </dgm:pt>
    <dgm:pt modelId="{DFBB300E-D7DB-45A9-AE34-CE94EFC0BCA3}" type="sibTrans" cxnId="{6F8780AC-F4C1-4A59-85A7-05AAEEF4DB95}">
      <dgm:prSet/>
      <dgm:spPr/>
      <dgm:t>
        <a:bodyPr/>
        <a:lstStyle/>
        <a:p>
          <a:endParaRPr lang="en-US"/>
        </a:p>
      </dgm:t>
    </dgm:pt>
    <dgm:pt modelId="{32D79B3C-F7DC-4A9E-946A-79ADCF2D4690}">
      <dgm:prSet/>
      <dgm:spPr/>
      <dgm:t>
        <a:bodyPr/>
        <a:lstStyle/>
        <a:p>
          <a:r>
            <a:rPr lang="en-US" b="1"/>
            <a:t>Deliverables</a:t>
          </a:r>
          <a:r>
            <a:rPr lang="en-US"/>
            <a:t>: The output of a spike can include:</a:t>
          </a:r>
        </a:p>
      </dgm:t>
    </dgm:pt>
    <dgm:pt modelId="{B5CDF6A4-2EFD-43B3-BE7F-D86400640804}" type="parTrans" cxnId="{10C97FFD-AD66-409B-BB1C-8A14E3F0150A}">
      <dgm:prSet/>
      <dgm:spPr/>
      <dgm:t>
        <a:bodyPr/>
        <a:lstStyle/>
        <a:p>
          <a:endParaRPr lang="en-US"/>
        </a:p>
      </dgm:t>
    </dgm:pt>
    <dgm:pt modelId="{6F3D49DE-9C8C-4D9E-A053-1A976784F85C}" type="sibTrans" cxnId="{10C97FFD-AD66-409B-BB1C-8A14E3F0150A}">
      <dgm:prSet/>
      <dgm:spPr/>
      <dgm:t>
        <a:bodyPr/>
        <a:lstStyle/>
        <a:p>
          <a:endParaRPr lang="en-US"/>
        </a:p>
      </dgm:t>
    </dgm:pt>
    <dgm:pt modelId="{EB043015-9F13-4EBF-9181-12E3B9C56D52}">
      <dgm:prSet/>
      <dgm:spPr/>
      <dgm:t>
        <a:bodyPr/>
        <a:lstStyle/>
        <a:p>
          <a:r>
            <a:rPr lang="en-US"/>
            <a:t>A document summarizing findings.</a:t>
          </a:r>
        </a:p>
      </dgm:t>
    </dgm:pt>
    <dgm:pt modelId="{D2AB33E3-4154-4C2A-BF90-A1B9698C2F46}" type="parTrans" cxnId="{70CA55EA-2FD7-411A-830A-D19E0F289B80}">
      <dgm:prSet/>
      <dgm:spPr/>
      <dgm:t>
        <a:bodyPr/>
        <a:lstStyle/>
        <a:p>
          <a:endParaRPr lang="en-US"/>
        </a:p>
      </dgm:t>
    </dgm:pt>
    <dgm:pt modelId="{29B2A9FF-E810-4F2E-9B4B-72C7B708C679}" type="sibTrans" cxnId="{70CA55EA-2FD7-411A-830A-D19E0F289B80}">
      <dgm:prSet/>
      <dgm:spPr/>
      <dgm:t>
        <a:bodyPr/>
        <a:lstStyle/>
        <a:p>
          <a:endParaRPr lang="en-US"/>
        </a:p>
      </dgm:t>
    </dgm:pt>
    <dgm:pt modelId="{1BF2578C-49DF-4657-9C7F-F17DC49C50B2}">
      <dgm:prSet/>
      <dgm:spPr/>
      <dgm:t>
        <a:bodyPr/>
        <a:lstStyle/>
        <a:p>
          <a:r>
            <a:rPr lang="en-US"/>
            <a:t>A prototype or proof of concept.</a:t>
          </a:r>
        </a:p>
      </dgm:t>
    </dgm:pt>
    <dgm:pt modelId="{D4779531-313D-48B5-BA05-B09041D1CE70}" type="parTrans" cxnId="{2FF63101-2BF6-4137-857B-F3CEF153EB0D}">
      <dgm:prSet/>
      <dgm:spPr/>
      <dgm:t>
        <a:bodyPr/>
        <a:lstStyle/>
        <a:p>
          <a:endParaRPr lang="en-US"/>
        </a:p>
      </dgm:t>
    </dgm:pt>
    <dgm:pt modelId="{F4187C8E-2709-4F58-8C4D-D0793C522EBA}" type="sibTrans" cxnId="{2FF63101-2BF6-4137-857B-F3CEF153EB0D}">
      <dgm:prSet/>
      <dgm:spPr/>
      <dgm:t>
        <a:bodyPr/>
        <a:lstStyle/>
        <a:p>
          <a:endParaRPr lang="en-US"/>
        </a:p>
      </dgm:t>
    </dgm:pt>
    <dgm:pt modelId="{8FEB1415-DFB2-46A9-89AA-D5268154B34C}">
      <dgm:prSet/>
      <dgm:spPr/>
      <dgm:t>
        <a:bodyPr/>
        <a:lstStyle/>
        <a:p>
          <a:r>
            <a:rPr lang="en-US"/>
            <a:t>Updated user stories or technical tasks.</a:t>
          </a:r>
        </a:p>
      </dgm:t>
    </dgm:pt>
    <dgm:pt modelId="{1C457C83-73CB-4691-B25C-D3C3AF7793DA}" type="parTrans" cxnId="{17EDFF45-8935-4BA6-9E9A-DB52182DF11C}">
      <dgm:prSet/>
      <dgm:spPr/>
      <dgm:t>
        <a:bodyPr/>
        <a:lstStyle/>
        <a:p>
          <a:endParaRPr lang="en-US"/>
        </a:p>
      </dgm:t>
    </dgm:pt>
    <dgm:pt modelId="{F043F0A3-76D0-41BA-A94D-B40F8C8172FD}" type="sibTrans" cxnId="{17EDFF45-8935-4BA6-9E9A-DB52182DF11C}">
      <dgm:prSet/>
      <dgm:spPr/>
      <dgm:t>
        <a:bodyPr/>
        <a:lstStyle/>
        <a:p>
          <a:endParaRPr lang="en-US"/>
        </a:p>
      </dgm:t>
    </dgm:pt>
    <dgm:pt modelId="{5F1DE70E-E267-4AEA-AD03-12EF58293FEC}">
      <dgm:prSet/>
      <dgm:spPr/>
      <dgm:t>
        <a:bodyPr/>
        <a:lstStyle/>
        <a:p>
          <a:r>
            <a:rPr lang="en-US" b="1"/>
            <a:t>Prioritized</a:t>
          </a:r>
          <a:r>
            <a:rPr lang="en-US"/>
            <a:t>: prioritized based on the importance of resolving the uncertainty.</a:t>
          </a:r>
        </a:p>
      </dgm:t>
    </dgm:pt>
    <dgm:pt modelId="{9BB8F3C8-DC9A-4326-9664-EC2A16326481}" type="parTrans" cxnId="{D60B9775-527B-49B3-8C89-9BDF5F90FC22}">
      <dgm:prSet/>
      <dgm:spPr/>
      <dgm:t>
        <a:bodyPr/>
        <a:lstStyle/>
        <a:p>
          <a:endParaRPr lang="en-US"/>
        </a:p>
      </dgm:t>
    </dgm:pt>
    <dgm:pt modelId="{0C5096B6-FD7C-4520-8B3B-A6292B13D281}" type="sibTrans" cxnId="{D60B9775-527B-49B3-8C89-9BDF5F90FC22}">
      <dgm:prSet/>
      <dgm:spPr/>
      <dgm:t>
        <a:bodyPr/>
        <a:lstStyle/>
        <a:p>
          <a:endParaRPr lang="en-US"/>
        </a:p>
      </dgm:t>
    </dgm:pt>
    <dgm:pt modelId="{5DC0D767-FC24-494C-90A5-6BEA76D7148D}" type="pres">
      <dgm:prSet presAssocID="{DA99BD7B-7384-44FD-80E1-9EDAC48F774B}" presName="Name0" presStyleCnt="0">
        <dgm:presLayoutVars>
          <dgm:dir/>
          <dgm:animLvl val="lvl"/>
          <dgm:resizeHandles val="exact"/>
        </dgm:presLayoutVars>
      </dgm:prSet>
      <dgm:spPr/>
    </dgm:pt>
    <dgm:pt modelId="{1D6D8438-CB17-4187-A260-F9F07EF19F67}" type="pres">
      <dgm:prSet presAssocID="{B6758CE1-1D1D-4B9F-8D48-6A7EB64C1C0F}" presName="composite" presStyleCnt="0"/>
      <dgm:spPr/>
    </dgm:pt>
    <dgm:pt modelId="{E65AB27E-D7F4-4C81-AED5-F3775E8D5229}" type="pres">
      <dgm:prSet presAssocID="{B6758CE1-1D1D-4B9F-8D48-6A7EB64C1C0F}" presName="parTx" presStyleLbl="alignNode1" presStyleIdx="0" presStyleCnt="3">
        <dgm:presLayoutVars>
          <dgm:chMax val="0"/>
          <dgm:chPref val="0"/>
          <dgm:bulletEnabled val="1"/>
        </dgm:presLayoutVars>
      </dgm:prSet>
      <dgm:spPr/>
    </dgm:pt>
    <dgm:pt modelId="{376DDA2F-2196-420E-AC70-4701B67F9347}" type="pres">
      <dgm:prSet presAssocID="{B6758CE1-1D1D-4B9F-8D48-6A7EB64C1C0F}" presName="desTx" presStyleLbl="alignAccFollowNode1" presStyleIdx="0" presStyleCnt="3">
        <dgm:presLayoutVars>
          <dgm:bulletEnabled val="1"/>
        </dgm:presLayoutVars>
      </dgm:prSet>
      <dgm:spPr/>
    </dgm:pt>
    <dgm:pt modelId="{365AA562-2B5F-4125-AB3F-8B7BB53A3295}" type="pres">
      <dgm:prSet presAssocID="{B3D58FFD-489E-42A4-A490-E0A7A88C66F7}" presName="space" presStyleCnt="0"/>
      <dgm:spPr/>
    </dgm:pt>
    <dgm:pt modelId="{A62B86A3-DD22-4255-8830-658B5BA75AD4}" type="pres">
      <dgm:prSet presAssocID="{44F789B9-B6EF-439D-AFF1-08631F4B0EC4}" presName="composite" presStyleCnt="0"/>
      <dgm:spPr/>
    </dgm:pt>
    <dgm:pt modelId="{21954874-857E-4D37-B9FD-49B0EA7EEB69}" type="pres">
      <dgm:prSet presAssocID="{44F789B9-B6EF-439D-AFF1-08631F4B0EC4}" presName="parTx" presStyleLbl="alignNode1" presStyleIdx="1" presStyleCnt="3">
        <dgm:presLayoutVars>
          <dgm:chMax val="0"/>
          <dgm:chPref val="0"/>
          <dgm:bulletEnabled val="1"/>
        </dgm:presLayoutVars>
      </dgm:prSet>
      <dgm:spPr/>
    </dgm:pt>
    <dgm:pt modelId="{8ECF5FBD-54EC-4A69-9F92-A9CE05ACC291}" type="pres">
      <dgm:prSet presAssocID="{44F789B9-B6EF-439D-AFF1-08631F4B0EC4}" presName="desTx" presStyleLbl="alignAccFollowNode1" presStyleIdx="1" presStyleCnt="3">
        <dgm:presLayoutVars>
          <dgm:bulletEnabled val="1"/>
        </dgm:presLayoutVars>
      </dgm:prSet>
      <dgm:spPr/>
    </dgm:pt>
    <dgm:pt modelId="{AA0824E0-9C77-4490-934B-4EFC4703D4F5}" type="pres">
      <dgm:prSet presAssocID="{83A64161-B5FB-4DD3-97F0-22F1FB30F774}" presName="space" presStyleCnt="0"/>
      <dgm:spPr/>
    </dgm:pt>
    <dgm:pt modelId="{5060C1BE-2684-41B9-8D62-9BAB8CB4D88C}" type="pres">
      <dgm:prSet presAssocID="{C93654E8-FF95-40E9-9F35-70FABCBDE45F}" presName="composite" presStyleCnt="0"/>
      <dgm:spPr/>
    </dgm:pt>
    <dgm:pt modelId="{658C1BAA-A88E-4658-92B3-6DEBE44E7E20}" type="pres">
      <dgm:prSet presAssocID="{C93654E8-FF95-40E9-9F35-70FABCBDE45F}" presName="parTx" presStyleLbl="alignNode1" presStyleIdx="2" presStyleCnt="3">
        <dgm:presLayoutVars>
          <dgm:chMax val="0"/>
          <dgm:chPref val="0"/>
          <dgm:bulletEnabled val="1"/>
        </dgm:presLayoutVars>
      </dgm:prSet>
      <dgm:spPr/>
    </dgm:pt>
    <dgm:pt modelId="{B4410840-3581-464A-B1DD-18DB62C334A4}" type="pres">
      <dgm:prSet presAssocID="{C93654E8-FF95-40E9-9F35-70FABCBDE45F}" presName="desTx" presStyleLbl="alignAccFollowNode1" presStyleIdx="2" presStyleCnt="3">
        <dgm:presLayoutVars>
          <dgm:bulletEnabled val="1"/>
        </dgm:presLayoutVars>
      </dgm:prSet>
      <dgm:spPr/>
    </dgm:pt>
  </dgm:ptLst>
  <dgm:cxnLst>
    <dgm:cxn modelId="{2FF63101-2BF6-4137-857B-F3CEF153EB0D}" srcId="{32D79B3C-F7DC-4A9E-946A-79ADCF2D4690}" destId="{1BF2578C-49DF-4657-9C7F-F17DC49C50B2}" srcOrd="1" destOrd="0" parTransId="{D4779531-313D-48B5-BA05-B09041D1CE70}" sibTransId="{F4187C8E-2709-4F58-8C4D-D0793C522EBA}"/>
    <dgm:cxn modelId="{2B296F0D-A6AA-405D-A8EC-5593BDDBC020}" type="presOf" srcId="{B6758CE1-1D1D-4B9F-8D48-6A7EB64C1C0F}" destId="{E65AB27E-D7F4-4C81-AED5-F3775E8D5229}" srcOrd="0" destOrd="0" presId="urn:microsoft.com/office/officeart/2005/8/layout/hList1"/>
    <dgm:cxn modelId="{9CF7681B-1424-4C06-BF37-E74E836DC49E}" type="presOf" srcId="{C5646ABC-210A-4F4E-9A15-000333E87242}" destId="{376DDA2F-2196-420E-AC70-4701B67F9347}" srcOrd="0" destOrd="0" presId="urn:microsoft.com/office/officeart/2005/8/layout/hList1"/>
    <dgm:cxn modelId="{CF6F171E-D60A-459E-AD9B-4A01ADA7E9ED}" type="presOf" srcId="{A1983FA2-1A3C-467F-BD36-78C711BD20EC}" destId="{8ECF5FBD-54EC-4A69-9F92-A9CE05ACC291}" srcOrd="0" destOrd="1" presId="urn:microsoft.com/office/officeart/2005/8/layout/hList1"/>
    <dgm:cxn modelId="{8D0D9229-D16E-44BF-870B-DA799527AB1E}" srcId="{44F789B9-B6EF-439D-AFF1-08631F4B0EC4}" destId="{BB9D6D0D-7AF6-40B3-B695-03D723C8E491}" srcOrd="1" destOrd="0" parTransId="{F7C71CB2-9E3F-42F8-9BFA-DCE7DBBC3C0C}" sibTransId="{63EE2BA8-C4F7-4CB5-8441-E8284E2CEDA3}"/>
    <dgm:cxn modelId="{C444A42A-F257-4C57-BCE7-84BFC81DA140}" srcId="{B6758CE1-1D1D-4B9F-8D48-6A7EB64C1C0F}" destId="{C5646ABC-210A-4F4E-9A15-000333E87242}" srcOrd="0" destOrd="0" parTransId="{65C520AA-7218-46B1-977E-307204A88BF2}" sibTransId="{AEE4BB85-51A4-425E-8896-BD480E3790B0}"/>
    <dgm:cxn modelId="{0558502F-17A4-4450-BAA1-CAC9507D7795}" srcId="{C13DF3FF-DBD5-45F5-878F-901A3712B32D}" destId="{A1983FA2-1A3C-467F-BD36-78C711BD20EC}" srcOrd="0" destOrd="0" parTransId="{FE057F21-D4A8-41EC-8EDC-DD1EC9922135}" sibTransId="{DBAE8909-353E-4587-9415-AF61B1FA4E61}"/>
    <dgm:cxn modelId="{4C8C0332-C819-490D-827A-88710ED19B20}" type="presOf" srcId="{6C75CF60-BB34-4D51-BFD1-1C76A2D7CBFE}" destId="{376DDA2F-2196-420E-AC70-4701B67F9347}" srcOrd="0" destOrd="1" presId="urn:microsoft.com/office/officeart/2005/8/layout/hList1"/>
    <dgm:cxn modelId="{C970B93D-7F52-4E67-8628-736D9EBBD0EB}" type="presOf" srcId="{EB043015-9F13-4EBF-9181-12E3B9C56D52}" destId="{B4410840-3581-464A-B1DD-18DB62C334A4}" srcOrd="0" destOrd="2" presId="urn:microsoft.com/office/officeart/2005/8/layout/hList1"/>
    <dgm:cxn modelId="{BA5C213F-2C97-4370-8E6E-8B9FDADD99DD}" srcId="{44F789B9-B6EF-439D-AFF1-08631F4B0EC4}" destId="{C13DF3FF-DBD5-45F5-878F-901A3712B32D}" srcOrd="0" destOrd="0" parTransId="{52D29894-EDCA-4627-8254-54D801DC627C}" sibTransId="{253AA7B4-D683-482A-A036-BA7E24A94190}"/>
    <dgm:cxn modelId="{BC05F462-308C-4FBA-A004-BD2F21549AD4}" type="presOf" srcId="{9126AFE6-8BFE-4061-AC1F-7E0EBDA31225}" destId="{376DDA2F-2196-420E-AC70-4701B67F9347}" srcOrd="0" destOrd="3" presId="urn:microsoft.com/office/officeart/2005/8/layout/hList1"/>
    <dgm:cxn modelId="{17EDFF45-8935-4BA6-9E9A-DB52182DF11C}" srcId="{32D79B3C-F7DC-4A9E-946A-79ADCF2D4690}" destId="{8FEB1415-DFB2-46A9-89AA-D5268154B34C}" srcOrd="2" destOrd="0" parTransId="{1C457C83-73CB-4691-B25C-D3C3AF7793DA}" sibTransId="{F043F0A3-76D0-41BA-A94D-B40F8C8172FD}"/>
    <dgm:cxn modelId="{1E072546-04E0-4C61-A60A-F7973DD5D32C}" type="presOf" srcId="{DA99BD7B-7384-44FD-80E1-9EDAC48F774B}" destId="{5DC0D767-FC24-494C-90A5-6BEA76D7148D}" srcOrd="0" destOrd="0" presId="urn:microsoft.com/office/officeart/2005/8/layout/hList1"/>
    <dgm:cxn modelId="{9543FB47-503D-4E82-84E0-57EA82602ACE}" srcId="{B6758CE1-1D1D-4B9F-8D48-6A7EB64C1C0F}" destId="{6C75CF60-BB34-4D51-BFD1-1C76A2D7CBFE}" srcOrd="1" destOrd="0" parTransId="{5188CB08-8DF5-4D77-82B7-E9FE3C924A4C}" sibTransId="{D93A26C0-9070-4975-8CBC-63762E7C7EB3}"/>
    <dgm:cxn modelId="{1D076A49-29FC-4BE3-8483-AD3A388D5E89}" srcId="{B6758CE1-1D1D-4B9F-8D48-6A7EB64C1C0F}" destId="{9126AFE6-8BFE-4061-AC1F-7E0EBDA31225}" srcOrd="3" destOrd="0" parTransId="{C5F6EFB2-AFC7-4029-B281-3A836616CE42}" sibTransId="{17D71688-8ADA-4BFB-B288-F183D68B2E93}"/>
    <dgm:cxn modelId="{1750F44E-403A-4B31-947D-72ADA03E81D7}" type="presOf" srcId="{BB9D6D0D-7AF6-40B3-B695-03D723C8E491}" destId="{8ECF5FBD-54EC-4A69-9F92-A9CE05ACC291}" srcOrd="0" destOrd="2" presId="urn:microsoft.com/office/officeart/2005/8/layout/hList1"/>
    <dgm:cxn modelId="{D60B9775-527B-49B3-8C89-9BDF5F90FC22}" srcId="{C93654E8-FF95-40E9-9F35-70FABCBDE45F}" destId="{5F1DE70E-E267-4AEA-AD03-12EF58293FEC}" srcOrd="2" destOrd="0" parTransId="{9BB8F3C8-DC9A-4326-9664-EC2A16326481}" sibTransId="{0C5096B6-FD7C-4520-8B3B-A6292B13D281}"/>
    <dgm:cxn modelId="{CE8FF87E-3AD0-4355-AB5A-E53E604E2FA3}" type="presOf" srcId="{8C258043-FCB4-421A-A9F7-A142402E2B0A}" destId="{B4410840-3581-464A-B1DD-18DB62C334A4}" srcOrd="0" destOrd="0" presId="urn:microsoft.com/office/officeart/2005/8/layout/hList1"/>
    <dgm:cxn modelId="{A230048F-D3F0-443E-85C1-E7495D62F546}" type="presOf" srcId="{C93654E8-FF95-40E9-9F35-70FABCBDE45F}" destId="{658C1BAA-A88E-4658-92B3-6DEBE44E7E20}" srcOrd="0" destOrd="0" presId="urn:microsoft.com/office/officeart/2005/8/layout/hList1"/>
    <dgm:cxn modelId="{4995478F-6F49-4AA9-95F7-43956E3013A7}" srcId="{C93654E8-FF95-40E9-9F35-70FABCBDE45F}" destId="{8C258043-FCB4-421A-A9F7-A142402E2B0A}" srcOrd="0" destOrd="0" parTransId="{945E23D8-DF37-499A-B935-4D8EA4F8321D}" sibTransId="{912BD098-BC14-4721-A223-28C5955B3389}"/>
    <dgm:cxn modelId="{8DA8869E-2F75-48FB-BEAC-7F68277EE3ED}" type="presOf" srcId="{C13DF3FF-DBD5-45F5-878F-901A3712B32D}" destId="{8ECF5FBD-54EC-4A69-9F92-A9CE05ACC291}" srcOrd="0" destOrd="0" presId="urn:microsoft.com/office/officeart/2005/8/layout/hList1"/>
    <dgm:cxn modelId="{87AC99A6-C74D-4F79-8284-FDA3A4D83EF4}" srcId="{DA99BD7B-7384-44FD-80E1-9EDAC48F774B}" destId="{B6758CE1-1D1D-4B9F-8D48-6A7EB64C1C0F}" srcOrd="0" destOrd="0" parTransId="{225DA0C9-8AC4-4E7E-A9CE-FE6DA83A9FB0}" sibTransId="{B3D58FFD-489E-42A4-A490-E0A7A88C66F7}"/>
    <dgm:cxn modelId="{2D6B4BAB-C4B2-46B6-8839-E43A3E61D41F}" srcId="{B6758CE1-1D1D-4B9F-8D48-6A7EB64C1C0F}" destId="{56742DC5-376B-46B0-8CE1-A12EFE882A04}" srcOrd="2" destOrd="0" parTransId="{D843873A-B631-45D4-99B1-E7EC44D5F166}" sibTransId="{197BD10C-BAA8-4BBB-B7F3-85F4EEFC02E2}"/>
    <dgm:cxn modelId="{6F8780AC-F4C1-4A59-85A7-05AAEEF4DB95}" srcId="{BB9D6D0D-7AF6-40B3-B695-03D723C8E491}" destId="{733DC405-DD08-4F76-8415-69DC73F15A2B}" srcOrd="0" destOrd="0" parTransId="{F34CF036-4F4F-4CF6-B79F-9A8F9268BA48}" sibTransId="{DFBB300E-D7DB-45A9-AE34-CE94EFC0BCA3}"/>
    <dgm:cxn modelId="{D99401AF-C12D-4C66-B8C2-A46ED721E2BF}" type="presOf" srcId="{56742DC5-376B-46B0-8CE1-A12EFE882A04}" destId="{376DDA2F-2196-420E-AC70-4701B67F9347}" srcOrd="0" destOrd="2" presId="urn:microsoft.com/office/officeart/2005/8/layout/hList1"/>
    <dgm:cxn modelId="{172B12B5-DFF9-4E73-A181-19CCC3069379}" type="presOf" srcId="{733DC405-DD08-4F76-8415-69DC73F15A2B}" destId="{8ECF5FBD-54EC-4A69-9F92-A9CE05ACC291}" srcOrd="0" destOrd="3" presId="urn:microsoft.com/office/officeart/2005/8/layout/hList1"/>
    <dgm:cxn modelId="{18DD28BA-C773-4CFB-AD5A-85FFC8E6E9C7}" srcId="{DA99BD7B-7384-44FD-80E1-9EDAC48F774B}" destId="{C93654E8-FF95-40E9-9F35-70FABCBDE45F}" srcOrd="2" destOrd="0" parTransId="{923ECE3E-63E2-4AFC-AF5A-9A554FFE1C62}" sibTransId="{D92DB99F-43BC-4EB7-A302-D20AF3BCEB29}"/>
    <dgm:cxn modelId="{33D905BC-55AA-4CDF-A19C-C05319FD8495}" srcId="{DA99BD7B-7384-44FD-80E1-9EDAC48F774B}" destId="{44F789B9-B6EF-439D-AFF1-08631F4B0EC4}" srcOrd="1" destOrd="0" parTransId="{4EC1451A-99DD-4654-9074-458947413900}" sibTransId="{83A64161-B5FB-4DD3-97F0-22F1FB30F774}"/>
    <dgm:cxn modelId="{CC9202D0-EA97-4134-9C8D-0126461B6594}" type="presOf" srcId="{1BF2578C-49DF-4657-9C7F-F17DC49C50B2}" destId="{B4410840-3581-464A-B1DD-18DB62C334A4}" srcOrd="0" destOrd="3" presId="urn:microsoft.com/office/officeart/2005/8/layout/hList1"/>
    <dgm:cxn modelId="{D73CE9D1-816C-4DC2-A80D-8C931318E093}" type="presOf" srcId="{32D79B3C-F7DC-4A9E-946A-79ADCF2D4690}" destId="{B4410840-3581-464A-B1DD-18DB62C334A4}" srcOrd="0" destOrd="1" presId="urn:microsoft.com/office/officeart/2005/8/layout/hList1"/>
    <dgm:cxn modelId="{70CA55EA-2FD7-411A-830A-D19E0F289B80}" srcId="{32D79B3C-F7DC-4A9E-946A-79ADCF2D4690}" destId="{EB043015-9F13-4EBF-9181-12E3B9C56D52}" srcOrd="0" destOrd="0" parTransId="{D2AB33E3-4154-4C2A-BF90-A1B9698C2F46}" sibTransId="{29B2A9FF-E810-4F2E-9B4B-72C7B708C679}"/>
    <dgm:cxn modelId="{A7D33AEF-5D77-43AF-B333-3612F095549A}" type="presOf" srcId="{44F789B9-B6EF-439D-AFF1-08631F4B0EC4}" destId="{21954874-857E-4D37-B9FD-49B0EA7EEB69}" srcOrd="0" destOrd="0" presId="urn:microsoft.com/office/officeart/2005/8/layout/hList1"/>
    <dgm:cxn modelId="{7D0C4DF5-E929-402C-80AF-E1983D99795D}" type="presOf" srcId="{5F1DE70E-E267-4AEA-AD03-12EF58293FEC}" destId="{B4410840-3581-464A-B1DD-18DB62C334A4}" srcOrd="0" destOrd="5" presId="urn:microsoft.com/office/officeart/2005/8/layout/hList1"/>
    <dgm:cxn modelId="{C8B9A0F8-51DE-43BE-ADAA-CE92C8B5E0C1}" type="presOf" srcId="{8FEB1415-DFB2-46A9-89AA-D5268154B34C}" destId="{B4410840-3581-464A-B1DD-18DB62C334A4}" srcOrd="0" destOrd="4" presId="urn:microsoft.com/office/officeart/2005/8/layout/hList1"/>
    <dgm:cxn modelId="{10C97FFD-AD66-409B-BB1C-8A14E3F0150A}" srcId="{C93654E8-FF95-40E9-9F35-70FABCBDE45F}" destId="{32D79B3C-F7DC-4A9E-946A-79ADCF2D4690}" srcOrd="1" destOrd="0" parTransId="{B5CDF6A4-2EFD-43B3-BE7F-D86400640804}" sibTransId="{6F3D49DE-9C8C-4D9E-A053-1A976784F85C}"/>
    <dgm:cxn modelId="{C24FFE46-B13D-4764-9799-5D3F671E66D6}" type="presParOf" srcId="{5DC0D767-FC24-494C-90A5-6BEA76D7148D}" destId="{1D6D8438-CB17-4187-A260-F9F07EF19F67}" srcOrd="0" destOrd="0" presId="urn:microsoft.com/office/officeart/2005/8/layout/hList1"/>
    <dgm:cxn modelId="{4EDF8EAB-2231-4660-9B72-2B1F62C77E30}" type="presParOf" srcId="{1D6D8438-CB17-4187-A260-F9F07EF19F67}" destId="{E65AB27E-D7F4-4C81-AED5-F3775E8D5229}" srcOrd="0" destOrd="0" presId="urn:microsoft.com/office/officeart/2005/8/layout/hList1"/>
    <dgm:cxn modelId="{50F5DC7E-3081-442B-891B-510C271B137E}" type="presParOf" srcId="{1D6D8438-CB17-4187-A260-F9F07EF19F67}" destId="{376DDA2F-2196-420E-AC70-4701B67F9347}" srcOrd="1" destOrd="0" presId="urn:microsoft.com/office/officeart/2005/8/layout/hList1"/>
    <dgm:cxn modelId="{75390FEC-613F-4157-81F0-6CE5B60BE476}" type="presParOf" srcId="{5DC0D767-FC24-494C-90A5-6BEA76D7148D}" destId="{365AA562-2B5F-4125-AB3F-8B7BB53A3295}" srcOrd="1" destOrd="0" presId="urn:microsoft.com/office/officeart/2005/8/layout/hList1"/>
    <dgm:cxn modelId="{4DB97140-5A94-4A12-90A0-D522FFC43869}" type="presParOf" srcId="{5DC0D767-FC24-494C-90A5-6BEA76D7148D}" destId="{A62B86A3-DD22-4255-8830-658B5BA75AD4}" srcOrd="2" destOrd="0" presId="urn:microsoft.com/office/officeart/2005/8/layout/hList1"/>
    <dgm:cxn modelId="{48B8DCDF-B846-4392-B52D-27A3737574E1}" type="presParOf" srcId="{A62B86A3-DD22-4255-8830-658B5BA75AD4}" destId="{21954874-857E-4D37-B9FD-49B0EA7EEB69}" srcOrd="0" destOrd="0" presId="urn:microsoft.com/office/officeart/2005/8/layout/hList1"/>
    <dgm:cxn modelId="{1AB52718-2492-43DF-8320-C9F231E41340}" type="presParOf" srcId="{A62B86A3-DD22-4255-8830-658B5BA75AD4}" destId="{8ECF5FBD-54EC-4A69-9F92-A9CE05ACC291}" srcOrd="1" destOrd="0" presId="urn:microsoft.com/office/officeart/2005/8/layout/hList1"/>
    <dgm:cxn modelId="{6FBF8926-8944-4D73-B171-89737C34D52A}" type="presParOf" srcId="{5DC0D767-FC24-494C-90A5-6BEA76D7148D}" destId="{AA0824E0-9C77-4490-934B-4EFC4703D4F5}" srcOrd="3" destOrd="0" presId="urn:microsoft.com/office/officeart/2005/8/layout/hList1"/>
    <dgm:cxn modelId="{05CD7BA0-C6BC-413F-B382-D774F1FF23C9}" type="presParOf" srcId="{5DC0D767-FC24-494C-90A5-6BEA76D7148D}" destId="{5060C1BE-2684-41B9-8D62-9BAB8CB4D88C}" srcOrd="4" destOrd="0" presId="urn:microsoft.com/office/officeart/2005/8/layout/hList1"/>
    <dgm:cxn modelId="{B6BD5FC8-5F6B-4690-8124-75314BE5ECE5}" type="presParOf" srcId="{5060C1BE-2684-41B9-8D62-9BAB8CB4D88C}" destId="{658C1BAA-A88E-4658-92B3-6DEBE44E7E20}" srcOrd="0" destOrd="0" presId="urn:microsoft.com/office/officeart/2005/8/layout/hList1"/>
    <dgm:cxn modelId="{DDCDDFA4-CD81-4939-8075-DCC9821A77B5}" type="presParOf" srcId="{5060C1BE-2684-41B9-8D62-9BAB8CB4D88C}" destId="{B4410840-3581-464A-B1DD-18DB62C334A4}"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2E9947E-37B6-4F16-8F26-B47FD907B180}" type="doc">
      <dgm:prSet loTypeId="urn:microsoft.com/office/officeart/2005/8/layout/chevron2" loCatId="process" qsTypeId="urn:microsoft.com/office/officeart/2005/8/quickstyle/simple1" qsCatId="simple" csTypeId="urn:microsoft.com/office/officeart/2005/8/colors/accent1_2" csCatId="accent1" phldr="1"/>
      <dgm:spPr/>
      <dgm:t>
        <a:bodyPr/>
        <a:lstStyle/>
        <a:p>
          <a:endParaRPr lang="en-US"/>
        </a:p>
      </dgm:t>
    </dgm:pt>
    <dgm:pt modelId="{9FC6DD30-D2A4-48AE-9649-3D783AEFC990}">
      <dgm:prSet phldrT="[Text]"/>
      <dgm:spPr/>
      <dgm:t>
        <a:bodyPr/>
        <a:lstStyle/>
        <a:p>
          <a:r>
            <a:rPr lang="en-US">
              <a:latin typeface="+mj-lt"/>
            </a:rPr>
            <a:t>Goal Setting</a:t>
          </a:r>
        </a:p>
      </dgm:t>
    </dgm:pt>
    <dgm:pt modelId="{95B67D1F-7CD2-4FEC-A94A-FAC0397B4FE1}" type="parTrans" cxnId="{DE23CA7F-7A0B-4043-86A0-15E1EE71F3FE}">
      <dgm:prSet/>
      <dgm:spPr/>
      <dgm:t>
        <a:bodyPr/>
        <a:lstStyle/>
        <a:p>
          <a:endParaRPr lang="en-US"/>
        </a:p>
      </dgm:t>
    </dgm:pt>
    <dgm:pt modelId="{E161350B-52A0-4B89-B9F9-B6A62526A064}" type="sibTrans" cxnId="{DE23CA7F-7A0B-4043-86A0-15E1EE71F3FE}">
      <dgm:prSet/>
      <dgm:spPr/>
      <dgm:t>
        <a:bodyPr/>
        <a:lstStyle/>
        <a:p>
          <a:endParaRPr lang="en-US"/>
        </a:p>
      </dgm:t>
    </dgm:pt>
    <dgm:pt modelId="{824CD6D1-9B3A-4E8C-9E06-3A1734F5D9C3}">
      <dgm:prSet phldrT="[Text]"/>
      <dgm:spPr/>
      <dgm:t>
        <a:bodyPr/>
        <a:lstStyle/>
        <a:p>
          <a:r>
            <a:rPr lang="en-US">
              <a:latin typeface="+mj-lt"/>
            </a:rPr>
            <a:t>Defines a clear and achievable sprint goal</a:t>
          </a:r>
        </a:p>
      </dgm:t>
    </dgm:pt>
    <dgm:pt modelId="{ADA8694A-EE76-4A99-AEAB-2B86E8D7762D}" type="parTrans" cxnId="{F3436B94-E752-49CD-AD3F-FF182855C915}">
      <dgm:prSet/>
      <dgm:spPr/>
      <dgm:t>
        <a:bodyPr/>
        <a:lstStyle/>
        <a:p>
          <a:endParaRPr lang="en-US"/>
        </a:p>
      </dgm:t>
    </dgm:pt>
    <dgm:pt modelId="{84090C3D-C059-4AAB-A776-26C759B7E0BC}" type="sibTrans" cxnId="{F3436B94-E752-49CD-AD3F-FF182855C915}">
      <dgm:prSet/>
      <dgm:spPr/>
      <dgm:t>
        <a:bodyPr/>
        <a:lstStyle/>
        <a:p>
          <a:endParaRPr lang="en-US"/>
        </a:p>
      </dgm:t>
    </dgm:pt>
    <dgm:pt modelId="{D14A5766-C5E8-4B50-91AE-1C53E3166CB3}">
      <dgm:prSet phldrT="[Text]"/>
      <dgm:spPr/>
      <dgm:t>
        <a:bodyPr/>
        <a:lstStyle/>
        <a:p>
          <a:r>
            <a:rPr lang="en-US">
              <a:latin typeface="+mj-lt"/>
            </a:rPr>
            <a:t>Backlog Refinement</a:t>
          </a:r>
        </a:p>
      </dgm:t>
    </dgm:pt>
    <dgm:pt modelId="{19DC5957-AAB6-46D2-A6B4-A6F3AE7C3B73}" type="parTrans" cxnId="{C64F53BD-1775-4020-817D-1BCCC6D9C483}">
      <dgm:prSet/>
      <dgm:spPr/>
      <dgm:t>
        <a:bodyPr/>
        <a:lstStyle/>
        <a:p>
          <a:endParaRPr lang="en-US"/>
        </a:p>
      </dgm:t>
    </dgm:pt>
    <dgm:pt modelId="{FF01E6E4-81AE-41BB-9025-AC31F23287E9}" type="sibTrans" cxnId="{C64F53BD-1775-4020-817D-1BCCC6D9C483}">
      <dgm:prSet/>
      <dgm:spPr/>
      <dgm:t>
        <a:bodyPr/>
        <a:lstStyle/>
        <a:p>
          <a:endParaRPr lang="en-US"/>
        </a:p>
      </dgm:t>
    </dgm:pt>
    <dgm:pt modelId="{D3145D26-CB6D-4184-B623-C3F9ADF6ECB6}">
      <dgm:prSet phldrT="[Text]"/>
      <dgm:spPr/>
      <dgm:t>
        <a:bodyPr/>
        <a:lstStyle/>
        <a:p>
          <a:r>
            <a:rPr lang="en-US">
              <a:latin typeface="+mj-lt"/>
            </a:rPr>
            <a:t>Breaks down user stories into smaller task and estimates effort required for each task</a:t>
          </a:r>
        </a:p>
      </dgm:t>
    </dgm:pt>
    <dgm:pt modelId="{642BEF2E-3572-4E0D-AE9A-742A2EC48CFF}" type="parTrans" cxnId="{10103110-A8D1-446E-A5B2-623EEF04D39A}">
      <dgm:prSet/>
      <dgm:spPr/>
      <dgm:t>
        <a:bodyPr/>
        <a:lstStyle/>
        <a:p>
          <a:endParaRPr lang="en-US"/>
        </a:p>
      </dgm:t>
    </dgm:pt>
    <dgm:pt modelId="{C6909385-444B-4D60-B350-B31E289EE777}" type="sibTrans" cxnId="{10103110-A8D1-446E-A5B2-623EEF04D39A}">
      <dgm:prSet/>
      <dgm:spPr/>
      <dgm:t>
        <a:bodyPr/>
        <a:lstStyle/>
        <a:p>
          <a:endParaRPr lang="en-US"/>
        </a:p>
      </dgm:t>
    </dgm:pt>
    <dgm:pt modelId="{5CAB549C-0A1B-428B-A7A7-AC53999A741C}">
      <dgm:prSet phldrT="[Text]"/>
      <dgm:spPr/>
      <dgm:t>
        <a:bodyPr/>
        <a:lstStyle/>
        <a:p>
          <a:r>
            <a:rPr lang="en-US">
              <a:latin typeface="+mj-lt"/>
            </a:rPr>
            <a:t>Plan Execution</a:t>
          </a:r>
        </a:p>
      </dgm:t>
    </dgm:pt>
    <dgm:pt modelId="{B15A77B0-06DC-4CD6-86C4-F4017D956AFB}" type="parTrans" cxnId="{619260E5-626D-4CE2-B9B9-2877B1D5A014}">
      <dgm:prSet/>
      <dgm:spPr/>
      <dgm:t>
        <a:bodyPr/>
        <a:lstStyle/>
        <a:p>
          <a:endParaRPr lang="en-US"/>
        </a:p>
      </dgm:t>
    </dgm:pt>
    <dgm:pt modelId="{1078E8FD-A700-4E8B-A50D-5A5E57E54F83}" type="sibTrans" cxnId="{619260E5-626D-4CE2-B9B9-2877B1D5A014}">
      <dgm:prSet/>
      <dgm:spPr/>
      <dgm:t>
        <a:bodyPr/>
        <a:lstStyle/>
        <a:p>
          <a:endParaRPr lang="en-US"/>
        </a:p>
      </dgm:t>
    </dgm:pt>
    <dgm:pt modelId="{04F84BB4-FE78-4A39-B418-3A4843C26C4E}">
      <dgm:prSet phldrT="[Text]"/>
      <dgm:spPr/>
      <dgm:t>
        <a:bodyPr/>
        <a:lstStyle/>
        <a:p>
          <a:r>
            <a:rPr lang="en-US">
              <a:latin typeface="+mj-lt"/>
            </a:rPr>
            <a:t>Organize task order, dependencies and assignments</a:t>
          </a:r>
        </a:p>
      </dgm:t>
    </dgm:pt>
    <dgm:pt modelId="{6D8AAC24-CAD4-45C2-AFA4-45A62A3C46DD}" type="parTrans" cxnId="{A645C095-E094-44B3-9E43-E055C4A5C23C}">
      <dgm:prSet/>
      <dgm:spPr/>
      <dgm:t>
        <a:bodyPr/>
        <a:lstStyle/>
        <a:p>
          <a:endParaRPr lang="en-US"/>
        </a:p>
      </dgm:t>
    </dgm:pt>
    <dgm:pt modelId="{B794EF71-9AC1-48AF-BF75-C4EF7C9F66C6}" type="sibTrans" cxnId="{A645C095-E094-44B3-9E43-E055C4A5C23C}">
      <dgm:prSet/>
      <dgm:spPr/>
      <dgm:t>
        <a:bodyPr/>
        <a:lstStyle/>
        <a:p>
          <a:endParaRPr lang="en-US"/>
        </a:p>
      </dgm:t>
    </dgm:pt>
    <dgm:pt modelId="{EA7BD545-4281-41B3-AA68-03BF04D5FC72}">
      <dgm:prSet phldrT="[Text]"/>
      <dgm:spPr/>
      <dgm:t>
        <a:bodyPr/>
        <a:lstStyle/>
        <a:p>
          <a:r>
            <a:rPr lang="en-US">
              <a:latin typeface="+mj-lt"/>
            </a:rPr>
            <a:t>Finalize</a:t>
          </a:r>
        </a:p>
      </dgm:t>
    </dgm:pt>
    <dgm:pt modelId="{0AB80D35-F83A-4EEF-B83B-D9701D758A18}" type="parTrans" cxnId="{A9E0B6D0-545F-475F-86C5-E63E423B46A2}">
      <dgm:prSet/>
      <dgm:spPr/>
      <dgm:t>
        <a:bodyPr/>
        <a:lstStyle/>
        <a:p>
          <a:endParaRPr lang="en-US"/>
        </a:p>
      </dgm:t>
    </dgm:pt>
    <dgm:pt modelId="{395E4A4D-84F4-44D1-B25E-3E71EDF900A4}" type="sibTrans" cxnId="{A9E0B6D0-545F-475F-86C5-E63E423B46A2}">
      <dgm:prSet/>
      <dgm:spPr/>
      <dgm:t>
        <a:bodyPr/>
        <a:lstStyle/>
        <a:p>
          <a:endParaRPr lang="en-US"/>
        </a:p>
      </dgm:t>
    </dgm:pt>
    <dgm:pt modelId="{45E51551-21BF-4A77-B571-22BD3D3A49CB}">
      <dgm:prSet phldrT="[Text]"/>
      <dgm:spPr/>
      <dgm:t>
        <a:bodyPr/>
        <a:lstStyle/>
        <a:p>
          <a:r>
            <a:rPr lang="en-US">
              <a:latin typeface="+mj-lt"/>
            </a:rPr>
            <a:t>Summarize and confirm Sprint</a:t>
          </a:r>
        </a:p>
      </dgm:t>
    </dgm:pt>
    <dgm:pt modelId="{9B474F22-13EC-42C0-AB34-83BD63D5892E}" type="parTrans" cxnId="{7D88A5BE-FAA3-4C12-AC25-77AF2A036E88}">
      <dgm:prSet/>
      <dgm:spPr/>
      <dgm:t>
        <a:bodyPr/>
        <a:lstStyle/>
        <a:p>
          <a:endParaRPr lang="en-US"/>
        </a:p>
      </dgm:t>
    </dgm:pt>
    <dgm:pt modelId="{3285ED89-971F-4805-AA4D-55FA55590410}" type="sibTrans" cxnId="{7D88A5BE-FAA3-4C12-AC25-77AF2A036E88}">
      <dgm:prSet/>
      <dgm:spPr/>
      <dgm:t>
        <a:bodyPr/>
        <a:lstStyle/>
        <a:p>
          <a:endParaRPr lang="en-US"/>
        </a:p>
      </dgm:t>
    </dgm:pt>
    <dgm:pt modelId="{553A1B92-9345-40B9-9E21-BABBB5860141}" type="pres">
      <dgm:prSet presAssocID="{92E9947E-37B6-4F16-8F26-B47FD907B180}" presName="linearFlow" presStyleCnt="0">
        <dgm:presLayoutVars>
          <dgm:dir/>
          <dgm:animLvl val="lvl"/>
          <dgm:resizeHandles val="exact"/>
        </dgm:presLayoutVars>
      </dgm:prSet>
      <dgm:spPr/>
    </dgm:pt>
    <dgm:pt modelId="{9886E4ED-AEAE-4ED8-9FCC-E752A11C2094}" type="pres">
      <dgm:prSet presAssocID="{9FC6DD30-D2A4-48AE-9649-3D783AEFC990}" presName="composite" presStyleCnt="0"/>
      <dgm:spPr/>
    </dgm:pt>
    <dgm:pt modelId="{26CD01F7-701A-4656-8A3C-142A2646AA27}" type="pres">
      <dgm:prSet presAssocID="{9FC6DD30-D2A4-48AE-9649-3D783AEFC990}" presName="parentText" presStyleLbl="alignNode1" presStyleIdx="0" presStyleCnt="4">
        <dgm:presLayoutVars>
          <dgm:chMax val="1"/>
          <dgm:bulletEnabled val="1"/>
        </dgm:presLayoutVars>
      </dgm:prSet>
      <dgm:spPr/>
    </dgm:pt>
    <dgm:pt modelId="{9D38A914-53F7-433E-9D66-B62A8DE31865}" type="pres">
      <dgm:prSet presAssocID="{9FC6DD30-D2A4-48AE-9649-3D783AEFC990}" presName="descendantText" presStyleLbl="alignAcc1" presStyleIdx="0" presStyleCnt="4">
        <dgm:presLayoutVars>
          <dgm:bulletEnabled val="1"/>
        </dgm:presLayoutVars>
      </dgm:prSet>
      <dgm:spPr/>
    </dgm:pt>
    <dgm:pt modelId="{BFDCCDA8-FFCE-4157-B575-B8CA59F23F84}" type="pres">
      <dgm:prSet presAssocID="{E161350B-52A0-4B89-B9F9-B6A62526A064}" presName="sp" presStyleCnt="0"/>
      <dgm:spPr/>
    </dgm:pt>
    <dgm:pt modelId="{EEB4424F-95E0-41B7-8D30-9EC1B90931D7}" type="pres">
      <dgm:prSet presAssocID="{D14A5766-C5E8-4B50-91AE-1C53E3166CB3}" presName="composite" presStyleCnt="0"/>
      <dgm:spPr/>
    </dgm:pt>
    <dgm:pt modelId="{B59FBC6B-B28B-418B-AD90-17AB9881A9C3}" type="pres">
      <dgm:prSet presAssocID="{D14A5766-C5E8-4B50-91AE-1C53E3166CB3}" presName="parentText" presStyleLbl="alignNode1" presStyleIdx="1" presStyleCnt="4">
        <dgm:presLayoutVars>
          <dgm:chMax val="1"/>
          <dgm:bulletEnabled val="1"/>
        </dgm:presLayoutVars>
      </dgm:prSet>
      <dgm:spPr/>
    </dgm:pt>
    <dgm:pt modelId="{5F741E71-DEF3-4F9D-B47B-A6C96DFD4096}" type="pres">
      <dgm:prSet presAssocID="{D14A5766-C5E8-4B50-91AE-1C53E3166CB3}" presName="descendantText" presStyleLbl="alignAcc1" presStyleIdx="1" presStyleCnt="4">
        <dgm:presLayoutVars>
          <dgm:bulletEnabled val="1"/>
        </dgm:presLayoutVars>
      </dgm:prSet>
      <dgm:spPr/>
    </dgm:pt>
    <dgm:pt modelId="{5E850E54-836A-4C22-84D1-146F19F0B939}" type="pres">
      <dgm:prSet presAssocID="{FF01E6E4-81AE-41BB-9025-AC31F23287E9}" presName="sp" presStyleCnt="0"/>
      <dgm:spPr/>
    </dgm:pt>
    <dgm:pt modelId="{144E87AD-267F-43AD-BFC8-50E9F19C0C88}" type="pres">
      <dgm:prSet presAssocID="{5CAB549C-0A1B-428B-A7A7-AC53999A741C}" presName="composite" presStyleCnt="0"/>
      <dgm:spPr/>
    </dgm:pt>
    <dgm:pt modelId="{D00A0E16-8C1B-4697-8D99-82AAADDF3E10}" type="pres">
      <dgm:prSet presAssocID="{5CAB549C-0A1B-428B-A7A7-AC53999A741C}" presName="parentText" presStyleLbl="alignNode1" presStyleIdx="2" presStyleCnt="4">
        <dgm:presLayoutVars>
          <dgm:chMax val="1"/>
          <dgm:bulletEnabled val="1"/>
        </dgm:presLayoutVars>
      </dgm:prSet>
      <dgm:spPr/>
    </dgm:pt>
    <dgm:pt modelId="{A3FA5164-D77C-4AB7-82BD-D1DFC4097458}" type="pres">
      <dgm:prSet presAssocID="{5CAB549C-0A1B-428B-A7A7-AC53999A741C}" presName="descendantText" presStyleLbl="alignAcc1" presStyleIdx="2" presStyleCnt="4">
        <dgm:presLayoutVars>
          <dgm:bulletEnabled val="1"/>
        </dgm:presLayoutVars>
      </dgm:prSet>
      <dgm:spPr/>
    </dgm:pt>
    <dgm:pt modelId="{B3DC5ECD-C1FE-4B30-A7CD-AD862DA9EF4A}" type="pres">
      <dgm:prSet presAssocID="{1078E8FD-A700-4E8B-A50D-5A5E57E54F83}" presName="sp" presStyleCnt="0"/>
      <dgm:spPr/>
    </dgm:pt>
    <dgm:pt modelId="{6ABD85D6-5212-43C3-9659-B5924789DF99}" type="pres">
      <dgm:prSet presAssocID="{EA7BD545-4281-41B3-AA68-03BF04D5FC72}" presName="composite" presStyleCnt="0"/>
      <dgm:spPr/>
    </dgm:pt>
    <dgm:pt modelId="{ED8FC28A-A198-498B-979E-C1AD5F5EA72D}" type="pres">
      <dgm:prSet presAssocID="{EA7BD545-4281-41B3-AA68-03BF04D5FC72}" presName="parentText" presStyleLbl="alignNode1" presStyleIdx="3" presStyleCnt="4">
        <dgm:presLayoutVars>
          <dgm:chMax val="1"/>
          <dgm:bulletEnabled val="1"/>
        </dgm:presLayoutVars>
      </dgm:prSet>
      <dgm:spPr/>
    </dgm:pt>
    <dgm:pt modelId="{3960E823-C5E9-40BD-B537-B9AB9F6CFE09}" type="pres">
      <dgm:prSet presAssocID="{EA7BD545-4281-41B3-AA68-03BF04D5FC72}" presName="descendantText" presStyleLbl="alignAcc1" presStyleIdx="3" presStyleCnt="4">
        <dgm:presLayoutVars>
          <dgm:bulletEnabled val="1"/>
        </dgm:presLayoutVars>
      </dgm:prSet>
      <dgm:spPr/>
    </dgm:pt>
  </dgm:ptLst>
  <dgm:cxnLst>
    <dgm:cxn modelId="{349DA407-D213-45DB-A608-7440E3218F9A}" type="presOf" srcId="{45E51551-21BF-4A77-B571-22BD3D3A49CB}" destId="{3960E823-C5E9-40BD-B537-B9AB9F6CFE09}" srcOrd="0" destOrd="0" presId="urn:microsoft.com/office/officeart/2005/8/layout/chevron2"/>
    <dgm:cxn modelId="{10103110-A8D1-446E-A5B2-623EEF04D39A}" srcId="{D14A5766-C5E8-4B50-91AE-1C53E3166CB3}" destId="{D3145D26-CB6D-4184-B623-C3F9ADF6ECB6}" srcOrd="0" destOrd="0" parTransId="{642BEF2E-3572-4E0D-AE9A-742A2EC48CFF}" sibTransId="{C6909385-444B-4D60-B350-B31E289EE777}"/>
    <dgm:cxn modelId="{21BF9B21-0CAC-4935-B498-B11C206EA427}" type="presOf" srcId="{9FC6DD30-D2A4-48AE-9649-3D783AEFC990}" destId="{26CD01F7-701A-4656-8A3C-142A2646AA27}" srcOrd="0" destOrd="0" presId="urn:microsoft.com/office/officeart/2005/8/layout/chevron2"/>
    <dgm:cxn modelId="{27742A31-817B-4DA0-A123-E36F8B3FC0A1}" type="presOf" srcId="{824CD6D1-9B3A-4E8C-9E06-3A1734F5D9C3}" destId="{9D38A914-53F7-433E-9D66-B62A8DE31865}" srcOrd="0" destOrd="0" presId="urn:microsoft.com/office/officeart/2005/8/layout/chevron2"/>
    <dgm:cxn modelId="{7C5A2647-1F6B-4C76-992F-3F5D59ED9F24}" type="presOf" srcId="{EA7BD545-4281-41B3-AA68-03BF04D5FC72}" destId="{ED8FC28A-A198-498B-979E-C1AD5F5EA72D}" srcOrd="0" destOrd="0" presId="urn:microsoft.com/office/officeart/2005/8/layout/chevron2"/>
    <dgm:cxn modelId="{57C8454A-3AB7-4212-8A8A-7BB12467C1D1}" type="presOf" srcId="{D3145D26-CB6D-4184-B623-C3F9ADF6ECB6}" destId="{5F741E71-DEF3-4F9D-B47B-A6C96DFD4096}" srcOrd="0" destOrd="0" presId="urn:microsoft.com/office/officeart/2005/8/layout/chevron2"/>
    <dgm:cxn modelId="{FFEDA77C-54B3-4F40-8198-FA6B05B2E323}" type="presOf" srcId="{5CAB549C-0A1B-428B-A7A7-AC53999A741C}" destId="{D00A0E16-8C1B-4697-8D99-82AAADDF3E10}" srcOrd="0" destOrd="0" presId="urn:microsoft.com/office/officeart/2005/8/layout/chevron2"/>
    <dgm:cxn modelId="{DE23CA7F-7A0B-4043-86A0-15E1EE71F3FE}" srcId="{92E9947E-37B6-4F16-8F26-B47FD907B180}" destId="{9FC6DD30-D2A4-48AE-9649-3D783AEFC990}" srcOrd="0" destOrd="0" parTransId="{95B67D1F-7CD2-4FEC-A94A-FAC0397B4FE1}" sibTransId="{E161350B-52A0-4B89-B9F9-B6A62526A064}"/>
    <dgm:cxn modelId="{2F7FC08D-6582-4443-AA75-F8E6BA1FA205}" type="presOf" srcId="{92E9947E-37B6-4F16-8F26-B47FD907B180}" destId="{553A1B92-9345-40B9-9E21-BABBB5860141}" srcOrd="0" destOrd="0" presId="urn:microsoft.com/office/officeart/2005/8/layout/chevron2"/>
    <dgm:cxn modelId="{F3436B94-E752-49CD-AD3F-FF182855C915}" srcId="{9FC6DD30-D2A4-48AE-9649-3D783AEFC990}" destId="{824CD6D1-9B3A-4E8C-9E06-3A1734F5D9C3}" srcOrd="0" destOrd="0" parTransId="{ADA8694A-EE76-4A99-AEAB-2B86E8D7762D}" sibTransId="{84090C3D-C059-4AAB-A776-26C759B7E0BC}"/>
    <dgm:cxn modelId="{A645C095-E094-44B3-9E43-E055C4A5C23C}" srcId="{5CAB549C-0A1B-428B-A7A7-AC53999A741C}" destId="{04F84BB4-FE78-4A39-B418-3A4843C26C4E}" srcOrd="0" destOrd="0" parTransId="{6D8AAC24-CAD4-45C2-AFA4-45A62A3C46DD}" sibTransId="{B794EF71-9AC1-48AF-BF75-C4EF7C9F66C6}"/>
    <dgm:cxn modelId="{B6F7FAB0-1498-4415-B38E-6BB818BEE180}" type="presOf" srcId="{D14A5766-C5E8-4B50-91AE-1C53E3166CB3}" destId="{B59FBC6B-B28B-418B-AD90-17AB9881A9C3}" srcOrd="0" destOrd="0" presId="urn:microsoft.com/office/officeart/2005/8/layout/chevron2"/>
    <dgm:cxn modelId="{C64F53BD-1775-4020-817D-1BCCC6D9C483}" srcId="{92E9947E-37B6-4F16-8F26-B47FD907B180}" destId="{D14A5766-C5E8-4B50-91AE-1C53E3166CB3}" srcOrd="1" destOrd="0" parTransId="{19DC5957-AAB6-46D2-A6B4-A6F3AE7C3B73}" sibTransId="{FF01E6E4-81AE-41BB-9025-AC31F23287E9}"/>
    <dgm:cxn modelId="{7D88A5BE-FAA3-4C12-AC25-77AF2A036E88}" srcId="{EA7BD545-4281-41B3-AA68-03BF04D5FC72}" destId="{45E51551-21BF-4A77-B571-22BD3D3A49CB}" srcOrd="0" destOrd="0" parTransId="{9B474F22-13EC-42C0-AB34-83BD63D5892E}" sibTransId="{3285ED89-971F-4805-AA4D-55FA55590410}"/>
    <dgm:cxn modelId="{875EC2BE-3182-437D-BEF5-2EC1C161D2B4}" type="presOf" srcId="{04F84BB4-FE78-4A39-B418-3A4843C26C4E}" destId="{A3FA5164-D77C-4AB7-82BD-D1DFC4097458}" srcOrd="0" destOrd="0" presId="urn:microsoft.com/office/officeart/2005/8/layout/chevron2"/>
    <dgm:cxn modelId="{A9E0B6D0-545F-475F-86C5-E63E423B46A2}" srcId="{92E9947E-37B6-4F16-8F26-B47FD907B180}" destId="{EA7BD545-4281-41B3-AA68-03BF04D5FC72}" srcOrd="3" destOrd="0" parTransId="{0AB80D35-F83A-4EEF-B83B-D9701D758A18}" sibTransId="{395E4A4D-84F4-44D1-B25E-3E71EDF900A4}"/>
    <dgm:cxn modelId="{619260E5-626D-4CE2-B9B9-2877B1D5A014}" srcId="{92E9947E-37B6-4F16-8F26-B47FD907B180}" destId="{5CAB549C-0A1B-428B-A7A7-AC53999A741C}" srcOrd="2" destOrd="0" parTransId="{B15A77B0-06DC-4CD6-86C4-F4017D956AFB}" sibTransId="{1078E8FD-A700-4E8B-A50D-5A5E57E54F83}"/>
    <dgm:cxn modelId="{0D6479B2-EA1C-426B-84E0-E957A5CFABC1}" type="presParOf" srcId="{553A1B92-9345-40B9-9E21-BABBB5860141}" destId="{9886E4ED-AEAE-4ED8-9FCC-E752A11C2094}" srcOrd="0" destOrd="0" presId="urn:microsoft.com/office/officeart/2005/8/layout/chevron2"/>
    <dgm:cxn modelId="{2799200D-9E46-40B5-9F18-A54AFAA11BA4}" type="presParOf" srcId="{9886E4ED-AEAE-4ED8-9FCC-E752A11C2094}" destId="{26CD01F7-701A-4656-8A3C-142A2646AA27}" srcOrd="0" destOrd="0" presId="urn:microsoft.com/office/officeart/2005/8/layout/chevron2"/>
    <dgm:cxn modelId="{251434CB-DE6A-484E-B504-6F9DE240C2CC}" type="presParOf" srcId="{9886E4ED-AEAE-4ED8-9FCC-E752A11C2094}" destId="{9D38A914-53F7-433E-9D66-B62A8DE31865}" srcOrd="1" destOrd="0" presId="urn:microsoft.com/office/officeart/2005/8/layout/chevron2"/>
    <dgm:cxn modelId="{7635341D-03FD-44BB-9E5C-98E8AEAF67D1}" type="presParOf" srcId="{553A1B92-9345-40B9-9E21-BABBB5860141}" destId="{BFDCCDA8-FFCE-4157-B575-B8CA59F23F84}" srcOrd="1" destOrd="0" presId="urn:microsoft.com/office/officeart/2005/8/layout/chevron2"/>
    <dgm:cxn modelId="{12C83683-716C-4F83-91A2-AF4769641404}" type="presParOf" srcId="{553A1B92-9345-40B9-9E21-BABBB5860141}" destId="{EEB4424F-95E0-41B7-8D30-9EC1B90931D7}" srcOrd="2" destOrd="0" presId="urn:microsoft.com/office/officeart/2005/8/layout/chevron2"/>
    <dgm:cxn modelId="{0A0BF4AF-5607-4583-974E-2F2A1A93815F}" type="presParOf" srcId="{EEB4424F-95E0-41B7-8D30-9EC1B90931D7}" destId="{B59FBC6B-B28B-418B-AD90-17AB9881A9C3}" srcOrd="0" destOrd="0" presId="urn:microsoft.com/office/officeart/2005/8/layout/chevron2"/>
    <dgm:cxn modelId="{038BC6EF-5AE3-4D4D-BB1C-F681D6DFDCC3}" type="presParOf" srcId="{EEB4424F-95E0-41B7-8D30-9EC1B90931D7}" destId="{5F741E71-DEF3-4F9D-B47B-A6C96DFD4096}" srcOrd="1" destOrd="0" presId="urn:microsoft.com/office/officeart/2005/8/layout/chevron2"/>
    <dgm:cxn modelId="{7EA58E71-389C-404D-AD2E-4B778F373875}" type="presParOf" srcId="{553A1B92-9345-40B9-9E21-BABBB5860141}" destId="{5E850E54-836A-4C22-84D1-146F19F0B939}" srcOrd="3" destOrd="0" presId="urn:microsoft.com/office/officeart/2005/8/layout/chevron2"/>
    <dgm:cxn modelId="{53F3EED9-1F00-4B0B-AEED-69027E57338D}" type="presParOf" srcId="{553A1B92-9345-40B9-9E21-BABBB5860141}" destId="{144E87AD-267F-43AD-BFC8-50E9F19C0C88}" srcOrd="4" destOrd="0" presId="urn:microsoft.com/office/officeart/2005/8/layout/chevron2"/>
    <dgm:cxn modelId="{9CBC5F2E-934A-408F-8DA2-97F30BE8BA9E}" type="presParOf" srcId="{144E87AD-267F-43AD-BFC8-50E9F19C0C88}" destId="{D00A0E16-8C1B-4697-8D99-82AAADDF3E10}" srcOrd="0" destOrd="0" presId="urn:microsoft.com/office/officeart/2005/8/layout/chevron2"/>
    <dgm:cxn modelId="{F74159F4-ADC0-4979-B697-BC8E141DBF31}" type="presParOf" srcId="{144E87AD-267F-43AD-BFC8-50E9F19C0C88}" destId="{A3FA5164-D77C-4AB7-82BD-D1DFC4097458}" srcOrd="1" destOrd="0" presId="urn:microsoft.com/office/officeart/2005/8/layout/chevron2"/>
    <dgm:cxn modelId="{FC36ED79-1689-444B-95CF-4047646C1E1A}" type="presParOf" srcId="{553A1B92-9345-40B9-9E21-BABBB5860141}" destId="{B3DC5ECD-C1FE-4B30-A7CD-AD862DA9EF4A}" srcOrd="5" destOrd="0" presId="urn:microsoft.com/office/officeart/2005/8/layout/chevron2"/>
    <dgm:cxn modelId="{A7026121-7BBE-4CF9-B9E8-D5A0DF498394}" type="presParOf" srcId="{553A1B92-9345-40B9-9E21-BABBB5860141}" destId="{6ABD85D6-5212-43C3-9659-B5924789DF99}" srcOrd="6" destOrd="0" presId="urn:microsoft.com/office/officeart/2005/8/layout/chevron2"/>
    <dgm:cxn modelId="{4A3EDBD8-1F9C-4231-8D7A-D52E1C9C9277}" type="presParOf" srcId="{6ABD85D6-5212-43C3-9659-B5924789DF99}" destId="{ED8FC28A-A198-498B-979E-C1AD5F5EA72D}" srcOrd="0" destOrd="0" presId="urn:microsoft.com/office/officeart/2005/8/layout/chevron2"/>
    <dgm:cxn modelId="{C38872EB-26FA-41D2-9ADA-5A9226472E5F}" type="presParOf" srcId="{6ABD85D6-5212-43C3-9659-B5924789DF99}" destId="{3960E823-C5E9-40BD-B537-B9AB9F6CFE09}" srcOrd="1" destOrd="0" presId="urn:microsoft.com/office/officeart/2005/8/layout/chevron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65AB27E-D7F4-4C81-AED5-F3775E8D5229}">
      <dsp:nvSpPr>
        <dsp:cNvPr id="0" name=""/>
        <dsp:cNvSpPr/>
      </dsp:nvSpPr>
      <dsp:spPr>
        <a:xfrm>
          <a:off x="4114" y="111947"/>
          <a:ext cx="4011252" cy="604800"/>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9352" tIns="85344" rIns="149352" bIns="85344" numCol="1" spcCol="1270" anchor="ctr" anchorCtr="0">
          <a:noAutofit/>
        </a:bodyPr>
        <a:lstStyle/>
        <a:p>
          <a:pPr marL="0" lvl="0" indent="0" algn="ctr" defTabSz="933450">
            <a:lnSpc>
              <a:spcPct val="90000"/>
            </a:lnSpc>
            <a:spcBef>
              <a:spcPct val="0"/>
            </a:spcBef>
            <a:spcAft>
              <a:spcPct val="35000"/>
            </a:spcAft>
            <a:buNone/>
          </a:pPr>
          <a:r>
            <a:rPr lang="en-US" sz="2100" kern="1200"/>
            <a:t>When to use</a:t>
          </a:r>
        </a:p>
      </dsp:txBody>
      <dsp:txXfrm>
        <a:off x="4114" y="111947"/>
        <a:ext cx="4011252" cy="604800"/>
      </dsp:txXfrm>
    </dsp:sp>
    <dsp:sp modelId="{376DDA2F-2196-420E-AC70-4701B67F9347}">
      <dsp:nvSpPr>
        <dsp:cNvPr id="0" name=""/>
        <dsp:cNvSpPr/>
      </dsp:nvSpPr>
      <dsp:spPr>
        <a:xfrm>
          <a:off x="4114" y="716747"/>
          <a:ext cx="4011252" cy="4665642"/>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2014" tIns="112014" rIns="149352" bIns="168021" numCol="1" spcCol="1270" anchor="t" anchorCtr="0">
          <a:noAutofit/>
        </a:bodyPr>
        <a:lstStyle/>
        <a:p>
          <a:pPr marL="228600" lvl="1" indent="-228600" algn="l" defTabSz="933450">
            <a:lnSpc>
              <a:spcPct val="90000"/>
            </a:lnSpc>
            <a:spcBef>
              <a:spcPct val="0"/>
            </a:spcBef>
            <a:spcAft>
              <a:spcPct val="15000"/>
            </a:spcAft>
            <a:buChar char="•"/>
          </a:pPr>
          <a:r>
            <a:rPr lang="en-US" sz="2100" b="1" kern="1200"/>
            <a:t>Uncertainty Exists</a:t>
          </a:r>
          <a:r>
            <a:rPr lang="en-US" sz="2100" kern="1200"/>
            <a:t>: There is ambiguity or lack of clarity in a user story or technical task.</a:t>
          </a:r>
        </a:p>
        <a:p>
          <a:pPr marL="228600" lvl="1" indent="-228600" algn="l" defTabSz="933450">
            <a:lnSpc>
              <a:spcPct val="90000"/>
            </a:lnSpc>
            <a:spcBef>
              <a:spcPct val="0"/>
            </a:spcBef>
            <a:spcAft>
              <a:spcPct val="15000"/>
            </a:spcAft>
            <a:buChar char="•"/>
          </a:pPr>
          <a:r>
            <a:rPr lang="en-US" sz="2100" b="1" kern="1200"/>
            <a:t>Technical Challenges</a:t>
          </a:r>
          <a:r>
            <a:rPr lang="en-US" sz="2100" kern="1200"/>
            <a:t>: The team needs to evaluate technologies, frameworks, or approaches.</a:t>
          </a:r>
        </a:p>
        <a:p>
          <a:pPr marL="228600" lvl="1" indent="-228600" algn="l" defTabSz="933450">
            <a:lnSpc>
              <a:spcPct val="90000"/>
            </a:lnSpc>
            <a:spcBef>
              <a:spcPct val="0"/>
            </a:spcBef>
            <a:spcAft>
              <a:spcPct val="15000"/>
            </a:spcAft>
            <a:buChar char="•"/>
          </a:pPr>
          <a:r>
            <a:rPr lang="en-US" sz="2100" b="1" kern="1200"/>
            <a:t>Complex Requirements</a:t>
          </a:r>
          <a:r>
            <a:rPr lang="en-US" sz="2100" kern="1200"/>
            <a:t>: Requirements need clarification or further refinement.</a:t>
          </a:r>
        </a:p>
        <a:p>
          <a:pPr marL="228600" lvl="1" indent="-228600" algn="l" defTabSz="933450">
            <a:lnSpc>
              <a:spcPct val="90000"/>
            </a:lnSpc>
            <a:spcBef>
              <a:spcPct val="0"/>
            </a:spcBef>
            <a:spcAft>
              <a:spcPct val="15000"/>
            </a:spcAft>
            <a:buChar char="•"/>
          </a:pPr>
          <a:r>
            <a:rPr lang="en-US" sz="2100" b="1" kern="1200"/>
            <a:t>Prototyping</a:t>
          </a:r>
          <a:r>
            <a:rPr lang="en-US" sz="2100" kern="1200"/>
            <a:t>: Testing an idea or concept before full implementation.</a:t>
          </a:r>
        </a:p>
      </dsp:txBody>
      <dsp:txXfrm>
        <a:off x="4114" y="716747"/>
        <a:ext cx="4011252" cy="4665642"/>
      </dsp:txXfrm>
    </dsp:sp>
    <dsp:sp modelId="{21954874-857E-4D37-B9FD-49B0EA7EEB69}">
      <dsp:nvSpPr>
        <dsp:cNvPr id="0" name=""/>
        <dsp:cNvSpPr/>
      </dsp:nvSpPr>
      <dsp:spPr>
        <a:xfrm>
          <a:off x="4576942" y="111947"/>
          <a:ext cx="4011252" cy="604800"/>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9352" tIns="85344" rIns="149352" bIns="85344" numCol="1" spcCol="1270" anchor="ctr" anchorCtr="0">
          <a:noAutofit/>
        </a:bodyPr>
        <a:lstStyle/>
        <a:p>
          <a:pPr marL="0" lvl="0" indent="0" algn="ctr" defTabSz="933450">
            <a:lnSpc>
              <a:spcPct val="90000"/>
            </a:lnSpc>
            <a:spcBef>
              <a:spcPct val="0"/>
            </a:spcBef>
            <a:spcAft>
              <a:spcPct val="35000"/>
            </a:spcAft>
            <a:buNone/>
          </a:pPr>
          <a:r>
            <a:rPr lang="en-US" sz="2100" kern="1200"/>
            <a:t>Types</a:t>
          </a:r>
        </a:p>
      </dsp:txBody>
      <dsp:txXfrm>
        <a:off x="4576942" y="111947"/>
        <a:ext cx="4011252" cy="604800"/>
      </dsp:txXfrm>
    </dsp:sp>
    <dsp:sp modelId="{8ECF5FBD-54EC-4A69-9F92-A9CE05ACC291}">
      <dsp:nvSpPr>
        <dsp:cNvPr id="0" name=""/>
        <dsp:cNvSpPr/>
      </dsp:nvSpPr>
      <dsp:spPr>
        <a:xfrm>
          <a:off x="4576942" y="716747"/>
          <a:ext cx="4011252" cy="4665642"/>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2014" tIns="112014" rIns="149352" bIns="168021" numCol="1" spcCol="1270" anchor="t" anchorCtr="0">
          <a:noAutofit/>
        </a:bodyPr>
        <a:lstStyle/>
        <a:p>
          <a:pPr marL="228600" lvl="1" indent="-228600" algn="l" defTabSz="933450">
            <a:lnSpc>
              <a:spcPct val="90000"/>
            </a:lnSpc>
            <a:spcBef>
              <a:spcPct val="0"/>
            </a:spcBef>
            <a:spcAft>
              <a:spcPct val="15000"/>
            </a:spcAft>
            <a:buChar char="•"/>
          </a:pPr>
          <a:r>
            <a:rPr lang="en-US" sz="2100" b="1" kern="1200"/>
            <a:t>Technical Spike</a:t>
          </a:r>
          <a:r>
            <a:rPr lang="en-US" sz="2100" kern="1200"/>
            <a:t>: Focused on technical research or exploration. </a:t>
          </a:r>
        </a:p>
        <a:p>
          <a:pPr marL="457200" lvl="2" indent="-228600" algn="l" defTabSz="933450">
            <a:lnSpc>
              <a:spcPct val="90000"/>
            </a:lnSpc>
            <a:spcBef>
              <a:spcPct val="0"/>
            </a:spcBef>
            <a:spcAft>
              <a:spcPct val="15000"/>
            </a:spcAft>
            <a:buChar char="•"/>
          </a:pPr>
          <a:r>
            <a:rPr lang="en-US" sz="2100" kern="1200"/>
            <a:t>Example: Investigate the feasibility of integrating with a third-party API.</a:t>
          </a:r>
        </a:p>
        <a:p>
          <a:pPr marL="228600" lvl="1" indent="-228600" algn="l" defTabSz="933450">
            <a:lnSpc>
              <a:spcPct val="90000"/>
            </a:lnSpc>
            <a:spcBef>
              <a:spcPct val="0"/>
            </a:spcBef>
            <a:spcAft>
              <a:spcPct val="15000"/>
            </a:spcAft>
            <a:buChar char="•"/>
          </a:pPr>
          <a:r>
            <a:rPr lang="en-US" sz="2100" b="1" kern="1200"/>
            <a:t>Functional Spike</a:t>
          </a:r>
          <a:r>
            <a:rPr lang="en-US" sz="2100" kern="1200"/>
            <a:t>: Focused on exploring and refining requirements. </a:t>
          </a:r>
        </a:p>
        <a:p>
          <a:pPr marL="457200" lvl="2" indent="-228600" algn="l" defTabSz="933450">
            <a:lnSpc>
              <a:spcPct val="90000"/>
            </a:lnSpc>
            <a:spcBef>
              <a:spcPct val="0"/>
            </a:spcBef>
            <a:spcAft>
              <a:spcPct val="15000"/>
            </a:spcAft>
            <a:buChar char="•"/>
          </a:pPr>
          <a:r>
            <a:rPr lang="en-US" sz="2100" kern="1200"/>
            <a:t>Example: Research user behavior to refine login flow requirements.</a:t>
          </a:r>
        </a:p>
      </dsp:txBody>
      <dsp:txXfrm>
        <a:off x="4576942" y="716747"/>
        <a:ext cx="4011252" cy="4665642"/>
      </dsp:txXfrm>
    </dsp:sp>
    <dsp:sp modelId="{658C1BAA-A88E-4658-92B3-6DEBE44E7E20}">
      <dsp:nvSpPr>
        <dsp:cNvPr id="0" name=""/>
        <dsp:cNvSpPr/>
      </dsp:nvSpPr>
      <dsp:spPr>
        <a:xfrm>
          <a:off x="9149770" y="111947"/>
          <a:ext cx="4011252" cy="604800"/>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9352" tIns="85344" rIns="149352" bIns="85344" numCol="1" spcCol="1270" anchor="ctr" anchorCtr="0">
          <a:noAutofit/>
        </a:bodyPr>
        <a:lstStyle/>
        <a:p>
          <a:pPr marL="0" lvl="0" indent="0" algn="ctr" defTabSz="933450">
            <a:lnSpc>
              <a:spcPct val="90000"/>
            </a:lnSpc>
            <a:spcBef>
              <a:spcPct val="0"/>
            </a:spcBef>
            <a:spcAft>
              <a:spcPct val="35000"/>
            </a:spcAft>
            <a:buNone/>
          </a:pPr>
          <a:r>
            <a:rPr lang="en-US" sz="2100" kern="1200"/>
            <a:t>Characteristics</a:t>
          </a:r>
        </a:p>
      </dsp:txBody>
      <dsp:txXfrm>
        <a:off x="9149770" y="111947"/>
        <a:ext cx="4011252" cy="604800"/>
      </dsp:txXfrm>
    </dsp:sp>
    <dsp:sp modelId="{B4410840-3581-464A-B1DD-18DB62C334A4}">
      <dsp:nvSpPr>
        <dsp:cNvPr id="0" name=""/>
        <dsp:cNvSpPr/>
      </dsp:nvSpPr>
      <dsp:spPr>
        <a:xfrm>
          <a:off x="9149770" y="716747"/>
          <a:ext cx="4011252" cy="4665642"/>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2014" tIns="112014" rIns="149352" bIns="168021" numCol="1" spcCol="1270" anchor="t" anchorCtr="0">
          <a:noAutofit/>
        </a:bodyPr>
        <a:lstStyle/>
        <a:p>
          <a:pPr marL="228600" lvl="1" indent="-228600" algn="l" defTabSz="933450">
            <a:lnSpc>
              <a:spcPct val="90000"/>
            </a:lnSpc>
            <a:spcBef>
              <a:spcPct val="0"/>
            </a:spcBef>
            <a:spcAft>
              <a:spcPct val="15000"/>
            </a:spcAft>
            <a:buChar char="•"/>
          </a:pPr>
          <a:r>
            <a:rPr lang="en-US" sz="2100" b="1" kern="1200"/>
            <a:t>Time-Boxed</a:t>
          </a:r>
          <a:r>
            <a:rPr lang="en-US" sz="2100" kern="1200"/>
            <a:t>: limited in duration, often one or two days, to prevent them from consuming too much time.</a:t>
          </a:r>
        </a:p>
        <a:p>
          <a:pPr marL="228600" lvl="1" indent="-228600" algn="l" defTabSz="933450">
            <a:lnSpc>
              <a:spcPct val="90000"/>
            </a:lnSpc>
            <a:spcBef>
              <a:spcPct val="0"/>
            </a:spcBef>
            <a:spcAft>
              <a:spcPct val="15000"/>
            </a:spcAft>
            <a:buChar char="•"/>
          </a:pPr>
          <a:r>
            <a:rPr lang="en-US" sz="2100" b="1" kern="1200"/>
            <a:t>Deliverables</a:t>
          </a:r>
          <a:r>
            <a:rPr lang="en-US" sz="2100" kern="1200"/>
            <a:t>: The output of a spike can include:</a:t>
          </a:r>
        </a:p>
        <a:p>
          <a:pPr marL="457200" lvl="2" indent="-228600" algn="l" defTabSz="933450">
            <a:lnSpc>
              <a:spcPct val="90000"/>
            </a:lnSpc>
            <a:spcBef>
              <a:spcPct val="0"/>
            </a:spcBef>
            <a:spcAft>
              <a:spcPct val="15000"/>
            </a:spcAft>
            <a:buChar char="•"/>
          </a:pPr>
          <a:r>
            <a:rPr lang="en-US" sz="2100" kern="1200"/>
            <a:t>A document summarizing findings.</a:t>
          </a:r>
        </a:p>
        <a:p>
          <a:pPr marL="457200" lvl="2" indent="-228600" algn="l" defTabSz="933450">
            <a:lnSpc>
              <a:spcPct val="90000"/>
            </a:lnSpc>
            <a:spcBef>
              <a:spcPct val="0"/>
            </a:spcBef>
            <a:spcAft>
              <a:spcPct val="15000"/>
            </a:spcAft>
            <a:buChar char="•"/>
          </a:pPr>
          <a:r>
            <a:rPr lang="en-US" sz="2100" kern="1200"/>
            <a:t>A prototype or proof of concept.</a:t>
          </a:r>
        </a:p>
        <a:p>
          <a:pPr marL="457200" lvl="2" indent="-228600" algn="l" defTabSz="933450">
            <a:lnSpc>
              <a:spcPct val="90000"/>
            </a:lnSpc>
            <a:spcBef>
              <a:spcPct val="0"/>
            </a:spcBef>
            <a:spcAft>
              <a:spcPct val="15000"/>
            </a:spcAft>
            <a:buChar char="•"/>
          </a:pPr>
          <a:r>
            <a:rPr lang="en-US" sz="2100" kern="1200"/>
            <a:t>Updated user stories or technical tasks.</a:t>
          </a:r>
        </a:p>
        <a:p>
          <a:pPr marL="228600" lvl="1" indent="-228600" algn="l" defTabSz="933450">
            <a:lnSpc>
              <a:spcPct val="90000"/>
            </a:lnSpc>
            <a:spcBef>
              <a:spcPct val="0"/>
            </a:spcBef>
            <a:spcAft>
              <a:spcPct val="15000"/>
            </a:spcAft>
            <a:buChar char="•"/>
          </a:pPr>
          <a:r>
            <a:rPr lang="en-US" sz="2100" b="1" kern="1200"/>
            <a:t>Prioritized</a:t>
          </a:r>
          <a:r>
            <a:rPr lang="en-US" sz="2100" kern="1200"/>
            <a:t>: prioritized based on the importance of resolving the uncertainty.</a:t>
          </a:r>
        </a:p>
      </dsp:txBody>
      <dsp:txXfrm>
        <a:off x="9149770" y="716747"/>
        <a:ext cx="4011252" cy="466564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6CD01F7-701A-4656-8A3C-142A2646AA27}">
      <dsp:nvSpPr>
        <dsp:cNvPr id="0" name=""/>
        <dsp:cNvSpPr/>
      </dsp:nvSpPr>
      <dsp:spPr>
        <a:xfrm rot="5400000">
          <a:off x="-259556" y="263833"/>
          <a:ext cx="1730374" cy="1211262"/>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a:latin typeface="+mj-lt"/>
            </a:rPr>
            <a:t>Goal Setting</a:t>
          </a:r>
        </a:p>
      </dsp:txBody>
      <dsp:txXfrm rot="-5400000">
        <a:off x="0" y="609908"/>
        <a:ext cx="1211262" cy="519112"/>
      </dsp:txXfrm>
    </dsp:sp>
    <dsp:sp modelId="{9D38A914-53F7-433E-9D66-B62A8DE31865}">
      <dsp:nvSpPr>
        <dsp:cNvPr id="0" name=""/>
        <dsp:cNvSpPr/>
      </dsp:nvSpPr>
      <dsp:spPr>
        <a:xfrm rot="5400000">
          <a:off x="6622575" y="-5407036"/>
          <a:ext cx="1124743" cy="11947370"/>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56032" tIns="22860" rIns="22860" bIns="22860" numCol="1" spcCol="1270" anchor="ctr" anchorCtr="0">
          <a:noAutofit/>
        </a:bodyPr>
        <a:lstStyle/>
        <a:p>
          <a:pPr marL="285750" lvl="1" indent="-285750" algn="l" defTabSz="1600200">
            <a:lnSpc>
              <a:spcPct val="90000"/>
            </a:lnSpc>
            <a:spcBef>
              <a:spcPct val="0"/>
            </a:spcBef>
            <a:spcAft>
              <a:spcPct val="15000"/>
            </a:spcAft>
            <a:buChar char="•"/>
          </a:pPr>
          <a:r>
            <a:rPr lang="en-US" sz="3600" kern="1200">
              <a:latin typeface="+mj-lt"/>
            </a:rPr>
            <a:t>Defines a clear and achievable sprint goal</a:t>
          </a:r>
        </a:p>
      </dsp:txBody>
      <dsp:txXfrm rot="-5400000">
        <a:off x="1211262" y="59182"/>
        <a:ext cx="11892465" cy="1014933"/>
      </dsp:txXfrm>
    </dsp:sp>
    <dsp:sp modelId="{B59FBC6B-B28B-418B-AD90-17AB9881A9C3}">
      <dsp:nvSpPr>
        <dsp:cNvPr id="0" name=""/>
        <dsp:cNvSpPr/>
      </dsp:nvSpPr>
      <dsp:spPr>
        <a:xfrm rot="5400000">
          <a:off x="-259556" y="1851657"/>
          <a:ext cx="1730374" cy="1211262"/>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a:latin typeface="+mj-lt"/>
            </a:rPr>
            <a:t>Backlog Refinement</a:t>
          </a:r>
        </a:p>
      </dsp:txBody>
      <dsp:txXfrm rot="-5400000">
        <a:off x="0" y="2197732"/>
        <a:ext cx="1211262" cy="519112"/>
      </dsp:txXfrm>
    </dsp:sp>
    <dsp:sp modelId="{5F741E71-DEF3-4F9D-B47B-A6C96DFD4096}">
      <dsp:nvSpPr>
        <dsp:cNvPr id="0" name=""/>
        <dsp:cNvSpPr/>
      </dsp:nvSpPr>
      <dsp:spPr>
        <a:xfrm rot="5400000">
          <a:off x="6622575" y="-3819212"/>
          <a:ext cx="1124743" cy="11947370"/>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56032" tIns="22860" rIns="22860" bIns="22860" numCol="1" spcCol="1270" anchor="ctr" anchorCtr="0">
          <a:noAutofit/>
        </a:bodyPr>
        <a:lstStyle/>
        <a:p>
          <a:pPr marL="285750" lvl="1" indent="-285750" algn="l" defTabSz="1600200">
            <a:lnSpc>
              <a:spcPct val="90000"/>
            </a:lnSpc>
            <a:spcBef>
              <a:spcPct val="0"/>
            </a:spcBef>
            <a:spcAft>
              <a:spcPct val="15000"/>
            </a:spcAft>
            <a:buChar char="•"/>
          </a:pPr>
          <a:r>
            <a:rPr lang="en-US" sz="3600" kern="1200">
              <a:latin typeface="+mj-lt"/>
            </a:rPr>
            <a:t>Breaks down user stories into smaller task and estimates effort required for each task</a:t>
          </a:r>
        </a:p>
      </dsp:txBody>
      <dsp:txXfrm rot="-5400000">
        <a:off x="1211262" y="1647006"/>
        <a:ext cx="11892465" cy="1014933"/>
      </dsp:txXfrm>
    </dsp:sp>
    <dsp:sp modelId="{D00A0E16-8C1B-4697-8D99-82AAADDF3E10}">
      <dsp:nvSpPr>
        <dsp:cNvPr id="0" name=""/>
        <dsp:cNvSpPr/>
      </dsp:nvSpPr>
      <dsp:spPr>
        <a:xfrm rot="5400000">
          <a:off x="-259556" y="3439480"/>
          <a:ext cx="1730374" cy="1211262"/>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a:latin typeface="+mj-lt"/>
            </a:rPr>
            <a:t>Plan Execution</a:t>
          </a:r>
        </a:p>
      </dsp:txBody>
      <dsp:txXfrm rot="-5400000">
        <a:off x="0" y="3785555"/>
        <a:ext cx="1211262" cy="519112"/>
      </dsp:txXfrm>
    </dsp:sp>
    <dsp:sp modelId="{A3FA5164-D77C-4AB7-82BD-D1DFC4097458}">
      <dsp:nvSpPr>
        <dsp:cNvPr id="0" name=""/>
        <dsp:cNvSpPr/>
      </dsp:nvSpPr>
      <dsp:spPr>
        <a:xfrm rot="5400000">
          <a:off x="6622575" y="-2231389"/>
          <a:ext cx="1124743" cy="11947370"/>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56032" tIns="22860" rIns="22860" bIns="22860" numCol="1" spcCol="1270" anchor="ctr" anchorCtr="0">
          <a:noAutofit/>
        </a:bodyPr>
        <a:lstStyle/>
        <a:p>
          <a:pPr marL="285750" lvl="1" indent="-285750" algn="l" defTabSz="1600200">
            <a:lnSpc>
              <a:spcPct val="90000"/>
            </a:lnSpc>
            <a:spcBef>
              <a:spcPct val="0"/>
            </a:spcBef>
            <a:spcAft>
              <a:spcPct val="15000"/>
            </a:spcAft>
            <a:buChar char="•"/>
          </a:pPr>
          <a:r>
            <a:rPr lang="en-US" sz="3600" kern="1200">
              <a:latin typeface="+mj-lt"/>
            </a:rPr>
            <a:t>Organize task order, dependencies and assignments</a:t>
          </a:r>
        </a:p>
      </dsp:txBody>
      <dsp:txXfrm rot="-5400000">
        <a:off x="1211262" y="3234829"/>
        <a:ext cx="11892465" cy="1014933"/>
      </dsp:txXfrm>
    </dsp:sp>
    <dsp:sp modelId="{ED8FC28A-A198-498B-979E-C1AD5F5EA72D}">
      <dsp:nvSpPr>
        <dsp:cNvPr id="0" name=""/>
        <dsp:cNvSpPr/>
      </dsp:nvSpPr>
      <dsp:spPr>
        <a:xfrm rot="5400000">
          <a:off x="-259556" y="5027303"/>
          <a:ext cx="1730374" cy="1211262"/>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a:latin typeface="+mj-lt"/>
            </a:rPr>
            <a:t>Finalize</a:t>
          </a:r>
        </a:p>
      </dsp:txBody>
      <dsp:txXfrm rot="-5400000">
        <a:off x="0" y="5373378"/>
        <a:ext cx="1211262" cy="519112"/>
      </dsp:txXfrm>
    </dsp:sp>
    <dsp:sp modelId="{3960E823-C5E9-40BD-B537-B9AB9F6CFE09}">
      <dsp:nvSpPr>
        <dsp:cNvPr id="0" name=""/>
        <dsp:cNvSpPr/>
      </dsp:nvSpPr>
      <dsp:spPr>
        <a:xfrm rot="5400000">
          <a:off x="6622575" y="-643565"/>
          <a:ext cx="1124743" cy="11947370"/>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56032" tIns="22860" rIns="22860" bIns="22860" numCol="1" spcCol="1270" anchor="ctr" anchorCtr="0">
          <a:noAutofit/>
        </a:bodyPr>
        <a:lstStyle/>
        <a:p>
          <a:pPr marL="285750" lvl="1" indent="-285750" algn="l" defTabSz="1600200">
            <a:lnSpc>
              <a:spcPct val="90000"/>
            </a:lnSpc>
            <a:spcBef>
              <a:spcPct val="0"/>
            </a:spcBef>
            <a:spcAft>
              <a:spcPct val="15000"/>
            </a:spcAft>
            <a:buChar char="•"/>
          </a:pPr>
          <a:r>
            <a:rPr lang="en-US" sz="3600" kern="1200">
              <a:latin typeface="+mj-lt"/>
            </a:rPr>
            <a:t>Summarize and confirm Sprint</a:t>
          </a:r>
        </a:p>
      </dsp:txBody>
      <dsp:txXfrm rot="-5400000">
        <a:off x="1211262" y="4822653"/>
        <a:ext cx="11892465" cy="1014933"/>
      </dsp:txXfrm>
    </dsp:sp>
  </dsp:spTree>
</dsp:drawing>
</file>

<file path=ppt/diagrams/layout1.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520994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r>
              <a:rPr lang="vi-VN"/>
              <a:t>Agile là một phương pháp và tư duy quản lý dự án linh hoạt, đặc biệt phổ biến trong lĩnh vực phát triển phần mềm, nhưng cũng được áp dụng rộng rãi trong các lĩnh vực khác. Agile tập trung vào việc tạo ra giá trị nhanh chóng và liên tục thông qua các vòng lặp phát triển ngắn (iterations) và khả năng thích nghi với các thay đổi trong yêu cầu.</a:t>
            </a:r>
            <a:endParaRPr lang="en-US"/>
          </a:p>
        </p:txBody>
      </p:sp>
    </p:spTree>
    <p:extLst>
      <p:ext uri="{BB962C8B-B14F-4D97-AF65-F5344CB8AC3E}">
        <p14:creationId xmlns:p14="http://schemas.microsoft.com/office/powerpoint/2010/main" val="39996627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r>
              <a:rPr lang="vi-VN" b="1" dirty="0"/>
              <a:t>1. Agile Ưu Tiên Sự Linh Hoạt và Thích Ứng</a:t>
            </a:r>
          </a:p>
          <a:p>
            <a:r>
              <a:rPr lang="vi-VN" dirty="0"/>
              <a:t>Agile tập trung vào khả năng linh hoạt và thích ứng, cho phép các nhóm thay đổi kế hoạch dựa trên thách thức hoặc cơ hội mới, đảm bảo dự án luôn phù hợp với nhu cầu hiện tại.</a:t>
            </a:r>
          </a:p>
          <a:p>
            <a:r>
              <a:rPr lang="vi-VN" b="1" dirty="0"/>
              <a:t>2. Agile Chấp Nhận Thay Đổi</a:t>
            </a:r>
          </a:p>
          <a:p>
            <a:r>
              <a:rPr lang="vi-VN" dirty="0"/>
              <a:t>Thay đổi không được coi là trở ngại mà là cơ hội để cải thiện và phát triển. Agile tích hợp sự thay đổi vào quy trình làm việc, giúp nhóm nhanh chóng thích nghi với các ưu tiên hoặc yếu tố bên ngoài.</a:t>
            </a:r>
          </a:p>
          <a:p>
            <a:r>
              <a:rPr lang="vi-VN" b="1" dirty="0"/>
              <a:t>3. Agile Khuyến Khích Phản Hồi Nhanh Với Yêu Cầu Đang Thay Đổi</a:t>
            </a:r>
          </a:p>
          <a:p>
            <a:r>
              <a:rPr lang="vi-VN" dirty="0"/>
              <a:t>Thông qua các chu kỳ ngắn (sprint), Agile giúp nhóm phản hồi nhanh chóng với những yêu cầu hoặc phản hồi mới, đảm bảo sự liên kết giữa mục tiêu dự án và thực tế.</a:t>
            </a:r>
          </a:p>
          <a:p>
            <a:r>
              <a:rPr lang="vi-VN" b="1" dirty="0"/>
              <a:t>4. Agile Giúp Đáp Ứng Nhu Cầu Thị Trường</a:t>
            </a:r>
          </a:p>
          <a:p>
            <a:r>
              <a:rPr lang="vi-VN" dirty="0"/>
              <a:t>Agile cho phép nhóm ưu tiên những yếu tố quan trọng, đáp ứng nhanh chóng với xu hướng thị trường và nhu cầu khách hàng, đảm bảo sản phẩm luôn phù hợp và giá trị.</a:t>
            </a:r>
            <a:endParaRPr lang="en-US" dirty="0"/>
          </a:p>
          <a:p>
            <a:endParaRPr lang="en-US" dirty="0"/>
          </a:p>
          <a:p>
            <a:endParaRPr lang="en-US" dirty="0"/>
          </a:p>
          <a:p>
            <a:r>
              <a:rPr lang="en-US" b="1" dirty="0"/>
              <a:t>1. </a:t>
            </a:r>
            <a:r>
              <a:rPr lang="vi-VN" b="1" dirty="0"/>
              <a:t>Agile đảm bảo sự hài lòng của khách hàng bằng cách giao phần mềm thường xuyên</a:t>
            </a:r>
            <a:endParaRPr lang="vi-VN" dirty="0"/>
          </a:p>
          <a:p>
            <a:pPr>
              <a:buFont typeface="Arial" panose="020B0604020202020204" pitchFamily="34" charset="0"/>
              <a:buChar char="•"/>
            </a:pPr>
            <a:r>
              <a:rPr lang="vi-VN" dirty="0"/>
              <a:t>Agile tập trung vào việc chia nhỏ sản phẩm thành các phần nhỏ, dễ hoàn thiện và có giá trị sử dụng. Các phần này được giao cho khách hàng định kỳ, thường vào cuối mỗi sprint (chu kỳ ngắn từ 1–4 tuần). Điều này không chỉ giúp khách hàng nhìn thấy tiến độ mà còn sớm nhận được giá trị từ sản phẩm, từ đó tăng sự hài lòng.</a:t>
            </a:r>
          </a:p>
          <a:p>
            <a:r>
              <a:rPr lang="en-US" b="1" dirty="0"/>
              <a:t>2. </a:t>
            </a:r>
            <a:r>
              <a:rPr lang="vi-VN" b="1" dirty="0"/>
              <a:t>Hợp tác với các bên liên quan để đảm bảo rõ ràng yêu cầu và ưu tiên</a:t>
            </a:r>
            <a:endParaRPr lang="vi-VN" dirty="0"/>
          </a:p>
          <a:p>
            <a:pPr>
              <a:buFont typeface="Arial" panose="020B0604020202020204" pitchFamily="34" charset="0"/>
              <a:buChar char="•"/>
            </a:pPr>
            <a:r>
              <a:rPr lang="vi-VN" dirty="0"/>
              <a:t>Agile thúc đẩy sự phối hợp chặt chẽ giữa đội ngũ phát triển và các bên liên quan, bao gồm khách hàng, người dùng cuối và các nhà quản lý dự án. Thông qua các cuộc họp thường xuyên như sprint review (đánh giá sprint) hoặc daily stand-up (họp ngắn hằng ngày), các bên có thể chia sẻ ý kiến, làm rõ các yêu cầu và cùng thống nhất ưu tiên để đảm bảo mọi người hướng đến mục tiêu chung.</a:t>
            </a:r>
          </a:p>
          <a:p>
            <a:r>
              <a:rPr lang="en-US" b="1" dirty="0"/>
              <a:t>3. </a:t>
            </a:r>
            <a:r>
              <a:rPr lang="vi-VN" b="1" dirty="0"/>
              <a:t>Phản hồi trong quá trình phát triển giúp cải thiện và điều chỉnh sản phẩm</a:t>
            </a:r>
            <a:endParaRPr lang="vi-VN" dirty="0"/>
          </a:p>
          <a:p>
            <a:pPr>
              <a:buFont typeface="Arial" panose="020B0604020202020204" pitchFamily="34" charset="0"/>
              <a:buChar char="•"/>
            </a:pPr>
            <a:r>
              <a:rPr lang="vi-VN" dirty="0"/>
              <a:t>Agile tích hợp phản hồi từ khách hàng hoặc người dùng ngay trong quá trình phát triển. Sau mỗi lần giao phần mềm, đội ngũ phát triển nhận phản hồi từ người dùng để kịp thời cải thiện. Điều này giúp sản phẩm liên tục được tinh chỉnh, đảm bảo phù hợp với nhu cầu thực tế và sự thay đổi của thị trường.</a:t>
            </a:r>
          </a:p>
          <a:p>
            <a:endParaRPr lang="vi-VN" dirty="0"/>
          </a:p>
          <a:p>
            <a:endParaRPr lang="en-US" dirty="0"/>
          </a:p>
        </p:txBody>
      </p:sp>
    </p:spTree>
    <p:extLst>
      <p:ext uri="{BB962C8B-B14F-4D97-AF65-F5344CB8AC3E}">
        <p14:creationId xmlns:p14="http://schemas.microsoft.com/office/powerpoint/2010/main" val="37710127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r>
              <a:rPr lang="vi-VN" b="1"/>
              <a:t>Các framework Agile phổ biến</a:t>
            </a:r>
          </a:p>
          <a:p>
            <a:r>
              <a:rPr lang="vi-VN"/>
              <a:t>Từ Tuyên ngôn Agile, nhiều framework Agile đã được phát triển, mỗi framework có những đặc điểm và ưu điểm riêng:</a:t>
            </a:r>
          </a:p>
          <a:p>
            <a:pPr>
              <a:buFont typeface="Arial" panose="020B0604020202020204" pitchFamily="34" charset="0"/>
              <a:buNone/>
            </a:pPr>
            <a:r>
              <a:rPr lang="vi-VN" b="1"/>
              <a:t>Scrum:</a:t>
            </a:r>
            <a:r>
              <a:rPr lang="vi-VN"/>
              <a:t> Framework phổ biến nhất, chia dự án thành các sprint ngắn (thường là 2-4 tuần).</a:t>
            </a:r>
          </a:p>
          <a:p>
            <a:pPr>
              <a:buFont typeface="Arial" panose="020B0604020202020204" pitchFamily="34" charset="0"/>
              <a:buNone/>
            </a:pPr>
            <a:r>
              <a:rPr lang="vi-VN" b="1"/>
              <a:t>Kanban:</a:t>
            </a:r>
            <a:r>
              <a:rPr lang="vi-VN"/>
              <a:t> Nhấn mạnh vào việc trực quan hóa công việc và liên tục cải tiến quy trình.</a:t>
            </a:r>
          </a:p>
          <a:p>
            <a:pPr>
              <a:buFont typeface="Arial" panose="020B0604020202020204" pitchFamily="34" charset="0"/>
              <a:buNone/>
            </a:pPr>
            <a:r>
              <a:rPr lang="vi-VN" b="1"/>
              <a:t>Extreme Programming (XP):</a:t>
            </a:r>
            <a:r>
              <a:rPr lang="vi-VN"/>
              <a:t> Tập trung vào các thực hành kỹ thuật như test-driven development, pair programming.</a:t>
            </a:r>
          </a:p>
          <a:p>
            <a:pPr>
              <a:buFont typeface="Arial" panose="020B0604020202020204" pitchFamily="34" charset="0"/>
              <a:buNone/>
            </a:pPr>
            <a:r>
              <a:rPr lang="vi-VN" b="1"/>
              <a:t>Lean Development:</a:t>
            </a:r>
            <a:r>
              <a:rPr lang="vi-VN"/>
              <a:t> Áp dụng các nguyên tắc Lean Manufacturing vào phát triển phần mềm.</a:t>
            </a:r>
          </a:p>
          <a:p>
            <a:pPr>
              <a:buFont typeface="Arial" panose="020B0604020202020204" pitchFamily="34" charset="0"/>
              <a:buNone/>
            </a:pPr>
            <a:r>
              <a:rPr lang="vi-VN" b="1"/>
              <a:t>Feature-Driven Development (FDD):</a:t>
            </a:r>
            <a:r>
              <a:rPr lang="vi-VN"/>
              <a:t> Lấy các tính năng của sản phẩm làm trung tâm.</a:t>
            </a:r>
          </a:p>
          <a:p>
            <a:endParaRPr lang="en-US"/>
          </a:p>
          <a:p>
            <a:endParaRPr lang="en-US"/>
          </a:p>
        </p:txBody>
      </p:sp>
    </p:spTree>
    <p:extLst>
      <p:ext uri="{BB962C8B-B14F-4D97-AF65-F5344CB8AC3E}">
        <p14:creationId xmlns:p14="http://schemas.microsoft.com/office/powerpoint/2010/main" val="348500705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vi-VN" dirty="0"/>
              <a:t>Bảng này minh họa sự khác biệt cơ bản giữa hai phương pháp, giúp bạn lựa chọn phù hợp tùy thuộc vào loại dự án và yêu cầu cụ thể.</a:t>
            </a:r>
            <a:endParaRPr lang="en-US" b="1" dirty="0"/>
          </a:p>
          <a:p>
            <a:pPr>
              <a:buFont typeface="+mj-lt"/>
              <a:buAutoNum type="arabicPeriod"/>
            </a:pPr>
            <a:r>
              <a:rPr lang="vi-VN" b="1" dirty="0"/>
              <a:t>Flexibility (Tính linh hoạt):</a:t>
            </a:r>
            <a:endParaRPr lang="vi-VN" dirty="0"/>
          </a:p>
          <a:p>
            <a:pPr marL="742950" lvl="1" indent="-285750">
              <a:buFont typeface="+mj-lt"/>
              <a:buAutoNum type="arabicPeriod"/>
            </a:pPr>
            <a:r>
              <a:rPr lang="vi-VN" b="1" dirty="0"/>
              <a:t>Agile:</a:t>
            </a:r>
            <a:r>
              <a:rPr lang="vi-VN" dirty="0"/>
              <a:t> Có tính linh hoạt cao, dễ thay đổi và thích nghi trong quá trình phát triển.</a:t>
            </a:r>
          </a:p>
          <a:p>
            <a:pPr marL="742950" lvl="1" indent="-285750">
              <a:buFont typeface="+mj-lt"/>
              <a:buAutoNum type="arabicPeriod"/>
            </a:pPr>
            <a:r>
              <a:rPr lang="vi-VN" b="1" dirty="0"/>
              <a:t>Waterfall:</a:t>
            </a:r>
            <a:r>
              <a:rPr lang="vi-VN" dirty="0"/>
              <a:t> Tính linh hoạt thấp, khó thay đổi sau khi đã lập kế hoạch.</a:t>
            </a:r>
          </a:p>
          <a:p>
            <a:pPr>
              <a:buFont typeface="+mj-lt"/>
              <a:buAutoNum type="arabicPeriod"/>
            </a:pPr>
            <a:r>
              <a:rPr lang="vi-VN" b="1" dirty="0"/>
              <a:t>Requirements Management (Quản lý yêu cầu):</a:t>
            </a:r>
            <a:endParaRPr lang="vi-VN" dirty="0"/>
          </a:p>
          <a:p>
            <a:pPr marL="742950" lvl="1" indent="-285750">
              <a:buFont typeface="+mj-lt"/>
              <a:buAutoNum type="arabicPeriod"/>
            </a:pPr>
            <a:r>
              <a:rPr lang="vi-VN" b="1" dirty="0"/>
              <a:t>Agile:</a:t>
            </a:r>
            <a:r>
              <a:rPr lang="vi-VN" dirty="0"/>
              <a:t> Yêu cầu được cập nhật liên tục dựa trên phản hồi từ khách hàng hoặc thị trường.</a:t>
            </a:r>
          </a:p>
          <a:p>
            <a:pPr marL="742950" lvl="1" indent="-285750">
              <a:buFont typeface="+mj-lt"/>
              <a:buAutoNum type="arabicPeriod"/>
            </a:pPr>
            <a:r>
              <a:rPr lang="vi-VN" b="1" dirty="0"/>
              <a:t>Waterfall:</a:t>
            </a:r>
            <a:r>
              <a:rPr lang="vi-VN" dirty="0"/>
              <a:t> Yêu cầu được xác định đầy đủ từ đầu, ít hoặc không thay đổi trong quá trình phát triển.</a:t>
            </a:r>
          </a:p>
          <a:p>
            <a:pPr>
              <a:buFont typeface="+mj-lt"/>
              <a:buAutoNum type="arabicPeriod"/>
            </a:pPr>
            <a:r>
              <a:rPr lang="vi-VN" b="1" dirty="0"/>
              <a:t>Product Delivery (Giao sản phẩm):</a:t>
            </a:r>
            <a:endParaRPr lang="vi-VN" dirty="0"/>
          </a:p>
          <a:p>
            <a:pPr marL="742950" lvl="1" indent="-285750">
              <a:buFont typeface="+mj-lt"/>
              <a:buAutoNum type="arabicPeriod"/>
            </a:pPr>
            <a:r>
              <a:rPr lang="vi-VN" b="1" dirty="0"/>
              <a:t>Agile:</a:t>
            </a:r>
            <a:r>
              <a:rPr lang="vi-VN" dirty="0"/>
              <a:t> Sản phẩm được giao từng phần nhỏ, liên tục trong suốt quá trình phát triển.</a:t>
            </a:r>
          </a:p>
          <a:p>
            <a:pPr marL="742950" lvl="1" indent="-285750">
              <a:buFont typeface="+mj-lt"/>
              <a:buAutoNum type="arabicPeriod"/>
            </a:pPr>
            <a:r>
              <a:rPr lang="vi-VN" b="1" dirty="0"/>
              <a:t>Waterfall:</a:t>
            </a:r>
            <a:r>
              <a:rPr lang="vi-VN" dirty="0"/>
              <a:t> Sản phẩm chỉ được giao một lần, vào cuối dự án.</a:t>
            </a:r>
          </a:p>
          <a:p>
            <a:pPr>
              <a:buFont typeface="+mj-lt"/>
              <a:buAutoNum type="arabicPeriod"/>
            </a:pPr>
            <a:r>
              <a:rPr lang="vi-VN" b="1" dirty="0"/>
              <a:t>Customer Involvement (Sự tham gia của khách hàng):</a:t>
            </a:r>
            <a:endParaRPr lang="vi-VN" dirty="0"/>
          </a:p>
          <a:p>
            <a:pPr marL="742950" lvl="1" indent="-285750">
              <a:buFont typeface="+mj-lt"/>
              <a:buAutoNum type="arabicPeriod"/>
            </a:pPr>
            <a:r>
              <a:rPr lang="vi-VN" b="1" dirty="0"/>
              <a:t>Agile:</a:t>
            </a:r>
            <a:r>
              <a:rPr lang="vi-VN" dirty="0"/>
              <a:t> Khách hàng tham gia thường xuyên trong suốt dự án.</a:t>
            </a:r>
          </a:p>
          <a:p>
            <a:pPr marL="742950" lvl="1" indent="-285750">
              <a:buFont typeface="+mj-lt"/>
              <a:buAutoNum type="arabicPeriod"/>
            </a:pPr>
            <a:r>
              <a:rPr lang="vi-VN" b="1" dirty="0"/>
              <a:t>Waterfall:</a:t>
            </a:r>
            <a:r>
              <a:rPr lang="vi-VN" dirty="0"/>
              <a:t> Khách hàng chủ yếu tham gia ở giai đoạn đầu và giai đoạn cuối của dự án.</a:t>
            </a:r>
          </a:p>
          <a:p>
            <a:pPr>
              <a:buFont typeface="+mj-lt"/>
              <a:buAutoNum type="arabicPeriod"/>
            </a:pPr>
            <a:r>
              <a:rPr lang="vi-VN" b="1" dirty="0"/>
              <a:t>Documentation (Tài liệu):</a:t>
            </a:r>
            <a:endParaRPr lang="vi-VN" dirty="0"/>
          </a:p>
          <a:p>
            <a:pPr marL="742950" lvl="1" indent="-285750">
              <a:buFont typeface="+mj-lt"/>
              <a:buAutoNum type="arabicPeriod"/>
            </a:pPr>
            <a:r>
              <a:rPr lang="vi-VN" b="1" dirty="0"/>
              <a:t>Agile:</a:t>
            </a:r>
            <a:r>
              <a:rPr lang="vi-VN" dirty="0"/>
              <a:t> Tập trung vào kết quả đầu ra (outcomes), tài liệu được tối giản.</a:t>
            </a:r>
          </a:p>
          <a:p>
            <a:pPr marL="742950" lvl="1" indent="-285750">
              <a:buFont typeface="+mj-lt"/>
              <a:buAutoNum type="arabicPeriod"/>
            </a:pPr>
            <a:r>
              <a:rPr lang="vi-VN" b="1" dirty="0"/>
              <a:t>Waterfall:</a:t>
            </a:r>
            <a:r>
              <a:rPr lang="vi-VN" dirty="0"/>
              <a:t> Cung cấp tài liệu chi tiết ở mọi giai đoạn phát triển.</a:t>
            </a:r>
          </a:p>
          <a:p>
            <a:pPr>
              <a:buFont typeface="+mj-lt"/>
              <a:buAutoNum type="arabicPeriod"/>
            </a:pPr>
            <a:r>
              <a:rPr lang="vi-VN" b="1" dirty="0"/>
              <a:t>Time and Cost (Thời gian và chi phí):</a:t>
            </a:r>
            <a:endParaRPr lang="vi-VN" dirty="0"/>
          </a:p>
          <a:p>
            <a:pPr marL="742950" lvl="1" indent="-285750">
              <a:buFont typeface="+mj-lt"/>
              <a:buAutoNum type="arabicPeriod"/>
            </a:pPr>
            <a:r>
              <a:rPr lang="vi-VN" b="1" dirty="0"/>
              <a:t>Agile:</a:t>
            </a:r>
            <a:r>
              <a:rPr lang="vi-VN" dirty="0"/>
              <a:t> Được ước tính tương đối và linh hoạt để thích ứng với các thay đổi.</a:t>
            </a:r>
          </a:p>
          <a:p>
            <a:pPr marL="742950" lvl="1" indent="-285750">
              <a:buFont typeface="+mj-lt"/>
              <a:buAutoNum type="arabicPeriod"/>
            </a:pPr>
            <a:r>
              <a:rPr lang="vi-VN" b="1" dirty="0"/>
              <a:t>Waterfall:</a:t>
            </a:r>
            <a:r>
              <a:rPr lang="vi-VN" dirty="0"/>
              <a:t> Cố định và ít linh hoạt hơn.</a:t>
            </a:r>
          </a:p>
        </p:txBody>
      </p:sp>
    </p:spTree>
    <p:extLst>
      <p:ext uri="{BB962C8B-B14F-4D97-AF65-F5344CB8AC3E}">
        <p14:creationId xmlns:p14="http://schemas.microsoft.com/office/powerpoint/2010/main" val="30550619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endParaRPr lang="vi-VN"/>
          </a:p>
          <a:p>
            <a:r>
              <a:rPr lang="vi-VN" b="1"/>
              <a:t>Các mốc chính trong lịch sử Scrum</a:t>
            </a:r>
          </a:p>
          <a:p>
            <a:pPr>
              <a:buFont typeface="+mj-lt"/>
              <a:buAutoNum type="arabicPeriod"/>
            </a:pPr>
            <a:r>
              <a:rPr lang="vi-VN" b="1"/>
              <a:t>1986:</a:t>
            </a:r>
            <a:r>
              <a:rPr lang="vi-VN"/>
              <a:t> Thuật ngữ "Scrum" được Takeuchi và Nonaka giới thiệu trong bài viết trên </a:t>
            </a:r>
            <a:r>
              <a:rPr lang="vi-VN" b="1"/>
              <a:t>Harvard Business Review</a:t>
            </a:r>
            <a:r>
              <a:rPr lang="vi-VN"/>
              <a:t>.</a:t>
            </a:r>
          </a:p>
          <a:p>
            <a:pPr>
              <a:buFont typeface="+mj-lt"/>
              <a:buAutoNum type="arabicPeriod"/>
            </a:pPr>
            <a:r>
              <a:rPr lang="vi-VN" b="1"/>
              <a:t>1993:</a:t>
            </a:r>
            <a:r>
              <a:rPr lang="vi-VN"/>
              <a:t> Jeff Sutherland lần đầu áp dụng Scrum tại </a:t>
            </a:r>
            <a:r>
              <a:rPr lang="vi-VN" b="1"/>
              <a:t>Easel Corporation</a:t>
            </a:r>
            <a:r>
              <a:rPr lang="vi-VN"/>
              <a:t>.</a:t>
            </a:r>
          </a:p>
          <a:p>
            <a:pPr>
              <a:buFont typeface="+mj-lt"/>
              <a:buAutoNum type="arabicPeriod"/>
            </a:pPr>
            <a:r>
              <a:rPr lang="vi-VN" b="1"/>
              <a:t>1995:</a:t>
            </a:r>
            <a:r>
              <a:rPr lang="vi-VN"/>
              <a:t> Sutherland và Schwaber chính thức định nghĩa Scrum tại hội nghị </a:t>
            </a:r>
            <a:r>
              <a:rPr lang="vi-VN" b="1"/>
              <a:t>OOPSLA</a:t>
            </a:r>
            <a:r>
              <a:rPr lang="vi-VN"/>
              <a:t>.</a:t>
            </a:r>
          </a:p>
          <a:p>
            <a:pPr>
              <a:buFont typeface="+mj-lt"/>
              <a:buAutoNum type="arabicPeriod"/>
            </a:pPr>
            <a:r>
              <a:rPr lang="vi-VN" b="1"/>
              <a:t>2001:</a:t>
            </a:r>
            <a:r>
              <a:rPr lang="vi-VN"/>
              <a:t> Scrum gắn liền với </a:t>
            </a:r>
            <a:r>
              <a:rPr lang="vi-VN" b="1"/>
              <a:t>Tuyên ngôn Agile</a:t>
            </a:r>
            <a:r>
              <a:rPr lang="vi-VN"/>
              <a:t>, khẳng định vai trò trong phát triển Agile.</a:t>
            </a:r>
          </a:p>
          <a:p>
            <a:pPr>
              <a:buFont typeface="+mj-lt"/>
              <a:buAutoNum type="arabicPeriod"/>
            </a:pPr>
            <a:r>
              <a:rPr lang="vi-VN" b="1"/>
              <a:t>2002:</a:t>
            </a:r>
            <a:r>
              <a:rPr lang="vi-VN"/>
              <a:t> Thành lập </a:t>
            </a:r>
            <a:r>
              <a:rPr lang="vi-VN" b="1"/>
              <a:t>Scrum Alliance</a:t>
            </a:r>
            <a:r>
              <a:rPr lang="vi-VN"/>
              <a:t> để quảng bá thực hành Scrum và cấp chứng chỉ.</a:t>
            </a:r>
          </a:p>
          <a:p>
            <a:pPr>
              <a:buFont typeface="+mj-lt"/>
              <a:buAutoNum type="arabicPeriod"/>
            </a:pPr>
            <a:r>
              <a:rPr lang="vi-VN" b="1"/>
              <a:t>2009:</a:t>
            </a:r>
            <a:r>
              <a:rPr lang="vi-VN"/>
              <a:t> </a:t>
            </a:r>
            <a:r>
              <a:rPr lang="vi-VN" b="1"/>
              <a:t>Scrum Guide</a:t>
            </a:r>
            <a:r>
              <a:rPr lang="vi-VN"/>
              <a:t> được Schwaber và Sutherland xuất bản, chuẩn hóa khung làm việc Scrum trên toàn cầu.</a:t>
            </a:r>
          </a:p>
          <a:p>
            <a:endParaRPr lang="en-US"/>
          </a:p>
        </p:txBody>
      </p:sp>
    </p:spTree>
    <p:extLst>
      <p:ext uri="{BB962C8B-B14F-4D97-AF65-F5344CB8AC3E}">
        <p14:creationId xmlns:p14="http://schemas.microsoft.com/office/powerpoint/2010/main" val="27213264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r>
              <a:rPr lang="en-US" b="1"/>
              <a:t>B</a:t>
            </a:r>
            <a:r>
              <a:rPr lang="vi-VN" b="1"/>
              <a:t>a trụ cột của Scrum</a:t>
            </a:r>
            <a:r>
              <a:rPr lang="vi-VN"/>
              <a:t>, là nền tảng của khung làm việc Scrum và dựa trên nguyên tắc </a:t>
            </a:r>
            <a:r>
              <a:rPr lang="vi-VN" b="1"/>
              <a:t>Kinh nghiệm thực tiễn (Empiricism)</a:t>
            </a:r>
            <a:r>
              <a:rPr lang="vi-VN"/>
              <a:t>:</a:t>
            </a:r>
          </a:p>
          <a:p>
            <a:pPr>
              <a:buFont typeface="+mj-lt"/>
              <a:buAutoNum type="arabicPeriod"/>
            </a:pPr>
            <a:r>
              <a:rPr lang="vi-VN" b="1"/>
              <a:t>Tính minh bạch (Transparency):</a:t>
            </a:r>
            <a:endParaRPr lang="vi-VN"/>
          </a:p>
          <a:p>
            <a:pPr marL="742950" lvl="1" indent="-285750">
              <a:buFont typeface="+mj-lt"/>
              <a:buAutoNum type="arabicPeriod"/>
            </a:pPr>
            <a:r>
              <a:rPr lang="vi-VN"/>
              <a:t>Thông tin được chia sẻ công khai và rõ ràng cho tất cả các bên liên quan.</a:t>
            </a:r>
          </a:p>
          <a:p>
            <a:pPr marL="742950" lvl="1" indent="-285750">
              <a:buFont typeface="+mj-lt"/>
              <a:buAutoNum type="arabicPeriod"/>
            </a:pPr>
            <a:r>
              <a:rPr lang="vi-VN"/>
              <a:t>Đảm bảo mọi người tham gia đều hiểu tình hình hiện tại và mục tiêu dự án.</a:t>
            </a:r>
          </a:p>
          <a:p>
            <a:pPr>
              <a:buFont typeface="+mj-lt"/>
              <a:buAutoNum type="arabicPeriod"/>
            </a:pPr>
            <a:r>
              <a:rPr lang="vi-VN" b="1"/>
              <a:t>Kiểm tra (Inspection):</a:t>
            </a:r>
            <a:endParaRPr lang="vi-VN"/>
          </a:p>
          <a:p>
            <a:pPr marL="742950" lvl="1" indent="-285750">
              <a:buFont typeface="+mj-lt"/>
              <a:buAutoNum type="arabicPeriod"/>
            </a:pPr>
            <a:r>
              <a:rPr lang="vi-VN"/>
              <a:t>Thường xuyên xem xét và phân tích các quy trình, tiến độ và kết quả.</a:t>
            </a:r>
          </a:p>
          <a:p>
            <a:pPr marL="742950" lvl="1" indent="-285750">
              <a:buFont typeface="+mj-lt"/>
              <a:buAutoNum type="arabicPeriod"/>
            </a:pPr>
            <a:r>
              <a:rPr lang="vi-VN"/>
              <a:t>Giúp phát hiện các sai lệch hoặc khu vực cần cải thiện.</a:t>
            </a:r>
          </a:p>
          <a:p>
            <a:pPr>
              <a:buFont typeface="+mj-lt"/>
              <a:buAutoNum type="arabicPeriod"/>
            </a:pPr>
            <a:r>
              <a:rPr lang="vi-VN" b="1"/>
              <a:t>Thích nghi (Adaptation):</a:t>
            </a:r>
            <a:endParaRPr lang="vi-VN"/>
          </a:p>
          <a:p>
            <a:pPr marL="742950" lvl="1" indent="-285750">
              <a:buFont typeface="+mj-lt"/>
              <a:buAutoNum type="arabicPeriod"/>
            </a:pPr>
            <a:r>
              <a:rPr lang="vi-VN"/>
              <a:t>Điều chỉnh các quy trình và chiến lược để tối ưu hóa kết quả dựa trên các phát hiện từ kiểm tra.</a:t>
            </a:r>
          </a:p>
          <a:p>
            <a:pPr marL="742950" lvl="1" indent="-285750">
              <a:buFont typeface="+mj-lt"/>
              <a:buAutoNum type="arabicPeriod"/>
            </a:pPr>
            <a:r>
              <a:rPr lang="vi-VN"/>
              <a:t>Đảm bảo sự cải tiến liên tục và phù hợp với mục tiêu của dự án.</a:t>
            </a:r>
          </a:p>
          <a:p>
            <a:r>
              <a:rPr lang="vi-VN"/>
              <a:t>Ba trụ cột này hỗ trợ phương pháp thực nghiệm của Scrum, giúp các nhóm quản lý các dự án phức tạp một cách hiệu quả.</a:t>
            </a:r>
          </a:p>
          <a:p>
            <a:endParaRPr lang="en-US"/>
          </a:p>
        </p:txBody>
      </p:sp>
    </p:spTree>
    <p:extLst>
      <p:ext uri="{BB962C8B-B14F-4D97-AF65-F5344CB8AC3E}">
        <p14:creationId xmlns:p14="http://schemas.microsoft.com/office/powerpoint/2010/main" val="107269603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r>
              <a:rPr lang="vi-VN" b="1"/>
              <a:t>Quy trình Scrum:</a:t>
            </a:r>
          </a:p>
          <a:p>
            <a:pPr>
              <a:buFont typeface="+mj-lt"/>
              <a:buAutoNum type="arabicPeriod"/>
            </a:pPr>
            <a:r>
              <a:rPr lang="vi-VN" b="1"/>
              <a:t>Product Backlog</a:t>
            </a:r>
            <a:r>
              <a:rPr lang="vi-VN"/>
              <a:t>: Danh sách các công việc và tính năng cần được hoàn thành để phát triển sản phẩm.</a:t>
            </a:r>
          </a:p>
          <a:p>
            <a:pPr>
              <a:buFont typeface="+mj-lt"/>
              <a:buAutoNum type="arabicPeriod"/>
            </a:pPr>
            <a:r>
              <a:rPr lang="vi-VN" b="1"/>
              <a:t>Sprint Planning Meeting</a:t>
            </a:r>
            <a:r>
              <a:rPr lang="vi-VN"/>
              <a:t>: Cuộc họp lập kế hoạch để chọn các mục tiêu và công việc cụ thể (Sprint Backlog) cho Sprint tiếp theo.</a:t>
            </a:r>
          </a:p>
          <a:p>
            <a:pPr>
              <a:buFont typeface="+mj-lt"/>
              <a:buAutoNum type="arabicPeriod"/>
            </a:pPr>
            <a:r>
              <a:rPr lang="vi-VN" b="1"/>
              <a:t>Sprint Backlog</a:t>
            </a:r>
            <a:r>
              <a:rPr lang="vi-VN"/>
              <a:t>: Danh sách các công việc được đội nhóm chọn để hoàn thành trong một Sprint.</a:t>
            </a:r>
          </a:p>
          <a:p>
            <a:pPr>
              <a:buFont typeface="+mj-lt"/>
              <a:buAutoNum type="arabicPeriod"/>
            </a:pPr>
            <a:r>
              <a:rPr lang="vi-VN" b="1"/>
              <a:t>Sprint (1-4 tuần)</a:t>
            </a:r>
            <a:r>
              <a:rPr lang="vi-VN"/>
              <a:t>: Giai đoạn ngắn (thường từ 1 đến 4 tuần) trong đó đội nhóm làm việc để hoàn thành các mục tiêu của Sprint Backlog.</a:t>
            </a:r>
          </a:p>
          <a:p>
            <a:pPr marL="742950" lvl="1" indent="-285750">
              <a:buFont typeface="+mj-lt"/>
              <a:buAutoNum type="arabicPeriod"/>
            </a:pPr>
            <a:r>
              <a:rPr lang="vi-VN" b="1"/>
              <a:t>Daily Stand-up (24H)</a:t>
            </a:r>
            <a:r>
              <a:rPr lang="vi-VN"/>
              <a:t>: Cuộc họp ngắn hàng ngày (khoảng 15 phút) để đội nhóm cập nhật tiến độ, thảo luận trở ngại và lên kế hoạch trong ngày.</a:t>
            </a:r>
          </a:p>
          <a:p>
            <a:pPr>
              <a:buFont typeface="+mj-lt"/>
              <a:buAutoNum type="arabicPeriod"/>
            </a:pPr>
            <a:r>
              <a:rPr lang="vi-VN" b="1"/>
              <a:t>Sprint Review + Sprint Retrospective</a:t>
            </a:r>
            <a:r>
              <a:rPr lang="vi-VN"/>
              <a:t>: Sau khi Sprint kết thúc:</a:t>
            </a:r>
          </a:p>
          <a:p>
            <a:pPr marL="742950" lvl="1" indent="-285750">
              <a:buFont typeface="+mj-lt"/>
              <a:buAutoNum type="arabicPeriod"/>
            </a:pPr>
            <a:r>
              <a:rPr lang="vi-VN" b="1"/>
              <a:t>Sprint Review</a:t>
            </a:r>
            <a:r>
              <a:rPr lang="vi-VN"/>
              <a:t>: Đánh giá công việc đã hoàn thành, trình bày với các bên liên quan.</a:t>
            </a:r>
          </a:p>
          <a:p>
            <a:pPr marL="742950" lvl="1" indent="-285750">
              <a:buFont typeface="+mj-lt"/>
              <a:buAutoNum type="arabicPeriod"/>
            </a:pPr>
            <a:r>
              <a:rPr lang="vi-VN" b="1"/>
              <a:t>Sprint Retrospective</a:t>
            </a:r>
            <a:r>
              <a:rPr lang="vi-VN"/>
              <a:t>: Phân tích những gì làm tốt, cần cải thiện để tối ưu hóa quy trình.</a:t>
            </a:r>
          </a:p>
          <a:p>
            <a:pPr>
              <a:buFont typeface="+mj-lt"/>
              <a:buAutoNum type="arabicPeriod"/>
            </a:pPr>
            <a:r>
              <a:rPr lang="vi-VN" b="1"/>
              <a:t>Finished Work</a:t>
            </a:r>
            <a:r>
              <a:rPr lang="vi-VN"/>
              <a:t>: Sản phẩm hoặc tính năng đã hoàn thành, sẵn sàng để triển khai hoặc sử dụng.</a:t>
            </a:r>
          </a:p>
          <a:p>
            <a:r>
              <a:rPr lang="vi-VN"/>
              <a:t>Quy trình này lặp đi lặp lại qua các Sprint cho đến khi sản phẩm đạt được mục tiêu cuối cùng.</a:t>
            </a:r>
            <a:endParaRPr lang="en-US"/>
          </a:p>
          <a:p>
            <a:pPr marL="514350" indent="-514350">
              <a:buFont typeface="+mj-lt"/>
              <a:buAutoNum type="arabicPeriod"/>
            </a:pPr>
            <a:r>
              <a:rPr lang="en-US"/>
              <a:t>Product Backlog: List of prioritized tasks and features.</a:t>
            </a:r>
          </a:p>
          <a:p>
            <a:pPr marL="514350" indent="-514350">
              <a:buFont typeface="+mj-lt"/>
              <a:buAutoNum type="arabicPeriod"/>
            </a:pPr>
            <a:r>
              <a:rPr lang="en-US"/>
              <a:t>Sprint Planning: Plan tasks for the Sprint.</a:t>
            </a:r>
          </a:p>
          <a:p>
            <a:pPr marL="514350" indent="-514350">
              <a:buFont typeface="+mj-lt"/>
              <a:buAutoNum type="arabicPeriod"/>
            </a:pPr>
            <a:r>
              <a:rPr lang="en-US"/>
              <a:t>Sprint Backlog: Selected tasks for the Sprint.</a:t>
            </a:r>
          </a:p>
          <a:p>
            <a:pPr marL="514350" indent="-514350">
              <a:buFont typeface="+mj-lt"/>
              <a:buAutoNum type="arabicPeriod"/>
            </a:pPr>
            <a:r>
              <a:rPr lang="en-US"/>
              <a:t>Sprint (1-4 weeks): Work cycle with daily stand-ups.</a:t>
            </a:r>
          </a:p>
          <a:p>
            <a:pPr marL="514350" indent="-514350">
              <a:buFont typeface="+mj-lt"/>
              <a:buAutoNum type="arabicPeriod"/>
            </a:pPr>
            <a:r>
              <a:rPr lang="en-US"/>
              <a:t>Review &amp; Retrospective: Evaluate work and improve processes.</a:t>
            </a:r>
          </a:p>
          <a:p>
            <a:pPr marL="514350" indent="-514350">
              <a:buFont typeface="+mj-lt"/>
              <a:buAutoNum type="arabicPeriod"/>
            </a:pPr>
            <a:r>
              <a:rPr lang="en-US"/>
              <a:t>Finished Work: Deliverables ready for use.</a:t>
            </a:r>
          </a:p>
          <a:p>
            <a:endParaRPr lang="en-US"/>
          </a:p>
        </p:txBody>
      </p:sp>
    </p:spTree>
    <p:extLst>
      <p:ext uri="{BB962C8B-B14F-4D97-AF65-F5344CB8AC3E}">
        <p14:creationId xmlns:p14="http://schemas.microsoft.com/office/powerpoint/2010/main" val="216972594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r>
              <a:rPr lang="vi-VN" b="1"/>
              <a:t>1. Product Owner (Chủ sở hữu sản phẩm)</a:t>
            </a:r>
          </a:p>
          <a:p>
            <a:pPr>
              <a:buFont typeface="Arial" panose="020B0604020202020204" pitchFamily="34" charset="0"/>
              <a:buChar char="•"/>
            </a:pPr>
            <a:r>
              <a:rPr lang="vi-VN" b="1"/>
              <a:t>Vai trò</a:t>
            </a:r>
            <a:r>
              <a:rPr lang="vi-VN"/>
              <a:t>:</a:t>
            </a:r>
          </a:p>
          <a:p>
            <a:pPr marL="742950" lvl="1" indent="-285750">
              <a:buFont typeface="Arial" panose="020B0604020202020204" pitchFamily="34" charset="0"/>
              <a:buChar char="•"/>
            </a:pPr>
            <a:r>
              <a:rPr lang="vi-VN"/>
              <a:t>Là người chịu trách nhiệm về </a:t>
            </a:r>
            <a:r>
              <a:rPr lang="vi-VN" b="1"/>
              <a:t>Product Backlog</a:t>
            </a:r>
            <a:r>
              <a:rPr lang="vi-VN"/>
              <a:t>, đảm bảo rằng nó được ưu tiên rõ ràng và phản ánh đúng nhu cầu của khách hàng và các bên liên quan.</a:t>
            </a:r>
          </a:p>
          <a:p>
            <a:pPr marL="742950" lvl="1" indent="-285750">
              <a:buFont typeface="Arial" panose="020B0604020202020204" pitchFamily="34" charset="0"/>
              <a:buChar char="•"/>
            </a:pPr>
            <a:r>
              <a:rPr lang="vi-VN"/>
              <a:t>Đóng vai trò là </a:t>
            </a:r>
            <a:r>
              <a:rPr lang="vi-VN" b="1"/>
              <a:t>tiếng nói của khách hàng</a:t>
            </a:r>
            <a:r>
              <a:rPr lang="vi-VN"/>
              <a:t>, quyết định những gì đội nhóm sẽ thực hiện trong Sprint.</a:t>
            </a:r>
          </a:p>
          <a:p>
            <a:pPr marL="742950" lvl="1" indent="-285750">
              <a:buFont typeface="Arial" panose="020B0604020202020204" pitchFamily="34" charset="0"/>
              <a:buChar char="•"/>
            </a:pPr>
            <a:r>
              <a:rPr lang="vi-VN"/>
              <a:t>Cung cấp thông tin phản hồi và yêu cầu từ các bên liên quan để tối ưu hóa giá trị của sản phẩm.</a:t>
            </a:r>
          </a:p>
          <a:p>
            <a:pPr>
              <a:buFont typeface="Arial" panose="020B0604020202020204" pitchFamily="34" charset="0"/>
              <a:buChar char="•"/>
            </a:pPr>
            <a:r>
              <a:rPr lang="vi-VN" b="1"/>
              <a:t>Nhiệm vụ chính</a:t>
            </a:r>
            <a:r>
              <a:rPr lang="vi-VN"/>
              <a:t>:</a:t>
            </a:r>
          </a:p>
          <a:p>
            <a:pPr marL="742950" lvl="1" indent="-285750">
              <a:buFont typeface="Arial" panose="020B0604020202020204" pitchFamily="34" charset="0"/>
              <a:buChar char="•"/>
            </a:pPr>
            <a:r>
              <a:rPr lang="vi-VN"/>
              <a:t>Xác định tầm nhìn sản phẩm.</a:t>
            </a:r>
          </a:p>
          <a:p>
            <a:pPr marL="742950" lvl="1" indent="-285750">
              <a:buFont typeface="Arial" panose="020B0604020202020204" pitchFamily="34" charset="0"/>
              <a:buChar char="•"/>
            </a:pPr>
            <a:r>
              <a:rPr lang="vi-VN"/>
              <a:t>Quản lý và sắp xếp thứ tự ưu tiên các công việc (backlog items).</a:t>
            </a:r>
          </a:p>
          <a:p>
            <a:pPr marL="742950" lvl="1" indent="-285750">
              <a:buFont typeface="Arial" panose="020B0604020202020204" pitchFamily="34" charset="0"/>
              <a:buChar char="•"/>
            </a:pPr>
            <a:r>
              <a:rPr lang="vi-VN"/>
              <a:t>Đưa ra các quyết định nhanh chóng để đảm bảo tiến độ.</a:t>
            </a:r>
          </a:p>
          <a:p>
            <a:pPr>
              <a:buFont typeface="Arial" panose="020B0604020202020204" pitchFamily="34" charset="0"/>
              <a:buChar char="•"/>
            </a:pPr>
            <a:r>
              <a:rPr lang="vi-VN" b="1"/>
              <a:t>Kỹ năng quan trọng</a:t>
            </a:r>
            <a:r>
              <a:rPr lang="vi-VN"/>
              <a:t>:</a:t>
            </a:r>
          </a:p>
          <a:p>
            <a:pPr marL="742950" lvl="1" indent="-285750">
              <a:buFont typeface="Arial" panose="020B0604020202020204" pitchFamily="34" charset="0"/>
              <a:buChar char="•"/>
            </a:pPr>
            <a:r>
              <a:rPr lang="vi-VN"/>
              <a:t>Giao tiếp tốt.</a:t>
            </a:r>
          </a:p>
          <a:p>
            <a:pPr marL="742950" lvl="1" indent="-285750">
              <a:buFont typeface="Arial" panose="020B0604020202020204" pitchFamily="34" charset="0"/>
              <a:buChar char="•"/>
            </a:pPr>
            <a:r>
              <a:rPr lang="vi-VN"/>
              <a:t>Hiểu biết sâu về khách hàng và thị trường.</a:t>
            </a:r>
          </a:p>
          <a:p>
            <a:r>
              <a:rPr lang="vi-VN" b="1"/>
              <a:t>2. Scrum Master (Người dẫn dắt Scrum)</a:t>
            </a:r>
          </a:p>
          <a:p>
            <a:pPr>
              <a:buFont typeface="Arial" panose="020B0604020202020204" pitchFamily="34" charset="0"/>
              <a:buChar char="•"/>
            </a:pPr>
            <a:r>
              <a:rPr lang="vi-VN" b="1"/>
              <a:t>Vai trò</a:t>
            </a:r>
            <a:r>
              <a:rPr lang="vi-VN"/>
              <a:t>:</a:t>
            </a:r>
          </a:p>
          <a:p>
            <a:pPr marL="742950" lvl="1" indent="-285750">
              <a:buFont typeface="Arial" panose="020B0604020202020204" pitchFamily="34" charset="0"/>
              <a:buChar char="•"/>
            </a:pPr>
            <a:r>
              <a:rPr lang="vi-VN"/>
              <a:t>Là </a:t>
            </a:r>
            <a:r>
              <a:rPr lang="vi-VN" b="1"/>
              <a:t>người hỗ trợ</a:t>
            </a:r>
            <a:r>
              <a:rPr lang="vi-VN"/>
              <a:t> và </a:t>
            </a:r>
            <a:r>
              <a:rPr lang="vi-VN" b="1"/>
              <a:t>điều phối</a:t>
            </a:r>
            <a:r>
              <a:rPr lang="vi-VN"/>
              <a:t> cho cả đội Scrum, giúp đội nhóm tuân thủ các nguyên tắc và giá trị của Scrum.</a:t>
            </a:r>
          </a:p>
          <a:p>
            <a:pPr marL="742950" lvl="1" indent="-285750">
              <a:buFont typeface="Arial" panose="020B0604020202020204" pitchFamily="34" charset="0"/>
              <a:buChar char="•"/>
            </a:pPr>
            <a:r>
              <a:rPr lang="vi-VN"/>
              <a:t>Xóa bỏ các rào cản ảnh hưởng đến tiến độ làm việc của đội nhóm.</a:t>
            </a:r>
          </a:p>
          <a:p>
            <a:pPr marL="742950" lvl="1" indent="-285750">
              <a:buFont typeface="Arial" panose="020B0604020202020204" pitchFamily="34" charset="0"/>
              <a:buChar char="•"/>
            </a:pPr>
            <a:r>
              <a:rPr lang="vi-VN"/>
              <a:t>Đào tạo và hướng dẫn đội nhóm về các phương pháp Agile/Scrum.</a:t>
            </a:r>
          </a:p>
          <a:p>
            <a:pPr>
              <a:buFont typeface="Arial" panose="020B0604020202020204" pitchFamily="34" charset="0"/>
              <a:buChar char="•"/>
            </a:pPr>
            <a:r>
              <a:rPr lang="vi-VN" b="1"/>
              <a:t>Nhiệm vụ chính</a:t>
            </a:r>
            <a:r>
              <a:rPr lang="vi-VN"/>
              <a:t>:</a:t>
            </a:r>
          </a:p>
          <a:p>
            <a:pPr marL="742950" lvl="1" indent="-285750">
              <a:buFont typeface="Arial" panose="020B0604020202020204" pitchFamily="34" charset="0"/>
              <a:buChar char="•"/>
            </a:pPr>
            <a:r>
              <a:rPr lang="vi-VN"/>
              <a:t>Tổ chức và dẫn dắt các sự kiện Scrum (Sprint Planning, Daily Scrum, Sprint Review, Sprint Retrospective).</a:t>
            </a:r>
          </a:p>
          <a:p>
            <a:pPr marL="742950" lvl="1" indent="-285750">
              <a:buFont typeface="Arial" panose="020B0604020202020204" pitchFamily="34" charset="0"/>
              <a:buChar char="•"/>
            </a:pPr>
            <a:r>
              <a:rPr lang="vi-VN"/>
              <a:t>Hỗ trợ đội nhóm tự quản lý và cải tiến quy trình làm việc.</a:t>
            </a:r>
          </a:p>
          <a:p>
            <a:pPr marL="742950" lvl="1" indent="-285750">
              <a:buFont typeface="Arial" panose="020B0604020202020204" pitchFamily="34" charset="0"/>
              <a:buChar char="•"/>
            </a:pPr>
            <a:r>
              <a:rPr lang="vi-VN"/>
              <a:t>Tạo điều kiện cho sự hợp tác giữa các thành viên trong đội nhóm.</a:t>
            </a:r>
          </a:p>
          <a:p>
            <a:pPr>
              <a:buFont typeface="Arial" panose="020B0604020202020204" pitchFamily="34" charset="0"/>
              <a:buChar char="•"/>
            </a:pPr>
            <a:r>
              <a:rPr lang="vi-VN" b="1"/>
              <a:t>Kỹ năng quan trọng</a:t>
            </a:r>
            <a:r>
              <a:rPr lang="vi-VN"/>
              <a:t>:</a:t>
            </a:r>
          </a:p>
          <a:p>
            <a:pPr marL="742950" lvl="1" indent="-285750">
              <a:buFont typeface="Arial" panose="020B0604020202020204" pitchFamily="34" charset="0"/>
              <a:buChar char="•"/>
            </a:pPr>
            <a:r>
              <a:rPr lang="vi-VN"/>
              <a:t>Khả năng lãnh đạo phục vụ (servant leadership).</a:t>
            </a:r>
          </a:p>
          <a:p>
            <a:pPr marL="742950" lvl="1" indent="-285750">
              <a:buFont typeface="Arial" panose="020B0604020202020204" pitchFamily="34" charset="0"/>
              <a:buChar char="•"/>
            </a:pPr>
            <a:r>
              <a:rPr lang="vi-VN"/>
              <a:t>Kỹ năng giải quyết vấn đề và loại bỏ trở ngại.</a:t>
            </a:r>
          </a:p>
          <a:p>
            <a:r>
              <a:rPr lang="vi-VN" b="1"/>
              <a:t>3. Development Team (Nhóm phát triển)</a:t>
            </a:r>
          </a:p>
          <a:p>
            <a:pPr>
              <a:buFont typeface="Arial" panose="020B0604020202020204" pitchFamily="34" charset="0"/>
              <a:buChar char="•"/>
            </a:pPr>
            <a:r>
              <a:rPr lang="vi-VN" b="1"/>
              <a:t>Vai trò</a:t>
            </a:r>
            <a:r>
              <a:rPr lang="vi-VN"/>
              <a:t>:</a:t>
            </a:r>
          </a:p>
          <a:p>
            <a:pPr marL="742950" lvl="1" indent="-285750">
              <a:buFont typeface="Arial" panose="020B0604020202020204" pitchFamily="34" charset="0"/>
              <a:buChar char="•"/>
            </a:pPr>
            <a:r>
              <a:rPr lang="vi-VN"/>
              <a:t>Là một đội ngũ </a:t>
            </a:r>
            <a:r>
              <a:rPr lang="vi-VN" b="1"/>
              <a:t>chức năng chéo</a:t>
            </a:r>
            <a:r>
              <a:rPr lang="vi-VN"/>
              <a:t> chịu trách nhiệm trực tiếp thực hiện công việc để tạo ra </a:t>
            </a:r>
            <a:r>
              <a:rPr lang="vi-VN" b="1"/>
              <a:t>Product Increment</a:t>
            </a:r>
            <a:r>
              <a:rPr lang="vi-VN"/>
              <a:t> (phần hoàn thiện của sản phẩm) trong mỗi Sprint.</a:t>
            </a:r>
          </a:p>
          <a:p>
            <a:pPr marL="742950" lvl="1" indent="-285750">
              <a:buFont typeface="Arial" panose="020B0604020202020204" pitchFamily="34" charset="0"/>
              <a:buChar char="•"/>
            </a:pPr>
            <a:r>
              <a:rPr lang="vi-VN"/>
              <a:t>Tự tổ chức và quyết định cách hoàn thành công việc được giao.</a:t>
            </a:r>
          </a:p>
          <a:p>
            <a:pPr marL="742950" lvl="1" indent="-285750">
              <a:buFont typeface="Arial" panose="020B0604020202020204" pitchFamily="34" charset="0"/>
              <a:buChar char="•"/>
            </a:pPr>
            <a:r>
              <a:rPr lang="vi-VN"/>
              <a:t>Đảm bảo chất lượng sản phẩm thông qua sự hợp tác và cải tiến liên tục.</a:t>
            </a:r>
          </a:p>
          <a:p>
            <a:pPr>
              <a:buFont typeface="Arial" panose="020B0604020202020204" pitchFamily="34" charset="0"/>
              <a:buChar char="•"/>
            </a:pPr>
            <a:r>
              <a:rPr lang="vi-VN" b="1"/>
              <a:t>Nhiệm vụ chính</a:t>
            </a:r>
            <a:r>
              <a:rPr lang="vi-VN"/>
              <a:t>:</a:t>
            </a:r>
          </a:p>
          <a:p>
            <a:pPr marL="742950" lvl="1" indent="-285750">
              <a:buFont typeface="Arial" panose="020B0604020202020204" pitchFamily="34" charset="0"/>
              <a:buChar char="•"/>
            </a:pPr>
            <a:r>
              <a:rPr lang="vi-VN"/>
              <a:t>Quản lý </a:t>
            </a:r>
            <a:r>
              <a:rPr lang="vi-VN" b="1"/>
              <a:t>Sprint Backlog</a:t>
            </a:r>
            <a:r>
              <a:rPr lang="vi-VN"/>
              <a:t> (danh sách công việc cần hoàn thành trong Sprint).</a:t>
            </a:r>
          </a:p>
          <a:p>
            <a:pPr marL="742950" lvl="1" indent="-285750">
              <a:buFont typeface="Arial" panose="020B0604020202020204" pitchFamily="34" charset="0"/>
              <a:buChar char="•"/>
            </a:pPr>
            <a:r>
              <a:rPr lang="vi-VN"/>
              <a:t>Xây dựng, phát triển, và kiểm tra các chức năng của sản phẩm.</a:t>
            </a:r>
          </a:p>
          <a:p>
            <a:pPr marL="742950" lvl="1" indent="-285750">
              <a:buFont typeface="Arial" panose="020B0604020202020204" pitchFamily="34" charset="0"/>
              <a:buChar char="•"/>
            </a:pPr>
            <a:r>
              <a:rPr lang="vi-VN"/>
              <a:t>Đóng góp vào việc cải thiện quy trình làm việc thông qua các buổi retrospective.</a:t>
            </a:r>
          </a:p>
          <a:p>
            <a:pPr>
              <a:buFont typeface="Arial" panose="020B0604020202020204" pitchFamily="34" charset="0"/>
              <a:buChar char="•"/>
            </a:pPr>
            <a:r>
              <a:rPr lang="vi-VN" b="1"/>
              <a:t>Kỹ năng quan trọng</a:t>
            </a:r>
            <a:r>
              <a:rPr lang="vi-VN"/>
              <a:t>:</a:t>
            </a:r>
          </a:p>
          <a:p>
            <a:pPr marL="742950" lvl="1" indent="-285750">
              <a:buFont typeface="Arial" panose="020B0604020202020204" pitchFamily="34" charset="0"/>
              <a:buChar char="•"/>
            </a:pPr>
            <a:r>
              <a:rPr lang="vi-VN"/>
              <a:t>Kỹ năng kỹ thuật chuyên sâu.</a:t>
            </a:r>
          </a:p>
          <a:p>
            <a:pPr marL="742950" lvl="1" indent="-285750">
              <a:buFont typeface="Arial" panose="020B0604020202020204" pitchFamily="34" charset="0"/>
              <a:buChar char="•"/>
            </a:pPr>
            <a:r>
              <a:rPr lang="vi-VN"/>
              <a:t>Tinh thần làm việc nhóm và khả năng thích ứng.</a:t>
            </a:r>
          </a:p>
          <a:p>
            <a:r>
              <a:rPr lang="vi-VN" b="1"/>
              <a:t>Tổng kết</a:t>
            </a:r>
          </a:p>
          <a:p>
            <a:r>
              <a:rPr lang="vi-VN"/>
              <a:t>Ba vai trò này kết hợp với nhau để đảm bảo Scrum hoạt động hiệu quả:</a:t>
            </a:r>
          </a:p>
          <a:p>
            <a:pPr>
              <a:buFont typeface="Arial" panose="020B0604020202020204" pitchFamily="34" charset="0"/>
              <a:buChar char="•"/>
            </a:pPr>
            <a:r>
              <a:rPr lang="vi-VN" b="1"/>
              <a:t>Product Owner</a:t>
            </a:r>
            <a:r>
              <a:rPr lang="vi-VN"/>
              <a:t> tập trung vào </a:t>
            </a:r>
            <a:r>
              <a:rPr lang="vi-VN" b="1"/>
              <a:t>"làm cái gì"</a:t>
            </a:r>
            <a:r>
              <a:rPr lang="vi-VN"/>
              <a:t>.</a:t>
            </a:r>
          </a:p>
          <a:p>
            <a:pPr>
              <a:buFont typeface="Arial" panose="020B0604020202020204" pitchFamily="34" charset="0"/>
              <a:buChar char="•"/>
            </a:pPr>
            <a:r>
              <a:rPr lang="vi-VN" b="1"/>
              <a:t>Scrum Master</a:t>
            </a:r>
            <a:r>
              <a:rPr lang="vi-VN"/>
              <a:t> tập trung vào </a:t>
            </a:r>
            <a:r>
              <a:rPr lang="vi-VN" b="1"/>
              <a:t>"làm như thế nào"</a:t>
            </a:r>
            <a:r>
              <a:rPr lang="vi-VN"/>
              <a:t>.</a:t>
            </a:r>
          </a:p>
          <a:p>
            <a:pPr>
              <a:buFont typeface="Arial" panose="020B0604020202020204" pitchFamily="34" charset="0"/>
              <a:buChar char="•"/>
            </a:pPr>
            <a:r>
              <a:rPr lang="vi-VN" b="1"/>
              <a:t>Development Team</a:t>
            </a:r>
            <a:r>
              <a:rPr lang="vi-VN"/>
              <a:t> tập trung vào việc </a:t>
            </a:r>
            <a:r>
              <a:rPr lang="vi-VN" b="1"/>
              <a:t>thực hiện công việc</a:t>
            </a:r>
            <a:r>
              <a:rPr lang="vi-VN"/>
              <a:t>.</a:t>
            </a:r>
          </a:p>
          <a:p>
            <a:r>
              <a:rPr lang="vi-VN"/>
              <a:t>Mỗi vai trò đều bổ sung cho nhau, tạo nên một quy trình làm việc linh hoạt và tối ưu hóa giá trị của sản phẩm.</a:t>
            </a:r>
          </a:p>
          <a:p>
            <a:endParaRPr lang="en-US"/>
          </a:p>
        </p:txBody>
      </p:sp>
    </p:spTree>
    <p:extLst>
      <p:ext uri="{BB962C8B-B14F-4D97-AF65-F5344CB8AC3E}">
        <p14:creationId xmlns:p14="http://schemas.microsoft.com/office/powerpoint/2010/main" val="308970937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r>
              <a:rPr lang="vi-VN" b="1"/>
              <a:t>1. Product Owner (Chủ sở hữu sản phẩm)</a:t>
            </a:r>
          </a:p>
          <a:p>
            <a:pPr>
              <a:buFont typeface="Arial" panose="020B0604020202020204" pitchFamily="34" charset="0"/>
              <a:buChar char="•"/>
            </a:pPr>
            <a:r>
              <a:rPr lang="vi-VN" b="1"/>
              <a:t>Vai trò</a:t>
            </a:r>
            <a:r>
              <a:rPr lang="vi-VN"/>
              <a:t>:</a:t>
            </a:r>
          </a:p>
          <a:p>
            <a:pPr marL="742950" lvl="1" indent="-285750">
              <a:buFont typeface="Arial" panose="020B0604020202020204" pitchFamily="34" charset="0"/>
              <a:buChar char="•"/>
            </a:pPr>
            <a:r>
              <a:rPr lang="vi-VN"/>
              <a:t>Là người chịu trách nhiệm về </a:t>
            </a:r>
            <a:r>
              <a:rPr lang="vi-VN" b="1"/>
              <a:t>Product Backlog</a:t>
            </a:r>
            <a:r>
              <a:rPr lang="vi-VN"/>
              <a:t>, đảm bảo rằng nó được ưu tiên rõ ràng và phản ánh đúng nhu cầu của khách hàng và các bên liên quan.</a:t>
            </a:r>
          </a:p>
          <a:p>
            <a:pPr marL="742950" lvl="1" indent="-285750">
              <a:buFont typeface="Arial" panose="020B0604020202020204" pitchFamily="34" charset="0"/>
              <a:buChar char="•"/>
            </a:pPr>
            <a:r>
              <a:rPr lang="vi-VN"/>
              <a:t>Đóng vai trò là </a:t>
            </a:r>
            <a:r>
              <a:rPr lang="vi-VN" b="1"/>
              <a:t>tiếng nói của khách hàng</a:t>
            </a:r>
            <a:r>
              <a:rPr lang="vi-VN"/>
              <a:t>, quyết định những gì đội nhóm sẽ thực hiện trong Sprint.</a:t>
            </a:r>
          </a:p>
          <a:p>
            <a:pPr marL="742950" lvl="1" indent="-285750">
              <a:buFont typeface="Arial" panose="020B0604020202020204" pitchFamily="34" charset="0"/>
              <a:buChar char="•"/>
            </a:pPr>
            <a:r>
              <a:rPr lang="vi-VN"/>
              <a:t>Cung cấp thông tin phản hồi và yêu cầu từ các bên liên quan để tối ưu hóa giá trị của sản phẩm.</a:t>
            </a:r>
          </a:p>
          <a:p>
            <a:pPr>
              <a:buFont typeface="Arial" panose="020B0604020202020204" pitchFamily="34" charset="0"/>
              <a:buChar char="•"/>
            </a:pPr>
            <a:r>
              <a:rPr lang="vi-VN" b="1"/>
              <a:t>Nhiệm vụ chính</a:t>
            </a:r>
            <a:r>
              <a:rPr lang="vi-VN"/>
              <a:t>:</a:t>
            </a:r>
          </a:p>
          <a:p>
            <a:pPr marL="742950" lvl="1" indent="-285750">
              <a:buFont typeface="Arial" panose="020B0604020202020204" pitchFamily="34" charset="0"/>
              <a:buChar char="•"/>
            </a:pPr>
            <a:r>
              <a:rPr lang="vi-VN"/>
              <a:t>Xác định tầm nhìn sản phẩm.</a:t>
            </a:r>
          </a:p>
          <a:p>
            <a:pPr marL="742950" lvl="1" indent="-285750">
              <a:buFont typeface="Arial" panose="020B0604020202020204" pitchFamily="34" charset="0"/>
              <a:buChar char="•"/>
            </a:pPr>
            <a:r>
              <a:rPr lang="vi-VN"/>
              <a:t>Quản lý và sắp xếp thứ tự ưu tiên các công việc (backlog items).</a:t>
            </a:r>
          </a:p>
          <a:p>
            <a:pPr marL="742950" lvl="1" indent="-285750">
              <a:buFont typeface="Arial" panose="020B0604020202020204" pitchFamily="34" charset="0"/>
              <a:buChar char="•"/>
            </a:pPr>
            <a:r>
              <a:rPr lang="vi-VN"/>
              <a:t>Đưa ra các quyết định nhanh chóng để đảm bảo tiến độ.</a:t>
            </a:r>
          </a:p>
          <a:p>
            <a:pPr>
              <a:buFont typeface="Arial" panose="020B0604020202020204" pitchFamily="34" charset="0"/>
              <a:buChar char="•"/>
            </a:pPr>
            <a:r>
              <a:rPr lang="vi-VN" b="1"/>
              <a:t>Kỹ năng quan trọng</a:t>
            </a:r>
            <a:r>
              <a:rPr lang="vi-VN"/>
              <a:t>:</a:t>
            </a:r>
          </a:p>
          <a:p>
            <a:pPr marL="742950" lvl="1" indent="-285750">
              <a:buFont typeface="Arial" panose="020B0604020202020204" pitchFamily="34" charset="0"/>
              <a:buChar char="•"/>
            </a:pPr>
            <a:r>
              <a:rPr lang="vi-VN"/>
              <a:t>Giao tiếp tốt.</a:t>
            </a:r>
          </a:p>
          <a:p>
            <a:pPr marL="742950" lvl="1" indent="-285750">
              <a:buFont typeface="Arial" panose="020B0604020202020204" pitchFamily="34" charset="0"/>
              <a:buChar char="•"/>
            </a:pPr>
            <a:r>
              <a:rPr lang="vi-VN"/>
              <a:t>Hiểu biết sâu về khách hàng và thị trường.</a:t>
            </a:r>
          </a:p>
          <a:p>
            <a:endParaRPr lang="en-US"/>
          </a:p>
        </p:txBody>
      </p:sp>
    </p:spTree>
    <p:extLst>
      <p:ext uri="{BB962C8B-B14F-4D97-AF65-F5344CB8AC3E}">
        <p14:creationId xmlns:p14="http://schemas.microsoft.com/office/powerpoint/2010/main" val="286401621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r>
              <a:rPr lang="vi-VN" b="1"/>
              <a:t>1. Product Owner (Chủ sở hữu sản phẩm)</a:t>
            </a:r>
          </a:p>
          <a:p>
            <a:pPr>
              <a:buFont typeface="Arial" panose="020B0604020202020204" pitchFamily="34" charset="0"/>
              <a:buChar char="•"/>
            </a:pPr>
            <a:r>
              <a:rPr lang="vi-VN" b="1"/>
              <a:t>Vai trò</a:t>
            </a:r>
            <a:r>
              <a:rPr lang="vi-VN"/>
              <a:t>:</a:t>
            </a:r>
          </a:p>
          <a:p>
            <a:pPr marL="742950" lvl="1" indent="-285750">
              <a:buFont typeface="Arial" panose="020B0604020202020204" pitchFamily="34" charset="0"/>
              <a:buChar char="•"/>
            </a:pPr>
            <a:r>
              <a:rPr lang="vi-VN"/>
              <a:t>Là người chịu trách nhiệm về </a:t>
            </a:r>
            <a:r>
              <a:rPr lang="vi-VN" b="1"/>
              <a:t>Product Backlog</a:t>
            </a:r>
            <a:r>
              <a:rPr lang="vi-VN"/>
              <a:t>, đảm bảo rằng nó được ưu tiên rõ ràng và phản ánh đúng nhu cầu của khách hàng và các bên liên quan.</a:t>
            </a:r>
          </a:p>
          <a:p>
            <a:pPr marL="742950" lvl="1" indent="-285750">
              <a:buFont typeface="Arial" panose="020B0604020202020204" pitchFamily="34" charset="0"/>
              <a:buChar char="•"/>
            </a:pPr>
            <a:r>
              <a:rPr lang="vi-VN"/>
              <a:t>Đóng vai trò là </a:t>
            </a:r>
            <a:r>
              <a:rPr lang="vi-VN" b="1"/>
              <a:t>tiếng nói của khách hàng</a:t>
            </a:r>
            <a:r>
              <a:rPr lang="vi-VN"/>
              <a:t>, quyết định những gì đội nhóm sẽ thực hiện trong Sprint.</a:t>
            </a:r>
          </a:p>
          <a:p>
            <a:pPr marL="742950" lvl="1" indent="-285750">
              <a:buFont typeface="Arial" panose="020B0604020202020204" pitchFamily="34" charset="0"/>
              <a:buChar char="•"/>
            </a:pPr>
            <a:r>
              <a:rPr lang="vi-VN"/>
              <a:t>Cung cấp thông tin phản hồi và yêu cầu từ các bên liên quan để tối ưu hóa giá trị của sản phẩm.</a:t>
            </a:r>
          </a:p>
          <a:p>
            <a:pPr>
              <a:buFont typeface="Arial" panose="020B0604020202020204" pitchFamily="34" charset="0"/>
              <a:buChar char="•"/>
            </a:pPr>
            <a:r>
              <a:rPr lang="vi-VN" b="1"/>
              <a:t>Nhiệm vụ chính</a:t>
            </a:r>
            <a:r>
              <a:rPr lang="vi-VN"/>
              <a:t>:</a:t>
            </a:r>
          </a:p>
          <a:p>
            <a:pPr marL="742950" lvl="1" indent="-285750">
              <a:buFont typeface="Arial" panose="020B0604020202020204" pitchFamily="34" charset="0"/>
              <a:buChar char="•"/>
            </a:pPr>
            <a:r>
              <a:rPr lang="vi-VN"/>
              <a:t>Xác định tầm nhìn sản phẩm.</a:t>
            </a:r>
          </a:p>
          <a:p>
            <a:pPr marL="742950" lvl="1" indent="-285750">
              <a:buFont typeface="Arial" panose="020B0604020202020204" pitchFamily="34" charset="0"/>
              <a:buChar char="•"/>
            </a:pPr>
            <a:r>
              <a:rPr lang="vi-VN"/>
              <a:t>Quản lý và sắp xếp thứ tự ưu tiên các công việc (backlog items).</a:t>
            </a:r>
          </a:p>
          <a:p>
            <a:pPr marL="742950" lvl="1" indent="-285750">
              <a:buFont typeface="Arial" panose="020B0604020202020204" pitchFamily="34" charset="0"/>
              <a:buChar char="•"/>
            </a:pPr>
            <a:r>
              <a:rPr lang="vi-VN"/>
              <a:t>Đưa ra các quyết định nhanh chóng để đảm bảo tiến độ.</a:t>
            </a:r>
          </a:p>
          <a:p>
            <a:pPr>
              <a:buFont typeface="Arial" panose="020B0604020202020204" pitchFamily="34" charset="0"/>
              <a:buChar char="•"/>
            </a:pPr>
            <a:r>
              <a:rPr lang="vi-VN" b="1"/>
              <a:t>Kỹ năng quan trọng</a:t>
            </a:r>
            <a:r>
              <a:rPr lang="vi-VN"/>
              <a:t>:</a:t>
            </a:r>
          </a:p>
          <a:p>
            <a:pPr marL="742950" lvl="1" indent="-285750">
              <a:buFont typeface="Arial" panose="020B0604020202020204" pitchFamily="34" charset="0"/>
              <a:buChar char="•"/>
            </a:pPr>
            <a:r>
              <a:rPr lang="vi-VN"/>
              <a:t>Giao tiếp tốt.</a:t>
            </a:r>
          </a:p>
          <a:p>
            <a:pPr marL="742950" lvl="1" indent="-285750">
              <a:buFont typeface="Arial" panose="020B0604020202020204" pitchFamily="34" charset="0"/>
              <a:buChar char="•"/>
            </a:pPr>
            <a:r>
              <a:rPr lang="vi-VN"/>
              <a:t>Hiểu biết sâu về khách hàng và thị trường.</a:t>
            </a:r>
          </a:p>
          <a:p>
            <a:endParaRPr lang="en-US"/>
          </a:p>
        </p:txBody>
      </p:sp>
    </p:spTree>
    <p:extLst>
      <p:ext uri="{BB962C8B-B14F-4D97-AF65-F5344CB8AC3E}">
        <p14:creationId xmlns:p14="http://schemas.microsoft.com/office/powerpoint/2010/main" val="395316059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r>
              <a:rPr lang="vi-VN" b="1"/>
              <a:t>1. Product Owner (Chủ sở hữu sản phẩm)</a:t>
            </a:r>
          </a:p>
          <a:p>
            <a:pPr>
              <a:buFont typeface="Arial" panose="020B0604020202020204" pitchFamily="34" charset="0"/>
              <a:buChar char="•"/>
            </a:pPr>
            <a:r>
              <a:rPr lang="vi-VN" b="1"/>
              <a:t>Vai trò</a:t>
            </a:r>
            <a:r>
              <a:rPr lang="vi-VN"/>
              <a:t>:</a:t>
            </a:r>
          </a:p>
          <a:p>
            <a:pPr marL="742950" lvl="1" indent="-285750">
              <a:buFont typeface="Arial" panose="020B0604020202020204" pitchFamily="34" charset="0"/>
              <a:buChar char="•"/>
            </a:pPr>
            <a:r>
              <a:rPr lang="vi-VN"/>
              <a:t>Là người chịu trách nhiệm về </a:t>
            </a:r>
            <a:r>
              <a:rPr lang="vi-VN" b="1"/>
              <a:t>Product Backlog</a:t>
            </a:r>
            <a:r>
              <a:rPr lang="vi-VN"/>
              <a:t>, đảm bảo rằng nó được ưu tiên rõ ràng và phản ánh đúng nhu cầu của khách hàng và các bên liên quan.</a:t>
            </a:r>
          </a:p>
          <a:p>
            <a:pPr marL="742950" lvl="1" indent="-285750">
              <a:buFont typeface="Arial" panose="020B0604020202020204" pitchFamily="34" charset="0"/>
              <a:buChar char="•"/>
            </a:pPr>
            <a:r>
              <a:rPr lang="vi-VN"/>
              <a:t>Đóng vai trò là </a:t>
            </a:r>
            <a:r>
              <a:rPr lang="vi-VN" b="1"/>
              <a:t>tiếng nói của khách hàng</a:t>
            </a:r>
            <a:r>
              <a:rPr lang="vi-VN"/>
              <a:t>, quyết định những gì đội nhóm sẽ thực hiện trong Sprint.</a:t>
            </a:r>
          </a:p>
          <a:p>
            <a:pPr marL="742950" lvl="1" indent="-285750">
              <a:buFont typeface="Arial" panose="020B0604020202020204" pitchFamily="34" charset="0"/>
              <a:buChar char="•"/>
            </a:pPr>
            <a:r>
              <a:rPr lang="vi-VN"/>
              <a:t>Cung cấp thông tin phản hồi và yêu cầu từ các bên liên quan để tối ưu hóa giá trị của sản phẩm.</a:t>
            </a:r>
          </a:p>
          <a:p>
            <a:pPr>
              <a:buFont typeface="Arial" panose="020B0604020202020204" pitchFamily="34" charset="0"/>
              <a:buChar char="•"/>
            </a:pPr>
            <a:r>
              <a:rPr lang="vi-VN" b="1"/>
              <a:t>Nhiệm vụ chính</a:t>
            </a:r>
            <a:r>
              <a:rPr lang="vi-VN"/>
              <a:t>:</a:t>
            </a:r>
          </a:p>
          <a:p>
            <a:pPr marL="742950" lvl="1" indent="-285750">
              <a:buFont typeface="Arial" panose="020B0604020202020204" pitchFamily="34" charset="0"/>
              <a:buChar char="•"/>
            </a:pPr>
            <a:r>
              <a:rPr lang="vi-VN"/>
              <a:t>Xác định tầm nhìn sản phẩm.</a:t>
            </a:r>
          </a:p>
          <a:p>
            <a:pPr marL="742950" lvl="1" indent="-285750">
              <a:buFont typeface="Arial" panose="020B0604020202020204" pitchFamily="34" charset="0"/>
              <a:buChar char="•"/>
            </a:pPr>
            <a:r>
              <a:rPr lang="vi-VN"/>
              <a:t>Quản lý và sắp xếp thứ tự ưu tiên các công việc (backlog items).</a:t>
            </a:r>
          </a:p>
          <a:p>
            <a:pPr marL="742950" lvl="1" indent="-285750">
              <a:buFont typeface="Arial" panose="020B0604020202020204" pitchFamily="34" charset="0"/>
              <a:buChar char="•"/>
            </a:pPr>
            <a:r>
              <a:rPr lang="vi-VN"/>
              <a:t>Đưa ra các quyết định nhanh chóng để đảm bảo tiến độ.</a:t>
            </a:r>
          </a:p>
          <a:p>
            <a:pPr>
              <a:buFont typeface="Arial" panose="020B0604020202020204" pitchFamily="34" charset="0"/>
              <a:buChar char="•"/>
            </a:pPr>
            <a:r>
              <a:rPr lang="vi-VN" b="1"/>
              <a:t>Kỹ năng quan trọng</a:t>
            </a:r>
            <a:r>
              <a:rPr lang="vi-VN"/>
              <a:t>:</a:t>
            </a:r>
          </a:p>
          <a:p>
            <a:pPr marL="742950" lvl="1" indent="-285750">
              <a:buFont typeface="Arial" panose="020B0604020202020204" pitchFamily="34" charset="0"/>
              <a:buChar char="•"/>
            </a:pPr>
            <a:r>
              <a:rPr lang="vi-VN"/>
              <a:t>Giao tiếp tốt.</a:t>
            </a:r>
          </a:p>
          <a:p>
            <a:pPr marL="742950" lvl="1" indent="-285750">
              <a:buFont typeface="Arial" panose="020B0604020202020204" pitchFamily="34" charset="0"/>
              <a:buChar char="•"/>
            </a:pPr>
            <a:r>
              <a:rPr lang="vi-VN"/>
              <a:t>Hiểu biết sâu về khách hàng và thị trường.</a:t>
            </a:r>
          </a:p>
          <a:p>
            <a:endParaRPr lang="en-US"/>
          </a:p>
        </p:txBody>
      </p:sp>
    </p:spTree>
    <p:extLst>
      <p:ext uri="{BB962C8B-B14F-4D97-AF65-F5344CB8AC3E}">
        <p14:creationId xmlns:p14="http://schemas.microsoft.com/office/powerpoint/2010/main" val="307850279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r>
              <a:rPr lang="vi-VN" b="1"/>
              <a:t>2. Scrum Master (Người dẫn dắt Scrum)</a:t>
            </a:r>
          </a:p>
          <a:p>
            <a:pPr>
              <a:buFont typeface="Arial" panose="020B0604020202020204" pitchFamily="34" charset="0"/>
              <a:buChar char="•"/>
            </a:pPr>
            <a:r>
              <a:rPr lang="vi-VN" b="1"/>
              <a:t>Vai trò</a:t>
            </a:r>
            <a:r>
              <a:rPr lang="vi-VN"/>
              <a:t>:</a:t>
            </a:r>
          </a:p>
          <a:p>
            <a:pPr marL="742950" lvl="1" indent="-285750">
              <a:buFont typeface="Arial" panose="020B0604020202020204" pitchFamily="34" charset="0"/>
              <a:buChar char="•"/>
            </a:pPr>
            <a:r>
              <a:rPr lang="vi-VN"/>
              <a:t>Là </a:t>
            </a:r>
            <a:r>
              <a:rPr lang="vi-VN" b="1"/>
              <a:t>người hỗ trợ</a:t>
            </a:r>
            <a:r>
              <a:rPr lang="vi-VN"/>
              <a:t> và </a:t>
            </a:r>
            <a:r>
              <a:rPr lang="vi-VN" b="1"/>
              <a:t>điều phối</a:t>
            </a:r>
            <a:r>
              <a:rPr lang="vi-VN"/>
              <a:t> cho cả đội Scrum, giúp đội nhóm tuân thủ các nguyên tắc và giá trị của Scrum.</a:t>
            </a:r>
          </a:p>
          <a:p>
            <a:pPr marL="742950" lvl="1" indent="-285750">
              <a:buFont typeface="Arial" panose="020B0604020202020204" pitchFamily="34" charset="0"/>
              <a:buChar char="•"/>
            </a:pPr>
            <a:r>
              <a:rPr lang="vi-VN"/>
              <a:t>Xóa bỏ các rào cản ảnh hưởng đến tiến độ làm việc của đội nhóm.</a:t>
            </a:r>
          </a:p>
          <a:p>
            <a:pPr marL="742950" lvl="1" indent="-285750">
              <a:buFont typeface="Arial" panose="020B0604020202020204" pitchFamily="34" charset="0"/>
              <a:buChar char="•"/>
            </a:pPr>
            <a:r>
              <a:rPr lang="vi-VN"/>
              <a:t>Đào tạo và hướng dẫn đội nhóm về các phương pháp Agile/Scrum.</a:t>
            </a:r>
          </a:p>
          <a:p>
            <a:pPr>
              <a:buFont typeface="Arial" panose="020B0604020202020204" pitchFamily="34" charset="0"/>
              <a:buChar char="•"/>
            </a:pPr>
            <a:r>
              <a:rPr lang="vi-VN" b="1"/>
              <a:t>Nhiệm vụ chính</a:t>
            </a:r>
            <a:r>
              <a:rPr lang="vi-VN"/>
              <a:t>:</a:t>
            </a:r>
          </a:p>
          <a:p>
            <a:pPr marL="742950" lvl="1" indent="-285750">
              <a:buFont typeface="Arial" panose="020B0604020202020204" pitchFamily="34" charset="0"/>
              <a:buChar char="•"/>
            </a:pPr>
            <a:r>
              <a:rPr lang="vi-VN"/>
              <a:t>Tổ chức và dẫn dắt các sự kiện Scrum (Sprint Planning, Daily Scrum, Sprint Review, Sprint Retrospective).</a:t>
            </a:r>
          </a:p>
          <a:p>
            <a:pPr marL="742950" lvl="1" indent="-285750">
              <a:buFont typeface="Arial" panose="020B0604020202020204" pitchFamily="34" charset="0"/>
              <a:buChar char="•"/>
            </a:pPr>
            <a:r>
              <a:rPr lang="vi-VN"/>
              <a:t>Hỗ trợ đội nhóm tự quản lý và cải tiến quy trình làm việc.</a:t>
            </a:r>
          </a:p>
          <a:p>
            <a:pPr marL="742950" lvl="1" indent="-285750">
              <a:buFont typeface="Arial" panose="020B0604020202020204" pitchFamily="34" charset="0"/>
              <a:buChar char="•"/>
            </a:pPr>
            <a:r>
              <a:rPr lang="vi-VN"/>
              <a:t>Tạo điều kiện cho sự hợp tác giữa các thành viên trong đội nhóm.</a:t>
            </a:r>
          </a:p>
          <a:p>
            <a:pPr>
              <a:buFont typeface="Arial" panose="020B0604020202020204" pitchFamily="34" charset="0"/>
              <a:buChar char="•"/>
            </a:pPr>
            <a:r>
              <a:rPr lang="vi-VN" b="1"/>
              <a:t>Kỹ năng quan trọng</a:t>
            </a:r>
            <a:r>
              <a:rPr lang="vi-VN"/>
              <a:t>:</a:t>
            </a:r>
          </a:p>
          <a:p>
            <a:pPr marL="742950" lvl="1" indent="-285750">
              <a:buFont typeface="Arial" panose="020B0604020202020204" pitchFamily="34" charset="0"/>
              <a:buChar char="•"/>
            </a:pPr>
            <a:r>
              <a:rPr lang="vi-VN"/>
              <a:t>Khả năng lãnh đạo phục vụ (servant leadership).</a:t>
            </a:r>
          </a:p>
          <a:p>
            <a:pPr marL="742950" lvl="1" indent="-285750">
              <a:buFont typeface="Arial" panose="020B0604020202020204" pitchFamily="34" charset="0"/>
              <a:buChar char="•"/>
            </a:pPr>
            <a:r>
              <a:rPr lang="vi-VN"/>
              <a:t>Kỹ năng giải quyết vấn đề và loại bỏ trở ngại.</a:t>
            </a:r>
            <a:endParaRPr lang="en-US"/>
          </a:p>
        </p:txBody>
      </p:sp>
    </p:spTree>
    <p:extLst>
      <p:ext uri="{BB962C8B-B14F-4D97-AF65-F5344CB8AC3E}">
        <p14:creationId xmlns:p14="http://schemas.microsoft.com/office/powerpoint/2010/main" val="337450630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pPr>
              <a:buFont typeface="Arial" panose="020B0604020202020204" pitchFamily="34" charset="0"/>
              <a:buChar char="•"/>
            </a:pPr>
            <a:r>
              <a:rPr lang="vi-VN" b="1"/>
              <a:t>Nhiệm vụ chính</a:t>
            </a:r>
            <a:r>
              <a:rPr lang="vi-VN"/>
              <a:t>:</a:t>
            </a:r>
          </a:p>
          <a:p>
            <a:pPr marL="742950" lvl="1" indent="-285750">
              <a:buFont typeface="Arial" panose="020B0604020202020204" pitchFamily="34" charset="0"/>
              <a:buChar char="•"/>
            </a:pPr>
            <a:r>
              <a:rPr lang="vi-VN"/>
              <a:t>Tổ chức và dẫn dắt các sự kiện Scrum (Sprint Planning, Daily Scrum, Sprint Review, Sprint Retrospective).</a:t>
            </a:r>
          </a:p>
          <a:p>
            <a:pPr marL="742950" lvl="1" indent="-285750">
              <a:buFont typeface="Arial" panose="020B0604020202020204" pitchFamily="34" charset="0"/>
              <a:buChar char="•"/>
            </a:pPr>
            <a:r>
              <a:rPr lang="vi-VN"/>
              <a:t>Hỗ trợ đội nhóm tự quản lý và cải tiến quy trình làm việc.</a:t>
            </a:r>
          </a:p>
        </p:txBody>
      </p:sp>
    </p:spTree>
    <p:extLst>
      <p:ext uri="{BB962C8B-B14F-4D97-AF65-F5344CB8AC3E}">
        <p14:creationId xmlns:p14="http://schemas.microsoft.com/office/powerpoint/2010/main" val="249519904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pPr>
              <a:buFont typeface="Arial" panose="020B0604020202020204" pitchFamily="34" charset="0"/>
              <a:buChar char="•"/>
            </a:pPr>
            <a:r>
              <a:rPr lang="vi-VN" b="1"/>
              <a:t>Kỹ năng quan trọng</a:t>
            </a:r>
            <a:r>
              <a:rPr lang="vi-VN"/>
              <a:t>:</a:t>
            </a:r>
          </a:p>
          <a:p>
            <a:pPr marL="742950" lvl="1" indent="-285750">
              <a:buFont typeface="Arial" panose="020B0604020202020204" pitchFamily="34" charset="0"/>
              <a:buChar char="•"/>
            </a:pPr>
            <a:r>
              <a:rPr lang="vi-VN"/>
              <a:t>Khả năng lãnh đạo phục vụ (servant leadership).</a:t>
            </a:r>
          </a:p>
          <a:p>
            <a:pPr marL="742950" lvl="1" indent="-285750">
              <a:buFont typeface="Arial" panose="020B0604020202020204" pitchFamily="34" charset="0"/>
              <a:buChar char="•"/>
            </a:pPr>
            <a:r>
              <a:rPr lang="vi-VN"/>
              <a:t>Kỹ năng giải quyết vấn đề và loại bỏ trở ngại.</a:t>
            </a:r>
            <a:endParaRPr lang="en-US"/>
          </a:p>
        </p:txBody>
      </p:sp>
    </p:spTree>
    <p:extLst>
      <p:ext uri="{BB962C8B-B14F-4D97-AF65-F5344CB8AC3E}">
        <p14:creationId xmlns:p14="http://schemas.microsoft.com/office/powerpoint/2010/main" val="337686376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r>
              <a:rPr lang="vi-VN" b="1"/>
              <a:t>3. Development Team (Nhóm phát triển)</a:t>
            </a:r>
          </a:p>
          <a:p>
            <a:pPr>
              <a:buFont typeface="Arial" panose="020B0604020202020204" pitchFamily="34" charset="0"/>
              <a:buChar char="•"/>
            </a:pPr>
            <a:r>
              <a:rPr lang="vi-VN" b="1"/>
              <a:t>Vai trò</a:t>
            </a:r>
            <a:r>
              <a:rPr lang="vi-VN"/>
              <a:t>:</a:t>
            </a:r>
          </a:p>
          <a:p>
            <a:pPr marL="742950" lvl="1" indent="-285750">
              <a:buFont typeface="Arial" panose="020B0604020202020204" pitchFamily="34" charset="0"/>
              <a:buChar char="•"/>
            </a:pPr>
            <a:r>
              <a:rPr lang="vi-VN"/>
              <a:t>Là một đội ngũ </a:t>
            </a:r>
            <a:r>
              <a:rPr lang="vi-VN" b="1"/>
              <a:t>chức năng chéo</a:t>
            </a:r>
            <a:r>
              <a:rPr lang="vi-VN"/>
              <a:t> chịu trách nhiệm trực tiếp thực hiện công việc để tạo ra </a:t>
            </a:r>
            <a:r>
              <a:rPr lang="vi-VN" b="1"/>
              <a:t>Product Increment</a:t>
            </a:r>
            <a:r>
              <a:rPr lang="vi-VN"/>
              <a:t> (phần hoàn thiện của sản phẩm) trong mỗi Sprint.</a:t>
            </a:r>
          </a:p>
          <a:p>
            <a:pPr marL="742950" lvl="1" indent="-285750">
              <a:buFont typeface="Arial" panose="020B0604020202020204" pitchFamily="34" charset="0"/>
              <a:buChar char="•"/>
            </a:pPr>
            <a:r>
              <a:rPr lang="vi-VN"/>
              <a:t>Tự tổ chức và quyết định cách hoàn thành công việc được giao.</a:t>
            </a:r>
          </a:p>
          <a:p>
            <a:pPr marL="742950" lvl="1" indent="-285750">
              <a:buFont typeface="Arial" panose="020B0604020202020204" pitchFamily="34" charset="0"/>
              <a:buChar char="•"/>
            </a:pPr>
            <a:r>
              <a:rPr lang="vi-VN"/>
              <a:t>Đảm bảo chất lượng sản phẩm thông qua sự hợp tác và cải tiến liên tục.</a:t>
            </a:r>
          </a:p>
          <a:p>
            <a:pPr>
              <a:buFont typeface="Arial" panose="020B0604020202020204" pitchFamily="34" charset="0"/>
              <a:buChar char="•"/>
            </a:pPr>
            <a:r>
              <a:rPr lang="vi-VN" b="1"/>
              <a:t>Nhiệm vụ chính</a:t>
            </a:r>
            <a:r>
              <a:rPr lang="vi-VN"/>
              <a:t>:</a:t>
            </a:r>
          </a:p>
          <a:p>
            <a:pPr marL="742950" lvl="1" indent="-285750">
              <a:buFont typeface="Arial" panose="020B0604020202020204" pitchFamily="34" charset="0"/>
              <a:buChar char="•"/>
            </a:pPr>
            <a:r>
              <a:rPr lang="vi-VN"/>
              <a:t>Quản lý </a:t>
            </a:r>
            <a:r>
              <a:rPr lang="vi-VN" b="1"/>
              <a:t>Sprint Backlog</a:t>
            </a:r>
            <a:r>
              <a:rPr lang="vi-VN"/>
              <a:t> (danh sách công việc cần hoàn thành trong Sprint).</a:t>
            </a:r>
          </a:p>
          <a:p>
            <a:pPr marL="742950" lvl="1" indent="-285750">
              <a:buFont typeface="Arial" panose="020B0604020202020204" pitchFamily="34" charset="0"/>
              <a:buChar char="•"/>
            </a:pPr>
            <a:r>
              <a:rPr lang="vi-VN"/>
              <a:t>Xây dựng, phát triển, và kiểm tra các chức năng của sản phẩm.</a:t>
            </a:r>
          </a:p>
          <a:p>
            <a:pPr marL="742950" lvl="1" indent="-285750">
              <a:buFont typeface="Arial" panose="020B0604020202020204" pitchFamily="34" charset="0"/>
              <a:buChar char="•"/>
            </a:pPr>
            <a:r>
              <a:rPr lang="vi-VN"/>
              <a:t>Đóng góp vào việc cải thiện quy trình làm việc thông qua các buổi retrospective.</a:t>
            </a:r>
          </a:p>
          <a:p>
            <a:pPr>
              <a:buFont typeface="Arial" panose="020B0604020202020204" pitchFamily="34" charset="0"/>
              <a:buChar char="•"/>
            </a:pPr>
            <a:r>
              <a:rPr lang="vi-VN" b="1"/>
              <a:t>Kỹ năng quan trọng</a:t>
            </a:r>
            <a:r>
              <a:rPr lang="vi-VN"/>
              <a:t>:</a:t>
            </a:r>
          </a:p>
          <a:p>
            <a:pPr marL="742950" lvl="1" indent="-285750">
              <a:buFont typeface="Arial" panose="020B0604020202020204" pitchFamily="34" charset="0"/>
              <a:buChar char="•"/>
            </a:pPr>
            <a:r>
              <a:rPr lang="vi-VN"/>
              <a:t>Kỹ năng kỹ thuật chuyên sâu.</a:t>
            </a:r>
          </a:p>
          <a:p>
            <a:pPr marL="742950" lvl="1" indent="-285750">
              <a:buFont typeface="Arial" panose="020B0604020202020204" pitchFamily="34" charset="0"/>
              <a:buChar char="•"/>
            </a:pPr>
            <a:r>
              <a:rPr lang="vi-VN"/>
              <a:t>Tinh thần làm việc nhóm và khả năng thích ứng.</a:t>
            </a:r>
          </a:p>
        </p:txBody>
      </p:sp>
    </p:spTree>
    <p:extLst>
      <p:ext uri="{BB962C8B-B14F-4D97-AF65-F5344CB8AC3E}">
        <p14:creationId xmlns:p14="http://schemas.microsoft.com/office/powerpoint/2010/main" val="39737599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r>
              <a:rPr lang="vi-VN" b="1"/>
              <a:t>Functional Development Team</a:t>
            </a:r>
            <a:r>
              <a:rPr lang="vi-VN"/>
              <a:t> (Đội phát triển chức năng) và </a:t>
            </a:r>
            <a:r>
              <a:rPr lang="vi-VN" b="1"/>
              <a:t>Cross-Functional Development Team</a:t>
            </a:r>
            <a:r>
              <a:rPr lang="vi-VN"/>
              <a:t> (Đội phát triển đa chức năng), cùng với lý do tại sao nên chọn đội phát triển đa chức năng</a:t>
            </a:r>
            <a:endParaRPr lang="en-US"/>
          </a:p>
          <a:p>
            <a:pPr marL="0" marR="0" lvl="0" indent="0" algn="l" defTabSz="914400" rtl="0" eaLnBrk="1" fontAlgn="auto" latinLnBrk="0" hangingPunct="1">
              <a:lnSpc>
                <a:spcPct val="100000"/>
              </a:lnSpc>
              <a:spcBef>
                <a:spcPts val="0"/>
              </a:spcBef>
              <a:spcAft>
                <a:spcPts val="0"/>
              </a:spcAft>
              <a:buClrTx/>
              <a:buSzTx/>
              <a:buFontTx/>
              <a:buNone/>
              <a:tabLst/>
              <a:defRPr/>
            </a:pPr>
            <a:r>
              <a:rPr lang="vi-VN"/>
              <a:t>Bảng này làm rõ lợi ích của đội phát triển đa chức năng, đặc biệt trong các dự án Agile, nơi cần sự phối hợp chặt chẽ và khả năng thích nghi cao. Đội phát triển chức năng phù hợp với các dự án truyền thống, nơi yêu cầu chuyên môn sâu.</a:t>
            </a:r>
            <a:endParaRPr lang="en-US" b="1"/>
          </a:p>
          <a:p>
            <a:r>
              <a:rPr lang="vi-VN" b="1"/>
              <a:t>1. Definition (Định nghĩa):</a:t>
            </a:r>
          </a:p>
          <a:p>
            <a:pPr>
              <a:buFont typeface="Arial" panose="020B0604020202020204" pitchFamily="34" charset="0"/>
              <a:buChar char="•"/>
            </a:pPr>
            <a:r>
              <a:rPr lang="vi-VN" b="1"/>
              <a:t>Functional Development Team:</a:t>
            </a:r>
            <a:r>
              <a:rPr lang="vi-VN"/>
              <a:t> Một đội mà các thành viên chỉ chuyên môn hóa vào một chức năng cụ thể (ví dụ: phát triển, kiểm thử, hoặc thiết kế).</a:t>
            </a:r>
          </a:p>
          <a:p>
            <a:pPr>
              <a:buFont typeface="Arial" panose="020B0604020202020204" pitchFamily="34" charset="0"/>
              <a:buChar char="•"/>
            </a:pPr>
            <a:r>
              <a:rPr lang="vi-VN" b="1"/>
              <a:t>Cross-Functional Development Team:</a:t>
            </a:r>
            <a:r>
              <a:rPr lang="vi-VN"/>
              <a:t> Một đội mà các thành viên có kỹ năng đa dạng, bao gồm nhiều chức năng (ví dụ: phát triển, kiểm thử, thiết kế, v.v.).</a:t>
            </a:r>
          </a:p>
          <a:p>
            <a:r>
              <a:rPr lang="vi-VN" b="1"/>
              <a:t>2. Skillset (Bộ kỹ năng):</a:t>
            </a:r>
          </a:p>
          <a:p>
            <a:pPr>
              <a:buFont typeface="Arial" panose="020B0604020202020204" pitchFamily="34" charset="0"/>
              <a:buChar char="•"/>
            </a:pPr>
            <a:r>
              <a:rPr lang="vi-VN" b="1"/>
              <a:t>Functional Development Team:</a:t>
            </a:r>
            <a:r>
              <a:rPr lang="vi-VN"/>
              <a:t> Chuyên môn hóa vào một lĩnh vực hoặc chuyên môn cụ thể.</a:t>
            </a:r>
          </a:p>
          <a:p>
            <a:pPr>
              <a:buFont typeface="Arial" panose="020B0604020202020204" pitchFamily="34" charset="0"/>
              <a:buChar char="•"/>
            </a:pPr>
            <a:r>
              <a:rPr lang="vi-VN" b="1"/>
              <a:t>Cross-Functional Development Team:</a:t>
            </a:r>
            <a:r>
              <a:rPr lang="vi-VN"/>
              <a:t> Có kỹ năng đa dạng, bao quát nhiều lĩnh vực, cho phép thực hiện công việc từ đầu đến cuối.</a:t>
            </a:r>
          </a:p>
          <a:p>
            <a:r>
              <a:rPr lang="vi-VN" b="1"/>
              <a:t>3. Collaboration (Hợp tác):</a:t>
            </a:r>
          </a:p>
          <a:p>
            <a:pPr>
              <a:buFont typeface="Arial" panose="020B0604020202020204" pitchFamily="34" charset="0"/>
              <a:buChar char="•"/>
            </a:pPr>
            <a:r>
              <a:rPr lang="vi-VN" b="1"/>
              <a:t>Functional Development Team:</a:t>
            </a:r>
            <a:r>
              <a:rPr lang="vi-VN"/>
              <a:t> Cần phối hợp với các đội chức năng khác để hoàn thành sản phẩm.</a:t>
            </a:r>
          </a:p>
          <a:p>
            <a:pPr>
              <a:buFont typeface="Arial" panose="020B0604020202020204" pitchFamily="34" charset="0"/>
              <a:buChar char="•"/>
            </a:pPr>
            <a:r>
              <a:rPr lang="vi-VN" b="1"/>
              <a:t>Cross-Functional Development Team:</a:t>
            </a:r>
            <a:r>
              <a:rPr lang="vi-VN"/>
              <a:t> Hợp tác diễn ra trong cùng một đội, giảm sự phụ thuộc vào các nhóm bên ngoài.</a:t>
            </a:r>
          </a:p>
          <a:p>
            <a:r>
              <a:rPr lang="vi-VN" b="1"/>
              <a:t>4. Flexibility (Tính linh hoạt):</a:t>
            </a:r>
          </a:p>
          <a:p>
            <a:pPr>
              <a:buFont typeface="Arial" panose="020B0604020202020204" pitchFamily="34" charset="0"/>
              <a:buChar char="•"/>
            </a:pPr>
            <a:r>
              <a:rPr lang="vi-VN" b="1"/>
              <a:t>Functional Development Team:</a:t>
            </a:r>
            <a:r>
              <a:rPr lang="vi-VN"/>
              <a:t> Hạn chế khả năng thích nghi do chỉ tập trung vào một chức năng cụ thể.</a:t>
            </a:r>
          </a:p>
          <a:p>
            <a:pPr>
              <a:buFont typeface="Arial" panose="020B0604020202020204" pitchFamily="34" charset="0"/>
              <a:buChar char="•"/>
            </a:pPr>
            <a:r>
              <a:rPr lang="vi-VN" b="1"/>
              <a:t>Cross-Functional Development Team:</a:t>
            </a:r>
            <a:r>
              <a:rPr lang="vi-VN"/>
              <a:t> Tính thích nghi cao; các thành viên có thể thực hiện các nhiệm vụ ngoài chuyên môn chính của họ.</a:t>
            </a:r>
          </a:p>
          <a:p>
            <a:r>
              <a:rPr lang="vi-VN" b="1"/>
              <a:t>5. Efficiency (Hiệu suất):</a:t>
            </a:r>
          </a:p>
          <a:p>
            <a:pPr>
              <a:buFont typeface="Arial" panose="020B0604020202020204" pitchFamily="34" charset="0"/>
              <a:buChar char="•"/>
            </a:pPr>
            <a:r>
              <a:rPr lang="vi-VN" b="1"/>
              <a:t>Functional Development Team:</a:t>
            </a:r>
            <a:r>
              <a:rPr lang="vi-VN"/>
              <a:t> Hiệu quả trong các nhiệm vụ đòi hỏi chuyên môn sâu.</a:t>
            </a:r>
          </a:p>
          <a:p>
            <a:pPr>
              <a:buFont typeface="Arial" panose="020B0604020202020204" pitchFamily="34" charset="0"/>
              <a:buChar char="•"/>
            </a:pPr>
            <a:r>
              <a:rPr lang="vi-VN" b="1"/>
              <a:t>Cross-Functional Development Team:</a:t>
            </a:r>
            <a:r>
              <a:rPr lang="vi-VN"/>
              <a:t> Hiệu quả hơn trong các môi trường Agile, nơi cần sự nhanh nhẹn và hợp tác cao.</a:t>
            </a:r>
          </a:p>
          <a:p>
            <a:r>
              <a:rPr lang="vi-VN" b="1"/>
              <a:t>6. Dependency (Sự phụ thuộc):</a:t>
            </a:r>
          </a:p>
          <a:p>
            <a:pPr>
              <a:buFont typeface="Arial" panose="020B0604020202020204" pitchFamily="34" charset="0"/>
              <a:buChar char="•"/>
            </a:pPr>
            <a:r>
              <a:rPr lang="vi-VN" b="1"/>
              <a:t>Functional Development Team:</a:t>
            </a:r>
            <a:r>
              <a:rPr lang="vi-VN"/>
              <a:t> Phụ thuộc nhiều vào các đội khác để tích hợp và hoàn thành công việc.</a:t>
            </a:r>
          </a:p>
          <a:p>
            <a:pPr>
              <a:buFont typeface="Arial" panose="020B0604020202020204" pitchFamily="34" charset="0"/>
              <a:buChar char="•"/>
            </a:pPr>
            <a:r>
              <a:rPr lang="vi-VN" b="1"/>
              <a:t>Cross-Functional Development Team:</a:t>
            </a:r>
            <a:r>
              <a:rPr lang="vi-VN"/>
              <a:t> Ít phụ thuộc; đội có thể hoàn thành một sản phẩm hoặc tính năng độc lập.</a:t>
            </a:r>
          </a:p>
          <a:p>
            <a:r>
              <a:rPr lang="vi-VN" b="1"/>
              <a:t>7. Ownership (Sở hữu công việc):</a:t>
            </a:r>
          </a:p>
          <a:p>
            <a:pPr>
              <a:buFont typeface="Arial" panose="020B0604020202020204" pitchFamily="34" charset="0"/>
              <a:buChar char="•"/>
            </a:pPr>
            <a:r>
              <a:rPr lang="vi-VN" b="1"/>
              <a:t>Functional Development Team:</a:t>
            </a:r>
            <a:r>
              <a:rPr lang="vi-VN"/>
              <a:t> Chỉ chịu trách nhiệm cho một phần của sản phẩm (ví dụ: phát triển hoặc kiểm thử).</a:t>
            </a:r>
          </a:p>
          <a:p>
            <a:pPr>
              <a:buFont typeface="Arial" panose="020B0604020202020204" pitchFamily="34" charset="0"/>
              <a:buChar char="•"/>
            </a:pPr>
            <a:r>
              <a:rPr lang="vi-VN" b="1"/>
              <a:t>Cross-Functional Development Team:</a:t>
            </a:r>
            <a:r>
              <a:rPr lang="vi-VN"/>
              <a:t> Chịu trách nhiệm toàn bộ sản phẩm hoặc tính năng.</a:t>
            </a:r>
          </a:p>
          <a:p>
            <a:r>
              <a:rPr lang="vi-VN" b="1"/>
              <a:t>8. Best Use Case (Trường hợp sử dụng tốt nhất):</a:t>
            </a:r>
          </a:p>
          <a:p>
            <a:pPr>
              <a:buFont typeface="Arial" panose="020B0604020202020204" pitchFamily="34" charset="0"/>
              <a:buChar char="•"/>
            </a:pPr>
            <a:r>
              <a:rPr lang="vi-VN" b="1"/>
              <a:t>Functional Development Team:</a:t>
            </a:r>
            <a:r>
              <a:rPr lang="vi-VN"/>
              <a:t> Phù hợp với các dự án truyền thống, quy mô lớn, nơi yêu cầu chuyên môn hóa cao.</a:t>
            </a:r>
          </a:p>
          <a:p>
            <a:pPr>
              <a:buFont typeface="Arial" panose="020B0604020202020204" pitchFamily="34" charset="0"/>
              <a:buChar char="•"/>
            </a:pPr>
            <a:r>
              <a:rPr lang="vi-VN" b="1"/>
              <a:t>Cross-Functional Development Team:</a:t>
            </a:r>
            <a:r>
              <a:rPr lang="vi-VN"/>
              <a:t> Lý tưởng cho các dự án Agile, nơi tốc độ phát triển và hợp tác là yếu tố then chốt.</a:t>
            </a:r>
          </a:p>
          <a:p>
            <a:r>
              <a:rPr lang="vi-VN" b="1"/>
              <a:t>9. Examples (Ví dụ):</a:t>
            </a:r>
          </a:p>
          <a:p>
            <a:pPr>
              <a:buFont typeface="Arial" panose="020B0604020202020204" pitchFamily="34" charset="0"/>
              <a:buChar char="•"/>
            </a:pPr>
            <a:r>
              <a:rPr lang="vi-VN" b="1"/>
              <a:t>Functional Development Team:</a:t>
            </a:r>
            <a:r>
              <a:rPr lang="vi-VN"/>
              <a:t> Các đội riêng biệt cho phát triển, kiểm thử, và thiết kế.</a:t>
            </a:r>
          </a:p>
          <a:p>
            <a:pPr>
              <a:buFont typeface="Arial" panose="020B0604020202020204" pitchFamily="34" charset="0"/>
              <a:buChar char="•"/>
            </a:pPr>
            <a:r>
              <a:rPr lang="vi-VN" b="1"/>
              <a:t>Cross-Functional Development Team:</a:t>
            </a:r>
            <a:r>
              <a:rPr lang="vi-VN"/>
              <a:t> Một đội duy nhất bao gồm nhà phát triển, kiểm thử viên, nhà thiết kế, và chuyên gia phân tích kinh doanh.</a:t>
            </a:r>
          </a:p>
          <a:p>
            <a:r>
              <a:rPr lang="vi-VN" b="1"/>
              <a:t>Kết luận:</a:t>
            </a:r>
          </a:p>
          <a:p>
            <a:endParaRPr lang="en-US"/>
          </a:p>
        </p:txBody>
      </p:sp>
    </p:spTree>
    <p:extLst>
      <p:ext uri="{BB962C8B-B14F-4D97-AF65-F5344CB8AC3E}">
        <p14:creationId xmlns:p14="http://schemas.microsoft.com/office/powerpoint/2010/main" val="268241197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r>
              <a:rPr lang="vi-VN" b="1" dirty="0" err="1"/>
              <a:t>Scrum</a:t>
            </a:r>
            <a:r>
              <a:rPr lang="vi-VN" b="1" dirty="0"/>
              <a:t> </a:t>
            </a:r>
            <a:r>
              <a:rPr lang="vi-VN" b="1" dirty="0" err="1"/>
              <a:t>Artifacts</a:t>
            </a:r>
            <a:r>
              <a:rPr lang="vi-VN" b="1" dirty="0"/>
              <a:t> là gì?</a:t>
            </a:r>
          </a:p>
          <a:p>
            <a:pPr>
              <a:buFont typeface="Arial" panose="020B0604020202020204" pitchFamily="34" charset="0"/>
              <a:buChar char="•"/>
            </a:pPr>
            <a:r>
              <a:rPr lang="vi-VN" b="1" dirty="0" err="1"/>
              <a:t>Scrum</a:t>
            </a:r>
            <a:r>
              <a:rPr lang="vi-VN" b="1" dirty="0"/>
              <a:t> </a:t>
            </a:r>
            <a:r>
              <a:rPr lang="vi-VN" b="1" dirty="0" err="1"/>
              <a:t>Artifacts</a:t>
            </a:r>
            <a:r>
              <a:rPr lang="vi-VN" dirty="0"/>
              <a:t> là các </a:t>
            </a:r>
            <a:r>
              <a:rPr lang="vi-VN" b="1" dirty="0"/>
              <a:t>thông tin</a:t>
            </a:r>
            <a:r>
              <a:rPr lang="vi-VN" dirty="0"/>
              <a:t> được sử dụng để:</a:t>
            </a:r>
          </a:p>
          <a:p>
            <a:pPr marL="742950" lvl="1" indent="-285750">
              <a:buFont typeface="Arial" panose="020B0604020202020204" pitchFamily="34" charset="0"/>
              <a:buChar char="•"/>
            </a:pPr>
            <a:r>
              <a:rPr lang="vi-VN" dirty="0"/>
              <a:t>Mô tả chi tiết sản phẩm đang được phát triển.</a:t>
            </a:r>
          </a:p>
          <a:p>
            <a:pPr marL="742950" lvl="1" indent="-285750">
              <a:buFont typeface="Arial" panose="020B0604020202020204" pitchFamily="34" charset="0"/>
              <a:buChar char="•"/>
            </a:pPr>
            <a:r>
              <a:rPr lang="vi-VN" dirty="0"/>
              <a:t>Xác định các hành động cần thực hiện để tạo ra sản phẩm.</a:t>
            </a:r>
          </a:p>
          <a:p>
            <a:pPr marL="742950" lvl="1" indent="-285750">
              <a:buFont typeface="Arial" panose="020B0604020202020204" pitchFamily="34" charset="0"/>
              <a:buChar char="•"/>
            </a:pPr>
            <a:r>
              <a:rPr lang="vi-VN" dirty="0"/>
              <a:t>Theo dõi các hành động đã thực hiện trong suốt dự án.</a:t>
            </a:r>
          </a:p>
          <a:p>
            <a:r>
              <a:rPr lang="vi-VN" b="1" dirty="0"/>
              <a:t>Các </a:t>
            </a:r>
            <a:r>
              <a:rPr lang="vi-VN" b="1" dirty="0" err="1"/>
              <a:t>Scrum</a:t>
            </a:r>
            <a:r>
              <a:rPr lang="vi-VN" b="1" dirty="0"/>
              <a:t> </a:t>
            </a:r>
            <a:r>
              <a:rPr lang="vi-VN" b="1" dirty="0" err="1"/>
              <a:t>Artifacts</a:t>
            </a:r>
            <a:r>
              <a:rPr lang="vi-VN" b="1" dirty="0"/>
              <a:t> chính:</a:t>
            </a:r>
          </a:p>
          <a:p>
            <a:pPr>
              <a:buFont typeface="+mj-lt"/>
              <a:buAutoNum type="arabicPeriod"/>
            </a:pPr>
            <a:r>
              <a:rPr lang="vi-VN" b="1" dirty="0" err="1"/>
              <a:t>Product</a:t>
            </a:r>
            <a:r>
              <a:rPr lang="vi-VN" b="1" dirty="0"/>
              <a:t> </a:t>
            </a:r>
            <a:r>
              <a:rPr lang="vi-VN" b="1" dirty="0" err="1"/>
              <a:t>Backlog</a:t>
            </a:r>
            <a:r>
              <a:rPr lang="vi-VN" b="1" dirty="0"/>
              <a:t> (Danh sách công việc của sản phẩm):</a:t>
            </a:r>
            <a:endParaRPr lang="vi-VN" dirty="0"/>
          </a:p>
          <a:p>
            <a:pPr marL="742950" lvl="1" indent="-285750">
              <a:buFont typeface="+mj-lt"/>
              <a:buAutoNum type="arabicPeriod"/>
            </a:pPr>
            <a:r>
              <a:rPr lang="vi-VN" dirty="0"/>
              <a:t>Tập hợp tất cả các yêu cầu, tính năng, hoặc cải tiến cần được hoàn thành cho sản phẩm.</a:t>
            </a:r>
          </a:p>
          <a:p>
            <a:pPr marL="742950" lvl="1" indent="-285750">
              <a:buFont typeface="+mj-lt"/>
              <a:buAutoNum type="arabicPeriod"/>
            </a:pPr>
            <a:r>
              <a:rPr lang="vi-VN" dirty="0"/>
              <a:t>Được quản lý bởi </a:t>
            </a:r>
            <a:r>
              <a:rPr lang="vi-VN" dirty="0" err="1"/>
              <a:t>Product</a:t>
            </a:r>
            <a:r>
              <a:rPr lang="vi-VN" dirty="0"/>
              <a:t> </a:t>
            </a:r>
            <a:r>
              <a:rPr lang="vi-VN" dirty="0" err="1"/>
              <a:t>Owner</a:t>
            </a:r>
            <a:r>
              <a:rPr lang="vi-VN" dirty="0"/>
              <a:t> và liên tục được ưu tiên và cập nhật.</a:t>
            </a:r>
          </a:p>
          <a:p>
            <a:pPr>
              <a:buFont typeface="+mj-lt"/>
              <a:buAutoNum type="arabicPeriod"/>
            </a:pPr>
            <a:r>
              <a:rPr lang="vi-VN" b="1" dirty="0" err="1"/>
              <a:t>Sprint</a:t>
            </a:r>
            <a:r>
              <a:rPr lang="vi-VN" b="1" dirty="0"/>
              <a:t> </a:t>
            </a:r>
            <a:r>
              <a:rPr lang="vi-VN" b="1" dirty="0" err="1"/>
              <a:t>Backlog</a:t>
            </a:r>
            <a:r>
              <a:rPr lang="vi-VN" b="1" dirty="0"/>
              <a:t> (Danh sách công việc của </a:t>
            </a:r>
            <a:r>
              <a:rPr lang="vi-VN" b="1" dirty="0" err="1"/>
              <a:t>Sprint</a:t>
            </a:r>
            <a:r>
              <a:rPr lang="vi-VN" b="1" dirty="0"/>
              <a:t>):</a:t>
            </a:r>
            <a:endParaRPr lang="vi-VN" dirty="0"/>
          </a:p>
          <a:p>
            <a:pPr marL="742950" lvl="1" indent="-285750">
              <a:buFont typeface="+mj-lt"/>
              <a:buAutoNum type="arabicPeriod"/>
            </a:pPr>
            <a:r>
              <a:rPr lang="vi-VN" dirty="0"/>
              <a:t>Một tập hợp các mục từ </a:t>
            </a:r>
            <a:r>
              <a:rPr lang="vi-VN" dirty="0" err="1"/>
              <a:t>Product</a:t>
            </a:r>
            <a:r>
              <a:rPr lang="vi-VN" dirty="0"/>
              <a:t> </a:t>
            </a:r>
            <a:r>
              <a:rPr lang="vi-VN" dirty="0" err="1"/>
              <a:t>Backlog</a:t>
            </a:r>
            <a:r>
              <a:rPr lang="vi-VN" dirty="0"/>
              <a:t> được chọn để thực hiện trong một </a:t>
            </a:r>
            <a:r>
              <a:rPr lang="vi-VN" dirty="0" err="1"/>
              <a:t>Sprint</a:t>
            </a:r>
            <a:r>
              <a:rPr lang="vi-VN" dirty="0"/>
              <a:t> (chu kỳ phát triển).</a:t>
            </a:r>
          </a:p>
          <a:p>
            <a:pPr marL="742950" lvl="1" indent="-285750">
              <a:buFont typeface="+mj-lt"/>
              <a:buAutoNum type="arabicPeriod"/>
            </a:pPr>
            <a:r>
              <a:rPr lang="vi-VN" dirty="0"/>
              <a:t>Là mục tiêu cụ thể mà nhóm phát triển sẽ hoàn thành trong </a:t>
            </a:r>
            <a:r>
              <a:rPr lang="vi-VN" dirty="0" err="1"/>
              <a:t>Sprint</a:t>
            </a:r>
            <a:r>
              <a:rPr lang="vi-VN" dirty="0"/>
              <a:t>.</a:t>
            </a:r>
          </a:p>
          <a:p>
            <a:pPr>
              <a:buFont typeface="+mj-lt"/>
              <a:buAutoNum type="arabicPeriod"/>
            </a:pPr>
            <a:r>
              <a:rPr lang="vi-VN" b="1" dirty="0" err="1"/>
              <a:t>Increment</a:t>
            </a:r>
            <a:r>
              <a:rPr lang="vi-VN" b="1" dirty="0"/>
              <a:t> (Gia tăng):</a:t>
            </a:r>
            <a:endParaRPr lang="vi-VN" dirty="0"/>
          </a:p>
          <a:p>
            <a:pPr marL="742950" lvl="1" indent="-285750">
              <a:buFont typeface="+mj-lt"/>
              <a:buAutoNum type="arabicPeriod"/>
            </a:pPr>
            <a:r>
              <a:rPr lang="vi-VN" dirty="0"/>
              <a:t>Là kết quả cụ thể của mỗi </a:t>
            </a:r>
            <a:r>
              <a:rPr lang="vi-VN" dirty="0" err="1"/>
              <a:t>Sprint</a:t>
            </a:r>
            <a:r>
              <a:rPr lang="vi-VN" dirty="0"/>
              <a:t>, thường là một phần chức năng hoàn chỉnh, có thể kiểm tra và sử dụng được.</a:t>
            </a:r>
          </a:p>
          <a:p>
            <a:pPr marL="742950" lvl="1" indent="-285750">
              <a:buFont typeface="+mj-lt"/>
              <a:buAutoNum type="arabicPeriod"/>
            </a:pPr>
            <a:r>
              <a:rPr lang="vi-VN" dirty="0"/>
              <a:t>Mỗi </a:t>
            </a:r>
            <a:r>
              <a:rPr lang="vi-VN" dirty="0" err="1"/>
              <a:t>Increment</a:t>
            </a:r>
            <a:r>
              <a:rPr lang="vi-VN" dirty="0"/>
              <a:t> đóng góp vào việc hoàn thiện sản phẩm cuối cùng.</a:t>
            </a:r>
          </a:p>
          <a:p>
            <a:r>
              <a:rPr lang="vi-VN" b="1" dirty="0"/>
              <a:t>Vòng lặp phản hồi (</a:t>
            </a:r>
            <a:r>
              <a:rPr lang="vi-VN" b="1" dirty="0" err="1"/>
              <a:t>Feedback</a:t>
            </a:r>
            <a:r>
              <a:rPr lang="vi-VN" b="1" dirty="0"/>
              <a:t> </a:t>
            </a:r>
            <a:r>
              <a:rPr lang="vi-VN" b="1" dirty="0" err="1"/>
              <a:t>Loop</a:t>
            </a:r>
            <a:r>
              <a:rPr lang="vi-VN" b="1" dirty="0"/>
              <a:t>):</a:t>
            </a:r>
          </a:p>
          <a:p>
            <a:pPr>
              <a:buFont typeface="Arial" panose="020B0604020202020204" pitchFamily="34" charset="0"/>
              <a:buChar char="•"/>
            </a:pPr>
            <a:r>
              <a:rPr lang="vi-VN" dirty="0"/>
              <a:t>Sơ đồ minh họa mối quan hệ giữa các </a:t>
            </a:r>
            <a:r>
              <a:rPr lang="vi-VN" dirty="0" err="1"/>
              <a:t>Scrum</a:t>
            </a:r>
            <a:r>
              <a:rPr lang="vi-VN" dirty="0"/>
              <a:t> </a:t>
            </a:r>
            <a:r>
              <a:rPr lang="vi-VN" dirty="0" err="1"/>
              <a:t>Artifacts</a:t>
            </a:r>
            <a:r>
              <a:rPr lang="vi-VN" dirty="0"/>
              <a:t>:</a:t>
            </a:r>
          </a:p>
          <a:p>
            <a:pPr marL="742950" lvl="1" indent="-285750">
              <a:buFont typeface="Arial" panose="020B0604020202020204" pitchFamily="34" charset="0"/>
              <a:buChar char="•"/>
            </a:pPr>
            <a:r>
              <a:rPr lang="vi-VN" b="1" dirty="0" err="1"/>
              <a:t>Product</a:t>
            </a:r>
            <a:r>
              <a:rPr lang="vi-VN" b="1" dirty="0"/>
              <a:t> </a:t>
            </a:r>
            <a:r>
              <a:rPr lang="vi-VN" b="1" dirty="0" err="1"/>
              <a:t>Backlog</a:t>
            </a:r>
            <a:r>
              <a:rPr lang="vi-VN" b="1" dirty="0"/>
              <a:t> → </a:t>
            </a:r>
            <a:r>
              <a:rPr lang="vi-VN" b="1" dirty="0" err="1"/>
              <a:t>Sprint</a:t>
            </a:r>
            <a:r>
              <a:rPr lang="vi-VN" b="1" dirty="0"/>
              <a:t> </a:t>
            </a:r>
            <a:r>
              <a:rPr lang="vi-VN" b="1" dirty="0" err="1"/>
              <a:t>Backlog</a:t>
            </a:r>
            <a:r>
              <a:rPr lang="vi-VN" b="1" dirty="0"/>
              <a:t> → </a:t>
            </a:r>
            <a:r>
              <a:rPr lang="vi-VN" b="1" dirty="0" err="1"/>
              <a:t>Increment</a:t>
            </a:r>
            <a:r>
              <a:rPr lang="vi-VN" b="1" dirty="0"/>
              <a:t>.</a:t>
            </a:r>
            <a:endParaRPr lang="vi-VN" dirty="0"/>
          </a:p>
          <a:p>
            <a:pPr marL="742950" lvl="1" indent="-285750">
              <a:buFont typeface="Arial" panose="020B0604020202020204" pitchFamily="34" charset="0"/>
              <a:buChar char="•"/>
            </a:pPr>
            <a:r>
              <a:rPr lang="vi-VN" dirty="0"/>
              <a:t>Mỗi vòng lặp phản hồi giúp đội phát triển cải thiện và tối ưu hóa công việc dựa trên kết quả và phản hồi từ người dùng hoặc nhóm liên quan.</a:t>
            </a:r>
          </a:p>
          <a:p>
            <a:r>
              <a:rPr lang="vi-VN" dirty="0" err="1"/>
              <a:t>Scrum</a:t>
            </a:r>
            <a:r>
              <a:rPr lang="vi-VN" dirty="0"/>
              <a:t> </a:t>
            </a:r>
            <a:r>
              <a:rPr lang="vi-VN" dirty="0" err="1"/>
              <a:t>Artifacts</a:t>
            </a:r>
            <a:r>
              <a:rPr lang="vi-VN" dirty="0"/>
              <a:t> cung cấp cấu trúc và sự minh bạch cho quá trình phát triển trong </a:t>
            </a:r>
            <a:r>
              <a:rPr lang="vi-VN" dirty="0" err="1"/>
              <a:t>Agile</a:t>
            </a:r>
            <a:r>
              <a:rPr lang="vi-VN" dirty="0"/>
              <a:t> </a:t>
            </a:r>
            <a:r>
              <a:rPr lang="vi-VN" dirty="0" err="1"/>
              <a:t>Scrum</a:t>
            </a:r>
            <a:r>
              <a:rPr lang="vi-VN" dirty="0"/>
              <a:t>. Chúng giúp các nhóm phối hợp hiệu quả, tập trung vào mục tiêu, và liên tục cải thiện sản phẩm dựa trên phản hồi thực tế.</a:t>
            </a:r>
          </a:p>
          <a:p>
            <a:endParaRPr lang="en-US" dirty="0"/>
          </a:p>
        </p:txBody>
      </p:sp>
    </p:spTree>
    <p:extLst>
      <p:ext uri="{BB962C8B-B14F-4D97-AF65-F5344CB8AC3E}">
        <p14:creationId xmlns:p14="http://schemas.microsoft.com/office/powerpoint/2010/main" val="366232745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r>
              <a:rPr lang="vi-VN" dirty="0"/>
              <a:t>Product Backlog là xương sống của quy trình phát triển sản phẩm Agile, đảm bảo rằng nhóm phát triển luôn làm việc trên những yêu cầu quan trọng nhất và có giá trị cao nhất cho khách hàng.</a:t>
            </a:r>
            <a:endParaRPr lang="en-US" dirty="0"/>
          </a:p>
          <a:p>
            <a:r>
              <a:rPr lang="vi-VN" b="1" dirty="0"/>
              <a:t>Product Backlog</a:t>
            </a:r>
            <a:r>
              <a:rPr lang="vi-VN" dirty="0"/>
              <a:t> là một </a:t>
            </a:r>
            <a:r>
              <a:rPr lang="vi-VN" b="1" dirty="0"/>
              <a:t>kho lưu trữ</a:t>
            </a:r>
            <a:r>
              <a:rPr lang="vi-VN" dirty="0"/>
              <a:t> danh sách các tính năng mong muốn của sản phẩm, được sắp xếp theo mức độ ưu tiên của từng mục.</a:t>
            </a:r>
            <a:endParaRPr lang="en-US" dirty="0"/>
          </a:p>
          <a:p>
            <a:r>
              <a:rPr lang="vi-VN" b="1" dirty="0"/>
              <a:t>Đặc điểm của Product Backlog:</a:t>
            </a:r>
          </a:p>
          <a:p>
            <a:pPr>
              <a:buFont typeface="+mj-lt"/>
              <a:buAutoNum type="arabicPeriod"/>
            </a:pPr>
            <a:r>
              <a:rPr lang="vi-VN" b="1" dirty="0"/>
              <a:t>Truy cập:</a:t>
            </a:r>
            <a:endParaRPr lang="vi-VN" dirty="0"/>
          </a:p>
          <a:p>
            <a:pPr marL="742950" lvl="1" indent="-285750">
              <a:buFont typeface="+mj-lt"/>
              <a:buAutoNum type="arabicPeriod"/>
            </a:pPr>
            <a:r>
              <a:rPr lang="vi-VN" dirty="0"/>
              <a:t>Luôn có thể truy cập bởi tất cả các bên liên quan để đảm bảo tính minh bạch.</a:t>
            </a:r>
          </a:p>
          <a:p>
            <a:pPr>
              <a:buFont typeface="+mj-lt"/>
              <a:buAutoNum type="arabicPeriod"/>
            </a:pPr>
            <a:r>
              <a:rPr lang="vi-VN" b="1" dirty="0"/>
              <a:t>Mức độ chi tiết:</a:t>
            </a:r>
            <a:endParaRPr lang="vi-VN" dirty="0"/>
          </a:p>
          <a:p>
            <a:pPr marL="742950" lvl="1" indent="-285750">
              <a:buFont typeface="+mj-lt"/>
              <a:buAutoNum type="arabicPeriod"/>
            </a:pPr>
            <a:r>
              <a:rPr lang="vi-VN" dirty="0"/>
              <a:t>Những mục có ưu tiên cao sẽ được mô tả chi tiết hơn vì chúng cần được xử lý sớm.</a:t>
            </a:r>
          </a:p>
          <a:p>
            <a:pPr>
              <a:buFont typeface="+mj-lt"/>
              <a:buAutoNum type="arabicPeriod"/>
            </a:pPr>
            <a:r>
              <a:rPr lang="vi-VN" b="1" dirty="0"/>
              <a:t>Quản lý:</a:t>
            </a:r>
            <a:endParaRPr lang="vi-VN" dirty="0"/>
          </a:p>
          <a:p>
            <a:pPr marL="742950" lvl="1" indent="-285750">
              <a:buFont typeface="+mj-lt"/>
              <a:buAutoNum type="arabicPeriod"/>
            </a:pPr>
            <a:r>
              <a:rPr lang="vi-VN" dirty="0"/>
              <a:t>Chỉ </a:t>
            </a:r>
            <a:r>
              <a:rPr lang="vi-VN" b="1" dirty="0"/>
              <a:t>Product Owner (PO)</a:t>
            </a:r>
            <a:r>
              <a:rPr lang="vi-VN" dirty="0"/>
              <a:t> mới có quyền:</a:t>
            </a:r>
          </a:p>
          <a:p>
            <a:pPr marL="1143000" lvl="2" indent="-228600">
              <a:buFont typeface="+mj-lt"/>
              <a:buAutoNum type="arabicPeriod"/>
            </a:pPr>
            <a:r>
              <a:rPr lang="vi-VN" dirty="0"/>
              <a:t>Thêm mục mới.</a:t>
            </a:r>
          </a:p>
          <a:p>
            <a:pPr marL="1143000" lvl="2" indent="-228600">
              <a:buFont typeface="+mj-lt"/>
              <a:buAutoNum type="arabicPeriod"/>
            </a:pPr>
            <a:r>
              <a:rPr lang="vi-VN" dirty="0"/>
              <a:t>Loại bỏ các mục không còn cần thiết.</a:t>
            </a:r>
          </a:p>
          <a:p>
            <a:pPr marL="1143000" lvl="2" indent="-228600">
              <a:buFont typeface="+mj-lt"/>
              <a:buAutoNum type="arabicPeriod"/>
            </a:pPr>
            <a:r>
              <a:rPr lang="vi-VN" dirty="0"/>
              <a:t>Sắp xếp mức độ ưu tiên cho các mục trong Product Backlog.</a:t>
            </a:r>
          </a:p>
          <a:p>
            <a:pPr>
              <a:buFont typeface="+mj-lt"/>
              <a:buAutoNum type="arabicPeriod"/>
            </a:pPr>
            <a:r>
              <a:rPr lang="vi-VN" b="1" dirty="0"/>
              <a:t>Tính liên tục:</a:t>
            </a:r>
            <a:endParaRPr lang="vi-VN" dirty="0"/>
          </a:p>
          <a:p>
            <a:pPr marL="742950" lvl="1" indent="-285750">
              <a:buFont typeface="+mj-lt"/>
              <a:buAutoNum type="arabicPeriod"/>
            </a:pPr>
            <a:r>
              <a:rPr lang="vi-VN" dirty="0"/>
              <a:t>Product Backlog là một tài liệu </a:t>
            </a:r>
            <a:r>
              <a:rPr lang="vi-VN" b="1" dirty="0"/>
              <a:t>sống động</a:t>
            </a:r>
            <a:r>
              <a:rPr lang="vi-VN" dirty="0"/>
              <a:t> (Living Artifact), nghĩa là:</a:t>
            </a:r>
          </a:p>
          <a:p>
            <a:pPr marL="1143000" lvl="2" indent="-228600">
              <a:buFont typeface="+mj-lt"/>
              <a:buAutoNum type="arabicPeriod"/>
            </a:pPr>
            <a:r>
              <a:rPr lang="vi-VN" dirty="0"/>
              <a:t>Nó luôn được cập nhật.</a:t>
            </a:r>
          </a:p>
          <a:p>
            <a:pPr marL="1143000" lvl="2" indent="-228600">
              <a:buFont typeface="+mj-lt"/>
              <a:buAutoNum type="arabicPeriod"/>
            </a:pPr>
            <a:r>
              <a:rPr lang="vi-VN" dirty="0"/>
              <a:t>Không bao giờ hoàn toàn kết thúc vì sản phẩm luôn có thể được cải tiến.</a:t>
            </a:r>
          </a:p>
          <a:p>
            <a:pPr>
              <a:buFont typeface="+mj-lt"/>
              <a:buAutoNum type="arabicPeriod"/>
            </a:pPr>
            <a:r>
              <a:rPr lang="vi-VN" b="1" dirty="0"/>
              <a:t>Phiên bản:</a:t>
            </a:r>
            <a:endParaRPr lang="en-US" b="1" dirty="0"/>
          </a:p>
          <a:p>
            <a:pPr>
              <a:buFont typeface="+mj-lt"/>
              <a:buAutoNum type="arabicPeriod"/>
            </a:pPr>
            <a:r>
              <a:rPr lang="vi-VN" dirty="0"/>
              <a:t>Chỉ có duy nhất </a:t>
            </a:r>
            <a:r>
              <a:rPr lang="vi-VN" b="1" dirty="0"/>
              <a:t>một phiên bản</a:t>
            </a:r>
            <a:r>
              <a:rPr lang="vi-VN" dirty="0"/>
              <a:t> của Product Backlog tồn tại để đảm bảo tính nhất quán.</a:t>
            </a:r>
            <a:endParaRPr lang="en-US" dirty="0"/>
          </a:p>
          <a:p>
            <a:r>
              <a:rPr lang="vi-VN" b="1" dirty="0"/>
              <a:t>One Source of Truth:</a:t>
            </a:r>
            <a:br>
              <a:rPr lang="vi-VN" dirty="0"/>
            </a:br>
            <a:r>
              <a:rPr lang="vi-VN" dirty="0"/>
              <a:t>Product Backlog được coi là nguồn thông tin duy nhất và đáng tin cậy về trạng thái của các yêu cầu sản phẩm.</a:t>
            </a:r>
          </a:p>
          <a:p>
            <a:r>
              <a:rPr lang="vi-VN" b="1" dirty="0"/>
              <a:t>Managed by Product Owner:</a:t>
            </a:r>
            <a:br>
              <a:rPr lang="vi-VN" dirty="0"/>
            </a:br>
            <a:r>
              <a:rPr lang="vi-VN" dirty="0"/>
              <a:t>Chỉ Product Owner chịu trách nhiệm quản lý Product Backlog.</a:t>
            </a:r>
          </a:p>
          <a:p>
            <a:r>
              <a:rPr lang="vi-VN" b="1" dirty="0"/>
              <a:t>Living Artifact:</a:t>
            </a:r>
            <a:br>
              <a:rPr lang="vi-VN" dirty="0"/>
            </a:br>
            <a:r>
              <a:rPr lang="vi-VN" dirty="0"/>
              <a:t>Backlog luôn thay đổi và tiến hóa trong suốt vòng đời dự án.</a:t>
            </a:r>
          </a:p>
          <a:p>
            <a:r>
              <a:rPr lang="vi-VN" b="1" dirty="0"/>
              <a:t>Never Complete:</a:t>
            </a:r>
            <a:br>
              <a:rPr lang="vi-VN" dirty="0"/>
            </a:br>
            <a:r>
              <a:rPr lang="vi-VN" dirty="0"/>
              <a:t>Product Backlog không bao giờ "hoàn thành" vì sản phẩm luôn có thể được cải thiện hoặc cập nhật theo nhu cầu.</a:t>
            </a:r>
          </a:p>
          <a:p>
            <a:pPr marL="457200" lvl="1" indent="0">
              <a:buFont typeface="+mj-lt"/>
              <a:buNone/>
            </a:pPr>
            <a:endParaRPr lang="vi-VN" dirty="0"/>
          </a:p>
          <a:p>
            <a:endParaRPr lang="en-US" dirty="0"/>
          </a:p>
        </p:txBody>
      </p:sp>
    </p:spTree>
    <p:extLst>
      <p:ext uri="{BB962C8B-B14F-4D97-AF65-F5344CB8AC3E}">
        <p14:creationId xmlns:p14="http://schemas.microsoft.com/office/powerpoint/2010/main" val="85195422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r>
              <a:rPr lang="en-US"/>
              <a:t>Là </a:t>
            </a:r>
            <a:r>
              <a:rPr lang="en-US" err="1"/>
              <a:t>các</a:t>
            </a:r>
            <a:r>
              <a:rPr lang="en-US"/>
              <a:t> </a:t>
            </a:r>
            <a:r>
              <a:rPr lang="en-US" err="1"/>
              <a:t>thành</a:t>
            </a:r>
            <a:r>
              <a:rPr lang="en-US"/>
              <a:t> </a:t>
            </a:r>
            <a:r>
              <a:rPr lang="en-US" err="1"/>
              <a:t>phần</a:t>
            </a:r>
            <a:r>
              <a:rPr lang="en-US"/>
              <a:t> </a:t>
            </a:r>
            <a:r>
              <a:rPr lang="en-US" err="1"/>
              <a:t>cốt</a:t>
            </a:r>
            <a:r>
              <a:rPr lang="en-US"/>
              <a:t> </a:t>
            </a:r>
            <a:r>
              <a:rPr lang="en-US" err="1"/>
              <a:t>lõi</a:t>
            </a:r>
            <a:r>
              <a:rPr lang="en-US"/>
              <a:t> </a:t>
            </a:r>
            <a:r>
              <a:rPr lang="en-US" err="1"/>
              <a:t>của</a:t>
            </a:r>
            <a:r>
              <a:rPr lang="en-US"/>
              <a:t> Product Backlog, </a:t>
            </a:r>
            <a:r>
              <a:rPr lang="en-US" err="1"/>
              <a:t>mỗi</a:t>
            </a:r>
            <a:r>
              <a:rPr lang="en-US"/>
              <a:t> mục </a:t>
            </a:r>
            <a:r>
              <a:rPr lang="en-US" err="1"/>
              <a:t>đại</a:t>
            </a:r>
            <a:r>
              <a:rPr lang="en-US"/>
              <a:t> </a:t>
            </a:r>
            <a:r>
              <a:rPr lang="en-US" err="1"/>
              <a:t>diện</a:t>
            </a:r>
            <a:r>
              <a:rPr lang="en-US"/>
              <a:t> </a:t>
            </a:r>
            <a:r>
              <a:rPr lang="en-US" err="1"/>
              <a:t>cho</a:t>
            </a:r>
            <a:r>
              <a:rPr lang="en-US"/>
              <a:t> </a:t>
            </a:r>
            <a:r>
              <a:rPr lang="en-US" err="1"/>
              <a:t>một</a:t>
            </a:r>
            <a:r>
              <a:rPr lang="en-US"/>
              <a:t> </a:t>
            </a:r>
            <a:r>
              <a:rPr lang="en-US" err="1"/>
              <a:t>nhiệm</a:t>
            </a:r>
            <a:r>
              <a:rPr lang="en-US"/>
              <a:t> vụ </a:t>
            </a:r>
            <a:r>
              <a:rPr lang="en-US" err="1"/>
              <a:t>hoặc</a:t>
            </a:r>
            <a:r>
              <a:rPr lang="en-US"/>
              <a:t> yêu </a:t>
            </a:r>
            <a:r>
              <a:rPr lang="en-US" err="1"/>
              <a:t>cầu</a:t>
            </a:r>
            <a:r>
              <a:rPr lang="en-US"/>
              <a:t> </a:t>
            </a:r>
            <a:r>
              <a:rPr lang="en-US" err="1"/>
              <a:t>cụ</a:t>
            </a:r>
            <a:r>
              <a:rPr lang="en-US"/>
              <a:t> </a:t>
            </a:r>
            <a:r>
              <a:rPr lang="en-US" err="1"/>
              <a:t>thể</a:t>
            </a:r>
            <a:r>
              <a:rPr lang="en-US"/>
              <a:t> </a:t>
            </a:r>
            <a:r>
              <a:rPr lang="en-US" err="1"/>
              <a:t>trong</a:t>
            </a:r>
            <a:r>
              <a:rPr lang="en-US"/>
              <a:t> </a:t>
            </a:r>
            <a:r>
              <a:rPr lang="en-US" err="1"/>
              <a:t>quá</a:t>
            </a:r>
            <a:r>
              <a:rPr lang="en-US"/>
              <a:t> trình </a:t>
            </a:r>
            <a:r>
              <a:rPr lang="en-US" err="1"/>
              <a:t>phát</a:t>
            </a:r>
            <a:r>
              <a:rPr lang="en-US"/>
              <a:t> </a:t>
            </a:r>
            <a:r>
              <a:rPr lang="en-US" err="1"/>
              <a:t>triển</a:t>
            </a:r>
            <a:r>
              <a:rPr lang="en-US"/>
              <a:t> </a:t>
            </a:r>
            <a:r>
              <a:rPr lang="en-US" err="1"/>
              <a:t>sản</a:t>
            </a:r>
            <a:r>
              <a:rPr lang="en-US"/>
              <a:t> </a:t>
            </a:r>
            <a:r>
              <a:rPr lang="en-US" err="1"/>
              <a:t>phẩm</a:t>
            </a:r>
            <a:r>
              <a:rPr lang="en-US"/>
              <a:t>.</a:t>
            </a:r>
          </a:p>
          <a:p>
            <a:r>
              <a:rPr lang="vi-VN" b="1"/>
              <a:t>User Stories:</a:t>
            </a:r>
            <a:endParaRPr lang="vi-VN"/>
          </a:p>
          <a:p>
            <a:pPr>
              <a:buFont typeface="Arial" panose="020B0604020202020204" pitchFamily="34" charset="0"/>
              <a:buChar char="•"/>
            </a:pPr>
            <a:r>
              <a:rPr lang="vi-VN"/>
              <a:t>Các mô tả ngắn gọn, đơn giản về một tính năng hoặc chức năng từ góc nhìn của người dùng.</a:t>
            </a:r>
          </a:p>
          <a:p>
            <a:pPr>
              <a:buFont typeface="Arial" panose="020B0604020202020204" pitchFamily="34" charset="0"/>
              <a:buChar char="•"/>
            </a:pPr>
            <a:r>
              <a:rPr lang="vi-VN"/>
              <a:t>Ví dụ: "Là người dùng, tôi muốn đăng nhập bằng email để truy cập tài khoản cá nhân."</a:t>
            </a:r>
          </a:p>
          <a:p>
            <a:r>
              <a:rPr lang="vi-VN" b="1"/>
              <a:t>Bugs:</a:t>
            </a:r>
            <a:endParaRPr lang="vi-VN"/>
          </a:p>
          <a:p>
            <a:pPr>
              <a:buFont typeface="Arial" panose="020B0604020202020204" pitchFamily="34" charset="0"/>
              <a:buChar char="•"/>
            </a:pPr>
            <a:r>
              <a:rPr lang="vi-VN"/>
              <a:t>Các lỗi hoặc sai sót trong sản phẩm cần được sửa chữa.</a:t>
            </a:r>
          </a:p>
          <a:p>
            <a:pPr>
              <a:buFont typeface="Arial" panose="020B0604020202020204" pitchFamily="34" charset="0"/>
              <a:buChar char="•"/>
            </a:pPr>
            <a:r>
              <a:rPr lang="vi-VN"/>
              <a:t>Mục tiêu là cải thiện chất lượng và trải nghiệm người dùng.</a:t>
            </a:r>
          </a:p>
          <a:p>
            <a:r>
              <a:rPr lang="vi-VN" b="1"/>
              <a:t>Technical Tasks:</a:t>
            </a:r>
            <a:endParaRPr lang="vi-VN"/>
          </a:p>
          <a:p>
            <a:pPr>
              <a:buFont typeface="Arial" panose="020B0604020202020204" pitchFamily="34" charset="0"/>
              <a:buChar char="•"/>
            </a:pPr>
            <a:r>
              <a:rPr lang="vi-VN"/>
              <a:t>Công việc liên quan đến hạ tầng hoặc cải tiến kỹ thuật cần thiết để đảm bảo tính ổn định hoặc khả năng mở rộng của sản phẩm.</a:t>
            </a:r>
          </a:p>
          <a:p>
            <a:pPr>
              <a:buFont typeface="Arial" panose="020B0604020202020204" pitchFamily="34" charset="0"/>
              <a:buChar char="•"/>
            </a:pPr>
            <a:r>
              <a:rPr lang="vi-VN"/>
              <a:t>Ví dụ: Nâng cấp cơ sở dữ liệu hoặc tối ưu hóa hiệu suất.</a:t>
            </a:r>
          </a:p>
          <a:p>
            <a:r>
              <a:rPr lang="vi-VN" b="1"/>
              <a:t>Spikes:</a:t>
            </a:r>
            <a:endParaRPr lang="vi-VN"/>
          </a:p>
          <a:p>
            <a:pPr>
              <a:buFont typeface="Arial" panose="020B0604020202020204" pitchFamily="34" charset="0"/>
              <a:buChar char="•"/>
            </a:pPr>
            <a:r>
              <a:rPr lang="vi-VN"/>
              <a:t>Các nhiệm vụ nghiên cứu nhằm khám phá những điều chưa biết hoặc giảm thiểu sự không chắc chắn.</a:t>
            </a:r>
          </a:p>
          <a:p>
            <a:pPr>
              <a:buFont typeface="Arial" panose="020B0604020202020204" pitchFamily="34" charset="0"/>
              <a:buChar char="•"/>
            </a:pPr>
            <a:r>
              <a:rPr lang="vi-VN"/>
              <a:t>Thường bao gồm thử nghiệm, nghiên cứu công nghệ hoặc đánh giá các giải pháp.</a:t>
            </a:r>
            <a:endParaRPr lang="en-US"/>
          </a:p>
          <a:p>
            <a:r>
              <a:rPr lang="vi-VN" b="1"/>
              <a:t>Các thành phần chính trong Product Backlog</a:t>
            </a:r>
          </a:p>
          <a:p>
            <a:pPr>
              <a:buFont typeface="+mj-lt"/>
              <a:buAutoNum type="arabicPeriod"/>
            </a:pPr>
            <a:r>
              <a:rPr lang="vi-VN" b="1"/>
              <a:t>Features (Tính năng):</a:t>
            </a:r>
            <a:br>
              <a:rPr lang="vi-VN"/>
            </a:br>
            <a:r>
              <a:rPr lang="vi-VN"/>
              <a:t>Các yêu cầu chức năng cụ thể của sản phẩm.</a:t>
            </a:r>
          </a:p>
          <a:p>
            <a:pPr>
              <a:buFont typeface="+mj-lt"/>
              <a:buAutoNum type="arabicPeriod"/>
            </a:pPr>
            <a:r>
              <a:rPr lang="vi-VN" b="1"/>
              <a:t>Bug Fixes (Sửa lỗi):</a:t>
            </a:r>
            <a:br>
              <a:rPr lang="vi-VN"/>
            </a:br>
            <a:r>
              <a:rPr lang="vi-VN"/>
              <a:t>Giải quyết các vấn đề đã được phát hiện trong sản phẩm.</a:t>
            </a:r>
          </a:p>
          <a:p>
            <a:pPr>
              <a:buFont typeface="+mj-lt"/>
              <a:buAutoNum type="arabicPeriod"/>
            </a:pPr>
            <a:r>
              <a:rPr lang="vi-VN" b="1"/>
              <a:t>Technical Dept (Nợ kỹ thuật):</a:t>
            </a:r>
            <a:br>
              <a:rPr lang="vi-VN"/>
            </a:br>
            <a:r>
              <a:rPr lang="vi-VN"/>
              <a:t>Các khoản nợ kỹ thuật cần xử lý, thường liên quan đến việc cải thiện mã nguồn hoặc hạ tầng.</a:t>
            </a:r>
          </a:p>
          <a:p>
            <a:pPr>
              <a:buFont typeface="+mj-lt"/>
              <a:buAutoNum type="arabicPeriod"/>
            </a:pPr>
            <a:r>
              <a:rPr lang="vi-VN" b="1"/>
              <a:t>Knowledge Acquisition (Thu thập kiến thức):</a:t>
            </a:r>
            <a:br>
              <a:rPr lang="vi-VN"/>
            </a:br>
            <a:r>
              <a:rPr lang="vi-VN"/>
              <a:t>Các hoạt động nghiên cứu hoặc học hỏi để cải thiện quá trình phát triển hoặc hiểu rõ hơn về sản phẩm.</a:t>
            </a:r>
          </a:p>
          <a:p>
            <a:r>
              <a:rPr lang="vi-VN" b="1"/>
              <a:t>Tầm quan trọng của Product Backlog Items:</a:t>
            </a:r>
          </a:p>
          <a:p>
            <a:pPr>
              <a:buFont typeface="Arial" panose="020B0604020202020204" pitchFamily="34" charset="0"/>
              <a:buChar char="•"/>
            </a:pPr>
            <a:r>
              <a:rPr lang="vi-VN"/>
              <a:t>Đảm bảo rằng mọi nhiệm vụ trong dự án đều được tổ chức, ưu tiên, và tập trung vào việc mang lại giá trị cao nhất cho khách hàng.</a:t>
            </a:r>
          </a:p>
          <a:p>
            <a:pPr>
              <a:buFont typeface="Arial" panose="020B0604020202020204" pitchFamily="34" charset="0"/>
              <a:buChar char="•"/>
            </a:pPr>
            <a:r>
              <a:rPr lang="vi-VN"/>
              <a:t>Hỗ trợ nhóm phát triển hiểu rõ những gì cần thực hiện và tại sao nó quan trọng.</a:t>
            </a:r>
          </a:p>
          <a:p>
            <a:endParaRPr lang="en-US"/>
          </a:p>
        </p:txBody>
      </p:sp>
    </p:spTree>
    <p:extLst>
      <p:ext uri="{BB962C8B-B14F-4D97-AF65-F5344CB8AC3E}">
        <p14:creationId xmlns:p14="http://schemas.microsoft.com/office/powerpoint/2010/main" val="283946768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pPr>
              <a:buFont typeface="Arial" panose="020B0604020202020204" pitchFamily="34" charset="0"/>
              <a:buChar char="•"/>
            </a:pPr>
            <a:r>
              <a:rPr lang="vi-VN" b="1"/>
              <a:t>User Stories</a:t>
            </a:r>
            <a:r>
              <a:rPr lang="vi-VN"/>
              <a:t> là cách để ghi lại và mô tả một tính năng hoặc yêu cầu từ góc nhìn của </a:t>
            </a:r>
            <a:r>
              <a:rPr lang="vi-VN" b="1"/>
              <a:t>người dùng cuối (end-user)</a:t>
            </a:r>
            <a:r>
              <a:rPr lang="vi-VN"/>
              <a:t> hoặc </a:t>
            </a:r>
            <a:r>
              <a:rPr lang="vi-VN" b="1"/>
              <a:t>khách hàng</a:t>
            </a:r>
            <a:r>
              <a:rPr lang="vi-VN"/>
              <a:t>.</a:t>
            </a:r>
          </a:p>
          <a:p>
            <a:pPr>
              <a:buFont typeface="Arial" panose="020B0604020202020204" pitchFamily="34" charset="0"/>
              <a:buChar char="•"/>
            </a:pPr>
            <a:r>
              <a:rPr lang="vi-VN"/>
              <a:t>Được viết dưới dạng ngắn gọn, đơn giản, và thường sử dụng ngôn ngữ không mang tính kỹ thuật.</a:t>
            </a:r>
          </a:p>
          <a:p>
            <a:r>
              <a:rPr lang="vi-VN" b="1"/>
              <a:t>Tiêu chí I-N-V-E-S-T:</a:t>
            </a:r>
          </a:p>
          <a:p>
            <a:r>
              <a:rPr lang="vi-VN"/>
              <a:t>Tiêu chí này giúp đánh giá chất lượng của User Stories:</a:t>
            </a:r>
          </a:p>
          <a:p>
            <a:pPr>
              <a:buFont typeface="+mj-lt"/>
              <a:buAutoNum type="arabicPeriod"/>
            </a:pPr>
            <a:r>
              <a:rPr lang="vi-VN" b="1"/>
              <a:t>I - Independent:</a:t>
            </a:r>
            <a:endParaRPr lang="vi-VN"/>
          </a:p>
          <a:p>
            <a:pPr marL="742950" lvl="1" indent="-285750">
              <a:buFont typeface="+mj-lt"/>
              <a:buAutoNum type="arabicPeriod"/>
            </a:pPr>
            <a:r>
              <a:rPr lang="vi-VN"/>
              <a:t>Có thể thực hiện độc lập, không phụ thuộc vào các User Stories khác.</a:t>
            </a:r>
          </a:p>
          <a:p>
            <a:pPr>
              <a:buFont typeface="+mj-lt"/>
              <a:buAutoNum type="arabicPeriod"/>
            </a:pPr>
            <a:r>
              <a:rPr lang="vi-VN" b="1"/>
              <a:t>N - Negotiable:</a:t>
            </a:r>
            <a:endParaRPr lang="vi-VN"/>
          </a:p>
          <a:p>
            <a:pPr marL="742950" lvl="1" indent="-285750">
              <a:buFont typeface="+mj-lt"/>
              <a:buAutoNum type="arabicPeriod"/>
            </a:pPr>
            <a:r>
              <a:rPr lang="vi-VN"/>
              <a:t>Có thể thương lượng và điều chỉnh khi cần thiết.</a:t>
            </a:r>
          </a:p>
          <a:p>
            <a:pPr>
              <a:buFont typeface="+mj-lt"/>
              <a:buAutoNum type="arabicPeriod"/>
            </a:pPr>
            <a:r>
              <a:rPr lang="vi-VN" b="1"/>
              <a:t>V - Valuable:</a:t>
            </a:r>
            <a:endParaRPr lang="vi-VN"/>
          </a:p>
          <a:p>
            <a:pPr marL="742950" lvl="1" indent="-285750">
              <a:buFont typeface="+mj-lt"/>
              <a:buAutoNum type="arabicPeriod"/>
            </a:pPr>
            <a:r>
              <a:rPr lang="vi-VN"/>
              <a:t>Mang lại giá trị rõ ràng cho người dùng hoặc khách hàng.</a:t>
            </a:r>
          </a:p>
          <a:p>
            <a:pPr>
              <a:buFont typeface="+mj-lt"/>
              <a:buAutoNum type="arabicPeriod"/>
            </a:pPr>
            <a:r>
              <a:rPr lang="vi-VN" b="1"/>
              <a:t>E - Estimable:</a:t>
            </a:r>
            <a:endParaRPr lang="vi-VN"/>
          </a:p>
          <a:p>
            <a:pPr marL="742950" lvl="1" indent="-285750">
              <a:buFont typeface="+mj-lt"/>
              <a:buAutoNum type="arabicPeriod"/>
            </a:pPr>
            <a:r>
              <a:rPr lang="vi-VN"/>
              <a:t>Có thể ước lượng khối lượng công việc cần thiết để hoàn thành.</a:t>
            </a:r>
          </a:p>
          <a:p>
            <a:pPr>
              <a:buFont typeface="+mj-lt"/>
              <a:buAutoNum type="arabicPeriod"/>
            </a:pPr>
            <a:r>
              <a:rPr lang="vi-VN" b="1"/>
              <a:t>S - Small:</a:t>
            </a:r>
            <a:endParaRPr lang="vi-VN"/>
          </a:p>
          <a:p>
            <a:pPr marL="742950" lvl="1" indent="-285750">
              <a:buFont typeface="+mj-lt"/>
              <a:buAutoNum type="arabicPeriod"/>
            </a:pPr>
            <a:r>
              <a:rPr lang="vi-VN"/>
              <a:t>Đủ nhỏ để hoàn thành trong một Sprint.</a:t>
            </a:r>
          </a:p>
          <a:p>
            <a:pPr>
              <a:buFont typeface="+mj-lt"/>
              <a:buAutoNum type="arabicPeriod"/>
            </a:pPr>
            <a:r>
              <a:rPr lang="vi-VN" b="1"/>
              <a:t>T - Testable:</a:t>
            </a:r>
            <a:endParaRPr lang="vi-VN"/>
          </a:p>
          <a:p>
            <a:pPr marL="742950" lvl="1" indent="-285750">
              <a:buFont typeface="+mj-lt"/>
              <a:buAutoNum type="arabicPeriod"/>
            </a:pPr>
            <a:r>
              <a:rPr lang="vi-VN"/>
              <a:t>Có thể kiểm tra được để đảm bảo rằng yêu cầu đã được đáp ứng.</a:t>
            </a:r>
          </a:p>
          <a:p>
            <a:r>
              <a:rPr lang="vi-VN"/>
              <a:t>Giúp nhóm phát triển hiểu rõ yêu cầu của người dùng.</a:t>
            </a:r>
            <a:endParaRPr lang="en-US"/>
          </a:p>
          <a:p>
            <a:r>
              <a:rPr lang="vi-VN"/>
              <a:t>Tạo sự tập trung vào giá trị mang lại cho khách hàng.</a:t>
            </a:r>
            <a:endParaRPr lang="en-US"/>
          </a:p>
          <a:p>
            <a:r>
              <a:rPr lang="vi-VN"/>
              <a:t>Hỗ trợ trong việc lập kế hoạch, đánh giá, và ưu tiên công việc.</a:t>
            </a:r>
            <a:endParaRPr lang="en-US"/>
          </a:p>
        </p:txBody>
      </p:sp>
    </p:spTree>
    <p:extLst>
      <p:ext uri="{BB962C8B-B14F-4D97-AF65-F5344CB8AC3E}">
        <p14:creationId xmlns:p14="http://schemas.microsoft.com/office/powerpoint/2010/main" val="144028721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r>
              <a:rPr lang="vi-VN" b="1" dirty="0"/>
              <a:t>Ưu tiên (</a:t>
            </a:r>
            <a:r>
              <a:rPr lang="vi-VN" b="1" dirty="0" err="1"/>
              <a:t>Prioritization</a:t>
            </a:r>
            <a:r>
              <a:rPr lang="vi-VN" b="1" dirty="0"/>
              <a:t>):</a:t>
            </a:r>
          </a:p>
          <a:p>
            <a:r>
              <a:rPr lang="vi-VN" dirty="0"/>
              <a:t>Các lỗi (</a:t>
            </a:r>
            <a:r>
              <a:rPr lang="vi-VN" dirty="0" err="1"/>
              <a:t>bugs</a:t>
            </a:r>
            <a:r>
              <a:rPr lang="vi-VN" dirty="0"/>
              <a:t>) cần được ưu tiên dựa trên mức độ ảnh hưởng và tính cấp bách của chúng, giống như các mục khác trong </a:t>
            </a:r>
            <a:r>
              <a:rPr lang="vi-VN" dirty="0" err="1"/>
              <a:t>backlog</a:t>
            </a:r>
            <a:r>
              <a:rPr lang="vi-VN" dirty="0"/>
              <a:t>. Một lỗi nghiêm trọng ảnh hưởng đến nhiều người dùng có thể được ưu tiên xử lý trước các tính năng mới.</a:t>
            </a:r>
          </a:p>
          <a:p>
            <a:r>
              <a:rPr lang="vi-VN" b="1" dirty="0"/>
              <a:t>Mô tả (</a:t>
            </a:r>
            <a:r>
              <a:rPr lang="vi-VN" b="1" dirty="0" err="1"/>
              <a:t>Description</a:t>
            </a:r>
            <a:r>
              <a:rPr lang="vi-VN" b="1" dirty="0"/>
              <a:t>):</a:t>
            </a:r>
          </a:p>
          <a:p>
            <a:r>
              <a:rPr lang="vi-VN" dirty="0"/>
              <a:t>Các lỗi cần có mô tả rõ ràng và súc tích để đảm bảo đội phát triển hiểu rõ vấn đề và cách giải quyết.</a:t>
            </a:r>
          </a:p>
          <a:p>
            <a:r>
              <a:rPr lang="vi-VN" b="1" dirty="0"/>
              <a:t>Tiêu chí chấp nhận (</a:t>
            </a:r>
            <a:r>
              <a:rPr lang="vi-VN" b="1" dirty="0" err="1"/>
              <a:t>Acceptance</a:t>
            </a:r>
            <a:r>
              <a:rPr lang="vi-VN" b="1" dirty="0"/>
              <a:t> </a:t>
            </a:r>
            <a:r>
              <a:rPr lang="vi-VN" b="1" dirty="0" err="1"/>
              <a:t>Criteria</a:t>
            </a:r>
            <a:r>
              <a:rPr lang="vi-VN" b="1" dirty="0"/>
              <a:t>):</a:t>
            </a:r>
          </a:p>
          <a:p>
            <a:r>
              <a:rPr lang="vi-VN" dirty="0"/>
              <a:t>Giống như các </a:t>
            </a:r>
            <a:r>
              <a:rPr lang="vi-VN" dirty="0" err="1"/>
              <a:t>user</a:t>
            </a:r>
            <a:r>
              <a:rPr lang="vi-VN" dirty="0"/>
              <a:t> </a:t>
            </a:r>
            <a:r>
              <a:rPr lang="vi-VN" dirty="0" err="1"/>
              <a:t>story</a:t>
            </a:r>
            <a:r>
              <a:rPr lang="vi-VN" dirty="0"/>
              <a:t>, các lỗi cũng nên bao gồm tiêu chí chấp nhận để xác minh rằng vấn đề đã được giải quyết.</a:t>
            </a:r>
          </a:p>
          <a:p>
            <a:r>
              <a:rPr lang="vi-VN" b="1" dirty="0"/>
              <a:t>Ước lượng (</a:t>
            </a:r>
            <a:r>
              <a:rPr lang="vi-VN" b="1" dirty="0" err="1"/>
              <a:t>Estimation</a:t>
            </a:r>
            <a:r>
              <a:rPr lang="vi-VN" b="1" dirty="0"/>
              <a:t>):</a:t>
            </a:r>
          </a:p>
          <a:p>
            <a:r>
              <a:rPr lang="vi-VN" dirty="0"/>
              <a:t>Đội phát triển cần ước lượng nỗ lực cần thiết để sửa lỗi, giúp lập kế hoạch cho </a:t>
            </a:r>
            <a:r>
              <a:rPr lang="vi-VN" dirty="0" err="1"/>
              <a:t>sprint</a:t>
            </a:r>
            <a:r>
              <a:rPr lang="vi-VN" dirty="0"/>
              <a:t>.</a:t>
            </a:r>
          </a:p>
          <a:p>
            <a:endParaRPr lang="en-US" dirty="0"/>
          </a:p>
        </p:txBody>
      </p:sp>
    </p:spTree>
    <p:extLst>
      <p:ext uri="{BB962C8B-B14F-4D97-AF65-F5344CB8AC3E}">
        <p14:creationId xmlns:p14="http://schemas.microsoft.com/office/powerpoint/2010/main" val="330652749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r>
              <a:rPr lang="vi-VN" b="1"/>
              <a:t>Không trực tiếp hướng đến người dùng (Non-User-Facing):</a:t>
            </a:r>
          </a:p>
          <a:p>
            <a:r>
              <a:rPr lang="vi-VN"/>
              <a:t>Không giống như user stories, các nhiệm vụ kỹ thuật thường tập trung vào công việc backend, cơ sở hạ tầng, hoặc các khía cạnh khác mà người dùng cuối không trực tiếp nhìn thấy.</a:t>
            </a:r>
          </a:p>
          <a:p>
            <a:r>
              <a:rPr lang="vi-VN" b="1"/>
              <a:t>Cụ thể và khả thi (Specific and Actionable):</a:t>
            </a:r>
          </a:p>
          <a:p>
            <a:r>
              <a:rPr lang="vi-VN"/>
              <a:t>Mỗi nhiệm vụ cần được mô tả rõ ràng về công việc cần thực hiện.</a:t>
            </a:r>
          </a:p>
          <a:p>
            <a:r>
              <a:rPr lang="vi-VN" b="1"/>
              <a:t>Hỗ trợ (Supportive):</a:t>
            </a:r>
          </a:p>
          <a:p>
            <a:r>
              <a:rPr lang="vi-VN"/>
              <a:t>Các nhiệm vụ này hỗ trợ các user story hoặc epic lớn hơn và góp phần đạt được mục tiêu của sprint.</a:t>
            </a:r>
          </a:p>
          <a:p>
            <a:r>
              <a:rPr lang="vi-VN" b="1"/>
              <a:t>Có thể ước lượng (Estimated):</a:t>
            </a:r>
          </a:p>
          <a:p>
            <a:r>
              <a:rPr lang="vi-VN"/>
              <a:t>Chúng nên đủ nhỏ để có thể ước lượng và hoàn thành trong một sprint.</a:t>
            </a:r>
          </a:p>
          <a:p>
            <a:endParaRPr lang="en-US"/>
          </a:p>
        </p:txBody>
      </p:sp>
    </p:spTree>
    <p:extLst>
      <p:ext uri="{BB962C8B-B14F-4D97-AF65-F5344CB8AC3E}">
        <p14:creationId xmlns:p14="http://schemas.microsoft.com/office/powerpoint/2010/main" val="267361869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r>
              <a:rPr lang="vi-VN" b="1" dirty="0" err="1"/>
              <a:t>Spikes</a:t>
            </a:r>
            <a:r>
              <a:rPr lang="vi-VN" b="1" dirty="0"/>
              <a:t> trong </a:t>
            </a:r>
            <a:r>
              <a:rPr lang="vi-VN" b="1" dirty="0" err="1"/>
              <a:t>Scrum</a:t>
            </a:r>
            <a:endParaRPr lang="vi-VN" b="1" dirty="0"/>
          </a:p>
          <a:p>
            <a:r>
              <a:rPr lang="vi-VN" b="1" dirty="0" err="1"/>
              <a:t>Spike</a:t>
            </a:r>
            <a:r>
              <a:rPr lang="vi-VN" dirty="0"/>
              <a:t> là một loại Mục trong </a:t>
            </a:r>
            <a:r>
              <a:rPr lang="vi-VN" dirty="0" err="1"/>
              <a:t>Backlog</a:t>
            </a:r>
            <a:r>
              <a:rPr lang="vi-VN" dirty="0"/>
              <a:t> Sản phẩm (</a:t>
            </a:r>
            <a:r>
              <a:rPr lang="vi-VN" dirty="0" err="1"/>
              <a:t>Product</a:t>
            </a:r>
            <a:r>
              <a:rPr lang="vi-VN" dirty="0"/>
              <a:t> </a:t>
            </a:r>
            <a:r>
              <a:rPr lang="vi-VN" dirty="0" err="1"/>
              <a:t>Backlog</a:t>
            </a:r>
            <a:r>
              <a:rPr lang="vi-VN" dirty="0"/>
              <a:t> </a:t>
            </a:r>
            <a:r>
              <a:rPr lang="vi-VN" dirty="0" err="1"/>
              <a:t>Item</a:t>
            </a:r>
            <a:r>
              <a:rPr lang="vi-VN" dirty="0"/>
              <a:t> - PBI) trong </a:t>
            </a:r>
            <a:r>
              <a:rPr lang="vi-VN" dirty="0" err="1"/>
              <a:t>Scrum</a:t>
            </a:r>
            <a:r>
              <a:rPr lang="vi-VN" dirty="0"/>
              <a:t>, được sử dụng để thực hiện nghiên cứu, điều tra hoặc thu thập kiến thức nhằm giảm thiểu sự không chắc chắn hoặc rủi ro. </a:t>
            </a:r>
            <a:r>
              <a:rPr lang="vi-VN" dirty="0" err="1"/>
              <a:t>Spikes</a:t>
            </a:r>
            <a:r>
              <a:rPr lang="vi-VN" dirty="0"/>
              <a:t> là các nhiệm vụ được giới hạn thời gian (</a:t>
            </a:r>
            <a:r>
              <a:rPr lang="vi-VN" dirty="0" err="1"/>
              <a:t>time-boxed</a:t>
            </a:r>
            <a:r>
              <a:rPr lang="vi-VN" dirty="0"/>
              <a:t>), giúp nhóm hiểu rõ vấn đề, đánh giá các phương án hoặc chuẩn bị cho việc triển khai. Chúng không trực tiếp liên quan đến việc cung cấp một tính năng cho người dùng, nhưng rất quan trọng trong việc ra quyết định chính xác.</a:t>
            </a:r>
          </a:p>
          <a:p>
            <a:r>
              <a:rPr lang="vi-VN" b="1" dirty="0"/>
              <a:t>Khi nào nên sử dụng </a:t>
            </a:r>
            <a:r>
              <a:rPr lang="vi-VN" b="1" dirty="0" err="1"/>
              <a:t>Spikes</a:t>
            </a:r>
            <a:endParaRPr lang="vi-VN" b="1" dirty="0"/>
          </a:p>
          <a:p>
            <a:r>
              <a:rPr lang="vi-VN" dirty="0" err="1"/>
              <a:t>Spikes</a:t>
            </a:r>
            <a:r>
              <a:rPr lang="vi-VN" dirty="0"/>
              <a:t> thường được sử dụng trong các trường hợp:</a:t>
            </a:r>
          </a:p>
          <a:p>
            <a:pPr>
              <a:buFont typeface="+mj-lt"/>
              <a:buAutoNum type="arabicPeriod"/>
            </a:pPr>
            <a:r>
              <a:rPr lang="vi-VN" b="1" dirty="0"/>
              <a:t>Có sự không chắc chắn</a:t>
            </a:r>
            <a:r>
              <a:rPr lang="vi-VN" dirty="0"/>
              <a:t>: Khi có sự mơ hồ hoặc thiếu rõ ràng trong một </a:t>
            </a:r>
            <a:r>
              <a:rPr lang="vi-VN" dirty="0" err="1"/>
              <a:t>user</a:t>
            </a:r>
            <a:r>
              <a:rPr lang="vi-VN" dirty="0"/>
              <a:t> </a:t>
            </a:r>
            <a:r>
              <a:rPr lang="vi-VN" dirty="0" err="1"/>
              <a:t>story</a:t>
            </a:r>
            <a:r>
              <a:rPr lang="vi-VN" dirty="0"/>
              <a:t> hoặc nhiệm vụ kỹ thuật.</a:t>
            </a:r>
          </a:p>
          <a:p>
            <a:pPr>
              <a:buFont typeface="+mj-lt"/>
              <a:buAutoNum type="arabicPeriod"/>
            </a:pPr>
            <a:r>
              <a:rPr lang="vi-VN" b="1" dirty="0"/>
              <a:t>Thách thức kỹ thuật</a:t>
            </a:r>
            <a:r>
              <a:rPr lang="vi-VN" dirty="0"/>
              <a:t>: Khi nhóm cần đánh giá các công nghệ, </a:t>
            </a:r>
            <a:r>
              <a:rPr lang="vi-VN" dirty="0" err="1"/>
              <a:t>framework</a:t>
            </a:r>
            <a:r>
              <a:rPr lang="vi-VN" dirty="0"/>
              <a:t> hoặc phương pháp tiếp cận.</a:t>
            </a:r>
          </a:p>
          <a:p>
            <a:pPr>
              <a:buFont typeface="+mj-lt"/>
              <a:buAutoNum type="arabicPeriod"/>
            </a:pPr>
            <a:r>
              <a:rPr lang="vi-VN" b="1" dirty="0"/>
              <a:t>Yêu cầu phức tạp</a:t>
            </a:r>
            <a:r>
              <a:rPr lang="vi-VN" dirty="0"/>
              <a:t>: Khi các yêu cầu cần được làm rõ hoặc chỉnh sửa thêm.</a:t>
            </a:r>
          </a:p>
          <a:p>
            <a:pPr>
              <a:buFont typeface="+mj-lt"/>
              <a:buAutoNum type="arabicPeriod"/>
            </a:pPr>
            <a:r>
              <a:rPr lang="vi-VN" b="1" dirty="0"/>
              <a:t>Làm mẫu thử (</a:t>
            </a:r>
            <a:r>
              <a:rPr lang="vi-VN" b="1" dirty="0" err="1"/>
              <a:t>Prototyping</a:t>
            </a:r>
            <a:r>
              <a:rPr lang="vi-VN" b="1" dirty="0"/>
              <a:t>)</a:t>
            </a:r>
            <a:r>
              <a:rPr lang="vi-VN" dirty="0"/>
              <a:t>: Khi cần kiểm tra ý tưởng hoặc khái niệm trước khi triển khai đầy đủ.</a:t>
            </a:r>
          </a:p>
          <a:p>
            <a:r>
              <a:rPr lang="vi-VN" b="1" dirty="0"/>
              <a:t>Các loại </a:t>
            </a:r>
            <a:r>
              <a:rPr lang="vi-VN" b="1" dirty="0" err="1"/>
              <a:t>Spikes</a:t>
            </a:r>
            <a:endParaRPr lang="vi-VN" b="1" dirty="0"/>
          </a:p>
          <a:p>
            <a:pPr>
              <a:buFont typeface="+mj-lt"/>
              <a:buAutoNum type="arabicPeriod"/>
            </a:pPr>
            <a:r>
              <a:rPr lang="vi-VN" b="1" dirty="0" err="1"/>
              <a:t>Technical</a:t>
            </a:r>
            <a:r>
              <a:rPr lang="vi-VN" b="1" dirty="0"/>
              <a:t> </a:t>
            </a:r>
            <a:r>
              <a:rPr lang="vi-VN" b="1" dirty="0" err="1"/>
              <a:t>Spike</a:t>
            </a:r>
            <a:r>
              <a:rPr lang="vi-VN" dirty="0"/>
              <a:t>: Tập trung vào nghiên cứu hoặc khám phá kỹ thuật.</a:t>
            </a:r>
          </a:p>
          <a:p>
            <a:pPr marL="742950" lvl="1" indent="-285750">
              <a:buFont typeface="+mj-lt"/>
              <a:buAutoNum type="arabicPeriod"/>
            </a:pPr>
            <a:r>
              <a:rPr lang="vi-VN" b="1" dirty="0"/>
              <a:t>Ví dụ</a:t>
            </a:r>
            <a:r>
              <a:rPr lang="vi-VN" dirty="0"/>
              <a:t>: Nghiên cứu tính khả thi của việc tích hợp API của bên thứ ba.</a:t>
            </a:r>
          </a:p>
          <a:p>
            <a:pPr>
              <a:buFont typeface="+mj-lt"/>
              <a:buAutoNum type="arabicPeriod"/>
            </a:pPr>
            <a:r>
              <a:rPr lang="vi-VN" b="1" dirty="0" err="1"/>
              <a:t>Functional</a:t>
            </a:r>
            <a:r>
              <a:rPr lang="vi-VN" b="1" dirty="0"/>
              <a:t> </a:t>
            </a:r>
            <a:r>
              <a:rPr lang="vi-VN" b="1" dirty="0" err="1"/>
              <a:t>Spike</a:t>
            </a:r>
            <a:r>
              <a:rPr lang="vi-VN" dirty="0"/>
              <a:t>: Tập trung vào việc khám phá và làm rõ yêu cầu.</a:t>
            </a:r>
          </a:p>
          <a:p>
            <a:pPr marL="742950" lvl="1" indent="-285750">
              <a:buFont typeface="+mj-lt"/>
              <a:buAutoNum type="arabicPeriod"/>
            </a:pPr>
            <a:r>
              <a:rPr lang="vi-VN" b="1" dirty="0"/>
              <a:t>Ví dụ</a:t>
            </a:r>
            <a:r>
              <a:rPr lang="vi-VN" dirty="0"/>
              <a:t>: Nghiên cứu hành vi người dùng để chỉnh sửa yêu cầu về luồng đăng nhập.</a:t>
            </a:r>
          </a:p>
          <a:p>
            <a:r>
              <a:rPr lang="vi-VN" b="1" dirty="0"/>
              <a:t>Đặc điểm của </a:t>
            </a:r>
            <a:r>
              <a:rPr lang="vi-VN" b="1" dirty="0" err="1"/>
              <a:t>Spikes</a:t>
            </a:r>
            <a:endParaRPr lang="vi-VN" b="1" dirty="0"/>
          </a:p>
          <a:p>
            <a:pPr>
              <a:buFont typeface="+mj-lt"/>
              <a:buAutoNum type="arabicPeriod"/>
            </a:pPr>
            <a:r>
              <a:rPr lang="vi-VN" b="1" dirty="0"/>
              <a:t>Giới hạn thời gian (</a:t>
            </a:r>
            <a:r>
              <a:rPr lang="vi-VN" b="1" dirty="0" err="1"/>
              <a:t>Time-Boxed</a:t>
            </a:r>
            <a:r>
              <a:rPr lang="vi-VN" b="1" dirty="0"/>
              <a:t>)</a:t>
            </a:r>
            <a:r>
              <a:rPr lang="vi-VN" dirty="0"/>
              <a:t>: </a:t>
            </a:r>
            <a:r>
              <a:rPr lang="vi-VN" dirty="0" err="1"/>
              <a:t>Spikes</a:t>
            </a:r>
            <a:r>
              <a:rPr lang="vi-VN" dirty="0"/>
              <a:t> được giới hạn trong một khoảng thời gian cụ thể, thường là một hoặc hai ngày, để tránh tiêu tốn quá nhiều thời gian.</a:t>
            </a:r>
          </a:p>
          <a:p>
            <a:pPr>
              <a:buFont typeface="+mj-lt"/>
              <a:buAutoNum type="arabicPeriod"/>
            </a:pPr>
            <a:r>
              <a:rPr lang="vi-VN" b="1" dirty="0"/>
              <a:t>Kết quả đầu ra (</a:t>
            </a:r>
            <a:r>
              <a:rPr lang="vi-VN" b="1" dirty="0" err="1"/>
              <a:t>Deliverables</a:t>
            </a:r>
            <a:r>
              <a:rPr lang="vi-VN" b="1" dirty="0"/>
              <a:t>)</a:t>
            </a:r>
            <a:r>
              <a:rPr lang="vi-VN" dirty="0"/>
              <a:t>: Kết quả của một </a:t>
            </a:r>
            <a:r>
              <a:rPr lang="vi-VN" dirty="0" err="1"/>
              <a:t>spike</a:t>
            </a:r>
            <a:r>
              <a:rPr lang="vi-VN" dirty="0"/>
              <a:t> có thể bao gồm:</a:t>
            </a:r>
          </a:p>
          <a:p>
            <a:pPr marL="742950" lvl="1" indent="-285750">
              <a:buFont typeface="+mj-lt"/>
              <a:buAutoNum type="arabicPeriod"/>
            </a:pPr>
            <a:r>
              <a:rPr lang="vi-VN" dirty="0"/>
              <a:t>Tài liệu tóm tắt các phát hiện.</a:t>
            </a:r>
          </a:p>
          <a:p>
            <a:pPr marL="742950" lvl="1" indent="-285750">
              <a:buFont typeface="+mj-lt"/>
              <a:buAutoNum type="arabicPeriod"/>
            </a:pPr>
            <a:r>
              <a:rPr lang="vi-VN" dirty="0"/>
              <a:t>Một nguyên mẫu (</a:t>
            </a:r>
            <a:r>
              <a:rPr lang="vi-VN" dirty="0" err="1"/>
              <a:t>prototype</a:t>
            </a:r>
            <a:r>
              <a:rPr lang="vi-VN" dirty="0"/>
              <a:t>) hoặc bằng chứng về khái niệm (</a:t>
            </a:r>
            <a:r>
              <a:rPr lang="vi-VN" dirty="0" err="1"/>
              <a:t>proof</a:t>
            </a:r>
            <a:r>
              <a:rPr lang="vi-VN" dirty="0"/>
              <a:t> </a:t>
            </a:r>
            <a:r>
              <a:rPr lang="vi-VN" dirty="0" err="1"/>
              <a:t>of</a:t>
            </a:r>
            <a:r>
              <a:rPr lang="vi-VN" dirty="0"/>
              <a:t> </a:t>
            </a:r>
            <a:r>
              <a:rPr lang="vi-VN" dirty="0" err="1"/>
              <a:t>concept</a:t>
            </a:r>
            <a:r>
              <a:rPr lang="vi-VN" dirty="0"/>
              <a:t>).</a:t>
            </a:r>
          </a:p>
          <a:p>
            <a:pPr marL="742950" lvl="1" indent="-285750">
              <a:buFont typeface="+mj-lt"/>
              <a:buAutoNum type="arabicPeriod"/>
            </a:pPr>
            <a:r>
              <a:rPr lang="vi-VN" dirty="0"/>
              <a:t>Các </a:t>
            </a:r>
            <a:r>
              <a:rPr lang="vi-VN" dirty="0" err="1"/>
              <a:t>user</a:t>
            </a:r>
            <a:r>
              <a:rPr lang="vi-VN" dirty="0"/>
              <a:t> </a:t>
            </a:r>
            <a:r>
              <a:rPr lang="vi-VN" dirty="0" err="1"/>
              <a:t>story</a:t>
            </a:r>
            <a:r>
              <a:rPr lang="vi-VN" dirty="0"/>
              <a:t> hoặc nhiệm vụ kỹ thuật được cập nhật.</a:t>
            </a:r>
          </a:p>
          <a:p>
            <a:pPr>
              <a:buFont typeface="+mj-lt"/>
              <a:buAutoNum type="arabicPeriod"/>
            </a:pPr>
            <a:r>
              <a:rPr lang="vi-VN" b="1" dirty="0"/>
              <a:t>Ưu tiên (</a:t>
            </a:r>
            <a:r>
              <a:rPr lang="vi-VN" b="1" dirty="0" err="1"/>
              <a:t>Prioritized</a:t>
            </a:r>
            <a:r>
              <a:rPr lang="vi-VN" b="1" dirty="0"/>
              <a:t>)</a:t>
            </a:r>
            <a:r>
              <a:rPr lang="vi-VN" dirty="0"/>
              <a:t>: </a:t>
            </a:r>
            <a:r>
              <a:rPr lang="vi-VN" dirty="0" err="1"/>
              <a:t>Spikes</a:t>
            </a:r>
            <a:r>
              <a:rPr lang="vi-VN" dirty="0"/>
              <a:t> được ưu tiên trong </a:t>
            </a:r>
            <a:r>
              <a:rPr lang="vi-VN" dirty="0" err="1"/>
              <a:t>backlog</a:t>
            </a:r>
            <a:r>
              <a:rPr lang="vi-VN" dirty="0"/>
              <a:t> dựa trên tầm quan trọng của việc giải quyết sự không chắc chắn mà chúng đang giải quyết.</a:t>
            </a:r>
          </a:p>
          <a:p>
            <a:endParaRPr lang="en-US" dirty="0"/>
          </a:p>
        </p:txBody>
      </p:sp>
    </p:spTree>
    <p:extLst>
      <p:ext uri="{BB962C8B-B14F-4D97-AF65-F5344CB8AC3E}">
        <p14:creationId xmlns:p14="http://schemas.microsoft.com/office/powerpoint/2010/main" val="428483777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r>
              <a:rPr lang="vi-VN" b="1" dirty="0" err="1"/>
              <a:t>Definition</a:t>
            </a:r>
            <a:r>
              <a:rPr lang="vi-VN" b="1" dirty="0"/>
              <a:t> </a:t>
            </a:r>
            <a:r>
              <a:rPr lang="vi-VN" b="1" dirty="0" err="1"/>
              <a:t>of</a:t>
            </a:r>
            <a:r>
              <a:rPr lang="vi-VN" b="1" dirty="0"/>
              <a:t> </a:t>
            </a:r>
            <a:r>
              <a:rPr lang="vi-VN" b="1" dirty="0" err="1"/>
              <a:t>Done</a:t>
            </a:r>
            <a:r>
              <a:rPr lang="vi-VN" b="1" dirty="0"/>
              <a:t> (</a:t>
            </a:r>
            <a:r>
              <a:rPr lang="vi-VN" b="1" dirty="0" err="1"/>
              <a:t>DoD</a:t>
            </a:r>
            <a:r>
              <a:rPr lang="vi-VN" b="1" dirty="0"/>
              <a:t>) trong </a:t>
            </a:r>
            <a:r>
              <a:rPr lang="vi-VN" b="1" dirty="0" err="1"/>
              <a:t>Scrum</a:t>
            </a:r>
            <a:endParaRPr lang="vi-VN" b="1" dirty="0"/>
          </a:p>
          <a:p>
            <a:r>
              <a:rPr lang="vi-VN" b="1" dirty="0" err="1"/>
              <a:t>Definition</a:t>
            </a:r>
            <a:r>
              <a:rPr lang="vi-VN" b="1" dirty="0"/>
              <a:t> </a:t>
            </a:r>
            <a:r>
              <a:rPr lang="vi-VN" b="1" dirty="0" err="1"/>
              <a:t>of</a:t>
            </a:r>
            <a:r>
              <a:rPr lang="vi-VN" b="1" dirty="0"/>
              <a:t> </a:t>
            </a:r>
            <a:r>
              <a:rPr lang="vi-VN" b="1" dirty="0" err="1"/>
              <a:t>Done</a:t>
            </a:r>
            <a:r>
              <a:rPr lang="vi-VN" b="1" dirty="0"/>
              <a:t> (</a:t>
            </a:r>
            <a:r>
              <a:rPr lang="vi-VN" b="1" dirty="0" err="1"/>
              <a:t>DoD</a:t>
            </a:r>
            <a:r>
              <a:rPr lang="vi-VN" b="1" dirty="0"/>
              <a:t>)</a:t>
            </a:r>
            <a:r>
              <a:rPr lang="vi-VN" dirty="0"/>
              <a:t> là một tập hợp các tiêu chí chấp nhận được định nghĩa rõ ràng, mà một sản phẩm hoặc công việc cần phải đáp ứng để được coi là hoàn thành. </a:t>
            </a:r>
            <a:r>
              <a:rPr lang="vi-VN" dirty="0" err="1"/>
              <a:t>DoD</a:t>
            </a:r>
            <a:r>
              <a:rPr lang="vi-VN" dirty="0"/>
              <a:t> đảm bảo tính minh bạch, chất lượng và sự đồng thuận trong đội </a:t>
            </a:r>
            <a:r>
              <a:rPr lang="vi-VN" dirty="0" err="1"/>
              <a:t>Scrum</a:t>
            </a:r>
            <a:r>
              <a:rPr lang="vi-VN" dirty="0"/>
              <a:t> về việc một công việc đã hoàn tất.</a:t>
            </a:r>
          </a:p>
          <a:p>
            <a:r>
              <a:rPr lang="vi-VN" b="1" dirty="0"/>
              <a:t>Lợi ích của </a:t>
            </a:r>
            <a:r>
              <a:rPr lang="vi-VN" b="1" dirty="0" err="1"/>
              <a:t>DoD</a:t>
            </a:r>
            <a:endParaRPr lang="vi-VN" b="1" dirty="0"/>
          </a:p>
          <a:p>
            <a:pPr>
              <a:buFont typeface="+mj-lt"/>
              <a:buAutoNum type="arabicPeriod"/>
            </a:pPr>
            <a:r>
              <a:rPr lang="vi-VN" b="1" dirty="0"/>
              <a:t>Tăng tính minh bạch</a:t>
            </a:r>
            <a:r>
              <a:rPr lang="vi-VN" dirty="0"/>
              <a:t>: Cung cấp định nghĩa rõ ràng về khi nào một sản phẩm hoặc nhiệm vụ được hoàn thành.</a:t>
            </a:r>
          </a:p>
          <a:p>
            <a:pPr>
              <a:buFont typeface="+mj-lt"/>
              <a:buAutoNum type="arabicPeriod"/>
            </a:pPr>
            <a:r>
              <a:rPr lang="vi-VN" b="1" dirty="0"/>
              <a:t>Cải thiện chất lượng</a:t>
            </a:r>
            <a:r>
              <a:rPr lang="vi-VN" dirty="0"/>
              <a:t>: Giúp đội </a:t>
            </a:r>
            <a:r>
              <a:rPr lang="vi-VN" dirty="0" err="1"/>
              <a:t>Scrum</a:t>
            </a:r>
            <a:r>
              <a:rPr lang="vi-VN" dirty="0"/>
              <a:t> đảm bảo rằng các công việc đạt chuẩn chất lượng cần thiết.</a:t>
            </a:r>
          </a:p>
          <a:p>
            <a:pPr>
              <a:buFont typeface="+mj-lt"/>
              <a:buAutoNum type="arabicPeriod"/>
            </a:pPr>
            <a:r>
              <a:rPr lang="vi-VN" b="1" dirty="0"/>
              <a:t>Giảm rủi ro</a:t>
            </a:r>
            <a:r>
              <a:rPr lang="vi-VN" dirty="0"/>
              <a:t>: Tránh việc triển khai sản phẩm chưa hoàn chỉnh hoặc lỗi.</a:t>
            </a:r>
          </a:p>
          <a:p>
            <a:pPr>
              <a:buFont typeface="+mj-lt"/>
              <a:buAutoNum type="arabicPeriod"/>
            </a:pPr>
            <a:r>
              <a:rPr lang="vi-VN" b="1" dirty="0"/>
              <a:t>Dễ dàng dự đoán</a:t>
            </a:r>
            <a:r>
              <a:rPr lang="vi-VN" dirty="0"/>
              <a:t>: Tạo sự nhất quán trong việc lập kế hoạch và ước lượng công việc.</a:t>
            </a:r>
          </a:p>
          <a:p>
            <a:r>
              <a:rPr lang="vi-VN" b="1" dirty="0"/>
              <a:t>Các yếu tố thường có trong </a:t>
            </a:r>
            <a:r>
              <a:rPr lang="vi-VN" b="1" dirty="0" err="1"/>
              <a:t>DoD</a:t>
            </a:r>
            <a:endParaRPr lang="vi-VN" b="1" dirty="0"/>
          </a:p>
          <a:p>
            <a:r>
              <a:rPr lang="vi-VN" dirty="0"/>
              <a:t>Tùy thuộc vào đội </a:t>
            </a:r>
            <a:r>
              <a:rPr lang="vi-VN" dirty="0" err="1"/>
              <a:t>Scrum</a:t>
            </a:r>
            <a:r>
              <a:rPr lang="vi-VN" dirty="0"/>
              <a:t> và tổ chức, </a:t>
            </a:r>
            <a:r>
              <a:rPr lang="vi-VN" dirty="0" err="1"/>
              <a:t>DoD</a:t>
            </a:r>
            <a:r>
              <a:rPr lang="vi-VN" dirty="0"/>
              <a:t> có thể bao gồm các tiêu chí như:</a:t>
            </a:r>
          </a:p>
          <a:p>
            <a:pPr>
              <a:buFont typeface="+mj-lt"/>
              <a:buAutoNum type="arabicPeriod"/>
            </a:pPr>
            <a:r>
              <a:rPr lang="vi-VN" b="1" dirty="0"/>
              <a:t>Phát triển và Kiểm thử (</a:t>
            </a:r>
            <a:r>
              <a:rPr lang="vi-VN" b="1" dirty="0" err="1"/>
              <a:t>Development</a:t>
            </a:r>
            <a:r>
              <a:rPr lang="vi-VN" b="1" dirty="0"/>
              <a:t> </a:t>
            </a:r>
            <a:r>
              <a:rPr lang="vi-VN" b="1" dirty="0" err="1"/>
              <a:t>and</a:t>
            </a:r>
            <a:r>
              <a:rPr lang="vi-VN" b="1" dirty="0"/>
              <a:t> </a:t>
            </a:r>
            <a:r>
              <a:rPr lang="vi-VN" b="1" dirty="0" err="1"/>
              <a:t>Testing</a:t>
            </a:r>
            <a:r>
              <a:rPr lang="vi-VN" b="1" dirty="0"/>
              <a:t>)</a:t>
            </a:r>
            <a:r>
              <a:rPr lang="vi-VN" dirty="0"/>
              <a:t>:</a:t>
            </a:r>
          </a:p>
          <a:p>
            <a:pPr marL="742950" lvl="1" indent="-285750">
              <a:buFont typeface="+mj-lt"/>
              <a:buAutoNum type="arabicPeriod"/>
            </a:pPr>
            <a:r>
              <a:rPr lang="vi-VN" dirty="0" err="1"/>
              <a:t>Code</a:t>
            </a:r>
            <a:r>
              <a:rPr lang="vi-VN" dirty="0"/>
              <a:t> đã được viết và kiểm thử đầy đủ.</a:t>
            </a:r>
          </a:p>
          <a:p>
            <a:pPr marL="742950" lvl="1" indent="-285750">
              <a:buFont typeface="+mj-lt"/>
              <a:buAutoNum type="arabicPeriod"/>
            </a:pPr>
            <a:r>
              <a:rPr lang="vi-VN" dirty="0"/>
              <a:t>Tất cả </a:t>
            </a:r>
            <a:r>
              <a:rPr lang="vi-VN" dirty="0" err="1"/>
              <a:t>unit</a:t>
            </a:r>
            <a:r>
              <a:rPr lang="vi-VN" dirty="0"/>
              <a:t> </a:t>
            </a:r>
            <a:r>
              <a:rPr lang="vi-VN" dirty="0" err="1"/>
              <a:t>tests</a:t>
            </a:r>
            <a:r>
              <a:rPr lang="vi-VN" dirty="0"/>
              <a:t> đều chạy thành công.</a:t>
            </a:r>
          </a:p>
          <a:p>
            <a:pPr marL="742950" lvl="1" indent="-285750">
              <a:buFont typeface="+mj-lt"/>
              <a:buAutoNum type="arabicPeriod"/>
            </a:pPr>
            <a:r>
              <a:rPr lang="vi-VN" dirty="0"/>
              <a:t>Đã thực hiện kiểm thử tích hợp (</a:t>
            </a:r>
            <a:r>
              <a:rPr lang="vi-VN" dirty="0" err="1"/>
              <a:t>integration</a:t>
            </a:r>
            <a:r>
              <a:rPr lang="vi-VN" dirty="0"/>
              <a:t> </a:t>
            </a:r>
            <a:r>
              <a:rPr lang="vi-VN" dirty="0" err="1"/>
              <a:t>testing</a:t>
            </a:r>
            <a:r>
              <a:rPr lang="vi-VN" dirty="0"/>
              <a:t>).</a:t>
            </a:r>
          </a:p>
          <a:p>
            <a:pPr>
              <a:buFont typeface="+mj-lt"/>
              <a:buAutoNum type="arabicPeriod"/>
            </a:pPr>
            <a:r>
              <a:rPr lang="vi-VN" b="1" dirty="0"/>
              <a:t>Chất lượng và Hiệu suất (</a:t>
            </a:r>
            <a:r>
              <a:rPr lang="vi-VN" b="1" dirty="0" err="1"/>
              <a:t>Quality</a:t>
            </a:r>
            <a:r>
              <a:rPr lang="vi-VN" b="1" dirty="0"/>
              <a:t> </a:t>
            </a:r>
            <a:r>
              <a:rPr lang="vi-VN" b="1" dirty="0" err="1"/>
              <a:t>and</a:t>
            </a:r>
            <a:r>
              <a:rPr lang="vi-VN" b="1" dirty="0"/>
              <a:t> </a:t>
            </a:r>
            <a:r>
              <a:rPr lang="vi-VN" b="1" dirty="0" err="1"/>
              <a:t>Performance</a:t>
            </a:r>
            <a:r>
              <a:rPr lang="vi-VN" b="1" dirty="0"/>
              <a:t>)</a:t>
            </a:r>
            <a:r>
              <a:rPr lang="vi-VN" dirty="0"/>
              <a:t>:</a:t>
            </a:r>
          </a:p>
          <a:p>
            <a:pPr marL="742950" lvl="1" indent="-285750">
              <a:buFont typeface="+mj-lt"/>
              <a:buAutoNum type="arabicPeriod"/>
            </a:pPr>
            <a:r>
              <a:rPr lang="vi-VN" dirty="0" err="1"/>
              <a:t>Code</a:t>
            </a:r>
            <a:r>
              <a:rPr lang="vi-VN" dirty="0"/>
              <a:t> đã được </a:t>
            </a:r>
            <a:r>
              <a:rPr lang="vi-VN" dirty="0" err="1"/>
              <a:t>review</a:t>
            </a:r>
            <a:r>
              <a:rPr lang="vi-VN" dirty="0"/>
              <a:t> và đạt tiêu chuẩn </a:t>
            </a:r>
            <a:r>
              <a:rPr lang="vi-VN" dirty="0" err="1"/>
              <a:t>coding</a:t>
            </a:r>
            <a:r>
              <a:rPr lang="vi-VN" dirty="0"/>
              <a:t> </a:t>
            </a:r>
            <a:r>
              <a:rPr lang="vi-VN" dirty="0" err="1"/>
              <a:t>conventions</a:t>
            </a:r>
            <a:r>
              <a:rPr lang="vi-VN" dirty="0"/>
              <a:t>.</a:t>
            </a:r>
          </a:p>
          <a:p>
            <a:pPr marL="742950" lvl="1" indent="-285750">
              <a:buFont typeface="+mj-lt"/>
              <a:buAutoNum type="arabicPeriod"/>
            </a:pPr>
            <a:r>
              <a:rPr lang="vi-VN" dirty="0"/>
              <a:t>Đã kiểm thử hiệu suất và bảo mật.</a:t>
            </a:r>
          </a:p>
          <a:p>
            <a:pPr>
              <a:buFont typeface="+mj-lt"/>
              <a:buAutoNum type="arabicPeriod"/>
            </a:pPr>
            <a:r>
              <a:rPr lang="vi-VN" b="1" dirty="0"/>
              <a:t>Triển khai và Tài liệu (</a:t>
            </a:r>
            <a:r>
              <a:rPr lang="vi-VN" b="1" dirty="0" err="1"/>
              <a:t>Deployment</a:t>
            </a:r>
            <a:r>
              <a:rPr lang="vi-VN" b="1" dirty="0"/>
              <a:t> </a:t>
            </a:r>
            <a:r>
              <a:rPr lang="vi-VN" b="1" dirty="0" err="1"/>
              <a:t>and</a:t>
            </a:r>
            <a:r>
              <a:rPr lang="vi-VN" b="1" dirty="0"/>
              <a:t> </a:t>
            </a:r>
            <a:r>
              <a:rPr lang="vi-VN" b="1" dirty="0" err="1"/>
              <a:t>Documentation</a:t>
            </a:r>
            <a:r>
              <a:rPr lang="vi-VN" b="1" dirty="0"/>
              <a:t>)</a:t>
            </a:r>
            <a:r>
              <a:rPr lang="vi-VN" dirty="0"/>
              <a:t>:</a:t>
            </a:r>
          </a:p>
          <a:p>
            <a:pPr marL="742950" lvl="1" indent="-285750">
              <a:buFont typeface="+mj-lt"/>
              <a:buAutoNum type="arabicPeriod"/>
            </a:pPr>
            <a:r>
              <a:rPr lang="vi-VN" dirty="0"/>
              <a:t>Tính năng đã được triển khai lên môi trường </a:t>
            </a:r>
            <a:r>
              <a:rPr lang="vi-VN" dirty="0" err="1"/>
              <a:t>staging</a:t>
            </a:r>
            <a:r>
              <a:rPr lang="vi-VN" dirty="0"/>
              <a:t> hoặc </a:t>
            </a:r>
            <a:r>
              <a:rPr lang="vi-VN" dirty="0" err="1"/>
              <a:t>production</a:t>
            </a:r>
            <a:r>
              <a:rPr lang="vi-VN" dirty="0"/>
              <a:t>.</a:t>
            </a:r>
          </a:p>
          <a:p>
            <a:pPr marL="742950" lvl="1" indent="-285750">
              <a:buFont typeface="+mj-lt"/>
              <a:buAutoNum type="arabicPeriod"/>
            </a:pPr>
            <a:r>
              <a:rPr lang="vi-VN" dirty="0"/>
              <a:t>Đã cập nhật tài liệu liên quan (hướng dẫn sử dụng, tài liệu API, </a:t>
            </a:r>
            <a:r>
              <a:rPr lang="vi-VN" dirty="0" err="1"/>
              <a:t>v.v</a:t>
            </a:r>
            <a:r>
              <a:rPr lang="vi-VN" dirty="0"/>
              <a:t>.).</a:t>
            </a:r>
          </a:p>
          <a:p>
            <a:pPr>
              <a:buFont typeface="+mj-lt"/>
              <a:buAutoNum type="arabicPeriod"/>
            </a:pPr>
            <a:r>
              <a:rPr lang="vi-VN" b="1" dirty="0"/>
              <a:t>Sự chấp nhận của </a:t>
            </a:r>
            <a:r>
              <a:rPr lang="vi-VN" b="1" dirty="0" err="1"/>
              <a:t>Stakeholders</a:t>
            </a:r>
            <a:r>
              <a:rPr lang="vi-VN" b="1" dirty="0"/>
              <a:t> (</a:t>
            </a:r>
            <a:r>
              <a:rPr lang="vi-VN" b="1" dirty="0" err="1"/>
              <a:t>Stakeholder</a:t>
            </a:r>
            <a:r>
              <a:rPr lang="vi-VN" b="1" dirty="0"/>
              <a:t> </a:t>
            </a:r>
            <a:r>
              <a:rPr lang="vi-VN" b="1" dirty="0" err="1"/>
              <a:t>Approval</a:t>
            </a:r>
            <a:r>
              <a:rPr lang="vi-VN" b="1" dirty="0"/>
              <a:t>)</a:t>
            </a:r>
            <a:r>
              <a:rPr lang="vi-VN" dirty="0"/>
              <a:t>:</a:t>
            </a:r>
          </a:p>
          <a:p>
            <a:pPr marL="742950" lvl="1" indent="-285750">
              <a:buFont typeface="+mj-lt"/>
              <a:buAutoNum type="arabicPeriod"/>
            </a:pPr>
            <a:r>
              <a:rPr lang="vi-VN" dirty="0"/>
              <a:t>Sản phẩm đã được </a:t>
            </a:r>
            <a:r>
              <a:rPr lang="vi-VN" dirty="0" err="1"/>
              <a:t>Product</a:t>
            </a:r>
            <a:r>
              <a:rPr lang="vi-VN" dirty="0"/>
              <a:t> </a:t>
            </a:r>
            <a:r>
              <a:rPr lang="vi-VN" dirty="0" err="1"/>
              <a:t>Owner</a:t>
            </a:r>
            <a:r>
              <a:rPr lang="vi-VN" dirty="0"/>
              <a:t> kiểm tra và chấp nhận.</a:t>
            </a:r>
          </a:p>
          <a:p>
            <a:pPr marL="742950" lvl="1" indent="-285750">
              <a:buFont typeface="+mj-lt"/>
              <a:buAutoNum type="arabicPeriod"/>
            </a:pPr>
            <a:r>
              <a:rPr lang="vi-VN" dirty="0"/>
              <a:t>Đáp ứng tất cả các tiêu chí chấp nhận trong </a:t>
            </a:r>
            <a:r>
              <a:rPr lang="vi-VN" dirty="0" err="1"/>
              <a:t>user</a:t>
            </a:r>
            <a:r>
              <a:rPr lang="vi-VN" dirty="0"/>
              <a:t> </a:t>
            </a:r>
            <a:r>
              <a:rPr lang="vi-VN" dirty="0" err="1"/>
              <a:t>story</a:t>
            </a:r>
            <a:r>
              <a:rPr lang="vi-VN" dirty="0"/>
              <a:t>.</a:t>
            </a:r>
          </a:p>
          <a:p>
            <a:r>
              <a:rPr lang="vi-VN" b="1" dirty="0"/>
              <a:t>Ví dụ về </a:t>
            </a:r>
            <a:r>
              <a:rPr lang="vi-VN" b="1" dirty="0" err="1"/>
              <a:t>Definition</a:t>
            </a:r>
            <a:r>
              <a:rPr lang="vi-VN" b="1" dirty="0"/>
              <a:t> </a:t>
            </a:r>
            <a:r>
              <a:rPr lang="vi-VN" b="1" dirty="0" err="1"/>
              <a:t>of</a:t>
            </a:r>
            <a:r>
              <a:rPr lang="vi-VN" b="1" dirty="0"/>
              <a:t> </a:t>
            </a:r>
            <a:r>
              <a:rPr lang="vi-VN" b="1" dirty="0" err="1"/>
              <a:t>Done</a:t>
            </a:r>
            <a:endParaRPr lang="vi-VN" b="1" dirty="0"/>
          </a:p>
          <a:p>
            <a:r>
              <a:rPr lang="vi-VN" b="1" dirty="0"/>
              <a:t>Cho một </a:t>
            </a:r>
            <a:r>
              <a:rPr lang="vi-VN" b="1" dirty="0" err="1"/>
              <a:t>User</a:t>
            </a:r>
            <a:r>
              <a:rPr lang="vi-VN" b="1" dirty="0"/>
              <a:t> </a:t>
            </a:r>
            <a:r>
              <a:rPr lang="vi-VN" b="1" dirty="0" err="1"/>
              <a:t>Story</a:t>
            </a:r>
            <a:r>
              <a:rPr lang="vi-VN" b="1" dirty="0"/>
              <a:t>:</a:t>
            </a:r>
          </a:p>
          <a:p>
            <a:pPr>
              <a:buFont typeface="+mj-lt"/>
              <a:buAutoNum type="arabicPeriod"/>
            </a:pPr>
            <a:r>
              <a:rPr lang="vi-VN" dirty="0" err="1"/>
              <a:t>Code</a:t>
            </a:r>
            <a:r>
              <a:rPr lang="vi-VN" dirty="0"/>
              <a:t> đã được phát triển và kiểm thử theo tiêu chuẩn của nhóm.</a:t>
            </a:r>
          </a:p>
          <a:p>
            <a:pPr>
              <a:buFont typeface="+mj-lt"/>
              <a:buAutoNum type="arabicPeriod"/>
            </a:pPr>
            <a:r>
              <a:rPr lang="vi-VN" dirty="0" err="1"/>
              <a:t>Unit</a:t>
            </a:r>
            <a:r>
              <a:rPr lang="vi-VN" dirty="0"/>
              <a:t> </a:t>
            </a:r>
            <a:r>
              <a:rPr lang="vi-VN" dirty="0" err="1"/>
              <a:t>tests</a:t>
            </a:r>
            <a:r>
              <a:rPr lang="vi-VN" dirty="0"/>
              <a:t> đạt 100% độ phủ (</a:t>
            </a:r>
            <a:r>
              <a:rPr lang="vi-VN" dirty="0" err="1"/>
              <a:t>coverage</a:t>
            </a:r>
            <a:r>
              <a:rPr lang="vi-VN" dirty="0"/>
              <a:t>).</a:t>
            </a:r>
          </a:p>
          <a:p>
            <a:pPr>
              <a:buFont typeface="+mj-lt"/>
              <a:buAutoNum type="arabicPeriod"/>
            </a:pPr>
            <a:r>
              <a:rPr lang="vi-VN" dirty="0"/>
              <a:t>Tính năng đã được kiểm thử tích hợp thành công với các </a:t>
            </a:r>
            <a:r>
              <a:rPr lang="vi-VN" dirty="0" err="1"/>
              <a:t>module</a:t>
            </a:r>
            <a:r>
              <a:rPr lang="vi-VN" dirty="0"/>
              <a:t> khác.</a:t>
            </a:r>
          </a:p>
          <a:p>
            <a:pPr>
              <a:buFont typeface="+mj-lt"/>
              <a:buAutoNum type="arabicPeriod"/>
            </a:pPr>
            <a:r>
              <a:rPr lang="vi-VN" dirty="0"/>
              <a:t>Đã triển khai trên môi trường </a:t>
            </a:r>
            <a:r>
              <a:rPr lang="vi-VN" dirty="0" err="1"/>
              <a:t>staging</a:t>
            </a:r>
            <a:r>
              <a:rPr lang="vi-VN" dirty="0"/>
              <a:t> và chạy thành công.</a:t>
            </a:r>
          </a:p>
          <a:p>
            <a:pPr>
              <a:buFont typeface="+mj-lt"/>
              <a:buAutoNum type="arabicPeriod"/>
            </a:pPr>
            <a:r>
              <a:rPr lang="vi-VN" dirty="0" err="1"/>
              <a:t>Product</a:t>
            </a:r>
            <a:r>
              <a:rPr lang="vi-VN" dirty="0"/>
              <a:t> </a:t>
            </a:r>
            <a:r>
              <a:rPr lang="vi-VN" dirty="0" err="1"/>
              <a:t>Owner</a:t>
            </a:r>
            <a:r>
              <a:rPr lang="vi-VN" dirty="0"/>
              <a:t> đã xác nhận rằng tất cả </a:t>
            </a:r>
            <a:r>
              <a:rPr lang="vi-VN" dirty="0" err="1"/>
              <a:t>acceptance</a:t>
            </a:r>
            <a:r>
              <a:rPr lang="vi-VN" dirty="0"/>
              <a:t> </a:t>
            </a:r>
            <a:r>
              <a:rPr lang="vi-VN" dirty="0" err="1"/>
              <a:t>criteria</a:t>
            </a:r>
            <a:r>
              <a:rPr lang="vi-VN" dirty="0"/>
              <a:t> đều được đáp ứng.</a:t>
            </a:r>
          </a:p>
          <a:p>
            <a:r>
              <a:rPr lang="vi-VN" b="1" dirty="0"/>
              <a:t>Cho Một </a:t>
            </a:r>
            <a:r>
              <a:rPr lang="vi-VN" b="1" dirty="0" err="1"/>
              <a:t>Release</a:t>
            </a:r>
            <a:r>
              <a:rPr lang="vi-VN" b="1" dirty="0"/>
              <a:t>:</a:t>
            </a:r>
          </a:p>
          <a:p>
            <a:pPr>
              <a:buFont typeface="+mj-lt"/>
              <a:buAutoNum type="arabicPeriod"/>
            </a:pPr>
            <a:r>
              <a:rPr lang="vi-VN" dirty="0"/>
              <a:t>Tất cả </a:t>
            </a:r>
            <a:r>
              <a:rPr lang="vi-VN" dirty="0" err="1"/>
              <a:t>user</a:t>
            </a:r>
            <a:r>
              <a:rPr lang="vi-VN" dirty="0"/>
              <a:t> </a:t>
            </a:r>
            <a:r>
              <a:rPr lang="vi-VN" dirty="0" err="1"/>
              <a:t>stories</a:t>
            </a:r>
            <a:r>
              <a:rPr lang="vi-VN" dirty="0"/>
              <a:t> trong </a:t>
            </a:r>
            <a:r>
              <a:rPr lang="vi-VN" dirty="0" err="1"/>
              <a:t>release</a:t>
            </a:r>
            <a:r>
              <a:rPr lang="vi-VN" dirty="0"/>
              <a:t> đều đáp ứng </a:t>
            </a:r>
            <a:r>
              <a:rPr lang="vi-VN" dirty="0" err="1"/>
              <a:t>DoD</a:t>
            </a:r>
            <a:r>
              <a:rPr lang="vi-VN" dirty="0"/>
              <a:t>.</a:t>
            </a:r>
          </a:p>
          <a:p>
            <a:pPr>
              <a:buFont typeface="+mj-lt"/>
              <a:buAutoNum type="arabicPeriod"/>
            </a:pPr>
            <a:r>
              <a:rPr lang="vi-VN" dirty="0"/>
              <a:t>Không có lỗi nghiêm trọng (</a:t>
            </a:r>
            <a:r>
              <a:rPr lang="vi-VN" dirty="0" err="1"/>
              <a:t>critical</a:t>
            </a:r>
            <a:r>
              <a:rPr lang="vi-VN" dirty="0"/>
              <a:t> </a:t>
            </a:r>
            <a:r>
              <a:rPr lang="vi-VN" dirty="0" err="1"/>
              <a:t>bugs</a:t>
            </a:r>
            <a:r>
              <a:rPr lang="vi-VN" dirty="0"/>
              <a:t>) nào còn tồn tại.</a:t>
            </a:r>
          </a:p>
          <a:p>
            <a:pPr>
              <a:buFont typeface="+mj-lt"/>
              <a:buAutoNum type="arabicPeriod"/>
            </a:pPr>
            <a:r>
              <a:rPr lang="vi-VN" dirty="0"/>
              <a:t>Đã hoàn tất kiểm thử hồi quy (</a:t>
            </a:r>
            <a:r>
              <a:rPr lang="vi-VN" dirty="0" err="1"/>
              <a:t>regression</a:t>
            </a:r>
            <a:r>
              <a:rPr lang="vi-VN" dirty="0"/>
              <a:t> </a:t>
            </a:r>
            <a:r>
              <a:rPr lang="vi-VN" dirty="0" err="1"/>
              <a:t>testing</a:t>
            </a:r>
            <a:r>
              <a:rPr lang="vi-VN" dirty="0"/>
              <a:t>).</a:t>
            </a:r>
          </a:p>
          <a:p>
            <a:pPr>
              <a:buFont typeface="+mj-lt"/>
              <a:buAutoNum type="arabicPeriod"/>
            </a:pPr>
            <a:r>
              <a:rPr lang="vi-VN" dirty="0"/>
              <a:t>Đã cập nhật tài liệu hướng dẫn và tài liệu kỹ thuật.</a:t>
            </a:r>
          </a:p>
          <a:p>
            <a:pPr>
              <a:buFont typeface="+mj-lt"/>
              <a:buAutoNum type="arabicPeriod"/>
            </a:pPr>
            <a:r>
              <a:rPr lang="vi-VN" dirty="0"/>
              <a:t>Sản phẩm đã được triển khai trên </a:t>
            </a:r>
            <a:r>
              <a:rPr lang="vi-VN" dirty="0" err="1"/>
              <a:t>production</a:t>
            </a:r>
            <a:r>
              <a:rPr lang="vi-VN" dirty="0"/>
              <a:t>.</a:t>
            </a:r>
          </a:p>
          <a:p>
            <a:r>
              <a:rPr lang="vi-VN" b="1" dirty="0"/>
              <a:t>Cách Xây dựng và Duy trì </a:t>
            </a:r>
            <a:r>
              <a:rPr lang="vi-VN" b="1" dirty="0" err="1"/>
              <a:t>DoD</a:t>
            </a:r>
            <a:endParaRPr lang="vi-VN" b="1" dirty="0"/>
          </a:p>
          <a:p>
            <a:pPr>
              <a:buFont typeface="+mj-lt"/>
              <a:buAutoNum type="arabicPeriod"/>
            </a:pPr>
            <a:r>
              <a:rPr lang="vi-VN" b="1" dirty="0"/>
              <a:t>Đồng thuận nhóm</a:t>
            </a:r>
            <a:r>
              <a:rPr lang="vi-VN" dirty="0"/>
              <a:t>: </a:t>
            </a:r>
            <a:r>
              <a:rPr lang="vi-VN" dirty="0" err="1"/>
              <a:t>DoD</a:t>
            </a:r>
            <a:r>
              <a:rPr lang="vi-VN" dirty="0"/>
              <a:t> phải được thảo luận và đồng ý bởi toàn bộ đội </a:t>
            </a:r>
            <a:r>
              <a:rPr lang="vi-VN" dirty="0" err="1"/>
              <a:t>Scrum</a:t>
            </a:r>
            <a:r>
              <a:rPr lang="vi-VN" dirty="0"/>
              <a:t>, bao gồm </a:t>
            </a:r>
            <a:r>
              <a:rPr lang="vi-VN" dirty="0" err="1"/>
              <a:t>Product</a:t>
            </a:r>
            <a:r>
              <a:rPr lang="vi-VN" dirty="0"/>
              <a:t> </a:t>
            </a:r>
            <a:r>
              <a:rPr lang="vi-VN" dirty="0" err="1"/>
              <a:t>Owner</a:t>
            </a:r>
            <a:r>
              <a:rPr lang="vi-VN" dirty="0"/>
              <a:t>, </a:t>
            </a:r>
            <a:r>
              <a:rPr lang="vi-VN" dirty="0" err="1"/>
              <a:t>Scrum</a:t>
            </a:r>
            <a:r>
              <a:rPr lang="vi-VN" dirty="0"/>
              <a:t> </a:t>
            </a:r>
            <a:r>
              <a:rPr lang="vi-VN" dirty="0" err="1"/>
              <a:t>Master</a:t>
            </a:r>
            <a:r>
              <a:rPr lang="vi-VN" dirty="0"/>
              <a:t> và </a:t>
            </a:r>
            <a:r>
              <a:rPr lang="vi-VN" dirty="0" err="1"/>
              <a:t>Development</a:t>
            </a:r>
            <a:r>
              <a:rPr lang="vi-VN" dirty="0"/>
              <a:t> Team.</a:t>
            </a:r>
          </a:p>
          <a:p>
            <a:pPr>
              <a:buFont typeface="+mj-lt"/>
              <a:buAutoNum type="arabicPeriod"/>
            </a:pPr>
            <a:r>
              <a:rPr lang="vi-VN" b="1" dirty="0"/>
              <a:t>Cụ thể và khả thi</a:t>
            </a:r>
            <a:r>
              <a:rPr lang="vi-VN" dirty="0"/>
              <a:t>: Các tiêu chí phải rõ ràng, cụ thể và phù hợp với năng lực của đội.</a:t>
            </a:r>
          </a:p>
          <a:p>
            <a:pPr>
              <a:buFont typeface="+mj-lt"/>
              <a:buAutoNum type="arabicPeriod"/>
            </a:pPr>
            <a:r>
              <a:rPr lang="vi-VN" b="1" dirty="0"/>
              <a:t>Cập nhật định kỳ</a:t>
            </a:r>
            <a:r>
              <a:rPr lang="vi-VN" dirty="0"/>
              <a:t>: Định nghĩa có thể thay đổi khi đội trưởng thành hoặc quy trình phát triển thay đổi.</a:t>
            </a:r>
          </a:p>
          <a:p>
            <a:endParaRPr lang="en-US" dirty="0"/>
          </a:p>
        </p:txBody>
      </p:sp>
    </p:spTree>
    <p:extLst>
      <p:ext uri="{BB962C8B-B14F-4D97-AF65-F5344CB8AC3E}">
        <p14:creationId xmlns:p14="http://schemas.microsoft.com/office/powerpoint/2010/main" val="204433176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r>
              <a:rPr lang="vi-VN" b="1"/>
              <a:t>1. Development and Testing (Phát triển và Kiểm thử):</a:t>
            </a:r>
          </a:p>
          <a:p>
            <a:pPr>
              <a:buFont typeface="Arial" panose="020B0604020202020204" pitchFamily="34" charset="0"/>
              <a:buChar char="•"/>
            </a:pPr>
            <a:r>
              <a:rPr lang="vi-VN" b="1"/>
              <a:t>Code đã được viết và kiểm tra đầy đủ.</a:t>
            </a:r>
            <a:endParaRPr lang="vi-VN"/>
          </a:p>
          <a:p>
            <a:pPr>
              <a:buFont typeface="Arial" panose="020B0604020202020204" pitchFamily="34" charset="0"/>
              <a:buChar char="•"/>
            </a:pPr>
            <a:r>
              <a:rPr lang="vi-VN" b="1"/>
              <a:t>Tất cả các bài kiểm tra đơn vị (Unit Tests) đều chạy thành công.</a:t>
            </a:r>
            <a:endParaRPr lang="vi-VN"/>
          </a:p>
          <a:p>
            <a:pPr>
              <a:buFont typeface="Arial" panose="020B0604020202020204" pitchFamily="34" charset="0"/>
              <a:buChar char="•"/>
            </a:pPr>
            <a:r>
              <a:rPr lang="vi-VN" b="1"/>
              <a:t>Kiểm thử tích hợp (Integration Testing) đã được thực hiện.</a:t>
            </a:r>
            <a:endParaRPr lang="vi-VN"/>
          </a:p>
          <a:p>
            <a:r>
              <a:rPr lang="vi-VN" b="1"/>
              <a:t>2. Quality and Performance (Chất lượng và Hiệu suất):</a:t>
            </a:r>
          </a:p>
          <a:p>
            <a:pPr>
              <a:buFont typeface="Arial" panose="020B0604020202020204" pitchFamily="34" charset="0"/>
              <a:buChar char="•"/>
            </a:pPr>
            <a:r>
              <a:rPr lang="vi-VN" b="1"/>
              <a:t>Code đã được xem xét (Code Review) và tuân thủ các quy tắc mã hóa.</a:t>
            </a:r>
            <a:endParaRPr lang="vi-VN"/>
          </a:p>
          <a:p>
            <a:pPr>
              <a:buFont typeface="Arial" panose="020B0604020202020204" pitchFamily="34" charset="0"/>
              <a:buChar char="•"/>
            </a:pPr>
            <a:r>
              <a:rPr lang="vi-VN" b="1"/>
              <a:t>Kiểm thử hiệu suất và bảo mật đã hoàn tất.</a:t>
            </a:r>
            <a:endParaRPr lang="vi-VN"/>
          </a:p>
          <a:p>
            <a:r>
              <a:rPr lang="vi-VN" b="1"/>
              <a:t>3. Deployment and Documentation (Triển khai và Tài liệu):</a:t>
            </a:r>
          </a:p>
          <a:p>
            <a:pPr>
              <a:buFont typeface="Arial" panose="020B0604020202020204" pitchFamily="34" charset="0"/>
              <a:buChar char="•"/>
            </a:pPr>
            <a:r>
              <a:rPr lang="vi-VN" b="1"/>
              <a:t>Các tính năng đã được triển khai trong môi trường staging hoặc production.</a:t>
            </a:r>
            <a:endParaRPr lang="vi-VN"/>
          </a:p>
          <a:p>
            <a:pPr>
              <a:buFont typeface="Arial" panose="020B0604020202020204" pitchFamily="34" charset="0"/>
              <a:buChar char="•"/>
            </a:pPr>
            <a:r>
              <a:rPr lang="vi-VN" b="1"/>
              <a:t>Tài liệu liên quan đã được cập nhật (ví dụ: hướng dẫn sử dụng, tài liệu API).</a:t>
            </a:r>
            <a:endParaRPr lang="vi-VN"/>
          </a:p>
          <a:p>
            <a:r>
              <a:rPr lang="vi-VN" b="1"/>
              <a:t>4. Stakeholder Acceptance (Sự chấp nhận từ các bên liên quan):</a:t>
            </a:r>
          </a:p>
          <a:p>
            <a:pPr>
              <a:buFont typeface="Arial" panose="020B0604020202020204" pitchFamily="34" charset="0"/>
              <a:buChar char="•"/>
            </a:pPr>
            <a:r>
              <a:rPr lang="vi-VN" b="1"/>
              <a:t>Sản phẩm đã được kiểm tra và chấp nhận bởi Product Owner.</a:t>
            </a:r>
            <a:endParaRPr lang="vi-VN"/>
          </a:p>
          <a:p>
            <a:pPr>
              <a:buFont typeface="Arial" panose="020B0604020202020204" pitchFamily="34" charset="0"/>
              <a:buChar char="•"/>
            </a:pPr>
            <a:r>
              <a:rPr lang="vi-VN" b="1"/>
              <a:t>Tất cả các tiêu chí chấp nhận (Acceptance Criteria) được đề cập trong User Story đều được đáp ứng.</a:t>
            </a:r>
            <a:endParaRPr lang="vi-VN"/>
          </a:p>
          <a:p>
            <a:r>
              <a:rPr lang="vi-VN" b="1"/>
              <a:t>Ý nghĩa của DoD:</a:t>
            </a:r>
          </a:p>
          <a:p>
            <a:pPr>
              <a:buFont typeface="Arial" panose="020B0604020202020204" pitchFamily="34" charset="0"/>
              <a:buChar char="•"/>
            </a:pPr>
            <a:r>
              <a:rPr lang="vi-VN" b="1"/>
              <a:t>Tính minh bạch:</a:t>
            </a:r>
            <a:r>
              <a:rPr lang="vi-VN"/>
              <a:t> Xác định rõ ràng điều kiện "hoàn thành" giúp đảm bảo rằng mọi thành viên trong nhóm hiểu và tuân thủ các tiêu chuẩn giống nhau.</a:t>
            </a:r>
          </a:p>
          <a:p>
            <a:pPr>
              <a:buFont typeface="Arial" panose="020B0604020202020204" pitchFamily="34" charset="0"/>
              <a:buChar char="•"/>
            </a:pPr>
            <a:r>
              <a:rPr lang="vi-VN" b="1"/>
              <a:t>Kiểm soát chất lượng:</a:t>
            </a:r>
            <a:r>
              <a:rPr lang="vi-VN"/>
              <a:t> Giúp duy trì chất lượng sản phẩm ở mức cao.</a:t>
            </a:r>
          </a:p>
          <a:p>
            <a:pPr>
              <a:buFont typeface="Arial" panose="020B0604020202020204" pitchFamily="34" charset="0"/>
              <a:buChar char="•"/>
            </a:pPr>
            <a:r>
              <a:rPr lang="vi-VN" b="1"/>
              <a:t>Hợp tác hiệu quả:</a:t>
            </a:r>
            <a:r>
              <a:rPr lang="vi-VN"/>
              <a:t> Product Owner và nhóm phát triển có một tiêu chí chung để đánh giá công việc.</a:t>
            </a:r>
          </a:p>
          <a:p>
            <a:r>
              <a:rPr lang="vi-VN" b="1"/>
              <a:t>Khi nào áp dụng DoD?</a:t>
            </a:r>
          </a:p>
          <a:p>
            <a:pPr>
              <a:buFont typeface="Arial" panose="020B0604020202020204" pitchFamily="34" charset="0"/>
              <a:buChar char="•"/>
            </a:pPr>
            <a:r>
              <a:rPr lang="vi-VN"/>
              <a:t>Được sử dụng trong quá trình phát triển tính năng, kiểm thử, và triển khai sản phẩm.</a:t>
            </a:r>
          </a:p>
          <a:p>
            <a:pPr>
              <a:buFont typeface="Arial" panose="020B0604020202020204" pitchFamily="34" charset="0"/>
              <a:buChar char="•"/>
            </a:pPr>
            <a:r>
              <a:rPr lang="vi-VN"/>
              <a:t>Là tiêu chí để xác định một User Story hay một nhiệm vụ đã hoàn thành và có thể được bàn giao hoặc triển khai.</a:t>
            </a:r>
          </a:p>
          <a:p>
            <a:endParaRPr lang="en-US"/>
          </a:p>
        </p:txBody>
      </p:sp>
    </p:spTree>
    <p:extLst>
      <p:ext uri="{BB962C8B-B14F-4D97-AF65-F5344CB8AC3E}">
        <p14:creationId xmlns:p14="http://schemas.microsoft.com/office/powerpoint/2010/main" val="261642979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endParaRPr lang="en-US"/>
          </a:p>
        </p:txBody>
      </p:sp>
    </p:spTree>
    <p:extLst>
      <p:ext uri="{BB962C8B-B14F-4D97-AF65-F5344CB8AC3E}">
        <p14:creationId xmlns:p14="http://schemas.microsoft.com/office/powerpoint/2010/main" val="112087231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r>
              <a:rPr lang="vi-VN"/>
              <a:t>Sprint Backlog là tập hợp các mục công việc (User Stories, Bugs, hoặc các nhiệm vụ khác) được chọn từ Product Backlog để thực hiện trong một Sprint cụ thể.</a:t>
            </a:r>
            <a:endParaRPr lang="en-US"/>
          </a:p>
          <a:p>
            <a:r>
              <a:rPr lang="vi-VN"/>
              <a:t>Được phát triển và quản lý bởi nhóm phát triển (Development Team).</a:t>
            </a:r>
            <a:endParaRPr lang="en-US"/>
          </a:p>
          <a:p>
            <a:r>
              <a:rPr lang="vi-VN" b="1"/>
              <a:t>1. Thành phần chính (Components):</a:t>
            </a:r>
          </a:p>
          <a:p>
            <a:r>
              <a:rPr lang="vi-VN" b="1"/>
              <a:t>Selected Product Backlog Items (PBIs):</a:t>
            </a:r>
          </a:p>
          <a:p>
            <a:pPr>
              <a:buFont typeface="Arial" panose="020B0604020202020204" pitchFamily="34" charset="0"/>
              <a:buChar char="•"/>
            </a:pPr>
            <a:r>
              <a:rPr lang="vi-VN"/>
              <a:t>Bao gồm User Stories, Bugs hoặc các mục khác được chọn trong buổi </a:t>
            </a:r>
            <a:r>
              <a:rPr lang="vi-VN" b="1"/>
              <a:t>Sprint Planning</a:t>
            </a:r>
            <a:r>
              <a:rPr lang="vi-VN"/>
              <a:t>.</a:t>
            </a:r>
          </a:p>
          <a:p>
            <a:pPr>
              <a:buFont typeface="Arial" panose="020B0604020202020204" pitchFamily="34" charset="0"/>
              <a:buChar char="•"/>
            </a:pPr>
            <a:r>
              <a:rPr lang="vi-VN"/>
              <a:t>Những mục này phải phù hợp với </a:t>
            </a:r>
            <a:r>
              <a:rPr lang="vi-VN" b="1"/>
              <a:t>Sprint Goal</a:t>
            </a:r>
            <a:r>
              <a:rPr lang="vi-VN"/>
              <a:t>.</a:t>
            </a:r>
          </a:p>
          <a:p>
            <a:r>
              <a:rPr lang="vi-VN" b="1"/>
              <a:t>Tasks:</a:t>
            </a:r>
          </a:p>
          <a:p>
            <a:pPr>
              <a:buFont typeface="Arial" panose="020B0604020202020204" pitchFamily="34" charset="0"/>
              <a:buChar char="•"/>
            </a:pPr>
            <a:r>
              <a:rPr lang="vi-VN"/>
              <a:t>Các bước hành động chi tiết, khả thi để thực hiện từng mục trong Sprint Backlog.</a:t>
            </a:r>
          </a:p>
          <a:p>
            <a:pPr>
              <a:buFont typeface="Arial" panose="020B0604020202020204" pitchFamily="34" charset="0"/>
              <a:buChar char="•"/>
            </a:pPr>
            <a:r>
              <a:rPr lang="vi-VN"/>
              <a:t>Thường được tạo trong </a:t>
            </a:r>
            <a:r>
              <a:rPr lang="vi-VN" b="1"/>
              <a:t>Sprint Planning</a:t>
            </a:r>
            <a:r>
              <a:rPr lang="vi-VN"/>
              <a:t> hoặc trong quá trình Sprint.</a:t>
            </a:r>
          </a:p>
          <a:p>
            <a:r>
              <a:rPr lang="vi-VN" b="1"/>
              <a:t>Sprint Goal:</a:t>
            </a:r>
          </a:p>
          <a:p>
            <a:pPr>
              <a:buFont typeface="Arial" panose="020B0604020202020204" pitchFamily="34" charset="0"/>
              <a:buChar char="•"/>
            </a:pPr>
            <a:r>
              <a:rPr lang="vi-VN"/>
              <a:t>Là một mục tiêu rõ ràng, cung cấp định hướng và trọng tâm cho Sprint.</a:t>
            </a:r>
          </a:p>
          <a:p>
            <a:pPr>
              <a:buFont typeface="Arial" panose="020B0604020202020204" pitchFamily="34" charset="0"/>
              <a:buChar char="•"/>
            </a:pPr>
            <a:r>
              <a:rPr lang="vi-VN"/>
              <a:t>Tất cả công việc trong Sprint Backlog đều nhằm đạt được Sprint Goal.</a:t>
            </a:r>
          </a:p>
          <a:p>
            <a:r>
              <a:rPr lang="vi-VN" b="1"/>
              <a:t>Progress Tracking (Theo dõi tiến độ):</a:t>
            </a:r>
          </a:p>
          <a:p>
            <a:pPr>
              <a:buFont typeface="Arial" panose="020B0604020202020204" pitchFamily="34" charset="0"/>
              <a:buChar char="•"/>
            </a:pPr>
            <a:r>
              <a:rPr lang="vi-VN"/>
              <a:t>Sprint Backlog được cập nhật hàng ngày khi các nhiệm vụ được hoàn thành hoặc điều chỉnh.</a:t>
            </a:r>
          </a:p>
          <a:p>
            <a:pPr>
              <a:buFont typeface="Arial" panose="020B0604020202020204" pitchFamily="34" charset="0"/>
              <a:buChar char="•"/>
            </a:pPr>
            <a:r>
              <a:rPr lang="vi-VN"/>
              <a:t>Thường được trực quan hóa bằng các công cụ như bảng nhiệm vụ (Task Boards) hoặc công cụ kỹ thuật số (ví dụ: Jira, Trello).</a:t>
            </a:r>
          </a:p>
          <a:p>
            <a:r>
              <a:rPr lang="vi-VN" b="1"/>
              <a:t>2. Đặc điểm (Characteristics):</a:t>
            </a:r>
          </a:p>
          <a:p>
            <a:r>
              <a:rPr lang="vi-VN" b="1"/>
              <a:t>Owned by the Team (Thuộc sở hữu nhóm):</a:t>
            </a:r>
          </a:p>
          <a:p>
            <a:pPr>
              <a:buFont typeface="Arial" panose="020B0604020202020204" pitchFamily="34" charset="0"/>
              <a:buChar char="•"/>
            </a:pPr>
            <a:r>
              <a:rPr lang="vi-VN"/>
              <a:t>Nhóm phát triển hoàn toàn sở hữu và quản lý Sprint Backlog.</a:t>
            </a:r>
          </a:p>
          <a:p>
            <a:pPr>
              <a:buFont typeface="Arial" panose="020B0604020202020204" pitchFamily="34" charset="0"/>
              <a:buChar char="•"/>
            </a:pPr>
            <a:r>
              <a:rPr lang="vi-VN"/>
              <a:t>Chỉ nhóm phát triển mới có quyền thực hiện thay đổi trong Sprint Backlog trong suốt Sprint.</a:t>
            </a:r>
          </a:p>
          <a:p>
            <a:r>
              <a:rPr lang="vi-VN" b="1"/>
              <a:t>Dynamic (Tính linh hoạt):</a:t>
            </a:r>
          </a:p>
          <a:p>
            <a:pPr>
              <a:buFont typeface="Arial" panose="020B0604020202020204" pitchFamily="34" charset="0"/>
              <a:buChar char="•"/>
            </a:pPr>
            <a:r>
              <a:rPr lang="vi-VN"/>
              <a:t>Các nhiệm vụ có thể được thêm mới, cập nhật hoặc loại bỏ khi công việc tiến triển.</a:t>
            </a:r>
          </a:p>
          <a:p>
            <a:pPr>
              <a:buFont typeface="Arial" panose="020B0604020202020204" pitchFamily="34" charset="0"/>
              <a:buChar char="•"/>
            </a:pPr>
            <a:r>
              <a:rPr lang="vi-VN"/>
              <a:t>Tuy nhiên, phạm vi của Sprint Goal nên được giữ ổn định.</a:t>
            </a:r>
          </a:p>
          <a:p>
            <a:r>
              <a:rPr lang="vi-VN" b="1"/>
              <a:t>Transparent (Tính minh bạch):</a:t>
            </a:r>
          </a:p>
          <a:p>
            <a:pPr>
              <a:buFont typeface="Arial" panose="020B0604020202020204" pitchFamily="34" charset="0"/>
              <a:buChar char="•"/>
            </a:pPr>
            <a:r>
              <a:rPr lang="vi-VN"/>
              <a:t>Sprint Backlog có thể được nhìn thấy bởi tất cả các bên liên quan, đảm bảo tính minh bạch trong công việc và tiến độ của nhóm.</a:t>
            </a:r>
          </a:p>
          <a:p>
            <a:endParaRPr lang="en-US"/>
          </a:p>
        </p:txBody>
      </p:sp>
    </p:spTree>
    <p:extLst>
      <p:ext uri="{BB962C8B-B14F-4D97-AF65-F5344CB8AC3E}">
        <p14:creationId xmlns:p14="http://schemas.microsoft.com/office/powerpoint/2010/main" val="91436902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r>
              <a:rPr lang="vi-VN" b="1"/>
              <a:t>Scrum Increments là gì?</a:t>
            </a:r>
          </a:p>
          <a:p>
            <a:pPr>
              <a:buFont typeface="Arial" panose="020B0604020202020204" pitchFamily="34" charset="0"/>
              <a:buChar char="•"/>
            </a:pPr>
            <a:r>
              <a:rPr lang="vi-VN"/>
              <a:t>Increment là </a:t>
            </a:r>
            <a:r>
              <a:rPr lang="vi-VN" b="1"/>
              <a:t>tổng hợp của tất cả công việc đã hoàn thành</a:t>
            </a:r>
            <a:r>
              <a:rPr lang="vi-VN"/>
              <a:t> trong Sprint.</a:t>
            </a:r>
          </a:p>
          <a:p>
            <a:pPr>
              <a:buFont typeface="Arial" panose="020B0604020202020204" pitchFamily="34" charset="0"/>
              <a:buChar char="•"/>
            </a:pPr>
            <a:r>
              <a:rPr lang="vi-VN"/>
              <a:t>Là một phần sản phẩm có thể sử dụng được và có giá trị, được cải tiến qua từng Sprint.</a:t>
            </a:r>
          </a:p>
          <a:p>
            <a:r>
              <a:rPr lang="vi-VN" b="1"/>
              <a:t>Đặc điểm của Scrum Increments:</a:t>
            </a:r>
          </a:p>
          <a:p>
            <a:pPr>
              <a:buFont typeface="+mj-lt"/>
              <a:buAutoNum type="arabicPeriod"/>
            </a:pPr>
            <a:r>
              <a:rPr lang="vi-VN" b="1"/>
              <a:t>Potentially Releasable (Có khả năng phát hành):</a:t>
            </a:r>
            <a:endParaRPr lang="vi-VN"/>
          </a:p>
          <a:p>
            <a:pPr marL="742950" lvl="1" indent="-285750">
              <a:buFont typeface="+mj-lt"/>
              <a:buAutoNum type="arabicPeriod"/>
            </a:pPr>
            <a:r>
              <a:rPr lang="vi-VN"/>
              <a:t>Tại cuối mỗi Sprint, Increment phải ở trạng thái sẵn sàng để phát hành đến khách hàng hoặc các bên liên quan, dù cho Product Owner quyết định chưa phát hành ngay.</a:t>
            </a:r>
          </a:p>
          <a:p>
            <a:pPr>
              <a:buFont typeface="+mj-lt"/>
              <a:buAutoNum type="arabicPeriod"/>
            </a:pPr>
            <a:r>
              <a:rPr lang="vi-VN" b="1"/>
              <a:t>Cumulative (Tính tích lũy):</a:t>
            </a:r>
            <a:endParaRPr lang="vi-VN"/>
          </a:p>
          <a:p>
            <a:pPr marL="742950" lvl="1" indent="-285750">
              <a:buFont typeface="+mj-lt"/>
              <a:buAutoNum type="arabicPeriod"/>
            </a:pPr>
            <a:r>
              <a:rPr lang="vi-VN"/>
              <a:t>Mỗi Increment mới được xây dựng dựa trên các Increment từ các Sprint trước, dần dần gia tăng giá trị.</a:t>
            </a:r>
          </a:p>
          <a:p>
            <a:pPr>
              <a:buFont typeface="+mj-lt"/>
              <a:buAutoNum type="arabicPeriod"/>
            </a:pPr>
            <a:r>
              <a:rPr lang="vi-VN" b="1"/>
              <a:t>Aligned with the Definition of Done (DoD) (Phù hợp với định nghĩa "Hoàn thành"):</a:t>
            </a:r>
            <a:endParaRPr lang="vi-VN"/>
          </a:p>
          <a:p>
            <a:pPr marL="742950" lvl="1" indent="-285750">
              <a:buFont typeface="+mj-lt"/>
              <a:buAutoNum type="arabicPeriod"/>
            </a:pPr>
            <a:r>
              <a:rPr lang="vi-VN"/>
              <a:t>Chỉ những công việc đáp ứng tiêu chí DoD của nhóm mới được tính vào Increment.</a:t>
            </a:r>
          </a:p>
          <a:p>
            <a:pPr>
              <a:buFont typeface="+mj-lt"/>
              <a:buAutoNum type="arabicPeriod"/>
            </a:pPr>
            <a:r>
              <a:rPr lang="vi-VN" b="1"/>
              <a:t>Delivering Value (Mang lại giá trị):</a:t>
            </a:r>
            <a:endParaRPr lang="vi-VN"/>
          </a:p>
          <a:p>
            <a:pPr marL="742950" lvl="1" indent="-285750">
              <a:buFont typeface="+mj-lt"/>
              <a:buAutoNum type="arabicPeriod"/>
            </a:pPr>
            <a:r>
              <a:rPr lang="vi-VN"/>
              <a:t>Increment phải đại diện cho một cải tiến hữu hình hoặc một phần bổ sung có giá trị đối với khách hàng hoặc các bên liên quan.</a:t>
            </a:r>
          </a:p>
          <a:p>
            <a:r>
              <a:rPr lang="vi-VN" b="1"/>
              <a:t>1. Definition (Định nghĩa):</a:t>
            </a:r>
          </a:p>
          <a:p>
            <a:pPr>
              <a:buFont typeface="Arial" panose="020B0604020202020204" pitchFamily="34" charset="0"/>
              <a:buChar char="•"/>
            </a:pPr>
            <a:r>
              <a:rPr lang="vi-VN" b="1"/>
              <a:t>Increment:</a:t>
            </a:r>
            <a:endParaRPr lang="vi-VN"/>
          </a:p>
          <a:p>
            <a:pPr marL="742950" lvl="1" indent="-285750">
              <a:buFont typeface="Arial" panose="020B0604020202020204" pitchFamily="34" charset="0"/>
              <a:buChar char="•"/>
            </a:pPr>
            <a:r>
              <a:rPr lang="vi-VN"/>
              <a:t>Là phiên bản mới nhất và có thể sử dụng của sản phẩm, đại diện cho sự cải tiến sau mỗi Sprint.</a:t>
            </a:r>
          </a:p>
          <a:p>
            <a:pPr>
              <a:buFont typeface="Arial" panose="020B0604020202020204" pitchFamily="34" charset="0"/>
              <a:buChar char="•"/>
            </a:pPr>
            <a:r>
              <a:rPr lang="vi-VN" b="1"/>
              <a:t>Backlog:</a:t>
            </a:r>
            <a:endParaRPr lang="vi-VN"/>
          </a:p>
          <a:p>
            <a:pPr marL="742950" lvl="1" indent="-285750">
              <a:buFont typeface="Arial" panose="020B0604020202020204" pitchFamily="34" charset="0"/>
              <a:buChar char="•"/>
            </a:pPr>
            <a:r>
              <a:rPr lang="vi-VN"/>
              <a:t>Là danh sách tất cả các mục công việc (work items) cần thực hiện để hoàn thành sản phẩm.</a:t>
            </a:r>
          </a:p>
          <a:p>
            <a:r>
              <a:rPr lang="vi-VN" b="1"/>
              <a:t>2. State (Trạng thái):</a:t>
            </a:r>
          </a:p>
          <a:p>
            <a:pPr>
              <a:buFont typeface="Arial" panose="020B0604020202020204" pitchFamily="34" charset="0"/>
              <a:buChar char="•"/>
            </a:pPr>
            <a:r>
              <a:rPr lang="vi-VN" b="1"/>
              <a:t>Increment:</a:t>
            </a:r>
            <a:endParaRPr lang="vi-VN"/>
          </a:p>
          <a:p>
            <a:pPr marL="742950" lvl="1" indent="-285750">
              <a:buFont typeface="Arial" panose="020B0604020202020204" pitchFamily="34" charset="0"/>
              <a:buChar char="•"/>
            </a:pPr>
            <a:r>
              <a:rPr lang="vi-VN"/>
              <a:t>Ở trạng thái sử dụng được và có thể phát hành nếu cần thiết.</a:t>
            </a:r>
          </a:p>
          <a:p>
            <a:pPr>
              <a:buFont typeface="Arial" panose="020B0604020202020204" pitchFamily="34" charset="0"/>
              <a:buChar char="•"/>
            </a:pPr>
            <a:r>
              <a:rPr lang="vi-VN" b="1"/>
              <a:t>Backlog:</a:t>
            </a:r>
            <a:endParaRPr lang="vi-VN"/>
          </a:p>
          <a:p>
            <a:pPr marL="742950" lvl="1" indent="-285750">
              <a:buFont typeface="Arial" panose="020B0604020202020204" pitchFamily="34" charset="0"/>
              <a:buChar char="•"/>
            </a:pPr>
            <a:r>
              <a:rPr lang="vi-VN"/>
              <a:t>Bao gồm các mục công việc ở nhiều giai đoạn hoàn thành khác nhau (từ chưa bắt đầu đến hoàn thành).</a:t>
            </a:r>
          </a:p>
          <a:p>
            <a:r>
              <a:rPr lang="vi-VN" b="1"/>
              <a:t>3. Ownership (Quyền sở hữu):</a:t>
            </a:r>
          </a:p>
          <a:p>
            <a:pPr>
              <a:buFont typeface="Arial" panose="020B0604020202020204" pitchFamily="34" charset="0"/>
              <a:buChar char="•"/>
            </a:pPr>
            <a:r>
              <a:rPr lang="vi-VN" b="1"/>
              <a:t>Increment:</a:t>
            </a:r>
            <a:endParaRPr lang="vi-VN"/>
          </a:p>
          <a:p>
            <a:pPr marL="742950" lvl="1" indent="-285750">
              <a:buFont typeface="Arial" panose="020B0604020202020204" pitchFamily="34" charset="0"/>
              <a:buChar char="•"/>
            </a:pPr>
            <a:r>
              <a:rPr lang="vi-VN"/>
              <a:t>Thuộc quyền sở hữu và quản lý của </a:t>
            </a:r>
            <a:r>
              <a:rPr lang="vi-VN" b="1"/>
              <a:t>Product Owner</a:t>
            </a:r>
            <a:r>
              <a:rPr lang="vi-VN"/>
              <a:t>.</a:t>
            </a:r>
          </a:p>
          <a:p>
            <a:pPr>
              <a:buFont typeface="Arial" panose="020B0604020202020204" pitchFamily="34" charset="0"/>
              <a:buChar char="•"/>
            </a:pPr>
            <a:r>
              <a:rPr lang="vi-VN" b="1"/>
              <a:t>Backlog:</a:t>
            </a:r>
            <a:endParaRPr lang="vi-VN"/>
          </a:p>
          <a:p>
            <a:pPr marL="742950" lvl="1" indent="-285750">
              <a:buFont typeface="Arial" panose="020B0604020202020204" pitchFamily="34" charset="0"/>
              <a:buChar char="•"/>
            </a:pPr>
            <a:r>
              <a:rPr lang="vi-VN"/>
              <a:t>Cũng thuộc quyền sở hữu của </a:t>
            </a:r>
            <a:r>
              <a:rPr lang="vi-VN" b="1"/>
              <a:t>Product Owner</a:t>
            </a:r>
            <a:r>
              <a:rPr lang="vi-VN"/>
              <a:t>, người chịu trách nhiệm quản lý và sắp xếp các mục công việc theo mức độ ưu tiên.</a:t>
            </a:r>
          </a:p>
          <a:p>
            <a:r>
              <a:rPr lang="en-US" b="1"/>
              <a:t>Increment</a:t>
            </a:r>
            <a:r>
              <a:rPr lang="en-US"/>
              <a:t> </a:t>
            </a:r>
            <a:r>
              <a:rPr lang="en-US" err="1"/>
              <a:t>tập</a:t>
            </a:r>
            <a:r>
              <a:rPr lang="en-US"/>
              <a:t> trung vào </a:t>
            </a:r>
            <a:r>
              <a:rPr lang="en-US" b="1"/>
              <a:t>kết quả </a:t>
            </a:r>
            <a:r>
              <a:rPr lang="en-US" b="1" err="1"/>
              <a:t>cụ</a:t>
            </a:r>
            <a:r>
              <a:rPr lang="en-US" b="1"/>
              <a:t> </a:t>
            </a:r>
            <a:r>
              <a:rPr lang="en-US" b="1" err="1"/>
              <a:t>thể</a:t>
            </a:r>
            <a:r>
              <a:rPr lang="en-US" b="1"/>
              <a:t>, </a:t>
            </a:r>
            <a:r>
              <a:rPr lang="en-US" b="1" err="1"/>
              <a:t>có</a:t>
            </a:r>
            <a:r>
              <a:rPr lang="en-US" b="1"/>
              <a:t> </a:t>
            </a:r>
            <a:r>
              <a:rPr lang="en-US" b="1" err="1"/>
              <a:t>thể</a:t>
            </a:r>
            <a:r>
              <a:rPr lang="en-US" b="1"/>
              <a:t> </a:t>
            </a:r>
            <a:r>
              <a:rPr lang="en-US" b="1" err="1"/>
              <a:t>sử</a:t>
            </a:r>
            <a:r>
              <a:rPr lang="en-US" b="1"/>
              <a:t> </a:t>
            </a:r>
            <a:r>
              <a:rPr lang="en-US" b="1" err="1"/>
              <a:t>dụng</a:t>
            </a:r>
            <a:r>
              <a:rPr lang="en-US" b="1"/>
              <a:t> </a:t>
            </a:r>
            <a:r>
              <a:rPr lang="en-US" b="1" err="1"/>
              <a:t>ngay</a:t>
            </a:r>
            <a:r>
              <a:rPr lang="en-US"/>
              <a:t> </a:t>
            </a:r>
            <a:r>
              <a:rPr lang="en-US" err="1"/>
              <a:t>sau</a:t>
            </a:r>
            <a:r>
              <a:rPr lang="en-US"/>
              <a:t> </a:t>
            </a:r>
            <a:r>
              <a:rPr lang="en-US" err="1"/>
              <a:t>mỗi</a:t>
            </a:r>
            <a:r>
              <a:rPr lang="en-US"/>
              <a:t> </a:t>
            </a:r>
            <a:r>
              <a:rPr lang="en-US" err="1"/>
              <a:t>Sprint.</a:t>
            </a:r>
            <a:r>
              <a:rPr lang="en-US" b="1" err="1"/>
              <a:t>Backlog</a:t>
            </a:r>
            <a:r>
              <a:rPr lang="en-US"/>
              <a:t> là </a:t>
            </a:r>
            <a:r>
              <a:rPr lang="en-US" b="1"/>
              <a:t>kế </a:t>
            </a:r>
            <a:r>
              <a:rPr lang="en-US" b="1" err="1"/>
              <a:t>hoạch</a:t>
            </a:r>
            <a:r>
              <a:rPr lang="en-US" b="1"/>
              <a:t> </a:t>
            </a:r>
            <a:r>
              <a:rPr lang="en-US" b="1" err="1"/>
              <a:t>tổng</a:t>
            </a:r>
            <a:r>
              <a:rPr lang="en-US" b="1"/>
              <a:t> </a:t>
            </a:r>
            <a:r>
              <a:rPr lang="en-US" b="1" err="1"/>
              <a:t>thể</a:t>
            </a:r>
            <a:r>
              <a:rPr lang="en-US"/>
              <a:t>, bao </a:t>
            </a:r>
            <a:r>
              <a:rPr lang="en-US" err="1"/>
              <a:t>gồm</a:t>
            </a:r>
            <a:r>
              <a:rPr lang="en-US"/>
              <a:t> </a:t>
            </a:r>
            <a:r>
              <a:rPr lang="en-US" err="1"/>
              <a:t>tất</a:t>
            </a:r>
            <a:r>
              <a:rPr lang="en-US"/>
              <a:t> </a:t>
            </a:r>
            <a:r>
              <a:rPr lang="en-US" err="1"/>
              <a:t>cả</a:t>
            </a:r>
            <a:r>
              <a:rPr lang="en-US"/>
              <a:t> </a:t>
            </a:r>
            <a:r>
              <a:rPr lang="en-US" err="1"/>
              <a:t>các</a:t>
            </a:r>
            <a:r>
              <a:rPr lang="en-US"/>
              <a:t> công việc cần </a:t>
            </a:r>
            <a:r>
              <a:rPr lang="en-US" err="1"/>
              <a:t>thực</a:t>
            </a:r>
            <a:r>
              <a:rPr lang="en-US"/>
              <a:t> hiện để hoàn </a:t>
            </a:r>
            <a:r>
              <a:rPr lang="en-US" err="1"/>
              <a:t>thành</a:t>
            </a:r>
            <a:r>
              <a:rPr lang="en-US"/>
              <a:t> </a:t>
            </a:r>
            <a:r>
              <a:rPr lang="en-US" err="1"/>
              <a:t>sản</a:t>
            </a:r>
            <a:r>
              <a:rPr lang="en-US"/>
              <a:t> </a:t>
            </a:r>
            <a:r>
              <a:rPr lang="en-US" err="1"/>
              <a:t>phẩm.Cả</a:t>
            </a:r>
            <a:r>
              <a:rPr lang="en-US"/>
              <a:t> </a:t>
            </a:r>
            <a:r>
              <a:rPr lang="en-US" err="1"/>
              <a:t>hai</a:t>
            </a:r>
            <a:r>
              <a:rPr lang="en-US"/>
              <a:t> </a:t>
            </a:r>
            <a:r>
              <a:rPr lang="en-US" err="1"/>
              <a:t>đều</a:t>
            </a:r>
            <a:r>
              <a:rPr lang="en-US"/>
              <a:t> </a:t>
            </a:r>
            <a:r>
              <a:rPr lang="en-US" err="1"/>
              <a:t>có</a:t>
            </a:r>
            <a:r>
              <a:rPr lang="en-US"/>
              <a:t> </a:t>
            </a:r>
            <a:r>
              <a:rPr lang="en-US" err="1"/>
              <a:t>vai</a:t>
            </a:r>
            <a:r>
              <a:rPr lang="en-US"/>
              <a:t> </a:t>
            </a:r>
            <a:r>
              <a:rPr lang="en-US" err="1"/>
              <a:t>trò</a:t>
            </a:r>
            <a:r>
              <a:rPr lang="en-US"/>
              <a:t> </a:t>
            </a:r>
            <a:r>
              <a:rPr lang="en-US" err="1"/>
              <a:t>quan</a:t>
            </a:r>
            <a:r>
              <a:rPr lang="en-US"/>
              <a:t> trọng </a:t>
            </a:r>
            <a:r>
              <a:rPr lang="en-US" err="1"/>
              <a:t>trong</a:t>
            </a:r>
            <a:r>
              <a:rPr lang="en-US"/>
              <a:t> Scrum, </a:t>
            </a:r>
            <a:r>
              <a:rPr lang="en-US" err="1"/>
              <a:t>với</a:t>
            </a:r>
            <a:r>
              <a:rPr lang="en-US"/>
              <a:t> </a:t>
            </a:r>
            <a:r>
              <a:rPr lang="en-US" err="1"/>
              <a:t>sự</a:t>
            </a:r>
            <a:r>
              <a:rPr lang="en-US"/>
              <a:t> </a:t>
            </a:r>
            <a:r>
              <a:rPr lang="en-US" err="1"/>
              <a:t>quản</a:t>
            </a:r>
            <a:r>
              <a:rPr lang="en-US"/>
              <a:t> </a:t>
            </a:r>
            <a:r>
              <a:rPr lang="en-US" err="1"/>
              <a:t>lý</a:t>
            </a:r>
            <a:r>
              <a:rPr lang="en-US"/>
              <a:t> </a:t>
            </a:r>
            <a:r>
              <a:rPr lang="en-US" err="1"/>
              <a:t>chặt</a:t>
            </a:r>
            <a:r>
              <a:rPr lang="en-US"/>
              <a:t> </a:t>
            </a:r>
            <a:r>
              <a:rPr lang="en-US" err="1"/>
              <a:t>chẽ</a:t>
            </a:r>
            <a:r>
              <a:rPr lang="en-US"/>
              <a:t> </a:t>
            </a:r>
            <a:r>
              <a:rPr lang="en-US" err="1"/>
              <a:t>từ</a:t>
            </a:r>
            <a:r>
              <a:rPr lang="en-US"/>
              <a:t> Product Owner để </a:t>
            </a:r>
            <a:r>
              <a:rPr lang="en-US" err="1"/>
              <a:t>đảm</a:t>
            </a:r>
            <a:r>
              <a:rPr lang="en-US"/>
              <a:t> </a:t>
            </a:r>
            <a:r>
              <a:rPr lang="en-US" err="1"/>
              <a:t>bảo</a:t>
            </a:r>
            <a:r>
              <a:rPr lang="en-US"/>
              <a:t> tiến trình </a:t>
            </a:r>
            <a:r>
              <a:rPr lang="en-US" err="1"/>
              <a:t>và</a:t>
            </a:r>
            <a:r>
              <a:rPr lang="en-US"/>
              <a:t> </a:t>
            </a:r>
            <a:r>
              <a:rPr lang="en-US" err="1"/>
              <a:t>giá</a:t>
            </a:r>
            <a:r>
              <a:rPr lang="en-US"/>
              <a:t> </a:t>
            </a:r>
            <a:r>
              <a:rPr lang="en-US" err="1"/>
              <a:t>trị</a:t>
            </a:r>
            <a:r>
              <a:rPr lang="en-US"/>
              <a:t> </a:t>
            </a:r>
            <a:r>
              <a:rPr lang="en-US" err="1"/>
              <a:t>cho</a:t>
            </a:r>
            <a:r>
              <a:rPr lang="en-US"/>
              <a:t> </a:t>
            </a:r>
            <a:r>
              <a:rPr lang="en-US" err="1"/>
              <a:t>sản</a:t>
            </a:r>
            <a:r>
              <a:rPr lang="en-US"/>
              <a:t> </a:t>
            </a:r>
            <a:r>
              <a:rPr lang="en-US" err="1"/>
              <a:t>phẩm</a:t>
            </a:r>
            <a:r>
              <a:rPr lang="en-US"/>
              <a:t>.</a:t>
            </a:r>
          </a:p>
        </p:txBody>
      </p:sp>
    </p:spTree>
    <p:extLst>
      <p:ext uri="{BB962C8B-B14F-4D97-AF65-F5344CB8AC3E}">
        <p14:creationId xmlns:p14="http://schemas.microsoft.com/office/powerpoint/2010/main" val="149253675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r>
              <a:rPr lang="vi-VN" b="1"/>
              <a:t>Quy trình Scrum:</a:t>
            </a:r>
          </a:p>
          <a:p>
            <a:pPr>
              <a:buFont typeface="+mj-lt"/>
              <a:buAutoNum type="arabicPeriod"/>
            </a:pPr>
            <a:r>
              <a:rPr lang="vi-VN" b="1"/>
              <a:t>Product Backlog</a:t>
            </a:r>
            <a:r>
              <a:rPr lang="vi-VN"/>
              <a:t>: Danh sách các công việc và tính năng cần được hoàn thành để phát triển sản phẩm.</a:t>
            </a:r>
          </a:p>
          <a:p>
            <a:pPr>
              <a:buFont typeface="+mj-lt"/>
              <a:buAutoNum type="arabicPeriod"/>
            </a:pPr>
            <a:r>
              <a:rPr lang="vi-VN" b="1"/>
              <a:t>Sprint Planning Meeting</a:t>
            </a:r>
            <a:r>
              <a:rPr lang="vi-VN"/>
              <a:t>: Cuộc họp lập kế hoạch để chọn các mục tiêu và công việc cụ thể (Sprint Backlog) cho Sprint tiếp theo.</a:t>
            </a:r>
          </a:p>
          <a:p>
            <a:pPr>
              <a:buFont typeface="+mj-lt"/>
              <a:buAutoNum type="arabicPeriod"/>
            </a:pPr>
            <a:r>
              <a:rPr lang="vi-VN" b="1"/>
              <a:t>Sprint Backlog</a:t>
            </a:r>
            <a:r>
              <a:rPr lang="vi-VN"/>
              <a:t>: Danh sách các công việc được đội nhóm chọn để hoàn thành trong một Sprint.</a:t>
            </a:r>
          </a:p>
          <a:p>
            <a:pPr>
              <a:buFont typeface="+mj-lt"/>
              <a:buAutoNum type="arabicPeriod"/>
            </a:pPr>
            <a:r>
              <a:rPr lang="vi-VN" b="1"/>
              <a:t>Sprint (1-4 tuần)</a:t>
            </a:r>
            <a:r>
              <a:rPr lang="vi-VN"/>
              <a:t>: Giai đoạn ngắn (thường từ 1 đến 4 tuần) trong đó đội nhóm làm việc để hoàn thành các mục tiêu của Sprint Backlog.</a:t>
            </a:r>
          </a:p>
          <a:p>
            <a:pPr marL="742950" lvl="1" indent="-285750">
              <a:buFont typeface="+mj-lt"/>
              <a:buAutoNum type="arabicPeriod"/>
            </a:pPr>
            <a:r>
              <a:rPr lang="vi-VN" b="1"/>
              <a:t>Daily Stand-up (24H)</a:t>
            </a:r>
            <a:r>
              <a:rPr lang="vi-VN"/>
              <a:t>: Cuộc họp ngắn hàng ngày (khoảng 15 phút) để đội nhóm cập nhật tiến độ, thảo luận trở ngại và lên kế hoạch trong ngày.</a:t>
            </a:r>
          </a:p>
          <a:p>
            <a:pPr>
              <a:buFont typeface="+mj-lt"/>
              <a:buAutoNum type="arabicPeriod"/>
            </a:pPr>
            <a:r>
              <a:rPr lang="vi-VN" b="1"/>
              <a:t>Sprint Review + Sprint Retrospective</a:t>
            </a:r>
            <a:r>
              <a:rPr lang="vi-VN"/>
              <a:t>: Sau khi Sprint kết thúc:</a:t>
            </a:r>
          </a:p>
          <a:p>
            <a:pPr marL="742950" lvl="1" indent="-285750">
              <a:buFont typeface="+mj-lt"/>
              <a:buAutoNum type="arabicPeriod"/>
            </a:pPr>
            <a:r>
              <a:rPr lang="vi-VN" b="1"/>
              <a:t>Sprint Review</a:t>
            </a:r>
            <a:r>
              <a:rPr lang="vi-VN"/>
              <a:t>: Đánh giá công việc đã hoàn thành, trình bày với các bên liên quan.</a:t>
            </a:r>
          </a:p>
          <a:p>
            <a:pPr marL="742950" lvl="1" indent="-285750">
              <a:buFont typeface="+mj-lt"/>
              <a:buAutoNum type="arabicPeriod"/>
            </a:pPr>
            <a:r>
              <a:rPr lang="vi-VN" b="1"/>
              <a:t>Sprint Retrospective</a:t>
            </a:r>
            <a:r>
              <a:rPr lang="vi-VN"/>
              <a:t>: Phân tích những gì làm tốt, cần cải thiện để tối ưu hóa quy trình.</a:t>
            </a:r>
          </a:p>
          <a:p>
            <a:pPr>
              <a:buFont typeface="+mj-lt"/>
              <a:buAutoNum type="arabicPeriod"/>
            </a:pPr>
            <a:r>
              <a:rPr lang="vi-VN" b="1"/>
              <a:t>Finished Work</a:t>
            </a:r>
            <a:r>
              <a:rPr lang="vi-VN"/>
              <a:t>: Sản phẩm hoặc tính năng đã hoàn thành, sẵn sàng để triển khai hoặc sử dụng.</a:t>
            </a:r>
          </a:p>
          <a:p>
            <a:r>
              <a:rPr lang="vi-VN"/>
              <a:t>Quy trình này lặp đi lặp lại qua các Sprint cho đến khi sản phẩm đạt được mục tiêu cuối cùng.</a:t>
            </a:r>
          </a:p>
          <a:p>
            <a:endParaRPr lang="en-US"/>
          </a:p>
          <a:p>
            <a:pPr marL="514350" indent="-514350">
              <a:buFont typeface="+mj-lt"/>
              <a:buAutoNum type="arabicPeriod"/>
            </a:pPr>
            <a:r>
              <a:rPr lang="en-US"/>
              <a:t>Product Backlog: List of prioritized tasks and features.</a:t>
            </a:r>
          </a:p>
          <a:p>
            <a:pPr marL="514350" indent="-514350">
              <a:buFont typeface="+mj-lt"/>
              <a:buAutoNum type="arabicPeriod"/>
            </a:pPr>
            <a:r>
              <a:rPr lang="en-US"/>
              <a:t>Sprint Planning: Plan tasks for the Sprint.</a:t>
            </a:r>
          </a:p>
          <a:p>
            <a:pPr marL="514350" indent="-514350">
              <a:buFont typeface="+mj-lt"/>
              <a:buAutoNum type="arabicPeriod"/>
            </a:pPr>
            <a:r>
              <a:rPr lang="en-US"/>
              <a:t>Sprint Backlog: Selected tasks for the Sprint.</a:t>
            </a:r>
          </a:p>
          <a:p>
            <a:pPr marL="514350" indent="-514350">
              <a:buFont typeface="+mj-lt"/>
              <a:buAutoNum type="arabicPeriod"/>
            </a:pPr>
            <a:r>
              <a:rPr lang="en-US"/>
              <a:t>Sprint (1-4 weeks): Work cycle with daily stand-ups.</a:t>
            </a:r>
          </a:p>
          <a:p>
            <a:pPr marL="514350" indent="-514350">
              <a:buFont typeface="+mj-lt"/>
              <a:buAutoNum type="arabicPeriod"/>
            </a:pPr>
            <a:r>
              <a:rPr lang="en-US"/>
              <a:t>Review &amp; Retrospective: Evaluate work and improve processes.</a:t>
            </a:r>
          </a:p>
          <a:p>
            <a:pPr marL="514350" indent="-514350">
              <a:buFont typeface="+mj-lt"/>
              <a:buAutoNum type="arabicPeriod"/>
            </a:pPr>
            <a:r>
              <a:rPr lang="en-US"/>
              <a:t>Finished Work: Deliverables ready for use.</a:t>
            </a:r>
          </a:p>
          <a:p>
            <a:endParaRPr lang="en-US"/>
          </a:p>
        </p:txBody>
      </p:sp>
    </p:spTree>
    <p:extLst>
      <p:ext uri="{BB962C8B-B14F-4D97-AF65-F5344CB8AC3E}">
        <p14:creationId xmlns:p14="http://schemas.microsoft.com/office/powerpoint/2010/main" val="416705156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r>
              <a:rPr lang="vi-VN"/>
              <a:t>Sprint Planning là một sự kiện quan trọng trong Scrum, diễn ra vào đầu mỗi sprint. Mục tiêu là xác định công việc sẽ hoàn thành trong sprint và lập kế hoạch chi tiết để thực hiện.</a:t>
            </a:r>
          </a:p>
          <a:p>
            <a:r>
              <a:rPr lang="vi-VN" b="1"/>
              <a:t>Các yếu tố chính của Sprint Planning:</a:t>
            </a:r>
          </a:p>
          <a:p>
            <a:pPr>
              <a:buFont typeface="+mj-lt"/>
              <a:buAutoNum type="arabicPeriod"/>
            </a:pPr>
            <a:r>
              <a:rPr lang="vi-VN" b="1"/>
              <a:t>Thành phần tham gia:</a:t>
            </a:r>
            <a:endParaRPr lang="vi-VN"/>
          </a:p>
          <a:p>
            <a:pPr marL="742950" lvl="1" indent="-285750">
              <a:buFont typeface="+mj-lt"/>
              <a:buAutoNum type="arabicPeriod"/>
            </a:pPr>
            <a:r>
              <a:rPr lang="vi-VN" b="1"/>
              <a:t>Product Owner:</a:t>
            </a:r>
            <a:r>
              <a:rPr lang="vi-VN"/>
              <a:t> Đảm bảo đội nhóm hiểu các mục trong Product Backlog và giá trị của chúng.</a:t>
            </a:r>
          </a:p>
          <a:p>
            <a:pPr marL="742950" lvl="1" indent="-285750">
              <a:buFont typeface="+mj-lt"/>
              <a:buAutoNum type="arabicPeriod"/>
            </a:pPr>
            <a:r>
              <a:rPr lang="vi-VN" b="1"/>
              <a:t>Scrum Master:</a:t>
            </a:r>
            <a:r>
              <a:rPr lang="vi-VN"/>
              <a:t> Điều phối buổi họp và đảm bảo tuân thủ các nguyên tắc Scrum.</a:t>
            </a:r>
          </a:p>
          <a:p>
            <a:pPr marL="742950" lvl="1" indent="-285750">
              <a:buFont typeface="+mj-lt"/>
              <a:buAutoNum type="arabicPeriod"/>
            </a:pPr>
            <a:r>
              <a:rPr lang="vi-VN" b="1"/>
              <a:t>Đội phát triển:</a:t>
            </a:r>
            <a:r>
              <a:rPr lang="vi-VN"/>
              <a:t> Cam kết thực hiện công việc và lập kế hoạch chi tiết.</a:t>
            </a:r>
          </a:p>
          <a:p>
            <a:pPr>
              <a:buFont typeface="+mj-lt"/>
              <a:buAutoNum type="arabicPeriod"/>
            </a:pPr>
            <a:r>
              <a:rPr lang="vi-VN" b="1"/>
              <a:t>Đầu vào:</a:t>
            </a:r>
            <a:endParaRPr lang="vi-VN"/>
          </a:p>
          <a:p>
            <a:pPr marL="742950" lvl="1" indent="-285750">
              <a:buFont typeface="+mj-lt"/>
              <a:buAutoNum type="arabicPeriod"/>
            </a:pPr>
            <a:r>
              <a:rPr lang="vi-VN" b="1"/>
              <a:t>Product Backlog:</a:t>
            </a:r>
            <a:r>
              <a:rPr lang="vi-VN"/>
              <a:t> Danh sách các mục được ưu tiên và sẵn sàng để chọn.</a:t>
            </a:r>
          </a:p>
          <a:p>
            <a:pPr marL="742950" lvl="1" indent="-285750">
              <a:buFont typeface="+mj-lt"/>
              <a:buAutoNum type="arabicPeriod"/>
            </a:pPr>
            <a:r>
              <a:rPr lang="vi-VN" b="1"/>
              <a:t>Mục tiêu Sprint (Sprint Goal):</a:t>
            </a:r>
            <a:r>
              <a:rPr lang="vi-VN"/>
              <a:t> Một mục tiêu tổng quan rõ ràng cho sprint.</a:t>
            </a:r>
          </a:p>
          <a:p>
            <a:pPr marL="742950" lvl="1" indent="-285750">
              <a:buFont typeface="+mj-lt"/>
              <a:buAutoNum type="arabicPeriod"/>
            </a:pPr>
            <a:r>
              <a:rPr lang="vi-VN" b="1"/>
              <a:t>Năng lực của đội (Team Capacity):</a:t>
            </a:r>
            <a:r>
              <a:rPr lang="vi-VN"/>
              <a:t> Biết rõ thời gian và năng suất làm việc của đội (dựa trên dữ liệu lịch sử).</a:t>
            </a:r>
          </a:p>
          <a:p>
            <a:pPr>
              <a:buFont typeface="+mj-lt"/>
              <a:buAutoNum type="arabicPeriod"/>
            </a:pPr>
            <a:r>
              <a:rPr lang="vi-VN" b="1"/>
              <a:t>Nội dung buổi họp:</a:t>
            </a:r>
            <a:endParaRPr lang="vi-VN"/>
          </a:p>
          <a:p>
            <a:pPr marL="742950" lvl="1" indent="-285750">
              <a:buFont typeface="+mj-lt"/>
              <a:buAutoNum type="arabicPeriod"/>
            </a:pPr>
            <a:r>
              <a:rPr lang="vi-VN" b="1"/>
              <a:t>Xác định mục tiêu Sprint:</a:t>
            </a:r>
            <a:r>
              <a:rPr lang="vi-VN"/>
              <a:t> Product Owner và đội thống nhất một mục tiêu chung.</a:t>
            </a:r>
          </a:p>
          <a:p>
            <a:pPr marL="742950" lvl="1" indent="-285750">
              <a:buFont typeface="+mj-lt"/>
              <a:buAutoNum type="arabicPeriod"/>
            </a:pPr>
            <a:r>
              <a:rPr lang="vi-VN" b="1"/>
              <a:t>Chọn các mục trong Backlog:</a:t>
            </a:r>
            <a:r>
              <a:rPr lang="vi-VN"/>
              <a:t> Đội chọn các mục từ Product Backlog phù hợp với mục tiêu và năng lực.</a:t>
            </a:r>
          </a:p>
          <a:p>
            <a:pPr marL="742950" lvl="1" indent="-285750">
              <a:buFont typeface="+mj-lt"/>
              <a:buAutoNum type="arabicPeriod"/>
            </a:pPr>
            <a:r>
              <a:rPr lang="vi-VN" b="1"/>
              <a:t>Lập kế hoạch công việc:</a:t>
            </a:r>
            <a:r>
              <a:rPr lang="vi-VN"/>
              <a:t> Đội chia nhỏ các mục đã chọn thành các tác vụ cụ thể, ước lượng nỗ lực và phân tích sự phụ thuộc.</a:t>
            </a:r>
          </a:p>
          <a:p>
            <a:pPr>
              <a:buFont typeface="+mj-lt"/>
              <a:buAutoNum type="arabicPeriod"/>
            </a:pPr>
            <a:r>
              <a:rPr lang="vi-VN" b="1"/>
              <a:t>Kết quả:</a:t>
            </a:r>
            <a:endParaRPr lang="vi-VN"/>
          </a:p>
          <a:p>
            <a:pPr marL="742950" lvl="1" indent="-285750">
              <a:buFont typeface="+mj-lt"/>
              <a:buAutoNum type="arabicPeriod"/>
            </a:pPr>
            <a:r>
              <a:rPr lang="vi-VN" b="1"/>
              <a:t>Mục tiêu Sprint:</a:t>
            </a:r>
            <a:r>
              <a:rPr lang="vi-VN"/>
              <a:t> Một tuyên bố ngắn gọn tóm tắt trọng tâm của sprint.</a:t>
            </a:r>
          </a:p>
          <a:p>
            <a:pPr marL="742950" lvl="1" indent="-285750">
              <a:buFont typeface="+mj-lt"/>
              <a:buAutoNum type="arabicPeriod"/>
            </a:pPr>
            <a:r>
              <a:rPr lang="vi-VN" b="1"/>
              <a:t>Sprint Backlog:</a:t>
            </a:r>
            <a:r>
              <a:rPr lang="vi-VN"/>
              <a:t> Danh sách các mục đã cam kết trong Backlog và các tác vụ chi tiết.</a:t>
            </a:r>
          </a:p>
          <a:p>
            <a:pPr marL="742950" lvl="1" indent="-285750">
              <a:buFont typeface="+mj-lt"/>
              <a:buAutoNum type="arabicPeriod"/>
            </a:pPr>
            <a:r>
              <a:rPr lang="vi-VN" b="1"/>
              <a:t>Cam kết của đội nhóm:</a:t>
            </a:r>
            <a:r>
              <a:rPr lang="vi-VN"/>
              <a:t> Đồng thuận từ đội về các công việc sẽ hoàn thành.</a:t>
            </a:r>
          </a:p>
          <a:p>
            <a:endParaRPr lang="en-US"/>
          </a:p>
          <a:p>
            <a:endParaRPr lang="en-US"/>
          </a:p>
        </p:txBody>
      </p:sp>
    </p:spTree>
    <p:extLst>
      <p:ext uri="{BB962C8B-B14F-4D97-AF65-F5344CB8AC3E}">
        <p14:creationId xmlns:p14="http://schemas.microsoft.com/office/powerpoint/2010/main" val="19736148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r>
              <a:rPr lang="vi-VN" b="1"/>
              <a:t>Daily Scrum</a:t>
            </a:r>
            <a:r>
              <a:rPr lang="vi-VN"/>
              <a:t> là một sự kiện có giới hạn thời gian trong Scrum, tập trung vào việc đồng bộ hóa công việc của nhóm và đảm bảo tiến độ đạt được Mục tiêu Sprint.</a:t>
            </a:r>
          </a:p>
          <a:p>
            <a:r>
              <a:rPr lang="vi-VN" b="1"/>
              <a:t>Đặc điểm chính:</a:t>
            </a:r>
          </a:p>
          <a:p>
            <a:pPr>
              <a:buFont typeface="+mj-lt"/>
              <a:buAutoNum type="arabicPeriod"/>
            </a:pPr>
            <a:r>
              <a:rPr lang="vi-VN" b="1"/>
              <a:t>Giới hạn thời gian</a:t>
            </a:r>
            <a:r>
              <a:rPr lang="vi-VN"/>
              <a:t>:</a:t>
            </a:r>
          </a:p>
          <a:p>
            <a:pPr marL="742950" lvl="1" indent="-285750">
              <a:buFont typeface="+mj-lt"/>
              <a:buAutoNum type="arabicPeriod"/>
            </a:pPr>
            <a:r>
              <a:rPr lang="vi-VN"/>
              <a:t>Tối đa 15 phút.</a:t>
            </a:r>
          </a:p>
          <a:p>
            <a:pPr marL="742950" lvl="1" indent="-285750">
              <a:buFont typeface="+mj-lt"/>
              <a:buAutoNum type="arabicPeriod"/>
            </a:pPr>
            <a:r>
              <a:rPr lang="vi-VN"/>
              <a:t>Diễn ra cùng thời gian và địa điểm mỗi ngày.</a:t>
            </a:r>
          </a:p>
          <a:p>
            <a:pPr>
              <a:buFont typeface="+mj-lt"/>
              <a:buAutoNum type="arabicPeriod"/>
            </a:pPr>
            <a:r>
              <a:rPr lang="vi-VN" b="1"/>
              <a:t>Thành phần tham gia</a:t>
            </a:r>
            <a:r>
              <a:rPr lang="vi-VN"/>
              <a:t>:</a:t>
            </a:r>
          </a:p>
          <a:p>
            <a:pPr marL="742950" lvl="1" indent="-285750">
              <a:buFont typeface="+mj-lt"/>
              <a:buAutoNum type="arabicPeriod"/>
            </a:pPr>
            <a:r>
              <a:rPr lang="vi-VN" b="1"/>
              <a:t>Nhóm phát triển (Development Team)</a:t>
            </a:r>
            <a:r>
              <a:rPr lang="vi-VN"/>
              <a:t>: Bắt buộc.</a:t>
            </a:r>
          </a:p>
          <a:p>
            <a:pPr marL="742950" lvl="1" indent="-285750">
              <a:buFont typeface="+mj-lt"/>
              <a:buAutoNum type="arabicPeriod"/>
            </a:pPr>
            <a:r>
              <a:rPr lang="vi-VN"/>
              <a:t>Scrum Master và Product Owner có thể tham dự nhưng không bắt buộc, trừ khi họ đóng góp trực tiếp.</a:t>
            </a:r>
          </a:p>
          <a:p>
            <a:pPr>
              <a:buFont typeface="+mj-lt"/>
              <a:buAutoNum type="arabicPeriod"/>
            </a:pPr>
            <a:r>
              <a:rPr lang="vi-VN" b="1"/>
              <a:t>Mục đích</a:t>
            </a:r>
            <a:r>
              <a:rPr lang="vi-VN"/>
              <a:t>:</a:t>
            </a:r>
          </a:p>
          <a:p>
            <a:pPr marL="742950" lvl="1" indent="-285750">
              <a:buFont typeface="+mj-lt"/>
              <a:buAutoNum type="arabicPeriod"/>
            </a:pPr>
            <a:r>
              <a:rPr lang="vi-VN"/>
              <a:t>Kiểm tra tiến độ đạt được Mục tiêu Sprint.</a:t>
            </a:r>
          </a:p>
          <a:p>
            <a:pPr marL="742950" lvl="1" indent="-285750">
              <a:buFont typeface="+mj-lt"/>
              <a:buAutoNum type="arabicPeriod"/>
            </a:pPr>
            <a:r>
              <a:rPr lang="vi-VN"/>
              <a:t>Điều chỉnh Sprint Backlog nếu cần.</a:t>
            </a:r>
          </a:p>
          <a:p>
            <a:pPr marL="742950" lvl="1" indent="-285750">
              <a:buFont typeface="+mj-lt"/>
              <a:buAutoNum type="arabicPeriod"/>
            </a:pPr>
            <a:r>
              <a:rPr lang="vi-VN"/>
              <a:t>Cải thiện giao tiếp, xác định các trở ngại và thúc đẩy trách nhiệm cá nhân.</a:t>
            </a:r>
          </a:p>
          <a:p>
            <a:r>
              <a:rPr lang="vi-VN" b="1"/>
              <a:t>Hình thức:</a:t>
            </a:r>
          </a:p>
          <a:p>
            <a:r>
              <a:rPr lang="vi-VN"/>
              <a:t>Mỗi thành viên trong nhóm thường trả lời 3 câu hỏi:</a:t>
            </a:r>
          </a:p>
          <a:p>
            <a:pPr>
              <a:buFont typeface="+mj-lt"/>
              <a:buAutoNum type="arabicPeriod"/>
            </a:pPr>
            <a:r>
              <a:rPr lang="vi-VN" b="1"/>
              <a:t>Hôm qua tôi đã làm gì để giúp đạt được Mục tiêu Sprint?</a:t>
            </a:r>
            <a:endParaRPr lang="vi-VN"/>
          </a:p>
          <a:p>
            <a:pPr>
              <a:buFont typeface="+mj-lt"/>
              <a:buAutoNum type="arabicPeriod"/>
            </a:pPr>
            <a:r>
              <a:rPr lang="vi-VN" b="1"/>
              <a:t>Hôm nay tôi sẽ làm gì để giúp đạt được Mục tiêu Sprint?</a:t>
            </a:r>
            <a:endParaRPr lang="vi-VN"/>
          </a:p>
          <a:p>
            <a:pPr>
              <a:buFont typeface="+mj-lt"/>
              <a:buAutoNum type="arabicPeriod"/>
            </a:pPr>
            <a:r>
              <a:rPr lang="vi-VN" b="1"/>
              <a:t>Có bất kỳ trở ngại nào đang cản trở tôi hoặc nhóm không?</a:t>
            </a:r>
            <a:endParaRPr lang="vi-VN"/>
          </a:p>
          <a:p>
            <a:r>
              <a:rPr lang="vi-VN" b="1"/>
              <a:t>Kết quả:</a:t>
            </a:r>
          </a:p>
          <a:p>
            <a:pPr>
              <a:buFont typeface="Arial" panose="020B0604020202020204" pitchFamily="34" charset="0"/>
              <a:buChar char="•"/>
            </a:pPr>
            <a:r>
              <a:rPr lang="vi-VN"/>
              <a:t>Đồng bộ hóa giữa các thành viên trong nhóm.</a:t>
            </a:r>
          </a:p>
          <a:p>
            <a:pPr>
              <a:buFont typeface="Arial" panose="020B0604020202020204" pitchFamily="34" charset="0"/>
              <a:buChar char="•"/>
            </a:pPr>
            <a:r>
              <a:rPr lang="vi-VN"/>
              <a:t>Cập nhật Sprint Backlog.</a:t>
            </a:r>
          </a:p>
          <a:p>
            <a:pPr>
              <a:buFont typeface="Arial" panose="020B0604020202020204" pitchFamily="34" charset="0"/>
              <a:buChar char="•"/>
            </a:pPr>
            <a:r>
              <a:rPr lang="vi-VN"/>
              <a:t>Xác định các vấn đề cần được giải quyết sau cuộc họp.</a:t>
            </a:r>
          </a:p>
          <a:p>
            <a:endParaRPr lang="en-US"/>
          </a:p>
        </p:txBody>
      </p:sp>
    </p:spTree>
    <p:extLst>
      <p:ext uri="{BB962C8B-B14F-4D97-AF65-F5344CB8AC3E}">
        <p14:creationId xmlns:p14="http://schemas.microsoft.com/office/powerpoint/2010/main" val="183636972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r>
              <a:rPr lang="vi-VN" b="1"/>
              <a:t>Sprint Review</a:t>
            </a:r>
            <a:r>
              <a:rPr lang="vi-VN"/>
              <a:t> là một sự kiện quan trọng trong Scrum, diễn ra vào cuối mỗi Sprint. Mục tiêu chính là để Nhóm Scrum và các bên liên quan kiểm tra công việc đã hoàn thành, nhận phản hồi và điều chỉnh các kế hoạch trong tương lai. Dưới đây là các bước thực hiện Sprint Review:</a:t>
            </a:r>
          </a:p>
          <a:p>
            <a:r>
              <a:rPr lang="vi-VN" b="1"/>
              <a:t>1. Chuẩn bị cho Sprint Review</a:t>
            </a:r>
          </a:p>
          <a:p>
            <a:pPr>
              <a:buFont typeface="Arial" panose="020B0604020202020204" pitchFamily="34" charset="0"/>
              <a:buChar char="•"/>
            </a:pPr>
            <a:r>
              <a:rPr lang="vi-VN" b="1"/>
              <a:t>Tổ chức:</a:t>
            </a:r>
            <a:r>
              <a:rPr lang="vi-VN"/>
              <a:t> Scrum Master lên kế hoạch và đảm bảo mọi người đều hiểu về mục tiêu của buổi Sprint Review.</a:t>
            </a:r>
          </a:p>
          <a:p>
            <a:pPr>
              <a:buFont typeface="Arial" panose="020B0604020202020204" pitchFamily="34" charset="0"/>
              <a:buChar char="•"/>
            </a:pPr>
            <a:r>
              <a:rPr lang="vi-VN" b="1"/>
              <a:t>Chuẩn bị sản phẩm:</a:t>
            </a:r>
            <a:r>
              <a:rPr lang="vi-VN"/>
              <a:t> Nhóm Phát triển chuẩn bị </a:t>
            </a:r>
            <a:r>
              <a:rPr lang="vi-VN" b="1"/>
              <a:t>Increment</a:t>
            </a:r>
            <a:r>
              <a:rPr lang="vi-VN"/>
              <a:t> (gia tăng giá trị của sản phẩm) - bao gồm các tính năng hoặc công việc đã hoàn thành theo Definition of Done (DoD).</a:t>
            </a:r>
          </a:p>
          <a:p>
            <a:pPr>
              <a:buFont typeface="Arial" panose="020B0604020202020204" pitchFamily="34" charset="0"/>
              <a:buChar char="•"/>
            </a:pPr>
            <a:r>
              <a:rPr lang="vi-VN" b="1"/>
              <a:t>Mời các bên liên quan:</a:t>
            </a:r>
            <a:r>
              <a:rPr lang="vi-VN"/>
              <a:t> Scrum Master mời các bên liên quan (stakeholders) tham dự để đảm bảo sự minh bạch và thu thập phản hồi.</a:t>
            </a:r>
          </a:p>
          <a:p>
            <a:r>
              <a:rPr lang="vi-VN" b="1"/>
              <a:t>2. Giới thiệu về Sprint và Mục tiêu</a:t>
            </a:r>
          </a:p>
          <a:p>
            <a:pPr>
              <a:buFont typeface="Arial" panose="020B0604020202020204" pitchFamily="34" charset="0"/>
              <a:buChar char="•"/>
            </a:pPr>
            <a:r>
              <a:rPr lang="vi-VN" b="1"/>
              <a:t>Scrum Master hoặc Product Owner mở đầu:</a:t>
            </a:r>
            <a:r>
              <a:rPr lang="vi-VN"/>
              <a:t> Trình bày mục tiêu Sprint, công việc đã được lên kế hoạch và kỳ vọng ban đầu.</a:t>
            </a:r>
          </a:p>
          <a:p>
            <a:pPr>
              <a:buFont typeface="Arial" panose="020B0604020202020204" pitchFamily="34" charset="0"/>
              <a:buChar char="•"/>
            </a:pPr>
            <a:r>
              <a:rPr lang="vi-VN" b="1"/>
              <a:t>Đặt bối cảnh:</a:t>
            </a:r>
            <a:r>
              <a:rPr lang="vi-VN"/>
              <a:t> Giải thích tóm tắt những gì nhóm muốn đạt được trong Sprint vừa qua.</a:t>
            </a:r>
          </a:p>
          <a:p>
            <a:r>
              <a:rPr lang="vi-VN" b="1"/>
              <a:t>3. Trình bày Increment</a:t>
            </a:r>
          </a:p>
          <a:p>
            <a:pPr>
              <a:buFont typeface="Arial" panose="020B0604020202020204" pitchFamily="34" charset="0"/>
              <a:buChar char="•"/>
            </a:pPr>
            <a:r>
              <a:rPr lang="vi-VN" b="1"/>
              <a:t>Nhóm Phát triển trình bày:</a:t>
            </a:r>
            <a:endParaRPr lang="vi-VN"/>
          </a:p>
          <a:p>
            <a:pPr marL="742950" lvl="1" indent="-285750">
              <a:buFont typeface="Arial" panose="020B0604020202020204" pitchFamily="34" charset="0"/>
              <a:buChar char="•"/>
            </a:pPr>
            <a:r>
              <a:rPr lang="vi-VN"/>
              <a:t>Giới thiệu các tính năng hoặc sản phẩm đã hoàn thành.</a:t>
            </a:r>
          </a:p>
          <a:p>
            <a:pPr marL="742950" lvl="1" indent="-285750">
              <a:buFont typeface="Arial" panose="020B0604020202020204" pitchFamily="34" charset="0"/>
              <a:buChar char="•"/>
            </a:pPr>
            <a:r>
              <a:rPr lang="vi-VN"/>
              <a:t>Trình diễn trực tiếp (live demo) các chức năng mới hoặc cải tiến của sản phẩm.</a:t>
            </a:r>
          </a:p>
          <a:p>
            <a:pPr>
              <a:buFont typeface="Arial" panose="020B0604020202020204" pitchFamily="34" charset="0"/>
              <a:buChar char="•"/>
            </a:pPr>
            <a:r>
              <a:rPr lang="vi-VN" b="1"/>
              <a:t>Đảm bảo tính minh bạch:</a:t>
            </a:r>
            <a:r>
              <a:rPr lang="vi-VN"/>
              <a:t> Chỉ những công việc đáp ứng DoD mới được trình bày. Những công việc chưa hoàn thành sẽ không được đánh dấu là hoàn tất.</a:t>
            </a:r>
          </a:p>
          <a:p>
            <a:r>
              <a:rPr lang="vi-VN" b="1"/>
              <a:t>4. Thu thập phản hồi từ các bên liên quan</a:t>
            </a:r>
          </a:p>
          <a:p>
            <a:pPr>
              <a:buFont typeface="Arial" panose="020B0604020202020204" pitchFamily="34" charset="0"/>
              <a:buChar char="•"/>
            </a:pPr>
            <a:r>
              <a:rPr lang="vi-VN" b="1"/>
              <a:t>Các bên liên quan góp ý:</a:t>
            </a:r>
            <a:r>
              <a:rPr lang="vi-VN"/>
              <a:t> Chia sẻ ý kiến và đánh giá về sản phẩm.</a:t>
            </a:r>
          </a:p>
          <a:p>
            <a:pPr>
              <a:buFont typeface="Arial" panose="020B0604020202020204" pitchFamily="34" charset="0"/>
              <a:buChar char="•"/>
            </a:pPr>
            <a:r>
              <a:rPr lang="vi-VN" b="1"/>
              <a:t>Thảo luận:</a:t>
            </a:r>
            <a:r>
              <a:rPr lang="vi-VN"/>
              <a:t> Product Owner và nhóm lắng nghe phản hồi để hiểu rõ mong muốn và kỳ vọng từ phía người dùng hoặc khách hàng.</a:t>
            </a:r>
          </a:p>
          <a:p>
            <a:pPr>
              <a:buFont typeface="Arial" panose="020B0604020202020204" pitchFamily="34" charset="0"/>
              <a:buChar char="•"/>
            </a:pPr>
            <a:r>
              <a:rPr lang="vi-VN" b="1"/>
              <a:t>Ưu tiên:</a:t>
            </a:r>
            <a:r>
              <a:rPr lang="vi-VN"/>
              <a:t> Xem xét lại backlog và thêm các mục mới (nếu cần) dựa trên phản hồi.</a:t>
            </a:r>
          </a:p>
          <a:p>
            <a:r>
              <a:rPr lang="vi-VN" b="1"/>
              <a:t>5. Đánh giá Sprint</a:t>
            </a:r>
          </a:p>
          <a:p>
            <a:pPr>
              <a:buFont typeface="Arial" panose="020B0604020202020204" pitchFamily="34" charset="0"/>
              <a:buChar char="•"/>
            </a:pPr>
            <a:r>
              <a:rPr lang="vi-VN" b="1"/>
              <a:t>Nhóm Scrum tự đánh giá:</a:t>
            </a:r>
            <a:r>
              <a:rPr lang="vi-VN"/>
              <a:t> Đánh giá những gì đã làm tốt, những gì chưa đạt và lý do.</a:t>
            </a:r>
          </a:p>
          <a:p>
            <a:pPr>
              <a:buFont typeface="Arial" panose="020B0604020202020204" pitchFamily="34" charset="0"/>
              <a:buChar char="•"/>
            </a:pPr>
            <a:r>
              <a:rPr lang="vi-VN" b="1"/>
              <a:t>Thảo luận tiến độ:</a:t>
            </a:r>
            <a:r>
              <a:rPr lang="vi-VN"/>
              <a:t> So sánh giữa mục tiêu Sprint và công việc thực tế đã hoàn thành.</a:t>
            </a:r>
          </a:p>
          <a:p>
            <a:r>
              <a:rPr lang="vi-VN" b="1"/>
              <a:t>6. Cập nhật Product Backlog</a:t>
            </a:r>
          </a:p>
          <a:p>
            <a:pPr>
              <a:buFont typeface="Arial" panose="020B0604020202020204" pitchFamily="34" charset="0"/>
              <a:buChar char="•"/>
            </a:pPr>
            <a:r>
              <a:rPr lang="vi-VN" b="1"/>
              <a:t>Product Owner cập nhật:</a:t>
            </a:r>
            <a:endParaRPr lang="vi-VN"/>
          </a:p>
          <a:p>
            <a:pPr marL="742950" lvl="1" indent="-285750">
              <a:buFont typeface="Arial" panose="020B0604020202020204" pitchFamily="34" charset="0"/>
              <a:buChar char="•"/>
            </a:pPr>
            <a:r>
              <a:rPr lang="vi-VN"/>
              <a:t>Điều chỉnh thứ tự ưu tiên của Product Backlog dựa trên phản hồi từ Sprint Review.</a:t>
            </a:r>
          </a:p>
          <a:p>
            <a:pPr marL="742950" lvl="1" indent="-285750">
              <a:buFont typeface="Arial" panose="020B0604020202020204" pitchFamily="34" charset="0"/>
              <a:buChar char="•"/>
            </a:pPr>
            <a:r>
              <a:rPr lang="vi-VN"/>
              <a:t>Thêm các mục mới (nếu cần) để đáp ứng yêu cầu của các bên liên quan.</a:t>
            </a:r>
          </a:p>
          <a:p>
            <a:r>
              <a:rPr lang="vi-VN" b="1"/>
              <a:t>7. Kết thúc Sprint Review</a:t>
            </a:r>
          </a:p>
          <a:p>
            <a:pPr>
              <a:buFont typeface="Arial" panose="020B0604020202020204" pitchFamily="34" charset="0"/>
              <a:buChar char="•"/>
            </a:pPr>
            <a:r>
              <a:rPr lang="vi-VN" b="1"/>
              <a:t>Tóm tắt buổi họp:</a:t>
            </a:r>
            <a:r>
              <a:rPr lang="vi-VN"/>
              <a:t> Scrum Master hoặc Product Owner tổng hợp những nội dung chính và xác nhận các bước tiếp theo.</a:t>
            </a:r>
          </a:p>
          <a:p>
            <a:pPr>
              <a:buFont typeface="Arial" panose="020B0604020202020204" pitchFamily="34" charset="0"/>
              <a:buChar char="•"/>
            </a:pPr>
            <a:r>
              <a:rPr lang="vi-VN" b="1"/>
              <a:t>Cảm ơn các bên tham gia:</a:t>
            </a:r>
            <a:r>
              <a:rPr lang="vi-VN"/>
              <a:t> Đảm bảo sự trân trọng đối với đóng góp của mọi người.</a:t>
            </a:r>
          </a:p>
          <a:p>
            <a:r>
              <a:rPr lang="vi-VN" b="1"/>
              <a:t>Các Lưu Ý Quan Trọng</a:t>
            </a:r>
          </a:p>
          <a:p>
            <a:pPr>
              <a:buFont typeface="Arial" panose="020B0604020202020204" pitchFamily="34" charset="0"/>
              <a:buChar char="•"/>
            </a:pPr>
            <a:r>
              <a:rPr lang="vi-VN" b="1"/>
              <a:t>Không phải một buổi báo cáo:</a:t>
            </a:r>
            <a:r>
              <a:rPr lang="vi-VN"/>
              <a:t> Sprint Review không phải để trình bày trạng thái công việc, mà là cơ hội để đánh giá và thích nghi sản phẩm.</a:t>
            </a:r>
          </a:p>
          <a:p>
            <a:pPr>
              <a:buFont typeface="Arial" panose="020B0604020202020204" pitchFamily="34" charset="0"/>
              <a:buChar char="•"/>
            </a:pPr>
            <a:r>
              <a:rPr lang="vi-VN" b="1"/>
              <a:t>Tập trung vào giá trị:</a:t>
            </a:r>
            <a:r>
              <a:rPr lang="vi-VN"/>
              <a:t> Cuộc họp xoay quanh việc tạo ra giá trị và cải tiến sản phẩm.</a:t>
            </a:r>
          </a:p>
          <a:p>
            <a:pPr>
              <a:buFont typeface="Arial" panose="020B0604020202020204" pitchFamily="34" charset="0"/>
              <a:buChar char="•"/>
            </a:pPr>
            <a:r>
              <a:rPr lang="vi-VN" b="1"/>
              <a:t>Hợp tác:</a:t>
            </a:r>
            <a:r>
              <a:rPr lang="vi-VN"/>
              <a:t> Khuyến khích đối thoại mở và minh bạch giữa nhóm và các bên liên quan.</a:t>
            </a:r>
          </a:p>
          <a:p>
            <a:r>
              <a:rPr lang="vi-VN"/>
              <a:t>Sprint Review là một phần không thể thiếu để đảm bảo sản phẩm đáp ứng kỳ vọng và tiếp tục cải tiến, giúp tối đa hóa giá trị mang lại cho người dùng hoặc khách hàng.</a:t>
            </a:r>
          </a:p>
          <a:p>
            <a:endParaRPr lang="en-US"/>
          </a:p>
        </p:txBody>
      </p:sp>
    </p:spTree>
    <p:extLst>
      <p:ext uri="{BB962C8B-B14F-4D97-AF65-F5344CB8AC3E}">
        <p14:creationId xmlns:p14="http://schemas.microsoft.com/office/powerpoint/2010/main" val="421795981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r>
              <a:rPr lang="vi-VN" b="1" dirty="0" err="1"/>
              <a:t>Sprint</a:t>
            </a:r>
            <a:r>
              <a:rPr lang="vi-VN" b="1" dirty="0"/>
              <a:t> </a:t>
            </a:r>
            <a:r>
              <a:rPr lang="vi-VN" b="1" dirty="0" err="1"/>
              <a:t>Retrospective</a:t>
            </a:r>
            <a:r>
              <a:rPr lang="vi-VN" dirty="0"/>
              <a:t> là sự kiện cuối cùng trong mỗi </a:t>
            </a:r>
            <a:r>
              <a:rPr lang="vi-VN" dirty="0" err="1"/>
              <a:t>Sprint</a:t>
            </a:r>
            <a:r>
              <a:rPr lang="vi-VN" dirty="0"/>
              <a:t> trong </a:t>
            </a:r>
            <a:r>
              <a:rPr lang="vi-VN" dirty="0" err="1"/>
              <a:t>Scrum</a:t>
            </a:r>
            <a:r>
              <a:rPr lang="vi-VN" dirty="0"/>
              <a:t>. Đây là cơ hội để Nhóm </a:t>
            </a:r>
            <a:r>
              <a:rPr lang="vi-VN" dirty="0" err="1"/>
              <a:t>Scrum</a:t>
            </a:r>
            <a:r>
              <a:rPr lang="vi-VN" dirty="0"/>
              <a:t> nhìn lại cách họ đã làm việc trong </a:t>
            </a:r>
            <a:r>
              <a:rPr lang="vi-VN" dirty="0" err="1"/>
              <a:t>Sprint</a:t>
            </a:r>
            <a:r>
              <a:rPr lang="vi-VN" dirty="0"/>
              <a:t> vừa qua và tìm cách cải thiện để làm việc hiệu quả hơn trong tương lai.</a:t>
            </a:r>
          </a:p>
          <a:p>
            <a:r>
              <a:rPr lang="vi-VN" b="1" dirty="0"/>
              <a:t>Mục tiêu của </a:t>
            </a:r>
            <a:r>
              <a:rPr lang="vi-VN" b="1" dirty="0" err="1"/>
              <a:t>Sprint</a:t>
            </a:r>
            <a:r>
              <a:rPr lang="vi-VN" b="1" dirty="0"/>
              <a:t> </a:t>
            </a:r>
            <a:r>
              <a:rPr lang="vi-VN" b="1" dirty="0" err="1"/>
              <a:t>Retrospective</a:t>
            </a:r>
            <a:endParaRPr lang="vi-VN" b="1" dirty="0"/>
          </a:p>
          <a:p>
            <a:pPr>
              <a:buFont typeface="+mj-lt"/>
              <a:buAutoNum type="arabicPeriod"/>
            </a:pPr>
            <a:r>
              <a:rPr lang="vi-VN" b="1" dirty="0"/>
              <a:t>Cải tiến liên tục:</a:t>
            </a:r>
            <a:r>
              <a:rPr lang="vi-VN" dirty="0"/>
              <a:t> Tìm ra những gì đang hoạt động tốt, những gì chưa ổn và xác định cách cải thiện.</a:t>
            </a:r>
          </a:p>
          <a:p>
            <a:pPr>
              <a:buFont typeface="+mj-lt"/>
              <a:buAutoNum type="arabicPeriod"/>
            </a:pPr>
            <a:r>
              <a:rPr lang="vi-VN" b="1" dirty="0"/>
              <a:t>Tăng cường sự hợp tác:</a:t>
            </a:r>
            <a:r>
              <a:rPr lang="vi-VN" dirty="0"/>
              <a:t> Khuyến khích các thành viên nhóm chia sẻ suy nghĩ và ý tưởng.</a:t>
            </a:r>
          </a:p>
          <a:p>
            <a:pPr>
              <a:buFont typeface="+mj-lt"/>
              <a:buAutoNum type="arabicPeriod"/>
            </a:pPr>
            <a:r>
              <a:rPr lang="vi-VN" b="1" dirty="0"/>
              <a:t>Xây dựng kế hoạch cải tiến:</a:t>
            </a:r>
            <a:r>
              <a:rPr lang="vi-VN" dirty="0"/>
              <a:t> Đưa ra các hành động cụ thể để cải thiện trong </a:t>
            </a:r>
            <a:r>
              <a:rPr lang="vi-VN" dirty="0" err="1"/>
              <a:t>Sprint</a:t>
            </a:r>
            <a:r>
              <a:rPr lang="vi-VN" dirty="0"/>
              <a:t> tiếp theo.</a:t>
            </a:r>
          </a:p>
          <a:p>
            <a:r>
              <a:rPr lang="vi-VN" b="1" dirty="0"/>
              <a:t>Các bước trong </a:t>
            </a:r>
            <a:r>
              <a:rPr lang="vi-VN" b="1" dirty="0" err="1"/>
              <a:t>Sprint</a:t>
            </a:r>
            <a:r>
              <a:rPr lang="vi-VN" b="1" dirty="0"/>
              <a:t> </a:t>
            </a:r>
            <a:r>
              <a:rPr lang="vi-VN" b="1" dirty="0" err="1"/>
              <a:t>Retrospective</a:t>
            </a:r>
            <a:endParaRPr lang="vi-VN" b="1" dirty="0"/>
          </a:p>
          <a:p>
            <a:r>
              <a:rPr lang="vi-VN" b="1" dirty="0"/>
              <a:t>1. Chuẩn bị cho </a:t>
            </a:r>
            <a:r>
              <a:rPr lang="vi-VN" b="1" dirty="0" err="1"/>
              <a:t>Sprint</a:t>
            </a:r>
            <a:r>
              <a:rPr lang="vi-VN" b="1" dirty="0"/>
              <a:t> </a:t>
            </a:r>
            <a:r>
              <a:rPr lang="vi-VN" b="1" dirty="0" err="1"/>
              <a:t>Retrospective</a:t>
            </a:r>
            <a:endParaRPr lang="vi-VN" b="1" dirty="0"/>
          </a:p>
          <a:p>
            <a:pPr>
              <a:buFont typeface="Arial" panose="020B0604020202020204" pitchFamily="34" charset="0"/>
              <a:buChar char="•"/>
            </a:pPr>
            <a:r>
              <a:rPr lang="vi-VN" b="1" dirty="0" err="1"/>
              <a:t>Scrum</a:t>
            </a:r>
            <a:r>
              <a:rPr lang="vi-VN" b="1" dirty="0"/>
              <a:t> </a:t>
            </a:r>
            <a:r>
              <a:rPr lang="vi-VN" b="1" dirty="0" err="1"/>
              <a:t>Master</a:t>
            </a:r>
            <a:r>
              <a:rPr lang="vi-VN" b="1" dirty="0"/>
              <a:t> tổ chức:</a:t>
            </a:r>
            <a:r>
              <a:rPr lang="vi-VN" dirty="0"/>
              <a:t> Đảm bảo mọi người hiểu mục tiêu của buổi họp.</a:t>
            </a:r>
          </a:p>
          <a:p>
            <a:pPr>
              <a:buFont typeface="Arial" panose="020B0604020202020204" pitchFamily="34" charset="0"/>
              <a:buChar char="•"/>
            </a:pPr>
            <a:r>
              <a:rPr lang="vi-VN" b="1" dirty="0"/>
              <a:t>Không gian thoải mái:</a:t>
            </a:r>
            <a:r>
              <a:rPr lang="vi-VN" dirty="0"/>
              <a:t> Tạo môi trường khuyến khích sự trung thực và cởi mở.</a:t>
            </a:r>
          </a:p>
          <a:p>
            <a:pPr>
              <a:buFont typeface="Arial" panose="020B0604020202020204" pitchFamily="34" charset="0"/>
              <a:buChar char="•"/>
            </a:pPr>
            <a:r>
              <a:rPr lang="vi-VN" b="1" dirty="0"/>
              <a:t>Công cụ hỗ trợ:</a:t>
            </a:r>
            <a:r>
              <a:rPr lang="vi-VN" dirty="0"/>
              <a:t> Nếu làm việc từ xa, chuẩn bị các công cụ như bảng trắng ảo (</a:t>
            </a:r>
            <a:r>
              <a:rPr lang="vi-VN" dirty="0" err="1"/>
              <a:t>Miro</a:t>
            </a:r>
            <a:r>
              <a:rPr lang="vi-VN" dirty="0"/>
              <a:t>, MURAL) hoặc công cụ quản lý nhóm (</a:t>
            </a:r>
            <a:r>
              <a:rPr lang="vi-VN" dirty="0" err="1"/>
              <a:t>Trello</a:t>
            </a:r>
            <a:r>
              <a:rPr lang="vi-VN" dirty="0"/>
              <a:t>, Microsoft </a:t>
            </a:r>
            <a:r>
              <a:rPr lang="vi-VN" dirty="0" err="1"/>
              <a:t>Teams</a:t>
            </a:r>
            <a:r>
              <a:rPr lang="vi-VN" dirty="0"/>
              <a:t>).</a:t>
            </a:r>
          </a:p>
          <a:p>
            <a:r>
              <a:rPr lang="vi-VN" b="1" dirty="0"/>
              <a:t>2. Mở đầu buổi họp</a:t>
            </a:r>
          </a:p>
          <a:p>
            <a:pPr>
              <a:buFont typeface="Arial" panose="020B0604020202020204" pitchFamily="34" charset="0"/>
              <a:buChar char="•"/>
            </a:pPr>
            <a:r>
              <a:rPr lang="vi-VN" b="1" dirty="0" err="1"/>
              <a:t>Scrum</a:t>
            </a:r>
            <a:r>
              <a:rPr lang="vi-VN" b="1" dirty="0"/>
              <a:t> </a:t>
            </a:r>
            <a:r>
              <a:rPr lang="vi-VN" b="1" dirty="0" err="1"/>
              <a:t>Master</a:t>
            </a:r>
            <a:r>
              <a:rPr lang="vi-VN" b="1" dirty="0"/>
              <a:t> dẫn dắt:</a:t>
            </a:r>
            <a:r>
              <a:rPr lang="vi-VN" dirty="0"/>
              <a:t> Bắt đầu bằng cách nhắc lại mục tiêu của </a:t>
            </a:r>
            <a:r>
              <a:rPr lang="vi-VN" dirty="0" err="1"/>
              <a:t>Sprint</a:t>
            </a:r>
            <a:r>
              <a:rPr lang="vi-VN" dirty="0"/>
              <a:t> </a:t>
            </a:r>
            <a:r>
              <a:rPr lang="vi-VN" dirty="0" err="1"/>
              <a:t>Retrospective</a:t>
            </a:r>
            <a:r>
              <a:rPr lang="vi-VN" dirty="0"/>
              <a:t>.</a:t>
            </a:r>
          </a:p>
          <a:p>
            <a:pPr>
              <a:buFont typeface="Arial" panose="020B0604020202020204" pitchFamily="34" charset="0"/>
              <a:buChar char="•"/>
            </a:pPr>
            <a:r>
              <a:rPr lang="vi-VN" b="1" dirty="0"/>
              <a:t>Tạo bầu không khí tích cực:</a:t>
            </a:r>
            <a:r>
              <a:rPr lang="vi-VN" dirty="0"/>
              <a:t> Có thể sử dụng các hoạt động khởi động (</a:t>
            </a:r>
            <a:r>
              <a:rPr lang="vi-VN" dirty="0" err="1"/>
              <a:t>icebreaker</a:t>
            </a:r>
            <a:r>
              <a:rPr lang="vi-VN" dirty="0"/>
              <a:t>) để các thành viên cảm thấy thoải mái.</a:t>
            </a:r>
          </a:p>
          <a:p>
            <a:r>
              <a:rPr lang="vi-VN" b="1" dirty="0"/>
              <a:t>3. Nhìn lại </a:t>
            </a:r>
            <a:r>
              <a:rPr lang="vi-VN" b="1" dirty="0" err="1"/>
              <a:t>Sprint</a:t>
            </a:r>
            <a:r>
              <a:rPr lang="vi-VN" b="1" dirty="0"/>
              <a:t> vừa qua</a:t>
            </a:r>
          </a:p>
          <a:p>
            <a:pPr>
              <a:buFont typeface="Arial" panose="020B0604020202020204" pitchFamily="34" charset="0"/>
              <a:buChar char="•"/>
            </a:pPr>
            <a:r>
              <a:rPr lang="vi-VN" b="1" dirty="0"/>
              <a:t>Thảo luận 3 câu hỏi chính:</a:t>
            </a:r>
            <a:endParaRPr lang="vi-VN" dirty="0"/>
          </a:p>
          <a:p>
            <a:pPr marL="742950" lvl="1" indent="-285750">
              <a:buFont typeface="Arial" panose="020B0604020202020204" pitchFamily="34" charset="0"/>
              <a:buChar char="•"/>
            </a:pPr>
            <a:r>
              <a:rPr lang="vi-VN" b="1" dirty="0"/>
              <a:t>Điều gì đã làm tốt trong </a:t>
            </a:r>
            <a:r>
              <a:rPr lang="vi-VN" b="1" dirty="0" err="1"/>
              <a:t>Sprint</a:t>
            </a:r>
            <a:r>
              <a:rPr lang="vi-VN" b="1" dirty="0"/>
              <a:t>?</a:t>
            </a:r>
            <a:endParaRPr lang="vi-VN" dirty="0"/>
          </a:p>
          <a:p>
            <a:pPr marL="742950" lvl="1" indent="-285750">
              <a:buFont typeface="Arial" panose="020B0604020202020204" pitchFamily="34" charset="0"/>
              <a:buChar char="•"/>
            </a:pPr>
            <a:r>
              <a:rPr lang="vi-VN" b="1" dirty="0"/>
              <a:t>Điều gì chưa tốt hoặc cần cải thiện?</a:t>
            </a:r>
            <a:endParaRPr lang="vi-VN" dirty="0"/>
          </a:p>
          <a:p>
            <a:pPr marL="742950" lvl="1" indent="-285750">
              <a:buFont typeface="Arial" panose="020B0604020202020204" pitchFamily="34" charset="0"/>
              <a:buChar char="•"/>
            </a:pPr>
            <a:r>
              <a:rPr lang="vi-VN" b="1" dirty="0"/>
              <a:t>Chúng ta sẽ làm gì khác biệt trong </a:t>
            </a:r>
            <a:r>
              <a:rPr lang="vi-VN" b="1" dirty="0" err="1"/>
              <a:t>Sprint</a:t>
            </a:r>
            <a:r>
              <a:rPr lang="vi-VN" b="1" dirty="0"/>
              <a:t> tiếp theo?</a:t>
            </a:r>
            <a:endParaRPr lang="vi-VN" dirty="0"/>
          </a:p>
          <a:p>
            <a:pPr>
              <a:buFont typeface="Arial" panose="020B0604020202020204" pitchFamily="34" charset="0"/>
              <a:buChar char="•"/>
            </a:pPr>
            <a:r>
              <a:rPr lang="vi-VN" b="1" dirty="0"/>
              <a:t>Thu thập ý kiến:</a:t>
            </a:r>
            <a:r>
              <a:rPr lang="vi-VN" dirty="0"/>
              <a:t> Sử dụng các phương pháp như:</a:t>
            </a:r>
          </a:p>
          <a:p>
            <a:pPr marL="742950" lvl="1" indent="-285750">
              <a:buFont typeface="Arial" panose="020B0604020202020204" pitchFamily="34" charset="0"/>
              <a:buChar char="•"/>
            </a:pPr>
            <a:r>
              <a:rPr lang="vi-VN" dirty="0"/>
              <a:t>Bảng “</a:t>
            </a:r>
            <a:r>
              <a:rPr lang="vi-VN" dirty="0" err="1"/>
              <a:t>Start</a:t>
            </a:r>
            <a:r>
              <a:rPr lang="vi-VN" dirty="0"/>
              <a:t>, </a:t>
            </a:r>
            <a:r>
              <a:rPr lang="vi-VN" dirty="0" err="1"/>
              <a:t>Stop</a:t>
            </a:r>
            <a:r>
              <a:rPr lang="vi-VN" dirty="0"/>
              <a:t>, </a:t>
            </a:r>
            <a:r>
              <a:rPr lang="vi-VN" dirty="0" err="1"/>
              <a:t>Continue</a:t>
            </a:r>
            <a:r>
              <a:rPr lang="vi-VN" dirty="0"/>
              <a:t>” (Bắt đầu, Dừng lại, Tiếp tục).</a:t>
            </a:r>
          </a:p>
          <a:p>
            <a:pPr marL="742950" lvl="1" indent="-285750">
              <a:buFont typeface="Arial" panose="020B0604020202020204" pitchFamily="34" charset="0"/>
              <a:buChar char="•"/>
            </a:pPr>
            <a:r>
              <a:rPr lang="vi-VN" dirty="0"/>
              <a:t>Ma trận 4 ô: "Làm tốt", "Cần cải thiện", "Ý tưởng mới", "Hành động cụ thể".</a:t>
            </a:r>
          </a:p>
          <a:p>
            <a:pPr marL="742950" lvl="1" indent="-285750">
              <a:buFont typeface="Arial" panose="020B0604020202020204" pitchFamily="34" charset="0"/>
              <a:buChar char="•"/>
            </a:pPr>
            <a:r>
              <a:rPr lang="vi-VN" dirty="0"/>
              <a:t>Vòng tròn phản hồi (</a:t>
            </a:r>
            <a:r>
              <a:rPr lang="vi-VN" dirty="0" err="1"/>
              <a:t>Feedback</a:t>
            </a:r>
            <a:r>
              <a:rPr lang="vi-VN" dirty="0"/>
              <a:t> </a:t>
            </a:r>
            <a:r>
              <a:rPr lang="vi-VN" dirty="0" err="1"/>
              <a:t>Circle</a:t>
            </a:r>
            <a:r>
              <a:rPr lang="vi-VN" dirty="0"/>
              <a:t>).</a:t>
            </a:r>
          </a:p>
          <a:p>
            <a:r>
              <a:rPr lang="vi-VN" b="1" dirty="0"/>
              <a:t>4. Xác định hành động cải tiến</a:t>
            </a:r>
          </a:p>
          <a:p>
            <a:pPr>
              <a:buFont typeface="Arial" panose="020B0604020202020204" pitchFamily="34" charset="0"/>
              <a:buChar char="•"/>
            </a:pPr>
            <a:r>
              <a:rPr lang="vi-VN" b="1" dirty="0"/>
              <a:t>Ưu tiên các cải tiến:</a:t>
            </a:r>
            <a:r>
              <a:rPr lang="vi-VN" dirty="0"/>
              <a:t> Chọn một số hành động cải tiến có giá trị nhất và khả thi để thực hiện trong </a:t>
            </a:r>
            <a:r>
              <a:rPr lang="vi-VN" dirty="0" err="1"/>
              <a:t>Sprint</a:t>
            </a:r>
            <a:r>
              <a:rPr lang="vi-VN" dirty="0"/>
              <a:t> tiếp theo.</a:t>
            </a:r>
          </a:p>
          <a:p>
            <a:pPr>
              <a:buFont typeface="Arial" panose="020B0604020202020204" pitchFamily="34" charset="0"/>
              <a:buChar char="•"/>
            </a:pPr>
            <a:r>
              <a:rPr lang="vi-VN" b="1" dirty="0"/>
              <a:t>Đưa ra kế hoạch cụ thể:</a:t>
            </a:r>
            <a:r>
              <a:rPr lang="vi-VN" dirty="0"/>
              <a:t> Mỗi hành động cần được gắn với người chịu trách nhiệm và thời gian thực hiện.</a:t>
            </a:r>
          </a:p>
          <a:p>
            <a:r>
              <a:rPr lang="vi-VN" b="1" dirty="0"/>
              <a:t>5. Kết thúc </a:t>
            </a:r>
            <a:r>
              <a:rPr lang="vi-VN" b="1" dirty="0" err="1"/>
              <a:t>Sprint</a:t>
            </a:r>
            <a:r>
              <a:rPr lang="vi-VN" b="1" dirty="0"/>
              <a:t> </a:t>
            </a:r>
            <a:r>
              <a:rPr lang="vi-VN" b="1" dirty="0" err="1"/>
              <a:t>Retrospective</a:t>
            </a:r>
            <a:endParaRPr lang="vi-VN" b="1" dirty="0"/>
          </a:p>
          <a:p>
            <a:pPr>
              <a:buFont typeface="Arial" panose="020B0604020202020204" pitchFamily="34" charset="0"/>
              <a:buChar char="•"/>
            </a:pPr>
            <a:r>
              <a:rPr lang="vi-VN" b="1" dirty="0"/>
              <a:t>Tóm tắt và đồng thuận:</a:t>
            </a:r>
            <a:r>
              <a:rPr lang="vi-VN" dirty="0"/>
              <a:t> </a:t>
            </a:r>
            <a:r>
              <a:rPr lang="vi-VN" dirty="0" err="1"/>
              <a:t>Scrum</a:t>
            </a:r>
            <a:r>
              <a:rPr lang="vi-VN" dirty="0"/>
              <a:t> </a:t>
            </a:r>
            <a:r>
              <a:rPr lang="vi-VN" dirty="0" err="1"/>
              <a:t>Master</a:t>
            </a:r>
            <a:r>
              <a:rPr lang="vi-VN" dirty="0"/>
              <a:t> tóm tắt những điểm quan trọng và xác nhận với nhóm về các hành động cải tiến.</a:t>
            </a:r>
          </a:p>
          <a:p>
            <a:pPr>
              <a:buFont typeface="Arial" panose="020B0604020202020204" pitchFamily="34" charset="0"/>
              <a:buChar char="•"/>
            </a:pPr>
            <a:r>
              <a:rPr lang="vi-VN" b="1" dirty="0"/>
              <a:t>Khích lệ tinh thần:</a:t>
            </a:r>
            <a:r>
              <a:rPr lang="vi-VN" dirty="0"/>
              <a:t> Kết thúc bằng một lời động viên hoặc một hoạt động vui vẻ để nhóm cảm thấy tích cực.</a:t>
            </a:r>
          </a:p>
          <a:p>
            <a:r>
              <a:rPr lang="vi-VN" b="1" dirty="0"/>
              <a:t>Các lưu ý quan trọng</a:t>
            </a:r>
          </a:p>
          <a:p>
            <a:pPr>
              <a:buFont typeface="Arial" panose="020B0604020202020204" pitchFamily="34" charset="0"/>
              <a:buChar char="•"/>
            </a:pPr>
            <a:r>
              <a:rPr lang="vi-VN" b="1" dirty="0"/>
              <a:t>Tạo môi trường an toàn:</a:t>
            </a:r>
            <a:r>
              <a:rPr lang="vi-VN" dirty="0"/>
              <a:t> Thành viên nhóm cần cảm thấy thoải mái chia sẻ mà không sợ bị đánh giá.</a:t>
            </a:r>
          </a:p>
          <a:p>
            <a:pPr>
              <a:buFont typeface="Arial" panose="020B0604020202020204" pitchFamily="34" charset="0"/>
              <a:buChar char="•"/>
            </a:pPr>
            <a:r>
              <a:rPr lang="vi-VN" b="1" dirty="0"/>
              <a:t>Tập trung vào cải thiện, không đổ lỗi:</a:t>
            </a:r>
            <a:r>
              <a:rPr lang="vi-VN" dirty="0"/>
              <a:t> </a:t>
            </a:r>
            <a:r>
              <a:rPr lang="vi-VN" dirty="0" err="1"/>
              <a:t>Sprint</a:t>
            </a:r>
            <a:r>
              <a:rPr lang="vi-VN" dirty="0"/>
              <a:t> </a:t>
            </a:r>
            <a:r>
              <a:rPr lang="vi-VN" dirty="0" err="1"/>
              <a:t>Retrospective</a:t>
            </a:r>
            <a:r>
              <a:rPr lang="vi-VN" dirty="0"/>
              <a:t> không phải để đổ lỗi mà là để học hỏi và cải tiến.</a:t>
            </a:r>
          </a:p>
          <a:p>
            <a:pPr>
              <a:buFont typeface="Arial" panose="020B0604020202020204" pitchFamily="34" charset="0"/>
              <a:buChar char="•"/>
            </a:pPr>
            <a:r>
              <a:rPr lang="vi-VN" b="1" dirty="0"/>
              <a:t>Duy trì sự liên tục:</a:t>
            </a:r>
            <a:r>
              <a:rPr lang="vi-VN" dirty="0"/>
              <a:t> Các cải tiến nên được theo dõi và đánh giá trong các </a:t>
            </a:r>
            <a:r>
              <a:rPr lang="vi-VN" dirty="0" err="1"/>
              <a:t>Sprint</a:t>
            </a:r>
            <a:r>
              <a:rPr lang="vi-VN" dirty="0"/>
              <a:t> tiếp theo.</a:t>
            </a:r>
          </a:p>
          <a:p>
            <a:pPr>
              <a:buFont typeface="Arial" panose="020B0604020202020204" pitchFamily="34" charset="0"/>
              <a:buChar char="•"/>
            </a:pPr>
            <a:r>
              <a:rPr lang="vi-VN" b="1" dirty="0"/>
              <a:t>Thời gian hợp lý:</a:t>
            </a:r>
            <a:r>
              <a:rPr lang="vi-VN" dirty="0"/>
              <a:t> </a:t>
            </a:r>
            <a:r>
              <a:rPr lang="vi-VN" dirty="0" err="1"/>
              <a:t>Sprint</a:t>
            </a:r>
            <a:r>
              <a:rPr lang="vi-VN" dirty="0"/>
              <a:t> </a:t>
            </a:r>
            <a:r>
              <a:rPr lang="vi-VN" dirty="0" err="1"/>
              <a:t>Retrospective</a:t>
            </a:r>
            <a:r>
              <a:rPr lang="vi-VN" dirty="0"/>
              <a:t> được giới hạn (</a:t>
            </a:r>
            <a:r>
              <a:rPr lang="vi-VN" dirty="0" err="1"/>
              <a:t>time-boxed</a:t>
            </a:r>
            <a:r>
              <a:rPr lang="vi-VN" dirty="0"/>
              <a:t>) tối đa là 3 giờ cho </a:t>
            </a:r>
            <a:r>
              <a:rPr lang="vi-VN" dirty="0" err="1"/>
              <a:t>Sprint</a:t>
            </a:r>
            <a:r>
              <a:rPr lang="vi-VN" dirty="0"/>
              <a:t> kéo dài 1 tháng và thường ngắn hơn cho </a:t>
            </a:r>
            <a:r>
              <a:rPr lang="vi-VN" dirty="0" err="1"/>
              <a:t>Sprint</a:t>
            </a:r>
            <a:r>
              <a:rPr lang="vi-VN" dirty="0"/>
              <a:t> ngắn hơn.</a:t>
            </a:r>
          </a:p>
          <a:p>
            <a:r>
              <a:rPr lang="vi-VN" b="1" dirty="0"/>
              <a:t>Kết quả của </a:t>
            </a:r>
            <a:r>
              <a:rPr lang="vi-VN" b="1" dirty="0" err="1"/>
              <a:t>Sprint</a:t>
            </a:r>
            <a:r>
              <a:rPr lang="vi-VN" b="1" dirty="0"/>
              <a:t> </a:t>
            </a:r>
            <a:r>
              <a:rPr lang="vi-VN" b="1" dirty="0" err="1"/>
              <a:t>Retrospective</a:t>
            </a:r>
            <a:endParaRPr lang="vi-VN" b="1" dirty="0"/>
          </a:p>
          <a:p>
            <a:pPr>
              <a:buFont typeface="+mj-lt"/>
              <a:buAutoNum type="arabicPeriod"/>
            </a:pPr>
            <a:r>
              <a:rPr lang="vi-VN" b="1" dirty="0"/>
              <a:t>Danh sách các cải tiến:</a:t>
            </a:r>
            <a:r>
              <a:rPr lang="vi-VN" dirty="0"/>
              <a:t> Các hành động cụ thể mà nhóm sẽ thực hiện trong </a:t>
            </a:r>
            <a:r>
              <a:rPr lang="vi-VN" dirty="0" err="1"/>
              <a:t>Sprint</a:t>
            </a:r>
            <a:r>
              <a:rPr lang="vi-VN" dirty="0"/>
              <a:t> tiếp theo.</a:t>
            </a:r>
          </a:p>
          <a:p>
            <a:pPr>
              <a:buFont typeface="+mj-lt"/>
              <a:buAutoNum type="arabicPeriod"/>
            </a:pPr>
            <a:r>
              <a:rPr lang="vi-VN" b="1" dirty="0"/>
              <a:t>Sự đoàn kết của nhóm:</a:t>
            </a:r>
            <a:r>
              <a:rPr lang="vi-VN" dirty="0"/>
              <a:t> Tăng cường tinh thần làm việc nhóm và sự tin tưởng.</a:t>
            </a:r>
          </a:p>
          <a:p>
            <a:pPr>
              <a:buFont typeface="+mj-lt"/>
              <a:buAutoNum type="arabicPeriod"/>
            </a:pPr>
            <a:r>
              <a:rPr lang="vi-VN" b="1" dirty="0"/>
              <a:t>Học hỏi liên tục:</a:t>
            </a:r>
            <a:r>
              <a:rPr lang="vi-VN" dirty="0"/>
              <a:t> Đảm bảo rằng nhóm không lặp lại các lỗi cũ và ngày càng hiệu quả hơn.</a:t>
            </a:r>
          </a:p>
          <a:p>
            <a:endParaRPr lang="en-US" dirty="0"/>
          </a:p>
        </p:txBody>
      </p:sp>
    </p:spTree>
    <p:extLst>
      <p:ext uri="{BB962C8B-B14F-4D97-AF65-F5344CB8AC3E}">
        <p14:creationId xmlns:p14="http://schemas.microsoft.com/office/powerpoint/2010/main" val="1448051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AFE9FEC1-483B-425E-B0C1-B8B1F2119B26}"/>
              </a:ext>
            </a:extLst>
          </p:cNvPr>
          <p:cNvSpPr>
            <a:spLocks noGrp="1"/>
          </p:cNvSpPr>
          <p:nvPr>
            <p:ph type="body" sz="quarter" idx="10" hasCustomPrompt="1"/>
          </p:nvPr>
        </p:nvSpPr>
        <p:spPr>
          <a:xfrm>
            <a:off x="744135" y="2597642"/>
            <a:ext cx="12960668" cy="2633081"/>
          </a:xfrm>
          <a:prstGeom prst="rect">
            <a:avLst/>
          </a:prstGeom>
        </p:spPr>
        <p:txBody>
          <a:bodyPr/>
          <a:lstStyle>
            <a:lvl1pPr marL="0" indent="0" algn="ctr">
              <a:buNone/>
              <a:defRPr sz="5760" b="1">
                <a:solidFill>
                  <a:schemeClr val="bg1"/>
                </a:solidFill>
                <a:latin typeface="Arial" panose="020B0604020202020204" pitchFamily="34" charset="0"/>
                <a:cs typeface="Arial" panose="020B0604020202020204" pitchFamily="34" charset="0"/>
              </a:defRPr>
            </a:lvl1pPr>
          </a:lstStyle>
          <a:p>
            <a:pPr lvl="0"/>
            <a:r>
              <a:rPr lang="en-US"/>
              <a:t>Click to add title</a:t>
            </a:r>
          </a:p>
        </p:txBody>
      </p:sp>
      <p:sp>
        <p:nvSpPr>
          <p:cNvPr id="8" name="Text Placeholder 7">
            <a:extLst>
              <a:ext uri="{FF2B5EF4-FFF2-40B4-BE49-F238E27FC236}">
                <a16:creationId xmlns:a16="http://schemas.microsoft.com/office/drawing/2014/main" id="{33B98C62-0FD9-4624-8D35-021561432891}"/>
              </a:ext>
            </a:extLst>
          </p:cNvPr>
          <p:cNvSpPr>
            <a:spLocks noGrp="1"/>
          </p:cNvSpPr>
          <p:nvPr>
            <p:ph type="body" sz="quarter" idx="11" hasCustomPrompt="1"/>
          </p:nvPr>
        </p:nvSpPr>
        <p:spPr>
          <a:xfrm>
            <a:off x="744134" y="5320406"/>
            <a:ext cx="12960668" cy="495300"/>
          </a:xfrm>
          <a:prstGeom prst="rect">
            <a:avLst/>
          </a:prstGeom>
        </p:spPr>
        <p:txBody>
          <a:bodyPr/>
          <a:lstStyle>
            <a:lvl1pPr marL="0" indent="0" algn="ctr">
              <a:buNone/>
              <a:defRPr sz="2400">
                <a:solidFill>
                  <a:schemeClr val="bg1"/>
                </a:solidFill>
                <a:latin typeface="Arial" panose="020B0604020202020204" pitchFamily="34" charset="0"/>
                <a:cs typeface="Arial" panose="020B0604020202020204" pitchFamily="34" charset="0"/>
              </a:defRPr>
            </a:lvl1pPr>
          </a:lstStyle>
          <a:p>
            <a:pPr lvl="0"/>
            <a:r>
              <a:rPr lang="en-US"/>
              <a:t>Click to add sub-title</a:t>
            </a:r>
          </a:p>
        </p:txBody>
      </p:sp>
      <p:sp>
        <p:nvSpPr>
          <p:cNvPr id="9" name="Slide Number Placeholder 4">
            <a:extLst>
              <a:ext uri="{FF2B5EF4-FFF2-40B4-BE49-F238E27FC236}">
                <a16:creationId xmlns:a16="http://schemas.microsoft.com/office/drawing/2014/main" id="{5EB812CF-FC02-4C33-A206-BCF1436A39B4}"/>
              </a:ext>
            </a:extLst>
          </p:cNvPr>
          <p:cNvSpPr>
            <a:spLocks noGrp="1"/>
          </p:cNvSpPr>
          <p:nvPr>
            <p:ph type="sldNum" sz="quarter" idx="4"/>
          </p:nvPr>
        </p:nvSpPr>
        <p:spPr>
          <a:xfrm>
            <a:off x="11338560" y="7791451"/>
            <a:ext cx="3291840" cy="438150"/>
          </a:xfrm>
          <a:prstGeom prst="rect">
            <a:avLst/>
          </a:prstGeom>
        </p:spPr>
        <p:txBody>
          <a:bodyPr vert="horz" lIns="91440" tIns="45720" rIns="91440" bIns="45720" rtlCol="0" anchor="ctr"/>
          <a:lstStyle>
            <a:lvl1pPr algn="r">
              <a:defRPr sz="1440">
                <a:solidFill>
                  <a:schemeClr val="bg1"/>
                </a:solidFill>
                <a:latin typeface="Arial" panose="020B0604020202020204" pitchFamily="34" charset="0"/>
                <a:cs typeface="Arial" panose="020B0604020202020204" pitchFamily="34" charset="0"/>
              </a:defRPr>
            </a:lvl1pPr>
          </a:lstStyle>
          <a:p>
            <a:fld id="{31D26D55-0A22-487A-A687-61FB58A6F16A}" type="slidenum">
              <a:rPr lang="en-US" smtClean="0"/>
              <a:pPr/>
              <a:t>‹#›</a:t>
            </a:fld>
            <a:endParaRPr lang="en-US"/>
          </a:p>
        </p:txBody>
      </p:sp>
    </p:spTree>
    <p:extLst>
      <p:ext uri="{BB962C8B-B14F-4D97-AF65-F5344CB8AC3E}">
        <p14:creationId xmlns:p14="http://schemas.microsoft.com/office/powerpoint/2010/main" val="15990742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4A957C91-5AD0-4461-941C-245F034364DB}"/>
              </a:ext>
            </a:extLst>
          </p:cNvPr>
          <p:cNvSpPr>
            <a:spLocks noGrp="1"/>
          </p:cNvSpPr>
          <p:nvPr>
            <p:ph type="subTitle" idx="1"/>
          </p:nvPr>
        </p:nvSpPr>
        <p:spPr>
          <a:xfrm>
            <a:off x="746999" y="1906924"/>
            <a:ext cx="13155431" cy="5486400"/>
          </a:xfrm>
        </p:spPr>
        <p:txBody>
          <a:bodyPr/>
          <a:lstStyle>
            <a:lvl1pPr marL="0" indent="0" algn="l">
              <a:buNone/>
              <a:defRPr sz="2880"/>
            </a:lvl1pPr>
            <a:lvl2pPr marL="548640" indent="0" algn="ctr">
              <a:buNone/>
              <a:defRPr sz="2400"/>
            </a:lvl2pPr>
            <a:lvl3pPr marL="1097280" indent="0" algn="ctr">
              <a:buNone/>
              <a:defRPr sz="2160"/>
            </a:lvl3pPr>
            <a:lvl4pPr marL="1645920" indent="0" algn="ctr">
              <a:buNone/>
              <a:defRPr sz="1920"/>
            </a:lvl4pPr>
            <a:lvl5pPr marL="2194560" indent="0" algn="ctr">
              <a:buNone/>
              <a:defRPr sz="1920"/>
            </a:lvl5pPr>
            <a:lvl6pPr marL="2743200" indent="0" algn="ctr">
              <a:buNone/>
              <a:defRPr sz="1920"/>
            </a:lvl6pPr>
            <a:lvl7pPr marL="3291840" indent="0" algn="ctr">
              <a:buNone/>
              <a:defRPr sz="1920"/>
            </a:lvl7pPr>
            <a:lvl8pPr marL="3840480" indent="0" algn="ctr">
              <a:buNone/>
              <a:defRPr sz="1920"/>
            </a:lvl8pPr>
            <a:lvl9pPr marL="4389120" indent="0" algn="ctr">
              <a:buNone/>
              <a:defRPr sz="1920"/>
            </a:lvl9pPr>
          </a:lstStyle>
          <a:p>
            <a:r>
              <a:rPr lang="en-US"/>
              <a:t>Click to edit Master subtitle style</a:t>
            </a:r>
          </a:p>
        </p:txBody>
      </p:sp>
      <p:sp>
        <p:nvSpPr>
          <p:cNvPr id="7" name="Title 1">
            <a:extLst>
              <a:ext uri="{FF2B5EF4-FFF2-40B4-BE49-F238E27FC236}">
                <a16:creationId xmlns:a16="http://schemas.microsoft.com/office/drawing/2014/main" id="{1E181B04-7A0A-4201-BF8A-A7E924267571}"/>
              </a:ext>
            </a:extLst>
          </p:cNvPr>
          <p:cNvSpPr txBox="1">
            <a:spLocks/>
          </p:cNvSpPr>
          <p:nvPr userDrawn="1"/>
        </p:nvSpPr>
        <p:spPr>
          <a:xfrm>
            <a:off x="3973646" y="-13709"/>
            <a:ext cx="10656755" cy="947534"/>
          </a:xfrm>
          <a:prstGeom prst="rect">
            <a:avLst/>
          </a:prstGeom>
        </p:spPr>
        <p:txBody>
          <a:bodyPr vert="horz" lIns="109728" tIns="54864" rIns="109728" bIns="54864" rtlCol="0" anchor="ctr">
            <a:normAutofit/>
          </a:bodyPr>
          <a:lstStyle>
            <a:lvl1pPr algn="ctr" defTabSz="914400" rtl="0" eaLnBrk="1" latinLnBrk="0" hangingPunct="1">
              <a:lnSpc>
                <a:spcPct val="90000"/>
              </a:lnSpc>
              <a:spcBef>
                <a:spcPct val="0"/>
              </a:spcBef>
              <a:buNone/>
              <a:defRPr sz="3000" b="1" kern="1200">
                <a:solidFill>
                  <a:schemeClr val="tx1"/>
                </a:solidFill>
                <a:latin typeface="+mj-lt"/>
                <a:ea typeface="+mj-ea"/>
                <a:cs typeface="+mj-cs"/>
              </a:defRPr>
            </a:lvl1pPr>
          </a:lstStyle>
          <a:p>
            <a:endParaRPr lang="en-US" sz="3600"/>
          </a:p>
        </p:txBody>
      </p:sp>
      <p:sp>
        <p:nvSpPr>
          <p:cNvPr id="8" name="Slide Number Placeholder 4">
            <a:extLst>
              <a:ext uri="{FF2B5EF4-FFF2-40B4-BE49-F238E27FC236}">
                <a16:creationId xmlns:a16="http://schemas.microsoft.com/office/drawing/2014/main" id="{DBAE61E2-5E8A-4CA1-8C1E-1106F4E462E9}"/>
              </a:ext>
            </a:extLst>
          </p:cNvPr>
          <p:cNvSpPr>
            <a:spLocks noGrp="1"/>
          </p:cNvSpPr>
          <p:nvPr>
            <p:ph type="sldNum" sz="quarter" idx="4"/>
          </p:nvPr>
        </p:nvSpPr>
        <p:spPr>
          <a:xfrm>
            <a:off x="11099750" y="7627621"/>
            <a:ext cx="3291840" cy="438150"/>
          </a:xfrm>
          <a:prstGeom prst="rect">
            <a:avLst/>
          </a:prstGeom>
        </p:spPr>
        <p:txBody>
          <a:bodyPr vert="horz" lIns="91440" tIns="45720" rIns="91440" bIns="45720" rtlCol="0" anchor="ctr"/>
          <a:lstStyle>
            <a:lvl1pPr algn="r">
              <a:defRPr sz="1440">
                <a:solidFill>
                  <a:srgbClr val="00B0F0"/>
                </a:solidFill>
                <a:latin typeface="Arial" panose="020B0604020202020204" pitchFamily="34" charset="0"/>
                <a:cs typeface="Arial" panose="020B0604020202020204" pitchFamily="34" charset="0"/>
              </a:defRPr>
            </a:lvl1pPr>
          </a:lstStyle>
          <a:p>
            <a:fld id="{31D26D55-0A22-487A-A687-61FB58A6F16A}" type="slidenum">
              <a:rPr lang="en-US" smtClean="0"/>
              <a:pPr/>
              <a:t>‹#›</a:t>
            </a:fld>
            <a:endParaRPr lang="en-US"/>
          </a:p>
        </p:txBody>
      </p:sp>
      <p:sp>
        <p:nvSpPr>
          <p:cNvPr id="9" name="Title Placeholder 1">
            <a:extLst>
              <a:ext uri="{FF2B5EF4-FFF2-40B4-BE49-F238E27FC236}">
                <a16:creationId xmlns:a16="http://schemas.microsoft.com/office/drawing/2014/main" id="{7DA09F63-7F7A-4F6B-8B0F-50384B0193BD}"/>
              </a:ext>
            </a:extLst>
          </p:cNvPr>
          <p:cNvSpPr>
            <a:spLocks noGrp="1"/>
          </p:cNvSpPr>
          <p:nvPr>
            <p:ph type="title"/>
          </p:nvPr>
        </p:nvSpPr>
        <p:spPr>
          <a:xfrm>
            <a:off x="629085" y="23152"/>
            <a:ext cx="10975981" cy="548640"/>
          </a:xfrm>
          <a:prstGeom prst="rect">
            <a:avLst/>
          </a:prstGeom>
        </p:spPr>
        <p:txBody>
          <a:bodyPr vert="horz" lIns="91440" tIns="45720" rIns="91440" bIns="45720" rtlCol="0" anchor="ctr">
            <a:normAutofit/>
          </a:bodyPr>
          <a:lstStyle/>
          <a:p>
            <a:r>
              <a:rPr lang="en-US"/>
              <a:t>Click to edit Master title style</a:t>
            </a:r>
          </a:p>
        </p:txBody>
      </p:sp>
    </p:spTree>
    <p:extLst>
      <p:ext uri="{BB962C8B-B14F-4D97-AF65-F5344CB8AC3E}">
        <p14:creationId xmlns:p14="http://schemas.microsoft.com/office/powerpoint/2010/main" val="14518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01F51A7-6B22-4874-8FC5-ED388E5D187B}"/>
              </a:ext>
            </a:extLst>
          </p:cNvPr>
          <p:cNvSpPr>
            <a:spLocks noGrp="1"/>
          </p:cNvSpPr>
          <p:nvPr>
            <p:ph idx="1"/>
          </p:nvPr>
        </p:nvSpPr>
        <p:spPr>
          <a:xfrm>
            <a:off x="747000" y="1917577"/>
            <a:ext cx="13166084" cy="5494778"/>
          </a:xfrm>
        </p:spPr>
        <p:txBody>
          <a:bodyPr/>
          <a:lstStyle>
            <a:lvl1pPr>
              <a:defRPr>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4">
            <a:extLst>
              <a:ext uri="{FF2B5EF4-FFF2-40B4-BE49-F238E27FC236}">
                <a16:creationId xmlns:a16="http://schemas.microsoft.com/office/drawing/2014/main" id="{9F4D43A2-E4DB-497D-9B5D-E32D9E64BECA}"/>
              </a:ext>
            </a:extLst>
          </p:cNvPr>
          <p:cNvSpPr>
            <a:spLocks noGrp="1"/>
          </p:cNvSpPr>
          <p:nvPr>
            <p:ph type="sldNum" sz="quarter" idx="4"/>
          </p:nvPr>
        </p:nvSpPr>
        <p:spPr>
          <a:xfrm>
            <a:off x="11099750" y="7627621"/>
            <a:ext cx="3291840" cy="438150"/>
          </a:xfrm>
          <a:prstGeom prst="rect">
            <a:avLst/>
          </a:prstGeom>
        </p:spPr>
        <p:txBody>
          <a:bodyPr vert="horz" lIns="91440" tIns="45720" rIns="91440" bIns="45720" rtlCol="0" anchor="ctr"/>
          <a:lstStyle>
            <a:lvl1pPr algn="r">
              <a:defRPr sz="1440">
                <a:solidFill>
                  <a:srgbClr val="00B0F0"/>
                </a:solidFill>
                <a:latin typeface="Arial" panose="020B0604020202020204" pitchFamily="34" charset="0"/>
                <a:cs typeface="Arial" panose="020B0604020202020204" pitchFamily="34" charset="0"/>
              </a:defRPr>
            </a:lvl1pPr>
          </a:lstStyle>
          <a:p>
            <a:fld id="{31D26D55-0A22-487A-A687-61FB58A6F16A}" type="slidenum">
              <a:rPr lang="en-US" smtClean="0"/>
              <a:pPr/>
              <a:t>‹#›</a:t>
            </a:fld>
            <a:endParaRPr lang="en-US"/>
          </a:p>
        </p:txBody>
      </p:sp>
      <p:sp>
        <p:nvSpPr>
          <p:cNvPr id="8" name="Title Placeholder 1">
            <a:extLst>
              <a:ext uri="{FF2B5EF4-FFF2-40B4-BE49-F238E27FC236}">
                <a16:creationId xmlns:a16="http://schemas.microsoft.com/office/drawing/2014/main" id="{22B04073-83B8-47CB-9F12-D7CD4B660F09}"/>
              </a:ext>
            </a:extLst>
          </p:cNvPr>
          <p:cNvSpPr>
            <a:spLocks noGrp="1"/>
          </p:cNvSpPr>
          <p:nvPr>
            <p:ph type="title"/>
          </p:nvPr>
        </p:nvSpPr>
        <p:spPr>
          <a:xfrm>
            <a:off x="629085" y="23152"/>
            <a:ext cx="10975981" cy="548640"/>
          </a:xfrm>
          <a:prstGeom prst="rect">
            <a:avLst/>
          </a:prstGeom>
        </p:spPr>
        <p:txBody>
          <a:bodyPr vert="horz" lIns="91440" tIns="45720" rIns="91440" bIns="45720" rtlCol="0" anchor="ctr">
            <a:normAutofit/>
          </a:bodyPr>
          <a:lstStyle/>
          <a:p>
            <a:r>
              <a:rPr lang="en-US"/>
              <a:t>Click to edit Master title style</a:t>
            </a:r>
          </a:p>
        </p:txBody>
      </p:sp>
    </p:spTree>
    <p:extLst>
      <p:ext uri="{BB962C8B-B14F-4D97-AF65-F5344CB8AC3E}">
        <p14:creationId xmlns:p14="http://schemas.microsoft.com/office/powerpoint/2010/main" val="14059490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FAA6E213-C056-49F2-8A77-C3C4C25F42D3}"/>
              </a:ext>
            </a:extLst>
          </p:cNvPr>
          <p:cNvSpPr>
            <a:spLocks noGrp="1"/>
          </p:cNvSpPr>
          <p:nvPr>
            <p:ph type="body" idx="1"/>
          </p:nvPr>
        </p:nvSpPr>
        <p:spPr>
          <a:xfrm>
            <a:off x="747001" y="1917578"/>
            <a:ext cx="13166084" cy="5497052"/>
          </a:xfrm>
        </p:spPr>
        <p:txBody>
          <a:bodyPr/>
          <a:lstStyle>
            <a:lvl1pPr marL="0" indent="0">
              <a:buNone/>
              <a:defRPr sz="2880">
                <a:solidFill>
                  <a:srgbClr val="0070C0"/>
                </a:solidFill>
              </a:defRPr>
            </a:lvl1pPr>
            <a:lvl2pPr marL="548640" indent="0">
              <a:buNone/>
              <a:defRPr sz="2400">
                <a:solidFill>
                  <a:schemeClr val="tx1">
                    <a:tint val="75000"/>
                  </a:schemeClr>
                </a:solidFill>
              </a:defRPr>
            </a:lvl2pPr>
            <a:lvl3pPr marL="1097280" indent="0">
              <a:buNone/>
              <a:defRPr sz="2160">
                <a:solidFill>
                  <a:schemeClr val="tx1">
                    <a:tint val="75000"/>
                  </a:schemeClr>
                </a:solidFill>
              </a:defRPr>
            </a:lvl3pPr>
            <a:lvl4pPr marL="1645920" indent="0">
              <a:buNone/>
              <a:defRPr sz="1920">
                <a:solidFill>
                  <a:schemeClr val="tx1">
                    <a:tint val="75000"/>
                  </a:schemeClr>
                </a:solidFill>
              </a:defRPr>
            </a:lvl4pPr>
            <a:lvl5pPr marL="2194560" indent="0">
              <a:buNone/>
              <a:defRPr sz="1920">
                <a:solidFill>
                  <a:schemeClr val="tx1">
                    <a:tint val="75000"/>
                  </a:schemeClr>
                </a:solidFill>
              </a:defRPr>
            </a:lvl5pPr>
            <a:lvl6pPr marL="2743200" indent="0">
              <a:buNone/>
              <a:defRPr sz="1920">
                <a:solidFill>
                  <a:schemeClr val="tx1">
                    <a:tint val="75000"/>
                  </a:schemeClr>
                </a:solidFill>
              </a:defRPr>
            </a:lvl6pPr>
            <a:lvl7pPr marL="3291840" indent="0">
              <a:buNone/>
              <a:defRPr sz="1920">
                <a:solidFill>
                  <a:schemeClr val="tx1">
                    <a:tint val="75000"/>
                  </a:schemeClr>
                </a:solidFill>
              </a:defRPr>
            </a:lvl7pPr>
            <a:lvl8pPr marL="3840480" indent="0">
              <a:buNone/>
              <a:defRPr sz="1920">
                <a:solidFill>
                  <a:schemeClr val="tx1">
                    <a:tint val="75000"/>
                  </a:schemeClr>
                </a:solidFill>
              </a:defRPr>
            </a:lvl8pPr>
            <a:lvl9pPr marL="4389120" indent="0">
              <a:buNone/>
              <a:defRPr sz="1920">
                <a:solidFill>
                  <a:schemeClr val="tx1">
                    <a:tint val="75000"/>
                  </a:schemeClr>
                </a:solidFill>
              </a:defRPr>
            </a:lvl9pPr>
          </a:lstStyle>
          <a:p>
            <a:pPr lvl="0"/>
            <a:r>
              <a:rPr lang="en-US"/>
              <a:t>Click to edit Master text styles</a:t>
            </a:r>
          </a:p>
        </p:txBody>
      </p:sp>
      <p:sp>
        <p:nvSpPr>
          <p:cNvPr id="6" name="Slide Number Placeholder 4">
            <a:extLst>
              <a:ext uri="{FF2B5EF4-FFF2-40B4-BE49-F238E27FC236}">
                <a16:creationId xmlns:a16="http://schemas.microsoft.com/office/drawing/2014/main" id="{BA76B584-4F94-4DD1-9943-77A2F3AF15CF}"/>
              </a:ext>
            </a:extLst>
          </p:cNvPr>
          <p:cNvSpPr>
            <a:spLocks noGrp="1"/>
          </p:cNvSpPr>
          <p:nvPr>
            <p:ph type="sldNum" sz="quarter" idx="4"/>
          </p:nvPr>
        </p:nvSpPr>
        <p:spPr>
          <a:xfrm>
            <a:off x="11099750" y="7627621"/>
            <a:ext cx="3291840" cy="438150"/>
          </a:xfrm>
          <a:prstGeom prst="rect">
            <a:avLst/>
          </a:prstGeom>
        </p:spPr>
        <p:txBody>
          <a:bodyPr vert="horz" lIns="91440" tIns="45720" rIns="91440" bIns="45720" rtlCol="0" anchor="ctr"/>
          <a:lstStyle>
            <a:lvl1pPr algn="r">
              <a:defRPr sz="1440">
                <a:solidFill>
                  <a:srgbClr val="00B0F0"/>
                </a:solidFill>
                <a:latin typeface="Arial" panose="020B0604020202020204" pitchFamily="34" charset="0"/>
                <a:cs typeface="Arial" panose="020B0604020202020204" pitchFamily="34" charset="0"/>
              </a:defRPr>
            </a:lvl1pPr>
          </a:lstStyle>
          <a:p>
            <a:fld id="{31D26D55-0A22-487A-A687-61FB58A6F16A}" type="slidenum">
              <a:rPr lang="en-US" smtClean="0"/>
              <a:pPr/>
              <a:t>‹#›</a:t>
            </a:fld>
            <a:endParaRPr lang="en-US"/>
          </a:p>
        </p:txBody>
      </p:sp>
      <p:sp>
        <p:nvSpPr>
          <p:cNvPr id="8" name="Title Placeholder 1">
            <a:extLst>
              <a:ext uri="{FF2B5EF4-FFF2-40B4-BE49-F238E27FC236}">
                <a16:creationId xmlns:a16="http://schemas.microsoft.com/office/drawing/2014/main" id="{040D9B5B-D231-4612-89E6-B4776226BA7C}"/>
              </a:ext>
            </a:extLst>
          </p:cNvPr>
          <p:cNvSpPr>
            <a:spLocks noGrp="1"/>
          </p:cNvSpPr>
          <p:nvPr>
            <p:ph type="title"/>
          </p:nvPr>
        </p:nvSpPr>
        <p:spPr>
          <a:xfrm>
            <a:off x="629085" y="0"/>
            <a:ext cx="10975981" cy="548640"/>
          </a:xfrm>
          <a:prstGeom prst="rect">
            <a:avLst/>
          </a:prstGeom>
        </p:spPr>
        <p:txBody>
          <a:bodyPr vert="horz" lIns="91440" tIns="45720" rIns="91440" bIns="45720" rtlCol="0" anchor="ctr">
            <a:normAutofit/>
          </a:bodyPr>
          <a:lstStyle/>
          <a:p>
            <a:r>
              <a:rPr lang="en-US"/>
              <a:t>Click to edit Master title style</a:t>
            </a:r>
          </a:p>
        </p:txBody>
      </p:sp>
    </p:spTree>
    <p:extLst>
      <p:ext uri="{BB962C8B-B14F-4D97-AF65-F5344CB8AC3E}">
        <p14:creationId xmlns:p14="http://schemas.microsoft.com/office/powerpoint/2010/main" val="21078286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75F5726-7887-4ED4-A172-AF9307881508}"/>
              </a:ext>
            </a:extLst>
          </p:cNvPr>
          <p:cNvSpPr>
            <a:spLocks noGrp="1"/>
          </p:cNvSpPr>
          <p:nvPr>
            <p:ph sz="half" idx="1"/>
          </p:nvPr>
        </p:nvSpPr>
        <p:spPr>
          <a:xfrm>
            <a:off x="747000" y="1928230"/>
            <a:ext cx="6568200" cy="5484126"/>
          </a:xfrm>
        </p:spPr>
        <p:txBody>
          <a:bodyPr/>
          <a:lstStyle>
            <a:lvl1pPr>
              <a:defRPr>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CA0F843-3E9A-4C49-A1AC-A3FA71EF7350}"/>
              </a:ext>
            </a:extLst>
          </p:cNvPr>
          <p:cNvSpPr>
            <a:spLocks noGrp="1"/>
          </p:cNvSpPr>
          <p:nvPr>
            <p:ph sz="half" idx="2"/>
          </p:nvPr>
        </p:nvSpPr>
        <p:spPr>
          <a:xfrm>
            <a:off x="7327130" y="1928230"/>
            <a:ext cx="6568199" cy="5484126"/>
          </a:xfrm>
        </p:spPr>
        <p:txBody>
          <a:bodyPr/>
          <a:lstStyle>
            <a:lvl1pPr>
              <a:defRPr>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4">
            <a:extLst>
              <a:ext uri="{FF2B5EF4-FFF2-40B4-BE49-F238E27FC236}">
                <a16:creationId xmlns:a16="http://schemas.microsoft.com/office/drawing/2014/main" id="{E6FCE726-79EE-487F-9798-E531C3475E8B}"/>
              </a:ext>
            </a:extLst>
          </p:cNvPr>
          <p:cNvSpPr>
            <a:spLocks noGrp="1"/>
          </p:cNvSpPr>
          <p:nvPr>
            <p:ph type="sldNum" sz="quarter" idx="4"/>
          </p:nvPr>
        </p:nvSpPr>
        <p:spPr>
          <a:xfrm>
            <a:off x="11099750" y="7627621"/>
            <a:ext cx="3291840" cy="438150"/>
          </a:xfrm>
          <a:prstGeom prst="rect">
            <a:avLst/>
          </a:prstGeom>
        </p:spPr>
        <p:txBody>
          <a:bodyPr vert="horz" lIns="91440" tIns="45720" rIns="91440" bIns="45720" rtlCol="0" anchor="ctr"/>
          <a:lstStyle>
            <a:lvl1pPr algn="r">
              <a:defRPr sz="1440">
                <a:solidFill>
                  <a:srgbClr val="00B0F0"/>
                </a:solidFill>
                <a:latin typeface="Arial" panose="020B0604020202020204" pitchFamily="34" charset="0"/>
                <a:cs typeface="Arial" panose="020B0604020202020204" pitchFamily="34" charset="0"/>
              </a:defRPr>
            </a:lvl1pPr>
          </a:lstStyle>
          <a:p>
            <a:fld id="{31D26D55-0A22-487A-A687-61FB58A6F16A}" type="slidenum">
              <a:rPr lang="en-US" smtClean="0"/>
              <a:pPr/>
              <a:t>‹#›</a:t>
            </a:fld>
            <a:endParaRPr lang="en-US"/>
          </a:p>
        </p:txBody>
      </p:sp>
      <p:sp>
        <p:nvSpPr>
          <p:cNvPr id="9" name="Title Placeholder 1">
            <a:extLst>
              <a:ext uri="{FF2B5EF4-FFF2-40B4-BE49-F238E27FC236}">
                <a16:creationId xmlns:a16="http://schemas.microsoft.com/office/drawing/2014/main" id="{3FB126F2-FBF5-4556-AAF5-1ECB22E17B0D}"/>
              </a:ext>
            </a:extLst>
          </p:cNvPr>
          <p:cNvSpPr>
            <a:spLocks noGrp="1"/>
          </p:cNvSpPr>
          <p:nvPr>
            <p:ph type="title"/>
          </p:nvPr>
        </p:nvSpPr>
        <p:spPr>
          <a:xfrm>
            <a:off x="629085" y="0"/>
            <a:ext cx="10975981" cy="548640"/>
          </a:xfrm>
          <a:prstGeom prst="rect">
            <a:avLst/>
          </a:prstGeom>
        </p:spPr>
        <p:txBody>
          <a:bodyPr vert="horz" lIns="91440" tIns="45720" rIns="91440" bIns="45720" rtlCol="0" anchor="ctr">
            <a:normAutofit/>
          </a:bodyPr>
          <a:lstStyle/>
          <a:p>
            <a:r>
              <a:rPr lang="en-US"/>
              <a:t>Click to edit Master title style</a:t>
            </a:r>
          </a:p>
        </p:txBody>
      </p:sp>
    </p:spTree>
    <p:extLst>
      <p:ext uri="{BB962C8B-B14F-4D97-AF65-F5344CB8AC3E}">
        <p14:creationId xmlns:p14="http://schemas.microsoft.com/office/powerpoint/2010/main" val="10411460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241CF06-6B06-4E7F-82EA-7C5047EA60A1}"/>
              </a:ext>
            </a:extLst>
          </p:cNvPr>
          <p:cNvSpPr>
            <a:spLocks noGrp="1"/>
          </p:cNvSpPr>
          <p:nvPr>
            <p:ph type="body" idx="1"/>
          </p:nvPr>
        </p:nvSpPr>
        <p:spPr>
          <a:xfrm>
            <a:off x="747000" y="1923930"/>
            <a:ext cx="6568200" cy="988694"/>
          </a:xfrm>
        </p:spPr>
        <p:txBody>
          <a:bodyPr anchor="b"/>
          <a:lstStyle>
            <a:lvl1pPr marL="0" indent="0">
              <a:buNone/>
              <a:defRPr sz="2880" b="1">
                <a:latin typeface="+mj-lt"/>
              </a:defRPr>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4" name="Content Placeholder 3">
            <a:extLst>
              <a:ext uri="{FF2B5EF4-FFF2-40B4-BE49-F238E27FC236}">
                <a16:creationId xmlns:a16="http://schemas.microsoft.com/office/drawing/2014/main" id="{4FD9E841-81B0-403F-B4A9-7ACB7AAF8E75}"/>
              </a:ext>
            </a:extLst>
          </p:cNvPr>
          <p:cNvSpPr>
            <a:spLocks noGrp="1"/>
          </p:cNvSpPr>
          <p:nvPr>
            <p:ph sz="half" idx="2"/>
          </p:nvPr>
        </p:nvSpPr>
        <p:spPr>
          <a:xfrm>
            <a:off x="746999" y="3014858"/>
            <a:ext cx="6568199" cy="4412737"/>
          </a:xfrm>
        </p:spPr>
        <p:txBody>
          <a:bodyPr/>
          <a:lstStyle>
            <a:lvl1pPr>
              <a:defRPr>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0BB9AEE-2F75-43DB-921D-43380FB8C592}"/>
              </a:ext>
            </a:extLst>
          </p:cNvPr>
          <p:cNvSpPr>
            <a:spLocks noGrp="1"/>
          </p:cNvSpPr>
          <p:nvPr>
            <p:ph type="body" sz="quarter" idx="3"/>
          </p:nvPr>
        </p:nvSpPr>
        <p:spPr>
          <a:xfrm>
            <a:off x="7315201" y="1923930"/>
            <a:ext cx="6568199" cy="988694"/>
          </a:xfrm>
        </p:spPr>
        <p:txBody>
          <a:bodyPr anchor="b"/>
          <a:lstStyle>
            <a:lvl1pPr marL="0" indent="0">
              <a:buNone/>
              <a:defRPr sz="2880" b="1"/>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6" name="Content Placeholder 5">
            <a:extLst>
              <a:ext uri="{FF2B5EF4-FFF2-40B4-BE49-F238E27FC236}">
                <a16:creationId xmlns:a16="http://schemas.microsoft.com/office/drawing/2014/main" id="{34F1E4C2-CBB6-4430-BE56-3BF9E9AA8B7D}"/>
              </a:ext>
            </a:extLst>
          </p:cNvPr>
          <p:cNvSpPr>
            <a:spLocks noGrp="1"/>
          </p:cNvSpPr>
          <p:nvPr>
            <p:ph sz="quarter" idx="4"/>
          </p:nvPr>
        </p:nvSpPr>
        <p:spPr>
          <a:xfrm>
            <a:off x="7315199" y="3014858"/>
            <a:ext cx="6568200" cy="4412737"/>
          </a:xfrm>
        </p:spPr>
        <p:txBody>
          <a:bodyPr/>
          <a:lstStyle>
            <a:lvl1pPr>
              <a:defRPr>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Slide Number Placeholder 4">
            <a:extLst>
              <a:ext uri="{FF2B5EF4-FFF2-40B4-BE49-F238E27FC236}">
                <a16:creationId xmlns:a16="http://schemas.microsoft.com/office/drawing/2014/main" id="{EDD1D7D5-B40B-4404-87A7-8074677D8997}"/>
              </a:ext>
            </a:extLst>
          </p:cNvPr>
          <p:cNvSpPr>
            <a:spLocks noGrp="1"/>
          </p:cNvSpPr>
          <p:nvPr>
            <p:ph type="sldNum" sz="quarter" idx="11"/>
          </p:nvPr>
        </p:nvSpPr>
        <p:spPr>
          <a:xfrm>
            <a:off x="11099750" y="7627621"/>
            <a:ext cx="3291840" cy="438150"/>
          </a:xfrm>
          <a:prstGeom prst="rect">
            <a:avLst/>
          </a:prstGeom>
        </p:spPr>
        <p:txBody>
          <a:bodyPr vert="horz" lIns="91440" tIns="45720" rIns="91440" bIns="45720" rtlCol="0" anchor="ctr"/>
          <a:lstStyle>
            <a:lvl1pPr algn="r">
              <a:defRPr sz="1440">
                <a:solidFill>
                  <a:srgbClr val="00B0F0"/>
                </a:solidFill>
                <a:latin typeface="Arial" panose="020B0604020202020204" pitchFamily="34" charset="0"/>
                <a:cs typeface="Arial" panose="020B0604020202020204" pitchFamily="34" charset="0"/>
              </a:defRPr>
            </a:lvl1pPr>
          </a:lstStyle>
          <a:p>
            <a:fld id="{31D26D55-0A22-487A-A687-61FB58A6F16A}" type="slidenum">
              <a:rPr lang="en-US" smtClean="0"/>
              <a:pPr/>
              <a:t>‹#›</a:t>
            </a:fld>
            <a:endParaRPr lang="en-US"/>
          </a:p>
        </p:txBody>
      </p:sp>
      <p:sp>
        <p:nvSpPr>
          <p:cNvPr id="11" name="Title Placeholder 1">
            <a:extLst>
              <a:ext uri="{FF2B5EF4-FFF2-40B4-BE49-F238E27FC236}">
                <a16:creationId xmlns:a16="http://schemas.microsoft.com/office/drawing/2014/main" id="{401B562F-EFD8-422F-B98E-C48C0F73AC49}"/>
              </a:ext>
            </a:extLst>
          </p:cNvPr>
          <p:cNvSpPr>
            <a:spLocks noGrp="1"/>
          </p:cNvSpPr>
          <p:nvPr>
            <p:ph type="title"/>
          </p:nvPr>
        </p:nvSpPr>
        <p:spPr>
          <a:xfrm>
            <a:off x="629085" y="0"/>
            <a:ext cx="10975981" cy="548640"/>
          </a:xfrm>
          <a:prstGeom prst="rect">
            <a:avLst/>
          </a:prstGeom>
        </p:spPr>
        <p:txBody>
          <a:bodyPr vert="horz" lIns="91440" tIns="45720" rIns="91440" bIns="45720" rtlCol="0" anchor="ctr">
            <a:normAutofit/>
          </a:bodyPr>
          <a:lstStyle/>
          <a:p>
            <a:r>
              <a:rPr lang="en-US"/>
              <a:t>Click to edit Master title style</a:t>
            </a:r>
          </a:p>
        </p:txBody>
      </p:sp>
    </p:spTree>
    <p:extLst>
      <p:ext uri="{BB962C8B-B14F-4D97-AF65-F5344CB8AC3E}">
        <p14:creationId xmlns:p14="http://schemas.microsoft.com/office/powerpoint/2010/main" val="30728919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437972AD-1D52-4C38-A4F1-BA8AAFF97032}"/>
              </a:ext>
            </a:extLst>
          </p:cNvPr>
          <p:cNvSpPr>
            <a:spLocks noGrp="1"/>
          </p:cNvSpPr>
          <p:nvPr>
            <p:ph type="sldNum" sz="quarter" idx="4"/>
          </p:nvPr>
        </p:nvSpPr>
        <p:spPr>
          <a:xfrm>
            <a:off x="11099750" y="7627621"/>
            <a:ext cx="3291840" cy="438150"/>
          </a:xfrm>
          <a:prstGeom prst="rect">
            <a:avLst/>
          </a:prstGeom>
        </p:spPr>
        <p:txBody>
          <a:bodyPr vert="horz" lIns="91440" tIns="45720" rIns="91440" bIns="45720" rtlCol="0" anchor="ctr"/>
          <a:lstStyle>
            <a:lvl1pPr algn="r">
              <a:defRPr sz="1440">
                <a:solidFill>
                  <a:srgbClr val="00B0F0"/>
                </a:solidFill>
                <a:latin typeface="Arial" panose="020B0604020202020204" pitchFamily="34" charset="0"/>
                <a:cs typeface="Arial" panose="020B0604020202020204" pitchFamily="34" charset="0"/>
              </a:defRPr>
            </a:lvl1pPr>
          </a:lstStyle>
          <a:p>
            <a:fld id="{31D26D55-0A22-487A-A687-61FB58A6F16A}" type="slidenum">
              <a:rPr lang="en-US" smtClean="0"/>
              <a:pPr/>
              <a:t>‹#›</a:t>
            </a:fld>
            <a:endParaRPr lang="en-US"/>
          </a:p>
        </p:txBody>
      </p:sp>
      <p:sp>
        <p:nvSpPr>
          <p:cNvPr id="7" name="Title Placeholder 1">
            <a:extLst>
              <a:ext uri="{FF2B5EF4-FFF2-40B4-BE49-F238E27FC236}">
                <a16:creationId xmlns:a16="http://schemas.microsoft.com/office/drawing/2014/main" id="{70797FE1-3F5B-4DD2-B196-B7AAF6628D62}"/>
              </a:ext>
            </a:extLst>
          </p:cNvPr>
          <p:cNvSpPr>
            <a:spLocks noGrp="1"/>
          </p:cNvSpPr>
          <p:nvPr>
            <p:ph type="title"/>
          </p:nvPr>
        </p:nvSpPr>
        <p:spPr>
          <a:xfrm>
            <a:off x="629085" y="0"/>
            <a:ext cx="10975981" cy="548640"/>
          </a:xfrm>
          <a:prstGeom prst="rect">
            <a:avLst/>
          </a:prstGeom>
        </p:spPr>
        <p:txBody>
          <a:bodyPr vert="horz" lIns="91440" tIns="45720" rIns="91440" bIns="45720" rtlCol="0" anchor="ctr">
            <a:normAutofit/>
          </a:bodyPr>
          <a:lstStyle/>
          <a:p>
            <a:r>
              <a:rPr lang="en-US"/>
              <a:t>Click to edit Master title style</a:t>
            </a:r>
          </a:p>
        </p:txBody>
      </p:sp>
    </p:spTree>
    <p:extLst>
      <p:ext uri="{BB962C8B-B14F-4D97-AF65-F5344CB8AC3E}">
        <p14:creationId xmlns:p14="http://schemas.microsoft.com/office/powerpoint/2010/main" val="19500970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0BB3D6C-BEF2-4E06-A9B0-9A309DB3444E}"/>
              </a:ext>
            </a:extLst>
          </p:cNvPr>
          <p:cNvSpPr>
            <a:spLocks noGrp="1"/>
          </p:cNvSpPr>
          <p:nvPr>
            <p:ph idx="1"/>
          </p:nvPr>
        </p:nvSpPr>
        <p:spPr>
          <a:xfrm>
            <a:off x="5923181" y="1928230"/>
            <a:ext cx="7947173" cy="5475746"/>
          </a:xfrm>
        </p:spPr>
        <p:txBody>
          <a:bodyPr/>
          <a:lstStyle>
            <a:lvl1pPr>
              <a:defRPr sz="3840">
                <a:latin typeface="+mj-lt"/>
              </a:defRPr>
            </a:lvl1pPr>
            <a:lvl2pPr>
              <a:defRPr sz="3360">
                <a:latin typeface="+mj-lt"/>
              </a:defRPr>
            </a:lvl2pPr>
            <a:lvl3pPr>
              <a:defRPr sz="2880">
                <a:latin typeface="+mj-lt"/>
              </a:defRPr>
            </a:lvl3pPr>
            <a:lvl4pPr>
              <a:defRPr sz="2400">
                <a:latin typeface="+mj-lt"/>
              </a:defRPr>
            </a:lvl4pPr>
            <a:lvl5pPr>
              <a:defRPr sz="2400">
                <a:latin typeface="+mj-lt"/>
              </a:defRPr>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8ECDB52-24E0-4CBA-AE63-33BD3EF657F8}"/>
              </a:ext>
            </a:extLst>
          </p:cNvPr>
          <p:cNvSpPr>
            <a:spLocks noGrp="1"/>
          </p:cNvSpPr>
          <p:nvPr>
            <p:ph type="body" sz="half" idx="2"/>
          </p:nvPr>
        </p:nvSpPr>
        <p:spPr>
          <a:xfrm>
            <a:off x="747000" y="1928231"/>
            <a:ext cx="4809852" cy="5475746"/>
          </a:xfrm>
        </p:spPr>
        <p:txBody>
          <a:bodyPr/>
          <a:lstStyle>
            <a:lvl1pPr marL="0" indent="0">
              <a:buNone/>
              <a:defRPr sz="1920"/>
            </a:lvl1pPr>
            <a:lvl2pPr marL="548640" indent="0">
              <a:buNone/>
              <a:defRPr sz="1680"/>
            </a:lvl2pPr>
            <a:lvl3pPr marL="1097280" indent="0">
              <a:buNone/>
              <a:defRPr sz="1440"/>
            </a:lvl3pPr>
            <a:lvl4pPr marL="1645920" indent="0">
              <a:buNone/>
              <a:defRPr sz="1200"/>
            </a:lvl4pPr>
            <a:lvl5pPr marL="2194560" indent="0">
              <a:buNone/>
              <a:defRPr sz="1200"/>
            </a:lvl5pPr>
            <a:lvl6pPr marL="2743200" indent="0">
              <a:buNone/>
              <a:defRPr sz="1200"/>
            </a:lvl6pPr>
            <a:lvl7pPr marL="3291840" indent="0">
              <a:buNone/>
              <a:defRPr sz="1200"/>
            </a:lvl7pPr>
            <a:lvl8pPr marL="3840480" indent="0">
              <a:buNone/>
              <a:defRPr sz="1200"/>
            </a:lvl8pPr>
            <a:lvl9pPr marL="4389120" indent="0">
              <a:buNone/>
              <a:defRPr sz="1200"/>
            </a:lvl9pPr>
          </a:lstStyle>
          <a:p>
            <a:pPr lvl="0"/>
            <a:r>
              <a:rPr lang="en-US"/>
              <a:t>Click to edit Master text styles</a:t>
            </a:r>
          </a:p>
        </p:txBody>
      </p:sp>
      <p:sp>
        <p:nvSpPr>
          <p:cNvPr id="7" name="Slide Number Placeholder 4">
            <a:extLst>
              <a:ext uri="{FF2B5EF4-FFF2-40B4-BE49-F238E27FC236}">
                <a16:creationId xmlns:a16="http://schemas.microsoft.com/office/drawing/2014/main" id="{AEEB6E2B-6FA2-4169-B497-FAE2CD95A8B1}"/>
              </a:ext>
            </a:extLst>
          </p:cNvPr>
          <p:cNvSpPr>
            <a:spLocks noGrp="1"/>
          </p:cNvSpPr>
          <p:nvPr>
            <p:ph type="sldNum" sz="quarter" idx="4"/>
          </p:nvPr>
        </p:nvSpPr>
        <p:spPr>
          <a:xfrm>
            <a:off x="11099750" y="7627621"/>
            <a:ext cx="3291840" cy="438150"/>
          </a:xfrm>
          <a:prstGeom prst="rect">
            <a:avLst/>
          </a:prstGeom>
        </p:spPr>
        <p:txBody>
          <a:bodyPr vert="horz" lIns="91440" tIns="45720" rIns="91440" bIns="45720" rtlCol="0" anchor="ctr"/>
          <a:lstStyle>
            <a:lvl1pPr algn="r">
              <a:defRPr sz="1440">
                <a:solidFill>
                  <a:srgbClr val="00B0F0"/>
                </a:solidFill>
                <a:latin typeface="Arial" panose="020B0604020202020204" pitchFamily="34" charset="0"/>
                <a:cs typeface="Arial" panose="020B0604020202020204" pitchFamily="34" charset="0"/>
              </a:defRPr>
            </a:lvl1pPr>
          </a:lstStyle>
          <a:p>
            <a:fld id="{31D26D55-0A22-487A-A687-61FB58A6F16A}" type="slidenum">
              <a:rPr lang="en-US" smtClean="0"/>
              <a:pPr/>
              <a:t>‹#›</a:t>
            </a:fld>
            <a:endParaRPr lang="en-US"/>
          </a:p>
        </p:txBody>
      </p:sp>
      <p:sp>
        <p:nvSpPr>
          <p:cNvPr id="9" name="Title Placeholder 1">
            <a:extLst>
              <a:ext uri="{FF2B5EF4-FFF2-40B4-BE49-F238E27FC236}">
                <a16:creationId xmlns:a16="http://schemas.microsoft.com/office/drawing/2014/main" id="{479BEDD5-9D69-4F36-BBA7-2ED62B0AD6F3}"/>
              </a:ext>
            </a:extLst>
          </p:cNvPr>
          <p:cNvSpPr>
            <a:spLocks noGrp="1"/>
          </p:cNvSpPr>
          <p:nvPr>
            <p:ph type="title"/>
          </p:nvPr>
        </p:nvSpPr>
        <p:spPr>
          <a:xfrm>
            <a:off x="629085" y="0"/>
            <a:ext cx="10975981" cy="548640"/>
          </a:xfrm>
          <a:prstGeom prst="rect">
            <a:avLst/>
          </a:prstGeom>
        </p:spPr>
        <p:txBody>
          <a:bodyPr vert="horz" lIns="91440" tIns="45720" rIns="91440" bIns="45720" rtlCol="0" anchor="ctr">
            <a:normAutofit/>
          </a:bodyPr>
          <a:lstStyle/>
          <a:p>
            <a:r>
              <a:rPr lang="en-US"/>
              <a:t>Click to edit Master title style</a:t>
            </a:r>
          </a:p>
        </p:txBody>
      </p:sp>
    </p:spTree>
    <p:extLst>
      <p:ext uri="{BB962C8B-B14F-4D97-AF65-F5344CB8AC3E}">
        <p14:creationId xmlns:p14="http://schemas.microsoft.com/office/powerpoint/2010/main" val="20725291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46D3D43A-8744-40D7-AFFD-6F0B4A4ECB2C}"/>
              </a:ext>
            </a:extLst>
          </p:cNvPr>
          <p:cNvSpPr>
            <a:spLocks noGrp="1"/>
          </p:cNvSpPr>
          <p:nvPr>
            <p:ph type="pic" idx="1"/>
          </p:nvPr>
        </p:nvSpPr>
        <p:spPr>
          <a:xfrm>
            <a:off x="5859262" y="1928230"/>
            <a:ext cx="8011092" cy="5465093"/>
          </a:xfrm>
        </p:spPr>
        <p:txBody>
          <a:bodyPr>
            <a:normAutofit/>
          </a:bodyPr>
          <a:lstStyle>
            <a:lvl1pPr marL="0" indent="0">
              <a:buNone/>
              <a:defRPr sz="3360"/>
            </a:lvl1pPr>
            <a:lvl2pPr marL="548640" indent="0">
              <a:buNone/>
              <a:defRPr sz="3360"/>
            </a:lvl2pPr>
            <a:lvl3pPr marL="1097280" indent="0">
              <a:buNone/>
              <a:defRPr sz="2880"/>
            </a:lvl3pPr>
            <a:lvl4pPr marL="1645920" indent="0">
              <a:buNone/>
              <a:defRPr sz="2400"/>
            </a:lvl4pPr>
            <a:lvl5pPr marL="2194560" indent="0">
              <a:buNone/>
              <a:defRPr sz="2400"/>
            </a:lvl5pPr>
            <a:lvl6pPr marL="2743200" indent="0">
              <a:buNone/>
              <a:defRPr sz="2400"/>
            </a:lvl6pPr>
            <a:lvl7pPr marL="3291840" indent="0">
              <a:buNone/>
              <a:defRPr sz="2400"/>
            </a:lvl7pPr>
            <a:lvl8pPr marL="3840480" indent="0">
              <a:buNone/>
              <a:defRPr sz="2400"/>
            </a:lvl8pPr>
            <a:lvl9pPr marL="4389120" indent="0">
              <a:buNone/>
              <a:defRPr sz="2400"/>
            </a:lvl9pPr>
          </a:lstStyle>
          <a:p>
            <a:r>
              <a:rPr lang="en-US"/>
              <a:t>Click icon to add picture</a:t>
            </a:r>
          </a:p>
        </p:txBody>
      </p:sp>
      <p:sp>
        <p:nvSpPr>
          <p:cNvPr id="4" name="Text Placeholder 3">
            <a:extLst>
              <a:ext uri="{FF2B5EF4-FFF2-40B4-BE49-F238E27FC236}">
                <a16:creationId xmlns:a16="http://schemas.microsoft.com/office/drawing/2014/main" id="{ED85C3DD-CC1C-4A73-BCDA-09DF7D09C2C1}"/>
              </a:ext>
            </a:extLst>
          </p:cNvPr>
          <p:cNvSpPr>
            <a:spLocks noGrp="1"/>
          </p:cNvSpPr>
          <p:nvPr>
            <p:ph type="body" sz="half" idx="2"/>
          </p:nvPr>
        </p:nvSpPr>
        <p:spPr>
          <a:xfrm>
            <a:off x="747000" y="1928231"/>
            <a:ext cx="4779926" cy="5465093"/>
          </a:xfrm>
        </p:spPr>
        <p:txBody>
          <a:bodyPr>
            <a:normAutofit/>
          </a:bodyPr>
          <a:lstStyle>
            <a:lvl1pPr marL="0" indent="0">
              <a:buNone/>
              <a:defRPr sz="2880"/>
            </a:lvl1pPr>
            <a:lvl2pPr marL="548640" indent="0">
              <a:buNone/>
              <a:defRPr sz="1680"/>
            </a:lvl2pPr>
            <a:lvl3pPr marL="1097280" indent="0">
              <a:buNone/>
              <a:defRPr sz="1440"/>
            </a:lvl3pPr>
            <a:lvl4pPr marL="1645920" indent="0">
              <a:buNone/>
              <a:defRPr sz="1200"/>
            </a:lvl4pPr>
            <a:lvl5pPr marL="2194560" indent="0">
              <a:buNone/>
              <a:defRPr sz="1200"/>
            </a:lvl5pPr>
            <a:lvl6pPr marL="2743200" indent="0">
              <a:buNone/>
              <a:defRPr sz="1200"/>
            </a:lvl6pPr>
            <a:lvl7pPr marL="3291840" indent="0">
              <a:buNone/>
              <a:defRPr sz="1200"/>
            </a:lvl7pPr>
            <a:lvl8pPr marL="3840480" indent="0">
              <a:buNone/>
              <a:defRPr sz="1200"/>
            </a:lvl8pPr>
            <a:lvl9pPr marL="4389120" indent="0">
              <a:buNone/>
              <a:defRPr sz="1200"/>
            </a:lvl9pPr>
          </a:lstStyle>
          <a:p>
            <a:pPr lvl="0"/>
            <a:r>
              <a:rPr lang="en-US"/>
              <a:t>Click to edit Master text styles</a:t>
            </a:r>
          </a:p>
        </p:txBody>
      </p:sp>
      <p:sp>
        <p:nvSpPr>
          <p:cNvPr id="7" name="Slide Number Placeholder 4">
            <a:extLst>
              <a:ext uri="{FF2B5EF4-FFF2-40B4-BE49-F238E27FC236}">
                <a16:creationId xmlns:a16="http://schemas.microsoft.com/office/drawing/2014/main" id="{722E68E5-0D29-4AF4-99F7-1F5BCDCEB05F}"/>
              </a:ext>
            </a:extLst>
          </p:cNvPr>
          <p:cNvSpPr>
            <a:spLocks noGrp="1"/>
          </p:cNvSpPr>
          <p:nvPr>
            <p:ph type="sldNum" sz="quarter" idx="4"/>
          </p:nvPr>
        </p:nvSpPr>
        <p:spPr>
          <a:xfrm>
            <a:off x="11099750" y="7627621"/>
            <a:ext cx="3291840" cy="438150"/>
          </a:xfrm>
          <a:prstGeom prst="rect">
            <a:avLst/>
          </a:prstGeom>
        </p:spPr>
        <p:txBody>
          <a:bodyPr vert="horz" lIns="91440" tIns="45720" rIns="91440" bIns="45720" rtlCol="0" anchor="ctr"/>
          <a:lstStyle>
            <a:lvl1pPr algn="r">
              <a:defRPr sz="1440">
                <a:solidFill>
                  <a:srgbClr val="00B0F0"/>
                </a:solidFill>
                <a:latin typeface="Arial" panose="020B0604020202020204" pitchFamily="34" charset="0"/>
                <a:cs typeface="Arial" panose="020B0604020202020204" pitchFamily="34" charset="0"/>
              </a:defRPr>
            </a:lvl1pPr>
          </a:lstStyle>
          <a:p>
            <a:fld id="{31D26D55-0A22-487A-A687-61FB58A6F16A}" type="slidenum">
              <a:rPr lang="en-US" smtClean="0"/>
              <a:pPr/>
              <a:t>‹#›</a:t>
            </a:fld>
            <a:endParaRPr lang="en-US"/>
          </a:p>
        </p:txBody>
      </p:sp>
      <p:sp>
        <p:nvSpPr>
          <p:cNvPr id="9" name="Title Placeholder 1">
            <a:extLst>
              <a:ext uri="{FF2B5EF4-FFF2-40B4-BE49-F238E27FC236}">
                <a16:creationId xmlns:a16="http://schemas.microsoft.com/office/drawing/2014/main" id="{7BED9312-A7F8-456D-9D54-D034D097842E}"/>
              </a:ext>
            </a:extLst>
          </p:cNvPr>
          <p:cNvSpPr>
            <a:spLocks noGrp="1"/>
          </p:cNvSpPr>
          <p:nvPr>
            <p:ph type="title"/>
          </p:nvPr>
        </p:nvSpPr>
        <p:spPr>
          <a:xfrm>
            <a:off x="629085" y="13105"/>
            <a:ext cx="10975981" cy="548640"/>
          </a:xfrm>
          <a:prstGeom prst="rect">
            <a:avLst/>
          </a:prstGeom>
        </p:spPr>
        <p:txBody>
          <a:bodyPr vert="horz" lIns="91440" tIns="45720" rIns="91440" bIns="45720" rtlCol="0" anchor="ctr">
            <a:normAutofit/>
          </a:bodyPr>
          <a:lstStyle/>
          <a:p>
            <a:r>
              <a:rPr lang="en-US"/>
              <a:t>Click to edit Master title style</a:t>
            </a:r>
          </a:p>
        </p:txBody>
      </p:sp>
    </p:spTree>
    <p:extLst>
      <p:ext uri="{BB962C8B-B14F-4D97-AF65-F5344CB8AC3E}">
        <p14:creationId xmlns:p14="http://schemas.microsoft.com/office/powerpoint/2010/main" val="23606454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3" name="Vertical Text Placeholder 2">
            <a:extLst>
              <a:ext uri="{FF2B5EF4-FFF2-40B4-BE49-F238E27FC236}">
                <a16:creationId xmlns:a16="http://schemas.microsoft.com/office/drawing/2014/main" id="{38B93FDE-0843-445A-8B34-9092D666FC3E}"/>
              </a:ext>
            </a:extLst>
          </p:cNvPr>
          <p:cNvSpPr>
            <a:spLocks noGrp="1"/>
          </p:cNvSpPr>
          <p:nvPr>
            <p:ph type="body" orient="vert" idx="1"/>
          </p:nvPr>
        </p:nvSpPr>
        <p:spPr>
          <a:xfrm>
            <a:off x="746999" y="1917578"/>
            <a:ext cx="13155431" cy="549477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4">
            <a:extLst>
              <a:ext uri="{FF2B5EF4-FFF2-40B4-BE49-F238E27FC236}">
                <a16:creationId xmlns:a16="http://schemas.microsoft.com/office/drawing/2014/main" id="{93D0DE23-B8AD-4136-812D-27D46B8ADC89}"/>
              </a:ext>
            </a:extLst>
          </p:cNvPr>
          <p:cNvSpPr>
            <a:spLocks noGrp="1"/>
          </p:cNvSpPr>
          <p:nvPr>
            <p:ph type="sldNum" sz="quarter" idx="4"/>
          </p:nvPr>
        </p:nvSpPr>
        <p:spPr>
          <a:xfrm>
            <a:off x="11099750" y="7627621"/>
            <a:ext cx="3291840" cy="438150"/>
          </a:xfrm>
          <a:prstGeom prst="rect">
            <a:avLst/>
          </a:prstGeom>
        </p:spPr>
        <p:txBody>
          <a:bodyPr vert="horz" lIns="91440" tIns="45720" rIns="91440" bIns="45720" rtlCol="0" anchor="ctr"/>
          <a:lstStyle>
            <a:lvl1pPr algn="r">
              <a:defRPr sz="1440">
                <a:solidFill>
                  <a:srgbClr val="00B0F0"/>
                </a:solidFill>
                <a:latin typeface="Arial" panose="020B0604020202020204" pitchFamily="34" charset="0"/>
                <a:cs typeface="Arial" panose="020B0604020202020204" pitchFamily="34" charset="0"/>
              </a:defRPr>
            </a:lvl1pPr>
          </a:lstStyle>
          <a:p>
            <a:fld id="{31D26D55-0A22-487A-A687-61FB58A6F16A}" type="slidenum">
              <a:rPr lang="en-US" smtClean="0"/>
              <a:pPr/>
              <a:t>‹#›</a:t>
            </a:fld>
            <a:endParaRPr lang="en-US"/>
          </a:p>
        </p:txBody>
      </p:sp>
      <p:sp>
        <p:nvSpPr>
          <p:cNvPr id="8" name="Title Placeholder 1">
            <a:extLst>
              <a:ext uri="{FF2B5EF4-FFF2-40B4-BE49-F238E27FC236}">
                <a16:creationId xmlns:a16="http://schemas.microsoft.com/office/drawing/2014/main" id="{5A661BC8-CBE6-40B1-BF65-3DDC3730BEA8}"/>
              </a:ext>
            </a:extLst>
          </p:cNvPr>
          <p:cNvSpPr>
            <a:spLocks noGrp="1"/>
          </p:cNvSpPr>
          <p:nvPr>
            <p:ph type="title"/>
          </p:nvPr>
        </p:nvSpPr>
        <p:spPr>
          <a:xfrm>
            <a:off x="629085" y="0"/>
            <a:ext cx="10975981" cy="548640"/>
          </a:xfrm>
          <a:prstGeom prst="rect">
            <a:avLst/>
          </a:prstGeom>
        </p:spPr>
        <p:txBody>
          <a:bodyPr vert="horz" lIns="91440" tIns="45720" rIns="91440" bIns="45720" rtlCol="0" anchor="ctr">
            <a:normAutofit/>
          </a:bodyPr>
          <a:lstStyle/>
          <a:p>
            <a:r>
              <a:rPr lang="en-US"/>
              <a:t>Click to edit Master title style</a:t>
            </a:r>
          </a:p>
        </p:txBody>
      </p:sp>
    </p:spTree>
    <p:extLst>
      <p:ext uri="{BB962C8B-B14F-4D97-AF65-F5344CB8AC3E}">
        <p14:creationId xmlns:p14="http://schemas.microsoft.com/office/powerpoint/2010/main" val="22263241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sp>
        <p:nvSpPr>
          <p:cNvPr id="3" name="Vertical Text Placeholder 2">
            <a:extLst>
              <a:ext uri="{FF2B5EF4-FFF2-40B4-BE49-F238E27FC236}">
                <a16:creationId xmlns:a16="http://schemas.microsoft.com/office/drawing/2014/main" id="{8781CC48-27A5-4590-A158-B24464D8BE2C}"/>
              </a:ext>
            </a:extLst>
          </p:cNvPr>
          <p:cNvSpPr>
            <a:spLocks noGrp="1"/>
          </p:cNvSpPr>
          <p:nvPr>
            <p:ph type="body" orient="vert" idx="1"/>
          </p:nvPr>
        </p:nvSpPr>
        <p:spPr>
          <a:xfrm>
            <a:off x="746999" y="1906924"/>
            <a:ext cx="13155431" cy="550543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Placeholder 1">
            <a:extLst>
              <a:ext uri="{FF2B5EF4-FFF2-40B4-BE49-F238E27FC236}">
                <a16:creationId xmlns:a16="http://schemas.microsoft.com/office/drawing/2014/main" id="{AF7114A3-57EF-412A-8AEB-90C1FF86B1F4}"/>
              </a:ext>
            </a:extLst>
          </p:cNvPr>
          <p:cNvSpPr>
            <a:spLocks noGrp="1"/>
          </p:cNvSpPr>
          <p:nvPr>
            <p:ph type="title"/>
          </p:nvPr>
        </p:nvSpPr>
        <p:spPr>
          <a:xfrm>
            <a:off x="629085" y="0"/>
            <a:ext cx="10975981" cy="548640"/>
          </a:xfrm>
          <a:prstGeom prst="rect">
            <a:avLst/>
          </a:prstGeom>
        </p:spPr>
        <p:txBody>
          <a:bodyPr vert="horz" lIns="91440" tIns="45720" rIns="91440" bIns="45720" rtlCol="0" anchor="ctr">
            <a:normAutofit/>
          </a:bodyPr>
          <a:lstStyle/>
          <a:p>
            <a:r>
              <a:rPr lang="en-US"/>
              <a:t>Click to edit Master title style</a:t>
            </a:r>
          </a:p>
        </p:txBody>
      </p:sp>
      <p:sp>
        <p:nvSpPr>
          <p:cNvPr id="6" name="Slide Number Placeholder 4">
            <a:extLst>
              <a:ext uri="{FF2B5EF4-FFF2-40B4-BE49-F238E27FC236}">
                <a16:creationId xmlns:a16="http://schemas.microsoft.com/office/drawing/2014/main" id="{291FBA3B-7B9C-4B9A-93C5-F00783BA10B9}"/>
              </a:ext>
            </a:extLst>
          </p:cNvPr>
          <p:cNvSpPr>
            <a:spLocks noGrp="1"/>
          </p:cNvSpPr>
          <p:nvPr>
            <p:ph type="sldNum" sz="quarter" idx="4"/>
          </p:nvPr>
        </p:nvSpPr>
        <p:spPr>
          <a:xfrm>
            <a:off x="11099750" y="7627621"/>
            <a:ext cx="3291840" cy="438150"/>
          </a:xfrm>
          <a:prstGeom prst="rect">
            <a:avLst/>
          </a:prstGeom>
        </p:spPr>
        <p:txBody>
          <a:bodyPr vert="horz" lIns="91440" tIns="45720" rIns="91440" bIns="45720" rtlCol="0" anchor="ctr"/>
          <a:lstStyle>
            <a:lvl1pPr algn="r">
              <a:defRPr sz="1440">
                <a:solidFill>
                  <a:srgbClr val="00B0F0"/>
                </a:solidFill>
                <a:latin typeface="Arial" panose="020B0604020202020204" pitchFamily="34" charset="0"/>
                <a:cs typeface="Arial" panose="020B0604020202020204" pitchFamily="34" charset="0"/>
              </a:defRPr>
            </a:lvl1pPr>
          </a:lstStyle>
          <a:p>
            <a:fld id="{31D26D55-0A22-487A-A687-61FB58A6F16A}" type="slidenum">
              <a:rPr lang="en-US" smtClean="0"/>
              <a:pPr/>
              <a:t>‹#›</a:t>
            </a:fld>
            <a:endParaRPr lang="en-US"/>
          </a:p>
        </p:txBody>
      </p:sp>
    </p:spTree>
    <p:extLst>
      <p:ext uri="{BB962C8B-B14F-4D97-AF65-F5344CB8AC3E}">
        <p14:creationId xmlns:p14="http://schemas.microsoft.com/office/powerpoint/2010/main" val="337832283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ext Placeholder 5">
            <a:extLst>
              <a:ext uri="{FF2B5EF4-FFF2-40B4-BE49-F238E27FC236}">
                <a16:creationId xmlns:a16="http://schemas.microsoft.com/office/drawing/2014/main" id="{81110BB5-4CAA-4D6D-B0E5-CD6E3D5444C4}"/>
              </a:ext>
            </a:extLst>
          </p:cNvPr>
          <p:cNvSpPr>
            <a:spLocks noGrp="1"/>
          </p:cNvSpPr>
          <p:nvPr>
            <p:ph type="body" sz="quarter" idx="10" hasCustomPrompt="1"/>
          </p:nvPr>
        </p:nvSpPr>
        <p:spPr>
          <a:xfrm>
            <a:off x="0" y="3123888"/>
            <a:ext cx="14630400" cy="2633081"/>
          </a:xfrm>
          <a:prstGeom prst="rect">
            <a:avLst/>
          </a:prstGeom>
        </p:spPr>
        <p:txBody>
          <a:bodyPr/>
          <a:lstStyle>
            <a:lvl1pPr marL="0" indent="0" algn="ctr">
              <a:buNone/>
              <a:defRPr sz="7200" b="1">
                <a:solidFill>
                  <a:schemeClr val="bg1"/>
                </a:solidFill>
                <a:latin typeface="Arial" panose="020B0604020202020204" pitchFamily="34" charset="0"/>
                <a:cs typeface="Arial" panose="020B0604020202020204" pitchFamily="34" charset="0"/>
              </a:defRPr>
            </a:lvl1pPr>
          </a:lstStyle>
          <a:p>
            <a:pPr lvl="0"/>
            <a:r>
              <a:rPr lang="en-US"/>
              <a:t>THANK YOU</a:t>
            </a:r>
          </a:p>
        </p:txBody>
      </p:sp>
      <p:sp>
        <p:nvSpPr>
          <p:cNvPr id="3" name="Slide Number Placeholder 4">
            <a:extLst>
              <a:ext uri="{FF2B5EF4-FFF2-40B4-BE49-F238E27FC236}">
                <a16:creationId xmlns:a16="http://schemas.microsoft.com/office/drawing/2014/main" id="{3B7D03F5-A2EB-443F-8808-CB92782BB9DC}"/>
              </a:ext>
            </a:extLst>
          </p:cNvPr>
          <p:cNvSpPr>
            <a:spLocks noGrp="1"/>
          </p:cNvSpPr>
          <p:nvPr>
            <p:ph type="sldNum" sz="quarter" idx="4"/>
          </p:nvPr>
        </p:nvSpPr>
        <p:spPr>
          <a:xfrm>
            <a:off x="11338560" y="7791451"/>
            <a:ext cx="3291840" cy="438150"/>
          </a:xfrm>
          <a:prstGeom prst="rect">
            <a:avLst/>
          </a:prstGeom>
        </p:spPr>
        <p:txBody>
          <a:bodyPr vert="horz" lIns="91440" tIns="45720" rIns="91440" bIns="45720" rtlCol="0" anchor="ctr"/>
          <a:lstStyle>
            <a:lvl1pPr algn="r">
              <a:defRPr sz="1440">
                <a:solidFill>
                  <a:schemeClr val="bg1"/>
                </a:solidFill>
                <a:latin typeface="Arial" panose="020B0604020202020204" pitchFamily="34" charset="0"/>
                <a:cs typeface="Arial" panose="020B0604020202020204" pitchFamily="34" charset="0"/>
              </a:defRPr>
            </a:lvl1pPr>
          </a:lstStyle>
          <a:p>
            <a:fld id="{31D26D55-0A22-487A-A687-61FB58A6F16A}" type="slidenum">
              <a:rPr lang="en-US" smtClean="0"/>
              <a:pPr/>
              <a:t>‹#›</a:t>
            </a:fld>
            <a:endParaRPr lang="en-US"/>
          </a:p>
        </p:txBody>
      </p:sp>
    </p:spTree>
    <p:extLst>
      <p:ext uri="{BB962C8B-B14F-4D97-AF65-F5344CB8AC3E}">
        <p14:creationId xmlns:p14="http://schemas.microsoft.com/office/powerpoint/2010/main" val="9745927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 Id="rId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13" Type="http://schemas.openxmlformats.org/officeDocument/2006/relationships/image" Target="../media/image4.png"/><Relationship Id="rId3" Type="http://schemas.openxmlformats.org/officeDocument/2006/relationships/slideLayout" Target="../slideLayouts/slideLayout4.xml"/><Relationship Id="rId7" Type="http://schemas.openxmlformats.org/officeDocument/2006/relationships/slideLayout" Target="../slideLayouts/slideLayout8.xml"/><Relationship Id="rId12" Type="http://schemas.openxmlformats.org/officeDocument/2006/relationships/image" Target="../media/image3.jpeg"/><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theme" Target="../theme/theme2.xml"/><Relationship Id="rId5" Type="http://schemas.openxmlformats.org/officeDocument/2006/relationships/slideLayout" Target="../slideLayouts/slideLayout6.xml"/><Relationship Id="rId10" Type="http://schemas.openxmlformats.org/officeDocument/2006/relationships/slideLayout" Target="../slideLayouts/slideLayout11.xml"/><Relationship Id="rId4" Type="http://schemas.openxmlformats.org/officeDocument/2006/relationships/slideLayout" Target="../slideLayouts/slideLayout5.xml"/><Relationship Id="rId9" Type="http://schemas.openxmlformats.org/officeDocument/2006/relationships/slideLayout" Target="../slideLayouts/slideLayout10.xml"/></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3.xml"/><Relationship Id="rId1" Type="http://schemas.openxmlformats.org/officeDocument/2006/relationships/slideLayout" Target="../slideLayouts/slideLayout12.xml"/><Relationship Id="rId5" Type="http://schemas.openxmlformats.org/officeDocument/2006/relationships/image" Target="../media/image2.png"/><Relationship Id="rId4"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6166A51-751E-4C91-AF12-35FEA5D2602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556909" y="832674"/>
            <a:ext cx="3516583" cy="1579366"/>
          </a:xfrm>
          <a:prstGeom prst="rect">
            <a:avLst/>
          </a:prstGeom>
        </p:spPr>
      </p:pic>
      <p:sp>
        <p:nvSpPr>
          <p:cNvPr id="5" name="Slide Number Placeholder 4">
            <a:extLst>
              <a:ext uri="{FF2B5EF4-FFF2-40B4-BE49-F238E27FC236}">
                <a16:creationId xmlns:a16="http://schemas.microsoft.com/office/drawing/2014/main" id="{95B40CFA-9026-435C-9897-175C51B6BE55}"/>
              </a:ext>
            </a:extLst>
          </p:cNvPr>
          <p:cNvSpPr>
            <a:spLocks noGrp="1"/>
          </p:cNvSpPr>
          <p:nvPr>
            <p:ph type="sldNum" sz="quarter" idx="4"/>
          </p:nvPr>
        </p:nvSpPr>
        <p:spPr>
          <a:xfrm>
            <a:off x="11338560" y="7773417"/>
            <a:ext cx="3291840" cy="438150"/>
          </a:xfrm>
          <a:prstGeom prst="rect">
            <a:avLst/>
          </a:prstGeom>
        </p:spPr>
        <p:txBody>
          <a:bodyPr vert="horz" lIns="91440" tIns="45720" rIns="91440" bIns="45720" rtlCol="0" anchor="ctr"/>
          <a:lstStyle>
            <a:lvl1pPr algn="r">
              <a:defRPr sz="1440">
                <a:solidFill>
                  <a:schemeClr val="bg1"/>
                </a:solidFill>
                <a:latin typeface="Arial" panose="020B0604020202020204" pitchFamily="34" charset="0"/>
                <a:cs typeface="Arial" panose="020B0604020202020204" pitchFamily="34" charset="0"/>
              </a:defRPr>
            </a:lvl1pPr>
          </a:lstStyle>
          <a:p>
            <a:fld id="{31D26D55-0A22-487A-A687-61FB58A6F16A}" type="slidenum">
              <a:rPr lang="en-US" smtClean="0"/>
              <a:pPr/>
              <a:t>‹#›</a:t>
            </a:fld>
            <a:endParaRPr lang="en-US"/>
          </a:p>
        </p:txBody>
      </p:sp>
    </p:spTree>
    <p:extLst>
      <p:ext uri="{BB962C8B-B14F-4D97-AF65-F5344CB8AC3E}">
        <p14:creationId xmlns:p14="http://schemas.microsoft.com/office/powerpoint/2010/main" val="2690241652"/>
      </p:ext>
    </p:extLst>
  </p:cSld>
  <p:clrMap bg1="lt1" tx1="dk1" bg2="lt2" tx2="dk2" accent1="accent1" accent2="accent2" accent3="accent3" accent4="accent4" accent5="accent5" accent6="accent6" hlink="hlink" folHlink="folHlink"/>
  <p:sldLayoutIdLst>
    <p:sldLayoutId id="2147483661" r:id="rId1"/>
  </p:sldLayoutIdLst>
  <p:hf hdr="0" ftr="0"/>
  <p:txStyles>
    <p:titleStyle>
      <a:lvl1pPr algn="l" defTabSz="1097280" rtl="0" eaLnBrk="1" latinLnBrk="0" hangingPunct="1">
        <a:lnSpc>
          <a:spcPct val="90000"/>
        </a:lnSpc>
        <a:spcBef>
          <a:spcPct val="0"/>
        </a:spcBef>
        <a:buNone/>
        <a:defRPr sz="5280" kern="1200">
          <a:solidFill>
            <a:schemeClr val="tx1"/>
          </a:solidFill>
          <a:latin typeface="+mj-lt"/>
          <a:ea typeface="+mj-ea"/>
          <a:cs typeface="+mj-cs"/>
        </a:defRPr>
      </a:lvl1pPr>
    </p:titleStyle>
    <p:bodyStyle>
      <a:lvl1pPr marL="274320" indent="-274320" algn="l" defTabSz="1097280" rtl="0" eaLnBrk="1" latinLnBrk="0" hangingPunct="1">
        <a:lnSpc>
          <a:spcPct val="90000"/>
        </a:lnSpc>
        <a:spcBef>
          <a:spcPts val="1200"/>
        </a:spcBef>
        <a:buFont typeface="Arial" panose="020B0604020202020204" pitchFamily="34" charset="0"/>
        <a:buChar char="•"/>
        <a:defRPr sz="3360" kern="1200">
          <a:solidFill>
            <a:schemeClr val="tx1"/>
          </a:solidFill>
          <a:latin typeface="+mn-lt"/>
          <a:ea typeface="+mn-ea"/>
          <a:cs typeface="+mn-cs"/>
        </a:defRPr>
      </a:lvl1pPr>
      <a:lvl2pPr marL="822960" indent="-274320" algn="l" defTabSz="1097280" rtl="0" eaLnBrk="1" latinLnBrk="0" hangingPunct="1">
        <a:lnSpc>
          <a:spcPct val="90000"/>
        </a:lnSpc>
        <a:spcBef>
          <a:spcPts val="600"/>
        </a:spcBef>
        <a:buFont typeface="Arial" panose="020B0604020202020204" pitchFamily="34" charset="0"/>
        <a:buChar char="•"/>
        <a:defRPr sz="2880" kern="1200">
          <a:solidFill>
            <a:schemeClr val="tx1"/>
          </a:solidFill>
          <a:latin typeface="+mn-lt"/>
          <a:ea typeface="+mn-ea"/>
          <a:cs typeface="+mn-cs"/>
        </a:defRPr>
      </a:lvl2pPr>
      <a:lvl3pPr marL="1371600" indent="-274320" algn="l" defTabSz="1097280" rtl="0" eaLnBrk="1" latinLnBrk="0" hangingPunct="1">
        <a:lnSpc>
          <a:spcPct val="90000"/>
        </a:lnSpc>
        <a:spcBef>
          <a:spcPts val="600"/>
        </a:spcBef>
        <a:buFont typeface="Arial" panose="020B0604020202020204" pitchFamily="34" charset="0"/>
        <a:buChar char="•"/>
        <a:defRPr sz="2400" kern="1200">
          <a:solidFill>
            <a:schemeClr val="tx1"/>
          </a:solidFill>
          <a:latin typeface="+mn-lt"/>
          <a:ea typeface="+mn-ea"/>
          <a:cs typeface="+mn-cs"/>
        </a:defRPr>
      </a:lvl3pPr>
      <a:lvl4pPr marL="19202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4pPr>
      <a:lvl5pPr marL="246888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5pPr>
      <a:lvl6pPr marL="301752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6pPr>
      <a:lvl7pPr marL="356616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7pPr>
      <a:lvl8pPr marL="411480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8pPr>
      <a:lvl9pPr marL="46634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9pPr>
    </p:bodyStyle>
    <p:otherStyle>
      <a:defPPr>
        <a:defRPr lang="en-US"/>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316BAF0-010B-4DE2-BDEA-F2879C620864}"/>
              </a:ext>
            </a:extLst>
          </p:cNvPr>
          <p:cNvSpPr>
            <a:spLocks noGrp="1"/>
          </p:cNvSpPr>
          <p:nvPr>
            <p:ph type="title"/>
          </p:nvPr>
        </p:nvSpPr>
        <p:spPr>
          <a:xfrm>
            <a:off x="617655" y="28597"/>
            <a:ext cx="10975981" cy="560070"/>
          </a:xfrm>
          <a:prstGeom prst="rect">
            <a:avLst/>
          </a:prstGeom>
        </p:spPr>
        <p:txBody>
          <a:bodyPr vert="horz" lIns="91440" tIns="45720" rIns="91440" bIns="45720" rtlCol="0" anchor="ctr">
            <a:normAutofit/>
          </a:bodyPr>
          <a:lstStyle/>
          <a:p>
            <a:endParaRPr lang="en-US"/>
          </a:p>
        </p:txBody>
      </p:sp>
      <p:sp>
        <p:nvSpPr>
          <p:cNvPr id="3" name="Text Placeholder 2">
            <a:extLst>
              <a:ext uri="{FF2B5EF4-FFF2-40B4-BE49-F238E27FC236}">
                <a16:creationId xmlns:a16="http://schemas.microsoft.com/office/drawing/2014/main" id="{73FBB290-2494-4607-B867-D433D7531872}"/>
              </a:ext>
            </a:extLst>
          </p:cNvPr>
          <p:cNvSpPr>
            <a:spLocks noGrp="1"/>
          </p:cNvSpPr>
          <p:nvPr>
            <p:ph type="body" idx="1"/>
          </p:nvPr>
        </p:nvSpPr>
        <p:spPr>
          <a:xfrm>
            <a:off x="747000" y="1576675"/>
            <a:ext cx="13136400" cy="583568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Slide Number Placeholder 4">
            <a:extLst>
              <a:ext uri="{FF2B5EF4-FFF2-40B4-BE49-F238E27FC236}">
                <a16:creationId xmlns:a16="http://schemas.microsoft.com/office/drawing/2014/main" id="{1278EBD5-1C90-47B8-ADFB-BF109E3CF4A6}"/>
              </a:ext>
            </a:extLst>
          </p:cNvPr>
          <p:cNvSpPr>
            <a:spLocks noGrp="1"/>
          </p:cNvSpPr>
          <p:nvPr>
            <p:ph type="sldNum" sz="quarter" idx="4"/>
          </p:nvPr>
        </p:nvSpPr>
        <p:spPr>
          <a:xfrm>
            <a:off x="11338560" y="7791451"/>
            <a:ext cx="3291840" cy="438150"/>
          </a:xfrm>
          <a:prstGeom prst="rect">
            <a:avLst/>
          </a:prstGeom>
        </p:spPr>
        <p:txBody>
          <a:bodyPr vert="horz" lIns="91440" tIns="45720" rIns="91440" bIns="45720" rtlCol="0" anchor="ctr"/>
          <a:lstStyle>
            <a:lvl1pPr algn="r">
              <a:defRPr sz="1440">
                <a:solidFill>
                  <a:srgbClr val="00B0F0"/>
                </a:solidFill>
                <a:latin typeface="Arial" panose="020B0604020202020204" pitchFamily="34" charset="0"/>
                <a:cs typeface="Arial" panose="020B0604020202020204" pitchFamily="34" charset="0"/>
              </a:defRPr>
            </a:lvl1pPr>
          </a:lstStyle>
          <a:p>
            <a:fld id="{31D26D55-0A22-487A-A687-61FB58A6F16A}" type="slidenum">
              <a:rPr lang="en-US" smtClean="0"/>
              <a:pPr/>
              <a:t>‹#›</a:t>
            </a:fld>
            <a:endParaRPr lang="en-US"/>
          </a:p>
        </p:txBody>
      </p:sp>
      <p:pic>
        <p:nvPicPr>
          <p:cNvPr id="7" name="Picture 6">
            <a:extLst>
              <a:ext uri="{FF2B5EF4-FFF2-40B4-BE49-F238E27FC236}">
                <a16:creationId xmlns:a16="http://schemas.microsoft.com/office/drawing/2014/main" id="{53EC741C-2937-40DA-B5CD-6BDD68A49B85}"/>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12138661" y="153680"/>
            <a:ext cx="1744740" cy="309905"/>
          </a:xfrm>
          <a:prstGeom prst="rect">
            <a:avLst/>
          </a:prstGeom>
        </p:spPr>
      </p:pic>
    </p:spTree>
    <p:extLst>
      <p:ext uri="{BB962C8B-B14F-4D97-AF65-F5344CB8AC3E}">
        <p14:creationId xmlns:p14="http://schemas.microsoft.com/office/powerpoint/2010/main" val="2016598143"/>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Lst>
  <p:hf hdr="0" ftr="0"/>
  <p:txStyles>
    <p:titleStyle>
      <a:lvl1pPr algn="l" defTabSz="1097280" rtl="0" eaLnBrk="1" latinLnBrk="0" hangingPunct="1">
        <a:lnSpc>
          <a:spcPct val="90000"/>
        </a:lnSpc>
        <a:spcBef>
          <a:spcPct val="0"/>
        </a:spcBef>
        <a:buNone/>
        <a:defRPr sz="2760" b="1" kern="1200" baseline="0">
          <a:solidFill>
            <a:schemeClr val="bg1"/>
          </a:solidFill>
          <a:latin typeface="+mj-lt"/>
          <a:ea typeface="+mj-ea"/>
          <a:cs typeface="+mj-cs"/>
        </a:defRPr>
      </a:lvl1pPr>
    </p:titleStyle>
    <p:bodyStyle>
      <a:lvl1pPr marL="274320" indent="-274320" algn="l" defTabSz="1097280" rtl="0" eaLnBrk="1" latinLnBrk="0" hangingPunct="1">
        <a:lnSpc>
          <a:spcPct val="90000"/>
        </a:lnSpc>
        <a:spcBef>
          <a:spcPts val="1200"/>
        </a:spcBef>
        <a:buFont typeface="Arial" panose="020B0604020202020204" pitchFamily="34" charset="0"/>
        <a:buChar char="•"/>
        <a:defRPr sz="3360" kern="1200">
          <a:solidFill>
            <a:schemeClr val="tx1"/>
          </a:solidFill>
          <a:latin typeface="+mj-lt"/>
          <a:ea typeface="+mn-ea"/>
          <a:cs typeface="+mn-cs"/>
        </a:defRPr>
      </a:lvl1pPr>
      <a:lvl2pPr marL="822960" indent="-274320" algn="l" defTabSz="1097280" rtl="0" eaLnBrk="1" latinLnBrk="0" hangingPunct="1">
        <a:lnSpc>
          <a:spcPct val="90000"/>
        </a:lnSpc>
        <a:spcBef>
          <a:spcPts val="600"/>
        </a:spcBef>
        <a:buFont typeface="Arial" panose="020B0604020202020204" pitchFamily="34" charset="0"/>
        <a:buChar char="•"/>
        <a:defRPr sz="2880" kern="1200">
          <a:solidFill>
            <a:schemeClr val="tx1"/>
          </a:solidFill>
          <a:latin typeface="+mj-lt"/>
          <a:ea typeface="+mn-ea"/>
          <a:cs typeface="+mn-cs"/>
        </a:defRPr>
      </a:lvl2pPr>
      <a:lvl3pPr marL="1371600" indent="-274320" algn="l" defTabSz="1097280" rtl="0" eaLnBrk="1" latinLnBrk="0" hangingPunct="1">
        <a:lnSpc>
          <a:spcPct val="90000"/>
        </a:lnSpc>
        <a:spcBef>
          <a:spcPts val="600"/>
        </a:spcBef>
        <a:buFont typeface="Arial" panose="020B0604020202020204" pitchFamily="34" charset="0"/>
        <a:buChar char="•"/>
        <a:defRPr sz="2400" kern="1200">
          <a:solidFill>
            <a:schemeClr val="tx1"/>
          </a:solidFill>
          <a:latin typeface="+mn-lt"/>
          <a:ea typeface="+mn-ea"/>
          <a:cs typeface="+mn-cs"/>
        </a:defRPr>
      </a:lvl3pPr>
      <a:lvl4pPr marL="19202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4pPr>
      <a:lvl5pPr marL="246888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5pPr>
      <a:lvl6pPr marL="301752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6pPr>
      <a:lvl7pPr marL="356616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7pPr>
      <a:lvl8pPr marL="411480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8pPr>
      <a:lvl9pPr marL="46634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9pPr>
    </p:bodyStyle>
    <p:otherStyle>
      <a:defPPr>
        <a:defRPr lang="en-US"/>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EC9FC78E-716C-42DD-9A91-4572741330C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765079" y="2575224"/>
            <a:ext cx="5100239" cy="486910"/>
          </a:xfrm>
          <a:prstGeom prst="rect">
            <a:avLst/>
          </a:prstGeom>
        </p:spPr>
      </p:pic>
      <p:pic>
        <p:nvPicPr>
          <p:cNvPr id="3" name="Picture 2" descr="A picture containing icon&#10;&#10;Description automatically generated">
            <a:extLst>
              <a:ext uri="{FF2B5EF4-FFF2-40B4-BE49-F238E27FC236}">
                <a16:creationId xmlns:a16="http://schemas.microsoft.com/office/drawing/2014/main" id="{7D5A94FF-61CC-4076-B3C5-90D92D65176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484395" y="662825"/>
            <a:ext cx="3661606" cy="1644498"/>
          </a:xfrm>
          <a:prstGeom prst="rect">
            <a:avLst/>
          </a:prstGeom>
        </p:spPr>
      </p:pic>
      <p:sp>
        <p:nvSpPr>
          <p:cNvPr id="6" name="Slide Number Placeholder 4">
            <a:extLst>
              <a:ext uri="{FF2B5EF4-FFF2-40B4-BE49-F238E27FC236}">
                <a16:creationId xmlns:a16="http://schemas.microsoft.com/office/drawing/2014/main" id="{536F9F23-BD13-46C8-A1F1-15DBEB1CBFF4}"/>
              </a:ext>
            </a:extLst>
          </p:cNvPr>
          <p:cNvSpPr>
            <a:spLocks noGrp="1"/>
          </p:cNvSpPr>
          <p:nvPr>
            <p:ph type="sldNum" sz="quarter" idx="4"/>
          </p:nvPr>
        </p:nvSpPr>
        <p:spPr>
          <a:xfrm>
            <a:off x="11338560" y="7791451"/>
            <a:ext cx="3291840" cy="438150"/>
          </a:xfrm>
          <a:prstGeom prst="rect">
            <a:avLst/>
          </a:prstGeom>
        </p:spPr>
        <p:txBody>
          <a:bodyPr vert="horz" lIns="91440" tIns="45720" rIns="91440" bIns="45720" rtlCol="0" anchor="ctr"/>
          <a:lstStyle>
            <a:lvl1pPr algn="r">
              <a:defRPr sz="1440">
                <a:solidFill>
                  <a:schemeClr val="bg1"/>
                </a:solidFill>
                <a:latin typeface="Arial" panose="020B0604020202020204" pitchFamily="34" charset="0"/>
                <a:cs typeface="Arial" panose="020B0604020202020204" pitchFamily="34" charset="0"/>
              </a:defRPr>
            </a:lvl1pPr>
          </a:lstStyle>
          <a:p>
            <a:fld id="{31D26D55-0A22-487A-A687-61FB58A6F16A}" type="slidenum">
              <a:rPr lang="en-US" smtClean="0"/>
              <a:pPr/>
              <a:t>‹#›</a:t>
            </a:fld>
            <a:endParaRPr lang="en-US"/>
          </a:p>
        </p:txBody>
      </p:sp>
    </p:spTree>
    <p:extLst>
      <p:ext uri="{BB962C8B-B14F-4D97-AF65-F5344CB8AC3E}">
        <p14:creationId xmlns:p14="http://schemas.microsoft.com/office/powerpoint/2010/main" val="2556741362"/>
      </p:ext>
    </p:extLst>
  </p:cSld>
  <p:clrMap bg1="lt1" tx1="dk1" bg2="lt2" tx2="dk2" accent1="accent1" accent2="accent2" accent3="accent3" accent4="accent4" accent5="accent5" accent6="accent6" hlink="hlink" folHlink="folHlink"/>
  <p:sldLayoutIdLst>
    <p:sldLayoutId id="2147483684" r:id="rId1"/>
  </p:sldLayoutIdLst>
  <p:hf hdr="0" ftr="0"/>
  <p:txStyles>
    <p:titleStyle>
      <a:lvl1pPr algn="l" defTabSz="1097280" rtl="0" eaLnBrk="1" latinLnBrk="0" hangingPunct="1">
        <a:lnSpc>
          <a:spcPct val="90000"/>
        </a:lnSpc>
        <a:spcBef>
          <a:spcPct val="0"/>
        </a:spcBef>
        <a:buNone/>
        <a:defRPr sz="5280" kern="1200">
          <a:solidFill>
            <a:schemeClr val="tx1"/>
          </a:solidFill>
          <a:latin typeface="+mj-lt"/>
          <a:ea typeface="+mj-ea"/>
          <a:cs typeface="+mj-cs"/>
        </a:defRPr>
      </a:lvl1pPr>
    </p:titleStyle>
    <p:bodyStyle>
      <a:lvl1pPr marL="274320" indent="-274320" algn="l" defTabSz="1097280" rtl="0" eaLnBrk="1" latinLnBrk="0" hangingPunct="1">
        <a:lnSpc>
          <a:spcPct val="90000"/>
        </a:lnSpc>
        <a:spcBef>
          <a:spcPts val="1200"/>
        </a:spcBef>
        <a:buFont typeface="Arial" panose="020B0604020202020204" pitchFamily="34" charset="0"/>
        <a:buChar char="•"/>
        <a:defRPr sz="3360" kern="1200">
          <a:solidFill>
            <a:schemeClr val="tx1"/>
          </a:solidFill>
          <a:latin typeface="+mn-lt"/>
          <a:ea typeface="+mn-ea"/>
          <a:cs typeface="+mn-cs"/>
        </a:defRPr>
      </a:lvl1pPr>
      <a:lvl2pPr marL="822960" indent="-274320" algn="l" defTabSz="1097280" rtl="0" eaLnBrk="1" latinLnBrk="0" hangingPunct="1">
        <a:lnSpc>
          <a:spcPct val="90000"/>
        </a:lnSpc>
        <a:spcBef>
          <a:spcPts val="600"/>
        </a:spcBef>
        <a:buFont typeface="Arial" panose="020B0604020202020204" pitchFamily="34" charset="0"/>
        <a:buChar char="•"/>
        <a:defRPr sz="2880" kern="1200">
          <a:solidFill>
            <a:schemeClr val="tx1"/>
          </a:solidFill>
          <a:latin typeface="+mn-lt"/>
          <a:ea typeface="+mn-ea"/>
          <a:cs typeface="+mn-cs"/>
        </a:defRPr>
      </a:lvl2pPr>
      <a:lvl3pPr marL="1371600" indent="-274320" algn="l" defTabSz="1097280" rtl="0" eaLnBrk="1" latinLnBrk="0" hangingPunct="1">
        <a:lnSpc>
          <a:spcPct val="90000"/>
        </a:lnSpc>
        <a:spcBef>
          <a:spcPts val="600"/>
        </a:spcBef>
        <a:buFont typeface="Arial" panose="020B0604020202020204" pitchFamily="34" charset="0"/>
        <a:buChar char="•"/>
        <a:defRPr sz="2400" kern="1200">
          <a:solidFill>
            <a:schemeClr val="tx1"/>
          </a:solidFill>
          <a:latin typeface="+mn-lt"/>
          <a:ea typeface="+mn-ea"/>
          <a:cs typeface="+mn-cs"/>
        </a:defRPr>
      </a:lvl3pPr>
      <a:lvl4pPr marL="19202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4pPr>
      <a:lvl5pPr marL="246888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5pPr>
      <a:lvl6pPr marL="301752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6pPr>
      <a:lvl7pPr marL="356616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7pPr>
      <a:lvl8pPr marL="411480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8pPr>
      <a:lvl9pPr marL="46634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9pPr>
    </p:bodyStyle>
    <p:otherStyle>
      <a:defPPr>
        <a:defRPr lang="en-US"/>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3.xml"/><Relationship Id="rId1" Type="http://schemas.openxmlformats.org/officeDocument/2006/relationships/slideLayout" Target="../slideLayouts/slideLayout3.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30.xml"/><Relationship Id="rId1" Type="http://schemas.openxmlformats.org/officeDocument/2006/relationships/slideLayout" Target="../slideLayouts/slideLayout3.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1.xml"/><Relationship Id="rId1" Type="http://schemas.openxmlformats.org/officeDocument/2006/relationships/slideLayout" Target="../slideLayouts/slideLayout3.xml"/><Relationship Id="rId5" Type="http://schemas.openxmlformats.org/officeDocument/2006/relationships/image" Target="../media/image26.png"/><Relationship Id="rId4" Type="http://schemas.openxmlformats.org/officeDocument/2006/relationships/image" Target="../media/image25.png"/></Relationships>
</file>

<file path=ppt/slides/_rels/slide3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2.xml"/><Relationship Id="rId1" Type="http://schemas.openxmlformats.org/officeDocument/2006/relationships/slideLayout" Target="../slideLayouts/slideLayout3.xml"/><Relationship Id="rId5" Type="http://schemas.openxmlformats.org/officeDocument/2006/relationships/image" Target="../media/image29.png"/><Relationship Id="rId4" Type="http://schemas.openxmlformats.org/officeDocument/2006/relationships/image" Target="../media/image28.png"/></Relationships>
</file>

<file path=ppt/slides/_rels/slide35.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33.xml"/><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8EACC5C-4747-42C2-9BF5-D1B4A984743F}"/>
              </a:ext>
            </a:extLst>
          </p:cNvPr>
          <p:cNvSpPr>
            <a:spLocks noGrp="1"/>
          </p:cNvSpPr>
          <p:nvPr>
            <p:ph type="body" sz="quarter" idx="10"/>
          </p:nvPr>
        </p:nvSpPr>
        <p:spPr/>
        <p:txBody>
          <a:bodyPr/>
          <a:lstStyle/>
          <a:p>
            <a:r>
              <a:rPr lang="en-US"/>
              <a:t>Agile Scrum In </a:t>
            </a:r>
          </a:p>
          <a:p>
            <a:r>
              <a:rPr lang="en-US"/>
              <a:t>Software Development</a:t>
            </a:r>
          </a:p>
        </p:txBody>
      </p:sp>
      <p:sp>
        <p:nvSpPr>
          <p:cNvPr id="3" name="Text Placeholder 2">
            <a:extLst>
              <a:ext uri="{FF2B5EF4-FFF2-40B4-BE49-F238E27FC236}">
                <a16:creationId xmlns:a16="http://schemas.microsoft.com/office/drawing/2014/main" id="{230F2B9A-60B9-45E8-BBFF-DC81B2A1274F}"/>
              </a:ext>
            </a:extLst>
          </p:cNvPr>
          <p:cNvSpPr>
            <a:spLocks noGrp="1"/>
          </p:cNvSpPr>
          <p:nvPr>
            <p:ph type="body" sz="quarter" idx="11"/>
          </p:nvPr>
        </p:nvSpPr>
        <p:spPr/>
        <p:txBody>
          <a:bodyPr/>
          <a:lstStyle/>
          <a:p>
            <a:endParaRPr lang="en-US"/>
          </a:p>
        </p:txBody>
      </p:sp>
      <p:sp>
        <p:nvSpPr>
          <p:cNvPr id="4" name="Slide Number Placeholder 3">
            <a:extLst>
              <a:ext uri="{FF2B5EF4-FFF2-40B4-BE49-F238E27FC236}">
                <a16:creationId xmlns:a16="http://schemas.microsoft.com/office/drawing/2014/main" id="{26948CFE-703F-41E2-8287-36611713304E}"/>
              </a:ext>
            </a:extLst>
          </p:cNvPr>
          <p:cNvSpPr>
            <a:spLocks noGrp="1"/>
          </p:cNvSpPr>
          <p:nvPr>
            <p:ph type="sldNum" sz="quarter" idx="4"/>
          </p:nvPr>
        </p:nvSpPr>
        <p:spPr/>
        <p:txBody>
          <a:bodyPr/>
          <a:lstStyle/>
          <a:p>
            <a:fld id="{31D26D55-0A22-487A-A687-61FB58A6F16A}" type="slidenum">
              <a:rPr lang="en-US" smtClean="0"/>
              <a:pPr/>
              <a:t>1</a:t>
            </a:fld>
            <a:endParaRPr lang="en-US"/>
          </a:p>
        </p:txBody>
      </p:sp>
    </p:spTree>
    <p:extLst>
      <p:ext uri="{BB962C8B-B14F-4D97-AF65-F5344CB8AC3E}">
        <p14:creationId xmlns:p14="http://schemas.microsoft.com/office/powerpoint/2010/main" val="12538486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D46A02D5-95F1-4C35-90AE-9FD98E159AD4}"/>
              </a:ext>
            </a:extLst>
          </p:cNvPr>
          <p:cNvSpPr>
            <a:spLocks noGrp="1"/>
          </p:cNvSpPr>
          <p:nvPr>
            <p:ph type="sldNum" sz="quarter" idx="4"/>
          </p:nvPr>
        </p:nvSpPr>
        <p:spPr/>
        <p:txBody>
          <a:bodyPr/>
          <a:lstStyle/>
          <a:p>
            <a:fld id="{31D26D55-0A22-487A-A687-61FB58A6F16A}" type="slidenum">
              <a:rPr lang="en-US" smtClean="0"/>
              <a:pPr/>
              <a:t>2</a:t>
            </a:fld>
            <a:endParaRPr lang="en-US"/>
          </a:p>
        </p:txBody>
      </p:sp>
      <p:sp>
        <p:nvSpPr>
          <p:cNvPr id="4" name="Title 3">
            <a:extLst>
              <a:ext uri="{FF2B5EF4-FFF2-40B4-BE49-F238E27FC236}">
                <a16:creationId xmlns:a16="http://schemas.microsoft.com/office/drawing/2014/main" id="{F19DF3DC-5CB6-4642-B3E9-3E77F3035698}"/>
              </a:ext>
            </a:extLst>
          </p:cNvPr>
          <p:cNvSpPr>
            <a:spLocks noGrp="1"/>
          </p:cNvSpPr>
          <p:nvPr>
            <p:ph type="title"/>
          </p:nvPr>
        </p:nvSpPr>
        <p:spPr/>
        <p:txBody>
          <a:bodyPr/>
          <a:lstStyle/>
          <a:p>
            <a:r>
              <a:rPr lang="en-US"/>
              <a:t>Agile</a:t>
            </a:r>
          </a:p>
        </p:txBody>
      </p:sp>
      <p:pic>
        <p:nvPicPr>
          <p:cNvPr id="1026" name="Picture 2" descr="11,218 Agile Methodology Images, Stock Photos, 3D objects, &amp; Vectors |  Shutterstock">
            <a:extLst>
              <a:ext uri="{FF2B5EF4-FFF2-40B4-BE49-F238E27FC236}">
                <a16:creationId xmlns:a16="http://schemas.microsoft.com/office/drawing/2014/main" id="{EDE5B2E4-006F-4AFF-8C9F-4D4A3241036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9178"/>
          <a:stretch/>
        </p:blipFill>
        <p:spPr bwMode="auto">
          <a:xfrm>
            <a:off x="2367460" y="1175274"/>
            <a:ext cx="9895479" cy="64523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759473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6238C9B-E044-4775-BA07-19DEDF38F292}"/>
              </a:ext>
            </a:extLst>
          </p:cNvPr>
          <p:cNvSpPr>
            <a:spLocks noGrp="1"/>
          </p:cNvSpPr>
          <p:nvPr>
            <p:ph sz="half" idx="1"/>
          </p:nvPr>
        </p:nvSpPr>
        <p:spPr/>
        <p:txBody>
          <a:bodyPr/>
          <a:lstStyle/>
          <a:p>
            <a:pPr marL="0" indent="0">
              <a:buNone/>
            </a:pPr>
            <a:r>
              <a:rPr lang="en-US" b="1">
                <a:latin typeface="+mj-lt"/>
              </a:rPr>
              <a:t>Adaptability</a:t>
            </a:r>
          </a:p>
          <a:p>
            <a:r>
              <a:rPr lang="en-US">
                <a:latin typeface="+mj-lt"/>
              </a:rPr>
              <a:t>Prioritized on </a:t>
            </a:r>
            <a:r>
              <a:rPr lang="en-US" b="1">
                <a:latin typeface="+mj-lt"/>
              </a:rPr>
              <a:t>flexibility </a:t>
            </a:r>
            <a:r>
              <a:rPr lang="en-US">
                <a:latin typeface="+mj-lt"/>
              </a:rPr>
              <a:t>and </a:t>
            </a:r>
            <a:r>
              <a:rPr lang="en-US" b="1">
                <a:latin typeface="+mj-lt"/>
              </a:rPr>
              <a:t>adaptability</a:t>
            </a:r>
          </a:p>
          <a:p>
            <a:r>
              <a:rPr lang="en-US">
                <a:latin typeface="+mj-lt"/>
              </a:rPr>
              <a:t>Embraces </a:t>
            </a:r>
            <a:r>
              <a:rPr lang="en-US" b="1">
                <a:latin typeface="+mj-lt"/>
              </a:rPr>
              <a:t>changes</a:t>
            </a:r>
          </a:p>
          <a:p>
            <a:r>
              <a:rPr lang="en-US">
                <a:latin typeface="+mj-lt"/>
              </a:rPr>
              <a:t>Encourages teams to respond quickly to:</a:t>
            </a:r>
          </a:p>
          <a:p>
            <a:pPr lvl="1"/>
            <a:r>
              <a:rPr lang="en-US">
                <a:latin typeface="+mj-lt"/>
              </a:rPr>
              <a:t>Evolving </a:t>
            </a:r>
            <a:r>
              <a:rPr lang="en-US" b="1">
                <a:latin typeface="+mj-lt"/>
              </a:rPr>
              <a:t>requirements</a:t>
            </a:r>
          </a:p>
          <a:p>
            <a:pPr lvl="1"/>
            <a:r>
              <a:rPr lang="en-US" b="1">
                <a:latin typeface="+mj-lt"/>
              </a:rPr>
              <a:t>Market</a:t>
            </a:r>
            <a:r>
              <a:rPr lang="en-US">
                <a:latin typeface="+mj-lt"/>
              </a:rPr>
              <a:t> demands</a:t>
            </a:r>
          </a:p>
        </p:txBody>
      </p:sp>
      <p:sp>
        <p:nvSpPr>
          <p:cNvPr id="3" name="Content Placeholder 2">
            <a:extLst>
              <a:ext uri="{FF2B5EF4-FFF2-40B4-BE49-F238E27FC236}">
                <a16:creationId xmlns:a16="http://schemas.microsoft.com/office/drawing/2014/main" id="{1F251809-0D36-4288-A919-2D96E81C72EF}"/>
              </a:ext>
            </a:extLst>
          </p:cNvPr>
          <p:cNvSpPr>
            <a:spLocks noGrp="1"/>
          </p:cNvSpPr>
          <p:nvPr>
            <p:ph sz="half" idx="2"/>
          </p:nvPr>
        </p:nvSpPr>
        <p:spPr/>
        <p:txBody>
          <a:bodyPr/>
          <a:lstStyle/>
          <a:p>
            <a:pPr marL="0" indent="0">
              <a:buNone/>
            </a:pPr>
            <a:r>
              <a:rPr lang="en-US" b="1">
                <a:latin typeface="+mj-lt"/>
              </a:rPr>
              <a:t>Customer </a:t>
            </a:r>
            <a:r>
              <a:rPr lang="en-US" b="1" err="1">
                <a:latin typeface="+mj-lt"/>
              </a:rPr>
              <a:t>Forcus</a:t>
            </a:r>
            <a:endParaRPr lang="en-US" b="1">
              <a:latin typeface="+mj-lt"/>
            </a:endParaRPr>
          </a:p>
          <a:p>
            <a:r>
              <a:rPr lang="en-US">
                <a:latin typeface="+mj-lt"/>
              </a:rPr>
              <a:t>Ensures customer </a:t>
            </a:r>
            <a:r>
              <a:rPr lang="en-US" b="1">
                <a:latin typeface="+mj-lt"/>
              </a:rPr>
              <a:t>satisfaction</a:t>
            </a:r>
            <a:r>
              <a:rPr lang="en-US">
                <a:latin typeface="+mj-lt"/>
              </a:rPr>
              <a:t> </a:t>
            </a:r>
          </a:p>
          <a:p>
            <a:r>
              <a:rPr lang="en-US" b="1">
                <a:latin typeface="+mj-lt"/>
              </a:rPr>
              <a:t>Collaboration</a:t>
            </a:r>
            <a:r>
              <a:rPr lang="en-US">
                <a:latin typeface="+mj-lt"/>
              </a:rPr>
              <a:t> with stakeholders</a:t>
            </a:r>
          </a:p>
          <a:p>
            <a:r>
              <a:rPr lang="en-US">
                <a:latin typeface="+mj-lt"/>
              </a:rPr>
              <a:t>Uses </a:t>
            </a:r>
            <a:r>
              <a:rPr lang="en-US" b="1">
                <a:latin typeface="+mj-lt"/>
              </a:rPr>
              <a:t>feedback </a:t>
            </a:r>
            <a:r>
              <a:rPr lang="en-US">
                <a:latin typeface="+mj-lt"/>
              </a:rPr>
              <a:t>throughout development</a:t>
            </a:r>
          </a:p>
        </p:txBody>
      </p:sp>
      <p:sp>
        <p:nvSpPr>
          <p:cNvPr id="4" name="Slide Number Placeholder 3">
            <a:extLst>
              <a:ext uri="{FF2B5EF4-FFF2-40B4-BE49-F238E27FC236}">
                <a16:creationId xmlns:a16="http://schemas.microsoft.com/office/drawing/2014/main" id="{2C21FE30-2CF1-476D-9600-CD97AB64D18E}"/>
              </a:ext>
            </a:extLst>
          </p:cNvPr>
          <p:cNvSpPr>
            <a:spLocks noGrp="1"/>
          </p:cNvSpPr>
          <p:nvPr>
            <p:ph type="sldNum" sz="quarter" idx="4"/>
          </p:nvPr>
        </p:nvSpPr>
        <p:spPr/>
        <p:txBody>
          <a:bodyPr/>
          <a:lstStyle/>
          <a:p>
            <a:fld id="{31D26D55-0A22-487A-A687-61FB58A6F16A}" type="slidenum">
              <a:rPr lang="en-US" smtClean="0">
                <a:latin typeface="+mj-lt"/>
              </a:rPr>
              <a:pPr/>
              <a:t>3</a:t>
            </a:fld>
            <a:endParaRPr lang="en-US">
              <a:latin typeface="+mj-lt"/>
            </a:endParaRPr>
          </a:p>
        </p:txBody>
      </p:sp>
      <p:sp>
        <p:nvSpPr>
          <p:cNvPr id="5" name="Title 4">
            <a:extLst>
              <a:ext uri="{FF2B5EF4-FFF2-40B4-BE49-F238E27FC236}">
                <a16:creationId xmlns:a16="http://schemas.microsoft.com/office/drawing/2014/main" id="{5369D69A-8EA4-47E7-B019-4FBC025DC8CB}"/>
              </a:ext>
            </a:extLst>
          </p:cNvPr>
          <p:cNvSpPr>
            <a:spLocks noGrp="1"/>
          </p:cNvSpPr>
          <p:nvPr>
            <p:ph type="title"/>
          </p:nvPr>
        </p:nvSpPr>
        <p:spPr/>
        <p:txBody>
          <a:bodyPr/>
          <a:lstStyle/>
          <a:p>
            <a:r>
              <a:rPr lang="en-US"/>
              <a:t>Agile Principles</a:t>
            </a:r>
          </a:p>
        </p:txBody>
      </p:sp>
    </p:spTree>
    <p:extLst>
      <p:ext uri="{BB962C8B-B14F-4D97-AF65-F5344CB8AC3E}">
        <p14:creationId xmlns:p14="http://schemas.microsoft.com/office/powerpoint/2010/main" val="3767067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5157A9DF-E92C-44B1-9893-3E868978C512}"/>
              </a:ext>
            </a:extLst>
          </p:cNvPr>
          <p:cNvSpPr>
            <a:spLocks noGrp="1"/>
          </p:cNvSpPr>
          <p:nvPr>
            <p:ph type="sldNum" sz="quarter" idx="4"/>
          </p:nvPr>
        </p:nvSpPr>
        <p:spPr/>
        <p:txBody>
          <a:bodyPr/>
          <a:lstStyle/>
          <a:p>
            <a:fld id="{31D26D55-0A22-487A-A687-61FB58A6F16A}" type="slidenum">
              <a:rPr lang="en-US" smtClean="0"/>
              <a:pPr/>
              <a:t>4</a:t>
            </a:fld>
            <a:endParaRPr lang="en-US"/>
          </a:p>
        </p:txBody>
      </p:sp>
      <p:sp>
        <p:nvSpPr>
          <p:cNvPr id="4" name="Title 3">
            <a:extLst>
              <a:ext uri="{FF2B5EF4-FFF2-40B4-BE49-F238E27FC236}">
                <a16:creationId xmlns:a16="http://schemas.microsoft.com/office/drawing/2014/main" id="{594BBD77-9B4C-4839-B93A-1999262DBF81}"/>
              </a:ext>
            </a:extLst>
          </p:cNvPr>
          <p:cNvSpPr>
            <a:spLocks noGrp="1"/>
          </p:cNvSpPr>
          <p:nvPr>
            <p:ph type="title"/>
          </p:nvPr>
        </p:nvSpPr>
        <p:spPr/>
        <p:txBody>
          <a:bodyPr/>
          <a:lstStyle/>
          <a:p>
            <a:r>
              <a:rPr lang="en-US"/>
              <a:t>Agile Frameworks</a:t>
            </a:r>
          </a:p>
        </p:txBody>
      </p:sp>
      <p:pic>
        <p:nvPicPr>
          <p:cNvPr id="7" name="Picture 2" descr="Pie chart showing the state of Agile survey. Adopted from VersionOne... |  Download Scientific Diagram">
            <a:extLst>
              <a:ext uri="{FF2B5EF4-FFF2-40B4-BE49-F238E27FC236}">
                <a16:creationId xmlns:a16="http://schemas.microsoft.com/office/drawing/2014/main" id="{E741C9E6-1D6A-489E-8805-B785FB23C9B1}"/>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1497883" y="780288"/>
            <a:ext cx="11634633" cy="66690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821785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5">
            <a:extLst>
              <a:ext uri="{FF2B5EF4-FFF2-40B4-BE49-F238E27FC236}">
                <a16:creationId xmlns:a16="http://schemas.microsoft.com/office/drawing/2014/main" id="{1E8A3A76-FBE0-4DAA-A070-32BA7B57A3A2}"/>
              </a:ext>
            </a:extLst>
          </p:cNvPr>
          <p:cNvGraphicFramePr>
            <a:graphicFrameLocks noGrp="1"/>
          </p:cNvGraphicFramePr>
          <p:nvPr>
            <p:ph idx="1"/>
            <p:extLst>
              <p:ext uri="{D42A27DB-BD31-4B8C-83A1-F6EECF244321}">
                <p14:modId xmlns:p14="http://schemas.microsoft.com/office/powerpoint/2010/main" val="402273172"/>
              </p:ext>
            </p:extLst>
          </p:nvPr>
        </p:nvGraphicFramePr>
        <p:xfrm>
          <a:off x="747713" y="1452281"/>
          <a:ext cx="13165137" cy="6006350"/>
        </p:xfrm>
        <a:graphic>
          <a:graphicData uri="http://schemas.openxmlformats.org/drawingml/2006/table">
            <a:tbl>
              <a:tblPr firstRow="1" bandRow="1">
                <a:tableStyleId>{5C22544A-7EE6-4342-B048-85BDC9FD1C3A}</a:tableStyleId>
              </a:tblPr>
              <a:tblGrid>
                <a:gridCol w="3537416">
                  <a:extLst>
                    <a:ext uri="{9D8B030D-6E8A-4147-A177-3AD203B41FA5}">
                      <a16:colId xmlns:a16="http://schemas.microsoft.com/office/drawing/2014/main" val="394142526"/>
                    </a:ext>
                  </a:extLst>
                </a:gridCol>
                <a:gridCol w="5239342">
                  <a:extLst>
                    <a:ext uri="{9D8B030D-6E8A-4147-A177-3AD203B41FA5}">
                      <a16:colId xmlns:a16="http://schemas.microsoft.com/office/drawing/2014/main" val="148186565"/>
                    </a:ext>
                  </a:extLst>
                </a:gridCol>
                <a:gridCol w="4388379">
                  <a:extLst>
                    <a:ext uri="{9D8B030D-6E8A-4147-A177-3AD203B41FA5}">
                      <a16:colId xmlns:a16="http://schemas.microsoft.com/office/drawing/2014/main" val="2139125716"/>
                    </a:ext>
                  </a:extLst>
                </a:gridCol>
              </a:tblGrid>
              <a:tr h="513554">
                <a:tc>
                  <a:txBody>
                    <a:bodyPr/>
                    <a:lstStyle/>
                    <a:p>
                      <a:endParaRPr lang="en-US">
                        <a:latin typeface="+mj-lt"/>
                      </a:endParaRPr>
                    </a:p>
                  </a:txBody>
                  <a:tcPr anchor="ctr"/>
                </a:tc>
                <a:tc>
                  <a:txBody>
                    <a:bodyPr/>
                    <a:lstStyle/>
                    <a:p>
                      <a:pPr algn="ctr"/>
                      <a:r>
                        <a:rPr lang="en-US">
                          <a:latin typeface="+mj-lt"/>
                        </a:rPr>
                        <a:t>Agile</a:t>
                      </a:r>
                    </a:p>
                  </a:txBody>
                  <a:tcPr anchor="ctr"/>
                </a:tc>
                <a:tc>
                  <a:txBody>
                    <a:bodyPr/>
                    <a:lstStyle/>
                    <a:p>
                      <a:pPr algn="ctr"/>
                      <a:r>
                        <a:rPr lang="en-US">
                          <a:latin typeface="+mj-lt"/>
                        </a:rPr>
                        <a:t>Waterfall</a:t>
                      </a:r>
                    </a:p>
                  </a:txBody>
                  <a:tcPr anchor="ctr"/>
                </a:tc>
                <a:extLst>
                  <a:ext uri="{0D108BD9-81ED-4DB2-BD59-A6C34878D82A}">
                    <a16:rowId xmlns:a16="http://schemas.microsoft.com/office/drawing/2014/main" val="3140960895"/>
                  </a:ext>
                </a:extLst>
              </a:tr>
              <a:tr h="915466">
                <a:tc>
                  <a:txBody>
                    <a:bodyPr/>
                    <a:lstStyle/>
                    <a:p>
                      <a:r>
                        <a:rPr lang="en-US">
                          <a:latin typeface="+mj-lt"/>
                        </a:rPr>
                        <a:t>Flexibility</a:t>
                      </a:r>
                    </a:p>
                  </a:txBody>
                  <a:tcPr anchor="ctr"/>
                </a:tc>
                <a:tc>
                  <a:txBody>
                    <a:bodyPr/>
                    <a:lstStyle/>
                    <a:p>
                      <a:r>
                        <a:rPr lang="en-US">
                          <a:latin typeface="+mj-lt"/>
                        </a:rPr>
                        <a:t>High, easy to change and adapt</a:t>
                      </a:r>
                    </a:p>
                  </a:txBody>
                  <a:tcPr anchor="ctr"/>
                </a:tc>
                <a:tc>
                  <a:txBody>
                    <a:bodyPr/>
                    <a:lstStyle/>
                    <a:p>
                      <a:r>
                        <a:rPr lang="en-US">
                          <a:latin typeface="+mj-lt"/>
                        </a:rPr>
                        <a:t>Low, difficult to change after planning</a:t>
                      </a:r>
                    </a:p>
                  </a:txBody>
                  <a:tcPr anchor="ctr"/>
                </a:tc>
                <a:extLst>
                  <a:ext uri="{0D108BD9-81ED-4DB2-BD59-A6C34878D82A}">
                    <a16:rowId xmlns:a16="http://schemas.microsoft.com/office/drawing/2014/main" val="1135640086"/>
                  </a:ext>
                </a:extLst>
              </a:tr>
              <a:tr h="915466">
                <a:tc>
                  <a:txBody>
                    <a:bodyPr/>
                    <a:lstStyle/>
                    <a:p>
                      <a:r>
                        <a:rPr lang="en-US">
                          <a:latin typeface="+mj-lt"/>
                        </a:rPr>
                        <a:t>Requirements Management</a:t>
                      </a:r>
                    </a:p>
                  </a:txBody>
                  <a:tcPr anchor="ctr"/>
                </a:tc>
                <a:tc>
                  <a:txBody>
                    <a:bodyPr/>
                    <a:lstStyle/>
                    <a:p>
                      <a:r>
                        <a:rPr lang="en-US">
                          <a:latin typeface="+mj-lt"/>
                        </a:rPr>
                        <a:t>Continuously updated based on feedback</a:t>
                      </a:r>
                    </a:p>
                  </a:txBody>
                  <a:tcPr anchor="ctr"/>
                </a:tc>
                <a:tc>
                  <a:txBody>
                    <a:bodyPr/>
                    <a:lstStyle/>
                    <a:p>
                      <a:r>
                        <a:rPr lang="en-US">
                          <a:latin typeface="+mj-lt"/>
                        </a:rPr>
                        <a:t>Fully defined upfront</a:t>
                      </a:r>
                    </a:p>
                  </a:txBody>
                  <a:tcPr anchor="ctr"/>
                </a:tc>
                <a:extLst>
                  <a:ext uri="{0D108BD9-81ED-4DB2-BD59-A6C34878D82A}">
                    <a16:rowId xmlns:a16="http://schemas.microsoft.com/office/drawing/2014/main" val="2651997178"/>
                  </a:ext>
                </a:extLst>
              </a:tr>
              <a:tr h="915466">
                <a:tc>
                  <a:txBody>
                    <a:bodyPr/>
                    <a:lstStyle/>
                    <a:p>
                      <a:r>
                        <a:rPr lang="en-US">
                          <a:latin typeface="+mj-lt"/>
                        </a:rPr>
                        <a:t>Product Delivery</a:t>
                      </a:r>
                    </a:p>
                  </a:txBody>
                  <a:tcPr anchor="ctr"/>
                </a:tc>
                <a:tc>
                  <a:txBody>
                    <a:bodyPr/>
                    <a:lstStyle/>
                    <a:p>
                      <a:r>
                        <a:rPr lang="en-US">
                          <a:latin typeface="+mj-lt"/>
                        </a:rPr>
                        <a:t>Delivered in small, continuous increments</a:t>
                      </a:r>
                    </a:p>
                  </a:txBody>
                  <a:tcPr anchor="ctr"/>
                </a:tc>
                <a:tc>
                  <a:txBody>
                    <a:bodyPr/>
                    <a:lstStyle/>
                    <a:p>
                      <a:r>
                        <a:rPr lang="en-US">
                          <a:latin typeface="+mj-lt"/>
                        </a:rPr>
                        <a:t>Delivered once at the end of the project</a:t>
                      </a:r>
                    </a:p>
                  </a:txBody>
                  <a:tcPr anchor="ctr"/>
                </a:tc>
                <a:extLst>
                  <a:ext uri="{0D108BD9-81ED-4DB2-BD59-A6C34878D82A}">
                    <a16:rowId xmlns:a16="http://schemas.microsoft.com/office/drawing/2014/main" val="3866211764"/>
                  </a:ext>
                </a:extLst>
              </a:tr>
              <a:tr h="915466">
                <a:tc>
                  <a:txBody>
                    <a:bodyPr/>
                    <a:lstStyle/>
                    <a:p>
                      <a:r>
                        <a:rPr lang="en-US">
                          <a:latin typeface="+mj-lt"/>
                        </a:rPr>
                        <a:t>Customer Involvement</a:t>
                      </a:r>
                    </a:p>
                  </a:txBody>
                  <a:tcPr anchor="ctr"/>
                </a:tc>
                <a:tc>
                  <a:txBody>
                    <a:bodyPr/>
                    <a:lstStyle/>
                    <a:p>
                      <a:r>
                        <a:rPr lang="en-US">
                          <a:latin typeface="+mj-lt"/>
                        </a:rPr>
                        <a:t>Frequent involvement</a:t>
                      </a:r>
                    </a:p>
                  </a:txBody>
                  <a:tcPr anchor="ctr"/>
                </a:tc>
                <a:tc>
                  <a:txBody>
                    <a:bodyPr/>
                    <a:lstStyle/>
                    <a:p>
                      <a:r>
                        <a:rPr lang="en-US">
                          <a:latin typeface="+mj-lt"/>
                        </a:rPr>
                        <a:t>Mainly involved at the beginning and end</a:t>
                      </a:r>
                    </a:p>
                  </a:txBody>
                  <a:tcPr anchor="ctr"/>
                </a:tc>
                <a:extLst>
                  <a:ext uri="{0D108BD9-81ED-4DB2-BD59-A6C34878D82A}">
                    <a16:rowId xmlns:a16="http://schemas.microsoft.com/office/drawing/2014/main" val="203946719"/>
                  </a:ext>
                </a:extLst>
              </a:tr>
              <a:tr h="915466">
                <a:tc>
                  <a:txBody>
                    <a:bodyPr/>
                    <a:lstStyle/>
                    <a:p>
                      <a:r>
                        <a:rPr lang="en-US">
                          <a:latin typeface="+mj-lt"/>
                        </a:rPr>
                        <a:t>Documentation</a:t>
                      </a:r>
                    </a:p>
                  </a:txBody>
                  <a:tcPr anchor="ctr"/>
                </a:tc>
                <a:tc>
                  <a:txBody>
                    <a:bodyPr/>
                    <a:lstStyle/>
                    <a:p>
                      <a:r>
                        <a:rPr lang="fr-FR">
                          <a:latin typeface="+mj-lt"/>
                        </a:rPr>
                        <a:t>Focusses on </a:t>
                      </a:r>
                      <a:r>
                        <a:rPr lang="fr-FR" err="1">
                          <a:latin typeface="+mj-lt"/>
                        </a:rPr>
                        <a:t>outcomes</a:t>
                      </a:r>
                      <a:r>
                        <a:rPr lang="fr-FR">
                          <a:latin typeface="+mj-lt"/>
                        </a:rPr>
                        <a:t>, minimal documentation</a:t>
                      </a:r>
                      <a:endParaRPr lang="en-US">
                        <a:latin typeface="+mj-lt"/>
                      </a:endParaRPr>
                    </a:p>
                  </a:txBody>
                  <a:tcPr anchor="ctr"/>
                </a:tc>
                <a:tc>
                  <a:txBody>
                    <a:bodyPr/>
                    <a:lstStyle/>
                    <a:p>
                      <a:r>
                        <a:rPr lang="en-US">
                          <a:latin typeface="+mj-lt"/>
                        </a:rPr>
                        <a:t>Detailed documentation at every stage</a:t>
                      </a:r>
                    </a:p>
                  </a:txBody>
                  <a:tcPr anchor="ctr"/>
                </a:tc>
                <a:extLst>
                  <a:ext uri="{0D108BD9-81ED-4DB2-BD59-A6C34878D82A}">
                    <a16:rowId xmlns:a16="http://schemas.microsoft.com/office/drawing/2014/main" val="1268598385"/>
                  </a:ext>
                </a:extLst>
              </a:tr>
              <a:tr h="915466">
                <a:tc>
                  <a:txBody>
                    <a:bodyPr/>
                    <a:lstStyle/>
                    <a:p>
                      <a:r>
                        <a:rPr lang="en-US">
                          <a:latin typeface="+mj-lt"/>
                        </a:rPr>
                        <a:t>Time and Cost</a:t>
                      </a:r>
                    </a:p>
                  </a:txBody>
                  <a:tcPr anchor="ctr"/>
                </a:tc>
                <a:tc>
                  <a:txBody>
                    <a:bodyPr/>
                    <a:lstStyle/>
                    <a:p>
                      <a:r>
                        <a:rPr lang="en-US">
                          <a:latin typeface="+mj-lt"/>
                        </a:rPr>
                        <a:t>Relatively estimated, flexible to changes</a:t>
                      </a:r>
                    </a:p>
                  </a:txBody>
                  <a:tcPr anchor="ctr"/>
                </a:tc>
                <a:tc>
                  <a:txBody>
                    <a:bodyPr/>
                    <a:lstStyle/>
                    <a:p>
                      <a:r>
                        <a:rPr lang="en-US" dirty="0">
                          <a:latin typeface="+mj-lt"/>
                        </a:rPr>
                        <a:t>Fixed and less flexible</a:t>
                      </a:r>
                    </a:p>
                  </a:txBody>
                  <a:tcPr anchor="ctr"/>
                </a:tc>
                <a:extLst>
                  <a:ext uri="{0D108BD9-81ED-4DB2-BD59-A6C34878D82A}">
                    <a16:rowId xmlns:a16="http://schemas.microsoft.com/office/drawing/2014/main" val="4055847450"/>
                  </a:ext>
                </a:extLst>
              </a:tr>
            </a:tbl>
          </a:graphicData>
        </a:graphic>
      </p:graphicFrame>
      <p:sp>
        <p:nvSpPr>
          <p:cNvPr id="3" name="Slide Number Placeholder 2">
            <a:extLst>
              <a:ext uri="{FF2B5EF4-FFF2-40B4-BE49-F238E27FC236}">
                <a16:creationId xmlns:a16="http://schemas.microsoft.com/office/drawing/2014/main" id="{5C9FDF3E-66C0-46BF-9EBD-DE1E38D69C66}"/>
              </a:ext>
            </a:extLst>
          </p:cNvPr>
          <p:cNvSpPr>
            <a:spLocks noGrp="1"/>
          </p:cNvSpPr>
          <p:nvPr>
            <p:ph type="sldNum" sz="quarter" idx="4"/>
          </p:nvPr>
        </p:nvSpPr>
        <p:spPr/>
        <p:txBody>
          <a:bodyPr/>
          <a:lstStyle/>
          <a:p>
            <a:fld id="{31D26D55-0A22-487A-A687-61FB58A6F16A}" type="slidenum">
              <a:rPr lang="en-US" smtClean="0">
                <a:latin typeface="+mj-lt"/>
              </a:rPr>
              <a:pPr/>
              <a:t>5</a:t>
            </a:fld>
            <a:endParaRPr lang="en-US">
              <a:latin typeface="+mj-lt"/>
            </a:endParaRPr>
          </a:p>
        </p:txBody>
      </p:sp>
      <p:sp>
        <p:nvSpPr>
          <p:cNvPr id="4" name="Title 3">
            <a:extLst>
              <a:ext uri="{FF2B5EF4-FFF2-40B4-BE49-F238E27FC236}">
                <a16:creationId xmlns:a16="http://schemas.microsoft.com/office/drawing/2014/main" id="{5258EB98-6BA1-44A2-B2EE-4475A1EF5AAC}"/>
              </a:ext>
            </a:extLst>
          </p:cNvPr>
          <p:cNvSpPr>
            <a:spLocks noGrp="1"/>
          </p:cNvSpPr>
          <p:nvPr>
            <p:ph type="title"/>
          </p:nvPr>
        </p:nvSpPr>
        <p:spPr/>
        <p:txBody>
          <a:bodyPr/>
          <a:lstStyle/>
          <a:p>
            <a:r>
              <a:rPr lang="en-US"/>
              <a:t>When Agile?</a:t>
            </a:r>
          </a:p>
        </p:txBody>
      </p:sp>
    </p:spTree>
    <p:extLst>
      <p:ext uri="{BB962C8B-B14F-4D97-AF65-F5344CB8AC3E}">
        <p14:creationId xmlns:p14="http://schemas.microsoft.com/office/powerpoint/2010/main" val="16345803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40F07EAC-AC5F-4A7D-BA9B-D438884BF121}"/>
              </a:ext>
            </a:extLst>
          </p:cNvPr>
          <p:cNvSpPr>
            <a:spLocks noGrp="1"/>
          </p:cNvSpPr>
          <p:nvPr>
            <p:ph type="sldNum" sz="quarter" idx="4"/>
          </p:nvPr>
        </p:nvSpPr>
        <p:spPr/>
        <p:txBody>
          <a:bodyPr/>
          <a:lstStyle/>
          <a:p>
            <a:fld id="{31D26D55-0A22-487A-A687-61FB58A6F16A}" type="slidenum">
              <a:rPr lang="en-US" smtClean="0"/>
              <a:pPr/>
              <a:t>6</a:t>
            </a:fld>
            <a:endParaRPr lang="en-US"/>
          </a:p>
        </p:txBody>
      </p:sp>
      <p:sp>
        <p:nvSpPr>
          <p:cNvPr id="4" name="Title 3">
            <a:extLst>
              <a:ext uri="{FF2B5EF4-FFF2-40B4-BE49-F238E27FC236}">
                <a16:creationId xmlns:a16="http://schemas.microsoft.com/office/drawing/2014/main" id="{F1054B34-3EE6-4EAB-B6A9-44F77B0A7E13}"/>
              </a:ext>
            </a:extLst>
          </p:cNvPr>
          <p:cNvSpPr>
            <a:spLocks noGrp="1"/>
          </p:cNvSpPr>
          <p:nvPr>
            <p:ph type="title"/>
          </p:nvPr>
        </p:nvSpPr>
        <p:spPr/>
        <p:txBody>
          <a:bodyPr/>
          <a:lstStyle/>
          <a:p>
            <a:r>
              <a:rPr lang="en-US"/>
              <a:t>Scrum</a:t>
            </a:r>
          </a:p>
        </p:txBody>
      </p:sp>
      <p:pic>
        <p:nvPicPr>
          <p:cNvPr id="5" name="Picture 2" descr="Scrum framework là gì và những sai lầm thường gặp khi triển khai - ScrumPass">
            <a:extLst>
              <a:ext uri="{FF2B5EF4-FFF2-40B4-BE49-F238E27FC236}">
                <a16:creationId xmlns:a16="http://schemas.microsoft.com/office/drawing/2014/main" id="{7B615CF8-F724-4D0A-85D1-096A04FD5D1E}"/>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770475" y="757247"/>
            <a:ext cx="7089449" cy="70894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40403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84D71B2-8547-4777-A958-C6C626718DC5}"/>
              </a:ext>
            </a:extLst>
          </p:cNvPr>
          <p:cNvSpPr>
            <a:spLocks noGrp="1"/>
          </p:cNvSpPr>
          <p:nvPr>
            <p:ph type="sldNum" sz="quarter" idx="4"/>
          </p:nvPr>
        </p:nvSpPr>
        <p:spPr/>
        <p:txBody>
          <a:bodyPr/>
          <a:lstStyle/>
          <a:p>
            <a:fld id="{31D26D55-0A22-487A-A687-61FB58A6F16A}" type="slidenum">
              <a:rPr lang="en-US" smtClean="0"/>
              <a:pPr/>
              <a:t>7</a:t>
            </a:fld>
            <a:endParaRPr lang="en-US"/>
          </a:p>
        </p:txBody>
      </p:sp>
      <p:sp>
        <p:nvSpPr>
          <p:cNvPr id="4" name="Title 3">
            <a:extLst>
              <a:ext uri="{FF2B5EF4-FFF2-40B4-BE49-F238E27FC236}">
                <a16:creationId xmlns:a16="http://schemas.microsoft.com/office/drawing/2014/main" id="{E4C63BB7-891D-4FE8-B9A7-382B219E06BC}"/>
              </a:ext>
            </a:extLst>
          </p:cNvPr>
          <p:cNvSpPr>
            <a:spLocks noGrp="1"/>
          </p:cNvSpPr>
          <p:nvPr>
            <p:ph type="title"/>
          </p:nvPr>
        </p:nvSpPr>
        <p:spPr/>
        <p:txBody>
          <a:bodyPr/>
          <a:lstStyle/>
          <a:p>
            <a:r>
              <a:rPr lang="en-US"/>
              <a:t>History</a:t>
            </a:r>
          </a:p>
        </p:txBody>
      </p:sp>
      <p:pic>
        <p:nvPicPr>
          <p:cNvPr id="2050" name="Picture 2">
            <a:extLst>
              <a:ext uri="{FF2B5EF4-FFF2-40B4-BE49-F238E27FC236}">
                <a16:creationId xmlns:a16="http://schemas.microsoft.com/office/drawing/2014/main" id="{92A91633-E8FC-450B-95D7-E0000D3F6BE9}"/>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818846" y="866622"/>
            <a:ext cx="12992708" cy="64963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874895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A373693-1D7C-4259-9A5C-FE50BE25CAE9}"/>
              </a:ext>
            </a:extLst>
          </p:cNvPr>
          <p:cNvSpPr>
            <a:spLocks noGrp="1"/>
          </p:cNvSpPr>
          <p:nvPr>
            <p:ph type="sldNum" sz="quarter" idx="4"/>
          </p:nvPr>
        </p:nvSpPr>
        <p:spPr/>
        <p:txBody>
          <a:bodyPr/>
          <a:lstStyle/>
          <a:p>
            <a:fld id="{31D26D55-0A22-487A-A687-61FB58A6F16A}" type="slidenum">
              <a:rPr lang="en-US" smtClean="0"/>
              <a:pPr/>
              <a:t>8</a:t>
            </a:fld>
            <a:endParaRPr lang="en-US"/>
          </a:p>
        </p:txBody>
      </p:sp>
      <p:sp>
        <p:nvSpPr>
          <p:cNvPr id="4" name="Title 3">
            <a:extLst>
              <a:ext uri="{FF2B5EF4-FFF2-40B4-BE49-F238E27FC236}">
                <a16:creationId xmlns:a16="http://schemas.microsoft.com/office/drawing/2014/main" id="{646C6F03-19AF-42EC-A4E6-9AC8BF108654}"/>
              </a:ext>
            </a:extLst>
          </p:cNvPr>
          <p:cNvSpPr>
            <a:spLocks noGrp="1"/>
          </p:cNvSpPr>
          <p:nvPr>
            <p:ph type="title"/>
          </p:nvPr>
        </p:nvSpPr>
        <p:spPr/>
        <p:txBody>
          <a:bodyPr/>
          <a:lstStyle/>
          <a:p>
            <a:r>
              <a:rPr lang="en-US"/>
              <a:t>Pillars</a:t>
            </a:r>
          </a:p>
        </p:txBody>
      </p:sp>
      <p:pic>
        <p:nvPicPr>
          <p:cNvPr id="3074" name="Picture 2" descr="Scrum Framework Fundamentals: Pillars and Values-EN - Netmind">
            <a:extLst>
              <a:ext uri="{FF2B5EF4-FFF2-40B4-BE49-F238E27FC236}">
                <a16:creationId xmlns:a16="http://schemas.microsoft.com/office/drawing/2014/main" id="{5471FC90-4E45-48BB-B334-B468FFCB62CF}"/>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2257777" y="1052971"/>
            <a:ext cx="10114845" cy="65746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669362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448AC1E-617D-4D8F-86C0-8C950132F547}"/>
              </a:ext>
            </a:extLst>
          </p:cNvPr>
          <p:cNvSpPr>
            <a:spLocks noGrp="1"/>
          </p:cNvSpPr>
          <p:nvPr>
            <p:ph type="sldNum" sz="quarter" idx="4"/>
          </p:nvPr>
        </p:nvSpPr>
        <p:spPr/>
        <p:txBody>
          <a:bodyPr/>
          <a:lstStyle/>
          <a:p>
            <a:fld id="{31D26D55-0A22-487A-A687-61FB58A6F16A}" type="slidenum">
              <a:rPr lang="en-US" smtClean="0"/>
              <a:pPr/>
              <a:t>9</a:t>
            </a:fld>
            <a:endParaRPr lang="en-US"/>
          </a:p>
        </p:txBody>
      </p:sp>
      <p:sp>
        <p:nvSpPr>
          <p:cNvPr id="5" name="Title 4">
            <a:extLst>
              <a:ext uri="{FF2B5EF4-FFF2-40B4-BE49-F238E27FC236}">
                <a16:creationId xmlns:a16="http://schemas.microsoft.com/office/drawing/2014/main" id="{39DFB66E-9116-4306-BC83-B7C07DEF1656}"/>
              </a:ext>
            </a:extLst>
          </p:cNvPr>
          <p:cNvSpPr>
            <a:spLocks noGrp="1"/>
          </p:cNvSpPr>
          <p:nvPr>
            <p:ph type="title"/>
          </p:nvPr>
        </p:nvSpPr>
        <p:spPr/>
        <p:txBody>
          <a:bodyPr/>
          <a:lstStyle/>
          <a:p>
            <a:r>
              <a:rPr lang="en-US"/>
              <a:t>Scrum Framework</a:t>
            </a:r>
          </a:p>
        </p:txBody>
      </p:sp>
      <p:pic>
        <p:nvPicPr>
          <p:cNvPr id="2050" name="Picture 2" descr="What is Scrum Methodology? | IPM">
            <a:extLst>
              <a:ext uri="{FF2B5EF4-FFF2-40B4-BE49-F238E27FC236}">
                <a16:creationId xmlns:a16="http://schemas.microsoft.com/office/drawing/2014/main" id="{A0174F89-3B1D-43B5-BF18-BC6E611E08BA}"/>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1985962" y="1135804"/>
            <a:ext cx="10658476" cy="67108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941706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246A8C0-2275-4DE0-8977-B9BE20EAF770}"/>
              </a:ext>
            </a:extLst>
          </p:cNvPr>
          <p:cNvSpPr>
            <a:spLocks noGrp="1"/>
          </p:cNvSpPr>
          <p:nvPr>
            <p:ph sz="half" idx="1"/>
          </p:nvPr>
        </p:nvSpPr>
        <p:spPr>
          <a:xfrm>
            <a:off x="7315200" y="2300614"/>
            <a:ext cx="6568200" cy="4739622"/>
          </a:xfrm>
        </p:spPr>
        <p:txBody>
          <a:bodyPr>
            <a:normAutofit/>
          </a:bodyPr>
          <a:lstStyle/>
          <a:p>
            <a:pPr>
              <a:lnSpc>
                <a:spcPct val="200000"/>
              </a:lnSpc>
            </a:pPr>
            <a:r>
              <a:rPr lang="en-US" sz="3100" b="1"/>
              <a:t>Product Owner (PO)</a:t>
            </a:r>
            <a:r>
              <a:rPr lang="en-US" sz="3100"/>
              <a:t>: what to do?</a:t>
            </a:r>
          </a:p>
          <a:p>
            <a:pPr>
              <a:lnSpc>
                <a:spcPct val="200000"/>
              </a:lnSpc>
            </a:pPr>
            <a:r>
              <a:rPr lang="en-US" sz="3100" b="1"/>
              <a:t>Scrum Master</a:t>
            </a:r>
            <a:r>
              <a:rPr lang="en-US" sz="3100"/>
              <a:t>: how to do it?</a:t>
            </a:r>
          </a:p>
          <a:p>
            <a:pPr>
              <a:lnSpc>
                <a:spcPct val="200000"/>
              </a:lnSpc>
            </a:pPr>
            <a:r>
              <a:rPr lang="en-US" sz="3100" b="1"/>
              <a:t>Development Team</a:t>
            </a:r>
            <a:r>
              <a:rPr lang="en-US" sz="3100"/>
              <a:t>: getting the work done.</a:t>
            </a:r>
          </a:p>
        </p:txBody>
      </p:sp>
      <p:pic>
        <p:nvPicPr>
          <p:cNvPr id="8" name="Content Placeholder 7">
            <a:extLst>
              <a:ext uri="{FF2B5EF4-FFF2-40B4-BE49-F238E27FC236}">
                <a16:creationId xmlns:a16="http://schemas.microsoft.com/office/drawing/2014/main" id="{22B36F57-4C17-47EB-823E-54661CF309FE}"/>
              </a:ext>
            </a:extLst>
          </p:cNvPr>
          <p:cNvPicPr>
            <a:picLocks noGrp="1" noChangeAspect="1"/>
          </p:cNvPicPr>
          <p:nvPr>
            <p:ph sz="half" idx="2"/>
          </p:nvPr>
        </p:nvPicPr>
        <p:blipFill>
          <a:blip r:embed="rId3"/>
          <a:stretch>
            <a:fillRect/>
          </a:stretch>
        </p:blipFill>
        <p:spPr>
          <a:xfrm>
            <a:off x="629085" y="2300614"/>
            <a:ext cx="6567488" cy="4739622"/>
          </a:xfrm>
        </p:spPr>
      </p:pic>
      <p:sp>
        <p:nvSpPr>
          <p:cNvPr id="4" name="Slide Number Placeholder 3">
            <a:extLst>
              <a:ext uri="{FF2B5EF4-FFF2-40B4-BE49-F238E27FC236}">
                <a16:creationId xmlns:a16="http://schemas.microsoft.com/office/drawing/2014/main" id="{87F81CE2-C1C3-40F3-871A-4C76292DA42D}"/>
              </a:ext>
            </a:extLst>
          </p:cNvPr>
          <p:cNvSpPr>
            <a:spLocks noGrp="1"/>
          </p:cNvSpPr>
          <p:nvPr>
            <p:ph type="sldNum" sz="quarter" idx="4"/>
          </p:nvPr>
        </p:nvSpPr>
        <p:spPr/>
        <p:txBody>
          <a:bodyPr/>
          <a:lstStyle/>
          <a:p>
            <a:fld id="{31D26D55-0A22-487A-A687-61FB58A6F16A}" type="slidenum">
              <a:rPr lang="en-US" smtClean="0"/>
              <a:pPr/>
              <a:t>10</a:t>
            </a:fld>
            <a:endParaRPr lang="en-US"/>
          </a:p>
        </p:txBody>
      </p:sp>
      <p:sp>
        <p:nvSpPr>
          <p:cNvPr id="5" name="Title 4">
            <a:extLst>
              <a:ext uri="{FF2B5EF4-FFF2-40B4-BE49-F238E27FC236}">
                <a16:creationId xmlns:a16="http://schemas.microsoft.com/office/drawing/2014/main" id="{0E787FEB-1604-432E-B825-4CF79EDA2057}"/>
              </a:ext>
            </a:extLst>
          </p:cNvPr>
          <p:cNvSpPr>
            <a:spLocks noGrp="1"/>
          </p:cNvSpPr>
          <p:nvPr>
            <p:ph type="title"/>
          </p:nvPr>
        </p:nvSpPr>
        <p:spPr/>
        <p:txBody>
          <a:bodyPr/>
          <a:lstStyle/>
          <a:p>
            <a:r>
              <a:rPr lang="en-US"/>
              <a:t>Scrum Roles</a:t>
            </a:r>
          </a:p>
        </p:txBody>
      </p:sp>
    </p:spTree>
    <p:extLst>
      <p:ext uri="{BB962C8B-B14F-4D97-AF65-F5344CB8AC3E}">
        <p14:creationId xmlns:p14="http://schemas.microsoft.com/office/powerpoint/2010/main" val="13154155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457D183-8FFA-4AA5-A1F5-63A3A3F77AAF}"/>
              </a:ext>
            </a:extLst>
          </p:cNvPr>
          <p:cNvSpPr>
            <a:spLocks noGrp="1"/>
          </p:cNvSpPr>
          <p:nvPr>
            <p:ph sz="half" idx="2"/>
          </p:nvPr>
        </p:nvSpPr>
        <p:spPr>
          <a:xfrm>
            <a:off x="5952566" y="1928230"/>
            <a:ext cx="7942764" cy="5484126"/>
          </a:xfrm>
        </p:spPr>
        <p:txBody>
          <a:bodyPr/>
          <a:lstStyle/>
          <a:p>
            <a:r>
              <a:rPr lang="en-US"/>
              <a:t>The person responsible for the </a:t>
            </a:r>
            <a:r>
              <a:rPr lang="en-US" b="1"/>
              <a:t>Product Backlog</a:t>
            </a:r>
            <a:r>
              <a:rPr lang="en-US"/>
              <a:t>, ensuring it is clearly prioritized and accurately reflects the needs of customers and stakeholders.</a:t>
            </a:r>
          </a:p>
          <a:p>
            <a:r>
              <a:rPr lang="en-US"/>
              <a:t>Acts as the </a:t>
            </a:r>
            <a:r>
              <a:rPr lang="en-US" b="1"/>
              <a:t>voice of the customer,</a:t>
            </a:r>
            <a:r>
              <a:rPr lang="en-US"/>
              <a:t> deciding what the team will work on during the Sprint.</a:t>
            </a:r>
          </a:p>
          <a:p>
            <a:r>
              <a:rPr lang="en-US" b="1"/>
              <a:t>Provides feedback </a:t>
            </a:r>
            <a:r>
              <a:rPr lang="en-US"/>
              <a:t>and requirements from stakeholders to optimize the product's value.</a:t>
            </a:r>
          </a:p>
        </p:txBody>
      </p:sp>
      <p:sp>
        <p:nvSpPr>
          <p:cNvPr id="4" name="Slide Number Placeholder 3">
            <a:extLst>
              <a:ext uri="{FF2B5EF4-FFF2-40B4-BE49-F238E27FC236}">
                <a16:creationId xmlns:a16="http://schemas.microsoft.com/office/drawing/2014/main" id="{606F90B4-4333-4600-9892-60C699870F6D}"/>
              </a:ext>
            </a:extLst>
          </p:cNvPr>
          <p:cNvSpPr>
            <a:spLocks noGrp="1"/>
          </p:cNvSpPr>
          <p:nvPr>
            <p:ph type="sldNum" sz="quarter" idx="4"/>
          </p:nvPr>
        </p:nvSpPr>
        <p:spPr/>
        <p:txBody>
          <a:bodyPr/>
          <a:lstStyle/>
          <a:p>
            <a:fld id="{31D26D55-0A22-487A-A687-61FB58A6F16A}" type="slidenum">
              <a:rPr lang="en-US" smtClean="0"/>
              <a:pPr/>
              <a:t>11</a:t>
            </a:fld>
            <a:endParaRPr lang="en-US"/>
          </a:p>
        </p:txBody>
      </p:sp>
      <p:sp>
        <p:nvSpPr>
          <p:cNvPr id="5" name="Title 4">
            <a:extLst>
              <a:ext uri="{FF2B5EF4-FFF2-40B4-BE49-F238E27FC236}">
                <a16:creationId xmlns:a16="http://schemas.microsoft.com/office/drawing/2014/main" id="{60B5D78D-E67C-49DB-B6B6-F16E9270EFD0}"/>
              </a:ext>
            </a:extLst>
          </p:cNvPr>
          <p:cNvSpPr>
            <a:spLocks noGrp="1"/>
          </p:cNvSpPr>
          <p:nvPr>
            <p:ph type="title"/>
          </p:nvPr>
        </p:nvSpPr>
        <p:spPr/>
        <p:txBody>
          <a:bodyPr/>
          <a:lstStyle/>
          <a:p>
            <a:r>
              <a:rPr lang="en-US"/>
              <a:t>Product Owner’s role</a:t>
            </a:r>
          </a:p>
        </p:txBody>
      </p:sp>
      <p:pic>
        <p:nvPicPr>
          <p:cNvPr id="6" name="Content Placeholder 5">
            <a:extLst>
              <a:ext uri="{FF2B5EF4-FFF2-40B4-BE49-F238E27FC236}">
                <a16:creationId xmlns:a16="http://schemas.microsoft.com/office/drawing/2014/main" id="{0549A2CD-D877-4837-BA7C-80891ECC993C}"/>
              </a:ext>
            </a:extLst>
          </p:cNvPr>
          <p:cNvPicPr>
            <a:picLocks noGrp="1" noChangeAspect="1"/>
          </p:cNvPicPr>
          <p:nvPr>
            <p:ph sz="half" idx="1"/>
          </p:nvPr>
        </p:nvPicPr>
        <p:blipFill>
          <a:blip r:embed="rId3"/>
          <a:stretch>
            <a:fillRect/>
          </a:stretch>
        </p:blipFill>
        <p:spPr>
          <a:xfrm>
            <a:off x="629085" y="1810777"/>
            <a:ext cx="4800048" cy="4608046"/>
          </a:xfrm>
          <a:prstGeom prst="rect">
            <a:avLst/>
          </a:prstGeom>
        </p:spPr>
      </p:pic>
    </p:spTree>
    <p:extLst>
      <p:ext uri="{BB962C8B-B14F-4D97-AF65-F5344CB8AC3E}">
        <p14:creationId xmlns:p14="http://schemas.microsoft.com/office/powerpoint/2010/main" val="18771058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457D183-8FFA-4AA5-A1F5-63A3A3F77AAF}"/>
              </a:ext>
            </a:extLst>
          </p:cNvPr>
          <p:cNvSpPr>
            <a:spLocks noGrp="1"/>
          </p:cNvSpPr>
          <p:nvPr>
            <p:ph sz="half" idx="2"/>
          </p:nvPr>
        </p:nvSpPr>
        <p:spPr>
          <a:xfrm>
            <a:off x="5952566" y="1928230"/>
            <a:ext cx="7942764" cy="5484126"/>
          </a:xfrm>
        </p:spPr>
        <p:txBody>
          <a:bodyPr/>
          <a:lstStyle/>
          <a:p>
            <a:pPr>
              <a:lnSpc>
                <a:spcPct val="200000"/>
              </a:lnSpc>
            </a:pPr>
            <a:r>
              <a:rPr lang="en-US"/>
              <a:t>Define the product vision.</a:t>
            </a:r>
          </a:p>
          <a:p>
            <a:pPr>
              <a:lnSpc>
                <a:spcPct val="200000"/>
              </a:lnSpc>
            </a:pPr>
            <a:r>
              <a:rPr lang="en-US"/>
              <a:t>Manage and prioritize backlog items.</a:t>
            </a:r>
          </a:p>
          <a:p>
            <a:pPr>
              <a:lnSpc>
                <a:spcPct val="200000"/>
              </a:lnSpc>
            </a:pPr>
            <a:r>
              <a:rPr lang="en-US"/>
              <a:t>Make quick decisions to ensure project progress.</a:t>
            </a:r>
          </a:p>
        </p:txBody>
      </p:sp>
      <p:sp>
        <p:nvSpPr>
          <p:cNvPr id="4" name="Slide Number Placeholder 3">
            <a:extLst>
              <a:ext uri="{FF2B5EF4-FFF2-40B4-BE49-F238E27FC236}">
                <a16:creationId xmlns:a16="http://schemas.microsoft.com/office/drawing/2014/main" id="{606F90B4-4333-4600-9892-60C699870F6D}"/>
              </a:ext>
            </a:extLst>
          </p:cNvPr>
          <p:cNvSpPr>
            <a:spLocks noGrp="1"/>
          </p:cNvSpPr>
          <p:nvPr>
            <p:ph type="sldNum" sz="quarter" idx="4"/>
          </p:nvPr>
        </p:nvSpPr>
        <p:spPr/>
        <p:txBody>
          <a:bodyPr/>
          <a:lstStyle/>
          <a:p>
            <a:fld id="{31D26D55-0A22-487A-A687-61FB58A6F16A}" type="slidenum">
              <a:rPr lang="en-US" smtClean="0"/>
              <a:pPr/>
              <a:t>12</a:t>
            </a:fld>
            <a:endParaRPr lang="en-US"/>
          </a:p>
        </p:txBody>
      </p:sp>
      <p:sp>
        <p:nvSpPr>
          <p:cNvPr id="5" name="Title 4">
            <a:extLst>
              <a:ext uri="{FF2B5EF4-FFF2-40B4-BE49-F238E27FC236}">
                <a16:creationId xmlns:a16="http://schemas.microsoft.com/office/drawing/2014/main" id="{60B5D78D-E67C-49DB-B6B6-F16E9270EFD0}"/>
              </a:ext>
            </a:extLst>
          </p:cNvPr>
          <p:cNvSpPr>
            <a:spLocks noGrp="1"/>
          </p:cNvSpPr>
          <p:nvPr>
            <p:ph type="title"/>
          </p:nvPr>
        </p:nvSpPr>
        <p:spPr/>
        <p:txBody>
          <a:bodyPr/>
          <a:lstStyle/>
          <a:p>
            <a:r>
              <a:rPr lang="en-US"/>
              <a:t>Product Owner’s responsibilities</a:t>
            </a:r>
          </a:p>
        </p:txBody>
      </p:sp>
      <p:pic>
        <p:nvPicPr>
          <p:cNvPr id="6" name="Content Placeholder 5">
            <a:extLst>
              <a:ext uri="{FF2B5EF4-FFF2-40B4-BE49-F238E27FC236}">
                <a16:creationId xmlns:a16="http://schemas.microsoft.com/office/drawing/2014/main" id="{0549A2CD-D877-4837-BA7C-80891ECC993C}"/>
              </a:ext>
            </a:extLst>
          </p:cNvPr>
          <p:cNvPicPr>
            <a:picLocks noGrp="1" noChangeAspect="1"/>
          </p:cNvPicPr>
          <p:nvPr>
            <p:ph sz="half" idx="1"/>
          </p:nvPr>
        </p:nvPicPr>
        <p:blipFill>
          <a:blip r:embed="rId3"/>
          <a:stretch>
            <a:fillRect/>
          </a:stretch>
        </p:blipFill>
        <p:spPr>
          <a:xfrm>
            <a:off x="629085" y="1810777"/>
            <a:ext cx="4800048" cy="4608046"/>
          </a:xfrm>
          <a:prstGeom prst="rect">
            <a:avLst/>
          </a:prstGeom>
        </p:spPr>
      </p:pic>
    </p:spTree>
    <p:extLst>
      <p:ext uri="{BB962C8B-B14F-4D97-AF65-F5344CB8AC3E}">
        <p14:creationId xmlns:p14="http://schemas.microsoft.com/office/powerpoint/2010/main" val="8880223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457D183-8FFA-4AA5-A1F5-63A3A3F77AAF}"/>
              </a:ext>
            </a:extLst>
          </p:cNvPr>
          <p:cNvSpPr>
            <a:spLocks noGrp="1"/>
          </p:cNvSpPr>
          <p:nvPr>
            <p:ph sz="half" idx="2"/>
          </p:nvPr>
        </p:nvSpPr>
        <p:spPr>
          <a:xfrm>
            <a:off x="5952566" y="1928230"/>
            <a:ext cx="7942764" cy="5484126"/>
          </a:xfrm>
        </p:spPr>
        <p:txBody>
          <a:bodyPr/>
          <a:lstStyle/>
          <a:p>
            <a:pPr>
              <a:lnSpc>
                <a:spcPct val="200000"/>
              </a:lnSpc>
            </a:pPr>
            <a:r>
              <a:rPr lang="en-US"/>
              <a:t>Strong communication skills.</a:t>
            </a:r>
          </a:p>
          <a:p>
            <a:pPr>
              <a:lnSpc>
                <a:spcPct val="200000"/>
              </a:lnSpc>
            </a:pPr>
            <a:r>
              <a:rPr lang="en-US"/>
              <a:t>Deep understanding of customers and the market.</a:t>
            </a:r>
          </a:p>
        </p:txBody>
      </p:sp>
      <p:sp>
        <p:nvSpPr>
          <p:cNvPr id="4" name="Slide Number Placeholder 3">
            <a:extLst>
              <a:ext uri="{FF2B5EF4-FFF2-40B4-BE49-F238E27FC236}">
                <a16:creationId xmlns:a16="http://schemas.microsoft.com/office/drawing/2014/main" id="{606F90B4-4333-4600-9892-60C699870F6D}"/>
              </a:ext>
            </a:extLst>
          </p:cNvPr>
          <p:cNvSpPr>
            <a:spLocks noGrp="1"/>
          </p:cNvSpPr>
          <p:nvPr>
            <p:ph type="sldNum" sz="quarter" idx="4"/>
          </p:nvPr>
        </p:nvSpPr>
        <p:spPr/>
        <p:txBody>
          <a:bodyPr/>
          <a:lstStyle/>
          <a:p>
            <a:fld id="{31D26D55-0A22-487A-A687-61FB58A6F16A}" type="slidenum">
              <a:rPr lang="en-US" smtClean="0"/>
              <a:pPr/>
              <a:t>13</a:t>
            </a:fld>
            <a:endParaRPr lang="en-US"/>
          </a:p>
        </p:txBody>
      </p:sp>
      <p:sp>
        <p:nvSpPr>
          <p:cNvPr id="5" name="Title 4">
            <a:extLst>
              <a:ext uri="{FF2B5EF4-FFF2-40B4-BE49-F238E27FC236}">
                <a16:creationId xmlns:a16="http://schemas.microsoft.com/office/drawing/2014/main" id="{60B5D78D-E67C-49DB-B6B6-F16E9270EFD0}"/>
              </a:ext>
            </a:extLst>
          </p:cNvPr>
          <p:cNvSpPr>
            <a:spLocks noGrp="1"/>
          </p:cNvSpPr>
          <p:nvPr>
            <p:ph type="title"/>
          </p:nvPr>
        </p:nvSpPr>
        <p:spPr/>
        <p:txBody>
          <a:bodyPr/>
          <a:lstStyle/>
          <a:p>
            <a:r>
              <a:rPr lang="en-US"/>
              <a:t>Product Owner’s skills</a:t>
            </a:r>
          </a:p>
        </p:txBody>
      </p:sp>
      <p:pic>
        <p:nvPicPr>
          <p:cNvPr id="6" name="Content Placeholder 5">
            <a:extLst>
              <a:ext uri="{FF2B5EF4-FFF2-40B4-BE49-F238E27FC236}">
                <a16:creationId xmlns:a16="http://schemas.microsoft.com/office/drawing/2014/main" id="{0549A2CD-D877-4837-BA7C-80891ECC993C}"/>
              </a:ext>
            </a:extLst>
          </p:cNvPr>
          <p:cNvPicPr>
            <a:picLocks noGrp="1" noChangeAspect="1"/>
          </p:cNvPicPr>
          <p:nvPr>
            <p:ph sz="half" idx="1"/>
          </p:nvPr>
        </p:nvPicPr>
        <p:blipFill>
          <a:blip r:embed="rId3"/>
          <a:stretch>
            <a:fillRect/>
          </a:stretch>
        </p:blipFill>
        <p:spPr>
          <a:xfrm>
            <a:off x="629085" y="1810777"/>
            <a:ext cx="4800048" cy="4608046"/>
          </a:xfrm>
          <a:prstGeom prst="rect">
            <a:avLst/>
          </a:prstGeom>
        </p:spPr>
      </p:pic>
    </p:spTree>
    <p:extLst>
      <p:ext uri="{BB962C8B-B14F-4D97-AF65-F5344CB8AC3E}">
        <p14:creationId xmlns:p14="http://schemas.microsoft.com/office/powerpoint/2010/main" val="25068657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457D183-8FFA-4AA5-A1F5-63A3A3F77AAF}"/>
              </a:ext>
            </a:extLst>
          </p:cNvPr>
          <p:cNvSpPr>
            <a:spLocks noGrp="1"/>
          </p:cNvSpPr>
          <p:nvPr>
            <p:ph sz="half" idx="2"/>
          </p:nvPr>
        </p:nvSpPr>
        <p:spPr>
          <a:xfrm>
            <a:off x="5952566" y="1928230"/>
            <a:ext cx="7942764" cy="5484126"/>
          </a:xfrm>
        </p:spPr>
        <p:txBody>
          <a:bodyPr>
            <a:normAutofit fontScale="77500" lnSpcReduction="20000"/>
          </a:bodyPr>
          <a:lstStyle/>
          <a:p>
            <a:pPr algn="just">
              <a:lnSpc>
                <a:spcPct val="200000"/>
              </a:lnSpc>
            </a:pPr>
            <a:r>
              <a:rPr lang="en-US"/>
              <a:t>A </a:t>
            </a:r>
            <a:r>
              <a:rPr lang="en-US" b="1"/>
              <a:t>facilitator</a:t>
            </a:r>
            <a:r>
              <a:rPr lang="en-US"/>
              <a:t> and </a:t>
            </a:r>
            <a:r>
              <a:rPr lang="en-US" b="1"/>
              <a:t>coordinator</a:t>
            </a:r>
            <a:r>
              <a:rPr lang="en-US"/>
              <a:t> for the Scrum team, ensuring the team adheres to Scrum principles and values.</a:t>
            </a:r>
          </a:p>
          <a:p>
            <a:pPr algn="just">
              <a:lnSpc>
                <a:spcPct val="200000"/>
              </a:lnSpc>
            </a:pPr>
            <a:r>
              <a:rPr lang="en-US" b="1"/>
              <a:t>Removes obstacles</a:t>
            </a:r>
            <a:r>
              <a:rPr lang="en-US"/>
              <a:t> that hinder the team's progress.</a:t>
            </a:r>
          </a:p>
          <a:p>
            <a:pPr algn="just">
              <a:lnSpc>
                <a:spcPct val="200000"/>
              </a:lnSpc>
            </a:pPr>
            <a:r>
              <a:rPr lang="en-US" b="1"/>
              <a:t>Trains</a:t>
            </a:r>
            <a:r>
              <a:rPr lang="en-US"/>
              <a:t> and </a:t>
            </a:r>
            <a:r>
              <a:rPr lang="en-US" b="1"/>
              <a:t>guides</a:t>
            </a:r>
            <a:r>
              <a:rPr lang="en-US"/>
              <a:t> the team on Agile/Scrum practices.</a:t>
            </a:r>
          </a:p>
        </p:txBody>
      </p:sp>
      <p:sp>
        <p:nvSpPr>
          <p:cNvPr id="4" name="Slide Number Placeholder 3">
            <a:extLst>
              <a:ext uri="{FF2B5EF4-FFF2-40B4-BE49-F238E27FC236}">
                <a16:creationId xmlns:a16="http://schemas.microsoft.com/office/drawing/2014/main" id="{606F90B4-4333-4600-9892-60C699870F6D}"/>
              </a:ext>
            </a:extLst>
          </p:cNvPr>
          <p:cNvSpPr>
            <a:spLocks noGrp="1"/>
          </p:cNvSpPr>
          <p:nvPr>
            <p:ph type="sldNum" sz="quarter" idx="4"/>
          </p:nvPr>
        </p:nvSpPr>
        <p:spPr/>
        <p:txBody>
          <a:bodyPr/>
          <a:lstStyle/>
          <a:p>
            <a:fld id="{31D26D55-0A22-487A-A687-61FB58A6F16A}" type="slidenum">
              <a:rPr lang="en-US" smtClean="0"/>
              <a:pPr/>
              <a:t>14</a:t>
            </a:fld>
            <a:endParaRPr lang="en-US"/>
          </a:p>
        </p:txBody>
      </p:sp>
      <p:sp>
        <p:nvSpPr>
          <p:cNvPr id="5" name="Title 4">
            <a:extLst>
              <a:ext uri="{FF2B5EF4-FFF2-40B4-BE49-F238E27FC236}">
                <a16:creationId xmlns:a16="http://schemas.microsoft.com/office/drawing/2014/main" id="{60B5D78D-E67C-49DB-B6B6-F16E9270EFD0}"/>
              </a:ext>
            </a:extLst>
          </p:cNvPr>
          <p:cNvSpPr>
            <a:spLocks noGrp="1"/>
          </p:cNvSpPr>
          <p:nvPr>
            <p:ph type="title"/>
          </p:nvPr>
        </p:nvSpPr>
        <p:spPr/>
        <p:txBody>
          <a:bodyPr/>
          <a:lstStyle/>
          <a:p>
            <a:r>
              <a:rPr lang="en-US"/>
              <a:t>Scrum Master’s role</a:t>
            </a:r>
          </a:p>
        </p:txBody>
      </p:sp>
      <p:pic>
        <p:nvPicPr>
          <p:cNvPr id="8" name="Picture 4">
            <a:extLst>
              <a:ext uri="{FF2B5EF4-FFF2-40B4-BE49-F238E27FC236}">
                <a16:creationId xmlns:a16="http://schemas.microsoft.com/office/drawing/2014/main" id="{25CD8627-73EE-424D-9682-BC746BD44E6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29517" y="1463836"/>
            <a:ext cx="3944506" cy="56088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839179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457D183-8FFA-4AA5-A1F5-63A3A3F77AAF}"/>
              </a:ext>
            </a:extLst>
          </p:cNvPr>
          <p:cNvSpPr>
            <a:spLocks noGrp="1"/>
          </p:cNvSpPr>
          <p:nvPr>
            <p:ph sz="half" idx="2"/>
          </p:nvPr>
        </p:nvSpPr>
        <p:spPr>
          <a:xfrm>
            <a:off x="5952566" y="1928230"/>
            <a:ext cx="7942764" cy="5484126"/>
          </a:xfrm>
        </p:spPr>
        <p:txBody>
          <a:bodyPr>
            <a:normAutofit fontScale="85000" lnSpcReduction="10000"/>
          </a:bodyPr>
          <a:lstStyle/>
          <a:p>
            <a:pPr>
              <a:lnSpc>
                <a:spcPct val="200000"/>
              </a:lnSpc>
            </a:pPr>
            <a:r>
              <a:rPr lang="en-US"/>
              <a:t>Organize and lead Scrum events (Sprint Planning, Daily Scrum, Sprint Review, Sprint Retrospective).</a:t>
            </a:r>
          </a:p>
          <a:p>
            <a:pPr>
              <a:lnSpc>
                <a:spcPct val="200000"/>
              </a:lnSpc>
            </a:pPr>
            <a:r>
              <a:rPr lang="en-US"/>
              <a:t>Support the team in self-management and process improvement.</a:t>
            </a:r>
          </a:p>
          <a:p>
            <a:pPr>
              <a:lnSpc>
                <a:spcPct val="200000"/>
              </a:lnSpc>
            </a:pPr>
            <a:r>
              <a:rPr lang="en-US"/>
              <a:t>Foster collaboration among team members.</a:t>
            </a:r>
          </a:p>
        </p:txBody>
      </p:sp>
      <p:sp>
        <p:nvSpPr>
          <p:cNvPr id="4" name="Slide Number Placeholder 3">
            <a:extLst>
              <a:ext uri="{FF2B5EF4-FFF2-40B4-BE49-F238E27FC236}">
                <a16:creationId xmlns:a16="http://schemas.microsoft.com/office/drawing/2014/main" id="{606F90B4-4333-4600-9892-60C699870F6D}"/>
              </a:ext>
            </a:extLst>
          </p:cNvPr>
          <p:cNvSpPr>
            <a:spLocks noGrp="1"/>
          </p:cNvSpPr>
          <p:nvPr>
            <p:ph type="sldNum" sz="quarter" idx="4"/>
          </p:nvPr>
        </p:nvSpPr>
        <p:spPr/>
        <p:txBody>
          <a:bodyPr/>
          <a:lstStyle/>
          <a:p>
            <a:fld id="{31D26D55-0A22-487A-A687-61FB58A6F16A}" type="slidenum">
              <a:rPr lang="en-US" smtClean="0"/>
              <a:pPr/>
              <a:t>15</a:t>
            </a:fld>
            <a:endParaRPr lang="en-US"/>
          </a:p>
        </p:txBody>
      </p:sp>
      <p:sp>
        <p:nvSpPr>
          <p:cNvPr id="5" name="Title 4">
            <a:extLst>
              <a:ext uri="{FF2B5EF4-FFF2-40B4-BE49-F238E27FC236}">
                <a16:creationId xmlns:a16="http://schemas.microsoft.com/office/drawing/2014/main" id="{60B5D78D-E67C-49DB-B6B6-F16E9270EFD0}"/>
              </a:ext>
            </a:extLst>
          </p:cNvPr>
          <p:cNvSpPr>
            <a:spLocks noGrp="1"/>
          </p:cNvSpPr>
          <p:nvPr>
            <p:ph type="title"/>
          </p:nvPr>
        </p:nvSpPr>
        <p:spPr/>
        <p:txBody>
          <a:bodyPr/>
          <a:lstStyle/>
          <a:p>
            <a:r>
              <a:rPr lang="en-US"/>
              <a:t>Scrum Master’s responsibilities</a:t>
            </a:r>
          </a:p>
        </p:txBody>
      </p:sp>
      <p:pic>
        <p:nvPicPr>
          <p:cNvPr id="8" name="Picture 4">
            <a:extLst>
              <a:ext uri="{FF2B5EF4-FFF2-40B4-BE49-F238E27FC236}">
                <a16:creationId xmlns:a16="http://schemas.microsoft.com/office/drawing/2014/main" id="{25CD8627-73EE-424D-9682-BC746BD44E6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29517" y="1463836"/>
            <a:ext cx="3944506" cy="56088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657017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457D183-8FFA-4AA5-A1F5-63A3A3F77AAF}"/>
              </a:ext>
            </a:extLst>
          </p:cNvPr>
          <p:cNvSpPr>
            <a:spLocks noGrp="1"/>
          </p:cNvSpPr>
          <p:nvPr>
            <p:ph sz="half" idx="2"/>
          </p:nvPr>
        </p:nvSpPr>
        <p:spPr>
          <a:xfrm>
            <a:off x="5952566" y="1928230"/>
            <a:ext cx="7942764" cy="5484126"/>
          </a:xfrm>
        </p:spPr>
        <p:txBody>
          <a:bodyPr/>
          <a:lstStyle/>
          <a:p>
            <a:pPr>
              <a:lnSpc>
                <a:spcPct val="250000"/>
              </a:lnSpc>
            </a:pPr>
            <a:r>
              <a:rPr lang="en-US"/>
              <a:t>Servant leadership.</a:t>
            </a:r>
          </a:p>
          <a:p>
            <a:pPr>
              <a:lnSpc>
                <a:spcPct val="250000"/>
              </a:lnSpc>
            </a:pPr>
            <a:r>
              <a:rPr lang="en-US"/>
              <a:t>Problem-solving skills and the ability to remove impediments.</a:t>
            </a:r>
          </a:p>
        </p:txBody>
      </p:sp>
      <p:sp>
        <p:nvSpPr>
          <p:cNvPr id="4" name="Slide Number Placeholder 3">
            <a:extLst>
              <a:ext uri="{FF2B5EF4-FFF2-40B4-BE49-F238E27FC236}">
                <a16:creationId xmlns:a16="http://schemas.microsoft.com/office/drawing/2014/main" id="{606F90B4-4333-4600-9892-60C699870F6D}"/>
              </a:ext>
            </a:extLst>
          </p:cNvPr>
          <p:cNvSpPr>
            <a:spLocks noGrp="1"/>
          </p:cNvSpPr>
          <p:nvPr>
            <p:ph type="sldNum" sz="quarter" idx="4"/>
          </p:nvPr>
        </p:nvSpPr>
        <p:spPr/>
        <p:txBody>
          <a:bodyPr/>
          <a:lstStyle/>
          <a:p>
            <a:fld id="{31D26D55-0A22-487A-A687-61FB58A6F16A}" type="slidenum">
              <a:rPr lang="en-US" smtClean="0"/>
              <a:pPr/>
              <a:t>16</a:t>
            </a:fld>
            <a:endParaRPr lang="en-US"/>
          </a:p>
        </p:txBody>
      </p:sp>
      <p:sp>
        <p:nvSpPr>
          <p:cNvPr id="5" name="Title 4">
            <a:extLst>
              <a:ext uri="{FF2B5EF4-FFF2-40B4-BE49-F238E27FC236}">
                <a16:creationId xmlns:a16="http://schemas.microsoft.com/office/drawing/2014/main" id="{60B5D78D-E67C-49DB-B6B6-F16E9270EFD0}"/>
              </a:ext>
            </a:extLst>
          </p:cNvPr>
          <p:cNvSpPr>
            <a:spLocks noGrp="1"/>
          </p:cNvSpPr>
          <p:nvPr>
            <p:ph type="title"/>
          </p:nvPr>
        </p:nvSpPr>
        <p:spPr/>
        <p:txBody>
          <a:bodyPr/>
          <a:lstStyle/>
          <a:p>
            <a:r>
              <a:rPr lang="en-US"/>
              <a:t>Scrum Master’s skills</a:t>
            </a:r>
          </a:p>
        </p:txBody>
      </p:sp>
      <p:pic>
        <p:nvPicPr>
          <p:cNvPr id="8" name="Picture 4">
            <a:extLst>
              <a:ext uri="{FF2B5EF4-FFF2-40B4-BE49-F238E27FC236}">
                <a16:creationId xmlns:a16="http://schemas.microsoft.com/office/drawing/2014/main" id="{25CD8627-73EE-424D-9682-BC746BD44E6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29517" y="1463836"/>
            <a:ext cx="3944506" cy="56088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9224324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457D183-8FFA-4AA5-A1F5-63A3A3F77AAF}"/>
              </a:ext>
            </a:extLst>
          </p:cNvPr>
          <p:cNvSpPr>
            <a:spLocks noGrp="1"/>
          </p:cNvSpPr>
          <p:nvPr>
            <p:ph sz="half" idx="2"/>
          </p:nvPr>
        </p:nvSpPr>
        <p:spPr>
          <a:xfrm>
            <a:off x="629085" y="932329"/>
            <a:ext cx="13499291" cy="6695292"/>
          </a:xfrm>
        </p:spPr>
        <p:txBody>
          <a:bodyPr>
            <a:normAutofit fontScale="92500" lnSpcReduction="10000"/>
          </a:bodyPr>
          <a:lstStyle/>
          <a:p>
            <a:pPr>
              <a:lnSpc>
                <a:spcPct val="120000"/>
              </a:lnSpc>
            </a:pPr>
            <a:r>
              <a:rPr lang="en-US"/>
              <a:t>Role:</a:t>
            </a:r>
          </a:p>
          <a:p>
            <a:pPr lvl="1">
              <a:lnSpc>
                <a:spcPct val="120000"/>
              </a:lnSpc>
            </a:pPr>
            <a:r>
              <a:rPr lang="en-US"/>
              <a:t>A cross-functional team responsible for directly performing the work to create the Product Increment (a completed portion of the product) in each Sprint.</a:t>
            </a:r>
          </a:p>
          <a:p>
            <a:pPr lvl="1">
              <a:lnSpc>
                <a:spcPct val="120000"/>
              </a:lnSpc>
            </a:pPr>
            <a:r>
              <a:rPr lang="en-US"/>
              <a:t>Self-organizing and deciding how to accomplish the work assigned.</a:t>
            </a:r>
          </a:p>
          <a:p>
            <a:pPr lvl="1">
              <a:lnSpc>
                <a:spcPct val="120000"/>
              </a:lnSpc>
            </a:pPr>
            <a:r>
              <a:rPr lang="en-US"/>
              <a:t>Ensures product quality through collaboration and continuous improvement.</a:t>
            </a:r>
          </a:p>
          <a:p>
            <a:pPr>
              <a:lnSpc>
                <a:spcPct val="120000"/>
              </a:lnSpc>
            </a:pPr>
            <a:r>
              <a:rPr lang="en-US"/>
              <a:t>Key Responsibilities:</a:t>
            </a:r>
          </a:p>
          <a:p>
            <a:pPr lvl="1">
              <a:lnSpc>
                <a:spcPct val="120000"/>
              </a:lnSpc>
            </a:pPr>
            <a:r>
              <a:rPr lang="en-US"/>
              <a:t>Manage the Sprint Backlog (the list of tasks to be completed during the Sprint).</a:t>
            </a:r>
          </a:p>
          <a:p>
            <a:pPr lvl="1">
              <a:lnSpc>
                <a:spcPct val="120000"/>
              </a:lnSpc>
            </a:pPr>
            <a:r>
              <a:rPr lang="en-US"/>
              <a:t>Build, develop, and test product features.</a:t>
            </a:r>
          </a:p>
          <a:p>
            <a:pPr lvl="1">
              <a:lnSpc>
                <a:spcPct val="120000"/>
              </a:lnSpc>
            </a:pPr>
            <a:r>
              <a:rPr lang="en-US"/>
              <a:t>Contribute to improving workflows through retrospective meetings.</a:t>
            </a:r>
          </a:p>
          <a:p>
            <a:pPr>
              <a:lnSpc>
                <a:spcPct val="120000"/>
              </a:lnSpc>
            </a:pPr>
            <a:r>
              <a:rPr lang="en-US"/>
              <a:t>Key Skills:</a:t>
            </a:r>
          </a:p>
          <a:p>
            <a:pPr lvl="1">
              <a:lnSpc>
                <a:spcPct val="120000"/>
              </a:lnSpc>
            </a:pPr>
            <a:r>
              <a:rPr lang="en-US"/>
              <a:t>Deep technical expertise.</a:t>
            </a:r>
          </a:p>
          <a:p>
            <a:pPr lvl="1">
              <a:lnSpc>
                <a:spcPct val="120000"/>
              </a:lnSpc>
            </a:pPr>
            <a:r>
              <a:rPr lang="en-US"/>
              <a:t>Teamwork and adaptability.</a:t>
            </a:r>
          </a:p>
        </p:txBody>
      </p:sp>
      <p:sp>
        <p:nvSpPr>
          <p:cNvPr id="4" name="Slide Number Placeholder 3">
            <a:extLst>
              <a:ext uri="{FF2B5EF4-FFF2-40B4-BE49-F238E27FC236}">
                <a16:creationId xmlns:a16="http://schemas.microsoft.com/office/drawing/2014/main" id="{606F90B4-4333-4600-9892-60C699870F6D}"/>
              </a:ext>
            </a:extLst>
          </p:cNvPr>
          <p:cNvSpPr>
            <a:spLocks noGrp="1"/>
          </p:cNvSpPr>
          <p:nvPr>
            <p:ph type="sldNum" sz="quarter" idx="4"/>
          </p:nvPr>
        </p:nvSpPr>
        <p:spPr/>
        <p:txBody>
          <a:bodyPr/>
          <a:lstStyle/>
          <a:p>
            <a:fld id="{31D26D55-0A22-487A-A687-61FB58A6F16A}" type="slidenum">
              <a:rPr lang="en-US" smtClean="0"/>
              <a:pPr/>
              <a:t>17</a:t>
            </a:fld>
            <a:endParaRPr lang="en-US"/>
          </a:p>
        </p:txBody>
      </p:sp>
      <p:sp>
        <p:nvSpPr>
          <p:cNvPr id="5" name="Title 4">
            <a:extLst>
              <a:ext uri="{FF2B5EF4-FFF2-40B4-BE49-F238E27FC236}">
                <a16:creationId xmlns:a16="http://schemas.microsoft.com/office/drawing/2014/main" id="{60B5D78D-E67C-49DB-B6B6-F16E9270EFD0}"/>
              </a:ext>
            </a:extLst>
          </p:cNvPr>
          <p:cNvSpPr>
            <a:spLocks noGrp="1"/>
          </p:cNvSpPr>
          <p:nvPr>
            <p:ph type="title"/>
          </p:nvPr>
        </p:nvSpPr>
        <p:spPr/>
        <p:txBody>
          <a:bodyPr/>
          <a:lstStyle/>
          <a:p>
            <a:r>
              <a:rPr lang="en-US"/>
              <a:t>Development (cross-functional) Team</a:t>
            </a:r>
          </a:p>
        </p:txBody>
      </p:sp>
    </p:spTree>
    <p:extLst>
      <p:ext uri="{BB962C8B-B14F-4D97-AF65-F5344CB8AC3E}">
        <p14:creationId xmlns:p14="http://schemas.microsoft.com/office/powerpoint/2010/main" val="34662960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5" name="Table 15">
            <a:extLst>
              <a:ext uri="{FF2B5EF4-FFF2-40B4-BE49-F238E27FC236}">
                <a16:creationId xmlns:a16="http://schemas.microsoft.com/office/drawing/2014/main" id="{5E370C46-1A33-4A9B-A373-B041641DFCE5}"/>
              </a:ext>
            </a:extLst>
          </p:cNvPr>
          <p:cNvGraphicFramePr>
            <a:graphicFrameLocks noGrp="1"/>
          </p:cNvGraphicFramePr>
          <p:nvPr>
            <p:ph idx="1"/>
            <p:extLst>
              <p:ext uri="{D42A27DB-BD31-4B8C-83A1-F6EECF244321}">
                <p14:modId xmlns:p14="http://schemas.microsoft.com/office/powerpoint/2010/main" val="1508112578"/>
              </p:ext>
            </p:extLst>
          </p:nvPr>
        </p:nvGraphicFramePr>
        <p:xfrm>
          <a:off x="238810" y="609914"/>
          <a:ext cx="13710272" cy="7498080"/>
        </p:xfrm>
        <a:graphic>
          <a:graphicData uri="http://schemas.openxmlformats.org/drawingml/2006/table">
            <a:tbl>
              <a:tblPr firstRow="1" bandRow="1">
                <a:tableStyleId>{5C22544A-7EE6-4342-B048-85BDC9FD1C3A}</a:tableStyleId>
              </a:tblPr>
              <a:tblGrid>
                <a:gridCol w="1841002">
                  <a:extLst>
                    <a:ext uri="{9D8B030D-6E8A-4147-A177-3AD203B41FA5}">
                      <a16:colId xmlns:a16="http://schemas.microsoft.com/office/drawing/2014/main" val="1395637420"/>
                    </a:ext>
                  </a:extLst>
                </a:gridCol>
                <a:gridCol w="5651941">
                  <a:extLst>
                    <a:ext uri="{9D8B030D-6E8A-4147-A177-3AD203B41FA5}">
                      <a16:colId xmlns:a16="http://schemas.microsoft.com/office/drawing/2014/main" val="3496189624"/>
                    </a:ext>
                  </a:extLst>
                </a:gridCol>
                <a:gridCol w="6217329">
                  <a:extLst>
                    <a:ext uri="{9D8B030D-6E8A-4147-A177-3AD203B41FA5}">
                      <a16:colId xmlns:a16="http://schemas.microsoft.com/office/drawing/2014/main" val="3811897017"/>
                    </a:ext>
                  </a:extLst>
                </a:gridCol>
              </a:tblGrid>
              <a:tr h="370840">
                <a:tc>
                  <a:txBody>
                    <a:bodyPr/>
                    <a:lstStyle/>
                    <a:p>
                      <a:pPr algn="ctr"/>
                      <a:r>
                        <a:rPr lang="en-US">
                          <a:latin typeface="+mj-lt"/>
                        </a:rPr>
                        <a:t>Aspect</a:t>
                      </a:r>
                    </a:p>
                  </a:txBody>
                  <a:tcPr/>
                </a:tc>
                <a:tc>
                  <a:txBody>
                    <a:bodyPr/>
                    <a:lstStyle/>
                    <a:p>
                      <a:pPr algn="ctr"/>
                      <a:r>
                        <a:rPr lang="en-US" b="1">
                          <a:latin typeface="+mj-lt"/>
                        </a:rPr>
                        <a:t>Functional Development Team</a:t>
                      </a:r>
                      <a:endParaRPr lang="en-US">
                        <a:latin typeface="+mj-lt"/>
                      </a:endParaRPr>
                    </a:p>
                  </a:txBody>
                  <a:tcPr anchor="ctr"/>
                </a:tc>
                <a:tc>
                  <a:txBody>
                    <a:bodyPr/>
                    <a:lstStyle/>
                    <a:p>
                      <a:pPr algn="ctr"/>
                      <a:r>
                        <a:rPr lang="en-US" b="1">
                          <a:latin typeface="+mj-lt"/>
                        </a:rPr>
                        <a:t>Cross-Functional Development Team</a:t>
                      </a:r>
                      <a:endParaRPr lang="en-US">
                        <a:latin typeface="+mj-lt"/>
                      </a:endParaRPr>
                    </a:p>
                  </a:txBody>
                  <a:tcPr anchor="ctr"/>
                </a:tc>
                <a:extLst>
                  <a:ext uri="{0D108BD9-81ED-4DB2-BD59-A6C34878D82A}">
                    <a16:rowId xmlns:a16="http://schemas.microsoft.com/office/drawing/2014/main" val="4045164838"/>
                  </a:ext>
                </a:extLst>
              </a:tr>
              <a:tr h="370840">
                <a:tc>
                  <a:txBody>
                    <a:bodyPr/>
                    <a:lstStyle/>
                    <a:p>
                      <a:r>
                        <a:rPr lang="en-US">
                          <a:latin typeface="+mj-lt"/>
                        </a:rPr>
                        <a:t>Definition</a:t>
                      </a:r>
                    </a:p>
                  </a:txBody>
                  <a:tcPr/>
                </a:tc>
                <a:tc>
                  <a:txBody>
                    <a:bodyPr/>
                    <a:lstStyle/>
                    <a:p>
                      <a:r>
                        <a:rPr lang="en-US">
                          <a:latin typeface="+mj-lt"/>
                        </a:rPr>
                        <a:t>A team where members specialize in one specific function (e.g., development, testing, or design).</a:t>
                      </a:r>
                    </a:p>
                  </a:txBody>
                  <a:tcPr anchor="ctr"/>
                </a:tc>
                <a:tc>
                  <a:txBody>
                    <a:bodyPr/>
                    <a:lstStyle/>
                    <a:p>
                      <a:r>
                        <a:rPr lang="en-US">
                          <a:latin typeface="+mj-lt"/>
                        </a:rPr>
                        <a:t>A team where members possess skills from multiple functions (e.g., development, testing, design, etc.).</a:t>
                      </a:r>
                    </a:p>
                  </a:txBody>
                  <a:tcPr anchor="ctr"/>
                </a:tc>
                <a:extLst>
                  <a:ext uri="{0D108BD9-81ED-4DB2-BD59-A6C34878D82A}">
                    <a16:rowId xmlns:a16="http://schemas.microsoft.com/office/drawing/2014/main" val="4277029136"/>
                  </a:ext>
                </a:extLst>
              </a:tr>
              <a:tr h="529724">
                <a:tc>
                  <a:txBody>
                    <a:bodyPr/>
                    <a:lstStyle/>
                    <a:p>
                      <a:r>
                        <a:rPr lang="en-US">
                          <a:latin typeface="+mj-lt"/>
                        </a:rPr>
                        <a:t>Skillset</a:t>
                      </a:r>
                    </a:p>
                  </a:txBody>
                  <a:tcPr/>
                </a:tc>
                <a:tc>
                  <a:txBody>
                    <a:bodyPr/>
                    <a:lstStyle/>
                    <a:p>
                      <a:r>
                        <a:rPr lang="en-US">
                          <a:latin typeface="+mj-lt"/>
                        </a:rPr>
                        <a:t>Specialized in a single domain or expertise.</a:t>
                      </a:r>
                    </a:p>
                  </a:txBody>
                  <a:tcPr anchor="ctr"/>
                </a:tc>
                <a:tc>
                  <a:txBody>
                    <a:bodyPr/>
                    <a:lstStyle/>
                    <a:p>
                      <a:r>
                        <a:rPr lang="en-US">
                          <a:latin typeface="+mj-lt"/>
                        </a:rPr>
                        <a:t>Diverse skills covering multiple domains, enabling end-to-end delivery of work.</a:t>
                      </a:r>
                    </a:p>
                  </a:txBody>
                  <a:tcPr anchor="ctr"/>
                </a:tc>
                <a:extLst>
                  <a:ext uri="{0D108BD9-81ED-4DB2-BD59-A6C34878D82A}">
                    <a16:rowId xmlns:a16="http://schemas.microsoft.com/office/drawing/2014/main" val="539876817"/>
                  </a:ext>
                </a:extLst>
              </a:tr>
              <a:tr h="370840">
                <a:tc>
                  <a:txBody>
                    <a:bodyPr/>
                    <a:lstStyle/>
                    <a:p>
                      <a:r>
                        <a:rPr lang="en-US">
                          <a:latin typeface="+mj-lt"/>
                        </a:rPr>
                        <a:t>Collaboration</a:t>
                      </a:r>
                    </a:p>
                  </a:txBody>
                  <a:tcPr/>
                </a:tc>
                <a:tc>
                  <a:txBody>
                    <a:bodyPr/>
                    <a:lstStyle/>
                    <a:p>
                      <a:r>
                        <a:rPr lang="en-US">
                          <a:latin typeface="+mj-lt"/>
                        </a:rPr>
                        <a:t>Requires coordination with other functional teams for complete delivery.</a:t>
                      </a:r>
                    </a:p>
                  </a:txBody>
                  <a:tcPr anchor="ctr"/>
                </a:tc>
                <a:tc>
                  <a:txBody>
                    <a:bodyPr/>
                    <a:lstStyle/>
                    <a:p>
                      <a:r>
                        <a:rPr lang="en-US">
                          <a:latin typeface="+mj-lt"/>
                        </a:rPr>
                        <a:t>Collaboration happens within the same team, reducing dependency on external teams.</a:t>
                      </a:r>
                    </a:p>
                  </a:txBody>
                  <a:tcPr anchor="ctr"/>
                </a:tc>
                <a:extLst>
                  <a:ext uri="{0D108BD9-81ED-4DB2-BD59-A6C34878D82A}">
                    <a16:rowId xmlns:a16="http://schemas.microsoft.com/office/drawing/2014/main" val="448313272"/>
                  </a:ext>
                </a:extLst>
              </a:tr>
              <a:tr h="370840">
                <a:tc>
                  <a:txBody>
                    <a:bodyPr/>
                    <a:lstStyle/>
                    <a:p>
                      <a:r>
                        <a:rPr lang="en-US">
                          <a:latin typeface="+mj-lt"/>
                        </a:rPr>
                        <a:t>Flexibility</a:t>
                      </a:r>
                    </a:p>
                  </a:txBody>
                  <a:tcPr/>
                </a:tc>
                <a:tc>
                  <a:txBody>
                    <a:bodyPr/>
                    <a:lstStyle/>
                    <a:p>
                      <a:r>
                        <a:rPr lang="en-US">
                          <a:latin typeface="+mj-lt"/>
                        </a:rPr>
                        <a:t>Limited adaptability due to focus on a specific function.</a:t>
                      </a:r>
                    </a:p>
                  </a:txBody>
                  <a:tcPr anchor="ctr"/>
                </a:tc>
                <a:tc>
                  <a:txBody>
                    <a:bodyPr/>
                    <a:lstStyle/>
                    <a:p>
                      <a:r>
                        <a:rPr lang="en-US">
                          <a:latin typeface="+mj-lt"/>
                        </a:rPr>
                        <a:t>High adaptability; team members can take on tasks beyond their primary expertise.</a:t>
                      </a:r>
                    </a:p>
                  </a:txBody>
                  <a:tcPr anchor="ctr"/>
                </a:tc>
                <a:extLst>
                  <a:ext uri="{0D108BD9-81ED-4DB2-BD59-A6C34878D82A}">
                    <a16:rowId xmlns:a16="http://schemas.microsoft.com/office/drawing/2014/main" val="4194741997"/>
                  </a:ext>
                </a:extLst>
              </a:tr>
              <a:tr h="370840">
                <a:tc>
                  <a:txBody>
                    <a:bodyPr/>
                    <a:lstStyle/>
                    <a:p>
                      <a:r>
                        <a:rPr lang="en-US">
                          <a:latin typeface="+mj-lt"/>
                        </a:rPr>
                        <a:t>Efficiency</a:t>
                      </a:r>
                    </a:p>
                  </a:txBody>
                  <a:tcPr/>
                </a:tc>
                <a:tc>
                  <a:txBody>
                    <a:bodyPr/>
                    <a:lstStyle/>
                    <a:p>
                      <a:r>
                        <a:rPr lang="en-US">
                          <a:latin typeface="+mj-lt"/>
                        </a:rPr>
                        <a:t>Can be efficient for tasks requiring deep specialization.</a:t>
                      </a:r>
                    </a:p>
                  </a:txBody>
                  <a:tcPr anchor="ctr"/>
                </a:tc>
                <a:tc>
                  <a:txBody>
                    <a:bodyPr/>
                    <a:lstStyle/>
                    <a:p>
                      <a:r>
                        <a:rPr lang="en-US">
                          <a:latin typeface="+mj-lt"/>
                        </a:rPr>
                        <a:t>More efficient for Agile environments where speed and collaboration are key.</a:t>
                      </a:r>
                    </a:p>
                  </a:txBody>
                  <a:tcPr anchor="ctr"/>
                </a:tc>
                <a:extLst>
                  <a:ext uri="{0D108BD9-81ED-4DB2-BD59-A6C34878D82A}">
                    <a16:rowId xmlns:a16="http://schemas.microsoft.com/office/drawing/2014/main" val="834635078"/>
                  </a:ext>
                </a:extLst>
              </a:tr>
              <a:tr h="370840">
                <a:tc>
                  <a:txBody>
                    <a:bodyPr/>
                    <a:lstStyle/>
                    <a:p>
                      <a:r>
                        <a:rPr lang="en-US">
                          <a:latin typeface="+mj-lt"/>
                        </a:rPr>
                        <a:t>Dependency</a:t>
                      </a:r>
                    </a:p>
                  </a:txBody>
                  <a:tcPr/>
                </a:tc>
                <a:tc>
                  <a:txBody>
                    <a:bodyPr/>
                    <a:lstStyle/>
                    <a:p>
                      <a:r>
                        <a:rPr lang="en-US">
                          <a:latin typeface="+mj-lt"/>
                        </a:rPr>
                        <a:t>High dependency on other teams for integration and completion of work.</a:t>
                      </a:r>
                    </a:p>
                  </a:txBody>
                  <a:tcPr anchor="ctr"/>
                </a:tc>
                <a:tc>
                  <a:txBody>
                    <a:bodyPr/>
                    <a:lstStyle/>
                    <a:p>
                      <a:r>
                        <a:rPr lang="en-US">
                          <a:latin typeface="+mj-lt"/>
                        </a:rPr>
                        <a:t>Low dependency; team can deliver a complete product increment independently.</a:t>
                      </a:r>
                    </a:p>
                  </a:txBody>
                  <a:tcPr anchor="ctr"/>
                </a:tc>
                <a:extLst>
                  <a:ext uri="{0D108BD9-81ED-4DB2-BD59-A6C34878D82A}">
                    <a16:rowId xmlns:a16="http://schemas.microsoft.com/office/drawing/2014/main" val="1498251828"/>
                  </a:ext>
                </a:extLst>
              </a:tr>
              <a:tr h="370840">
                <a:tc>
                  <a:txBody>
                    <a:bodyPr/>
                    <a:lstStyle/>
                    <a:p>
                      <a:r>
                        <a:rPr lang="en-US">
                          <a:latin typeface="+mj-lt"/>
                        </a:rPr>
                        <a:t>Ownership</a:t>
                      </a:r>
                    </a:p>
                  </a:txBody>
                  <a:tcPr/>
                </a:tc>
                <a:tc>
                  <a:txBody>
                    <a:bodyPr/>
                    <a:lstStyle/>
                    <a:p>
                      <a:r>
                        <a:rPr lang="en-US">
                          <a:latin typeface="+mj-lt"/>
                        </a:rPr>
                        <a:t>Responsibility for a part of the product (e.g., development or testing).</a:t>
                      </a:r>
                    </a:p>
                  </a:txBody>
                  <a:tcPr anchor="ctr"/>
                </a:tc>
                <a:tc>
                  <a:txBody>
                    <a:bodyPr/>
                    <a:lstStyle/>
                    <a:p>
                      <a:r>
                        <a:rPr lang="en-US">
                          <a:latin typeface="+mj-lt"/>
                        </a:rPr>
                        <a:t>Takes ownership of the entire product or feature delivery.</a:t>
                      </a:r>
                    </a:p>
                  </a:txBody>
                  <a:tcPr anchor="ctr"/>
                </a:tc>
                <a:extLst>
                  <a:ext uri="{0D108BD9-81ED-4DB2-BD59-A6C34878D82A}">
                    <a16:rowId xmlns:a16="http://schemas.microsoft.com/office/drawing/2014/main" val="2451211431"/>
                  </a:ext>
                </a:extLst>
              </a:tr>
              <a:tr h="370840">
                <a:tc>
                  <a:txBody>
                    <a:bodyPr/>
                    <a:lstStyle/>
                    <a:p>
                      <a:r>
                        <a:rPr lang="en-US" b="1">
                          <a:latin typeface="+mj-lt"/>
                        </a:rPr>
                        <a:t>Best Use Case</a:t>
                      </a:r>
                      <a:endParaRPr lang="en-US">
                        <a:latin typeface="+mj-lt"/>
                      </a:endParaRPr>
                    </a:p>
                  </a:txBody>
                  <a:tcPr anchor="ctr"/>
                </a:tc>
                <a:tc>
                  <a:txBody>
                    <a:bodyPr/>
                    <a:lstStyle/>
                    <a:p>
                      <a:r>
                        <a:rPr lang="en-US">
                          <a:latin typeface="+mj-lt"/>
                        </a:rPr>
                        <a:t>Suitable for traditional, large-scale projects where specialization is required.</a:t>
                      </a:r>
                    </a:p>
                  </a:txBody>
                  <a:tcPr anchor="ctr"/>
                </a:tc>
                <a:tc>
                  <a:txBody>
                    <a:bodyPr/>
                    <a:lstStyle/>
                    <a:p>
                      <a:r>
                        <a:rPr lang="en-US">
                          <a:latin typeface="+mj-lt"/>
                        </a:rPr>
                        <a:t>Ideal for Agile projects where rapid delivery and collaboration are critical.</a:t>
                      </a:r>
                    </a:p>
                  </a:txBody>
                  <a:tcPr anchor="ctr"/>
                </a:tc>
                <a:extLst>
                  <a:ext uri="{0D108BD9-81ED-4DB2-BD59-A6C34878D82A}">
                    <a16:rowId xmlns:a16="http://schemas.microsoft.com/office/drawing/2014/main" val="153180869"/>
                  </a:ext>
                </a:extLst>
              </a:tr>
              <a:tr h="370840">
                <a:tc>
                  <a:txBody>
                    <a:bodyPr/>
                    <a:lstStyle/>
                    <a:p>
                      <a:r>
                        <a:rPr lang="en-US">
                          <a:latin typeface="+mj-lt"/>
                        </a:rPr>
                        <a:t>Examples</a:t>
                      </a:r>
                    </a:p>
                  </a:txBody>
                  <a:tcPr/>
                </a:tc>
                <a:tc>
                  <a:txBody>
                    <a:bodyPr/>
                    <a:lstStyle/>
                    <a:p>
                      <a:r>
                        <a:rPr lang="en-US">
                          <a:latin typeface="+mj-lt"/>
                        </a:rPr>
                        <a:t>Separate teams for developers, testers, and designers.</a:t>
                      </a:r>
                    </a:p>
                  </a:txBody>
                  <a:tcPr anchor="ctr"/>
                </a:tc>
                <a:tc>
                  <a:txBody>
                    <a:bodyPr/>
                    <a:lstStyle/>
                    <a:p>
                      <a:r>
                        <a:rPr lang="en-US">
                          <a:latin typeface="+mj-lt"/>
                        </a:rPr>
                        <a:t>A single team with developers, testers, designers, and business analysts.</a:t>
                      </a:r>
                    </a:p>
                  </a:txBody>
                  <a:tcPr anchor="ctr"/>
                </a:tc>
                <a:extLst>
                  <a:ext uri="{0D108BD9-81ED-4DB2-BD59-A6C34878D82A}">
                    <a16:rowId xmlns:a16="http://schemas.microsoft.com/office/drawing/2014/main" val="2959185071"/>
                  </a:ext>
                </a:extLst>
              </a:tr>
            </a:tbl>
          </a:graphicData>
        </a:graphic>
      </p:graphicFrame>
      <p:sp>
        <p:nvSpPr>
          <p:cNvPr id="3" name="Slide Number Placeholder 2">
            <a:extLst>
              <a:ext uri="{FF2B5EF4-FFF2-40B4-BE49-F238E27FC236}">
                <a16:creationId xmlns:a16="http://schemas.microsoft.com/office/drawing/2014/main" id="{8474106C-5BA0-458B-ADD3-3744BE88B49A}"/>
              </a:ext>
            </a:extLst>
          </p:cNvPr>
          <p:cNvSpPr>
            <a:spLocks noGrp="1"/>
          </p:cNvSpPr>
          <p:nvPr>
            <p:ph type="sldNum" sz="quarter" idx="4"/>
          </p:nvPr>
        </p:nvSpPr>
        <p:spPr/>
        <p:txBody>
          <a:bodyPr/>
          <a:lstStyle/>
          <a:p>
            <a:fld id="{31D26D55-0A22-487A-A687-61FB58A6F16A}" type="slidenum">
              <a:rPr lang="en-US" smtClean="0"/>
              <a:pPr/>
              <a:t>18</a:t>
            </a:fld>
            <a:endParaRPr lang="en-US"/>
          </a:p>
        </p:txBody>
      </p:sp>
      <p:sp>
        <p:nvSpPr>
          <p:cNvPr id="4" name="Title 3">
            <a:extLst>
              <a:ext uri="{FF2B5EF4-FFF2-40B4-BE49-F238E27FC236}">
                <a16:creationId xmlns:a16="http://schemas.microsoft.com/office/drawing/2014/main" id="{0CBFD3A1-34C1-470C-B43B-71AE03727CDB}"/>
              </a:ext>
            </a:extLst>
          </p:cNvPr>
          <p:cNvSpPr>
            <a:spLocks noGrp="1"/>
          </p:cNvSpPr>
          <p:nvPr>
            <p:ph type="title"/>
          </p:nvPr>
        </p:nvSpPr>
        <p:spPr/>
        <p:txBody>
          <a:bodyPr/>
          <a:lstStyle/>
          <a:p>
            <a:r>
              <a:rPr lang="en-US"/>
              <a:t>Why cross-functional?</a:t>
            </a:r>
          </a:p>
        </p:txBody>
      </p:sp>
    </p:spTree>
    <p:extLst>
      <p:ext uri="{BB962C8B-B14F-4D97-AF65-F5344CB8AC3E}">
        <p14:creationId xmlns:p14="http://schemas.microsoft.com/office/powerpoint/2010/main" val="24864213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3477109-6D3C-47B7-A9C4-96E427A15F2D}"/>
              </a:ext>
            </a:extLst>
          </p:cNvPr>
          <p:cNvSpPr>
            <a:spLocks noGrp="1"/>
          </p:cNvSpPr>
          <p:nvPr>
            <p:ph sz="half" idx="1"/>
          </p:nvPr>
        </p:nvSpPr>
        <p:spPr/>
        <p:txBody>
          <a:bodyPr>
            <a:normAutofit/>
          </a:bodyPr>
          <a:lstStyle/>
          <a:p>
            <a:r>
              <a:rPr lang="en-US" dirty="0"/>
              <a:t> Agile scrum artifacts are </a:t>
            </a:r>
            <a:r>
              <a:rPr lang="en-US" b="1" dirty="0"/>
              <a:t>information </a:t>
            </a:r>
            <a:r>
              <a:rPr lang="en-US" dirty="0"/>
              <a:t>used to:</a:t>
            </a:r>
          </a:p>
          <a:p>
            <a:pPr lvl="1"/>
            <a:r>
              <a:rPr lang="en-US" dirty="0"/>
              <a:t>detail the product being developed</a:t>
            </a:r>
          </a:p>
          <a:p>
            <a:pPr lvl="1"/>
            <a:r>
              <a:rPr lang="en-US" dirty="0"/>
              <a:t>actions to produce it</a:t>
            </a:r>
          </a:p>
          <a:p>
            <a:pPr lvl="1"/>
            <a:r>
              <a:rPr lang="en-US" dirty="0"/>
              <a:t>actions performed during the project. </a:t>
            </a:r>
          </a:p>
          <a:p>
            <a:r>
              <a:rPr lang="en-US" dirty="0"/>
              <a:t>The main agile scrum artifacts:</a:t>
            </a:r>
          </a:p>
          <a:p>
            <a:pPr lvl="1"/>
            <a:r>
              <a:rPr lang="en-US" b="1" dirty="0"/>
              <a:t>Product backlog</a:t>
            </a:r>
          </a:p>
          <a:p>
            <a:pPr lvl="1"/>
            <a:r>
              <a:rPr lang="en-US" b="1" dirty="0"/>
              <a:t>Sprint backlog</a:t>
            </a:r>
          </a:p>
          <a:p>
            <a:pPr lvl="1"/>
            <a:r>
              <a:rPr lang="en-US" b="1" dirty="0"/>
              <a:t>Increments.</a:t>
            </a:r>
          </a:p>
        </p:txBody>
      </p:sp>
      <p:sp>
        <p:nvSpPr>
          <p:cNvPr id="4" name="Slide Number Placeholder 3">
            <a:extLst>
              <a:ext uri="{FF2B5EF4-FFF2-40B4-BE49-F238E27FC236}">
                <a16:creationId xmlns:a16="http://schemas.microsoft.com/office/drawing/2014/main" id="{61E55530-8832-49FB-A0EC-8150FBEC54C0}"/>
              </a:ext>
            </a:extLst>
          </p:cNvPr>
          <p:cNvSpPr>
            <a:spLocks noGrp="1"/>
          </p:cNvSpPr>
          <p:nvPr>
            <p:ph type="sldNum" sz="quarter" idx="4"/>
          </p:nvPr>
        </p:nvSpPr>
        <p:spPr/>
        <p:txBody>
          <a:bodyPr/>
          <a:lstStyle/>
          <a:p>
            <a:fld id="{31D26D55-0A22-487A-A687-61FB58A6F16A}" type="slidenum">
              <a:rPr lang="en-US" smtClean="0"/>
              <a:pPr/>
              <a:t>19</a:t>
            </a:fld>
            <a:endParaRPr lang="en-US"/>
          </a:p>
        </p:txBody>
      </p:sp>
      <p:sp>
        <p:nvSpPr>
          <p:cNvPr id="5" name="Title 4">
            <a:extLst>
              <a:ext uri="{FF2B5EF4-FFF2-40B4-BE49-F238E27FC236}">
                <a16:creationId xmlns:a16="http://schemas.microsoft.com/office/drawing/2014/main" id="{7544B9D3-524B-4ECD-ACB1-6C2E7B8D613A}"/>
              </a:ext>
            </a:extLst>
          </p:cNvPr>
          <p:cNvSpPr>
            <a:spLocks noGrp="1"/>
          </p:cNvSpPr>
          <p:nvPr>
            <p:ph type="title"/>
          </p:nvPr>
        </p:nvSpPr>
        <p:spPr/>
        <p:txBody>
          <a:bodyPr/>
          <a:lstStyle/>
          <a:p>
            <a:r>
              <a:rPr lang="en-US"/>
              <a:t>Scrum </a:t>
            </a:r>
            <a:r>
              <a:rPr lang="vi-VN"/>
              <a:t>Artifacts</a:t>
            </a:r>
            <a:endParaRPr lang="en-US"/>
          </a:p>
        </p:txBody>
      </p:sp>
      <p:pic>
        <p:nvPicPr>
          <p:cNvPr id="13314" name="Picture 2" descr="Blog - Chia sẻ kiến thức về Scrum và Agile - Scrum Viet">
            <a:extLst>
              <a:ext uri="{FF2B5EF4-FFF2-40B4-BE49-F238E27FC236}">
                <a16:creationId xmlns:a16="http://schemas.microsoft.com/office/drawing/2014/main" id="{CE4E6F08-37DC-40F3-81FE-EDAC75CD5800}"/>
              </a:ext>
            </a:extLst>
          </p:cNvPr>
          <p:cNvPicPr>
            <a:picLocks noGrp="1" noChangeAspect="1" noChangeArrowheads="1"/>
          </p:cNvPicPr>
          <p:nvPr>
            <p:ph sz="half" idx="2"/>
          </p:nvPr>
        </p:nvPicPr>
        <p:blipFill rotWithShape="1">
          <a:blip r:embed="rId3">
            <a:extLst>
              <a:ext uri="{28A0092B-C50C-407E-A947-70E740481C1C}">
                <a14:useLocalDpi xmlns:a14="http://schemas.microsoft.com/office/drawing/2010/main" val="0"/>
              </a:ext>
            </a:extLst>
          </a:blip>
          <a:srcRect b="11479"/>
          <a:stretch/>
        </p:blipFill>
        <p:spPr bwMode="auto">
          <a:xfrm>
            <a:off x="8588387" y="2174875"/>
            <a:ext cx="5295013" cy="40989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646642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20D095-46D6-497E-9419-0FDF383018CD}"/>
              </a:ext>
            </a:extLst>
          </p:cNvPr>
          <p:cNvSpPr>
            <a:spLocks noGrp="1"/>
          </p:cNvSpPr>
          <p:nvPr>
            <p:ph sz="half" idx="1"/>
          </p:nvPr>
        </p:nvSpPr>
        <p:spPr/>
        <p:txBody>
          <a:bodyPr>
            <a:normAutofit fontScale="85000" lnSpcReduction="10000"/>
          </a:bodyPr>
          <a:lstStyle/>
          <a:p>
            <a:r>
              <a:rPr lang="en-US"/>
              <a:t>A repository for the product's desired features list, arranged by the priority of each item.</a:t>
            </a:r>
          </a:p>
          <a:p>
            <a:r>
              <a:rPr lang="en-US"/>
              <a:t>Always accessible to all stakeholders.</a:t>
            </a:r>
          </a:p>
          <a:p>
            <a:r>
              <a:rPr lang="en-US"/>
              <a:t>More detailed for items with higher priority.</a:t>
            </a:r>
          </a:p>
          <a:p>
            <a:r>
              <a:rPr lang="en-US"/>
              <a:t>Only the Product Owner (PO) has the authority to add, remove, or prioritize items in the Product Backlog.</a:t>
            </a:r>
          </a:p>
          <a:p>
            <a:r>
              <a:rPr lang="en-US"/>
              <a:t>Exists indefinitely and never ends.</a:t>
            </a:r>
          </a:p>
          <a:p>
            <a:r>
              <a:rPr lang="en-US"/>
              <a:t>Only one version is allowed to exist.</a:t>
            </a:r>
          </a:p>
        </p:txBody>
      </p:sp>
      <p:sp>
        <p:nvSpPr>
          <p:cNvPr id="4" name="Slide Number Placeholder 3">
            <a:extLst>
              <a:ext uri="{FF2B5EF4-FFF2-40B4-BE49-F238E27FC236}">
                <a16:creationId xmlns:a16="http://schemas.microsoft.com/office/drawing/2014/main" id="{BCC6407B-7BA5-46A6-8F7B-5CF77800384E}"/>
              </a:ext>
            </a:extLst>
          </p:cNvPr>
          <p:cNvSpPr>
            <a:spLocks noGrp="1"/>
          </p:cNvSpPr>
          <p:nvPr>
            <p:ph type="sldNum" sz="quarter" idx="4"/>
          </p:nvPr>
        </p:nvSpPr>
        <p:spPr/>
        <p:txBody>
          <a:bodyPr/>
          <a:lstStyle/>
          <a:p>
            <a:fld id="{31D26D55-0A22-487A-A687-61FB58A6F16A}" type="slidenum">
              <a:rPr lang="en-US" smtClean="0"/>
              <a:pPr/>
              <a:t>20</a:t>
            </a:fld>
            <a:endParaRPr lang="en-US"/>
          </a:p>
        </p:txBody>
      </p:sp>
      <p:sp>
        <p:nvSpPr>
          <p:cNvPr id="5" name="Title 4">
            <a:extLst>
              <a:ext uri="{FF2B5EF4-FFF2-40B4-BE49-F238E27FC236}">
                <a16:creationId xmlns:a16="http://schemas.microsoft.com/office/drawing/2014/main" id="{D225C8BC-9796-4A58-87FD-7F4BB3B60660}"/>
              </a:ext>
            </a:extLst>
          </p:cNvPr>
          <p:cNvSpPr>
            <a:spLocks noGrp="1"/>
          </p:cNvSpPr>
          <p:nvPr>
            <p:ph type="title"/>
          </p:nvPr>
        </p:nvSpPr>
        <p:spPr/>
        <p:txBody>
          <a:bodyPr/>
          <a:lstStyle/>
          <a:p>
            <a:r>
              <a:rPr lang="vi-VN"/>
              <a:t>Product Backlog</a:t>
            </a:r>
            <a:endParaRPr lang="en-US"/>
          </a:p>
        </p:txBody>
      </p:sp>
      <p:pic>
        <p:nvPicPr>
          <p:cNvPr id="14339" name="Picture 3" descr="Scrum Artifacts #1 Product Backlog">
            <a:extLst>
              <a:ext uri="{FF2B5EF4-FFF2-40B4-BE49-F238E27FC236}">
                <a16:creationId xmlns:a16="http://schemas.microsoft.com/office/drawing/2014/main" id="{D7799ED0-BA88-48C8-B787-E9CD4EBD5831}"/>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7327900" y="2849440"/>
            <a:ext cx="6567488" cy="36419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414167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214C1AF-1D83-404E-AE95-98A9787E0FF1}"/>
              </a:ext>
            </a:extLst>
          </p:cNvPr>
          <p:cNvSpPr>
            <a:spLocks noGrp="1"/>
          </p:cNvSpPr>
          <p:nvPr>
            <p:ph sz="half" idx="1"/>
          </p:nvPr>
        </p:nvSpPr>
        <p:spPr/>
        <p:txBody>
          <a:bodyPr>
            <a:normAutofit fontScale="85000" lnSpcReduction="20000"/>
          </a:bodyPr>
          <a:lstStyle/>
          <a:p>
            <a:r>
              <a:rPr lang="en-US"/>
              <a:t>The core elements of the backlog, each representing a specific task or requirement. Common types include:</a:t>
            </a:r>
          </a:p>
          <a:p>
            <a:pPr>
              <a:buFont typeface="Arial" panose="020B0604020202020204" pitchFamily="34" charset="0"/>
              <a:buChar char="•"/>
            </a:pPr>
            <a:r>
              <a:rPr lang="en-US" b="1"/>
              <a:t>User Stories:</a:t>
            </a:r>
            <a:r>
              <a:rPr lang="en-US"/>
              <a:t> Short, simple descriptions of a feature or functionality from the user's perspective.</a:t>
            </a:r>
          </a:p>
          <a:p>
            <a:pPr>
              <a:buFont typeface="Arial" panose="020B0604020202020204" pitchFamily="34" charset="0"/>
              <a:buChar char="•"/>
            </a:pPr>
            <a:r>
              <a:rPr lang="en-US" b="1"/>
              <a:t>Bugs:</a:t>
            </a:r>
            <a:r>
              <a:rPr lang="en-US"/>
              <a:t> Defects or errors in the product that need to be resolved.</a:t>
            </a:r>
          </a:p>
          <a:p>
            <a:pPr>
              <a:buFont typeface="Arial" panose="020B0604020202020204" pitchFamily="34" charset="0"/>
              <a:buChar char="•"/>
            </a:pPr>
            <a:r>
              <a:rPr lang="en-US" b="1"/>
              <a:t>Technical Tasks:</a:t>
            </a:r>
            <a:r>
              <a:rPr lang="en-US"/>
              <a:t> Infrastructure work or technical improvements necessary for product stability or scalability.</a:t>
            </a:r>
          </a:p>
          <a:p>
            <a:pPr>
              <a:buFont typeface="Arial" panose="020B0604020202020204" pitchFamily="34" charset="0"/>
              <a:buChar char="•"/>
            </a:pPr>
            <a:r>
              <a:rPr lang="en-US" b="1"/>
              <a:t>Spikes:</a:t>
            </a:r>
            <a:r>
              <a:rPr lang="en-US"/>
              <a:t> Research tasks to explore unknowns or reduce uncertainties.</a:t>
            </a:r>
          </a:p>
          <a:p>
            <a:endParaRPr lang="en-US"/>
          </a:p>
        </p:txBody>
      </p:sp>
      <p:sp>
        <p:nvSpPr>
          <p:cNvPr id="4" name="Slide Number Placeholder 3">
            <a:extLst>
              <a:ext uri="{FF2B5EF4-FFF2-40B4-BE49-F238E27FC236}">
                <a16:creationId xmlns:a16="http://schemas.microsoft.com/office/drawing/2014/main" id="{A054E0E4-6DAB-4031-AEAA-18996F703086}"/>
              </a:ext>
            </a:extLst>
          </p:cNvPr>
          <p:cNvSpPr>
            <a:spLocks noGrp="1"/>
          </p:cNvSpPr>
          <p:nvPr>
            <p:ph type="sldNum" sz="quarter" idx="4"/>
          </p:nvPr>
        </p:nvSpPr>
        <p:spPr/>
        <p:txBody>
          <a:bodyPr/>
          <a:lstStyle/>
          <a:p>
            <a:fld id="{31D26D55-0A22-487A-A687-61FB58A6F16A}" type="slidenum">
              <a:rPr lang="en-US" smtClean="0"/>
              <a:pPr/>
              <a:t>21</a:t>
            </a:fld>
            <a:endParaRPr lang="en-US"/>
          </a:p>
        </p:txBody>
      </p:sp>
      <p:sp>
        <p:nvSpPr>
          <p:cNvPr id="5" name="Title 4">
            <a:extLst>
              <a:ext uri="{FF2B5EF4-FFF2-40B4-BE49-F238E27FC236}">
                <a16:creationId xmlns:a16="http://schemas.microsoft.com/office/drawing/2014/main" id="{200B8BF9-4452-4885-96E8-FCB5DF885F3D}"/>
              </a:ext>
            </a:extLst>
          </p:cNvPr>
          <p:cNvSpPr>
            <a:spLocks noGrp="1"/>
          </p:cNvSpPr>
          <p:nvPr>
            <p:ph type="title"/>
          </p:nvPr>
        </p:nvSpPr>
        <p:spPr/>
        <p:txBody>
          <a:bodyPr/>
          <a:lstStyle/>
          <a:p>
            <a:r>
              <a:rPr lang="en-US"/>
              <a:t>Product Backlog Items</a:t>
            </a:r>
          </a:p>
        </p:txBody>
      </p:sp>
      <p:pic>
        <p:nvPicPr>
          <p:cNvPr id="6" name="Picture 4" descr="The 4 product backlog components:">
            <a:extLst>
              <a:ext uri="{FF2B5EF4-FFF2-40B4-BE49-F238E27FC236}">
                <a16:creationId xmlns:a16="http://schemas.microsoft.com/office/drawing/2014/main" id="{31EFE9C2-693C-4E9D-8084-F3FA5E17463F}"/>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7355980" y="1928813"/>
            <a:ext cx="6511328" cy="54832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7845361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FB6E772-45A6-4DFD-910D-3F643D737D4F}"/>
              </a:ext>
            </a:extLst>
          </p:cNvPr>
          <p:cNvSpPr>
            <a:spLocks noGrp="1"/>
          </p:cNvSpPr>
          <p:nvPr>
            <p:ph sz="half" idx="1"/>
          </p:nvPr>
        </p:nvSpPr>
        <p:spPr/>
        <p:txBody>
          <a:bodyPr>
            <a:normAutofit fontScale="62500" lnSpcReduction="20000"/>
          </a:bodyPr>
          <a:lstStyle/>
          <a:p>
            <a:r>
              <a:rPr lang="en-US" dirty="0"/>
              <a:t>A way to capture and describe a feature or requirement from the perspective of the end-user or customer. </a:t>
            </a:r>
          </a:p>
          <a:p>
            <a:r>
              <a:rPr lang="en-US" dirty="0"/>
              <a:t>User stories are typically short, simple descriptions written in non-technical language.</a:t>
            </a:r>
          </a:p>
          <a:p>
            <a:r>
              <a:rPr lang="en-US" dirty="0"/>
              <a:t>Common standard format: </a:t>
            </a:r>
          </a:p>
          <a:p>
            <a:pPr lvl="1"/>
            <a:r>
              <a:rPr lang="en-US" dirty="0"/>
              <a:t>As a [type of user],</a:t>
            </a:r>
          </a:p>
          <a:p>
            <a:pPr lvl="1"/>
            <a:r>
              <a:rPr lang="en-US" dirty="0"/>
              <a:t>I want [a specific feature or capability],</a:t>
            </a:r>
          </a:p>
          <a:p>
            <a:pPr lvl="1"/>
            <a:r>
              <a:rPr lang="en-US" dirty="0"/>
              <a:t>so that [the benefit or value it provides]</a:t>
            </a:r>
          </a:p>
          <a:p>
            <a:r>
              <a:rPr lang="en-US" dirty="0"/>
              <a:t>Example User Stories</a:t>
            </a:r>
          </a:p>
          <a:p>
            <a:pPr lvl="1"/>
            <a:r>
              <a:rPr lang="en-US" dirty="0"/>
              <a:t>For an E-commerce Application: As a shopper, I want to view items in my shopping cart, so that I can confirm what I am purchasing before checkout.</a:t>
            </a:r>
          </a:p>
          <a:p>
            <a:pPr lvl="1"/>
            <a:r>
              <a:rPr lang="en-US" dirty="0"/>
              <a:t>For a Banking App: As a user, I want to set up recurring payments, so that I can automate my monthly bills.</a:t>
            </a:r>
          </a:p>
          <a:p>
            <a:pPr lvl="1"/>
            <a:r>
              <a:rPr lang="en-US" dirty="0"/>
              <a:t>For a Project Management Tool: As a team member, I want to receive notifications when a task is assigned to me, so that I can stay informed and take timely action.</a:t>
            </a:r>
          </a:p>
        </p:txBody>
      </p:sp>
      <p:sp>
        <p:nvSpPr>
          <p:cNvPr id="4" name="Slide Number Placeholder 3">
            <a:extLst>
              <a:ext uri="{FF2B5EF4-FFF2-40B4-BE49-F238E27FC236}">
                <a16:creationId xmlns:a16="http://schemas.microsoft.com/office/drawing/2014/main" id="{BB554E7D-9DC9-48E9-9B1A-5F7AE8E3805A}"/>
              </a:ext>
            </a:extLst>
          </p:cNvPr>
          <p:cNvSpPr>
            <a:spLocks noGrp="1"/>
          </p:cNvSpPr>
          <p:nvPr>
            <p:ph type="sldNum" sz="quarter" idx="4"/>
          </p:nvPr>
        </p:nvSpPr>
        <p:spPr/>
        <p:txBody>
          <a:bodyPr/>
          <a:lstStyle/>
          <a:p>
            <a:fld id="{31D26D55-0A22-487A-A687-61FB58A6F16A}" type="slidenum">
              <a:rPr lang="en-US" smtClean="0"/>
              <a:pPr/>
              <a:t>22</a:t>
            </a:fld>
            <a:endParaRPr lang="en-US"/>
          </a:p>
        </p:txBody>
      </p:sp>
      <p:sp>
        <p:nvSpPr>
          <p:cNvPr id="5" name="Title 4">
            <a:extLst>
              <a:ext uri="{FF2B5EF4-FFF2-40B4-BE49-F238E27FC236}">
                <a16:creationId xmlns:a16="http://schemas.microsoft.com/office/drawing/2014/main" id="{8B0311AC-00B4-4E40-8241-79A73C2202A9}"/>
              </a:ext>
            </a:extLst>
          </p:cNvPr>
          <p:cNvSpPr>
            <a:spLocks noGrp="1"/>
          </p:cNvSpPr>
          <p:nvPr>
            <p:ph type="title"/>
          </p:nvPr>
        </p:nvSpPr>
        <p:spPr/>
        <p:txBody>
          <a:bodyPr>
            <a:normAutofit/>
          </a:bodyPr>
          <a:lstStyle/>
          <a:p>
            <a:r>
              <a:rPr lang="en-US" dirty="0"/>
              <a:t>User Stories</a:t>
            </a:r>
          </a:p>
        </p:txBody>
      </p:sp>
      <p:pic>
        <p:nvPicPr>
          <p:cNvPr id="6" name="Picture 2">
            <a:extLst>
              <a:ext uri="{FF2B5EF4-FFF2-40B4-BE49-F238E27FC236}">
                <a16:creationId xmlns:a16="http://schemas.microsoft.com/office/drawing/2014/main" id="{9B88F426-2B55-429D-8A58-8B4ED51BEAA4}"/>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7327900" y="2951933"/>
            <a:ext cx="6567488" cy="34369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4259819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7D8BDFB-8032-41B8-B357-ABDCE68F619C}"/>
              </a:ext>
            </a:extLst>
          </p:cNvPr>
          <p:cNvSpPr>
            <a:spLocks noGrp="1"/>
          </p:cNvSpPr>
          <p:nvPr>
            <p:ph sz="half" idx="2"/>
          </p:nvPr>
        </p:nvSpPr>
        <p:spPr/>
        <p:txBody>
          <a:bodyPr>
            <a:normAutofit fontScale="70000" lnSpcReduction="20000"/>
          </a:bodyPr>
          <a:lstStyle/>
          <a:p>
            <a:r>
              <a:rPr lang="en-US"/>
              <a:t>Prioritization:</a:t>
            </a:r>
          </a:p>
          <a:p>
            <a:pPr lvl="1"/>
            <a:r>
              <a:rPr lang="en-US"/>
              <a:t>Bugs should be prioritized based on their impact and urgency, just like other backlog items.</a:t>
            </a:r>
          </a:p>
          <a:p>
            <a:pPr lvl="1"/>
            <a:r>
              <a:rPr lang="en-US"/>
              <a:t> A critical bug affecting many users might take precedence over new features.</a:t>
            </a:r>
          </a:p>
          <a:p>
            <a:r>
              <a:rPr lang="en-US"/>
              <a:t>Description:</a:t>
            </a:r>
          </a:p>
          <a:p>
            <a:pPr lvl="1"/>
            <a:r>
              <a:rPr lang="en-US"/>
              <a:t>Bugs need a clear and concise description to ensure the development team understands the problem and how to address it.</a:t>
            </a:r>
          </a:p>
          <a:p>
            <a:r>
              <a:rPr lang="en-US"/>
              <a:t>Acceptance Criteria:</a:t>
            </a:r>
          </a:p>
          <a:p>
            <a:pPr lvl="1"/>
            <a:r>
              <a:rPr lang="en-US"/>
              <a:t>Like user stories, bugs should include acceptance criteria to verify that the issue has been resolved.</a:t>
            </a:r>
          </a:p>
          <a:p>
            <a:r>
              <a:rPr lang="en-US"/>
              <a:t>Estimation:</a:t>
            </a:r>
          </a:p>
          <a:p>
            <a:pPr lvl="1"/>
            <a:r>
              <a:rPr lang="en-US"/>
              <a:t>The development team should estimate the effort required to fix the bug, helping with sprint planning.</a:t>
            </a:r>
          </a:p>
        </p:txBody>
      </p:sp>
      <p:sp>
        <p:nvSpPr>
          <p:cNvPr id="4" name="Slide Number Placeholder 3">
            <a:extLst>
              <a:ext uri="{FF2B5EF4-FFF2-40B4-BE49-F238E27FC236}">
                <a16:creationId xmlns:a16="http://schemas.microsoft.com/office/drawing/2014/main" id="{7D03B88F-8610-4DB8-917D-DF57E032FAE2}"/>
              </a:ext>
            </a:extLst>
          </p:cNvPr>
          <p:cNvSpPr>
            <a:spLocks noGrp="1"/>
          </p:cNvSpPr>
          <p:nvPr>
            <p:ph type="sldNum" sz="quarter" idx="4"/>
          </p:nvPr>
        </p:nvSpPr>
        <p:spPr/>
        <p:txBody>
          <a:bodyPr/>
          <a:lstStyle/>
          <a:p>
            <a:fld id="{31D26D55-0A22-487A-A687-61FB58A6F16A}" type="slidenum">
              <a:rPr lang="en-US" smtClean="0"/>
              <a:pPr/>
              <a:t>23</a:t>
            </a:fld>
            <a:endParaRPr lang="en-US"/>
          </a:p>
        </p:txBody>
      </p:sp>
      <p:sp>
        <p:nvSpPr>
          <p:cNvPr id="5" name="Title 4">
            <a:extLst>
              <a:ext uri="{FF2B5EF4-FFF2-40B4-BE49-F238E27FC236}">
                <a16:creationId xmlns:a16="http://schemas.microsoft.com/office/drawing/2014/main" id="{6C1D6990-D835-48E4-9B19-1D4706D4621E}"/>
              </a:ext>
            </a:extLst>
          </p:cNvPr>
          <p:cNvSpPr>
            <a:spLocks noGrp="1"/>
          </p:cNvSpPr>
          <p:nvPr>
            <p:ph type="title"/>
          </p:nvPr>
        </p:nvSpPr>
        <p:spPr/>
        <p:txBody>
          <a:bodyPr/>
          <a:lstStyle/>
          <a:p>
            <a:r>
              <a:rPr lang="en-US"/>
              <a:t>Bugs</a:t>
            </a:r>
          </a:p>
        </p:txBody>
      </p:sp>
      <p:pic>
        <p:nvPicPr>
          <p:cNvPr id="16387" name="Picture 3" descr="Product Backlog – Should Bugs Be Part Of This?">
            <a:extLst>
              <a:ext uri="{FF2B5EF4-FFF2-40B4-BE49-F238E27FC236}">
                <a16:creationId xmlns:a16="http://schemas.microsoft.com/office/drawing/2014/main" id="{82F8298C-0416-4DF8-A9BB-31E3321E0A4D}"/>
              </a:ext>
            </a:extLst>
          </p:cNvPr>
          <p:cNvPicPr>
            <a:picLocks noGrp="1" noChangeAspect="1" noChangeArrowheads="1"/>
          </p:cNvPicPr>
          <p:nvPr>
            <p:ph sz="half" idx="1"/>
          </p:nvPr>
        </p:nvPicPr>
        <p:blipFill rotWithShape="1">
          <a:blip r:embed="rId3">
            <a:extLst>
              <a:ext uri="{28A0092B-C50C-407E-A947-70E740481C1C}">
                <a14:useLocalDpi xmlns:a14="http://schemas.microsoft.com/office/drawing/2010/main" val="0"/>
              </a:ext>
            </a:extLst>
          </a:blip>
          <a:srcRect r="40029"/>
          <a:stretch/>
        </p:blipFill>
        <p:spPr bwMode="auto">
          <a:xfrm>
            <a:off x="976313" y="1928230"/>
            <a:ext cx="5627687" cy="49085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423163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94D15CF-49E6-4606-8CCF-1E825C081A2B}"/>
              </a:ext>
            </a:extLst>
          </p:cNvPr>
          <p:cNvSpPr>
            <a:spLocks noGrp="1"/>
          </p:cNvSpPr>
          <p:nvPr>
            <p:ph sz="half" idx="1"/>
          </p:nvPr>
        </p:nvSpPr>
        <p:spPr/>
        <p:txBody>
          <a:bodyPr>
            <a:normAutofit fontScale="85000" lnSpcReduction="10000"/>
          </a:bodyPr>
          <a:lstStyle/>
          <a:p>
            <a:r>
              <a:rPr lang="en-US"/>
              <a:t>Non-User-Facing: technical tasks often focus on </a:t>
            </a:r>
          </a:p>
          <a:p>
            <a:pPr lvl="1"/>
            <a:r>
              <a:rPr lang="en-US"/>
              <a:t>backend work.</a:t>
            </a:r>
          </a:p>
          <a:p>
            <a:pPr lvl="1"/>
            <a:r>
              <a:rPr lang="en-US"/>
              <a:t>Infrastructure.</a:t>
            </a:r>
          </a:p>
          <a:p>
            <a:pPr lvl="1"/>
            <a:r>
              <a:rPr lang="en-US"/>
              <a:t>other aspects that the end user does not directly see.</a:t>
            </a:r>
          </a:p>
          <a:p>
            <a:r>
              <a:rPr lang="en-US"/>
              <a:t>Specific and Actionable:</a:t>
            </a:r>
          </a:p>
          <a:p>
            <a:pPr lvl="1"/>
            <a:r>
              <a:rPr lang="en-US"/>
              <a:t>clearly describe the work required.</a:t>
            </a:r>
          </a:p>
          <a:p>
            <a:r>
              <a:rPr lang="en-US"/>
              <a:t>Supportive: </a:t>
            </a:r>
          </a:p>
          <a:p>
            <a:pPr lvl="1"/>
            <a:r>
              <a:rPr lang="en-US"/>
              <a:t>support larger user stories or epics and contribute to achieving the sprint goal.</a:t>
            </a:r>
          </a:p>
          <a:p>
            <a:r>
              <a:rPr lang="en-US"/>
              <a:t>Estimated: </a:t>
            </a:r>
          </a:p>
          <a:p>
            <a:pPr lvl="1"/>
            <a:r>
              <a:rPr lang="en-US"/>
              <a:t>small enough to estimate and complete within a sprint.</a:t>
            </a:r>
          </a:p>
        </p:txBody>
      </p:sp>
      <p:sp>
        <p:nvSpPr>
          <p:cNvPr id="4" name="Slide Number Placeholder 3">
            <a:extLst>
              <a:ext uri="{FF2B5EF4-FFF2-40B4-BE49-F238E27FC236}">
                <a16:creationId xmlns:a16="http://schemas.microsoft.com/office/drawing/2014/main" id="{E1D803F8-86DD-419D-AB4E-A3B0DFCC70DC}"/>
              </a:ext>
            </a:extLst>
          </p:cNvPr>
          <p:cNvSpPr>
            <a:spLocks noGrp="1"/>
          </p:cNvSpPr>
          <p:nvPr>
            <p:ph type="sldNum" sz="quarter" idx="4"/>
          </p:nvPr>
        </p:nvSpPr>
        <p:spPr/>
        <p:txBody>
          <a:bodyPr/>
          <a:lstStyle/>
          <a:p>
            <a:fld id="{31D26D55-0A22-487A-A687-61FB58A6F16A}" type="slidenum">
              <a:rPr lang="en-US" smtClean="0"/>
              <a:pPr/>
              <a:t>24</a:t>
            </a:fld>
            <a:endParaRPr lang="en-US"/>
          </a:p>
        </p:txBody>
      </p:sp>
      <p:sp>
        <p:nvSpPr>
          <p:cNvPr id="5" name="Title 4">
            <a:extLst>
              <a:ext uri="{FF2B5EF4-FFF2-40B4-BE49-F238E27FC236}">
                <a16:creationId xmlns:a16="http://schemas.microsoft.com/office/drawing/2014/main" id="{ECB8A10B-4E16-4011-8E9B-8E38F44F195F}"/>
              </a:ext>
            </a:extLst>
          </p:cNvPr>
          <p:cNvSpPr>
            <a:spLocks noGrp="1"/>
          </p:cNvSpPr>
          <p:nvPr>
            <p:ph type="title"/>
          </p:nvPr>
        </p:nvSpPr>
        <p:spPr/>
        <p:txBody>
          <a:bodyPr/>
          <a:lstStyle/>
          <a:p>
            <a:r>
              <a:rPr lang="en-US" dirty="0"/>
              <a:t>Technical Tasks</a:t>
            </a:r>
          </a:p>
        </p:txBody>
      </p:sp>
      <p:pic>
        <p:nvPicPr>
          <p:cNvPr id="17411" name="Picture 3" descr="What Task Boards Are, How to Create One, &amp; More | Inflectra">
            <a:extLst>
              <a:ext uri="{FF2B5EF4-FFF2-40B4-BE49-F238E27FC236}">
                <a16:creationId xmlns:a16="http://schemas.microsoft.com/office/drawing/2014/main" id="{2D161FA1-7D11-45D2-970C-961537474319}"/>
              </a:ext>
            </a:extLst>
          </p:cNvPr>
          <p:cNvPicPr>
            <a:picLocks noGrp="1" noChangeAspect="1" noChangeArrowheads="1"/>
          </p:cNvPicPr>
          <p:nvPr>
            <p:ph sz="half" idx="2"/>
          </p:nvPr>
        </p:nvPicPr>
        <p:blipFill rotWithShape="1">
          <a:blip r:embed="rId3">
            <a:extLst>
              <a:ext uri="{28A0092B-C50C-407E-A947-70E740481C1C}">
                <a14:useLocalDpi xmlns:a14="http://schemas.microsoft.com/office/drawing/2010/main" val="0"/>
              </a:ext>
            </a:extLst>
          </a:blip>
          <a:srcRect b="36152"/>
          <a:stretch/>
        </p:blipFill>
        <p:spPr bwMode="auto">
          <a:xfrm>
            <a:off x="7521115" y="2975772"/>
            <a:ext cx="6544581" cy="33890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7372676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Content Placeholder 8">
            <a:extLst>
              <a:ext uri="{FF2B5EF4-FFF2-40B4-BE49-F238E27FC236}">
                <a16:creationId xmlns:a16="http://schemas.microsoft.com/office/drawing/2014/main" id="{AF6D6486-F5EA-4E15-8FD0-412D7564ADDD}"/>
              </a:ext>
            </a:extLst>
          </p:cNvPr>
          <p:cNvGraphicFramePr>
            <a:graphicFrameLocks noGrp="1"/>
          </p:cNvGraphicFramePr>
          <p:nvPr>
            <p:ph idx="1"/>
            <p:extLst>
              <p:ext uri="{D42A27DB-BD31-4B8C-83A1-F6EECF244321}">
                <p14:modId xmlns:p14="http://schemas.microsoft.com/office/powerpoint/2010/main" val="276722195"/>
              </p:ext>
            </p:extLst>
          </p:nvPr>
        </p:nvGraphicFramePr>
        <p:xfrm>
          <a:off x="747713" y="1917700"/>
          <a:ext cx="13165137" cy="5494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Slide Number Placeholder 2">
            <a:extLst>
              <a:ext uri="{FF2B5EF4-FFF2-40B4-BE49-F238E27FC236}">
                <a16:creationId xmlns:a16="http://schemas.microsoft.com/office/drawing/2014/main" id="{1418F36A-438B-408D-B220-327166C250F5}"/>
              </a:ext>
            </a:extLst>
          </p:cNvPr>
          <p:cNvSpPr>
            <a:spLocks noGrp="1"/>
          </p:cNvSpPr>
          <p:nvPr>
            <p:ph type="sldNum" sz="quarter" idx="4"/>
          </p:nvPr>
        </p:nvSpPr>
        <p:spPr/>
        <p:txBody>
          <a:bodyPr/>
          <a:lstStyle/>
          <a:p>
            <a:fld id="{31D26D55-0A22-487A-A687-61FB58A6F16A}" type="slidenum">
              <a:rPr lang="en-US" smtClean="0"/>
              <a:pPr/>
              <a:t>25</a:t>
            </a:fld>
            <a:endParaRPr lang="en-US"/>
          </a:p>
        </p:txBody>
      </p:sp>
      <p:sp>
        <p:nvSpPr>
          <p:cNvPr id="4" name="Title 3">
            <a:extLst>
              <a:ext uri="{FF2B5EF4-FFF2-40B4-BE49-F238E27FC236}">
                <a16:creationId xmlns:a16="http://schemas.microsoft.com/office/drawing/2014/main" id="{BDC8B8F7-A70C-4589-9285-FBB0F7B23945}"/>
              </a:ext>
            </a:extLst>
          </p:cNvPr>
          <p:cNvSpPr>
            <a:spLocks noGrp="1"/>
          </p:cNvSpPr>
          <p:nvPr>
            <p:ph type="title"/>
          </p:nvPr>
        </p:nvSpPr>
        <p:spPr/>
        <p:txBody>
          <a:bodyPr/>
          <a:lstStyle/>
          <a:p>
            <a:r>
              <a:rPr lang="en-US"/>
              <a:t>Spikes</a:t>
            </a:r>
          </a:p>
        </p:txBody>
      </p:sp>
    </p:spTree>
    <p:extLst>
      <p:ext uri="{BB962C8B-B14F-4D97-AF65-F5344CB8AC3E}">
        <p14:creationId xmlns:p14="http://schemas.microsoft.com/office/powerpoint/2010/main" val="284601517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C2C60BD-C37F-42B8-909A-3D7301585AE1}"/>
              </a:ext>
            </a:extLst>
          </p:cNvPr>
          <p:cNvSpPr>
            <a:spLocks noGrp="1"/>
          </p:cNvSpPr>
          <p:nvPr>
            <p:ph sz="half" idx="1"/>
          </p:nvPr>
        </p:nvSpPr>
        <p:spPr/>
        <p:txBody>
          <a:bodyPr>
            <a:normAutofit fontScale="92500" lnSpcReduction="10000"/>
          </a:bodyPr>
          <a:lstStyle/>
          <a:p>
            <a:r>
              <a:rPr lang="en-US" dirty="0"/>
              <a:t>a set of clearly defined acceptance criteria that a product or task must meet to be considered complete</a:t>
            </a:r>
          </a:p>
          <a:p>
            <a:r>
              <a:rPr lang="en-US" dirty="0"/>
              <a:t>Benefits:</a:t>
            </a:r>
          </a:p>
          <a:p>
            <a:pPr lvl="1"/>
            <a:r>
              <a:rPr lang="en-US" b="1" dirty="0"/>
              <a:t>Enhances Transparency</a:t>
            </a:r>
            <a:r>
              <a:rPr lang="en-US" dirty="0"/>
              <a:t>: Provides a clear definition of when a product or task is complete.</a:t>
            </a:r>
          </a:p>
          <a:p>
            <a:pPr lvl="1"/>
            <a:r>
              <a:rPr lang="en-US" b="1" dirty="0"/>
              <a:t>Improves Quality</a:t>
            </a:r>
            <a:r>
              <a:rPr lang="en-US" dirty="0"/>
              <a:t>: ensure that work meets required quality standards.</a:t>
            </a:r>
          </a:p>
          <a:p>
            <a:pPr lvl="1"/>
            <a:r>
              <a:rPr lang="en-US" b="1" dirty="0"/>
              <a:t>Reduces Risks</a:t>
            </a:r>
            <a:r>
              <a:rPr lang="en-US" dirty="0"/>
              <a:t>: Avoids deploying unfinished or faulty products.</a:t>
            </a:r>
          </a:p>
          <a:p>
            <a:pPr lvl="1"/>
            <a:r>
              <a:rPr lang="en-US" b="1" dirty="0"/>
              <a:t>Facilitates Predictability</a:t>
            </a:r>
            <a:r>
              <a:rPr lang="en-US" dirty="0"/>
              <a:t>: Creates consistency in planning and estimating work.</a:t>
            </a:r>
          </a:p>
        </p:txBody>
      </p:sp>
      <p:sp>
        <p:nvSpPr>
          <p:cNvPr id="4" name="Slide Number Placeholder 3">
            <a:extLst>
              <a:ext uri="{FF2B5EF4-FFF2-40B4-BE49-F238E27FC236}">
                <a16:creationId xmlns:a16="http://schemas.microsoft.com/office/drawing/2014/main" id="{A18B93A7-BCB7-4054-BD0F-F526F81697A3}"/>
              </a:ext>
            </a:extLst>
          </p:cNvPr>
          <p:cNvSpPr>
            <a:spLocks noGrp="1"/>
          </p:cNvSpPr>
          <p:nvPr>
            <p:ph type="sldNum" sz="quarter" idx="4"/>
          </p:nvPr>
        </p:nvSpPr>
        <p:spPr/>
        <p:txBody>
          <a:bodyPr/>
          <a:lstStyle/>
          <a:p>
            <a:fld id="{31D26D55-0A22-487A-A687-61FB58A6F16A}" type="slidenum">
              <a:rPr lang="en-US" smtClean="0"/>
              <a:pPr/>
              <a:t>26</a:t>
            </a:fld>
            <a:endParaRPr lang="en-US"/>
          </a:p>
        </p:txBody>
      </p:sp>
      <p:sp>
        <p:nvSpPr>
          <p:cNvPr id="5" name="Title 4">
            <a:extLst>
              <a:ext uri="{FF2B5EF4-FFF2-40B4-BE49-F238E27FC236}">
                <a16:creationId xmlns:a16="http://schemas.microsoft.com/office/drawing/2014/main" id="{039726CF-88B7-45CF-9D10-9A2AF23C9782}"/>
              </a:ext>
            </a:extLst>
          </p:cNvPr>
          <p:cNvSpPr>
            <a:spLocks noGrp="1"/>
          </p:cNvSpPr>
          <p:nvPr>
            <p:ph type="title"/>
          </p:nvPr>
        </p:nvSpPr>
        <p:spPr/>
        <p:txBody>
          <a:bodyPr/>
          <a:lstStyle/>
          <a:p>
            <a:r>
              <a:rPr lang="en-US"/>
              <a:t>DOD – Definition of Done</a:t>
            </a:r>
          </a:p>
        </p:txBody>
      </p:sp>
      <p:pic>
        <p:nvPicPr>
          <p:cNvPr id="6" name="Picture 4" descr="Blog-Image">
            <a:extLst>
              <a:ext uri="{FF2B5EF4-FFF2-40B4-BE49-F238E27FC236}">
                <a16:creationId xmlns:a16="http://schemas.microsoft.com/office/drawing/2014/main" id="{D97C747E-D454-4734-9B48-F37D8C887B37}"/>
              </a:ext>
            </a:extLst>
          </p:cNvPr>
          <p:cNvPicPr>
            <a:picLocks noGrp="1" noChangeAspect="1" noChangeArrowheads="1"/>
          </p:cNvPicPr>
          <p:nvPr>
            <p:ph sz="half" idx="2"/>
          </p:nvPr>
        </p:nvPicPr>
        <p:blipFill rotWithShape="1">
          <a:blip r:embed="rId3">
            <a:extLst>
              <a:ext uri="{28A0092B-C50C-407E-A947-70E740481C1C}">
                <a14:useLocalDpi xmlns:a14="http://schemas.microsoft.com/office/drawing/2010/main" val="0"/>
              </a:ext>
            </a:extLst>
          </a:blip>
          <a:srcRect b="3564"/>
          <a:stretch/>
        </p:blipFill>
        <p:spPr bwMode="auto">
          <a:xfrm>
            <a:off x="7327900" y="2820920"/>
            <a:ext cx="6567488" cy="35671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4278623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10D8858-1FE4-4005-8DD8-3CFCF2382FE5}"/>
              </a:ext>
            </a:extLst>
          </p:cNvPr>
          <p:cNvSpPr>
            <a:spLocks noGrp="1"/>
          </p:cNvSpPr>
          <p:nvPr>
            <p:ph idx="1"/>
          </p:nvPr>
        </p:nvSpPr>
        <p:spPr/>
        <p:txBody>
          <a:bodyPr>
            <a:normAutofit fontScale="92500" lnSpcReduction="20000"/>
          </a:bodyPr>
          <a:lstStyle/>
          <a:p>
            <a:r>
              <a:rPr lang="en-US"/>
              <a:t>Development and Testing:</a:t>
            </a:r>
          </a:p>
          <a:p>
            <a:pPr lvl="1"/>
            <a:r>
              <a:rPr lang="en-US"/>
              <a:t>Code has been written and fully tested.</a:t>
            </a:r>
          </a:p>
          <a:p>
            <a:pPr lvl="1"/>
            <a:r>
              <a:rPr lang="en-US"/>
              <a:t>All unit tests pass successfully.</a:t>
            </a:r>
          </a:p>
          <a:p>
            <a:pPr lvl="1"/>
            <a:r>
              <a:rPr lang="en-US"/>
              <a:t>Integration testing has been conducted.</a:t>
            </a:r>
          </a:p>
          <a:p>
            <a:r>
              <a:rPr lang="en-US"/>
              <a:t>Quality and Performance:</a:t>
            </a:r>
          </a:p>
          <a:p>
            <a:pPr lvl="1"/>
            <a:r>
              <a:rPr lang="en-US"/>
              <a:t>Code has been reviewed and meets coding conventions.</a:t>
            </a:r>
          </a:p>
          <a:p>
            <a:pPr lvl="1"/>
            <a:r>
              <a:rPr lang="en-US"/>
              <a:t>Performance and security testing have been completed.</a:t>
            </a:r>
          </a:p>
          <a:p>
            <a:r>
              <a:rPr lang="en-US"/>
              <a:t>Deployment and Documentation:</a:t>
            </a:r>
          </a:p>
          <a:p>
            <a:pPr lvl="1"/>
            <a:r>
              <a:rPr lang="en-US"/>
              <a:t>Features are deployed to a staging or production environment.</a:t>
            </a:r>
          </a:p>
          <a:p>
            <a:pPr lvl="1"/>
            <a:r>
              <a:rPr lang="en-US"/>
              <a:t>Relevant documentation has been updated (e.g., user guides, API documentation).</a:t>
            </a:r>
          </a:p>
          <a:p>
            <a:r>
              <a:rPr lang="en-US"/>
              <a:t>Stakeholder Acceptance:</a:t>
            </a:r>
          </a:p>
          <a:p>
            <a:pPr lvl="1"/>
            <a:r>
              <a:rPr lang="en-US"/>
              <a:t>The product has been tested and accepted by the Product Owner.</a:t>
            </a:r>
          </a:p>
          <a:p>
            <a:pPr lvl="1"/>
            <a:r>
              <a:rPr lang="en-US"/>
              <a:t>All acceptance criteria outlined in the user story are met.</a:t>
            </a:r>
          </a:p>
        </p:txBody>
      </p:sp>
      <p:sp>
        <p:nvSpPr>
          <p:cNvPr id="3" name="Slide Number Placeholder 2">
            <a:extLst>
              <a:ext uri="{FF2B5EF4-FFF2-40B4-BE49-F238E27FC236}">
                <a16:creationId xmlns:a16="http://schemas.microsoft.com/office/drawing/2014/main" id="{C1BCFE89-D4A1-4881-8C7A-01476ECBA742}"/>
              </a:ext>
            </a:extLst>
          </p:cNvPr>
          <p:cNvSpPr>
            <a:spLocks noGrp="1"/>
          </p:cNvSpPr>
          <p:nvPr>
            <p:ph type="sldNum" sz="quarter" idx="4"/>
          </p:nvPr>
        </p:nvSpPr>
        <p:spPr/>
        <p:txBody>
          <a:bodyPr/>
          <a:lstStyle/>
          <a:p>
            <a:fld id="{31D26D55-0A22-487A-A687-61FB58A6F16A}" type="slidenum">
              <a:rPr lang="en-US" smtClean="0"/>
              <a:pPr/>
              <a:t>27</a:t>
            </a:fld>
            <a:endParaRPr lang="en-US"/>
          </a:p>
        </p:txBody>
      </p:sp>
      <p:sp>
        <p:nvSpPr>
          <p:cNvPr id="4" name="Title 3">
            <a:extLst>
              <a:ext uri="{FF2B5EF4-FFF2-40B4-BE49-F238E27FC236}">
                <a16:creationId xmlns:a16="http://schemas.microsoft.com/office/drawing/2014/main" id="{D2F0D079-8E58-4DD3-8D0E-187F05D47BBE}"/>
              </a:ext>
            </a:extLst>
          </p:cNvPr>
          <p:cNvSpPr>
            <a:spLocks noGrp="1"/>
          </p:cNvSpPr>
          <p:nvPr>
            <p:ph type="title"/>
          </p:nvPr>
        </p:nvSpPr>
        <p:spPr/>
        <p:txBody>
          <a:bodyPr/>
          <a:lstStyle/>
          <a:p>
            <a:r>
              <a:rPr lang="en-US"/>
              <a:t>Sample of DOD</a:t>
            </a:r>
          </a:p>
        </p:txBody>
      </p:sp>
    </p:spTree>
    <p:extLst>
      <p:ext uri="{BB962C8B-B14F-4D97-AF65-F5344CB8AC3E}">
        <p14:creationId xmlns:p14="http://schemas.microsoft.com/office/powerpoint/2010/main" val="204432508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B9682274-B6D0-483D-A605-7F15560EFFA1}"/>
              </a:ext>
            </a:extLst>
          </p:cNvPr>
          <p:cNvSpPr>
            <a:spLocks noGrp="1"/>
          </p:cNvSpPr>
          <p:nvPr>
            <p:ph type="sldNum" sz="quarter" idx="4"/>
          </p:nvPr>
        </p:nvSpPr>
        <p:spPr/>
        <p:txBody>
          <a:bodyPr/>
          <a:lstStyle/>
          <a:p>
            <a:fld id="{31D26D55-0A22-487A-A687-61FB58A6F16A}" type="slidenum">
              <a:rPr lang="en-US" smtClean="0"/>
              <a:pPr/>
              <a:t>28</a:t>
            </a:fld>
            <a:endParaRPr lang="en-US"/>
          </a:p>
        </p:txBody>
      </p:sp>
      <p:sp>
        <p:nvSpPr>
          <p:cNvPr id="4" name="Title 3">
            <a:extLst>
              <a:ext uri="{FF2B5EF4-FFF2-40B4-BE49-F238E27FC236}">
                <a16:creationId xmlns:a16="http://schemas.microsoft.com/office/drawing/2014/main" id="{AF384BC6-C88E-48F6-88F4-CC3F5BA1101B}"/>
              </a:ext>
            </a:extLst>
          </p:cNvPr>
          <p:cNvSpPr>
            <a:spLocks noGrp="1"/>
          </p:cNvSpPr>
          <p:nvPr>
            <p:ph type="title"/>
          </p:nvPr>
        </p:nvSpPr>
        <p:spPr/>
        <p:txBody>
          <a:bodyPr/>
          <a:lstStyle/>
          <a:p>
            <a:r>
              <a:rPr lang="en-US"/>
              <a:t>Sprint Backlog</a:t>
            </a:r>
          </a:p>
        </p:txBody>
      </p:sp>
      <p:pic>
        <p:nvPicPr>
          <p:cNvPr id="20482" name="Picture 2" descr="Product Backlog vs Sprint Backlog in Scrum | DoneTonic">
            <a:extLst>
              <a:ext uri="{FF2B5EF4-FFF2-40B4-BE49-F238E27FC236}">
                <a16:creationId xmlns:a16="http://schemas.microsoft.com/office/drawing/2014/main" id="{9B8F7C62-8A5C-4E85-839F-E15F7251EE39}"/>
              </a:ext>
            </a:extLst>
          </p:cNvPr>
          <p:cNvPicPr>
            <a:picLocks noGrp="1" noChangeAspect="1" noChangeArrowheads="1"/>
          </p:cNvPicPr>
          <p:nvPr>
            <p:ph idx="1"/>
          </p:nvPr>
        </p:nvPicPr>
        <p:blipFill rotWithShape="1">
          <a:blip r:embed="rId3">
            <a:extLst>
              <a:ext uri="{28A0092B-C50C-407E-A947-70E740481C1C}">
                <a14:useLocalDpi xmlns:a14="http://schemas.microsoft.com/office/drawing/2010/main" val="0"/>
              </a:ext>
            </a:extLst>
          </a:blip>
          <a:srcRect l="8873" t="12330" r="12677" b="11933"/>
          <a:stretch/>
        </p:blipFill>
        <p:spPr bwMode="auto">
          <a:xfrm>
            <a:off x="2042115" y="719356"/>
            <a:ext cx="10546170" cy="67908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2333523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99E8E8D-5868-482E-A6A7-3EC8857DFC71}"/>
              </a:ext>
            </a:extLst>
          </p:cNvPr>
          <p:cNvSpPr>
            <a:spLocks noGrp="1"/>
          </p:cNvSpPr>
          <p:nvPr>
            <p:ph sz="half" idx="1"/>
          </p:nvPr>
        </p:nvSpPr>
        <p:spPr/>
        <p:txBody>
          <a:bodyPr>
            <a:normAutofit fontScale="62500" lnSpcReduction="20000"/>
          </a:bodyPr>
          <a:lstStyle/>
          <a:p>
            <a:pPr marL="0" indent="0" algn="ctr">
              <a:buNone/>
            </a:pPr>
            <a:r>
              <a:rPr lang="en-US" sz="4000" b="1"/>
              <a:t>Components</a:t>
            </a:r>
          </a:p>
          <a:p>
            <a:r>
              <a:rPr lang="en-US" b="1"/>
              <a:t>Selected Product Backlog Items (PBIs)</a:t>
            </a:r>
            <a:r>
              <a:rPr lang="en-US"/>
              <a:t>:</a:t>
            </a:r>
          </a:p>
          <a:p>
            <a:pPr lvl="1"/>
            <a:r>
              <a:rPr lang="en-US"/>
              <a:t>User stories, bugs, or other backlog items chosen for the sprint during Sprint Planning.</a:t>
            </a:r>
          </a:p>
          <a:p>
            <a:pPr lvl="1"/>
            <a:r>
              <a:rPr lang="en-US"/>
              <a:t>These items align with the Sprint Goal.</a:t>
            </a:r>
          </a:p>
          <a:p>
            <a:r>
              <a:rPr lang="en-US" b="1"/>
              <a:t>Tasks</a:t>
            </a:r>
            <a:r>
              <a:rPr lang="en-US"/>
              <a:t>:</a:t>
            </a:r>
          </a:p>
          <a:p>
            <a:pPr lvl="1"/>
            <a:r>
              <a:rPr lang="en-US"/>
              <a:t>Detailed, actionable steps to implement each backlog item.</a:t>
            </a:r>
          </a:p>
          <a:p>
            <a:pPr lvl="1"/>
            <a:r>
              <a:rPr lang="en-US"/>
              <a:t>Tasks are often created during Sprint Planning or during the sprint.</a:t>
            </a:r>
          </a:p>
          <a:p>
            <a:r>
              <a:rPr lang="en-US" b="1"/>
              <a:t>Sprint Goal</a:t>
            </a:r>
            <a:r>
              <a:rPr lang="en-US"/>
              <a:t>:</a:t>
            </a:r>
          </a:p>
          <a:p>
            <a:pPr lvl="1"/>
            <a:r>
              <a:rPr lang="en-US"/>
              <a:t>A clear objective that provides focus and direction for the sprint.</a:t>
            </a:r>
          </a:p>
          <a:p>
            <a:pPr lvl="1"/>
            <a:r>
              <a:rPr lang="en-US"/>
              <a:t>All work in the Sprint Backlog contributes to achieving the Sprint Goal.</a:t>
            </a:r>
          </a:p>
          <a:p>
            <a:r>
              <a:rPr lang="en-US" b="1"/>
              <a:t>Progress Tracking</a:t>
            </a:r>
            <a:r>
              <a:rPr lang="en-US"/>
              <a:t>:</a:t>
            </a:r>
          </a:p>
          <a:p>
            <a:pPr lvl="1"/>
            <a:r>
              <a:rPr lang="en-US"/>
              <a:t>The Sprint Backlog is updated daily as tasks are completed or adjusted.</a:t>
            </a:r>
          </a:p>
          <a:p>
            <a:pPr lvl="1"/>
            <a:r>
              <a:rPr lang="en-US"/>
              <a:t>Often visualized using tools like task boards or digital tools (e.g., Jira, Trello).</a:t>
            </a:r>
          </a:p>
        </p:txBody>
      </p:sp>
      <p:sp>
        <p:nvSpPr>
          <p:cNvPr id="3" name="Content Placeholder 2">
            <a:extLst>
              <a:ext uri="{FF2B5EF4-FFF2-40B4-BE49-F238E27FC236}">
                <a16:creationId xmlns:a16="http://schemas.microsoft.com/office/drawing/2014/main" id="{225FA57A-A7B6-44F0-884B-53A2F01986B3}"/>
              </a:ext>
            </a:extLst>
          </p:cNvPr>
          <p:cNvSpPr>
            <a:spLocks noGrp="1"/>
          </p:cNvSpPr>
          <p:nvPr>
            <p:ph sz="half" idx="2"/>
          </p:nvPr>
        </p:nvSpPr>
        <p:spPr/>
        <p:txBody>
          <a:bodyPr>
            <a:normAutofit/>
          </a:bodyPr>
          <a:lstStyle/>
          <a:p>
            <a:pPr marL="0" indent="0" algn="ctr">
              <a:buNone/>
            </a:pPr>
            <a:r>
              <a:rPr lang="en-US" sz="2500" b="1"/>
              <a:t>Characteristics</a:t>
            </a:r>
          </a:p>
          <a:p>
            <a:r>
              <a:rPr lang="en-US" sz="2100" b="1"/>
              <a:t>Owned by the Team</a:t>
            </a:r>
            <a:r>
              <a:rPr lang="en-US" sz="2100"/>
              <a:t>:</a:t>
            </a:r>
          </a:p>
          <a:p>
            <a:pPr lvl="1"/>
            <a:r>
              <a:rPr lang="en-US" sz="2100"/>
              <a:t>The Development Team owns and manages the Sprint Backlog.</a:t>
            </a:r>
          </a:p>
          <a:p>
            <a:pPr lvl="1"/>
            <a:r>
              <a:rPr lang="en-US" sz="2100"/>
              <a:t>Only the team can make changes to it during the sprint.</a:t>
            </a:r>
          </a:p>
          <a:p>
            <a:r>
              <a:rPr lang="en-US" sz="2100" b="1"/>
              <a:t>Dynamic</a:t>
            </a:r>
            <a:r>
              <a:rPr lang="en-US" sz="2100"/>
              <a:t>:</a:t>
            </a:r>
          </a:p>
          <a:p>
            <a:pPr lvl="1"/>
            <a:r>
              <a:rPr lang="en-US" sz="2100"/>
              <a:t>Tasks may be added, updated, or removed during the sprint as work progresses.</a:t>
            </a:r>
          </a:p>
          <a:p>
            <a:pPr lvl="1"/>
            <a:r>
              <a:rPr lang="en-US" sz="2100"/>
              <a:t>However, the scope of the Sprint Goal should remain stable.</a:t>
            </a:r>
          </a:p>
          <a:p>
            <a:r>
              <a:rPr lang="en-US" sz="2100" b="1"/>
              <a:t>Transparent</a:t>
            </a:r>
            <a:r>
              <a:rPr lang="en-US" sz="2100"/>
              <a:t>:</a:t>
            </a:r>
          </a:p>
          <a:p>
            <a:pPr lvl="1"/>
            <a:r>
              <a:rPr lang="en-US" sz="2100"/>
              <a:t>Visible to all stakeholders, ensuring transparency in the team's work and progress.</a:t>
            </a:r>
          </a:p>
        </p:txBody>
      </p:sp>
      <p:sp>
        <p:nvSpPr>
          <p:cNvPr id="4" name="Slide Number Placeholder 3">
            <a:extLst>
              <a:ext uri="{FF2B5EF4-FFF2-40B4-BE49-F238E27FC236}">
                <a16:creationId xmlns:a16="http://schemas.microsoft.com/office/drawing/2014/main" id="{C91F54F1-2DB1-4ED7-A5E6-3DF6EFDA97C4}"/>
              </a:ext>
            </a:extLst>
          </p:cNvPr>
          <p:cNvSpPr>
            <a:spLocks noGrp="1"/>
          </p:cNvSpPr>
          <p:nvPr>
            <p:ph type="sldNum" sz="quarter" idx="4"/>
          </p:nvPr>
        </p:nvSpPr>
        <p:spPr/>
        <p:txBody>
          <a:bodyPr/>
          <a:lstStyle/>
          <a:p>
            <a:fld id="{31D26D55-0A22-487A-A687-61FB58A6F16A}" type="slidenum">
              <a:rPr lang="en-US" smtClean="0"/>
              <a:pPr/>
              <a:t>29</a:t>
            </a:fld>
            <a:endParaRPr lang="en-US"/>
          </a:p>
        </p:txBody>
      </p:sp>
      <p:sp>
        <p:nvSpPr>
          <p:cNvPr id="5" name="Title 4">
            <a:extLst>
              <a:ext uri="{FF2B5EF4-FFF2-40B4-BE49-F238E27FC236}">
                <a16:creationId xmlns:a16="http://schemas.microsoft.com/office/drawing/2014/main" id="{8462C654-D2D1-4CC1-8EEF-2140DA97EDDD}"/>
              </a:ext>
            </a:extLst>
          </p:cNvPr>
          <p:cNvSpPr>
            <a:spLocks noGrp="1"/>
          </p:cNvSpPr>
          <p:nvPr>
            <p:ph type="title"/>
          </p:nvPr>
        </p:nvSpPr>
        <p:spPr/>
        <p:txBody>
          <a:bodyPr/>
          <a:lstStyle/>
          <a:p>
            <a:r>
              <a:rPr lang="en-US"/>
              <a:t>Sprint Backlog</a:t>
            </a:r>
          </a:p>
        </p:txBody>
      </p:sp>
    </p:spTree>
    <p:extLst>
      <p:ext uri="{BB962C8B-B14F-4D97-AF65-F5344CB8AC3E}">
        <p14:creationId xmlns:p14="http://schemas.microsoft.com/office/powerpoint/2010/main" val="232487011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8B33ADB-24D7-428C-BB70-7FE51B31CA5C}"/>
              </a:ext>
            </a:extLst>
          </p:cNvPr>
          <p:cNvSpPr>
            <a:spLocks noGrp="1"/>
          </p:cNvSpPr>
          <p:nvPr>
            <p:ph sz="half" idx="1"/>
          </p:nvPr>
        </p:nvSpPr>
        <p:spPr>
          <a:xfrm>
            <a:off x="569912" y="1028455"/>
            <a:ext cx="6745288" cy="6788162"/>
          </a:xfrm>
        </p:spPr>
        <p:txBody>
          <a:bodyPr>
            <a:normAutofit fontScale="85000" lnSpcReduction="20000"/>
          </a:bodyPr>
          <a:lstStyle/>
          <a:p>
            <a:r>
              <a:rPr lang="en-US" dirty="0"/>
              <a:t>Increments is the sum of </a:t>
            </a:r>
            <a:r>
              <a:rPr lang="en-US" b="1" dirty="0"/>
              <a:t>all completed work</a:t>
            </a:r>
          </a:p>
          <a:p>
            <a:r>
              <a:rPr lang="en-US" b="1" dirty="0"/>
              <a:t>Potentially Releasable:</a:t>
            </a:r>
          </a:p>
          <a:p>
            <a:pPr lvl="1"/>
            <a:r>
              <a:rPr lang="en-US" dirty="0"/>
              <a:t>At the end of every sprint, the increment must be in a state that can be released to stakeholders or end users, even if the Product Owner decides not to release it.</a:t>
            </a:r>
          </a:p>
          <a:p>
            <a:r>
              <a:rPr lang="en-US" b="1" dirty="0"/>
              <a:t>Cumulative:</a:t>
            </a:r>
          </a:p>
          <a:p>
            <a:pPr lvl="1"/>
            <a:r>
              <a:rPr lang="en-US" dirty="0"/>
              <a:t>Each new increment builds on the increments from all previous sprints, progressively adding value.</a:t>
            </a:r>
          </a:p>
          <a:p>
            <a:r>
              <a:rPr lang="en-US" b="1" dirty="0"/>
              <a:t>Aligned with the Definition of Done (DoD):</a:t>
            </a:r>
          </a:p>
          <a:p>
            <a:pPr lvl="1"/>
            <a:r>
              <a:rPr lang="en-US" dirty="0"/>
              <a:t>Only work that meets the team’s Definition of Done is included in the increment.</a:t>
            </a:r>
          </a:p>
          <a:p>
            <a:r>
              <a:rPr lang="en-US" b="1" dirty="0"/>
              <a:t>Delivering Value:</a:t>
            </a:r>
          </a:p>
          <a:p>
            <a:pPr lvl="1"/>
            <a:r>
              <a:rPr lang="en-US" dirty="0"/>
              <a:t>The increment should represent a tangible improvement or addition to the product that provides value to the customer or stakeholders.</a:t>
            </a:r>
          </a:p>
        </p:txBody>
      </p:sp>
      <p:sp>
        <p:nvSpPr>
          <p:cNvPr id="4" name="Slide Number Placeholder 3">
            <a:extLst>
              <a:ext uri="{FF2B5EF4-FFF2-40B4-BE49-F238E27FC236}">
                <a16:creationId xmlns:a16="http://schemas.microsoft.com/office/drawing/2014/main" id="{049F2528-F536-48D5-810F-CC67BDFF15FD}"/>
              </a:ext>
            </a:extLst>
          </p:cNvPr>
          <p:cNvSpPr>
            <a:spLocks noGrp="1"/>
          </p:cNvSpPr>
          <p:nvPr>
            <p:ph type="sldNum" sz="quarter" idx="4"/>
          </p:nvPr>
        </p:nvSpPr>
        <p:spPr/>
        <p:txBody>
          <a:bodyPr/>
          <a:lstStyle/>
          <a:p>
            <a:fld id="{31D26D55-0A22-487A-A687-61FB58A6F16A}" type="slidenum">
              <a:rPr lang="en-US" smtClean="0"/>
              <a:pPr/>
              <a:t>30</a:t>
            </a:fld>
            <a:endParaRPr lang="en-US"/>
          </a:p>
        </p:txBody>
      </p:sp>
      <p:sp>
        <p:nvSpPr>
          <p:cNvPr id="5" name="Title 4">
            <a:extLst>
              <a:ext uri="{FF2B5EF4-FFF2-40B4-BE49-F238E27FC236}">
                <a16:creationId xmlns:a16="http://schemas.microsoft.com/office/drawing/2014/main" id="{8F9A8932-E55D-40D4-8D76-30F4742CDA4D}"/>
              </a:ext>
            </a:extLst>
          </p:cNvPr>
          <p:cNvSpPr>
            <a:spLocks noGrp="1"/>
          </p:cNvSpPr>
          <p:nvPr>
            <p:ph type="title"/>
          </p:nvPr>
        </p:nvSpPr>
        <p:spPr/>
        <p:txBody>
          <a:bodyPr/>
          <a:lstStyle/>
          <a:p>
            <a:r>
              <a:rPr lang="en-US"/>
              <a:t>Scrum Increments</a:t>
            </a:r>
          </a:p>
        </p:txBody>
      </p:sp>
      <p:pic>
        <p:nvPicPr>
          <p:cNvPr id="22530" name="Picture 2">
            <a:extLst>
              <a:ext uri="{FF2B5EF4-FFF2-40B4-BE49-F238E27FC236}">
                <a16:creationId xmlns:a16="http://schemas.microsoft.com/office/drawing/2014/main" id="{6A3D2D66-AAC5-4FF6-8FF8-3CA9A2CC9814}"/>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7327900" y="1028455"/>
            <a:ext cx="6567488" cy="3641970"/>
          </a:xfrm>
          <a:prstGeom prst="rect">
            <a:avLst/>
          </a:prstGeom>
          <a:noFill/>
          <a:extLst>
            <a:ext uri="{909E8E84-426E-40DD-AFC4-6F175D3DCCD1}">
              <a14:hiddenFill xmlns:a14="http://schemas.microsoft.com/office/drawing/2010/main">
                <a:solidFill>
                  <a:srgbClr val="FFFFFF"/>
                </a:solidFill>
              </a14:hiddenFill>
            </a:ext>
          </a:extLst>
        </p:spPr>
      </p:pic>
      <p:sp>
        <p:nvSpPr>
          <p:cNvPr id="15" name="Content Placeholder 1">
            <a:extLst>
              <a:ext uri="{FF2B5EF4-FFF2-40B4-BE49-F238E27FC236}">
                <a16:creationId xmlns:a16="http://schemas.microsoft.com/office/drawing/2014/main" id="{016F3FC3-7A6A-4A86-84AB-1945CFD3A73E}"/>
              </a:ext>
            </a:extLst>
          </p:cNvPr>
          <p:cNvSpPr txBox="1">
            <a:spLocks/>
          </p:cNvSpPr>
          <p:nvPr/>
        </p:nvSpPr>
        <p:spPr>
          <a:xfrm>
            <a:off x="7492288" y="2233162"/>
            <a:ext cx="6568200" cy="5484126"/>
          </a:xfrm>
          <a:prstGeom prst="rect">
            <a:avLst/>
          </a:prstGeom>
        </p:spPr>
        <p:txBody>
          <a:bodyPr vert="horz" lIns="91440" tIns="45720" rIns="91440" bIns="45720" rtlCol="0">
            <a:normAutofit/>
          </a:bodyPr>
          <a:lstStyle>
            <a:lvl1pPr marL="274320" indent="-274320" algn="l" defTabSz="1097280" rtl="0" eaLnBrk="1" latinLnBrk="0" hangingPunct="1">
              <a:lnSpc>
                <a:spcPct val="90000"/>
              </a:lnSpc>
              <a:spcBef>
                <a:spcPts val="1200"/>
              </a:spcBef>
              <a:buFont typeface="Arial" panose="020B0604020202020204" pitchFamily="34" charset="0"/>
              <a:buChar char="•"/>
              <a:defRPr sz="3360" kern="1200">
                <a:solidFill>
                  <a:schemeClr val="tx1"/>
                </a:solidFill>
                <a:latin typeface="+mj-lt"/>
                <a:ea typeface="+mn-ea"/>
                <a:cs typeface="+mn-cs"/>
              </a:defRPr>
            </a:lvl1pPr>
            <a:lvl2pPr marL="822960" indent="-274320" algn="l" defTabSz="1097280" rtl="0" eaLnBrk="1" latinLnBrk="0" hangingPunct="1">
              <a:lnSpc>
                <a:spcPct val="90000"/>
              </a:lnSpc>
              <a:spcBef>
                <a:spcPts val="600"/>
              </a:spcBef>
              <a:buFont typeface="Arial" panose="020B0604020202020204" pitchFamily="34" charset="0"/>
              <a:buChar char="•"/>
              <a:defRPr sz="2880" kern="1200">
                <a:solidFill>
                  <a:schemeClr val="tx1"/>
                </a:solidFill>
                <a:latin typeface="+mj-lt"/>
                <a:ea typeface="+mn-ea"/>
                <a:cs typeface="+mn-cs"/>
              </a:defRPr>
            </a:lvl2pPr>
            <a:lvl3pPr marL="1371600" indent="-274320" algn="l" defTabSz="1097280" rtl="0" eaLnBrk="1" latinLnBrk="0" hangingPunct="1">
              <a:lnSpc>
                <a:spcPct val="90000"/>
              </a:lnSpc>
              <a:spcBef>
                <a:spcPts val="600"/>
              </a:spcBef>
              <a:buFont typeface="Arial" panose="020B0604020202020204" pitchFamily="34" charset="0"/>
              <a:buChar char="•"/>
              <a:defRPr sz="2400" kern="1200">
                <a:solidFill>
                  <a:schemeClr val="tx1"/>
                </a:solidFill>
                <a:latin typeface="+mj-lt"/>
                <a:ea typeface="+mn-ea"/>
                <a:cs typeface="+mn-cs"/>
              </a:defRPr>
            </a:lvl3pPr>
            <a:lvl4pPr marL="19202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j-lt"/>
                <a:ea typeface="+mn-ea"/>
                <a:cs typeface="+mn-cs"/>
              </a:defRPr>
            </a:lvl4pPr>
            <a:lvl5pPr marL="246888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j-lt"/>
                <a:ea typeface="+mn-ea"/>
                <a:cs typeface="+mn-cs"/>
              </a:defRPr>
            </a:lvl5pPr>
            <a:lvl6pPr marL="301752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6pPr>
            <a:lvl7pPr marL="356616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7pPr>
            <a:lvl8pPr marL="411480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8pPr>
            <a:lvl9pPr marL="46634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9pPr>
          </a:lstStyle>
          <a:p>
            <a:endParaRPr lang="en-US"/>
          </a:p>
        </p:txBody>
      </p:sp>
      <p:graphicFrame>
        <p:nvGraphicFramePr>
          <p:cNvPr id="13" name="Table 15">
            <a:extLst>
              <a:ext uri="{FF2B5EF4-FFF2-40B4-BE49-F238E27FC236}">
                <a16:creationId xmlns:a16="http://schemas.microsoft.com/office/drawing/2014/main" id="{50A581A5-580F-4465-8E13-2915C654CF4A}"/>
              </a:ext>
            </a:extLst>
          </p:cNvPr>
          <p:cNvGraphicFramePr>
            <a:graphicFrameLocks noGrp="1"/>
          </p:cNvGraphicFramePr>
          <p:nvPr>
            <p:extLst>
              <p:ext uri="{D42A27DB-BD31-4B8C-83A1-F6EECF244321}">
                <p14:modId xmlns:p14="http://schemas.microsoft.com/office/powerpoint/2010/main" val="2804599083"/>
              </p:ext>
            </p:extLst>
          </p:nvPr>
        </p:nvGraphicFramePr>
        <p:xfrm>
          <a:off x="7492288" y="4817385"/>
          <a:ext cx="6403101" cy="2999232"/>
        </p:xfrm>
        <a:graphic>
          <a:graphicData uri="http://schemas.openxmlformats.org/drawingml/2006/table">
            <a:tbl>
              <a:tblPr firstRow="1" bandRow="1">
                <a:tableStyleId>{5C22544A-7EE6-4342-B048-85BDC9FD1C3A}</a:tableStyleId>
              </a:tblPr>
              <a:tblGrid>
                <a:gridCol w="1448512">
                  <a:extLst>
                    <a:ext uri="{9D8B030D-6E8A-4147-A177-3AD203B41FA5}">
                      <a16:colId xmlns:a16="http://schemas.microsoft.com/office/drawing/2014/main" val="1514938630"/>
                    </a:ext>
                  </a:extLst>
                </a:gridCol>
                <a:gridCol w="2286000">
                  <a:extLst>
                    <a:ext uri="{9D8B030D-6E8A-4147-A177-3AD203B41FA5}">
                      <a16:colId xmlns:a16="http://schemas.microsoft.com/office/drawing/2014/main" val="4107721823"/>
                    </a:ext>
                  </a:extLst>
                </a:gridCol>
                <a:gridCol w="2668589">
                  <a:extLst>
                    <a:ext uri="{9D8B030D-6E8A-4147-A177-3AD203B41FA5}">
                      <a16:colId xmlns:a16="http://schemas.microsoft.com/office/drawing/2014/main" val="1169188551"/>
                    </a:ext>
                  </a:extLst>
                </a:gridCol>
              </a:tblGrid>
              <a:tr h="370840">
                <a:tc>
                  <a:txBody>
                    <a:bodyPr/>
                    <a:lstStyle/>
                    <a:p>
                      <a:endParaRPr lang="en-US"/>
                    </a:p>
                  </a:txBody>
                  <a:tcPr/>
                </a:tc>
                <a:tc>
                  <a:txBody>
                    <a:bodyPr/>
                    <a:lstStyle/>
                    <a:p>
                      <a:r>
                        <a:rPr lang="en-US"/>
                        <a:t>Increment</a:t>
                      </a:r>
                    </a:p>
                  </a:txBody>
                  <a:tcPr/>
                </a:tc>
                <a:tc>
                  <a:txBody>
                    <a:bodyPr/>
                    <a:lstStyle/>
                    <a:p>
                      <a:r>
                        <a:rPr lang="en-US"/>
                        <a:t>Backlog</a:t>
                      </a:r>
                    </a:p>
                  </a:txBody>
                  <a:tcPr/>
                </a:tc>
                <a:extLst>
                  <a:ext uri="{0D108BD9-81ED-4DB2-BD59-A6C34878D82A}">
                    <a16:rowId xmlns:a16="http://schemas.microsoft.com/office/drawing/2014/main" val="2035987321"/>
                  </a:ext>
                </a:extLst>
              </a:tr>
              <a:tr h="370840">
                <a:tc>
                  <a:txBody>
                    <a:bodyPr/>
                    <a:lstStyle/>
                    <a:p>
                      <a:r>
                        <a:rPr lang="en-US"/>
                        <a:t>Definition</a:t>
                      </a:r>
                    </a:p>
                  </a:txBody>
                  <a:tcPr/>
                </a:tc>
                <a:tc>
                  <a:txBody>
                    <a:bodyPr/>
                    <a:lstStyle/>
                    <a:p>
                      <a:r>
                        <a:rPr lang="en-US"/>
                        <a:t>The latest usable version of the product</a:t>
                      </a:r>
                    </a:p>
                  </a:txBody>
                  <a:tcPr anchor="ctr"/>
                </a:tc>
                <a:tc>
                  <a:txBody>
                    <a:bodyPr/>
                    <a:lstStyle/>
                    <a:p>
                      <a:r>
                        <a:rPr lang="en-US"/>
                        <a:t>The list of all work items for the product</a:t>
                      </a:r>
                    </a:p>
                  </a:txBody>
                  <a:tcPr anchor="ctr"/>
                </a:tc>
                <a:extLst>
                  <a:ext uri="{0D108BD9-81ED-4DB2-BD59-A6C34878D82A}">
                    <a16:rowId xmlns:a16="http://schemas.microsoft.com/office/drawing/2014/main" val="3148399620"/>
                  </a:ext>
                </a:extLst>
              </a:tr>
              <a:tr h="370840">
                <a:tc>
                  <a:txBody>
                    <a:bodyPr/>
                    <a:lstStyle/>
                    <a:p>
                      <a:r>
                        <a:rPr lang="en-US"/>
                        <a:t>State</a:t>
                      </a:r>
                    </a:p>
                  </a:txBody>
                  <a:tcPr/>
                </a:tc>
                <a:tc>
                  <a:txBody>
                    <a:bodyPr/>
                    <a:lstStyle/>
                    <a:p>
                      <a:r>
                        <a:rPr lang="en-US"/>
                        <a:t>Usable and potentially releasable</a:t>
                      </a:r>
                    </a:p>
                  </a:txBody>
                  <a:tcPr anchor="ctr"/>
                </a:tc>
                <a:tc>
                  <a:txBody>
                    <a:bodyPr/>
                    <a:lstStyle/>
                    <a:p>
                      <a:r>
                        <a:rPr lang="en-US"/>
                        <a:t>Includes work items in various stages of completion</a:t>
                      </a:r>
                    </a:p>
                  </a:txBody>
                  <a:tcPr anchor="ctr"/>
                </a:tc>
                <a:extLst>
                  <a:ext uri="{0D108BD9-81ED-4DB2-BD59-A6C34878D82A}">
                    <a16:rowId xmlns:a16="http://schemas.microsoft.com/office/drawing/2014/main" val="2561583316"/>
                  </a:ext>
                </a:extLst>
              </a:tr>
              <a:tr h="370840">
                <a:tc>
                  <a:txBody>
                    <a:bodyPr/>
                    <a:lstStyle/>
                    <a:p>
                      <a:r>
                        <a:rPr lang="en-US"/>
                        <a:t>Ownership</a:t>
                      </a:r>
                    </a:p>
                  </a:txBody>
                  <a:tcPr/>
                </a:tc>
                <a:tc>
                  <a:txBody>
                    <a:bodyPr/>
                    <a:lstStyle/>
                    <a:p>
                      <a:r>
                        <a:rPr lang="en-US"/>
                        <a:t>Product Owner</a:t>
                      </a:r>
                    </a:p>
                  </a:txBody>
                  <a:tcPr anchor="ctr"/>
                </a:tc>
                <a:tc>
                  <a:txBody>
                    <a:bodyPr/>
                    <a:lstStyle/>
                    <a:p>
                      <a:endParaRPr lang="en-US"/>
                    </a:p>
                  </a:txBody>
                  <a:tcPr/>
                </a:tc>
                <a:extLst>
                  <a:ext uri="{0D108BD9-81ED-4DB2-BD59-A6C34878D82A}">
                    <a16:rowId xmlns:a16="http://schemas.microsoft.com/office/drawing/2014/main" val="2400443157"/>
                  </a:ext>
                </a:extLst>
              </a:tr>
            </a:tbl>
          </a:graphicData>
        </a:graphic>
      </p:graphicFrame>
    </p:spTree>
    <p:extLst>
      <p:ext uri="{BB962C8B-B14F-4D97-AF65-F5344CB8AC3E}">
        <p14:creationId xmlns:p14="http://schemas.microsoft.com/office/powerpoint/2010/main" val="371872341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448AC1E-617D-4D8F-86C0-8C950132F547}"/>
              </a:ext>
            </a:extLst>
          </p:cNvPr>
          <p:cNvSpPr>
            <a:spLocks noGrp="1"/>
          </p:cNvSpPr>
          <p:nvPr>
            <p:ph type="sldNum" sz="quarter" idx="4"/>
          </p:nvPr>
        </p:nvSpPr>
        <p:spPr/>
        <p:txBody>
          <a:bodyPr/>
          <a:lstStyle/>
          <a:p>
            <a:fld id="{31D26D55-0A22-487A-A687-61FB58A6F16A}" type="slidenum">
              <a:rPr lang="en-US" smtClean="0"/>
              <a:pPr/>
              <a:t>31</a:t>
            </a:fld>
            <a:endParaRPr lang="en-US"/>
          </a:p>
        </p:txBody>
      </p:sp>
      <p:sp>
        <p:nvSpPr>
          <p:cNvPr id="5" name="Title 4">
            <a:extLst>
              <a:ext uri="{FF2B5EF4-FFF2-40B4-BE49-F238E27FC236}">
                <a16:creationId xmlns:a16="http://schemas.microsoft.com/office/drawing/2014/main" id="{39DFB66E-9116-4306-BC83-B7C07DEF1656}"/>
              </a:ext>
            </a:extLst>
          </p:cNvPr>
          <p:cNvSpPr>
            <a:spLocks noGrp="1"/>
          </p:cNvSpPr>
          <p:nvPr>
            <p:ph type="title"/>
          </p:nvPr>
        </p:nvSpPr>
        <p:spPr/>
        <p:txBody>
          <a:bodyPr/>
          <a:lstStyle/>
          <a:p>
            <a:r>
              <a:rPr lang="en-US"/>
              <a:t>Scrum Events</a:t>
            </a:r>
          </a:p>
        </p:txBody>
      </p:sp>
      <p:pic>
        <p:nvPicPr>
          <p:cNvPr id="2050" name="Picture 2" descr="What is Scrum Methodology? | IPM">
            <a:extLst>
              <a:ext uri="{FF2B5EF4-FFF2-40B4-BE49-F238E27FC236}">
                <a16:creationId xmlns:a16="http://schemas.microsoft.com/office/drawing/2014/main" id="{A0174F89-3B1D-43B5-BF18-BC6E611E08BA}"/>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1985962" y="1135804"/>
            <a:ext cx="10658476" cy="67108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0809562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1E961DD4-1445-40F2-AB6A-AF290676A406}"/>
              </a:ext>
            </a:extLst>
          </p:cNvPr>
          <p:cNvSpPr>
            <a:spLocks noGrp="1"/>
          </p:cNvSpPr>
          <p:nvPr>
            <p:ph type="sldNum" sz="quarter" idx="4"/>
          </p:nvPr>
        </p:nvSpPr>
        <p:spPr/>
        <p:txBody>
          <a:bodyPr/>
          <a:lstStyle/>
          <a:p>
            <a:fld id="{31D26D55-0A22-487A-A687-61FB58A6F16A}" type="slidenum">
              <a:rPr lang="en-US" smtClean="0">
                <a:latin typeface="+mj-lt"/>
              </a:rPr>
              <a:pPr/>
              <a:t>32</a:t>
            </a:fld>
            <a:endParaRPr lang="en-US">
              <a:latin typeface="+mj-lt"/>
            </a:endParaRPr>
          </a:p>
        </p:txBody>
      </p:sp>
      <p:sp>
        <p:nvSpPr>
          <p:cNvPr id="4" name="Title 3">
            <a:extLst>
              <a:ext uri="{FF2B5EF4-FFF2-40B4-BE49-F238E27FC236}">
                <a16:creationId xmlns:a16="http://schemas.microsoft.com/office/drawing/2014/main" id="{2F909ABA-4E07-4F81-8D95-B5B8EA1CA005}"/>
              </a:ext>
            </a:extLst>
          </p:cNvPr>
          <p:cNvSpPr>
            <a:spLocks noGrp="1"/>
          </p:cNvSpPr>
          <p:nvPr>
            <p:ph type="title"/>
          </p:nvPr>
        </p:nvSpPr>
        <p:spPr/>
        <p:txBody>
          <a:bodyPr/>
          <a:lstStyle/>
          <a:p>
            <a:r>
              <a:rPr lang="en-US"/>
              <a:t>Scrum Event: Sprint Planning</a:t>
            </a:r>
          </a:p>
        </p:txBody>
      </p:sp>
      <p:graphicFrame>
        <p:nvGraphicFramePr>
          <p:cNvPr id="21" name="Diagram 20">
            <a:extLst>
              <a:ext uri="{FF2B5EF4-FFF2-40B4-BE49-F238E27FC236}">
                <a16:creationId xmlns:a16="http://schemas.microsoft.com/office/drawing/2014/main" id="{18B65C03-5A0F-4364-9720-7C106997A391}"/>
              </a:ext>
            </a:extLst>
          </p:cNvPr>
          <p:cNvGraphicFramePr/>
          <p:nvPr>
            <p:extLst>
              <p:ext uri="{D42A27DB-BD31-4B8C-83A1-F6EECF244321}">
                <p14:modId xmlns:p14="http://schemas.microsoft.com/office/powerpoint/2010/main" val="1117143107"/>
              </p:ext>
            </p:extLst>
          </p:nvPr>
        </p:nvGraphicFramePr>
        <p:xfrm>
          <a:off x="629084" y="1125221"/>
          <a:ext cx="13158633" cy="65024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76545699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44AB903F-FFF4-49EE-8C53-43F998AC73AB}"/>
              </a:ext>
            </a:extLst>
          </p:cNvPr>
          <p:cNvSpPr>
            <a:spLocks noGrp="1"/>
          </p:cNvSpPr>
          <p:nvPr>
            <p:ph type="sldNum" sz="quarter" idx="4"/>
          </p:nvPr>
        </p:nvSpPr>
        <p:spPr/>
        <p:txBody>
          <a:bodyPr/>
          <a:lstStyle/>
          <a:p>
            <a:fld id="{31D26D55-0A22-487A-A687-61FB58A6F16A}" type="slidenum">
              <a:rPr lang="en-US" smtClean="0">
                <a:latin typeface="+mj-lt"/>
              </a:rPr>
              <a:pPr/>
              <a:t>33</a:t>
            </a:fld>
            <a:endParaRPr lang="en-US">
              <a:latin typeface="+mj-lt"/>
            </a:endParaRPr>
          </a:p>
        </p:txBody>
      </p:sp>
      <p:sp>
        <p:nvSpPr>
          <p:cNvPr id="4" name="Title 3">
            <a:extLst>
              <a:ext uri="{FF2B5EF4-FFF2-40B4-BE49-F238E27FC236}">
                <a16:creationId xmlns:a16="http://schemas.microsoft.com/office/drawing/2014/main" id="{61835438-ECDF-4701-AF76-EF27260E4050}"/>
              </a:ext>
            </a:extLst>
          </p:cNvPr>
          <p:cNvSpPr>
            <a:spLocks noGrp="1"/>
          </p:cNvSpPr>
          <p:nvPr>
            <p:ph type="title"/>
          </p:nvPr>
        </p:nvSpPr>
        <p:spPr/>
        <p:txBody>
          <a:bodyPr/>
          <a:lstStyle/>
          <a:p>
            <a:r>
              <a:rPr lang="en-US"/>
              <a:t>Scrum Event: Daily Scrum</a:t>
            </a:r>
          </a:p>
        </p:txBody>
      </p:sp>
      <p:pic>
        <p:nvPicPr>
          <p:cNvPr id="5" name="Picture 2" descr="15 Minute Timer – 123Timer">
            <a:extLst>
              <a:ext uri="{FF2B5EF4-FFF2-40B4-BE49-F238E27FC236}">
                <a16:creationId xmlns:a16="http://schemas.microsoft.com/office/drawing/2014/main" id="{B75F4563-9DA5-4BEF-B977-BC2E93C4A47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02372" y="1530841"/>
            <a:ext cx="1470705" cy="1470705"/>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4" descr="Accountability icons for free download | Freepik">
            <a:extLst>
              <a:ext uri="{FF2B5EF4-FFF2-40B4-BE49-F238E27FC236}">
                <a16:creationId xmlns:a16="http://schemas.microsoft.com/office/drawing/2014/main" id="{21EF9C93-7046-4991-BAD3-E43F19D7430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670754" y="3212799"/>
            <a:ext cx="2071304" cy="2071304"/>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Transparency icons for free download | Freepik">
            <a:extLst>
              <a:ext uri="{FF2B5EF4-FFF2-40B4-BE49-F238E27FC236}">
                <a16:creationId xmlns:a16="http://schemas.microsoft.com/office/drawing/2014/main" id="{5F3F9DD2-A93A-47DD-9784-502BFF15CB2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45593" y="5339339"/>
            <a:ext cx="1784263" cy="1784263"/>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C656FC9D-76D3-43A1-8087-CE84857FA7A0}"/>
              </a:ext>
            </a:extLst>
          </p:cNvPr>
          <p:cNvSpPr txBox="1"/>
          <p:nvPr/>
        </p:nvSpPr>
        <p:spPr>
          <a:xfrm>
            <a:off x="4138386" y="1789139"/>
            <a:ext cx="7603672" cy="954107"/>
          </a:xfrm>
          <a:prstGeom prst="rect">
            <a:avLst/>
          </a:prstGeom>
          <a:noFill/>
        </p:spPr>
        <p:txBody>
          <a:bodyPr wrap="square" rtlCol="0">
            <a:spAutoFit/>
          </a:bodyPr>
          <a:lstStyle/>
          <a:p>
            <a:pPr marL="285750" indent="-285750">
              <a:buFont typeface="Arial" panose="020B0604020202020204" pitchFamily="34" charset="0"/>
              <a:buChar char="•"/>
            </a:pPr>
            <a:r>
              <a:rPr lang="en-US" sz="2800">
                <a:latin typeface="+mj-lt"/>
              </a:rPr>
              <a:t>Max </a:t>
            </a:r>
            <a:r>
              <a:rPr lang="en-US" sz="2800" b="1">
                <a:latin typeface="+mj-lt"/>
              </a:rPr>
              <a:t>15-minute</a:t>
            </a:r>
            <a:r>
              <a:rPr lang="en-US" sz="2800">
                <a:latin typeface="+mj-lt"/>
              </a:rPr>
              <a:t> daily meeting.</a:t>
            </a:r>
          </a:p>
          <a:p>
            <a:pPr marL="285750" indent="-285750">
              <a:buFont typeface="Arial" panose="020B0604020202020204" pitchFamily="34" charset="0"/>
              <a:buChar char="•"/>
            </a:pPr>
            <a:r>
              <a:rPr lang="en-US" sz="2800">
                <a:latin typeface="+mj-lt"/>
              </a:rPr>
              <a:t>Team members </a:t>
            </a:r>
            <a:r>
              <a:rPr lang="en-US" sz="2800" b="1">
                <a:latin typeface="+mj-lt"/>
              </a:rPr>
              <a:t>shares </a:t>
            </a:r>
            <a:r>
              <a:rPr lang="en-US" sz="2800">
                <a:latin typeface="+mj-lt"/>
              </a:rPr>
              <a:t>their </a:t>
            </a:r>
            <a:r>
              <a:rPr lang="en-US" sz="2800" b="1">
                <a:latin typeface="+mj-lt"/>
              </a:rPr>
              <a:t>progress</a:t>
            </a:r>
            <a:r>
              <a:rPr lang="en-US" sz="2800">
                <a:latin typeface="+mj-lt"/>
              </a:rPr>
              <a:t>.</a:t>
            </a:r>
          </a:p>
        </p:txBody>
      </p:sp>
      <p:sp>
        <p:nvSpPr>
          <p:cNvPr id="9" name="TextBox 8">
            <a:extLst>
              <a:ext uri="{FF2B5EF4-FFF2-40B4-BE49-F238E27FC236}">
                <a16:creationId xmlns:a16="http://schemas.microsoft.com/office/drawing/2014/main" id="{9071AEEB-B594-4766-B90C-BE6CF2523AB4}"/>
              </a:ext>
            </a:extLst>
          </p:cNvPr>
          <p:cNvSpPr txBox="1"/>
          <p:nvPr/>
        </p:nvSpPr>
        <p:spPr>
          <a:xfrm>
            <a:off x="2302372" y="3771397"/>
            <a:ext cx="7603672" cy="954107"/>
          </a:xfrm>
          <a:prstGeom prst="rect">
            <a:avLst/>
          </a:prstGeom>
          <a:noFill/>
        </p:spPr>
        <p:txBody>
          <a:bodyPr wrap="square" rtlCol="0">
            <a:spAutoFit/>
          </a:bodyPr>
          <a:lstStyle/>
          <a:p>
            <a:pPr marL="285750" indent="-285750">
              <a:buFont typeface="Arial" panose="020B0604020202020204" pitchFamily="34" charset="0"/>
              <a:buChar char="•"/>
            </a:pPr>
            <a:r>
              <a:rPr lang="en-US" sz="2800" b="1">
                <a:latin typeface="+mj-lt"/>
              </a:rPr>
              <a:t>Each member</a:t>
            </a:r>
            <a:r>
              <a:rPr lang="en-US" sz="2800">
                <a:latin typeface="+mj-lt"/>
              </a:rPr>
              <a:t> report their work</a:t>
            </a:r>
          </a:p>
          <a:p>
            <a:pPr marL="285750" indent="-285750">
              <a:buFont typeface="Arial" panose="020B0604020202020204" pitchFamily="34" charset="0"/>
              <a:buChar char="•"/>
            </a:pPr>
            <a:r>
              <a:rPr lang="en-US" sz="2800">
                <a:latin typeface="+mj-lt"/>
              </a:rPr>
              <a:t>Identify any </a:t>
            </a:r>
            <a:r>
              <a:rPr lang="en-US" sz="2800" b="1">
                <a:latin typeface="+mj-lt"/>
              </a:rPr>
              <a:t>impediments</a:t>
            </a:r>
            <a:r>
              <a:rPr lang="en-US" sz="2800">
                <a:latin typeface="+mj-lt"/>
              </a:rPr>
              <a:t> may affect</a:t>
            </a:r>
          </a:p>
        </p:txBody>
      </p:sp>
      <p:sp>
        <p:nvSpPr>
          <p:cNvPr id="10" name="TextBox 9">
            <a:extLst>
              <a:ext uri="{FF2B5EF4-FFF2-40B4-BE49-F238E27FC236}">
                <a16:creationId xmlns:a16="http://schemas.microsoft.com/office/drawing/2014/main" id="{37428718-ECD3-465C-9435-8A8854355304}"/>
              </a:ext>
            </a:extLst>
          </p:cNvPr>
          <p:cNvSpPr txBox="1"/>
          <p:nvPr/>
        </p:nvSpPr>
        <p:spPr>
          <a:xfrm>
            <a:off x="4138386" y="5753656"/>
            <a:ext cx="7805964" cy="954107"/>
          </a:xfrm>
          <a:prstGeom prst="rect">
            <a:avLst/>
          </a:prstGeom>
          <a:noFill/>
        </p:spPr>
        <p:txBody>
          <a:bodyPr wrap="square" rtlCol="0">
            <a:spAutoFit/>
          </a:bodyPr>
          <a:lstStyle/>
          <a:p>
            <a:pPr marL="285750" indent="-285750">
              <a:buFont typeface="Arial" panose="020B0604020202020204" pitchFamily="34" charset="0"/>
              <a:buChar char="•"/>
            </a:pPr>
            <a:r>
              <a:rPr lang="en-US" sz="2800">
                <a:latin typeface="+mj-lt"/>
              </a:rPr>
              <a:t>Team can see the </a:t>
            </a:r>
            <a:r>
              <a:rPr lang="en-US" sz="2800" b="1">
                <a:latin typeface="+mj-lt"/>
              </a:rPr>
              <a:t>progress of everyone</a:t>
            </a:r>
          </a:p>
          <a:p>
            <a:pPr marL="285750" indent="-285750">
              <a:buFont typeface="Arial" panose="020B0604020202020204" pitchFamily="34" charset="0"/>
              <a:buChar char="•"/>
            </a:pPr>
            <a:r>
              <a:rPr lang="en-US" sz="2800">
                <a:latin typeface="+mj-lt"/>
              </a:rPr>
              <a:t>Identify areas where </a:t>
            </a:r>
            <a:r>
              <a:rPr lang="en-US" sz="2800" b="1">
                <a:latin typeface="+mj-lt"/>
              </a:rPr>
              <a:t>support</a:t>
            </a:r>
            <a:r>
              <a:rPr lang="en-US" sz="2800">
                <a:latin typeface="+mj-lt"/>
              </a:rPr>
              <a:t> may be needed</a:t>
            </a:r>
          </a:p>
        </p:txBody>
      </p:sp>
    </p:spTree>
    <p:extLst>
      <p:ext uri="{BB962C8B-B14F-4D97-AF65-F5344CB8AC3E}">
        <p14:creationId xmlns:p14="http://schemas.microsoft.com/office/powerpoint/2010/main" val="148777549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7A87B64F-9EBC-43A3-A191-230CA4072CAF}"/>
              </a:ext>
            </a:extLst>
          </p:cNvPr>
          <p:cNvSpPr>
            <a:spLocks noGrp="1"/>
          </p:cNvSpPr>
          <p:nvPr>
            <p:ph type="sldNum" sz="quarter" idx="4"/>
          </p:nvPr>
        </p:nvSpPr>
        <p:spPr/>
        <p:txBody>
          <a:bodyPr/>
          <a:lstStyle/>
          <a:p>
            <a:fld id="{31D26D55-0A22-487A-A687-61FB58A6F16A}" type="slidenum">
              <a:rPr lang="en-US" smtClean="0"/>
              <a:pPr/>
              <a:t>34</a:t>
            </a:fld>
            <a:endParaRPr lang="en-US"/>
          </a:p>
        </p:txBody>
      </p:sp>
      <p:sp>
        <p:nvSpPr>
          <p:cNvPr id="4" name="Title 3">
            <a:extLst>
              <a:ext uri="{FF2B5EF4-FFF2-40B4-BE49-F238E27FC236}">
                <a16:creationId xmlns:a16="http://schemas.microsoft.com/office/drawing/2014/main" id="{37E55D83-C9EC-4F0D-A1F1-2365732B4E1A}"/>
              </a:ext>
            </a:extLst>
          </p:cNvPr>
          <p:cNvSpPr>
            <a:spLocks noGrp="1"/>
          </p:cNvSpPr>
          <p:nvPr>
            <p:ph type="title"/>
          </p:nvPr>
        </p:nvSpPr>
        <p:spPr/>
        <p:txBody>
          <a:bodyPr/>
          <a:lstStyle/>
          <a:p>
            <a:r>
              <a:rPr lang="en-US"/>
              <a:t>Scrum Event: Sprint Review</a:t>
            </a:r>
          </a:p>
        </p:txBody>
      </p:sp>
      <p:pic>
        <p:nvPicPr>
          <p:cNvPr id="5" name="Image 0" descr="preencoded.png">
            <a:extLst>
              <a:ext uri="{FF2B5EF4-FFF2-40B4-BE49-F238E27FC236}">
                <a16:creationId xmlns:a16="http://schemas.microsoft.com/office/drawing/2014/main" id="{882D7612-5D76-41B3-AE89-E2FC93D65A00}"/>
              </a:ext>
            </a:extLst>
          </p:cNvPr>
          <p:cNvPicPr>
            <a:picLocks noChangeAspect="1"/>
          </p:cNvPicPr>
          <p:nvPr/>
        </p:nvPicPr>
        <p:blipFill>
          <a:blip r:embed="rId3"/>
          <a:stretch>
            <a:fillRect/>
          </a:stretch>
        </p:blipFill>
        <p:spPr>
          <a:xfrm>
            <a:off x="2954655" y="1705570"/>
            <a:ext cx="2163842" cy="1940838"/>
          </a:xfrm>
          <a:prstGeom prst="rect">
            <a:avLst/>
          </a:prstGeom>
        </p:spPr>
      </p:pic>
      <p:sp>
        <p:nvSpPr>
          <p:cNvPr id="6" name="Text 1">
            <a:extLst>
              <a:ext uri="{FF2B5EF4-FFF2-40B4-BE49-F238E27FC236}">
                <a16:creationId xmlns:a16="http://schemas.microsoft.com/office/drawing/2014/main" id="{D47D0949-CCA7-4EC9-BADF-00FC727FBAA0}"/>
              </a:ext>
            </a:extLst>
          </p:cNvPr>
          <p:cNvSpPr/>
          <p:nvPr/>
        </p:nvSpPr>
        <p:spPr>
          <a:xfrm>
            <a:off x="3978593" y="2717959"/>
            <a:ext cx="115848" cy="433149"/>
          </a:xfrm>
          <a:prstGeom prst="rect">
            <a:avLst/>
          </a:prstGeom>
          <a:noFill/>
          <a:ln/>
        </p:spPr>
        <p:txBody>
          <a:bodyPr wrap="none" lIns="0" tIns="0" rIns="0" bIns="0" rtlCol="0" anchor="t"/>
          <a:lstStyle/>
          <a:p>
            <a:pPr marL="0" indent="0" algn="ctr">
              <a:lnSpc>
                <a:spcPts val="3400"/>
              </a:lnSpc>
              <a:buNone/>
            </a:pPr>
            <a:r>
              <a:rPr lang="en-US" sz="2100" b="1">
                <a:solidFill>
                  <a:srgbClr val="3C3939"/>
                </a:solidFill>
                <a:ea typeface="Raleway" pitchFamily="34" charset="-122"/>
                <a:cs typeface="Raleway" pitchFamily="34" charset="-120"/>
              </a:rPr>
              <a:t>	</a:t>
            </a:r>
            <a:r>
              <a:rPr lang="en-US" sz="2800" b="1">
                <a:latin typeface="+mj-lt"/>
              </a:rPr>
              <a:t>1</a:t>
            </a:r>
          </a:p>
        </p:txBody>
      </p:sp>
      <p:sp>
        <p:nvSpPr>
          <p:cNvPr id="7" name="Text 2">
            <a:extLst>
              <a:ext uri="{FF2B5EF4-FFF2-40B4-BE49-F238E27FC236}">
                <a16:creationId xmlns:a16="http://schemas.microsoft.com/office/drawing/2014/main" id="{EF6D8F02-5A7C-480F-A7A0-A3B62CBAF719}"/>
              </a:ext>
            </a:extLst>
          </p:cNvPr>
          <p:cNvSpPr/>
          <p:nvPr/>
        </p:nvSpPr>
        <p:spPr>
          <a:xfrm>
            <a:off x="5335072" y="2095381"/>
            <a:ext cx="2707481" cy="338376"/>
          </a:xfrm>
          <a:prstGeom prst="rect">
            <a:avLst/>
          </a:prstGeom>
          <a:noFill/>
          <a:ln/>
        </p:spPr>
        <p:txBody>
          <a:bodyPr wrap="none" lIns="0" tIns="0" rIns="0" bIns="0" rtlCol="0" anchor="t"/>
          <a:lstStyle/>
          <a:p>
            <a:pPr marL="0" indent="0" algn="l">
              <a:lnSpc>
                <a:spcPts val="2650"/>
              </a:lnSpc>
              <a:buNone/>
            </a:pPr>
            <a:r>
              <a:rPr lang="en-US" sz="2800" b="1">
                <a:latin typeface="+mj-lt"/>
              </a:rPr>
              <a:t>Demonstration</a:t>
            </a:r>
          </a:p>
        </p:txBody>
      </p:sp>
      <p:sp>
        <p:nvSpPr>
          <p:cNvPr id="8" name="Text 3">
            <a:extLst>
              <a:ext uri="{FF2B5EF4-FFF2-40B4-BE49-F238E27FC236}">
                <a16:creationId xmlns:a16="http://schemas.microsoft.com/office/drawing/2014/main" id="{A0F5E59B-997C-499A-8F4A-9860EF2E5F66}"/>
              </a:ext>
            </a:extLst>
          </p:cNvPr>
          <p:cNvSpPr/>
          <p:nvPr/>
        </p:nvSpPr>
        <p:spPr>
          <a:xfrm>
            <a:off x="5335072" y="2563654"/>
            <a:ext cx="8320683" cy="692944"/>
          </a:xfrm>
          <a:prstGeom prst="rect">
            <a:avLst/>
          </a:prstGeom>
          <a:noFill/>
          <a:ln/>
        </p:spPr>
        <p:txBody>
          <a:bodyPr wrap="square" lIns="0" tIns="0" rIns="0" bIns="0" rtlCol="0" anchor="t"/>
          <a:lstStyle/>
          <a:p>
            <a:pPr>
              <a:lnSpc>
                <a:spcPts val="2700"/>
              </a:lnSpc>
            </a:pPr>
            <a:r>
              <a:rPr lang="en-US" sz="2000">
                <a:latin typeface="+mj-lt"/>
              </a:rPr>
              <a:t>The team demonstrates the working software increment to the stakeholders, showcasing the features they've built during the sprint.</a:t>
            </a:r>
          </a:p>
        </p:txBody>
      </p:sp>
      <p:sp>
        <p:nvSpPr>
          <p:cNvPr id="9" name="Shape 4">
            <a:extLst>
              <a:ext uri="{FF2B5EF4-FFF2-40B4-BE49-F238E27FC236}">
                <a16:creationId xmlns:a16="http://schemas.microsoft.com/office/drawing/2014/main" id="{5F10AB38-8F11-42B4-975D-A92577079E8A}"/>
              </a:ext>
            </a:extLst>
          </p:cNvPr>
          <p:cNvSpPr/>
          <p:nvPr/>
        </p:nvSpPr>
        <p:spPr>
          <a:xfrm>
            <a:off x="5172551" y="3658195"/>
            <a:ext cx="8645723" cy="15240"/>
          </a:xfrm>
          <a:prstGeom prst="roundRect">
            <a:avLst>
              <a:gd name="adj" fmla="val 596928"/>
            </a:avLst>
          </a:prstGeom>
          <a:solidFill>
            <a:srgbClr val="C7C7D0"/>
          </a:solidFill>
          <a:ln/>
        </p:spPr>
        <p:txBody>
          <a:bodyPr/>
          <a:lstStyle/>
          <a:p>
            <a:endParaRPr lang="en-US"/>
          </a:p>
        </p:txBody>
      </p:sp>
      <p:pic>
        <p:nvPicPr>
          <p:cNvPr id="10" name="Image 1" descr="preencoded.png">
            <a:extLst>
              <a:ext uri="{FF2B5EF4-FFF2-40B4-BE49-F238E27FC236}">
                <a16:creationId xmlns:a16="http://schemas.microsoft.com/office/drawing/2014/main" id="{803F18A5-BD53-4AF5-A0E8-D97049B7DF03}"/>
              </a:ext>
            </a:extLst>
          </p:cNvPr>
          <p:cNvPicPr>
            <a:picLocks noChangeAspect="1"/>
          </p:cNvPicPr>
          <p:nvPr/>
        </p:nvPicPr>
        <p:blipFill>
          <a:blip r:embed="rId4"/>
          <a:stretch>
            <a:fillRect/>
          </a:stretch>
        </p:blipFill>
        <p:spPr>
          <a:xfrm>
            <a:off x="1872734" y="3700463"/>
            <a:ext cx="4327684" cy="1940838"/>
          </a:xfrm>
          <a:prstGeom prst="rect">
            <a:avLst/>
          </a:prstGeom>
        </p:spPr>
      </p:pic>
      <p:sp>
        <p:nvSpPr>
          <p:cNvPr id="11" name="Text 5">
            <a:extLst>
              <a:ext uri="{FF2B5EF4-FFF2-40B4-BE49-F238E27FC236}">
                <a16:creationId xmlns:a16="http://schemas.microsoft.com/office/drawing/2014/main" id="{89275CD1-90CF-49EB-AD0B-0E3767CA0E30}"/>
              </a:ext>
            </a:extLst>
          </p:cNvPr>
          <p:cNvSpPr/>
          <p:nvPr/>
        </p:nvSpPr>
        <p:spPr>
          <a:xfrm>
            <a:off x="3965972" y="4454247"/>
            <a:ext cx="141089" cy="433149"/>
          </a:xfrm>
          <a:prstGeom prst="rect">
            <a:avLst/>
          </a:prstGeom>
          <a:noFill/>
          <a:ln/>
        </p:spPr>
        <p:txBody>
          <a:bodyPr wrap="none" lIns="0" tIns="0" rIns="0" bIns="0" rtlCol="0" anchor="t"/>
          <a:lstStyle/>
          <a:p>
            <a:pPr marL="0" indent="0" algn="ctr">
              <a:lnSpc>
                <a:spcPts val="3400"/>
              </a:lnSpc>
              <a:buNone/>
            </a:pPr>
            <a:r>
              <a:rPr lang="en-US" sz="2800" b="1">
                <a:latin typeface="+mj-lt"/>
              </a:rPr>
              <a:t>2</a:t>
            </a:r>
          </a:p>
        </p:txBody>
      </p:sp>
      <p:sp>
        <p:nvSpPr>
          <p:cNvPr id="12" name="Text 6">
            <a:extLst>
              <a:ext uri="{FF2B5EF4-FFF2-40B4-BE49-F238E27FC236}">
                <a16:creationId xmlns:a16="http://schemas.microsoft.com/office/drawing/2014/main" id="{DA9EB806-F8B8-4E8E-BE8E-28E342FF837E}"/>
              </a:ext>
            </a:extLst>
          </p:cNvPr>
          <p:cNvSpPr/>
          <p:nvPr/>
        </p:nvSpPr>
        <p:spPr>
          <a:xfrm>
            <a:off x="6416993" y="4090273"/>
            <a:ext cx="2707481" cy="338376"/>
          </a:xfrm>
          <a:prstGeom prst="rect">
            <a:avLst/>
          </a:prstGeom>
          <a:noFill/>
          <a:ln/>
        </p:spPr>
        <p:txBody>
          <a:bodyPr wrap="none" lIns="0" tIns="0" rIns="0" bIns="0" rtlCol="0" anchor="t"/>
          <a:lstStyle/>
          <a:p>
            <a:pPr marL="0" indent="0" algn="l">
              <a:lnSpc>
                <a:spcPts val="2650"/>
              </a:lnSpc>
              <a:buNone/>
            </a:pPr>
            <a:r>
              <a:rPr lang="en-US" sz="2800" b="1">
                <a:latin typeface="+mj-lt"/>
              </a:rPr>
              <a:t>Feedback Collection</a:t>
            </a:r>
          </a:p>
        </p:txBody>
      </p:sp>
      <p:sp>
        <p:nvSpPr>
          <p:cNvPr id="13" name="Text 7">
            <a:extLst>
              <a:ext uri="{FF2B5EF4-FFF2-40B4-BE49-F238E27FC236}">
                <a16:creationId xmlns:a16="http://schemas.microsoft.com/office/drawing/2014/main" id="{B847B984-65C4-45FA-94B8-6A43A2CC034A}"/>
              </a:ext>
            </a:extLst>
          </p:cNvPr>
          <p:cNvSpPr/>
          <p:nvPr/>
        </p:nvSpPr>
        <p:spPr>
          <a:xfrm>
            <a:off x="6416993" y="4558546"/>
            <a:ext cx="7238762" cy="692944"/>
          </a:xfrm>
          <a:prstGeom prst="rect">
            <a:avLst/>
          </a:prstGeom>
          <a:noFill/>
          <a:ln/>
        </p:spPr>
        <p:txBody>
          <a:bodyPr wrap="square" lIns="0" tIns="0" rIns="0" bIns="0" rtlCol="0" anchor="t"/>
          <a:lstStyle/>
          <a:p>
            <a:pPr marL="0" indent="0" algn="l">
              <a:lnSpc>
                <a:spcPts val="2700"/>
              </a:lnSpc>
              <a:buNone/>
            </a:pPr>
            <a:r>
              <a:rPr lang="en-US" sz="2000">
                <a:latin typeface="+mj-lt"/>
              </a:rPr>
              <a:t>Stakeholders provide feedback on the increment, offering suggestions for improvements and sharing their perspectives on its value</a:t>
            </a:r>
            <a:r>
              <a:rPr lang="en-US" sz="2000">
                <a:solidFill>
                  <a:srgbClr val="3C3939"/>
                </a:solidFill>
                <a:latin typeface="Roboto" pitchFamily="34" charset="0"/>
                <a:ea typeface="Roboto" pitchFamily="34" charset="-122"/>
              </a:rPr>
              <a:t>.</a:t>
            </a:r>
            <a:endParaRPr lang="en-US" sz="2000"/>
          </a:p>
        </p:txBody>
      </p:sp>
      <p:sp>
        <p:nvSpPr>
          <p:cNvPr id="14" name="Shape 8">
            <a:extLst>
              <a:ext uri="{FF2B5EF4-FFF2-40B4-BE49-F238E27FC236}">
                <a16:creationId xmlns:a16="http://schemas.microsoft.com/office/drawing/2014/main" id="{1D54A894-7E97-449F-9185-374ACA3D6C3F}"/>
              </a:ext>
            </a:extLst>
          </p:cNvPr>
          <p:cNvSpPr/>
          <p:nvPr/>
        </p:nvSpPr>
        <p:spPr>
          <a:xfrm>
            <a:off x="6254472" y="5653088"/>
            <a:ext cx="7563803" cy="15240"/>
          </a:xfrm>
          <a:prstGeom prst="roundRect">
            <a:avLst>
              <a:gd name="adj" fmla="val 596928"/>
            </a:avLst>
          </a:prstGeom>
          <a:solidFill>
            <a:srgbClr val="C7C7D0"/>
          </a:solidFill>
          <a:ln/>
        </p:spPr>
        <p:txBody>
          <a:bodyPr/>
          <a:lstStyle/>
          <a:p>
            <a:endParaRPr lang="en-US"/>
          </a:p>
        </p:txBody>
      </p:sp>
      <p:pic>
        <p:nvPicPr>
          <p:cNvPr id="15" name="Image 2" descr="preencoded.png">
            <a:extLst>
              <a:ext uri="{FF2B5EF4-FFF2-40B4-BE49-F238E27FC236}">
                <a16:creationId xmlns:a16="http://schemas.microsoft.com/office/drawing/2014/main" id="{FC13046F-9A87-4FCB-B268-8568E7FA9CEF}"/>
              </a:ext>
            </a:extLst>
          </p:cNvPr>
          <p:cNvPicPr>
            <a:picLocks noChangeAspect="1"/>
          </p:cNvPicPr>
          <p:nvPr/>
        </p:nvPicPr>
        <p:blipFill>
          <a:blip r:embed="rId5"/>
          <a:stretch>
            <a:fillRect/>
          </a:stretch>
        </p:blipFill>
        <p:spPr>
          <a:xfrm>
            <a:off x="790813" y="5695355"/>
            <a:ext cx="6491526" cy="1940838"/>
          </a:xfrm>
          <a:prstGeom prst="rect">
            <a:avLst/>
          </a:prstGeom>
        </p:spPr>
      </p:pic>
      <p:sp>
        <p:nvSpPr>
          <p:cNvPr id="16" name="Text 9">
            <a:extLst>
              <a:ext uri="{FF2B5EF4-FFF2-40B4-BE49-F238E27FC236}">
                <a16:creationId xmlns:a16="http://schemas.microsoft.com/office/drawing/2014/main" id="{A978D60F-13A9-4B56-BDC4-423406630348}"/>
              </a:ext>
            </a:extLst>
          </p:cNvPr>
          <p:cNvSpPr/>
          <p:nvPr/>
        </p:nvSpPr>
        <p:spPr>
          <a:xfrm>
            <a:off x="3964305" y="6449139"/>
            <a:ext cx="144542" cy="433149"/>
          </a:xfrm>
          <a:prstGeom prst="rect">
            <a:avLst/>
          </a:prstGeom>
          <a:noFill/>
          <a:ln/>
        </p:spPr>
        <p:txBody>
          <a:bodyPr wrap="none" lIns="0" tIns="0" rIns="0" bIns="0" rtlCol="0" anchor="t"/>
          <a:lstStyle/>
          <a:p>
            <a:pPr algn="ctr">
              <a:lnSpc>
                <a:spcPts val="3400"/>
              </a:lnSpc>
            </a:pPr>
            <a:r>
              <a:rPr lang="en-US" sz="2800" b="1">
                <a:latin typeface="+mj-lt"/>
              </a:rPr>
              <a:t>3</a:t>
            </a:r>
          </a:p>
        </p:txBody>
      </p:sp>
      <p:sp>
        <p:nvSpPr>
          <p:cNvPr id="17" name="Text 10">
            <a:extLst>
              <a:ext uri="{FF2B5EF4-FFF2-40B4-BE49-F238E27FC236}">
                <a16:creationId xmlns:a16="http://schemas.microsoft.com/office/drawing/2014/main" id="{2691117A-3C3B-4D8D-8C20-CE893E517C36}"/>
              </a:ext>
            </a:extLst>
          </p:cNvPr>
          <p:cNvSpPr/>
          <p:nvPr/>
        </p:nvSpPr>
        <p:spPr>
          <a:xfrm>
            <a:off x="7498913" y="5911929"/>
            <a:ext cx="2707481" cy="338376"/>
          </a:xfrm>
          <a:prstGeom prst="rect">
            <a:avLst/>
          </a:prstGeom>
          <a:noFill/>
          <a:ln/>
        </p:spPr>
        <p:txBody>
          <a:bodyPr wrap="none" lIns="0" tIns="0" rIns="0" bIns="0" rtlCol="0" anchor="t"/>
          <a:lstStyle/>
          <a:p>
            <a:pPr marL="0" indent="0" algn="l">
              <a:lnSpc>
                <a:spcPts val="2650"/>
              </a:lnSpc>
              <a:buNone/>
            </a:pPr>
            <a:r>
              <a:rPr lang="en-US" sz="2800" b="1">
                <a:latin typeface="+mj-lt"/>
              </a:rPr>
              <a:t>Adaptation</a:t>
            </a:r>
          </a:p>
        </p:txBody>
      </p:sp>
      <p:sp>
        <p:nvSpPr>
          <p:cNvPr id="18" name="Text 11">
            <a:extLst>
              <a:ext uri="{FF2B5EF4-FFF2-40B4-BE49-F238E27FC236}">
                <a16:creationId xmlns:a16="http://schemas.microsoft.com/office/drawing/2014/main" id="{5D04E043-A93B-4C22-B1DB-1700E3963D03}"/>
              </a:ext>
            </a:extLst>
          </p:cNvPr>
          <p:cNvSpPr/>
          <p:nvPr/>
        </p:nvSpPr>
        <p:spPr>
          <a:xfrm>
            <a:off x="7498913" y="6380202"/>
            <a:ext cx="6156841" cy="1039416"/>
          </a:xfrm>
          <a:prstGeom prst="rect">
            <a:avLst/>
          </a:prstGeom>
          <a:noFill/>
          <a:ln/>
        </p:spPr>
        <p:txBody>
          <a:bodyPr wrap="square" lIns="0" tIns="0" rIns="0" bIns="0" rtlCol="0" anchor="t"/>
          <a:lstStyle/>
          <a:p>
            <a:pPr marL="0" indent="0" algn="l">
              <a:lnSpc>
                <a:spcPts val="2700"/>
              </a:lnSpc>
              <a:buNone/>
            </a:pPr>
            <a:r>
              <a:rPr lang="en-US" sz="2000">
                <a:latin typeface="+mj-lt"/>
              </a:rPr>
              <a:t>The team takes feedback into account and adjusts the product backlog or future sprints to incorporate the insights gained during the review.</a:t>
            </a:r>
          </a:p>
        </p:txBody>
      </p:sp>
    </p:spTree>
    <p:extLst>
      <p:ext uri="{BB962C8B-B14F-4D97-AF65-F5344CB8AC3E}">
        <p14:creationId xmlns:p14="http://schemas.microsoft.com/office/powerpoint/2010/main" val="58538453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BA70744-375C-412B-A1A2-25C9589BD05B}"/>
              </a:ext>
            </a:extLst>
          </p:cNvPr>
          <p:cNvSpPr>
            <a:spLocks noGrp="1"/>
          </p:cNvSpPr>
          <p:nvPr>
            <p:ph sz="half" idx="1"/>
          </p:nvPr>
        </p:nvSpPr>
        <p:spPr/>
        <p:txBody>
          <a:bodyPr/>
          <a:lstStyle/>
          <a:p>
            <a:r>
              <a:rPr lang="en-US"/>
              <a:t>Review the Sprint:</a:t>
            </a:r>
          </a:p>
          <a:p>
            <a:pPr lvl="1"/>
            <a:r>
              <a:rPr lang="en-US"/>
              <a:t>What </a:t>
            </a:r>
            <a:r>
              <a:rPr lang="en-US" b="1"/>
              <a:t>went well</a:t>
            </a:r>
            <a:r>
              <a:rPr lang="en-US"/>
              <a:t>?</a:t>
            </a:r>
          </a:p>
          <a:p>
            <a:pPr lvl="1"/>
            <a:r>
              <a:rPr lang="en-US"/>
              <a:t>What could be </a:t>
            </a:r>
            <a:r>
              <a:rPr lang="en-US" b="1"/>
              <a:t>improved</a:t>
            </a:r>
            <a:r>
              <a:rPr lang="en-US"/>
              <a:t>?</a:t>
            </a:r>
          </a:p>
          <a:p>
            <a:pPr lvl="1"/>
            <a:r>
              <a:rPr lang="en-US"/>
              <a:t>What </a:t>
            </a:r>
            <a:r>
              <a:rPr lang="en-US" b="1"/>
              <a:t>challenges</a:t>
            </a:r>
            <a:r>
              <a:rPr lang="en-US"/>
              <a:t> they faced?</a:t>
            </a:r>
          </a:p>
          <a:p>
            <a:r>
              <a:rPr lang="en-US"/>
              <a:t>Identify Actions:</a:t>
            </a:r>
          </a:p>
          <a:p>
            <a:pPr lvl="1"/>
            <a:r>
              <a:rPr lang="en-US" b="1"/>
              <a:t>Specific actions </a:t>
            </a:r>
            <a:r>
              <a:rPr lang="en-US"/>
              <a:t>to import Scrum process</a:t>
            </a:r>
          </a:p>
          <a:p>
            <a:r>
              <a:rPr lang="en-US"/>
              <a:t>Implement </a:t>
            </a:r>
            <a:r>
              <a:rPr lang="en-US" b="1"/>
              <a:t>Improvements</a:t>
            </a:r>
            <a:r>
              <a:rPr lang="en-US"/>
              <a:t> for next sprints</a:t>
            </a:r>
          </a:p>
        </p:txBody>
      </p:sp>
      <p:sp>
        <p:nvSpPr>
          <p:cNvPr id="4" name="Slide Number Placeholder 3">
            <a:extLst>
              <a:ext uri="{FF2B5EF4-FFF2-40B4-BE49-F238E27FC236}">
                <a16:creationId xmlns:a16="http://schemas.microsoft.com/office/drawing/2014/main" id="{84074EAA-852A-4046-A34E-8978CF0EAB0B}"/>
              </a:ext>
            </a:extLst>
          </p:cNvPr>
          <p:cNvSpPr>
            <a:spLocks noGrp="1"/>
          </p:cNvSpPr>
          <p:nvPr>
            <p:ph type="sldNum" sz="quarter" idx="4"/>
          </p:nvPr>
        </p:nvSpPr>
        <p:spPr/>
        <p:txBody>
          <a:bodyPr/>
          <a:lstStyle/>
          <a:p>
            <a:fld id="{31D26D55-0A22-487A-A687-61FB58A6F16A}" type="slidenum">
              <a:rPr lang="en-US" smtClean="0"/>
              <a:pPr/>
              <a:t>35</a:t>
            </a:fld>
            <a:endParaRPr lang="en-US"/>
          </a:p>
        </p:txBody>
      </p:sp>
      <p:sp>
        <p:nvSpPr>
          <p:cNvPr id="5" name="Title 4">
            <a:extLst>
              <a:ext uri="{FF2B5EF4-FFF2-40B4-BE49-F238E27FC236}">
                <a16:creationId xmlns:a16="http://schemas.microsoft.com/office/drawing/2014/main" id="{BA1E99EB-2845-4690-B915-88DDBBDFB155}"/>
              </a:ext>
            </a:extLst>
          </p:cNvPr>
          <p:cNvSpPr>
            <a:spLocks noGrp="1"/>
          </p:cNvSpPr>
          <p:nvPr>
            <p:ph type="title"/>
          </p:nvPr>
        </p:nvSpPr>
        <p:spPr/>
        <p:txBody>
          <a:bodyPr/>
          <a:lstStyle/>
          <a:p>
            <a:r>
              <a:rPr lang="en-US"/>
              <a:t>Scrum Event: Sprint Retrospective</a:t>
            </a:r>
          </a:p>
        </p:txBody>
      </p:sp>
      <p:pic>
        <p:nvPicPr>
          <p:cNvPr id="6" name="Picture 4" descr="1,300+ Scrum Team Stock Illustrations, Royalty-Free Vector Graphics &amp; Clip  Art - iStock | Scrum team agile">
            <a:extLst>
              <a:ext uri="{FF2B5EF4-FFF2-40B4-BE49-F238E27FC236}">
                <a16:creationId xmlns:a16="http://schemas.microsoft.com/office/drawing/2014/main" id="{1C9069C8-CB94-4D05-87F8-30472200A10F}"/>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7855296" y="1079890"/>
            <a:ext cx="6069820" cy="60698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7265015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519A672-55C5-479C-9596-15D73D29CF23}"/>
              </a:ext>
            </a:extLst>
          </p:cNvPr>
          <p:cNvSpPr>
            <a:spLocks noGrp="1"/>
          </p:cNvSpPr>
          <p:nvPr>
            <p:ph type="sldNum" sz="quarter" idx="4"/>
          </p:nvPr>
        </p:nvSpPr>
        <p:spPr/>
        <p:txBody>
          <a:bodyPr/>
          <a:lstStyle/>
          <a:p>
            <a:fld id="{31D26D55-0A22-487A-A687-61FB58A6F16A}" type="slidenum">
              <a:rPr lang="en-US" smtClean="0"/>
              <a:pPr/>
              <a:t>36</a:t>
            </a:fld>
            <a:endParaRPr lang="en-US"/>
          </a:p>
        </p:txBody>
      </p:sp>
      <p:sp>
        <p:nvSpPr>
          <p:cNvPr id="5" name="Title 4">
            <a:extLst>
              <a:ext uri="{FF2B5EF4-FFF2-40B4-BE49-F238E27FC236}">
                <a16:creationId xmlns:a16="http://schemas.microsoft.com/office/drawing/2014/main" id="{651D406D-D457-4877-BFD2-7C0F4241CDDF}"/>
              </a:ext>
            </a:extLst>
          </p:cNvPr>
          <p:cNvSpPr>
            <a:spLocks noGrp="1"/>
          </p:cNvSpPr>
          <p:nvPr>
            <p:ph type="title"/>
          </p:nvPr>
        </p:nvSpPr>
        <p:spPr/>
        <p:txBody>
          <a:bodyPr/>
          <a:lstStyle/>
          <a:p>
            <a:r>
              <a:rPr lang="en-US"/>
              <a:t>Certificates</a:t>
            </a:r>
          </a:p>
        </p:txBody>
      </p:sp>
      <p:pic>
        <p:nvPicPr>
          <p:cNvPr id="6" name="Page 95">
            <a:extLst>
              <a:ext uri="{FF2B5EF4-FFF2-40B4-BE49-F238E27FC236}">
                <a16:creationId xmlns:a16="http://schemas.microsoft.com/office/drawing/2014/main" id="{F67B28A6-51E6-4C16-B0CA-B67BBE54DDAF}"/>
              </a:ext>
            </a:extLst>
          </p:cNvPr>
          <p:cNvPicPr>
            <a:picLocks noChangeAspect="1"/>
          </p:cNvPicPr>
          <p:nvPr/>
        </p:nvPicPr>
        <p:blipFill>
          <a:blip r:embed="rId2"/>
          <a:srcRect l="1000" t="8000" b="11834"/>
          <a:stretch/>
        </p:blipFill>
        <p:spPr>
          <a:xfrm>
            <a:off x="1519548" y="593576"/>
            <a:ext cx="11591304" cy="7042448"/>
          </a:xfrm>
          <a:prstGeom prst="rect">
            <a:avLst/>
          </a:prstGeom>
          <a:noFill/>
        </p:spPr>
      </p:pic>
    </p:spTree>
    <p:extLst>
      <p:ext uri="{BB962C8B-B14F-4D97-AF65-F5344CB8AC3E}">
        <p14:creationId xmlns:p14="http://schemas.microsoft.com/office/powerpoint/2010/main" val="241570063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DE63ED8-0A8F-4E1A-A696-7B64469972EE}"/>
              </a:ext>
            </a:extLst>
          </p:cNvPr>
          <p:cNvSpPr>
            <a:spLocks noGrp="1"/>
          </p:cNvSpPr>
          <p:nvPr>
            <p:ph type="sldNum" sz="quarter" idx="4"/>
          </p:nvPr>
        </p:nvSpPr>
        <p:spPr/>
        <p:txBody>
          <a:bodyPr/>
          <a:lstStyle/>
          <a:p>
            <a:fld id="{31D26D55-0A22-487A-A687-61FB58A6F16A}" type="slidenum">
              <a:rPr lang="en-US" smtClean="0"/>
              <a:pPr/>
              <a:t>37</a:t>
            </a:fld>
            <a:endParaRPr lang="en-US"/>
          </a:p>
        </p:txBody>
      </p:sp>
      <p:sp>
        <p:nvSpPr>
          <p:cNvPr id="5" name="Title 4">
            <a:extLst>
              <a:ext uri="{FF2B5EF4-FFF2-40B4-BE49-F238E27FC236}">
                <a16:creationId xmlns:a16="http://schemas.microsoft.com/office/drawing/2014/main" id="{152C4D16-1914-4127-BE0A-EFE2E0EEEA2A}"/>
              </a:ext>
            </a:extLst>
          </p:cNvPr>
          <p:cNvSpPr>
            <a:spLocks noGrp="1"/>
          </p:cNvSpPr>
          <p:nvPr>
            <p:ph type="title"/>
          </p:nvPr>
        </p:nvSpPr>
        <p:spPr/>
        <p:txBody>
          <a:bodyPr/>
          <a:lstStyle/>
          <a:p>
            <a:r>
              <a:rPr lang="en-US"/>
              <a:t>Tools and </a:t>
            </a:r>
            <a:r>
              <a:rPr lang="en-US" err="1"/>
              <a:t>Softwares</a:t>
            </a:r>
            <a:endParaRPr lang="en-US"/>
          </a:p>
        </p:txBody>
      </p:sp>
      <p:pic>
        <p:nvPicPr>
          <p:cNvPr id="23554" name="Picture 2">
            <a:extLst>
              <a:ext uri="{FF2B5EF4-FFF2-40B4-BE49-F238E27FC236}">
                <a16:creationId xmlns:a16="http://schemas.microsoft.com/office/drawing/2014/main" id="{F335AE69-4A46-49D9-8FF6-14360CCA8B0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58900" y="764381"/>
            <a:ext cx="11912600" cy="67008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0935011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521CC8-6AFB-40F2-BA4D-E59E797F1A05}"/>
              </a:ext>
            </a:extLst>
          </p:cNvPr>
          <p:cNvSpPr>
            <a:spLocks noGrp="1"/>
          </p:cNvSpPr>
          <p:nvPr>
            <p:ph type="body" sz="quarter" idx="10"/>
          </p:nvPr>
        </p:nvSpPr>
        <p:spPr/>
        <p:txBody>
          <a:bodyPr/>
          <a:lstStyle/>
          <a:p>
            <a:endParaRPr lang="en-US"/>
          </a:p>
        </p:txBody>
      </p:sp>
      <p:sp>
        <p:nvSpPr>
          <p:cNvPr id="3" name="Slide Number Placeholder 2">
            <a:extLst>
              <a:ext uri="{FF2B5EF4-FFF2-40B4-BE49-F238E27FC236}">
                <a16:creationId xmlns:a16="http://schemas.microsoft.com/office/drawing/2014/main" id="{ED53F442-82F2-4F8B-AAE4-41782D9CF6B7}"/>
              </a:ext>
            </a:extLst>
          </p:cNvPr>
          <p:cNvSpPr>
            <a:spLocks noGrp="1"/>
          </p:cNvSpPr>
          <p:nvPr>
            <p:ph type="sldNum" sz="quarter" idx="4"/>
          </p:nvPr>
        </p:nvSpPr>
        <p:spPr/>
        <p:txBody>
          <a:bodyPr/>
          <a:lstStyle/>
          <a:p>
            <a:fld id="{31D26D55-0A22-487A-A687-61FB58A6F16A}" type="slidenum">
              <a:rPr lang="en-US" smtClean="0"/>
              <a:pPr/>
              <a:t>38</a:t>
            </a:fld>
            <a:endParaRPr lang="en-US"/>
          </a:p>
        </p:txBody>
      </p:sp>
    </p:spTree>
    <p:extLst>
      <p:ext uri="{BB962C8B-B14F-4D97-AF65-F5344CB8AC3E}">
        <p14:creationId xmlns:p14="http://schemas.microsoft.com/office/powerpoint/2010/main" val="1711510086"/>
      </p:ext>
    </p:extLst>
  </p:cSld>
  <p:clrMapOvr>
    <a:masterClrMapping/>
  </p:clrMapOvr>
</p:sld>
</file>

<file path=ppt/theme/theme1.xml><?xml version="1.0" encoding="utf-8"?>
<a:theme xmlns:a="http://schemas.openxmlformats.org/drawingml/2006/main" name="Opening slid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NFO3010-chapter1" id="{AB987AF6-F5B5-40B1-B7B2-011B4456F90D}" vid="{A1FCA969-387E-4DB4-9551-88DE0367AE2C}"/>
    </a:ext>
  </a:extLst>
</a:theme>
</file>

<file path=ppt/theme/theme2.xml><?xml version="1.0" encoding="utf-8"?>
<a:theme xmlns:a="http://schemas.openxmlformats.org/drawingml/2006/main" name="Body slide">
  <a:themeElements>
    <a:clrScheme name="pptx template 1">
      <a:dk1>
        <a:srgbClr val="0070C0"/>
      </a:dk1>
      <a:lt1>
        <a:sysClr val="window" lastClr="FFFFFF"/>
      </a:lt1>
      <a:dk2>
        <a:srgbClr val="0070C0"/>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Times New Roman">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Times New Roman" panose="02020603050405020304"/>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NFO3010-chapter1" id="{AB987AF6-F5B5-40B1-B7B2-011B4456F90D}" vid="{40093B85-BF9A-493F-85B6-14614628567D}"/>
    </a:ext>
  </a:extLst>
</a:theme>
</file>

<file path=ppt/theme/theme3.xml><?xml version="1.0" encoding="utf-8"?>
<a:theme xmlns:a="http://schemas.openxmlformats.org/drawingml/2006/main" name="Ending slid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NFO3010-chapter1" id="{AB987AF6-F5B5-40B1-B7B2-011B4456F90D}" vid="{271355E2-C430-4D72-871F-A29EDD8FE0B4}"/>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6e9c558a-331c-4b2a-9422-cc1872e64aa6">
      <Terms xmlns="http://schemas.microsoft.com/office/infopath/2007/PartnerControls"/>
    </lcf76f155ced4ddcb4097134ff3c332f>
    <TaxCatchAll xmlns="0daeb402-9d2e-4002-a65f-37a660ceb8fd"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B307973FBAC0FD44AFF67A0CF8CAB7ED" ma:contentTypeVersion="15" ma:contentTypeDescription="Create a new document." ma:contentTypeScope="" ma:versionID="74905d119c205581eaedd23186ce405f">
  <xsd:schema xmlns:xsd="http://www.w3.org/2001/XMLSchema" xmlns:xs="http://www.w3.org/2001/XMLSchema" xmlns:p="http://schemas.microsoft.com/office/2006/metadata/properties" xmlns:ns2="6e9c558a-331c-4b2a-9422-cc1872e64aa6" xmlns:ns3="0daeb402-9d2e-4002-a65f-37a660ceb8fd" targetNamespace="http://schemas.microsoft.com/office/2006/metadata/properties" ma:root="true" ma:fieldsID="708587739f1abd74a42e448662f10547" ns2:_="" ns3:_="">
    <xsd:import namespace="6e9c558a-331c-4b2a-9422-cc1872e64aa6"/>
    <xsd:import namespace="0daeb402-9d2e-4002-a65f-37a660ceb8fd"/>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3:SharedWithUsers" minOccurs="0"/>
                <xsd:element ref="ns3:SharedWithDetail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element ref="ns2:MediaServiceLocation"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e9c558a-331c-4b2a-9422-cc1872e64aa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8aa48d64-e0f2-481a-8596-878e2f0ebd5d" ma:termSetId="09814cd3-568e-fe90-9814-8d621ff8fb84" ma:anchorId="fba54fb3-c3e1-fe81-a776-ca4b69148c4d" ma:open="true" ma:isKeyword="false">
      <xsd:complexType>
        <xsd:sequence>
          <xsd:element ref="pc:Terms" minOccurs="0" maxOccurs="1"/>
        </xsd:sequence>
      </xsd:complexType>
    </xsd:element>
    <xsd:element name="MediaServiceDateTaken" ma:index="17" nillable="true" ma:displayName="MediaServiceDateTaken" ma:hidden="true" ma:indexed="true" ma:internalName="MediaServiceDateTaken"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ServiceLocation" ma:index="21" nillable="true" ma:displayName="Location" ma:indexed="true" ma:internalName="MediaServiceLocation" ma:readOnly="true">
      <xsd:simpleType>
        <xsd:restriction base="dms:Text"/>
      </xsd:simpleType>
    </xsd:element>
    <xsd:element name="MediaLengthInSeconds" ma:index="22"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0daeb402-9d2e-4002-a65f-37a660ceb8fd"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16" nillable="true" ma:displayName="Taxonomy Catch All Column" ma:hidden="true" ma:list="{dc41332e-9ceb-47bb-9b4b-dcfc7eb8757e}" ma:internalName="TaxCatchAll" ma:showField="CatchAllData" ma:web="0daeb402-9d2e-4002-a65f-37a660ceb8fd">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88909A3-273E-4A8A-8696-67D36674D078}">
  <ds:schemaRefs>
    <ds:schemaRef ds:uri="http://schemas.microsoft.com/sharepoint/v3/contenttype/forms"/>
  </ds:schemaRefs>
</ds:datastoreItem>
</file>

<file path=customXml/itemProps2.xml><?xml version="1.0" encoding="utf-8"?>
<ds:datastoreItem xmlns:ds="http://schemas.openxmlformats.org/officeDocument/2006/customXml" ds:itemID="{E8E12C9A-6BBB-4890-BFA2-040AE87E44F7}">
  <ds:schemaRefs>
    <ds:schemaRef ds:uri="0daeb402-9d2e-4002-a65f-37a660ceb8fd"/>
    <ds:schemaRef ds:uri="6e9c558a-331c-4b2a-9422-cc1872e64aa6"/>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579DD61A-9754-41A2-B804-20476FD27A55}">
  <ds:schemaRefs>
    <ds:schemaRef ds:uri="0daeb402-9d2e-4002-a65f-37a660ceb8fd"/>
    <ds:schemaRef ds:uri="6e9c558a-331c-4b2a-9422-cc1872e64aa6"/>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cmc-uni-slide-template</Template>
  <TotalTime>143</TotalTime>
  <Words>11240</Words>
  <Application>Microsoft Office PowerPoint</Application>
  <PresentationFormat>Custom</PresentationFormat>
  <Paragraphs>893</Paragraphs>
  <Slides>38</Slides>
  <Notes>33</Notes>
  <HiddenSlides>0</HiddenSlides>
  <MMClips>0</MMClips>
  <ScaleCrop>false</ScaleCrop>
  <HeadingPairs>
    <vt:vector size="6" baseType="variant">
      <vt:variant>
        <vt:lpstr>Fonts Used</vt:lpstr>
      </vt:variant>
      <vt:variant>
        <vt:i4>4</vt:i4>
      </vt:variant>
      <vt:variant>
        <vt:lpstr>Theme</vt:lpstr>
      </vt:variant>
      <vt:variant>
        <vt:i4>3</vt:i4>
      </vt:variant>
      <vt:variant>
        <vt:lpstr>Slide Titles</vt:lpstr>
      </vt:variant>
      <vt:variant>
        <vt:i4>38</vt:i4>
      </vt:variant>
    </vt:vector>
  </HeadingPairs>
  <TitlesOfParts>
    <vt:vector size="45" baseType="lpstr">
      <vt:lpstr>Roboto</vt:lpstr>
      <vt:lpstr>Raleway</vt:lpstr>
      <vt:lpstr>Times New Roman</vt:lpstr>
      <vt:lpstr>Arial</vt:lpstr>
      <vt:lpstr>Opening slide</vt:lpstr>
      <vt:lpstr>Body slide</vt:lpstr>
      <vt:lpstr>Ending slide</vt:lpstr>
      <vt:lpstr>PowerPoint Presentation</vt:lpstr>
      <vt:lpstr>Agile</vt:lpstr>
      <vt:lpstr>Agile Principles</vt:lpstr>
      <vt:lpstr>Agile Frameworks</vt:lpstr>
      <vt:lpstr>When Agile?</vt:lpstr>
      <vt:lpstr>Scrum</vt:lpstr>
      <vt:lpstr>History</vt:lpstr>
      <vt:lpstr>Pillars</vt:lpstr>
      <vt:lpstr>Scrum Framework</vt:lpstr>
      <vt:lpstr>Scrum Roles</vt:lpstr>
      <vt:lpstr>Product Owner’s role</vt:lpstr>
      <vt:lpstr>Product Owner’s responsibilities</vt:lpstr>
      <vt:lpstr>Product Owner’s skills</vt:lpstr>
      <vt:lpstr>Scrum Master’s role</vt:lpstr>
      <vt:lpstr>Scrum Master’s responsibilities</vt:lpstr>
      <vt:lpstr>Scrum Master’s skills</vt:lpstr>
      <vt:lpstr>Development (cross-functional) Team</vt:lpstr>
      <vt:lpstr>Why cross-functional?</vt:lpstr>
      <vt:lpstr>Scrum Artifacts</vt:lpstr>
      <vt:lpstr>Product Backlog</vt:lpstr>
      <vt:lpstr>Product Backlog Items</vt:lpstr>
      <vt:lpstr>User Stories</vt:lpstr>
      <vt:lpstr>Bugs</vt:lpstr>
      <vt:lpstr>Technical Tasks</vt:lpstr>
      <vt:lpstr>Spikes</vt:lpstr>
      <vt:lpstr>DOD – Definition of Done</vt:lpstr>
      <vt:lpstr>Sample of DOD</vt:lpstr>
      <vt:lpstr>Sprint Backlog</vt:lpstr>
      <vt:lpstr>Sprint Backlog</vt:lpstr>
      <vt:lpstr>Scrum Increments</vt:lpstr>
      <vt:lpstr>Scrum Events</vt:lpstr>
      <vt:lpstr>Scrum Event: Sprint Planning</vt:lpstr>
      <vt:lpstr>Scrum Event: Daily Scrum</vt:lpstr>
      <vt:lpstr>Scrum Event: Sprint Review</vt:lpstr>
      <vt:lpstr>Scrum Event: Sprint Retrospective</vt:lpstr>
      <vt:lpstr>Certificates</vt:lpstr>
      <vt:lpstr>Tools and Softwares</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Hung. Nguyen Viet - CMCU</cp:lastModifiedBy>
  <cp:revision>1</cp:revision>
  <dcterms:created xsi:type="dcterms:W3CDTF">2024-12-09T10:47:32Z</dcterms:created>
  <dcterms:modified xsi:type="dcterms:W3CDTF">2026-01-07T02:26:22Z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0x010100B307973FBAC0FD44AFF67A0CF8CAB7ED</vt:lpwstr>
  </property>
  <property fmtid="{D5CDD505-2E9C-101B-9397-08002B2CF9AE}" pid="3" name="MediaServiceImageTags">
    <vt:lpwstr/>
  </property>
</Properties>
</file>