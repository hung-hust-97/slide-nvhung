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4"/>
    <p:sldMasterId id="2147483672" r:id="rId5"/>
    <p:sldMasterId id="2147483683" r:id="rId6"/>
  </p:sldMasterIdLst>
  <p:notesMasterIdLst>
    <p:notesMasterId r:id="rId38"/>
  </p:notesMasterIdLst>
  <p:sldIdLst>
    <p:sldId id="267" r:id="rId7"/>
    <p:sldId id="282" r:id="rId8"/>
    <p:sldId id="289" r:id="rId9"/>
    <p:sldId id="284" r:id="rId10"/>
    <p:sldId id="285" r:id="rId11"/>
    <p:sldId id="286" r:id="rId12"/>
    <p:sldId id="287" r:id="rId13"/>
    <p:sldId id="288" r:id="rId14"/>
    <p:sldId id="273" r:id="rId15"/>
    <p:sldId id="290" r:id="rId16"/>
    <p:sldId id="302" r:id="rId17"/>
    <p:sldId id="291" r:id="rId18"/>
    <p:sldId id="303" r:id="rId19"/>
    <p:sldId id="292" r:id="rId20"/>
    <p:sldId id="305" r:id="rId21"/>
    <p:sldId id="293" r:id="rId22"/>
    <p:sldId id="306" r:id="rId23"/>
    <p:sldId id="294" r:id="rId24"/>
    <p:sldId id="304" r:id="rId25"/>
    <p:sldId id="295" r:id="rId26"/>
    <p:sldId id="307" r:id="rId27"/>
    <p:sldId id="296" r:id="rId28"/>
    <p:sldId id="308" r:id="rId29"/>
    <p:sldId id="297" r:id="rId30"/>
    <p:sldId id="309" r:id="rId31"/>
    <p:sldId id="298" r:id="rId32"/>
    <p:sldId id="310" r:id="rId33"/>
    <p:sldId id="311" r:id="rId34"/>
    <p:sldId id="299" r:id="rId35"/>
    <p:sldId id="300" r:id="rId36"/>
    <p:sldId id="269" r:id="rId37"/>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E9349BD-0315-454F-852B-6A66338F98AA}">
          <p14:sldIdLst>
            <p14:sldId id="267"/>
            <p14:sldId id="282"/>
            <p14:sldId id="289"/>
            <p14:sldId id="284"/>
            <p14:sldId id="285"/>
            <p14:sldId id="286"/>
            <p14:sldId id="287"/>
            <p14:sldId id="288"/>
          </p14:sldIdLst>
        </p14:section>
        <p14:section name="sdd docs" id="{82B40E80-1A8B-4152-852B-82B97B7CFBF6}">
          <p14:sldIdLst>
            <p14:sldId id="273"/>
            <p14:sldId id="290"/>
            <p14:sldId id="302"/>
            <p14:sldId id="291"/>
            <p14:sldId id="303"/>
            <p14:sldId id="292"/>
            <p14:sldId id="305"/>
            <p14:sldId id="293"/>
            <p14:sldId id="306"/>
            <p14:sldId id="294"/>
            <p14:sldId id="304"/>
            <p14:sldId id="295"/>
            <p14:sldId id="307"/>
            <p14:sldId id="296"/>
            <p14:sldId id="308"/>
            <p14:sldId id="297"/>
            <p14:sldId id="309"/>
            <p14:sldId id="298"/>
            <p14:sldId id="310"/>
            <p14:sldId id="311"/>
          </p14:sldIdLst>
        </p14:section>
        <p14:section name="sdd doc" id="{DA33045E-9F23-4DBA-B47C-0112B4F28FC1}">
          <p14:sldIdLst>
            <p14:sldId id="299"/>
            <p14:sldId id="300"/>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9A3A98-5FBE-4BF2-B695-A190AD5B44C7}" v="9" dt="2026-01-13T02:07:05.1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699" autoAdjust="0"/>
  </p:normalViewPr>
  <p:slideViewPr>
    <p:cSldViewPr snapToGrid="0" snapToObjects="1">
      <p:cViewPr varScale="1">
        <p:scale>
          <a:sx n="48" d="100"/>
          <a:sy n="48" d="100"/>
        </p:scale>
        <p:origin x="975" y="39"/>
      </p:cViewPr>
      <p:guideLst/>
    </p:cSldViewPr>
  </p:slideViewPr>
  <p:notesTextViewPr>
    <p:cViewPr>
      <p:scale>
        <a:sx n="1" d="1"/>
        <a:sy n="1" d="1"/>
      </p:scale>
      <p:origin x="0" y="-46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microsoft.com/office/2016/11/relationships/changesInfo" Target="changesInfos/changesInfo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g. Nguyen Viet - CMCU" userId="c51906a1-f569-4298-817a-9a14a5d7b82c" providerId="ADAL" clId="{4F5E3F8A-AF6A-421E-BD32-7F7F29FAA2DE}"/>
    <pc:docChg chg="undo custSel modSld sldOrd">
      <pc:chgData name="Hung. Nguyen Viet - CMCU" userId="c51906a1-f569-4298-817a-9a14a5d7b82c" providerId="ADAL" clId="{4F5E3F8A-AF6A-421E-BD32-7F7F29FAA2DE}" dt="2026-01-13T02:01:50.833" v="11" actId="20577"/>
      <pc:docMkLst>
        <pc:docMk/>
      </pc:docMkLst>
      <pc:sldChg chg="ord">
        <pc:chgData name="Hung. Nguyen Viet - CMCU" userId="c51906a1-f569-4298-817a-9a14a5d7b82c" providerId="ADAL" clId="{4F5E3F8A-AF6A-421E-BD32-7F7F29FAA2DE}" dt="2026-01-13T01:57:47.940" v="8" actId="20578"/>
        <pc:sldMkLst>
          <pc:docMk/>
          <pc:sldMk cId="1711510086" sldId="269"/>
        </pc:sldMkLst>
      </pc:sldChg>
      <pc:sldChg chg="modSp mod modNotesTx">
        <pc:chgData name="Hung. Nguyen Viet - CMCU" userId="c51906a1-f569-4298-817a-9a14a5d7b82c" providerId="ADAL" clId="{4F5E3F8A-AF6A-421E-BD32-7F7F29FAA2DE}" dt="2026-01-13T01:25:28.708" v="2" actId="20577"/>
        <pc:sldMkLst>
          <pc:docMk/>
          <pc:sldMk cId="3003119213" sldId="290"/>
        </pc:sldMkLst>
        <pc:spChg chg="mod">
          <ac:chgData name="Hung. Nguyen Viet - CMCU" userId="c51906a1-f569-4298-817a-9a14a5d7b82c" providerId="ADAL" clId="{4F5E3F8A-AF6A-421E-BD32-7F7F29FAA2DE}" dt="2026-01-13T01:24:37.138" v="1" actId="20577"/>
          <ac:spMkLst>
            <pc:docMk/>
            <pc:sldMk cId="3003119213" sldId="290"/>
            <ac:spMk id="4" creationId="{C815040E-664F-4888-9CA6-8752F4D14271}"/>
          </ac:spMkLst>
        </pc:spChg>
      </pc:sldChg>
      <pc:sldChg chg="modNotesTx">
        <pc:chgData name="Hung. Nguyen Viet - CMCU" userId="c51906a1-f569-4298-817a-9a14a5d7b82c" providerId="ADAL" clId="{4F5E3F8A-AF6A-421E-BD32-7F7F29FAA2DE}" dt="2026-01-13T01:30:29.505" v="4" actId="15"/>
        <pc:sldMkLst>
          <pc:docMk/>
          <pc:sldMk cId="828158414" sldId="291"/>
        </pc:sldMkLst>
      </pc:sldChg>
      <pc:sldChg chg="modNotesTx">
        <pc:chgData name="Hung. Nguyen Viet - CMCU" userId="c51906a1-f569-4298-817a-9a14a5d7b82c" providerId="ADAL" clId="{4F5E3F8A-AF6A-421E-BD32-7F7F29FAA2DE}" dt="2026-01-13T01:43:47.322" v="5" actId="20577"/>
        <pc:sldMkLst>
          <pc:docMk/>
          <pc:sldMk cId="2015432751" sldId="294"/>
        </pc:sldMkLst>
      </pc:sldChg>
      <pc:sldChg chg="modNotesTx">
        <pc:chgData name="Hung. Nguyen Viet - CMCU" userId="c51906a1-f569-4298-817a-9a14a5d7b82c" providerId="ADAL" clId="{4F5E3F8A-AF6A-421E-BD32-7F7F29FAA2DE}" dt="2026-01-13T01:48:49.511" v="7" actId="20577"/>
        <pc:sldMkLst>
          <pc:docMk/>
          <pc:sldMk cId="3780647802" sldId="295"/>
        </pc:sldMkLst>
      </pc:sldChg>
      <pc:sldChg chg="modNotesTx">
        <pc:chgData name="Hung. Nguyen Viet - CMCU" userId="c51906a1-f569-4298-817a-9a14a5d7b82c" providerId="ADAL" clId="{4F5E3F8A-AF6A-421E-BD32-7F7F29FAA2DE}" dt="2026-01-13T02:01:50.833" v="11" actId="20577"/>
        <pc:sldMkLst>
          <pc:docMk/>
          <pc:sldMk cId="2170392358" sldId="29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09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dirty="0" err="1"/>
              <a:t>Định</a:t>
            </a:r>
            <a:r>
              <a:rPr lang="en-US" dirty="0"/>
              <a:t> </a:t>
            </a:r>
            <a:r>
              <a:rPr lang="en-US" dirty="0" err="1"/>
              <a:t>nghĩa</a:t>
            </a:r>
            <a:r>
              <a:rPr lang="en-US" dirty="0"/>
              <a:t>: SDD </a:t>
            </a:r>
            <a:r>
              <a:rPr lang="en-US" dirty="0" err="1"/>
              <a:t>là</a:t>
            </a:r>
            <a:r>
              <a:rPr lang="en-US" dirty="0"/>
              <a:t> </a:t>
            </a:r>
            <a:r>
              <a:rPr lang="en-US" dirty="0" err="1"/>
              <a:t>một</a:t>
            </a:r>
            <a:r>
              <a:rPr lang="en-US" dirty="0"/>
              <a:t> </a:t>
            </a:r>
            <a:r>
              <a:rPr lang="en-US" dirty="0" err="1"/>
              <a:t>tài</a:t>
            </a:r>
            <a:r>
              <a:rPr lang="en-US" dirty="0"/>
              <a:t> </a:t>
            </a:r>
            <a:r>
              <a:rPr lang="en-US" dirty="0" err="1"/>
              <a:t>liệu</a:t>
            </a:r>
            <a:r>
              <a:rPr lang="en-US" dirty="0"/>
              <a:t> </a:t>
            </a:r>
            <a:r>
              <a:rPr lang="en-US" dirty="0" err="1"/>
              <a:t>toàn</a:t>
            </a:r>
            <a:r>
              <a:rPr lang="en-US" dirty="0"/>
              <a:t> </a:t>
            </a:r>
            <a:r>
              <a:rPr lang="en-US" dirty="0" err="1"/>
              <a:t>diện</a:t>
            </a:r>
            <a:r>
              <a:rPr lang="en-US" dirty="0"/>
              <a:t>, </a:t>
            </a:r>
            <a:r>
              <a:rPr lang="en-US" dirty="0" err="1"/>
              <a:t>phác</a:t>
            </a:r>
            <a:r>
              <a:rPr lang="en-US" dirty="0"/>
              <a:t> </a:t>
            </a:r>
            <a:r>
              <a:rPr lang="en-US" dirty="0" err="1"/>
              <a:t>thảo</a:t>
            </a:r>
            <a:r>
              <a:rPr lang="en-US" dirty="0"/>
              <a:t> </a:t>
            </a:r>
            <a:r>
              <a:rPr lang="en-US" dirty="0" err="1"/>
              <a:t>kiến</a:t>
            </a:r>
            <a:r>
              <a:rPr lang="en-US" dirty="0"/>
              <a:t> </a:t>
            </a:r>
            <a:r>
              <a:rPr lang="en-US" dirty="0" err="1"/>
              <a:t>trúc</a:t>
            </a:r>
            <a:r>
              <a:rPr lang="en-US" dirty="0"/>
              <a:t>, </a:t>
            </a:r>
            <a:r>
              <a:rPr lang="en-US" dirty="0" err="1"/>
              <a:t>thiết</a:t>
            </a:r>
            <a:r>
              <a:rPr lang="en-US" dirty="0"/>
              <a:t> </a:t>
            </a:r>
            <a:r>
              <a:rPr lang="en-US" dirty="0" err="1"/>
              <a:t>kế</a:t>
            </a:r>
            <a:r>
              <a:rPr lang="en-US" dirty="0"/>
              <a:t> và </a:t>
            </a:r>
            <a:r>
              <a:rPr lang="en-US" dirty="0" err="1"/>
              <a:t>chức</a:t>
            </a:r>
            <a:r>
              <a:rPr lang="en-US" dirty="0"/>
              <a:t> </a:t>
            </a:r>
            <a:r>
              <a:rPr lang="en-US" dirty="0" err="1"/>
              <a:t>năng</a:t>
            </a:r>
            <a:r>
              <a:rPr lang="en-US" dirty="0"/>
              <a:t> </a:t>
            </a:r>
            <a:r>
              <a:rPr lang="en-US" dirty="0" err="1"/>
              <a:t>của</a:t>
            </a:r>
            <a:r>
              <a:rPr lang="en-US" dirty="0"/>
              <a:t> </a:t>
            </a:r>
            <a:r>
              <a:rPr lang="en-US" dirty="0" err="1"/>
              <a:t>một</a:t>
            </a:r>
            <a:r>
              <a:rPr lang="en-US" dirty="0"/>
              <a:t> </a:t>
            </a:r>
            <a:r>
              <a:rPr lang="en-US" dirty="0" err="1"/>
              <a:t>hệ</a:t>
            </a:r>
            <a:r>
              <a:rPr lang="en-US" dirty="0"/>
              <a:t> </a:t>
            </a:r>
            <a:r>
              <a:rPr lang="en-US" dirty="0" err="1"/>
              <a:t>thống</a:t>
            </a:r>
            <a:r>
              <a:rPr lang="en-US" dirty="0"/>
              <a:t> </a:t>
            </a:r>
            <a:r>
              <a:rPr lang="en-US" dirty="0" err="1"/>
              <a:t>phần</a:t>
            </a:r>
            <a:r>
              <a:rPr lang="en-US" dirty="0"/>
              <a:t> </a:t>
            </a:r>
            <a:r>
              <a:rPr lang="en-US" dirty="0" err="1"/>
              <a:t>mềm</a:t>
            </a:r>
            <a:r>
              <a:rPr lang="en-US" dirty="0"/>
              <a:t>.</a:t>
            </a:r>
          </a:p>
          <a:p>
            <a:r>
              <a:rPr lang="en-US" dirty="0"/>
              <a:t>Vai </a:t>
            </a:r>
            <a:r>
              <a:rPr lang="en-US" dirty="0" err="1"/>
              <a:t>trò</a:t>
            </a:r>
            <a:r>
              <a:rPr lang="en-US" dirty="0"/>
              <a:t>: </a:t>
            </a:r>
            <a:r>
              <a:rPr lang="vi-VN" dirty="0"/>
              <a:t>Nó đóng vai trò như một hướng dẫn cho các nhà phát triển, kiểm thử viên và các bên liên quan, cung cấp sự hiểu biết rõ ràng về cấu trúc phần mềm và cách nó sẽ hoạt động.</a:t>
            </a:r>
            <a:endParaRPr lang="en-US" b="1" dirty="0"/>
          </a:p>
        </p:txBody>
      </p:sp>
    </p:spTree>
    <p:extLst>
      <p:ext uri="{BB962C8B-B14F-4D97-AF65-F5344CB8AC3E}">
        <p14:creationId xmlns:p14="http://schemas.microsoft.com/office/powerpoint/2010/main" val="1893066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Quan sát chính:</a:t>
            </a:r>
          </a:p>
          <a:p>
            <a:pPr>
              <a:buFont typeface="+mj-lt"/>
              <a:buAutoNum type="arabicPeriod"/>
            </a:pPr>
            <a:r>
              <a:rPr lang="vi-VN" b="1" dirty="0"/>
              <a:t>Những năm 1940–1960</a:t>
            </a:r>
            <a:r>
              <a:rPr lang="vi-VN" dirty="0"/>
              <a:t>:</a:t>
            </a:r>
          </a:p>
          <a:p>
            <a:pPr marL="742950" lvl="1" indent="-285750">
              <a:buFont typeface="+mj-lt"/>
              <a:buAutoNum type="arabicPeriod"/>
            </a:pPr>
            <a:r>
              <a:rPr lang="vi-VN" b="1" dirty="0"/>
              <a:t>Trọng tâm</a:t>
            </a:r>
            <a:r>
              <a:rPr lang="vi-VN" dirty="0"/>
              <a:t>: Phát triển tập trung vào phần cứng.</a:t>
            </a:r>
          </a:p>
          <a:p>
            <a:pPr marL="742950" lvl="1" indent="-285750">
              <a:buFont typeface="+mj-lt"/>
              <a:buAutoNum type="arabicPeriod"/>
            </a:pPr>
            <a:r>
              <a:rPr lang="vi-VN" b="1" dirty="0"/>
              <a:t>Lập trình</a:t>
            </a:r>
            <a:r>
              <a:rPr lang="vi-VN" dirty="0"/>
              <a:t>: Thô sơ và không có cấu trúc.</a:t>
            </a:r>
          </a:p>
          <a:p>
            <a:pPr marL="742950" lvl="1" indent="-285750">
              <a:buFont typeface="+mj-lt"/>
              <a:buAutoNum type="arabicPeriod"/>
            </a:pPr>
            <a:r>
              <a:rPr lang="vi-VN" b="1" dirty="0"/>
              <a:t>Tài liệu</a:t>
            </a:r>
            <a:r>
              <a:rPr lang="vi-VN" dirty="0"/>
              <a:t>: Thường không chính thức hoặc không tồn tại.</a:t>
            </a:r>
          </a:p>
          <a:p>
            <a:pPr>
              <a:buFont typeface="+mj-lt"/>
              <a:buAutoNum type="arabicPeriod"/>
            </a:pPr>
            <a:r>
              <a:rPr lang="vi-VN" b="1" dirty="0"/>
              <a:t>Những năm 1970–1980</a:t>
            </a:r>
            <a:r>
              <a:rPr lang="vi-VN" dirty="0"/>
              <a:t>:</a:t>
            </a:r>
          </a:p>
          <a:p>
            <a:pPr marL="742950" lvl="1" indent="-285750">
              <a:buFont typeface="+mj-lt"/>
              <a:buAutoNum type="arabicPeriod"/>
            </a:pPr>
            <a:r>
              <a:rPr lang="vi-VN" b="1" dirty="0"/>
              <a:t>Sự phát triển</a:t>
            </a:r>
            <a:r>
              <a:rPr lang="vi-VN" dirty="0"/>
              <a:t>: Lập trình có cấu trúc ra đời.</a:t>
            </a:r>
          </a:p>
          <a:p>
            <a:pPr marL="742950" lvl="1" indent="-285750">
              <a:buFont typeface="+mj-lt"/>
              <a:buAutoNum type="arabicPeriod"/>
            </a:pPr>
            <a:r>
              <a:rPr lang="vi-VN" b="1" dirty="0"/>
              <a:t>Trọng tâm</a:t>
            </a:r>
            <a:r>
              <a:rPr lang="vi-VN" dirty="0"/>
              <a:t>: Tính mô-đun và thiết kế thác nước (waterfall design).</a:t>
            </a:r>
          </a:p>
          <a:p>
            <a:pPr marL="742950" lvl="1" indent="-285750">
              <a:buFont typeface="+mj-lt"/>
              <a:buAutoNum type="arabicPeriod"/>
            </a:pPr>
            <a:r>
              <a:rPr lang="vi-VN" b="1" dirty="0"/>
              <a:t>Công cụ</a:t>
            </a:r>
            <a:r>
              <a:rPr lang="vi-VN" dirty="0"/>
              <a:t>: Lưu đồ (flowcharts), sơ đồ luồng dữ liệu (data flow diagrams).</a:t>
            </a:r>
          </a:p>
          <a:p>
            <a:pPr>
              <a:buFont typeface="+mj-lt"/>
              <a:buAutoNum type="arabicPeriod"/>
            </a:pPr>
            <a:r>
              <a:rPr lang="vi-VN" b="1" dirty="0"/>
              <a:t>Những năm 1990</a:t>
            </a:r>
            <a:r>
              <a:rPr lang="vi-VN" dirty="0"/>
              <a:t>:</a:t>
            </a:r>
          </a:p>
          <a:p>
            <a:pPr marL="742950" lvl="1" indent="-285750">
              <a:buFont typeface="+mj-lt"/>
              <a:buAutoNum type="arabicPeriod"/>
            </a:pPr>
            <a:r>
              <a:rPr lang="vi-VN" b="1" dirty="0"/>
              <a:t>Xu hướng</a:t>
            </a:r>
            <a:r>
              <a:rPr lang="vi-VN" dirty="0"/>
              <a:t>: Lập trình hướng đối tượng (OOP) chiếm ưu thế.</a:t>
            </a:r>
          </a:p>
          <a:p>
            <a:pPr marL="742950" lvl="1" indent="-285750">
              <a:buFont typeface="+mj-lt"/>
              <a:buAutoNum type="arabicPeriod"/>
            </a:pPr>
            <a:r>
              <a:rPr lang="vi-VN" b="1" dirty="0"/>
              <a:t>Kỹ thuật</a:t>
            </a:r>
            <a:r>
              <a:rPr lang="vi-VN" dirty="0"/>
              <a:t>: UML (Ngôn ngữ mô hình hóa thống nhất), các mẫu thiết kế (design patterns).</a:t>
            </a:r>
          </a:p>
          <a:p>
            <a:pPr marL="742950" lvl="1" indent="-285750">
              <a:buFont typeface="+mj-lt"/>
              <a:buAutoNum type="arabicPeriod"/>
            </a:pPr>
            <a:r>
              <a:rPr lang="vi-VN" b="1" dirty="0"/>
              <a:t>Tài liệu</a:t>
            </a:r>
            <a:r>
              <a:rPr lang="vi-VN" dirty="0"/>
              <a:t>: Sơ đồ lớp (class diagrams), sơ đồ trình tự (sequence diagrams).</a:t>
            </a:r>
          </a:p>
          <a:p>
            <a:pPr>
              <a:buFont typeface="+mj-lt"/>
              <a:buAutoNum type="arabicPeriod"/>
            </a:pPr>
            <a:r>
              <a:rPr lang="vi-VN" b="1" dirty="0"/>
              <a:t>Những năm 2000</a:t>
            </a:r>
            <a:r>
              <a:rPr lang="vi-VN" dirty="0"/>
              <a:t>:</a:t>
            </a:r>
          </a:p>
          <a:p>
            <a:pPr marL="742950" lvl="1" indent="-285750">
              <a:buFont typeface="+mj-lt"/>
              <a:buAutoNum type="arabicPeriod"/>
            </a:pPr>
            <a:r>
              <a:rPr lang="vi-VN" b="1" dirty="0"/>
              <a:t>Xu hướng</a:t>
            </a:r>
            <a:r>
              <a:rPr lang="vi-VN" dirty="0"/>
              <a:t>: Các phương pháp Agile ra đời.</a:t>
            </a:r>
          </a:p>
          <a:p>
            <a:pPr marL="742950" lvl="1" indent="-285750">
              <a:buFont typeface="+mj-lt"/>
              <a:buAutoNum type="arabicPeriod"/>
            </a:pPr>
            <a:r>
              <a:rPr lang="vi-VN" b="1" dirty="0"/>
              <a:t>Trọng tâm</a:t>
            </a:r>
            <a:r>
              <a:rPr lang="vi-VN" dirty="0"/>
              <a:t>: Thiết kế linh hoạt, lặp đi lặp lại.</a:t>
            </a:r>
          </a:p>
          <a:p>
            <a:pPr marL="742950" lvl="1" indent="-285750">
              <a:buFont typeface="+mj-lt"/>
              <a:buAutoNum type="arabicPeriod"/>
            </a:pPr>
            <a:r>
              <a:rPr lang="vi-VN" b="1" dirty="0"/>
              <a:t>Công cụ</a:t>
            </a:r>
            <a:r>
              <a:rPr lang="vi-VN" dirty="0"/>
              <a:t>: Câu chuyện người dùng (user stories), wikis, sơ đồ đơn giản.</a:t>
            </a:r>
          </a:p>
          <a:p>
            <a:pPr>
              <a:buFont typeface="+mj-lt"/>
              <a:buAutoNum type="arabicPeriod"/>
            </a:pPr>
            <a:r>
              <a:rPr lang="vi-VN" b="1" dirty="0"/>
              <a:t>Những năm 2010 đến nay</a:t>
            </a:r>
            <a:r>
              <a:rPr lang="vi-VN" dirty="0"/>
              <a:t>:</a:t>
            </a:r>
          </a:p>
          <a:p>
            <a:pPr marL="742950" lvl="1" indent="-285750">
              <a:buFont typeface="+mj-lt"/>
              <a:buAutoNum type="arabicPeriod"/>
            </a:pPr>
            <a:r>
              <a:rPr lang="vi-VN" b="1" dirty="0"/>
              <a:t>Xu hướng</a:t>
            </a:r>
            <a:r>
              <a:rPr lang="vi-VN" dirty="0"/>
              <a:t>: Điện toán đám mây và microservices phát triển mạnh mẽ.</a:t>
            </a:r>
          </a:p>
          <a:p>
            <a:pPr marL="742950" lvl="1" indent="-285750">
              <a:buFont typeface="+mj-lt"/>
              <a:buAutoNum type="arabicPeriod"/>
            </a:pPr>
            <a:r>
              <a:rPr lang="vi-VN" b="1" dirty="0"/>
              <a:t>Khái niệm hiện đại</a:t>
            </a:r>
            <a:r>
              <a:rPr lang="vi-VN" dirty="0"/>
              <a:t>: Hạ tầng như mã (Infrastructure as Code - IaC), hợp đồng API (API contracts), thiết kế liên tục (continuous design).</a:t>
            </a:r>
          </a:p>
          <a:p>
            <a:pPr marL="742950" lvl="1" indent="-285750">
              <a:buFont typeface="+mj-lt"/>
              <a:buAutoNum type="arabicPeriod"/>
            </a:pPr>
            <a:r>
              <a:rPr lang="vi-VN" b="1" dirty="0"/>
              <a:t>Tài liệu</a:t>
            </a:r>
            <a:r>
              <a:rPr lang="vi-VN" dirty="0"/>
              <a:t>: Tài liệu sống (living docs), API, sơ đồ đám mây để thích nghi với sự thay đổi nhanh chóng.</a:t>
            </a:r>
          </a:p>
        </p:txBody>
      </p:sp>
    </p:spTree>
    <p:extLst>
      <p:ext uri="{BB962C8B-B14F-4D97-AF65-F5344CB8AC3E}">
        <p14:creationId xmlns:p14="http://schemas.microsoft.com/office/powerpoint/2010/main" val="1155958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b="1" dirty="0" err="1"/>
              <a:t>Bản</a:t>
            </a:r>
            <a:r>
              <a:rPr lang="en-US" b="1" dirty="0"/>
              <a:t> </a:t>
            </a:r>
            <a:r>
              <a:rPr lang="en-US" b="1" dirty="0" err="1"/>
              <a:t>thiết</a:t>
            </a:r>
            <a:r>
              <a:rPr lang="en-US" b="1" dirty="0"/>
              <a:t> </a:t>
            </a:r>
            <a:r>
              <a:rPr lang="en-US" b="1" dirty="0" err="1"/>
              <a:t>kế</a:t>
            </a:r>
            <a:r>
              <a:rPr lang="en-US" b="1" dirty="0"/>
              <a:t> chi </a:t>
            </a:r>
            <a:r>
              <a:rPr lang="en-US" b="1" dirty="0" err="1"/>
              <a:t>tiết</a:t>
            </a:r>
            <a:r>
              <a:rPr lang="en-US" b="1" dirty="0"/>
              <a:t> </a:t>
            </a:r>
            <a:r>
              <a:rPr lang="en-US" b="1" dirty="0" err="1"/>
              <a:t>về</a:t>
            </a:r>
            <a:r>
              <a:rPr lang="en-US" b="1" dirty="0"/>
              <a:t> </a:t>
            </a:r>
            <a:r>
              <a:rPr lang="en-US" b="1" dirty="0" err="1"/>
              <a:t>kiến</a:t>
            </a:r>
            <a:r>
              <a:rPr lang="en-US" b="1" dirty="0"/>
              <a:t> ​​</a:t>
            </a:r>
            <a:r>
              <a:rPr lang="en-US" b="1" dirty="0" err="1"/>
              <a:t>trúc</a:t>
            </a:r>
            <a:r>
              <a:rPr lang="en-US" b="1" dirty="0"/>
              <a:t> và </a:t>
            </a:r>
            <a:r>
              <a:rPr lang="en-US" b="1" dirty="0" err="1"/>
              <a:t>thành</a:t>
            </a:r>
            <a:r>
              <a:rPr lang="en-US" b="1" dirty="0"/>
              <a:t> </a:t>
            </a:r>
            <a:r>
              <a:rPr lang="en-US" b="1" dirty="0" err="1"/>
              <a:t>phần</a:t>
            </a:r>
            <a:r>
              <a:rPr lang="en-US" b="1" dirty="0"/>
              <a:t> </a:t>
            </a:r>
            <a:r>
              <a:rPr lang="en-US" b="1" dirty="0" err="1"/>
              <a:t>hệ</a:t>
            </a:r>
            <a:r>
              <a:rPr lang="en-US" b="1" dirty="0"/>
              <a:t> </a:t>
            </a:r>
            <a:r>
              <a:rPr lang="en-US" b="1" dirty="0" err="1"/>
              <a:t>thống</a:t>
            </a:r>
            <a:endParaRPr lang="en-US" b="1" dirty="0"/>
          </a:p>
          <a:p>
            <a:r>
              <a:rPr lang="vi-VN" b="1" dirty="0"/>
              <a:t>Foundation (Nền tảng)</a:t>
            </a:r>
            <a:r>
              <a:rPr lang="vi-VN" dirty="0"/>
              <a:t>:</a:t>
            </a:r>
          </a:p>
          <a:p>
            <a:pPr>
              <a:buFont typeface="Arial" panose="020B0604020202020204" pitchFamily="34" charset="0"/>
              <a:buChar char="•"/>
            </a:pPr>
            <a:r>
              <a:rPr lang="vi-VN" dirty="0"/>
              <a:t>Xác định kiến trúc hệ thống tổng thể và các thành phần chính của nó.</a:t>
            </a:r>
          </a:p>
          <a:p>
            <a:r>
              <a:rPr lang="vi-VN" b="1" dirty="0"/>
              <a:t>Structure (Cấu trúc)</a:t>
            </a:r>
            <a:r>
              <a:rPr lang="vi-VN" dirty="0"/>
              <a:t>:</a:t>
            </a:r>
          </a:p>
          <a:p>
            <a:pPr>
              <a:buFont typeface="Arial" panose="020B0604020202020204" pitchFamily="34" charset="0"/>
              <a:buChar char="•"/>
            </a:pPr>
            <a:r>
              <a:rPr lang="vi-VN" dirty="0"/>
              <a:t>Phác thảo mối quan hệ giữa các thành phần, chức năng của chúng và sự tương tác.</a:t>
            </a:r>
          </a:p>
          <a:p>
            <a:r>
              <a:rPr lang="vi-VN" b="1" dirty="0"/>
              <a:t>Building Blocks (Các khối xây dựng)</a:t>
            </a:r>
            <a:r>
              <a:rPr lang="vi-VN" dirty="0"/>
              <a:t>:</a:t>
            </a:r>
          </a:p>
          <a:p>
            <a:pPr>
              <a:buFont typeface="Arial" panose="020B0604020202020204" pitchFamily="34" charset="0"/>
              <a:buChar char="•"/>
            </a:pPr>
            <a:r>
              <a:rPr lang="vi-VN" dirty="0"/>
              <a:t>Chi tiết các thành phần riêng lẻ, chức năng của chúng và cách chúng đóng góp vào hệ thống tổng thể.</a:t>
            </a:r>
          </a:p>
          <a:p>
            <a:endParaRPr lang="en-US" dirty="0"/>
          </a:p>
        </p:txBody>
      </p:sp>
    </p:spTree>
    <p:extLst>
      <p:ext uri="{BB962C8B-B14F-4D97-AF65-F5344CB8AC3E}">
        <p14:creationId xmlns:p14="http://schemas.microsoft.com/office/powerpoint/2010/main" val="36492870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ba điểm chính về cách SDD giúp giảm thiểu lỗi và sai sót:</a:t>
            </a:r>
          </a:p>
          <a:p>
            <a:pPr>
              <a:buFont typeface="Arial" panose="020B0604020202020204" pitchFamily="34" charset="0"/>
              <a:buChar char="•"/>
            </a:pPr>
            <a:r>
              <a:rPr lang="vi-VN" b="1" dirty="0"/>
              <a:t>Clear Communication (Giao tiếp Rõ ràng):</a:t>
            </a:r>
            <a:r>
              <a:rPr lang="vi-VN" dirty="0"/>
              <a:t> SDD đảm bảo mọi người đều hiểu rõ vấn đề, dẫn đến mã code nhất quán và ít hiểu lầm hơn. Ý này nhấn mạnh vai trò của SDD như một cầu nối giao tiếp hiệu quả giữa các thành viên trong nhóm phát triển.</a:t>
            </a:r>
          </a:p>
          <a:p>
            <a:pPr>
              <a:buFont typeface="Arial" panose="020B0604020202020204" pitchFamily="34" charset="0"/>
              <a:buChar char="•"/>
            </a:pPr>
            <a:r>
              <a:rPr lang="vi-VN" b="1" dirty="0"/>
              <a:t>Early Detection (Phát hiện Sớm):</a:t>
            </a:r>
            <a:r>
              <a:rPr lang="vi-VN" dirty="0"/>
              <a:t> Các vấn đề tiềm ẩn có thể được xác định và xử lý sớm trong giai đoạn thiết kế, giảm thiểu việc làm lại tốn kém. Điểm này cho thấy SDD giúp chủ động phòng ngừa lỗi ngay từ đầu thay vì phải sửa chữa chúng khi sản phẩm đã hoàn thiện.</a:t>
            </a:r>
          </a:p>
          <a:p>
            <a:pPr>
              <a:buFont typeface="Arial" panose="020B0604020202020204" pitchFamily="34" charset="0"/>
              <a:buChar char="•"/>
            </a:pPr>
            <a:r>
              <a:rPr lang="vi-VN" b="1" dirty="0"/>
              <a:t>Shared Understanding (Hiểu biết Chung):</a:t>
            </a:r>
            <a:r>
              <a:rPr lang="vi-VN" dirty="0"/>
              <a:t> SDD thúc đẩy sự hiểu biết chung về phần mềm, ngăn ngừa sự không nhất quán và lỗi trong quá trình triển khai. Ý này nhấn mạnh tầm quan trọng của việc mọi người trong nhóm có cùng một cái nhìn về sản phẩm.</a:t>
            </a:r>
          </a:p>
          <a:p>
            <a:endParaRPr lang="en-US" dirty="0"/>
          </a:p>
        </p:txBody>
      </p:sp>
    </p:spTree>
    <p:extLst>
      <p:ext uri="{BB962C8B-B14F-4D97-AF65-F5344CB8AC3E}">
        <p14:creationId xmlns:p14="http://schemas.microsoft.com/office/powerpoint/2010/main" val="180147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Gỡ lỗi, Cập nhật và Sửa đổi Dễ dàng hơn)</a:t>
            </a:r>
            <a:r>
              <a:rPr lang="en-US" dirty="0"/>
              <a:t>:</a:t>
            </a:r>
            <a:br>
              <a:rPr lang="en-US" dirty="0"/>
            </a:br>
            <a:r>
              <a:rPr lang="vi-VN" b="1" dirty="0"/>
              <a:t>Issue Tracking (Theo dõi Vấn đề):</a:t>
            </a:r>
            <a:r>
              <a:rPr lang="vi-VN" dirty="0"/>
              <a:t> SDD cung cấp một điểm tham chiếu rõ ràng để gỡ lỗi các vấn đề, cho phép các nhà phát triển nhanh chóng xác định nguồn gốc của lỗi. Điều này có nghĩa là SDD đóng vai trò như một bản đồ hoặc hướng dẫn chi tiết, giúp tìm kiếm và khắc phục lỗi một cách hiệu quả. </a:t>
            </a:r>
            <a:endParaRPr lang="en-US" dirty="0"/>
          </a:p>
          <a:p>
            <a:r>
              <a:rPr lang="vi-VN" b="1" dirty="0"/>
              <a:t>Change Management (Quản lý Thay đổi):</a:t>
            </a:r>
            <a:r>
              <a:rPr lang="vi-VN" dirty="0"/>
              <a:t> SDD đơn giản hóa quá trình cập nhật và sửa đổi phần mềm, giảm thiểu tác động đến các chức năng hiện có. SDD giúp việc thay đổi trở nên có cấu trúc và ít rủi ro hơn, tránh gây ra các lỗi không mong muốn. </a:t>
            </a:r>
            <a:endParaRPr lang="en-US" dirty="0"/>
          </a:p>
          <a:p>
            <a:r>
              <a:rPr lang="vi-VN" b="1" dirty="0"/>
              <a:t>Streamlined Process (Quy trình Được sắp xếp hợp lý):</a:t>
            </a:r>
            <a:r>
              <a:rPr lang="vi-VN" dirty="0"/>
              <a:t> SDD giúp dễ dàng điều hướng codebase, dẫn đến việc cập nhật và sửa đổi hiệu quả hơn. SDD giúp code dễ đọc, dễ hiểu và dễ bảo trì hơn, từ đó tăng tốc độ và chất lượng của các thay đổi.</a:t>
            </a:r>
            <a:endParaRPr lang="en-US" dirty="0"/>
          </a:p>
        </p:txBody>
      </p:sp>
    </p:spTree>
    <p:extLst>
      <p:ext uri="{BB962C8B-B14F-4D97-AF65-F5344CB8AC3E}">
        <p14:creationId xmlns:p14="http://schemas.microsoft.com/office/powerpoint/2010/main" val="3845445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Scalability (Khả năng Mở rộng):</a:t>
            </a:r>
            <a:r>
              <a:rPr lang="vi-VN" dirty="0"/>
              <a:t> SDD tạo điều kiện cho khả năng mở rộng bằng cách đảm bảo hệ thống có thể đáp ứng sự tăng trưởng trong tương lai và những thay đổi về nhu cầu của người dùng. Điều này có nghĩa là SDD giúp hệ thống được thiết kế sao cho nó có thể xử lý được lượng người dùng, dữ liệu hoặc chức năng ngày càng tăng mà không gặp vấn đề về hiệu suất. </a:t>
            </a:r>
            <a:endParaRPr lang="en-US" dirty="0"/>
          </a:p>
          <a:p>
            <a:r>
              <a:rPr lang="vi-VN" b="1" dirty="0"/>
              <a:t>Performance (Hiệu suất):</a:t>
            </a:r>
            <a:r>
              <a:rPr lang="vi-VN" dirty="0"/>
              <a:t> Các hệ thống được thiết kế tốt với các thành phần được tối ưu hóa dẫn đến hiệu suất được cải thiện, giảm thiểu việc sử dụng tài nguyên và tối đa hóa hiệu quả. SDD giúp đảm bảo rằng hệ thống được xây dựng với các thành phần hoạt động hiệu quả, sử dụng ít tài nguyên (CPU, bộ nhớ, băng thông) và đạt được hiệu suất cao. </a:t>
            </a:r>
            <a:endParaRPr lang="en-US" dirty="0"/>
          </a:p>
          <a:p>
            <a:r>
              <a:rPr lang="vi-VN" b="1" dirty="0"/>
              <a:t>Efficiency (Hiệu quả):</a:t>
            </a:r>
            <a:r>
              <a:rPr lang="vi-VN" dirty="0"/>
              <a:t> SDD thúc đẩy việc phân bổ tài nguyên hiệu quả, giảm thiểu mã không cần thiết và cải thiện hiệu suất tổng thể của hệ thống. SDD giúp loại bỏ mã dư thừa, tối ưu hóa việc sử dụng tài nguyên và do đó cải thiện tốc độ và khả năng đáp ứng của hệ thống.</a:t>
            </a:r>
            <a:endParaRPr lang="en-US" dirty="0"/>
          </a:p>
        </p:txBody>
      </p:sp>
    </p:spTree>
    <p:extLst>
      <p:ext uri="{BB962C8B-B14F-4D97-AF65-F5344CB8AC3E}">
        <p14:creationId xmlns:p14="http://schemas.microsoft.com/office/powerpoint/2010/main" val="6638878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Reduced Costs (Giảm Chi phí):</a:t>
            </a:r>
            <a:r>
              <a:rPr lang="vi-VN" dirty="0"/>
              <a:t> SDD giúp tránh việc làm lại tốn kém và giảm thời gian phát triển, cuối cùng làm giảm tổng chi phí phát triển. Việc phát hiện sớm các vấn đề thông qua SDD giúp tiết kiệm chi phí sửa chữa về sau, khi mà việc sửa lỗi thường tốn kém hơn nhiều. </a:t>
            </a:r>
            <a:endParaRPr lang="en-US" dirty="0"/>
          </a:p>
          <a:p>
            <a:r>
              <a:rPr lang="vi-VN" b="1" dirty="0"/>
              <a:t>Faster Time to Market (Thời gian Ra mắt Thị trường Nhanh hơn):</a:t>
            </a:r>
            <a:r>
              <a:rPr lang="vi-VN" dirty="0"/>
              <a:t> Các quy trình phát triển được sắp xếp hợp lý được hỗ trợ bởi SDD dẫn đến việc phân phối phần mềm ra thị trường nhanh hơn. Việc có một kế hoạch và thiết kế rõ ràng giúp quá trình phát triển diễn ra suôn sẻ và nhanh chóng hơn, từ đó rút ngắn thời gian đưa sản phẩm đến tay người dùng. </a:t>
            </a:r>
            <a:endParaRPr lang="en-US" dirty="0"/>
          </a:p>
          <a:p>
            <a:r>
              <a:rPr lang="vi-VN" b="1" dirty="0"/>
              <a:t>Reduced Risk (Giảm Rủi ro):</a:t>
            </a:r>
            <a:r>
              <a:rPr lang="vi-VN" dirty="0"/>
              <a:t> SDD giảm thiểu rủi ro bằng cách xác định các vấn đề tiềm ẩn sớm, giảm khả năng chậm trễ và làm lại tốn kém. Việc lường trước các rủi ro và có biện pháp phòng ngừa giúp dự án tránh khỏi những trở ngại và tiết kiệm chi phí phát sinh do chậm trễ.</a:t>
            </a:r>
            <a:endParaRPr lang="en-US" dirty="0"/>
          </a:p>
        </p:txBody>
      </p:sp>
    </p:spTree>
    <p:extLst>
      <p:ext uri="{BB962C8B-B14F-4D97-AF65-F5344CB8AC3E}">
        <p14:creationId xmlns:p14="http://schemas.microsoft.com/office/powerpoint/2010/main" val="3833683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High-Level Design Document (HLD) (Tài liệu Thiết kế Cấp cao):</a:t>
            </a:r>
            <a:r>
              <a:rPr lang="vi-VN" dirty="0"/>
              <a:t> Mô tả tổng quan về hệ thống, các thành phần chính và mối quan hệ giữa chúng. HLD tập trung vào bức tranh toàn cảnh mà không đi sâu vào chi tiết triển khai. </a:t>
            </a:r>
            <a:endParaRPr lang="en-US" dirty="0"/>
          </a:p>
          <a:p>
            <a:r>
              <a:rPr lang="vi-VN" b="1" dirty="0"/>
              <a:t>Low-Level Design Document (LLD) (Tài liệu Thiết kế Cấp thấp):</a:t>
            </a:r>
            <a:r>
              <a:rPr lang="vi-VN" dirty="0"/>
              <a:t> Cung cấp chi tiết cụ thể về cách từng thành phần của hệ thống sẽ được triển khai. LLD bao gồm các thuật toán, cấu trúc dữ liệu, và các chi tiết kỹ thuật khác. </a:t>
            </a:r>
            <a:endParaRPr lang="en-US" dirty="0"/>
          </a:p>
          <a:p>
            <a:r>
              <a:rPr lang="vi-VN" b="1" dirty="0"/>
              <a:t>Architectural Design Document (Tài liệu Thiết kế Kiến trúc):</a:t>
            </a:r>
            <a:r>
              <a:rPr lang="vi-VN" dirty="0"/>
              <a:t> Mô tả cấu trúc tổng thể của hệ thống, bao gồm các mẫu thiết kế (design patterns), các thành phần và cách chúng tương tác với nhau. </a:t>
            </a:r>
            <a:endParaRPr lang="en-US" dirty="0"/>
          </a:p>
          <a:p>
            <a:r>
              <a:rPr lang="vi-VN" b="1" dirty="0"/>
              <a:t>Data Design Document (Tài liệu Thiết kế Dữ liệu):</a:t>
            </a:r>
            <a:r>
              <a:rPr lang="vi-VN" dirty="0"/>
              <a:t> Mô tả cấu trúc và tổ chức của dữ liệu được sử dụng bởi hệ thống, bao gồm các lược đồ cơ sở dữ liệu, các kiểu dữ liệu và các ràng buộc dữ liệu. </a:t>
            </a:r>
            <a:endParaRPr lang="en-US" dirty="0"/>
          </a:p>
          <a:p>
            <a:r>
              <a:rPr lang="vi-VN" b="1" dirty="0"/>
              <a:t>Component Design Document (Tài liệu Thiết kế Thành phần):</a:t>
            </a:r>
            <a:r>
              <a:rPr lang="vi-VN" dirty="0"/>
              <a:t> Mô tả chi tiết về từng thành phần phần mềm, bao gồm chức năng, giao diện và cách chúng tương tác với các thành phần khác. </a:t>
            </a:r>
            <a:endParaRPr lang="en-US" dirty="0"/>
          </a:p>
          <a:p>
            <a:r>
              <a:rPr lang="vi-VN" b="1" dirty="0"/>
              <a:t>UI/UX Design Document (Tài liệu Thiết kế UI/UX):</a:t>
            </a:r>
            <a:r>
              <a:rPr lang="vi-VN" dirty="0"/>
              <a:t> Mô tả giao diện người dùng và trải nghiệm người dùng, bao gồm bố cục, màu sắc, phông chữ và các yếu tố tương tác. </a:t>
            </a:r>
            <a:endParaRPr lang="en-US" dirty="0"/>
          </a:p>
          <a:p>
            <a:r>
              <a:rPr lang="vi-VN" b="1" dirty="0"/>
              <a:t>API Design Document (Tài liệu Thiết kế API):</a:t>
            </a:r>
            <a:r>
              <a:rPr lang="vi-VN" dirty="0"/>
              <a:t> Mô tả các giao diện lập trình ứng dụng (API), bao gồm các điểm cuối (endpoints), các tham số, các định dạng dữ liệu và các quy tắc xác thực. </a:t>
            </a:r>
            <a:endParaRPr lang="en-US" dirty="0"/>
          </a:p>
          <a:p>
            <a:r>
              <a:rPr lang="vi-VN" b="1" dirty="0"/>
              <a:t>Security Design Document (Tài liệu Thiết kế Bảo mật):</a:t>
            </a:r>
            <a:r>
              <a:rPr lang="vi-VN" dirty="0"/>
              <a:t> Mô tả các biện pháp bảo mật được áp dụng để bảo vệ hệ thống khỏi các mối đe dọa, bao gồm xác thực, ủy quyền, mã hóa và kiểm tra bảo mật. </a:t>
            </a:r>
            <a:endParaRPr lang="en-US" dirty="0"/>
          </a:p>
          <a:p>
            <a:r>
              <a:rPr lang="vi-VN" b="1" dirty="0"/>
              <a:t>Deployment and Maintenance Document (Tài liệu Triển khai và Bảo trì):</a:t>
            </a:r>
            <a:r>
              <a:rPr lang="vi-VN" dirty="0"/>
              <a:t> Mô tả cách hệ thống sẽ được triển khai, cấu hình và bảo trì sau khi được đưa vào sử dụng.</a:t>
            </a:r>
            <a:endParaRPr lang="en-US" dirty="0"/>
          </a:p>
        </p:txBody>
      </p:sp>
    </p:spTree>
    <p:extLst>
      <p:ext uri="{BB962C8B-B14F-4D97-AF65-F5344CB8AC3E}">
        <p14:creationId xmlns:p14="http://schemas.microsoft.com/office/powerpoint/2010/main" val="3576764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Mô tả:</a:t>
            </a:r>
            <a:r>
              <a:rPr lang="vi-VN" dirty="0"/>
              <a:t> HLD cung cấp một cái nhìn tổng quan về kiến trúc của hệ thống và các thành phần chính. Nó tập trung vào "cái gì" (</a:t>
            </a:r>
            <a:r>
              <a:rPr lang="vi-VN" dirty="0" err="1"/>
              <a:t>what</a:t>
            </a:r>
            <a:r>
              <a:rPr lang="vi-VN" dirty="0"/>
              <a:t>) chứ không phải chi tiết triển khai "như thế nào" (</a:t>
            </a:r>
            <a:r>
              <a:rPr lang="vi-VN" dirty="0" err="1"/>
              <a:t>how</a:t>
            </a:r>
            <a:r>
              <a:rPr lang="vi-VN" dirty="0"/>
              <a:t>). Điều này có nghĩa là HLD đưa ra một bức tranh tổng quan về hệ thống mà không đi sâu vào các chi tiết kỹ thuật cụ thể.</a:t>
            </a:r>
          </a:p>
          <a:p>
            <a:r>
              <a:rPr lang="vi-VN" b="1" dirty="0"/>
              <a:t>Nội dung:</a:t>
            </a:r>
            <a:r>
              <a:rPr lang="vi-VN" dirty="0"/>
              <a:t> :</a:t>
            </a:r>
          </a:p>
          <a:p>
            <a:pPr>
              <a:buFont typeface="Arial" panose="020B0604020202020204" pitchFamily="34" charset="0"/>
              <a:buChar char="•"/>
            </a:pPr>
            <a:r>
              <a:rPr lang="vi-VN" b="1" dirty="0" err="1"/>
              <a:t>System</a:t>
            </a:r>
            <a:r>
              <a:rPr lang="vi-VN" b="1" dirty="0"/>
              <a:t> </a:t>
            </a:r>
            <a:r>
              <a:rPr lang="vi-VN" b="1" dirty="0" err="1"/>
              <a:t>architecture</a:t>
            </a:r>
            <a:r>
              <a:rPr lang="vi-VN" b="1" dirty="0"/>
              <a:t> </a:t>
            </a:r>
            <a:r>
              <a:rPr lang="vi-VN" b="1" dirty="0" err="1"/>
              <a:t>diagram</a:t>
            </a:r>
            <a:r>
              <a:rPr lang="vi-VN" b="1" dirty="0"/>
              <a:t> (Sơ đồ kiến trúc hệ thống):</a:t>
            </a:r>
            <a:r>
              <a:rPr lang="vi-VN" dirty="0"/>
              <a:t> Một sơ đồ trực quan thể hiện cấu trúc tổng thể của hệ thống, bao gồm các thành phần chính và mối quan hệ giữa chúng.</a:t>
            </a:r>
          </a:p>
          <a:p>
            <a:pPr>
              <a:buFont typeface="Arial" panose="020B0604020202020204" pitchFamily="34" charset="0"/>
              <a:buChar char="•"/>
            </a:pPr>
            <a:r>
              <a:rPr lang="vi-VN" b="1" dirty="0" err="1"/>
              <a:t>Major</a:t>
            </a:r>
            <a:r>
              <a:rPr lang="vi-VN" b="1" dirty="0"/>
              <a:t> modules/components and their roles (Các module/thành phần chính và vai trò của chúng):</a:t>
            </a:r>
            <a:r>
              <a:rPr lang="vi-VN" dirty="0"/>
              <a:t> Mô tả các module hoặc thành phần quan trọng của hệ thống và chức năng của từng thành phần.</a:t>
            </a:r>
          </a:p>
          <a:p>
            <a:pPr>
              <a:buFont typeface="Arial" panose="020B0604020202020204" pitchFamily="34" charset="0"/>
              <a:buChar char="•"/>
            </a:pPr>
            <a:r>
              <a:rPr lang="vi-VN" b="1" dirty="0"/>
              <a:t>External system integrations (Tích hợp hệ thống bên ngoài):</a:t>
            </a:r>
            <a:r>
              <a:rPr lang="vi-VN" dirty="0"/>
              <a:t> Mô tả cách hệ thống tương tác với các hệ thống bên ngoài khác (nếu có).</a:t>
            </a:r>
          </a:p>
          <a:p>
            <a:pPr>
              <a:buFont typeface="Arial" panose="020B0604020202020204" pitchFamily="34" charset="0"/>
              <a:buChar char="•"/>
            </a:pPr>
            <a:r>
              <a:rPr lang="vi-VN" b="1" dirty="0"/>
              <a:t>High-level data flow diagrams (Sơ đồ luồng dữ liệu cấp cao):</a:t>
            </a:r>
            <a:r>
              <a:rPr lang="vi-VN" dirty="0"/>
              <a:t> Sơ đồ thể hiện luồng dữ liệu chính trong hệ thống, giúp hiểu cách dữ liệu được xử lý và di chuyển giữa các thành phần.</a:t>
            </a:r>
          </a:p>
          <a:p>
            <a:pPr>
              <a:buFont typeface="Arial" panose="020B0604020202020204" pitchFamily="34" charset="0"/>
              <a:buChar char="•"/>
            </a:pPr>
            <a:r>
              <a:rPr lang="vi-VN" b="1" dirty="0"/>
              <a:t>Technologies, frameworks, and tools (Công nghệ, framework và công cụ):</a:t>
            </a:r>
            <a:r>
              <a:rPr lang="vi-VN" dirty="0"/>
              <a:t> Liệt kê các công nghệ, framework và công cụ sẽ được sử dụng để xây dựng hệ thống.</a:t>
            </a:r>
          </a:p>
          <a:p>
            <a:endParaRPr lang="en-US" dirty="0"/>
          </a:p>
        </p:txBody>
      </p:sp>
    </p:spTree>
    <p:extLst>
      <p:ext uri="{BB962C8B-B14F-4D97-AF65-F5344CB8AC3E}">
        <p14:creationId xmlns:p14="http://schemas.microsoft.com/office/powerpoint/2010/main" val="3563325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Introduction (Giới thiệu):</a:t>
            </a:r>
            <a:r>
              <a:rPr lang="vi-VN" dirty="0"/>
              <a:t> Phần này giới thiệu mục đích và phạm vi của tài liệu.</a:t>
            </a:r>
          </a:p>
          <a:p>
            <a:pPr>
              <a:buFont typeface="Arial" panose="020B0604020202020204" pitchFamily="34" charset="0"/>
              <a:buChar char="•"/>
            </a:pPr>
            <a:r>
              <a:rPr lang="vi-VN" b="1" dirty="0"/>
              <a:t>Purpose of the Document (Mục đích của Tài liệu):</a:t>
            </a:r>
            <a:r>
              <a:rPr lang="vi-VN" dirty="0"/>
              <a:t> Mục đích của tài liệu này là xác định kiến trúc cấp cao, các thành phần và thiết kế chức năng cho ứng dụng ngân hàng trực tuyến.</a:t>
            </a:r>
          </a:p>
          <a:p>
            <a:pPr>
              <a:buFont typeface="Arial" panose="020B0604020202020204" pitchFamily="34" charset="0"/>
              <a:buChar char="•"/>
            </a:pPr>
            <a:r>
              <a:rPr lang="vi-VN" b="1" dirty="0"/>
              <a:t>Scope (Phạm vi):</a:t>
            </a:r>
            <a:r>
              <a:rPr lang="vi-VN" dirty="0"/>
              <a:t> Hệ thống cho phép khách hàng thực hiện các hoạt động ngân hàng trực tuyến an toàn như quản lý tài khoản, chuyển tiền và xem sao kê.</a:t>
            </a:r>
          </a:p>
          <a:p>
            <a:r>
              <a:rPr lang="vi-VN" b="1" dirty="0"/>
              <a:t>System Overview (Tổng quan về Hệ thống):</a:t>
            </a:r>
            <a:r>
              <a:rPr lang="vi-VN" dirty="0"/>
              <a:t> Phần này cung cấp cái nhìn tổng quan về hệ thống.</a:t>
            </a:r>
          </a:p>
          <a:p>
            <a:pPr>
              <a:buFont typeface="Arial" panose="020B0604020202020204" pitchFamily="34" charset="0"/>
              <a:buChar char="•"/>
            </a:pPr>
            <a:r>
              <a:rPr lang="vi-VN" b="1" dirty="0"/>
              <a:t>System Objectives (Mục tiêu của Hệ thống):</a:t>
            </a:r>
            <a:r>
              <a:rPr lang="vi-VN" dirty="0"/>
              <a:t> Liệt kê các mục tiêu chính của hệ thống:</a:t>
            </a:r>
          </a:p>
          <a:p>
            <a:pPr marL="742950" lvl="1" indent="-285750">
              <a:buFont typeface="Arial" panose="020B0604020202020204" pitchFamily="34" charset="0"/>
              <a:buChar char="•"/>
            </a:pPr>
            <a:r>
              <a:rPr lang="vi-VN" b="1" dirty="0"/>
              <a:t>Allow users to access their accounts securely (Cho phép người dùng truy cập tài khoản của họ một cách an toàn):</a:t>
            </a:r>
            <a:r>
              <a:rPr lang="vi-VN" dirty="0"/>
              <a:t> Đảm bảo tính bảo mật khi người dùng truy cập vào tài khoản của họ.</a:t>
            </a:r>
          </a:p>
          <a:p>
            <a:pPr marL="742950" lvl="1" indent="-285750">
              <a:buFont typeface="Arial" panose="020B0604020202020204" pitchFamily="34" charset="0"/>
              <a:buChar char="•"/>
            </a:pPr>
            <a:r>
              <a:rPr lang="vi-VN" b="1" dirty="0"/>
              <a:t>Facilitate fund transfers between accounts (Tạo điều kiện chuyển tiền giữa các tài khoản):</a:t>
            </a:r>
            <a:r>
              <a:rPr lang="vi-VN" dirty="0"/>
              <a:t> Cung cấp khả năng chuyển tiền giữa các tài khoản.</a:t>
            </a:r>
          </a:p>
          <a:p>
            <a:pPr marL="742950" lvl="1" indent="-285750">
              <a:buFont typeface="Arial" panose="020B0604020202020204" pitchFamily="34" charset="0"/>
              <a:buChar char="•"/>
            </a:pPr>
            <a:r>
              <a:rPr lang="vi-VN" b="1" dirty="0"/>
              <a:t>Provide real-time account balance and statements (Cung cấp số dư và sao kê tài khoản theo thời gian thực):</a:t>
            </a:r>
            <a:r>
              <a:rPr lang="vi-VN" dirty="0"/>
              <a:t> Cung cấp thông tin số dư và sao kê tài khoản được cập nhật liên tục.</a:t>
            </a:r>
          </a:p>
          <a:p>
            <a:endParaRPr lang="en-US" dirty="0"/>
          </a:p>
        </p:txBody>
      </p:sp>
    </p:spTree>
    <p:extLst>
      <p:ext uri="{BB962C8B-B14F-4D97-AF65-F5344CB8AC3E}">
        <p14:creationId xmlns:p14="http://schemas.microsoft.com/office/powerpoint/2010/main" val="2458771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Mô tả:</a:t>
            </a:r>
            <a:r>
              <a:rPr lang="vi-VN" dirty="0"/>
              <a:t> LLD cung cấp các mô tả chi tiết về các thành phần của hệ thống, bao gồm các chi tiết triển khai cho các nhà phát triển. Khác với HLD tập trung vào "cái gì", LLD tập trung vào "như thế nào" - cách các thành phần sẽ được xây dựng và hoạt động.</a:t>
            </a:r>
          </a:p>
          <a:p>
            <a:r>
              <a:rPr lang="vi-VN" b="1" dirty="0"/>
              <a:t>Nội dung:</a:t>
            </a:r>
            <a:r>
              <a:rPr lang="vi-VN" dirty="0"/>
              <a:t> Slide liệt kê các thành phần chính thường có trong một LLD:</a:t>
            </a:r>
          </a:p>
          <a:p>
            <a:pPr>
              <a:buFont typeface="Arial" panose="020B0604020202020204" pitchFamily="34" charset="0"/>
              <a:buChar char="•"/>
            </a:pPr>
            <a:r>
              <a:rPr lang="vi-VN" b="1" dirty="0"/>
              <a:t>Module-level design (Thiết kế cấp module):</a:t>
            </a:r>
            <a:r>
              <a:rPr lang="vi-VN" dirty="0"/>
              <a:t> Mô tả chi tiết về từng module trong hệ thống, bao gồm cấu trúc bên trong, các chức năng và cách chúng tương tác với các module khác.</a:t>
            </a:r>
          </a:p>
          <a:p>
            <a:pPr>
              <a:buFont typeface="Arial" panose="020B0604020202020204" pitchFamily="34" charset="0"/>
              <a:buChar char="•"/>
            </a:pPr>
            <a:r>
              <a:rPr lang="vi-VN" b="1" dirty="0"/>
              <a:t>Component responsibilities, inputs/outputs (Trách nhiệm, đầu vào/đầu ra của thành phần):</a:t>
            </a:r>
            <a:r>
              <a:rPr lang="vi-VN" dirty="0"/>
              <a:t> Mô tả trách nhiệm của từng thành phần, dữ liệu đầu vào mà nó nhận và dữ liệu đầu ra mà nó tạo ra.</a:t>
            </a:r>
          </a:p>
          <a:p>
            <a:endParaRPr lang="en-US" dirty="0"/>
          </a:p>
          <a:p>
            <a:endParaRPr lang="en-US" dirty="0"/>
          </a:p>
        </p:txBody>
      </p:sp>
    </p:spTree>
    <p:extLst>
      <p:ext uri="{BB962C8B-B14F-4D97-AF65-F5344CB8AC3E}">
        <p14:creationId xmlns:p14="http://schemas.microsoft.com/office/powerpoint/2010/main" val="38525218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1. Login Process (Quy trình Đăng nhập):</a:t>
            </a:r>
            <a:r>
              <a:rPr lang="vi-VN" dirty="0"/>
              <a:t> Mô tả chi tiết các bước trong quy trình đăng nhập:</a:t>
            </a:r>
          </a:p>
          <a:p>
            <a:pPr>
              <a:buFont typeface="Arial" panose="020B0604020202020204" pitchFamily="34" charset="0"/>
              <a:buChar char="•"/>
            </a:pPr>
            <a:r>
              <a:rPr lang="vi-VN" b="1" dirty="0"/>
              <a:t>1. Accepts username and password (Chấp nhận tên người dùng và mật khẩu):</a:t>
            </a:r>
            <a:r>
              <a:rPr lang="vi-VN" dirty="0"/>
              <a:t> Người dùng nhập tên người dùng và mật khẩu.</a:t>
            </a:r>
          </a:p>
          <a:p>
            <a:pPr>
              <a:buFont typeface="Arial" panose="020B0604020202020204" pitchFamily="34" charset="0"/>
              <a:buChar char="•"/>
            </a:pPr>
            <a:r>
              <a:rPr lang="vi-VN" b="1" dirty="0"/>
              <a:t>2. Verifies credentials against the user database (Xác minh thông tin đăng nhập với cơ sở dữ liệu người dùng):</a:t>
            </a:r>
            <a:r>
              <a:rPr lang="vi-VN" dirty="0"/>
              <a:t> Hệ thống kiểm tra xem tên người dùng và mật khẩu có khớp với thông tin được lưu trữ trong cơ sở dữ liệu hay không.</a:t>
            </a:r>
          </a:p>
          <a:p>
            <a:pPr>
              <a:buFont typeface="Arial" panose="020B0604020202020204" pitchFamily="34" charset="0"/>
              <a:buChar char="•"/>
            </a:pPr>
            <a:r>
              <a:rPr lang="vi-VN" b="1" dirty="0"/>
              <a:t>3. Issues a secure token (JWT) (Cấp một token bảo mật (JWT)):</a:t>
            </a:r>
            <a:r>
              <a:rPr lang="vi-VN" dirty="0"/>
              <a:t> Nếu thông tin đăng nhập hợp lệ, hệ thống sẽ cấp một token bảo mật (ví dụ: JWT - JSON Web Token) cho người dùng để sử dụng trong các phiên làm việc tiếp theo.</a:t>
            </a:r>
          </a:p>
          <a:p>
            <a:r>
              <a:rPr lang="vi-VN" b="1" dirty="0"/>
              <a:t>2. Logout Process (Quy trình Đăng xuất):</a:t>
            </a:r>
            <a:r>
              <a:rPr lang="vi-VN" dirty="0"/>
              <a:t> Mô tả quy trình đăng xuất:</a:t>
            </a:r>
          </a:p>
          <a:p>
            <a:pPr>
              <a:buFont typeface="Arial" panose="020B0604020202020204" pitchFamily="34" charset="0"/>
              <a:buChar char="•"/>
            </a:pPr>
            <a:r>
              <a:rPr lang="vi-VN" b="1" dirty="0"/>
              <a:t>1. Invalidates the user session and revokes the token (Hủy phiên làm việc của người dùng và thu hồi token):</a:t>
            </a:r>
            <a:r>
              <a:rPr lang="vi-VN" dirty="0"/>
              <a:t> Khi người dùng đăng xuất, hệ thống sẽ hủy phiên làm việc hiện tại và thu hồi token đã cấp, ngăn chặn việc sử dụng token đó để truy cập trái phép.</a:t>
            </a:r>
          </a:p>
          <a:p>
            <a:r>
              <a:rPr lang="vi-VN" b="1" dirty="0"/>
              <a:t>3. Password Reset (Đặt lại Mật khẩu):</a:t>
            </a:r>
            <a:r>
              <a:rPr lang="vi-VN" dirty="0"/>
              <a:t> Mô tả quy trình đặt lại mật khẩu:</a:t>
            </a:r>
          </a:p>
          <a:p>
            <a:pPr>
              <a:buFont typeface="Arial" panose="020B0604020202020204" pitchFamily="34" charset="0"/>
              <a:buChar char="•"/>
            </a:pPr>
            <a:r>
              <a:rPr lang="vi-VN" b="1" dirty="0"/>
              <a:t>1. Sends password reset link via email (Gửi liên kết đặt lại mật khẩu qua email):</a:t>
            </a:r>
            <a:r>
              <a:rPr lang="vi-VN" dirty="0"/>
              <a:t> Khi người dùng yêu cầu đặt lại mật khẩu, hệ thống sẽ gửi một liên kết đặt lại mật khẩu đến địa chỉ email đã đăng ký của người dùng.</a:t>
            </a:r>
          </a:p>
          <a:p>
            <a:pPr>
              <a:buFont typeface="Arial" panose="020B0604020202020204" pitchFamily="34" charset="0"/>
              <a:buChar char="•"/>
            </a:pPr>
            <a:r>
              <a:rPr lang="vi-VN" b="1" dirty="0"/>
              <a:t>2. Allows users to set a new password (Cho phép người dùng đặt mật khẩu mới):</a:t>
            </a:r>
            <a:r>
              <a:rPr lang="vi-VN" dirty="0"/>
              <a:t> Người dùng nhấp vào liên kết và được chuyển đến trang web cho phép họ đặt mật khẩu mới.</a:t>
            </a:r>
          </a:p>
          <a:p>
            <a:r>
              <a:rPr lang="vi-VN" b="1" dirty="0"/>
              <a:t>4. Multi-Factor Authentication (MFA) (Xác thực Đa yếu tố (MFA)):</a:t>
            </a:r>
            <a:r>
              <a:rPr lang="vi-VN" dirty="0"/>
              <a:t> Mô tả quy trình xác thực đa yếu tố:</a:t>
            </a:r>
          </a:p>
          <a:p>
            <a:pPr>
              <a:buFont typeface="Arial" panose="020B0604020202020204" pitchFamily="34" charset="0"/>
              <a:buChar char="•"/>
            </a:pPr>
            <a:r>
              <a:rPr lang="vi-VN" b="1" dirty="0"/>
              <a:t>1. Sends OTP via SMS/Email (Gửi OTP qua SMS/Email):</a:t>
            </a:r>
            <a:r>
              <a:rPr lang="vi-VN" dirty="0"/>
              <a:t> Hệ thống gửi mã OTP (One-Time Password - Mật khẩu Một lần) đến người dùng qua SMS hoặc email.</a:t>
            </a:r>
          </a:p>
          <a:p>
            <a:pPr>
              <a:buFont typeface="Arial" panose="020B0604020202020204" pitchFamily="34" charset="0"/>
              <a:buChar char="•"/>
            </a:pPr>
            <a:r>
              <a:rPr lang="vi-VN" b="1" dirty="0"/>
              <a:t>2. Verifies OTP before granting access (Xác minh OTP trước khi cấp quyền truy cập):</a:t>
            </a:r>
            <a:r>
              <a:rPr lang="vi-VN" dirty="0"/>
              <a:t> Người dùng cần nhập mã OTP để được cấp quyền truy cập vào hệ thống.</a:t>
            </a:r>
          </a:p>
          <a:p>
            <a:endParaRPr lang="en-US" dirty="0"/>
          </a:p>
          <a:p>
            <a:endParaRPr lang="en-US" dirty="0"/>
          </a:p>
        </p:txBody>
      </p:sp>
    </p:spTree>
    <p:extLst>
      <p:ext uri="{BB962C8B-B14F-4D97-AF65-F5344CB8AC3E}">
        <p14:creationId xmlns:p14="http://schemas.microsoft.com/office/powerpoint/2010/main" val="3024743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Mô tả:</a:t>
            </a:r>
            <a:r>
              <a:rPr lang="vi-VN" dirty="0"/>
              <a:t> Tài liệu này tập trung đặc biệt vào kiến trúc của hệ thống, mô tả các thành phần cấu trúc và sự tương tác của chúng. Nó giải thích cách các phần khác nhau của hệ thống được tổ chức và kết nối với nhau.</a:t>
            </a:r>
          </a:p>
          <a:p>
            <a:r>
              <a:rPr lang="vi-VN" b="1" dirty="0"/>
              <a:t>Nội dung:</a:t>
            </a:r>
            <a:r>
              <a:rPr lang="vi-VN" dirty="0"/>
              <a:t> Slide liệt kê các thành phần chính thường có trong một Tài liệu Thiết kế Kiến trúc:</a:t>
            </a:r>
          </a:p>
          <a:p>
            <a:pPr>
              <a:buFont typeface="Arial" panose="020B0604020202020204" pitchFamily="34" charset="0"/>
              <a:buChar char="•"/>
            </a:pPr>
            <a:r>
              <a:rPr lang="vi-VN" b="1" dirty="0"/>
              <a:t>System architecture patterns (e.g., microservices, layered architecture) (Các mẫu kiến trúc hệ thống (ví dụ: microservices, kiến trúc phân lớp)):</a:t>
            </a:r>
            <a:r>
              <a:rPr lang="vi-VN" dirty="0"/>
              <a:t> Mô tả các mẫu kiến trúc được sử dụng trong hệ thống, chẳng hạn như kiến trúc microservices (chia ứng dụng thành các dịch vụ nhỏ, độc lập) hoặc kiến trúc phân lớp (chia ứng dụng thành các lớp logic, mỗi lớp có một trách nhiệm riêng). Việc lựa chọn mẫu kiến trúc ảnh hưởng lớn đến khả năng mở rộng, bảo trì và hiệu suất của hệ thống.</a:t>
            </a:r>
          </a:p>
          <a:p>
            <a:pPr>
              <a:buFont typeface="Arial" panose="020B0604020202020204" pitchFamily="34" charset="0"/>
              <a:buChar char="•"/>
            </a:pPr>
            <a:r>
              <a:rPr lang="vi-VN" b="1" dirty="0"/>
              <a:t>Component interaction diagrams (Sơ đồ tương tác thành phần):</a:t>
            </a:r>
            <a:r>
              <a:rPr lang="vi-VN" dirty="0"/>
              <a:t> Các sơ đồ này minh họa cách các thành phần khác nhau của hệ thống tương tác với nhau, ví dụ như cách dữ liệu được trao đổi giữa chúng hoặc cách các thành phần gọi nhau.</a:t>
            </a:r>
          </a:p>
          <a:p>
            <a:pPr>
              <a:buFont typeface="Arial" panose="020B0604020202020204" pitchFamily="34" charset="0"/>
              <a:buChar char="•"/>
            </a:pPr>
            <a:r>
              <a:rPr lang="vi-VN" b="1" dirty="0"/>
              <a:t>Deployment architecture (e.g., cloud or on-premises setup) (Kiến trúc triển khai (ví dụ: thiết lập trên cloud hoặc tại chỗ)):</a:t>
            </a:r>
            <a:r>
              <a:rPr lang="vi-VN" dirty="0"/>
              <a:t> Mô tả cách hệ thống sẽ được triển khai, ví dụ như trên môi trường cloud (như AWS, Azure, GCP) hoặc trên cơ sở hạ tầng tại chỗ (on-premises). Nó bao gồm các chi tiết về máy chủ, mạng và các thành phần hạ tầng khác.</a:t>
            </a:r>
          </a:p>
          <a:p>
            <a:pPr>
              <a:buFont typeface="Arial" panose="020B0604020202020204" pitchFamily="34" charset="0"/>
              <a:buChar char="•"/>
            </a:pPr>
            <a:r>
              <a:rPr lang="vi-VN" b="1" dirty="0"/>
              <a:t>Performance and scalability considerations (Các cân nhắc về hiệu suất và khả năng mở rộng):</a:t>
            </a:r>
            <a:r>
              <a:rPr lang="vi-VN" dirty="0"/>
              <a:t> Đề cập đến các yêu cầu về hiệu suất của hệ thống (ví dụ: thời gian phản hồi, thông lượng) và cách hệ thống sẽ được mở rộng để đáp ứng nhu cầu tăng cao trong tương lai.</a:t>
            </a:r>
          </a:p>
          <a:p>
            <a:pPr>
              <a:buFont typeface="Arial" panose="020B0604020202020204" pitchFamily="34" charset="0"/>
              <a:buChar char="•"/>
            </a:pPr>
            <a:r>
              <a:rPr lang="vi-VN" b="1" dirty="0"/>
              <a:t>Security architecture (data encryption, access control) (Kiến trúc bảo mật (mã hóa dữ liệu, kiểm soát truy cập)):</a:t>
            </a:r>
            <a:r>
              <a:rPr lang="vi-VN" dirty="0"/>
              <a:t> Mô tả các biện pháp bảo mật được áp dụng trong hệ thống, bao gồm mã hóa dữ liệu (để bảo vệ dữ liệu khỏi truy cập trái phép) và kiểm soát truy cập (để hạn chế quyền truy cập vào các phần khác nhau của hệ thống).</a:t>
            </a:r>
          </a:p>
          <a:p>
            <a:endParaRPr lang="en-US" dirty="0"/>
          </a:p>
        </p:txBody>
      </p:sp>
    </p:spTree>
    <p:extLst>
      <p:ext uri="{BB962C8B-B14F-4D97-AF65-F5344CB8AC3E}">
        <p14:creationId xmlns:p14="http://schemas.microsoft.com/office/powerpoint/2010/main" val="18197061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minh họa một kiến trúc ứng dụng web điển hình, phân chia thành Frontend (giao diện người dùng) và Backend (xử lý logic và dữ liệu). Nó cho thấy cách người dùng tương tác với ứng dụng thông qua Frontend, cách Frontend gửi yêu cầu đến Backend, cách Backend xử lý yêu cầu và truy cập dữ liệu, và cách Backend trả về kết quả cho Frontend</a:t>
            </a:r>
            <a:endParaRPr lang="en-US" dirty="0"/>
          </a:p>
          <a:p>
            <a:r>
              <a:rPr lang="vi-VN" b="1" dirty="0"/>
              <a:t>Users (Người dùng):</a:t>
            </a:r>
            <a:r>
              <a:rPr lang="vi-VN" dirty="0"/>
              <a:t> Đại diện cho người sử dụng ứng dụng web. Họ thực hiện hai hành động chính:</a:t>
            </a:r>
          </a:p>
          <a:p>
            <a:pPr marL="742950" lvl="1" indent="-285750">
              <a:buFont typeface="Arial" panose="020B0604020202020204" pitchFamily="34" charset="0"/>
              <a:buChar char="•"/>
            </a:pPr>
            <a:r>
              <a:rPr lang="vi-VN" b="1" dirty="0"/>
              <a:t>Collect Data (Thu thập Dữ liệu):</a:t>
            </a:r>
            <a:r>
              <a:rPr lang="vi-VN" dirty="0"/>
              <a:t> Người dùng nhập dữ liệu vào ứng dụng.</a:t>
            </a:r>
          </a:p>
          <a:p>
            <a:pPr marL="742950" lvl="1" indent="-285750">
              <a:buFont typeface="Arial" panose="020B0604020202020204" pitchFamily="34" charset="0"/>
              <a:buChar char="•"/>
            </a:pPr>
            <a:r>
              <a:rPr lang="vi-VN" b="1" dirty="0"/>
              <a:t>Display Results (Hiển thị Kết quả):</a:t>
            </a:r>
            <a:r>
              <a:rPr lang="vi-VN" dirty="0"/>
              <a:t> Người dùng nhận kết quả từ ứng dụng.</a:t>
            </a:r>
          </a:p>
          <a:p>
            <a:pPr>
              <a:buFont typeface="Arial" panose="020B0604020202020204" pitchFamily="34" charset="0"/>
              <a:buChar char="•"/>
            </a:pPr>
            <a:r>
              <a:rPr lang="vi-VN" b="1" dirty="0"/>
              <a:t>Frontend:</a:t>
            </a:r>
            <a:r>
              <a:rPr lang="vi-VN" dirty="0"/>
              <a:t> Phần giao diện người dùng mà người dùng tương tác trực tiếp:</a:t>
            </a:r>
          </a:p>
          <a:p>
            <a:pPr marL="742950" lvl="1" indent="-285750">
              <a:buFont typeface="Arial" panose="020B0604020202020204" pitchFamily="34" charset="0"/>
              <a:buChar char="•"/>
            </a:pPr>
            <a:r>
              <a:rPr lang="vi-VN" b="1" dirty="0"/>
              <a:t>What user sees &amp; interacts with (Những gì người dùng nhìn thấy và tương tác):</a:t>
            </a:r>
            <a:r>
              <a:rPr lang="vi-VN" dirty="0"/>
              <a:t> Phần này được xây dựng bằng HTML, CSS và JavaScript, chịu trách nhiệm hiển thị giao diện và xử lý tương tác của người dùng. Nó nhận dữ liệu từ người dùng và gửi yêu cầu đến backend.</a:t>
            </a:r>
          </a:p>
          <a:p>
            <a:pPr>
              <a:buFont typeface="Arial" panose="020B0604020202020204" pitchFamily="34" charset="0"/>
              <a:buChar char="•"/>
            </a:pPr>
            <a:r>
              <a:rPr lang="vi-VN" b="1" dirty="0"/>
              <a:t>Backend:</a:t>
            </a:r>
            <a:r>
              <a:rPr lang="vi-VN" dirty="0"/>
              <a:t> Phần xử lý logic và lưu trữ dữ liệu của ứng dụng:</a:t>
            </a:r>
          </a:p>
          <a:p>
            <a:pPr marL="742950" lvl="1" indent="-285750">
              <a:buFont typeface="Arial" panose="020B0604020202020204" pitchFamily="34" charset="0"/>
              <a:buChar char="•"/>
            </a:pPr>
            <a:r>
              <a:rPr lang="vi-VN" b="1" dirty="0"/>
              <a:t>Contains App Logic (Chứa Logic Ứng dụng):</a:t>
            </a:r>
            <a:r>
              <a:rPr lang="vi-VN" dirty="0"/>
              <a:t> Phần này chứa logic nghiệp vụ của ứng dụng, được viết bằng các ngôn ngữ lập trình như PHP, JavaScript (Node.js), Python, Java.</a:t>
            </a:r>
          </a:p>
          <a:p>
            <a:pPr marL="742950" lvl="1" indent="-285750">
              <a:buFont typeface="Arial" panose="020B0604020202020204" pitchFamily="34" charset="0"/>
              <a:buChar char="•"/>
            </a:pPr>
            <a:r>
              <a:rPr lang="vi-VN" b="1" dirty="0"/>
              <a:t>Web Server (Máy chủ Web):</a:t>
            </a:r>
            <a:r>
              <a:rPr lang="vi-VN" dirty="0"/>
              <a:t> Nhận yêu cầu từ frontend, xử lý chúng và trả về kết quả.</a:t>
            </a:r>
          </a:p>
          <a:p>
            <a:pPr marL="742950" lvl="1" indent="-285750">
              <a:buFont typeface="Arial" panose="020B0604020202020204" pitchFamily="34" charset="0"/>
              <a:buChar char="•"/>
            </a:pPr>
            <a:r>
              <a:rPr lang="vi-VN" b="1" dirty="0"/>
              <a:t>File System (Hệ thống Tệp):</a:t>
            </a:r>
            <a:r>
              <a:rPr lang="vi-VN" dirty="0"/>
              <a:t> Lưu trữ các tệp tĩnh như HTML, CSS, hình ảnh.</a:t>
            </a:r>
          </a:p>
          <a:p>
            <a:pPr marL="742950" lvl="1" indent="-285750">
              <a:buFont typeface="Arial" panose="020B0604020202020204" pitchFamily="34" charset="0"/>
              <a:buChar char="•"/>
            </a:pPr>
            <a:r>
              <a:rPr lang="vi-VN" b="1" dirty="0"/>
              <a:t>Database (Cơ sở Dữ liệu):</a:t>
            </a:r>
            <a:r>
              <a:rPr lang="vi-VN" dirty="0"/>
              <a:t> Lưu trữ dữ liệu của ứng dụng, sử dụng các hệ quản trị cơ sở dữ liệu như MySQL, PostgreSQL, MariaDB.</a:t>
            </a:r>
          </a:p>
          <a:p>
            <a:pPr>
              <a:buFont typeface="Arial" panose="020B0604020202020204" pitchFamily="34" charset="0"/>
              <a:buChar char="•"/>
            </a:pPr>
            <a:r>
              <a:rPr lang="vi-VN" b="1" dirty="0"/>
              <a:t>Request/Response (Yêu cầu/Phản hồi):</a:t>
            </a:r>
            <a:r>
              <a:rPr lang="vi-VN" dirty="0"/>
              <a:t> Mũi tên </a:t>
            </a:r>
            <a:r>
              <a:rPr lang="vi-VN" b="1" dirty="0"/>
              <a:t>Request</a:t>
            </a:r>
            <a:r>
              <a:rPr lang="vi-VN" dirty="0"/>
              <a:t> thể hiện yêu cầu từ Frontend đến Backend. Mũi tên </a:t>
            </a:r>
            <a:r>
              <a:rPr lang="vi-VN" b="1" dirty="0"/>
              <a:t>Response</a:t>
            </a:r>
            <a:r>
              <a:rPr lang="vi-VN" dirty="0"/>
              <a:t> thể hiện phản hồi từ Backend về Frontend.</a:t>
            </a:r>
          </a:p>
          <a:p>
            <a:endParaRPr lang="en-US" dirty="0"/>
          </a:p>
        </p:txBody>
      </p:sp>
    </p:spTree>
    <p:extLst>
      <p:ext uri="{BB962C8B-B14F-4D97-AF65-F5344CB8AC3E}">
        <p14:creationId xmlns:p14="http://schemas.microsoft.com/office/powerpoint/2010/main" val="1335776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Mô tả:</a:t>
            </a:r>
            <a:r>
              <a:rPr lang="vi-VN" dirty="0"/>
              <a:t> Tài liệu này tập trung vào cách dữ liệu được mô hình hóa, lưu trữ và quản lý. Nó giải thích cấu trúc, tổ chức và cách dữ liệu được sử dụng trong hệ thống.</a:t>
            </a:r>
          </a:p>
          <a:p>
            <a:r>
              <a:rPr lang="vi-VN" b="1" dirty="0"/>
              <a:t>Nội dung:</a:t>
            </a:r>
            <a:r>
              <a:rPr lang="vi-VN" dirty="0"/>
              <a:t> Slide liệt kê các thành phần chính thường có trong một Tài liệu Thiết kế Dữ liệu:</a:t>
            </a:r>
          </a:p>
          <a:p>
            <a:pPr>
              <a:buFont typeface="Arial" panose="020B0604020202020204" pitchFamily="34" charset="0"/>
              <a:buChar char="•"/>
            </a:pPr>
            <a:r>
              <a:rPr lang="vi-VN" b="1" dirty="0"/>
              <a:t>Entity-Relationship Diagrams (ERD) (Sơ đồ Quan hệ Thực thể (ERD)):</a:t>
            </a:r>
            <a:r>
              <a:rPr lang="vi-VN" dirty="0"/>
              <a:t> Các sơ đồ này mô hình hóa các thực thể (entities) trong hệ thống và mối quan hệ giữa chúng. Ví dụ, trong một hệ thống quản lý thư viện, "Sách," "Độc giả," và "Phiếu mượn" là các thực thể, và mối quan hệ giữa chúng có thể là "Độc giả mượn Sách." ERD giúp hiểu rõ cấu trúc dữ liệu ở mức khái niệm.</a:t>
            </a:r>
          </a:p>
          <a:p>
            <a:pPr>
              <a:buFont typeface="Arial" panose="020B0604020202020204" pitchFamily="34" charset="0"/>
              <a:buChar char="•"/>
            </a:pPr>
            <a:r>
              <a:rPr lang="vi-VN" b="1" dirty="0"/>
              <a:t>Database schema: tables, relationships, indexes, constraints (Lược đồ cơ sở dữ liệu: bảng, quan hệ, chỉ mục, ràng buộc):</a:t>
            </a:r>
            <a:r>
              <a:rPr lang="vi-VN" dirty="0"/>
              <a:t> Mô tả chi tiết cấu trúc của cơ sở dữ liệu, bao gồm: </a:t>
            </a:r>
          </a:p>
          <a:p>
            <a:pPr marL="742950" lvl="1" indent="-285750">
              <a:buFont typeface="Arial" panose="020B0604020202020204" pitchFamily="34" charset="0"/>
              <a:buChar char="•"/>
            </a:pPr>
            <a:r>
              <a:rPr lang="vi-VN" b="1" dirty="0"/>
              <a:t>Tables (Bảng):</a:t>
            </a:r>
            <a:r>
              <a:rPr lang="vi-VN" dirty="0"/>
              <a:t> Các bảng được sử dụng để lưu trữ dữ liệu, mỗi bảng có các cột (columns) đại diện cho các thuộc tính của thực thể.</a:t>
            </a:r>
          </a:p>
          <a:p>
            <a:pPr marL="742950" lvl="1" indent="-285750">
              <a:buFont typeface="Arial" panose="020B0604020202020204" pitchFamily="34" charset="0"/>
              <a:buChar char="•"/>
            </a:pPr>
            <a:r>
              <a:rPr lang="vi-VN" b="1" dirty="0"/>
              <a:t>Relationships (Quan hệ):</a:t>
            </a:r>
            <a:r>
              <a:rPr lang="vi-VN" dirty="0"/>
              <a:t> Các mối quan hệ giữa các bảng, thể hiện cách dữ liệu liên kết với nhau.</a:t>
            </a:r>
          </a:p>
          <a:p>
            <a:pPr marL="742950" lvl="1" indent="-285750">
              <a:buFont typeface="Arial" panose="020B0604020202020204" pitchFamily="34" charset="0"/>
              <a:buChar char="•"/>
            </a:pPr>
            <a:r>
              <a:rPr lang="vi-VN" b="1" dirty="0"/>
              <a:t>Indexes (Chỉ mục):</a:t>
            </a:r>
            <a:r>
              <a:rPr lang="vi-VN" dirty="0"/>
              <a:t> Cấu trúc dữ liệu giúp tăng tốc độ truy vấn dữ liệu.</a:t>
            </a:r>
          </a:p>
          <a:p>
            <a:pPr marL="742950" lvl="1" indent="-285750">
              <a:buFont typeface="Arial" panose="020B0604020202020204" pitchFamily="34" charset="0"/>
              <a:buChar char="•"/>
            </a:pPr>
            <a:r>
              <a:rPr lang="vi-VN" b="1" dirty="0"/>
              <a:t>Constraints (Ràng buộc):</a:t>
            </a:r>
            <a:r>
              <a:rPr lang="vi-VN" dirty="0"/>
              <a:t> Các quy tắc để đảm bảo tính toàn vẹn của dữ liệu, ví dụ như ràng buộc khóa chính (primary key), khóa ngoại (foreign key), hoặc ràng buộc giá trị (check constraint).</a:t>
            </a:r>
          </a:p>
          <a:p>
            <a:pPr>
              <a:buFont typeface="Arial" panose="020B0604020202020204" pitchFamily="34" charset="0"/>
              <a:buChar char="•"/>
            </a:pPr>
            <a:r>
              <a:rPr lang="vi-VN" b="1" dirty="0"/>
              <a:t>Data flow diagrams (DFD) (Sơ đồ luồng dữ liệu (DFD)):</a:t>
            </a:r>
            <a:r>
              <a:rPr lang="vi-VN" dirty="0"/>
              <a:t> Các sơ đồ này mô tả cách dữ liệu di chuyển qua hệ thống, từ nguồn đến đích và qua các quá trình xử lý. DFD giúp hiểu rõ cách dữ liệu được sử dụng và biến đổi trong hệ thống.</a:t>
            </a:r>
          </a:p>
          <a:p>
            <a:pPr>
              <a:buFont typeface="Arial" panose="020B0604020202020204" pitchFamily="34" charset="0"/>
              <a:buChar char="•"/>
            </a:pPr>
            <a:r>
              <a:rPr lang="vi-VN" b="1" dirty="0"/>
              <a:t>Data storage optimization strategies (Các chiến lược tối ưu hóa lưu trữ dữ liệu):</a:t>
            </a:r>
            <a:r>
              <a:rPr lang="vi-VN" dirty="0"/>
              <a:t> Mô tả các kỹ thuật và chiến lược được sử dụng để tối ưu hóa việc lưu trữ dữ liệu, ví dụ như chuẩn hóa cơ sở dữ liệu (normalization), phân vùng dữ liệu (partitioning), hoặc sử dụng bộ nhớ cache (caching).</a:t>
            </a:r>
          </a:p>
          <a:p>
            <a:endParaRPr lang="en-US" dirty="0"/>
          </a:p>
        </p:txBody>
      </p:sp>
    </p:spTree>
    <p:extLst>
      <p:ext uri="{BB962C8B-B14F-4D97-AF65-F5344CB8AC3E}">
        <p14:creationId xmlns:p14="http://schemas.microsoft.com/office/powerpoint/2010/main" val="26924548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Mô tả:</a:t>
            </a:r>
            <a:r>
              <a:rPr lang="vi-VN" dirty="0"/>
              <a:t> Tài liệu này tập trung vào thiết kế và trách nhiệm của từng thành phần hoặc module riêng lẻ. Nó giải thích cách mỗi thành phần hoạt động, tương tác với các thành phần khác và thực hiện chức năng của mình.</a:t>
            </a:r>
          </a:p>
          <a:p>
            <a:r>
              <a:rPr lang="vi-VN" b="1" dirty="0"/>
              <a:t>Nội dung:</a:t>
            </a:r>
            <a:r>
              <a:rPr lang="vi-VN" dirty="0"/>
              <a:t> </a:t>
            </a:r>
            <a:r>
              <a:rPr lang="vi-VN" b="1" dirty="0" err="1"/>
              <a:t>Component</a:t>
            </a:r>
            <a:r>
              <a:rPr lang="vi-VN" b="1" dirty="0"/>
              <a:t> name and purpose (Tên và mục đích của thành phần):</a:t>
            </a:r>
            <a:r>
              <a:rPr lang="vi-VN" dirty="0"/>
              <a:t> Xác định rõ tên của thành phần và mục đích/chức năng chính của nó trong hệ thống.</a:t>
            </a:r>
          </a:p>
          <a:p>
            <a:pPr>
              <a:buFont typeface="Arial" panose="020B0604020202020204" pitchFamily="34" charset="0"/>
              <a:buChar char="•"/>
            </a:pPr>
            <a:r>
              <a:rPr lang="vi-VN" b="1" dirty="0"/>
              <a:t>Responsibilities and features (Trách nhiệm và tính năng):</a:t>
            </a:r>
            <a:r>
              <a:rPr lang="vi-VN" dirty="0"/>
              <a:t> Mô tả chi tiết các trách nhiệm và tính năng của thành phần. Nó giải thích những gì thành phần làm và cách nó thực hiện các chức năng đó.</a:t>
            </a:r>
          </a:p>
          <a:p>
            <a:pPr>
              <a:buFont typeface="Arial" panose="020B0604020202020204" pitchFamily="34" charset="0"/>
              <a:buChar char="•"/>
            </a:pPr>
            <a:r>
              <a:rPr lang="vi-VN" b="1" dirty="0"/>
              <a:t>APIs/interfaces (input/output specifications) (API/giao diện (đặc tả đầu vào/đầu ra)):</a:t>
            </a:r>
            <a:r>
              <a:rPr lang="vi-VN" dirty="0"/>
              <a:t> Mô tả các giao diện lập trình ứng dụng (API) hoặc giao diện mà thành phần cung cấp hoặc sử dụng. Nó bao gồm đặc tả về dữ liệu đầu vào mà thành phần nhận, dữ liệu đầu ra mà nó tạo ra và định dạng của dữ liệu.</a:t>
            </a:r>
          </a:p>
          <a:p>
            <a:pPr>
              <a:buFont typeface="Arial" panose="020B0604020202020204" pitchFamily="34" charset="0"/>
              <a:buChar char="•"/>
            </a:pPr>
            <a:r>
              <a:rPr lang="vi-VN" b="1" dirty="0"/>
              <a:t>Dependencies on other components (Sự phụ thuộc vào các thành phần khác):</a:t>
            </a:r>
            <a:r>
              <a:rPr lang="vi-VN" dirty="0"/>
              <a:t> Xác định các thành phần khác mà thành phần này phụ thuộc vào để hoạt động. Điều này giúp hiểu rõ mối quan hệ giữa các thành phần và cách chúng tương tác với nhau.</a:t>
            </a:r>
          </a:p>
          <a:p>
            <a:pPr>
              <a:buFont typeface="Arial" panose="020B0604020202020204" pitchFamily="34" charset="0"/>
              <a:buChar char="•"/>
            </a:pPr>
            <a:r>
              <a:rPr lang="vi-VN" b="1" dirty="0"/>
              <a:t>Flowcharts or sequence diagrams (Lưu đồ hoặc sơ đồ tuần tự):</a:t>
            </a:r>
            <a:r>
              <a:rPr lang="vi-VN" dirty="0"/>
              <a:t> Sử dụng lưu đồ hoặc sơ đồ tuần tự để minh họa luồng hoạt động bên trong của thành phần hoặc cách nó tương tác với các thành phần khác trong các tình huống cụ thể.</a:t>
            </a:r>
          </a:p>
          <a:p>
            <a:endParaRPr lang="en-US" dirty="0"/>
          </a:p>
        </p:txBody>
      </p:sp>
    </p:spTree>
    <p:extLst>
      <p:ext uri="{BB962C8B-B14F-4D97-AF65-F5344CB8AC3E}">
        <p14:creationId xmlns:p14="http://schemas.microsoft.com/office/powerpoint/2010/main" val="21079226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 Module Input/output (Đầu vào/Đầu ra của Module):</a:t>
            </a:r>
            <a:r>
              <a:rPr lang="vi-VN" dirty="0"/>
              <a:t> Bảng này tóm tắt các chức năng của module, đầu vào mà chúng nhận và đầu ra mà chúng tạo ra:</a:t>
            </a:r>
          </a:p>
          <a:p>
            <a:pPr>
              <a:buFont typeface="Arial" panose="020B0604020202020204" pitchFamily="34" charset="0"/>
              <a:buChar char="•"/>
            </a:pPr>
            <a:r>
              <a:rPr lang="vi-VN" b="1" dirty="0"/>
              <a:t>Functionality (Chức năng):</a:t>
            </a:r>
            <a:r>
              <a:rPr lang="vi-VN" dirty="0"/>
              <a:t> Liệt kê các chức năng chính của module.</a:t>
            </a:r>
          </a:p>
          <a:p>
            <a:pPr>
              <a:buFont typeface="Arial" panose="020B0604020202020204" pitchFamily="34" charset="0"/>
              <a:buChar char="•"/>
            </a:pPr>
            <a:r>
              <a:rPr lang="vi-VN" b="1" dirty="0"/>
              <a:t>Inputs (Đầu vào):</a:t>
            </a:r>
            <a:r>
              <a:rPr lang="vi-VN" dirty="0"/>
              <a:t> Liệt kê dữ liệu mà chức năng nhận vào.</a:t>
            </a:r>
          </a:p>
          <a:p>
            <a:pPr>
              <a:buFont typeface="Arial" panose="020B0604020202020204" pitchFamily="34" charset="0"/>
              <a:buChar char="•"/>
            </a:pPr>
            <a:r>
              <a:rPr lang="vi-VN" b="1" dirty="0"/>
              <a:t>Outputs (Đầu ra):</a:t>
            </a:r>
            <a:r>
              <a:rPr lang="vi-VN" dirty="0"/>
              <a:t> Liệt kê dữ liệu mà chức năng trả về.</a:t>
            </a:r>
          </a:p>
          <a:p>
            <a:r>
              <a:rPr lang="vi-VN" dirty="0"/>
              <a:t>Cụ thể:</a:t>
            </a:r>
          </a:p>
          <a:p>
            <a:pPr>
              <a:buFont typeface="Arial" panose="020B0604020202020204" pitchFamily="34" charset="0"/>
              <a:buChar char="•"/>
            </a:pPr>
            <a:r>
              <a:rPr lang="vi-VN" b="1" dirty="0"/>
              <a:t>User Login (Đăng nhập Người dùng):</a:t>
            </a:r>
            <a:r>
              <a:rPr lang="vi-VN" dirty="0"/>
              <a:t> </a:t>
            </a:r>
          </a:p>
          <a:p>
            <a:pPr marL="742950" lvl="1" indent="-285750">
              <a:buFont typeface="Arial" panose="020B0604020202020204" pitchFamily="34" charset="0"/>
              <a:buChar char="•"/>
            </a:pPr>
            <a:r>
              <a:rPr lang="vi-VN" b="1" dirty="0"/>
              <a:t>Inputs:</a:t>
            </a:r>
            <a:r>
              <a:rPr lang="vi-VN" dirty="0"/>
              <a:t> Username (Tên người dùng), Password (Mật khẩu).</a:t>
            </a:r>
          </a:p>
          <a:p>
            <a:pPr marL="742950" lvl="1" indent="-285750">
              <a:buFont typeface="Arial" panose="020B0604020202020204" pitchFamily="34" charset="0"/>
              <a:buChar char="•"/>
            </a:pPr>
            <a:r>
              <a:rPr lang="vi-VN" b="1" dirty="0"/>
              <a:t>Outputs:</a:t>
            </a:r>
            <a:r>
              <a:rPr lang="vi-VN" dirty="0"/>
              <a:t> Success/Failure (Thành công/Thất bại), JWT Token (Token JWT - nếu đăng nhập thành công).</a:t>
            </a:r>
          </a:p>
          <a:p>
            <a:pPr>
              <a:buFont typeface="Arial" panose="020B0604020202020204" pitchFamily="34" charset="0"/>
              <a:buChar char="•"/>
            </a:pPr>
            <a:r>
              <a:rPr lang="vi-VN" b="1" dirty="0"/>
              <a:t>Password Reset (Đặt lại Mật khẩu):</a:t>
            </a:r>
            <a:r>
              <a:rPr lang="vi-VN" dirty="0"/>
              <a:t> </a:t>
            </a:r>
          </a:p>
          <a:p>
            <a:pPr marL="742950" lvl="1" indent="-285750">
              <a:buFont typeface="Arial" panose="020B0604020202020204" pitchFamily="34" charset="0"/>
              <a:buChar char="•"/>
            </a:pPr>
            <a:r>
              <a:rPr lang="vi-VN" b="1" dirty="0"/>
              <a:t>Inputs:</a:t>
            </a:r>
            <a:r>
              <a:rPr lang="vi-VN" dirty="0"/>
              <a:t> Email Address (Địa chỉ Email).</a:t>
            </a:r>
          </a:p>
          <a:p>
            <a:pPr marL="742950" lvl="1" indent="-285750">
              <a:buFont typeface="Arial" panose="020B0604020202020204" pitchFamily="34" charset="0"/>
              <a:buChar char="•"/>
            </a:pPr>
            <a:r>
              <a:rPr lang="vi-VN" b="1" dirty="0"/>
              <a:t>Outputs:</a:t>
            </a:r>
            <a:r>
              <a:rPr lang="vi-VN" dirty="0"/>
              <a:t> Password Reset Link (Liên kết Đặt lại Mật khẩu).</a:t>
            </a:r>
          </a:p>
          <a:p>
            <a:pPr>
              <a:buFont typeface="Arial" panose="020B0604020202020204" pitchFamily="34" charset="0"/>
              <a:buChar char="•"/>
            </a:pPr>
            <a:r>
              <a:rPr lang="vi-VN" b="1" dirty="0"/>
              <a:t>MFA Verification (Xác minh MFA):</a:t>
            </a:r>
            <a:r>
              <a:rPr lang="vi-VN" dirty="0"/>
              <a:t> </a:t>
            </a:r>
          </a:p>
          <a:p>
            <a:pPr marL="742950" lvl="1" indent="-285750">
              <a:buFont typeface="Arial" panose="020B0604020202020204" pitchFamily="34" charset="0"/>
              <a:buChar char="•"/>
            </a:pPr>
            <a:r>
              <a:rPr lang="vi-VN" b="1" dirty="0"/>
              <a:t>Inputs:</a:t>
            </a:r>
            <a:r>
              <a:rPr lang="vi-VN" dirty="0"/>
              <a:t> OTP (Mã OTP), Session ID (ID Phiên làm việc).</a:t>
            </a:r>
          </a:p>
          <a:p>
            <a:pPr marL="742950" lvl="1" indent="-285750">
              <a:buFont typeface="Arial" panose="020B0604020202020204" pitchFamily="34" charset="0"/>
              <a:buChar char="•"/>
            </a:pPr>
            <a:r>
              <a:rPr lang="vi-VN" b="1" dirty="0"/>
              <a:t>Outputs:</a:t>
            </a:r>
            <a:r>
              <a:rPr lang="vi-VN" dirty="0"/>
              <a:t> Success/Failure (Thành công/Thất bại).</a:t>
            </a:r>
          </a:p>
          <a:p>
            <a:r>
              <a:rPr lang="vi-VN" b="1" dirty="0"/>
              <a:t>2. Module components (Các thành phần của Module):</a:t>
            </a:r>
            <a:r>
              <a:rPr lang="vi-VN" dirty="0"/>
              <a:t> Bảng này mô tả các thành phần cấu tạo nên module xác thực người dùng:</a:t>
            </a:r>
          </a:p>
          <a:p>
            <a:pPr>
              <a:buFont typeface="Arial" panose="020B0604020202020204" pitchFamily="34" charset="0"/>
              <a:buChar char="•"/>
            </a:pPr>
            <a:r>
              <a:rPr lang="vi-VN" b="1" dirty="0"/>
              <a:t>Component (Thành phần):</a:t>
            </a:r>
            <a:r>
              <a:rPr lang="vi-VN" dirty="0"/>
              <a:t> Tên của thành phần.</a:t>
            </a:r>
          </a:p>
          <a:p>
            <a:pPr>
              <a:buFont typeface="Arial" panose="020B0604020202020204" pitchFamily="34" charset="0"/>
              <a:buChar char="•"/>
            </a:pPr>
            <a:r>
              <a:rPr lang="vi-VN" b="1" dirty="0"/>
              <a:t>Description (Mô tả):</a:t>
            </a:r>
            <a:r>
              <a:rPr lang="vi-VN" dirty="0"/>
              <a:t> Mô tả chức năng và trách nhiệm của thành phần.</a:t>
            </a:r>
          </a:p>
          <a:p>
            <a:r>
              <a:rPr lang="vi-VN" dirty="0"/>
              <a:t>Cụ thể:</a:t>
            </a:r>
          </a:p>
          <a:p>
            <a:pPr>
              <a:buFont typeface="Arial" panose="020B0604020202020204" pitchFamily="34" charset="0"/>
              <a:buChar char="•"/>
            </a:pPr>
            <a:r>
              <a:rPr lang="vi-VN" b="1" dirty="0"/>
              <a:t>Auth Controller (Bộ điều khiển Xác thực):</a:t>
            </a:r>
            <a:r>
              <a:rPr lang="vi-VN" dirty="0"/>
              <a:t> Xử lý các điểm cuối API: /login, /logout, /reset-password. Đây là điểm tiếp xúc đầu tiên của các yêu cầu xác thực từ bên ngoài.</a:t>
            </a:r>
          </a:p>
          <a:p>
            <a:pPr>
              <a:buFont typeface="Arial" panose="020B0604020202020204" pitchFamily="34" charset="0"/>
              <a:buChar char="•"/>
            </a:pPr>
            <a:r>
              <a:rPr lang="vi-VN" b="1" dirty="0"/>
              <a:t>Auth Service (Dịch vụ Xác thực):</a:t>
            </a:r>
            <a:r>
              <a:rPr lang="vi-VN" dirty="0"/>
              <a:t> Chứa logic nghiệp vụ cho việc xác thực và MFA. Đây là nơi thực hiện các quy tắc và xử lý chính của việc xác thực.</a:t>
            </a:r>
          </a:p>
          <a:p>
            <a:pPr>
              <a:buFont typeface="Arial" panose="020B0604020202020204" pitchFamily="34" charset="0"/>
              <a:buChar char="•"/>
            </a:pPr>
            <a:r>
              <a:rPr lang="vi-VN" b="1" dirty="0"/>
              <a:t>User Repository (Kho lưu trữ Người dùng):</a:t>
            </a:r>
            <a:r>
              <a:rPr lang="vi-VN" dirty="0"/>
              <a:t> Lấy dữ liệu người dùng từ cơ sở dữ liệu. Thành phần này chịu trách nhiệm tương tác với cơ sở dữ liệu để lấy thông tin người dùng.</a:t>
            </a:r>
          </a:p>
          <a:p>
            <a:pPr>
              <a:buFont typeface="Arial" panose="020B0604020202020204" pitchFamily="34" charset="0"/>
              <a:buChar char="•"/>
            </a:pPr>
            <a:r>
              <a:rPr lang="vi-VN" b="1" dirty="0"/>
              <a:t>Token Manager (Quản lý Token):</a:t>
            </a:r>
            <a:r>
              <a:rPr lang="vi-VN" dirty="0"/>
              <a:t> Tạo, xác thực và thu hồi token JWT. Thành phần này quản lý việc tạo và xử lý token bảo mật.</a:t>
            </a:r>
          </a:p>
          <a:p>
            <a:pPr>
              <a:buFont typeface="Arial" panose="020B0604020202020204" pitchFamily="34" charset="0"/>
              <a:buChar char="•"/>
            </a:pPr>
            <a:r>
              <a:rPr lang="vi-VN" b="1" dirty="0"/>
              <a:t>Notification Service (Dịch vụ Thông báo):</a:t>
            </a:r>
            <a:r>
              <a:rPr lang="vi-VN" dirty="0"/>
              <a:t> Gửi OTP và email (ví dụ: liên kết đặt lại mật khẩu). Thành phần này chịu trách nhiệm gửi thông báo cho người dùng.</a:t>
            </a:r>
          </a:p>
          <a:p>
            <a:endParaRPr lang="en-US" dirty="0"/>
          </a:p>
        </p:txBody>
      </p:sp>
    </p:spTree>
    <p:extLst>
      <p:ext uri="{BB962C8B-B14F-4D97-AF65-F5344CB8AC3E}">
        <p14:creationId xmlns:p14="http://schemas.microsoft.com/office/powerpoint/2010/main" val="11098341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Mô tả:</a:t>
            </a:r>
            <a:r>
              <a:rPr lang="vi-VN" dirty="0"/>
              <a:t> Tài liệu này mô tả các khía cạnh trực quan và tương tác của phần mềm. Nó tập trung vào cách người dùng sẽ nhìn thấy và tương tác với phần mềm.</a:t>
            </a:r>
          </a:p>
          <a:p>
            <a:r>
              <a:rPr lang="vi-VN" b="1" dirty="0"/>
              <a:t>Nội dung:</a:t>
            </a:r>
            <a:r>
              <a:rPr lang="vi-VN" dirty="0"/>
              <a:t> </a:t>
            </a:r>
            <a:endParaRPr lang="en-US" dirty="0"/>
          </a:p>
          <a:p>
            <a:r>
              <a:rPr lang="vi-VN" b="1" dirty="0" err="1"/>
              <a:t>Wireframes</a:t>
            </a:r>
            <a:r>
              <a:rPr lang="vi-VN" b="1" dirty="0"/>
              <a:t> (low-fidelity) and mockups (high-fidelity) (Wireframe (độ trung thực thấp) và mockup (độ trung thực cao)):</a:t>
            </a:r>
            <a:r>
              <a:rPr lang="vi-VN" dirty="0"/>
              <a:t> </a:t>
            </a:r>
          </a:p>
          <a:p>
            <a:pPr marL="742950" lvl="1" indent="-285750">
              <a:buFont typeface="Arial" panose="020B0604020202020204" pitchFamily="34" charset="0"/>
              <a:buChar char="•"/>
            </a:pPr>
            <a:r>
              <a:rPr lang="vi-VN" b="1" dirty="0"/>
              <a:t>Wireframes:</a:t>
            </a:r>
            <a:r>
              <a:rPr lang="vi-VN" dirty="0"/>
              <a:t> Là bản phác thảo đơn giản, thường chỉ bao gồm các đường nét và hình khối cơ bản, thể hiện bố cục và cấu trúc của giao diện. Chúng tập trung vào chức năng và luồng thông tin, không chú trọng đến chi tiết thẩm mỹ.</a:t>
            </a:r>
          </a:p>
          <a:p>
            <a:pPr marL="742950" lvl="1" indent="-285750">
              <a:buFont typeface="Arial" panose="020B0604020202020204" pitchFamily="34" charset="0"/>
              <a:buChar char="•"/>
            </a:pPr>
            <a:r>
              <a:rPr lang="vi-VN" b="1" dirty="0"/>
              <a:t>Mockups:</a:t>
            </a:r>
            <a:r>
              <a:rPr lang="vi-VN" dirty="0"/>
              <a:t> Là các bản thiết kế chi tiết hơn, thể hiện giao diện với màu sắc, hình ảnh, phông chữ và các yếu tố thẩm mỹ khác. Chúng giúp hình dung rõ hơn về giao diện cuối cùng của sản phẩm.</a:t>
            </a:r>
          </a:p>
          <a:p>
            <a:pPr>
              <a:buFont typeface="Arial" panose="020B0604020202020204" pitchFamily="34" charset="0"/>
              <a:buChar char="•"/>
            </a:pPr>
            <a:r>
              <a:rPr lang="vi-VN" b="1" dirty="0"/>
              <a:t>User flows and navigation structures (Luồng người dùng và cấu trúc điều hướng):</a:t>
            </a:r>
            <a:r>
              <a:rPr lang="vi-VN" dirty="0"/>
              <a:t> Mô tả cách người dùng sẽ di chuyển qua các màn hình và thực hiện các tác vụ trong ứng dụng. Nó bao gồm các sơ đồ luồng người dùng và sơ đồ cấu trúc điều hướng.</a:t>
            </a:r>
          </a:p>
          <a:p>
            <a:pPr>
              <a:buFont typeface="Arial" panose="020B0604020202020204" pitchFamily="34" charset="0"/>
              <a:buChar char="•"/>
            </a:pPr>
            <a:r>
              <a:rPr lang="vi-VN" b="1" dirty="0"/>
              <a:t>UI components (buttons, forms, navigation bars) (Các thành phần UI (nút, biểu mẫu, thanh điều hướng)):</a:t>
            </a:r>
            <a:r>
              <a:rPr lang="vi-VN" dirty="0"/>
              <a:t> Liệt kê và mô tả chi tiết các thành phần giao diện người dùng được sử dụng, bao gồm nút, biểu mẫu, thanh điều hướng, và các thành phần khác.</a:t>
            </a:r>
          </a:p>
          <a:p>
            <a:pPr>
              <a:buFont typeface="Arial" panose="020B0604020202020204" pitchFamily="34" charset="0"/>
              <a:buChar char="•"/>
            </a:pPr>
            <a:r>
              <a:rPr lang="vi-VN" b="1" dirty="0"/>
              <a:t>Design guidelines: typography, color palettes, spacing (Hướng dẫn thiết kế: kiểu chữ, bảng màu, khoảng cách):</a:t>
            </a:r>
            <a:r>
              <a:rPr lang="vi-VN" dirty="0"/>
              <a:t> Đặt ra các quy tắc và hướng dẫn về thiết kế, bao gồm kiểu chữ, bảng màu, khoảng cách giữa các thành phần, và các yếu tố thẩm mỹ khác, nhằm đảm bảo tính nhất quán và thẩm mỹ của giao diện.</a:t>
            </a:r>
          </a:p>
          <a:p>
            <a:pPr>
              <a:buFont typeface="Arial" panose="020B0604020202020204" pitchFamily="34" charset="0"/>
              <a:buChar char="•"/>
            </a:pPr>
            <a:r>
              <a:rPr lang="vi-VN" b="1" dirty="0"/>
              <a:t>Accessibility considerations (Các cân nhắc về khả năng truy cập):</a:t>
            </a:r>
            <a:r>
              <a:rPr lang="vi-VN" dirty="0"/>
              <a:t> Đề cập đến các yếu tố giúp người khuyết tật có thể sử dụng được phần mềm, ví dụ như hỗ trợ đọc màn hình, độ tương phản màu sắc, và điều hướng bằng bàn phím.</a:t>
            </a:r>
          </a:p>
          <a:p>
            <a:endParaRPr lang="en-US" dirty="0"/>
          </a:p>
        </p:txBody>
      </p:sp>
    </p:spTree>
    <p:extLst>
      <p:ext uri="{BB962C8B-B14F-4D97-AF65-F5344CB8AC3E}">
        <p14:creationId xmlns:p14="http://schemas.microsoft.com/office/powerpoint/2010/main" val="62678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Wireframe được chia thành hai phần chính, có thể đại diện cho hai màn hình hoặc hai phần của một màn hình lớn hơn:</a:t>
            </a:r>
          </a:p>
          <a:p>
            <a:r>
              <a:rPr lang="vi-VN" b="1" dirty="0"/>
              <a:t>Phần bên trái:</a:t>
            </a:r>
            <a:endParaRPr lang="vi-VN" dirty="0"/>
          </a:p>
          <a:p>
            <a:pPr>
              <a:buFont typeface="Arial" panose="020B0604020202020204" pitchFamily="34" charset="0"/>
              <a:buChar char="•"/>
            </a:pPr>
            <a:r>
              <a:rPr lang="vi-VN" dirty="0"/>
              <a:t>Có hai hình chữ nhật lớn, mỗi hình có một đoạn văn bản ngắn bên dưới: "The largest community of photo enthusiasts" (Cộng đồng những người đam mê nhiếp ảnh lớn nhất).</a:t>
            </a:r>
          </a:p>
          <a:p>
            <a:pPr>
              <a:buFont typeface="Arial" panose="020B0604020202020204" pitchFamily="34" charset="0"/>
              <a:buChar char="•"/>
            </a:pPr>
            <a:r>
              <a:rPr lang="vi-VN" dirty="0"/>
              <a:t>Bên dưới mỗi đoạn văn bản là một hình chữ nhật nhỏ hơn, có thể đại diện cho một nút hoặc một liên kết.</a:t>
            </a:r>
          </a:p>
          <a:p>
            <a:r>
              <a:rPr lang="vi-VN" b="1" dirty="0"/>
              <a:t>Phần bên phải:</a:t>
            </a:r>
            <a:endParaRPr lang="vi-VN" dirty="0"/>
          </a:p>
          <a:p>
            <a:pPr>
              <a:buFont typeface="Arial" panose="020B0604020202020204" pitchFamily="34" charset="0"/>
              <a:buChar char="•"/>
            </a:pPr>
            <a:r>
              <a:rPr lang="vi-VN" dirty="0"/>
              <a:t>Có ba nhóm nội dung, mỗi nhóm bao gồm một hình chữ nhật lớn và một đoạn văn bản ngắn bên trên: "Learn about all the features of the Photo app" (Tìm hiểu về tất cả các tính năng của ứng dụng Ảnh).</a:t>
            </a:r>
          </a:p>
          <a:p>
            <a:pPr>
              <a:buFont typeface="Arial" panose="020B0604020202020204" pitchFamily="34" charset="0"/>
              <a:buChar char="•"/>
            </a:pPr>
            <a:r>
              <a:rPr lang="vi-VN" dirty="0"/>
              <a:t>Các hình chữ nhật này có thể đại diện cho hình ảnh, video hoặc các nội dung đa phương tiện khác.</a:t>
            </a:r>
          </a:p>
          <a:p>
            <a:r>
              <a:rPr lang="vi-VN" b="1" dirty="0"/>
              <a:t>Phân tích chung:</a:t>
            </a:r>
            <a:endParaRPr lang="vi-VN" dirty="0"/>
          </a:p>
          <a:p>
            <a:pPr>
              <a:buFont typeface="Arial" panose="020B0604020202020204" pitchFamily="34" charset="0"/>
              <a:buChar char="•"/>
            </a:pPr>
            <a:r>
              <a:rPr lang="vi-VN" dirty="0"/>
              <a:t>Wireframe này sử dụng các hình dạng đơn giản (chủ yếu là hình chữ nhật) và văn bản ngắn để thể hiện bố cục và cấu trúc của giao diện.</a:t>
            </a:r>
          </a:p>
          <a:p>
            <a:pPr>
              <a:buFont typeface="Arial" panose="020B0604020202020204" pitchFamily="34" charset="0"/>
              <a:buChar char="•"/>
            </a:pPr>
            <a:r>
              <a:rPr lang="vi-VN" dirty="0"/>
              <a:t>Nó tập trung vào việc bố trí các thành phần chính trên màn hình và luồng thông tin, chứ không tập trung vào chi tiết thẩm mỹ như màu sắc, hình ảnh hay phông chữ.</a:t>
            </a:r>
          </a:p>
          <a:p>
            <a:pPr>
              <a:buFont typeface="Arial" panose="020B0604020202020204" pitchFamily="34" charset="0"/>
              <a:buChar char="•"/>
            </a:pPr>
            <a:r>
              <a:rPr lang="vi-VN" dirty="0"/>
              <a:t>Việc có hai phần riêng biệt cho thấy có thể đây là thiết kế cho một ứng dụng có hai cột nội dung, hoặc có thể là thiết kế cho hai màn hình khác nhau trong ứng dụng.</a:t>
            </a:r>
          </a:p>
          <a:p>
            <a:pPr>
              <a:buFont typeface="Arial" panose="020B0604020202020204" pitchFamily="34" charset="0"/>
              <a:buChar char="•"/>
            </a:pPr>
            <a:r>
              <a:rPr lang="vi-VN" dirty="0"/>
              <a:t>Các đoạn văn bản "The largest community of photo enthusiasts" và "Learn about all the features of the Photo app" cho thấy ứng dụng này có liên quan đến nhiếp ảnh và có thể cung cấp thông tin hoặc tính năng liên quan đến ảnh.</a:t>
            </a:r>
          </a:p>
          <a:p>
            <a:endParaRPr lang="en-US" dirty="0"/>
          </a:p>
        </p:txBody>
      </p:sp>
    </p:spTree>
    <p:extLst>
      <p:ext uri="{BB962C8B-B14F-4D97-AF65-F5344CB8AC3E}">
        <p14:creationId xmlns:p14="http://schemas.microsoft.com/office/powerpoint/2010/main" val="27044738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Mô tả:</a:t>
            </a:r>
            <a:r>
              <a:rPr lang="vi-VN" dirty="0"/>
              <a:t> Tài liệu này mô tả thiết kế và cấu trúc của các API để sử dụng nội bộ hoặc bên ngoài. Nó giải thích cách các ứng dụng khác có thể tương tác với hệ thống thông qua các API được định nghĩa.</a:t>
            </a:r>
          </a:p>
          <a:p>
            <a:r>
              <a:rPr lang="vi-VN" b="1" dirty="0"/>
              <a:t>Nội dung</a:t>
            </a:r>
            <a:r>
              <a:rPr lang="en-US" b="1" dirty="0"/>
              <a:t>:</a:t>
            </a:r>
          </a:p>
          <a:p>
            <a:r>
              <a:rPr lang="vi-VN" b="1" dirty="0"/>
              <a:t>API endpoints with HTTP methods (Các điểm cuối API với phương thức HTTP):</a:t>
            </a:r>
            <a:r>
              <a:rPr lang="vi-VN" dirty="0"/>
              <a:t> Liệt kê các điểm cuối (endpoints) mà API cung cấp, cùng với các phương thức HTTP (ví dụ: GET, POST, PUT, DELETE) được sử dụng cho mỗi điểm cuối. Điểm cuối là URL mà ứng dụng khác sẽ gửi yêu cầu đến để tương tác với API. Phương thức HTTP xác định loại hành động được thực hiện (ví dụ: GET để lấy dữ liệu, POST để tạo dữ liệu).</a:t>
            </a:r>
          </a:p>
          <a:p>
            <a:pPr>
              <a:buFont typeface="Arial" panose="020B0604020202020204" pitchFamily="34" charset="0"/>
              <a:buChar char="•"/>
            </a:pPr>
            <a:r>
              <a:rPr lang="vi-VN" b="1" dirty="0"/>
              <a:t>Request/response payloads (JSON, XML) (Payload yêu cầu/phản hồi (JSON, XML)):</a:t>
            </a:r>
            <a:r>
              <a:rPr lang="vi-VN" dirty="0"/>
              <a:t> Mô tả định dạng của dữ liệu được gửi trong yêu cầu (request) và phản hồi (response) của API. Các định dạng phổ biến bao gồm JSON (JavaScript Object Notation) và XML (Extensible Markup Language). Payload là phần dữ liệu chính được truyền tải trong yêu cầu và phản hồi.</a:t>
            </a:r>
          </a:p>
          <a:p>
            <a:pPr>
              <a:buFont typeface="Arial" panose="020B0604020202020204" pitchFamily="34" charset="0"/>
              <a:buChar char="•"/>
            </a:pPr>
            <a:r>
              <a:rPr lang="vi-VN" b="1" dirty="0"/>
              <a:t>Authentication mechanisms (e.g., OAuth 2.0, API keys) (Cơ chế xác thực (ví dụ: OAuth 2.0, khóa API)):</a:t>
            </a:r>
            <a:r>
              <a:rPr lang="vi-VN" dirty="0"/>
              <a:t> Mô tả cách xác thực người dùng hoặc ứng dụng khi truy cập API. Các cơ chế phổ biến bao gồm OAuth 2.0 (một framework ủy quyền) và khóa API (API keys) (chuỗi ký tự được sử dụng để xác định ứng dụng).</a:t>
            </a:r>
          </a:p>
          <a:p>
            <a:pPr>
              <a:buFont typeface="Arial" panose="020B0604020202020204" pitchFamily="34" charset="0"/>
              <a:buChar char="•"/>
            </a:pPr>
            <a:r>
              <a:rPr lang="vi-VN" b="1" dirty="0"/>
              <a:t>Error handling and status codes (Xử lý lỗi và mã trạng thái):</a:t>
            </a:r>
            <a:r>
              <a:rPr lang="vi-VN" dirty="0"/>
              <a:t> Mô tả cách API xử lý lỗi và trả về mã trạng thái HTTP (ví dụ: 200 OK, 400 Bad Request, 500 Internal Server Error) để thông báo kết quả của yêu cầu.</a:t>
            </a:r>
          </a:p>
          <a:p>
            <a:pPr>
              <a:buFont typeface="Arial" panose="020B0604020202020204" pitchFamily="34" charset="0"/>
              <a:buChar char="•"/>
            </a:pPr>
            <a:r>
              <a:rPr lang="vi-VN" b="1" dirty="0"/>
              <a:t>Rate limiting policies (Chính sách giới hạn tốc độ):</a:t>
            </a:r>
            <a:r>
              <a:rPr lang="vi-VN" dirty="0"/>
              <a:t> Mô tả các chính sách giới hạn số lượng yêu cầu mà một người dùng hoặc ứng dụng có thể gửi đến API trong một khoảng thời gian nhất định. Điều này giúp ngăn chặn việc lạm dụng API và đảm bảo tính ổn định của hệ thống.</a:t>
            </a:r>
          </a:p>
          <a:p>
            <a:endParaRPr lang="en-US" dirty="0"/>
          </a:p>
        </p:txBody>
      </p:sp>
    </p:spTree>
    <p:extLst>
      <p:ext uri="{BB962C8B-B14F-4D97-AF65-F5344CB8AC3E}">
        <p14:creationId xmlns:p14="http://schemas.microsoft.com/office/powerpoint/2010/main" val="26880058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Mô tả:</a:t>
            </a:r>
            <a:r>
              <a:rPr lang="vi-VN" dirty="0"/>
              <a:t> Tài liệu này mô tả các chiến lược và cơ chế để đảm bảo an ninh hệ thống. Nó giải thích cách hệ thống được bảo vệ khỏi các mối đe dọa và tấn công.</a:t>
            </a:r>
          </a:p>
          <a:p>
            <a:r>
              <a:rPr lang="vi-VN" b="1" dirty="0"/>
              <a:t>Nội dung:</a:t>
            </a:r>
            <a:r>
              <a:rPr lang="vi-VN" dirty="0"/>
              <a:t> Slide liệt kê các thành phần chính thường có trong một Tài liệu Thiết kế Bảo mật:</a:t>
            </a:r>
          </a:p>
          <a:p>
            <a:pPr>
              <a:buFont typeface="Arial" panose="020B0604020202020204" pitchFamily="34" charset="0"/>
              <a:buChar char="•"/>
            </a:pPr>
            <a:r>
              <a:rPr lang="vi-VN" b="1" dirty="0"/>
              <a:t>Authentication and authorization mechanisms (Cơ chế xác thực và ủy quyền):</a:t>
            </a:r>
            <a:r>
              <a:rPr lang="vi-VN" dirty="0"/>
              <a:t> </a:t>
            </a:r>
          </a:p>
          <a:p>
            <a:pPr marL="742950" lvl="1" indent="-285750">
              <a:buFont typeface="Arial" panose="020B0604020202020204" pitchFamily="34" charset="0"/>
              <a:buChar char="•"/>
            </a:pPr>
            <a:r>
              <a:rPr lang="vi-VN" b="1" dirty="0"/>
              <a:t>Authentication (Xác thực):</a:t>
            </a:r>
            <a:r>
              <a:rPr lang="vi-VN" dirty="0"/>
              <a:t> Xác minh danh tính của người dùng hoặc ứng dụng (ví dụ: bằng tên người dùng/mật khẩu, xác thực hai yếu tố).</a:t>
            </a:r>
          </a:p>
          <a:p>
            <a:pPr marL="742950" lvl="1" indent="-285750">
              <a:buFont typeface="Arial" panose="020B0604020202020204" pitchFamily="34" charset="0"/>
              <a:buChar char="•"/>
            </a:pPr>
            <a:r>
              <a:rPr lang="vi-VN" b="1" dirty="0"/>
              <a:t>Authorization (Ủy quyền):</a:t>
            </a:r>
            <a:r>
              <a:rPr lang="vi-VN" dirty="0"/>
              <a:t> Xác định quyền truy cập của người dùng hoặc ứng dụng vào các tài nguyên của hệ thống (ví dụ: người dùng chỉ có thể xem dữ liệu của chính họ, quản trị viên có thể truy cập tất cả dữ liệu).</a:t>
            </a:r>
          </a:p>
          <a:p>
            <a:pPr>
              <a:buFont typeface="Arial" panose="020B0604020202020204" pitchFamily="34" charset="0"/>
              <a:buChar char="•"/>
            </a:pPr>
            <a:r>
              <a:rPr lang="vi-VN" b="1" dirty="0"/>
              <a:t>Data encryption (in transit and at rest) (Mã hóa dữ liệu (khi truyền tải và khi lưu trữ)):</a:t>
            </a:r>
            <a:r>
              <a:rPr lang="vi-VN" dirty="0"/>
              <a:t> </a:t>
            </a:r>
          </a:p>
          <a:p>
            <a:pPr marL="742950" lvl="1" indent="-285750">
              <a:buFont typeface="Arial" panose="020B0604020202020204" pitchFamily="34" charset="0"/>
              <a:buChar char="•"/>
            </a:pPr>
            <a:r>
              <a:rPr lang="vi-VN" b="1" dirty="0"/>
              <a:t>In transit (Khi truyền tải):</a:t>
            </a:r>
            <a:r>
              <a:rPr lang="vi-VN" dirty="0"/>
              <a:t> Mã hóa dữ liệu khi nó được truyền qua mạng (ví dụ: sử dụng HTTPS).</a:t>
            </a:r>
          </a:p>
          <a:p>
            <a:pPr marL="742950" lvl="1" indent="-285750">
              <a:buFont typeface="Arial" panose="020B0604020202020204" pitchFamily="34" charset="0"/>
              <a:buChar char="•"/>
            </a:pPr>
            <a:r>
              <a:rPr lang="vi-VN" b="1" dirty="0"/>
              <a:t>At rest (Khi lưu trữ):</a:t>
            </a:r>
            <a:r>
              <a:rPr lang="vi-VN" dirty="0"/>
              <a:t> Mã hóa dữ liệu khi nó được lưu trữ trên thiết bị lưu trữ (ví dụ: mã hóa cơ sở dữ liệu).</a:t>
            </a:r>
          </a:p>
          <a:p>
            <a:pPr>
              <a:buFont typeface="Arial" panose="020B0604020202020204" pitchFamily="34" charset="0"/>
              <a:buChar char="•"/>
            </a:pPr>
            <a:r>
              <a:rPr lang="vi-VN" b="1" dirty="0"/>
              <a:t>Input validation and sanitization (Xác thực và làm sạch đầu vào):</a:t>
            </a:r>
            <a:r>
              <a:rPr lang="vi-VN" dirty="0"/>
              <a:t> Kiểm tra và làm sạch dữ liệu đầu vào từ người dùng để ngăn chặn các cuộc tấn công như SQL injection hoặc cross-site scripting (XSS).</a:t>
            </a:r>
          </a:p>
          <a:p>
            <a:pPr>
              <a:buFont typeface="Arial" panose="020B0604020202020204" pitchFamily="34" charset="0"/>
              <a:buChar char="•"/>
            </a:pPr>
            <a:r>
              <a:rPr lang="vi-VN" b="1" dirty="0"/>
              <a:t>Compliance with security standards (GDPR, PCI-DSS, HIPAA) (Tuân thủ các tiêu chuẩn bảo mật (GDPR, PCI-DSS, HIPAA)):</a:t>
            </a:r>
            <a:r>
              <a:rPr lang="vi-VN" dirty="0"/>
              <a:t> Đảm bảo hệ thống tuân thủ các tiêu chuẩn bảo mật liên quan, tùy thuộc vào loại dữ liệu được xử lý và ngành nghề hoạt động (ví dụ: GDPR cho bảo vệ dữ liệu cá nhân, PCI-DSS cho xử lý thẻ thanh toán, HIPAA cho chăm sóc sức khỏe).</a:t>
            </a:r>
          </a:p>
          <a:p>
            <a:pPr>
              <a:buFont typeface="Arial" panose="020B0604020202020204" pitchFamily="34" charset="0"/>
              <a:buChar char="•"/>
            </a:pPr>
            <a:r>
              <a:rPr lang="vi-VN" b="1" dirty="0"/>
              <a:t>Threat modeling and mitigation strategies (Mô hình hóa mối đe dọa và chiến lược giảm thiểu):</a:t>
            </a:r>
            <a:r>
              <a:rPr lang="vi-VN" dirty="0"/>
              <a:t> Xác định các mối đe dọa tiềm ẩn đối với hệ thống và đề xuất các biện pháp để giảm thiểu rủi ro từ các mối đe dọa đó.</a:t>
            </a:r>
          </a:p>
          <a:p>
            <a:endParaRPr lang="en-US" dirty="0"/>
          </a:p>
        </p:txBody>
      </p:sp>
    </p:spTree>
    <p:extLst>
      <p:ext uri="{BB962C8B-B14F-4D97-AF65-F5344CB8AC3E}">
        <p14:creationId xmlns:p14="http://schemas.microsoft.com/office/powerpoint/2010/main" val="36908637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Users (Người dùng):</a:t>
            </a:r>
            <a:r>
              <a:rPr lang="vi-VN" dirty="0"/>
              <a:t> Người dùng tương tác với ứng dụng.</a:t>
            </a:r>
          </a:p>
          <a:p>
            <a:r>
              <a:rPr lang="vi-VN" b="1" dirty="0"/>
              <a:t>Firewall (Tường lửa):</a:t>
            </a:r>
            <a:r>
              <a:rPr lang="vi-VN" dirty="0"/>
              <a:t> Lớp bảo vệ đầu tiên, kiểm soát lưu lượng mạng đến và đi khỏi hệ thống. Nó giúp ngăn chặn các cuộc tấn công từ bên ngoài, ví dụ như tấn công từ chối dịch vụ (Denial of service).</a:t>
            </a:r>
          </a:p>
          <a:p>
            <a:r>
              <a:rPr lang="vi-VN" b="1" dirty="0"/>
              <a:t>Web server (Máy chủ Web):</a:t>
            </a:r>
            <a:r>
              <a:rPr lang="vi-VN" dirty="0"/>
              <a:t> Nhận yêu cầu từ người dùng và chuyển chúng đến application server. Các biện pháp bảo mật được áp dụng ở lớp này bao gồm:</a:t>
            </a:r>
          </a:p>
          <a:p>
            <a:pPr>
              <a:buFont typeface="Arial" panose="020B0604020202020204" pitchFamily="34" charset="0"/>
              <a:buChar char="•"/>
            </a:pPr>
            <a:r>
              <a:rPr lang="vi-VN" b="1" dirty="0"/>
              <a:t>Providing secure configuration (Cấu hình bảo mật):</a:t>
            </a:r>
            <a:r>
              <a:rPr lang="vi-VN" dirty="0"/>
              <a:t> Đảm bảo máy chủ web được cấu hình một cách an toàn để tránh các lỗ hổng bảo mật.</a:t>
            </a:r>
          </a:p>
          <a:p>
            <a:pPr>
              <a:buFont typeface="Arial" panose="020B0604020202020204" pitchFamily="34" charset="0"/>
              <a:buChar char="•"/>
            </a:pPr>
            <a:r>
              <a:rPr lang="vi-VN" b="1" dirty="0"/>
              <a:t>Handling exceptions (Xử lý ngoại lệ):</a:t>
            </a:r>
            <a:r>
              <a:rPr lang="vi-VN" dirty="0"/>
              <a:t> Xử lý các lỗi và ngoại lệ một cách an toàn để tránh tiết lộ thông tin nhạy cảm.</a:t>
            </a:r>
          </a:p>
          <a:p>
            <a:pPr>
              <a:buFont typeface="Arial" panose="020B0604020202020204" pitchFamily="34" charset="0"/>
              <a:buChar char="•"/>
            </a:pPr>
            <a:r>
              <a:rPr lang="vi-VN" b="1" dirty="0"/>
              <a:t>Preventing session hijacking (Ngăn chặn chiếm đoạt phiên làm việc):</a:t>
            </a:r>
            <a:r>
              <a:rPr lang="vi-VN" dirty="0"/>
              <a:t> Ngăn chặn kẻ tấn công chiếm đoạt phiên làm việc của người dùng.</a:t>
            </a:r>
          </a:p>
          <a:p>
            <a:pPr>
              <a:buFont typeface="Arial" panose="020B0604020202020204" pitchFamily="34" charset="0"/>
              <a:buChar char="•"/>
            </a:pPr>
            <a:r>
              <a:rPr lang="vi-VN" b="1" dirty="0"/>
              <a:t>Concurrency (Đồng thời):</a:t>
            </a:r>
            <a:r>
              <a:rPr lang="vi-VN" dirty="0"/>
              <a:t> Quản lý số lượng yêu cầu đồng thời để tránh quá tải và tấn công từ chối dịch vụ.</a:t>
            </a:r>
          </a:p>
          <a:p>
            <a:r>
              <a:rPr lang="vi-VN" b="1" dirty="0"/>
              <a:t>Application server (Máy chủ Ứng dụng):</a:t>
            </a:r>
            <a:r>
              <a:rPr lang="vi-VN" dirty="0"/>
              <a:t> Xử lý logic nghiệp vụ của ứng dụng. Các biện pháp bảo mật được áp dụng ở lớp này bao gồm:</a:t>
            </a:r>
          </a:p>
          <a:p>
            <a:pPr>
              <a:buFont typeface="Arial" panose="020B0604020202020204" pitchFamily="34" charset="0"/>
              <a:buChar char="•"/>
            </a:pPr>
            <a:r>
              <a:rPr lang="vi-VN" b="1" dirty="0"/>
              <a:t>Fine input validation (Xác thực đầu vào chi tiết):</a:t>
            </a:r>
            <a:r>
              <a:rPr lang="vi-VN" dirty="0"/>
              <a:t> Kiểm tra kỹ lưỡng dữ liệu đầu vào từ người dùng để ngăn chặn các cuộc tấn công như SQL injection và cross-site scripting.</a:t>
            </a:r>
          </a:p>
          <a:p>
            <a:pPr>
              <a:buFont typeface="Arial" panose="020B0604020202020204" pitchFamily="34" charset="0"/>
              <a:buChar char="•"/>
            </a:pPr>
            <a:r>
              <a:rPr lang="vi-VN" b="1" dirty="0"/>
              <a:t>Coarse input validation (Xác thực đầu vào thô):</a:t>
            </a:r>
            <a:r>
              <a:rPr lang="vi-VN" dirty="0"/>
              <a:t> Kiểm tra cơ bản dữ liệu đầu vào.</a:t>
            </a:r>
          </a:p>
          <a:p>
            <a:pPr>
              <a:buFont typeface="Arial" panose="020B0604020202020204" pitchFamily="34" charset="0"/>
              <a:buChar char="•"/>
            </a:pPr>
            <a:r>
              <a:rPr lang="vi-VN" b="1" dirty="0"/>
              <a:t>Authorizing users (Ủy quyền người dùng):</a:t>
            </a:r>
            <a:r>
              <a:rPr lang="vi-VN" dirty="0"/>
              <a:t> Kiểm tra quyền truy cập của người dùng đối với các tài nguyên của hệ thống.</a:t>
            </a:r>
          </a:p>
          <a:p>
            <a:pPr>
              <a:buFont typeface="Arial" panose="020B0604020202020204" pitchFamily="34" charset="0"/>
              <a:buChar char="•"/>
            </a:pPr>
            <a:r>
              <a:rPr lang="vi-VN" b="1" dirty="0"/>
              <a:t>Protecting sensitive data (Bảo vệ dữ liệu nhạy cảm):</a:t>
            </a:r>
            <a:r>
              <a:rPr lang="vi-VN" dirty="0"/>
              <a:t> Áp dụng các biện pháp bảo vệ dữ liệu nhạy cảm, ví dụ như mã hóa dữ liệu.</a:t>
            </a:r>
          </a:p>
          <a:p>
            <a:pPr>
              <a:buFont typeface="Arial" panose="020B0604020202020204" pitchFamily="34" charset="0"/>
              <a:buChar char="•"/>
            </a:pPr>
            <a:r>
              <a:rPr lang="vi-VN" b="1" dirty="0"/>
              <a:t>Preventing parameter manipulation (Ngăn chặn thao túng tham số):</a:t>
            </a:r>
            <a:r>
              <a:rPr lang="vi-VN" dirty="0"/>
              <a:t> Ngăn chặn kẻ tấn công thay đổi các tham số trong URL hoặc form để truy cập trái phép.</a:t>
            </a:r>
          </a:p>
          <a:p>
            <a:pPr>
              <a:buFont typeface="Arial" panose="020B0604020202020204" pitchFamily="34" charset="0"/>
              <a:buChar char="•"/>
            </a:pPr>
            <a:r>
              <a:rPr lang="vi-VN" b="1" dirty="0"/>
              <a:t>Auditing and logging (Kiểm tra và ghi log):</a:t>
            </a:r>
            <a:r>
              <a:rPr lang="vi-VN" dirty="0"/>
              <a:t> Ghi lại các hoạt động của hệ thống để theo dõi và phát hiện các hoạt động bất thường.</a:t>
            </a:r>
          </a:p>
          <a:p>
            <a:r>
              <a:rPr lang="vi-VN" b="1" dirty="0"/>
              <a:t>Database (Cơ sở dữ liệu):</a:t>
            </a:r>
            <a:r>
              <a:rPr lang="vi-VN" dirty="0"/>
              <a:t> Lưu trữ dữ liệu của ứng dụng. Các biện pháp bảo mật được áp dụng ở lớp này bao gồm:</a:t>
            </a:r>
          </a:p>
          <a:p>
            <a:pPr>
              <a:buFont typeface="Arial" panose="020B0604020202020204" pitchFamily="34" charset="0"/>
              <a:buChar char="•"/>
            </a:pPr>
            <a:r>
              <a:rPr lang="vi-VN" b="1" dirty="0"/>
              <a:t>Protecting sensitive data (Bảo vệ dữ liệu nhạy cảm):</a:t>
            </a:r>
            <a:r>
              <a:rPr lang="vi-VN" dirty="0"/>
              <a:t> Mã hóa dữ liệu được lưu trữ trong cơ sở dữ liệu.</a:t>
            </a:r>
          </a:p>
          <a:p>
            <a:endParaRPr lang="en-US" dirty="0"/>
          </a:p>
        </p:txBody>
      </p:sp>
    </p:spTree>
    <p:extLst>
      <p:ext uri="{BB962C8B-B14F-4D97-AF65-F5344CB8AC3E}">
        <p14:creationId xmlns:p14="http://schemas.microsoft.com/office/powerpoint/2010/main" val="27771687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Hình ảnh hiển thị một slide thuyết trình với tiêu đề </a:t>
            </a:r>
            <a:r>
              <a:rPr lang="vi-VN" b="1" dirty="0"/>
              <a:t>"Deployment and Maintenance Document"</a:t>
            </a:r>
            <a:r>
              <a:rPr lang="vi-VN" dirty="0"/>
              <a:t> (Tài liệu Triển khai và Bảo trì), cùng logo của CMC University ở góc trên bên phải. Slide này tập trung vào việc mô tả chi tiết về Tài liệu Triển khai và Bảo trì.</a:t>
            </a:r>
          </a:p>
          <a:p>
            <a:r>
              <a:rPr lang="vi-VN" dirty="0"/>
              <a:t>Slide trình bày các thông Tài liệu này phác thảo các quy trình triển khai, giám sát và bảo trì. Nó giải thích cách phần mềm được đưa vào hoạt động, cách theo dõi hiệu suất của nó và cách xử lý các vấn đề phát </a:t>
            </a:r>
            <a:r>
              <a:rPr lang="vi-VN" dirty="0" err="1"/>
              <a:t>sinhtin</a:t>
            </a:r>
            <a:r>
              <a:rPr lang="vi-VN" dirty="0"/>
              <a:t> sau:</a:t>
            </a:r>
          </a:p>
          <a:p>
            <a:pPr>
              <a:buFont typeface="Arial" panose="020B0604020202020204" pitchFamily="34" charset="0"/>
              <a:buChar char="•"/>
            </a:pPr>
            <a:r>
              <a:rPr lang="vi-VN" b="1" dirty="0"/>
              <a:t>Mô tả:</a:t>
            </a:r>
            <a:r>
              <a:rPr lang="vi-VN" dirty="0"/>
              <a:t>.</a:t>
            </a:r>
          </a:p>
          <a:p>
            <a:pPr>
              <a:buFont typeface="Arial" panose="020B0604020202020204" pitchFamily="34" charset="0"/>
              <a:buChar char="•"/>
            </a:pPr>
            <a:r>
              <a:rPr lang="vi-VN" b="1" dirty="0"/>
              <a:t>Nội dung:</a:t>
            </a:r>
            <a:r>
              <a:rPr lang="vi-VN" dirty="0"/>
              <a:t> Slide liệt kê các thành phần chính thường có trong một Tài liệu Triển khai và Bảo trì:</a:t>
            </a:r>
          </a:p>
          <a:p>
            <a:pPr marL="742950" lvl="1" indent="-285750">
              <a:buFont typeface="Arial" panose="020B0604020202020204" pitchFamily="34" charset="0"/>
              <a:buChar char="•"/>
            </a:pPr>
            <a:r>
              <a:rPr lang="vi-VN" b="1" dirty="0"/>
              <a:t>Deployment environments and strategies (blue-green, canary releases) (Môi trường và chiến lược triển khai (blue-green, canary releases)):</a:t>
            </a:r>
            <a:r>
              <a:rPr lang="vi-VN" dirty="0"/>
              <a:t> </a:t>
            </a:r>
          </a:p>
          <a:p>
            <a:pPr marL="1143000" lvl="2" indent="-228600">
              <a:buFont typeface="Arial" panose="020B0604020202020204" pitchFamily="34" charset="0"/>
              <a:buChar char="•"/>
            </a:pPr>
            <a:r>
              <a:rPr lang="vi-VN" b="1" dirty="0"/>
              <a:t>Deployment environments (Môi trường triển khai):</a:t>
            </a:r>
            <a:r>
              <a:rPr lang="vi-VN" dirty="0"/>
              <a:t> Mô tả các môi trường khác nhau được sử dụng cho việc triển khai, ví dụ như môi trường phát triển (development), môi trường kiểm thử (testing/staging), và môi trường sản xuất (production).</a:t>
            </a:r>
          </a:p>
          <a:p>
            <a:pPr marL="1143000" lvl="2" indent="-228600">
              <a:buFont typeface="Arial" panose="020B0604020202020204" pitchFamily="34" charset="0"/>
              <a:buChar char="•"/>
            </a:pPr>
            <a:r>
              <a:rPr lang="vi-VN" b="1" dirty="0"/>
              <a:t>Deployment strategies (Chiến lược triển khai):</a:t>
            </a:r>
            <a:r>
              <a:rPr lang="vi-VN" dirty="0"/>
              <a:t> Mô tả các chiến lược triển khai khác nhau, ví dụ như: </a:t>
            </a:r>
          </a:p>
          <a:p>
            <a:pPr marL="1600200" lvl="3" indent="-228600">
              <a:buFont typeface="Arial" panose="020B0604020202020204" pitchFamily="34" charset="0"/>
              <a:buChar char="•"/>
            </a:pPr>
            <a:r>
              <a:rPr lang="vi-VN" b="1" dirty="0"/>
              <a:t>Blue-green deployment (Triển khai xanh-lục):</a:t>
            </a:r>
            <a:r>
              <a:rPr lang="vi-VN" dirty="0"/>
              <a:t> Duy trì hai môi trường giống hệt nhau (xanh và lục). Phiên bản mới được triển khai lên môi trường "xanh", sau khi kiểm thử thành công, lưu lượng truy cập được chuyển sang môi trường "xanh", và môi trường "lục" trở thành môi trường dự phòng.</a:t>
            </a:r>
          </a:p>
          <a:p>
            <a:pPr marL="1600200" lvl="3" indent="-228600">
              <a:buFont typeface="Arial" panose="020B0604020202020204" pitchFamily="34" charset="0"/>
              <a:buChar char="•"/>
            </a:pPr>
            <a:r>
              <a:rPr lang="vi-VN" b="1" dirty="0"/>
              <a:t>Canary releases (Phát hành canary):</a:t>
            </a:r>
            <a:r>
              <a:rPr lang="vi-VN" dirty="0"/>
              <a:t> Triển khai phiên bản mới cho một nhóm nhỏ người dùng (nhóm "canary") để kiểm tra trong môi trường thực tế trước khi triển khai cho toàn bộ người dùng.</a:t>
            </a:r>
          </a:p>
          <a:p>
            <a:pPr marL="742950" lvl="1" indent="-285750">
              <a:buFont typeface="Arial" panose="020B0604020202020204" pitchFamily="34" charset="0"/>
              <a:buChar char="•"/>
            </a:pPr>
            <a:r>
              <a:rPr lang="vi-VN" b="1" dirty="0"/>
              <a:t>CI/CD pipelines and automation tools (CI/CD pipelines và các công cụ tự động hóa):</a:t>
            </a:r>
            <a:r>
              <a:rPr lang="vi-VN" dirty="0"/>
              <a:t> Mô tả quy trình tích hợp liên tục (Continuous Integration - CI) và phân phối liên tục (Continuous Delivery/Deployment - CD), và các công cụ được sử dụng để tự động hóa quy trình này (ví dụ: Jenkins, GitLab CI, CircleCI). CI/CD giúp tự động hóa việc xây dựng, kiểm thử và triển khai phần mềm, giúp quá trình này diễn ra nhanh chóng và hiệu quả hơn.</a:t>
            </a:r>
          </a:p>
          <a:p>
            <a:pPr marL="742950" lvl="1" indent="-285750">
              <a:buFont typeface="Arial" panose="020B0604020202020204" pitchFamily="34" charset="0"/>
              <a:buChar char="•"/>
            </a:pPr>
            <a:r>
              <a:rPr lang="vi-VN" b="1" dirty="0"/>
              <a:t>Infrastructure as Code (IaC) configurations (Cấu hình Cơ sở hạ tầng dưới dạng Mã (IaC)):</a:t>
            </a:r>
            <a:r>
              <a:rPr lang="vi-VN" dirty="0"/>
              <a:t> Mô tả cách cơ sở hạ tầng (ví dụ: máy chủ, mạng, cơ sở dữ liệu) được quản lý và cấu hình bằng mã (ví dụ: Terraform, Ansible, CloudFormation). IaC giúp tự động hóa việc quản lý cơ sở hạ tầng, giúp việc triển khai và quản lý môi trường trở nên nhất quán và dễ dàng hơn.</a:t>
            </a:r>
          </a:p>
          <a:p>
            <a:pPr marL="742950" lvl="1" indent="-285750">
              <a:buFont typeface="Arial" panose="020B0604020202020204" pitchFamily="34" charset="0"/>
              <a:buChar char="•"/>
            </a:pPr>
            <a:r>
              <a:rPr lang="vi-VN" b="1" dirty="0"/>
              <a:t>Monitoring and logging tools (Công cụ giám sát và ghi log):</a:t>
            </a:r>
            <a:r>
              <a:rPr lang="vi-VN" dirty="0"/>
              <a:t> Mô tả các công cụ được sử dụng để giám sát hiệu suất và trạng thái của hệ thống (ví dụ: Prometheus, Grafana, ELK stack). Các công cụ này giúp phát hiện sớm các vấn đề và theo dõi hoạt động của hệ thống.</a:t>
            </a:r>
          </a:p>
          <a:p>
            <a:pPr marL="742950" lvl="1" indent="-285750">
              <a:buFont typeface="Arial" panose="020B0604020202020204" pitchFamily="34" charset="0"/>
              <a:buChar char="•"/>
            </a:pPr>
            <a:r>
              <a:rPr lang="vi-VN" b="1" dirty="0"/>
              <a:t>Backup and disaster recovery plans (Kế hoạch sao lưu và khôi phục sau thảm họa):</a:t>
            </a:r>
            <a:r>
              <a:rPr lang="vi-VN" dirty="0"/>
              <a:t> Mô tả các kế hoạch sao lưu dữ liệu và khôi phục hệ thống trong trường hợp xảy ra sự cố (ví dụ: mất dữ liệu, hỏng hóc phần cứng).</a:t>
            </a:r>
          </a:p>
          <a:p>
            <a:endParaRPr lang="en-US" dirty="0"/>
          </a:p>
        </p:txBody>
      </p:sp>
    </p:spTree>
    <p:extLst>
      <p:ext uri="{BB962C8B-B14F-4D97-AF65-F5344CB8AC3E}">
        <p14:creationId xmlns:p14="http://schemas.microsoft.com/office/powerpoint/2010/main" val="24855816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System Requirements (Yêu cầu Hệ thống):</a:t>
            </a:r>
            <a:r>
              <a:rPr lang="vi-VN" dirty="0"/>
              <a:t> Liệt kê các yêu cầu về phần cứng và phần mềm cần thiết để triển khai ứng dụng:</a:t>
            </a:r>
          </a:p>
          <a:p>
            <a:pPr>
              <a:buFont typeface="Arial" panose="020B0604020202020204" pitchFamily="34" charset="0"/>
              <a:buChar char="•"/>
            </a:pPr>
            <a:r>
              <a:rPr lang="vi-VN" b="1" dirty="0"/>
              <a:t>OS (Hệ điều hành):</a:t>
            </a:r>
            <a:r>
              <a:rPr lang="vi-VN" dirty="0"/>
              <a:t> Windows/Linux [cần chỉ định phiên bản cụ thể]. Ví dụ: Windows Server 2019, Ubuntu 20.04.</a:t>
            </a:r>
          </a:p>
          <a:p>
            <a:pPr>
              <a:buFont typeface="Arial" panose="020B0604020202020204" pitchFamily="34" charset="0"/>
              <a:buChar char="•"/>
            </a:pPr>
            <a:r>
              <a:rPr lang="vi-VN" b="1" dirty="0"/>
              <a:t>RAM:</a:t>
            </a:r>
            <a:r>
              <a:rPr lang="vi-VN" dirty="0"/>
              <a:t> [Ví dụ: 16GB].</a:t>
            </a:r>
          </a:p>
          <a:p>
            <a:pPr>
              <a:buFont typeface="Arial" panose="020B0604020202020204" pitchFamily="34" charset="0"/>
              <a:buChar char="•"/>
            </a:pPr>
            <a:r>
              <a:rPr lang="vi-VN" b="1" dirty="0"/>
              <a:t>Disk Space (Dung lượng ổ đĩa):</a:t>
            </a:r>
            <a:r>
              <a:rPr lang="vi-VN" dirty="0"/>
              <a:t> [Ví dụ: 100GB].</a:t>
            </a:r>
          </a:p>
          <a:p>
            <a:r>
              <a:rPr lang="vi-VN" b="1" dirty="0"/>
              <a:t>Deployment Procedure (Quy trình Triển khai):</a:t>
            </a:r>
            <a:r>
              <a:rPr lang="vi-VN" dirty="0"/>
              <a:t> Mô tả các bước cần thực hiện để triển khai ứng dụng:</a:t>
            </a:r>
          </a:p>
          <a:p>
            <a:pPr>
              <a:buFont typeface="Arial" panose="020B0604020202020204" pitchFamily="34" charset="0"/>
              <a:buChar char="•"/>
            </a:pPr>
            <a:r>
              <a:rPr lang="vi-VN" b="1" dirty="0"/>
              <a:t>Prepare the Environment (Chuẩn bị Môi trường):</a:t>
            </a:r>
            <a:r>
              <a:rPr lang="vi-VN" dirty="0"/>
              <a:t> </a:t>
            </a:r>
          </a:p>
          <a:p>
            <a:pPr marL="742950" lvl="1" indent="-285750">
              <a:buFont typeface="Arial" panose="020B0604020202020204" pitchFamily="34" charset="0"/>
              <a:buChar char="•"/>
            </a:pPr>
            <a:r>
              <a:rPr lang="vi-VN" b="1" dirty="0"/>
              <a:t>Connect to the target server via SSH (Kết nối đến máy chủ mục tiêu qua SSH):</a:t>
            </a:r>
            <a:r>
              <a:rPr lang="vi-VN" dirty="0"/>
              <a:t> Sử dụng SSH (Secure Shell) để kết nối đến máy chủ nơi ứng dụng sẽ được triển khai.</a:t>
            </a:r>
          </a:p>
          <a:p>
            <a:pPr marL="742950" lvl="1" indent="-285750">
              <a:buFont typeface="Arial" panose="020B0604020202020204" pitchFamily="34" charset="0"/>
              <a:buChar char="•"/>
            </a:pPr>
            <a:r>
              <a:rPr lang="vi-VN" b="1" dirty="0"/>
              <a:t>Install required dependencies using apt-get or yum (Cài đặt các phụ thuộc cần thiết bằng apt-get hoặc yum):</a:t>
            </a:r>
            <a:r>
              <a:rPr lang="vi-VN" dirty="0"/>
              <a:t> Sử dụng các trình quản lý gói như apt-get (cho Debian/Ubuntu) hoặc yum (cho CentOS/RHEL) để cài đặt các thư viện và phần mềm phụ thuộc mà ứng dụng cần.</a:t>
            </a:r>
          </a:p>
          <a:p>
            <a:pPr>
              <a:buFont typeface="Arial" panose="020B0604020202020204" pitchFamily="34" charset="0"/>
              <a:buChar char="•"/>
            </a:pPr>
            <a:r>
              <a:rPr lang="vi-VN" b="1" dirty="0"/>
              <a:t>Deploy the Application (Triển khai Ứng dụng):</a:t>
            </a:r>
            <a:r>
              <a:rPr lang="vi-VN" dirty="0"/>
              <a:t> </a:t>
            </a:r>
          </a:p>
          <a:p>
            <a:pPr marL="742950" lvl="1" indent="-285750">
              <a:buFont typeface="Arial" panose="020B0604020202020204" pitchFamily="34" charset="0"/>
              <a:buChar char="•"/>
            </a:pPr>
            <a:r>
              <a:rPr lang="vi-VN" b="1" dirty="0"/>
              <a:t>Use docker-compose up or equivalent (Sử dụng docker-compose up hoặc tương đương):</a:t>
            </a:r>
            <a:r>
              <a:rPr lang="vi-VN" dirty="0"/>
              <a:t> Sử dụng Docker Compose (hoặc một công cụ tương đương như Kubernetes) để triển khai ứng dụng. Điều này giả định ứng dụng được đóng gói trong các container Docker.</a:t>
            </a:r>
          </a:p>
          <a:p>
            <a:pPr marL="742950" lvl="1" indent="-285750">
              <a:buFont typeface="Arial" panose="020B0604020202020204" pitchFamily="34" charset="0"/>
              <a:buChar char="•"/>
            </a:pPr>
            <a:r>
              <a:rPr lang="vi-VN" b="1" dirty="0"/>
              <a:t>Verify that all services are running (Xác minh rằng tất cả các dịch vụ đang chạy):</a:t>
            </a:r>
            <a:r>
              <a:rPr lang="vi-VN" dirty="0"/>
              <a:t> Kiểm tra để đảm bảo tất cả các container hoặc dịch vụ cần thiết cho ứng dụng đều đang hoạt động bình thường.</a:t>
            </a:r>
          </a:p>
          <a:p>
            <a:pPr>
              <a:buFont typeface="Arial" panose="020B0604020202020204" pitchFamily="34" charset="0"/>
              <a:buChar char="•"/>
            </a:pPr>
            <a:r>
              <a:rPr lang="vi-VN" b="1" dirty="0"/>
              <a:t>Database Migration (if required) (Di chuyển Cơ sở Dữ liệu (nếu cần)):</a:t>
            </a:r>
            <a:r>
              <a:rPr lang="vi-VN" dirty="0"/>
              <a:t> </a:t>
            </a:r>
          </a:p>
          <a:p>
            <a:pPr marL="742950" lvl="1" indent="-285750">
              <a:buFont typeface="Arial" panose="020B0604020202020204" pitchFamily="34" charset="0"/>
              <a:buChar char="•"/>
            </a:pPr>
            <a:r>
              <a:rPr lang="vi-VN" b="1" dirty="0"/>
              <a:t>Run migration scripts using python manage.py migrate (for Django, as an example) (Chạy các script di chuyển bằng python manage.py migrate (ví dụ cho Django)):</a:t>
            </a:r>
            <a:r>
              <a:rPr lang="vi-VN" dirty="0"/>
              <a:t> Nếu ứng dụng sử dụng cơ sở dữ liệu và có các thay đổi về cấu trúc cơ sở dữ liệu, cần chạy các script di chuyển để cập nhật cơ sở dữ liệu. Ví dụ này sử dụng lệnh python manage.py migrate, thường được sử dụng trong các dự án Django.</a:t>
            </a:r>
          </a:p>
          <a:p>
            <a:pPr>
              <a:buFont typeface="Arial" panose="020B0604020202020204" pitchFamily="34" charset="0"/>
              <a:buChar char="•"/>
            </a:pPr>
            <a:r>
              <a:rPr lang="vi-VN" b="1" dirty="0"/>
              <a:t>Verification (Xác minh):</a:t>
            </a:r>
            <a:r>
              <a:rPr lang="vi-VN" dirty="0"/>
              <a:t> </a:t>
            </a:r>
          </a:p>
          <a:p>
            <a:pPr marL="742950" lvl="1" indent="-285750">
              <a:buFont typeface="Arial" panose="020B0604020202020204" pitchFamily="34" charset="0"/>
              <a:buChar char="•"/>
            </a:pPr>
            <a:r>
              <a:rPr lang="vi-VN" b="1" dirty="0"/>
              <a:t>Confirm deployment success by checking application logs (tail -f logs/app.log) (Xác nhận triển khai thành công bằng cách kiểm tra log ứng dụng (tail -f logs/app.log)):</a:t>
            </a:r>
            <a:r>
              <a:rPr lang="vi-VN" dirty="0"/>
              <a:t> Kiểm tra log của ứng dụng để xác nhận rằng quá trình triển khai đã thành công và không có lỗi nào xảy ra. Lệnh tail -f logs/app.log được sử dụng để theo dõi log theo thời gian thực.</a:t>
            </a:r>
          </a:p>
          <a:p>
            <a:r>
              <a:rPr lang="vi-VN" b="1" dirty="0"/>
              <a:t>Rollback Plan (Kế hoạch Khôi phục):</a:t>
            </a:r>
            <a:r>
              <a:rPr lang="vi-VN" dirty="0"/>
              <a:t> Mô tả cách khôi phục hệ thống về trạng thái trước đó nếu quá trình triển khai gặp sự cố:</a:t>
            </a:r>
          </a:p>
          <a:p>
            <a:pPr>
              <a:buFont typeface="Arial" panose="020B0604020202020204" pitchFamily="34" charset="0"/>
              <a:buChar char="•"/>
            </a:pPr>
            <a:r>
              <a:rPr lang="vi-VN" b="1" dirty="0"/>
              <a:t>If deployment fails, restore from the most recent backup (Nếu triển khai thất bại, khôi phục từ bản sao lưu gần nhất):</a:t>
            </a:r>
            <a:r>
              <a:rPr lang="vi-VN" dirty="0"/>
              <a:t> Sử dụng bản sao lưu dữ liệu và cấu hình gần nhất để khôi phục hệ thống.</a:t>
            </a:r>
          </a:p>
          <a:p>
            <a:pPr>
              <a:buFont typeface="Arial" panose="020B0604020202020204" pitchFamily="34" charset="0"/>
              <a:buChar char="•"/>
            </a:pPr>
            <a:r>
              <a:rPr lang="vi-VN" b="1" dirty="0"/>
              <a:t>Run rollback scripts [location/path] (Chạy các script khôi phục [vị trí/đường dẫn]):</a:t>
            </a:r>
            <a:r>
              <a:rPr lang="vi-VN" dirty="0"/>
              <a:t> Chạy các script được chuẩn bị trước để khôi phục hệ thống về trạng thái trước khi triển khai. Cần chỉ định vị trí hoặc đường dẫn của các script này.</a:t>
            </a:r>
          </a:p>
          <a:p>
            <a:endParaRPr lang="en-US" dirty="0"/>
          </a:p>
        </p:txBody>
      </p:sp>
    </p:spTree>
    <p:extLst>
      <p:ext uri="{BB962C8B-B14F-4D97-AF65-F5344CB8AC3E}">
        <p14:creationId xmlns:p14="http://schemas.microsoft.com/office/powerpoint/2010/main" val="23279767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Maintenance Objectives (Mục tiêu Bảo trì):</a:t>
            </a:r>
            <a:r>
              <a:rPr lang="vi-VN" dirty="0"/>
              <a:t> Liệt kê các mục tiêu chính của việc bảo trì hệ thống:</a:t>
            </a:r>
          </a:p>
          <a:p>
            <a:pPr>
              <a:buFont typeface="Arial" panose="020B0604020202020204" pitchFamily="34" charset="0"/>
              <a:buChar char="•"/>
            </a:pPr>
            <a:r>
              <a:rPr lang="vi-VN" b="1" dirty="0"/>
              <a:t>Ensure system uptime and stability (Đảm bảo thời gian hoạt động và tính ổn định của hệ thống):</a:t>
            </a:r>
            <a:r>
              <a:rPr lang="vi-VN" dirty="0"/>
              <a:t> Mục tiêu quan trọng nhất là giữ cho hệ thống luôn hoạt động và ổn định, giảm thiểu thời gian chết (downtime).</a:t>
            </a:r>
          </a:p>
          <a:p>
            <a:pPr>
              <a:buFont typeface="Arial" panose="020B0604020202020204" pitchFamily="34" charset="0"/>
              <a:buChar char="•"/>
            </a:pPr>
            <a:r>
              <a:rPr lang="vi-VN" b="1" dirty="0"/>
              <a:t>Identify and resolve bugs proactively (Chủ động xác định và giải quyết lỗi):</a:t>
            </a:r>
            <a:r>
              <a:rPr lang="vi-VN" dirty="0"/>
              <a:t> Tìm kiếm và sửa chữa lỗi trước khi chúng gây ra vấn đề cho người dùng.</a:t>
            </a:r>
          </a:p>
          <a:p>
            <a:pPr>
              <a:buFont typeface="Arial" panose="020B0604020202020204" pitchFamily="34" charset="0"/>
              <a:buChar char="•"/>
            </a:pPr>
            <a:r>
              <a:rPr lang="vi-VN" b="1" dirty="0"/>
              <a:t>Apply security patches as needed (Áp dụng các bản vá bảo mật khi cần thiết):</a:t>
            </a:r>
            <a:r>
              <a:rPr lang="vi-VN" dirty="0"/>
              <a:t> Cập nhật các bản vá bảo mật để bảo vệ hệ thống khỏi các lỗ hổng bảo mật mới được phát hiện.</a:t>
            </a:r>
          </a:p>
          <a:p>
            <a:r>
              <a:rPr lang="vi-VN" b="1" dirty="0"/>
              <a:t>Maintenance task (Công việc Bảo trì):</a:t>
            </a:r>
            <a:r>
              <a:rPr lang="vi-VN" dirty="0"/>
              <a:t> Liệt kê các công việc bảo trì định kỳ:</a:t>
            </a:r>
          </a:p>
          <a:p>
            <a:pPr>
              <a:buFont typeface="Arial" panose="020B0604020202020204" pitchFamily="34" charset="0"/>
              <a:buChar char="•"/>
            </a:pPr>
            <a:r>
              <a:rPr lang="vi-VN" b="1" dirty="0"/>
              <a:t>Daily / Weekly / Monthly / Quarterly (Hàng ngày / Hàng tuần / Hàng tháng / Hàng quý):</a:t>
            </a:r>
            <a:r>
              <a:rPr lang="vi-VN" dirty="0"/>
              <a:t> Các công việc bảo trì được thực hiện theo các chu kỳ khác nhau, tùy thuộc vào mức độ quan trọng và tần suất cần thiết.</a:t>
            </a:r>
          </a:p>
          <a:p>
            <a:pPr>
              <a:buFont typeface="Arial" panose="020B0604020202020204" pitchFamily="34" charset="0"/>
              <a:buChar char="•"/>
            </a:pPr>
            <a:r>
              <a:rPr lang="vi-VN" b="1" dirty="0"/>
              <a:t>Log monitoring (Giám sát log):</a:t>
            </a:r>
            <a:r>
              <a:rPr lang="vi-VN" dirty="0"/>
              <a:t> Theo dõi log hệ thống để phát hiện các lỗi, cảnh báo hoặc hoạt động bất thường.</a:t>
            </a:r>
          </a:p>
          <a:p>
            <a:pPr>
              <a:buFont typeface="Arial" panose="020B0604020202020204" pitchFamily="34" charset="0"/>
              <a:buChar char="•"/>
            </a:pPr>
            <a:r>
              <a:rPr lang="vi-VN" b="1" dirty="0"/>
              <a:t>Health checks (Kiểm tra sức khỏe):</a:t>
            </a:r>
            <a:r>
              <a:rPr lang="vi-VN" dirty="0"/>
              <a:t> Kiểm tra trạng thái của hệ thống, bao gồm hiệu suất, tài nguyên sử dụng và các chỉ số quan trọng khác.</a:t>
            </a:r>
          </a:p>
          <a:p>
            <a:pPr>
              <a:buFont typeface="Arial" panose="020B0604020202020204" pitchFamily="34" charset="0"/>
              <a:buChar char="•"/>
            </a:pPr>
            <a:r>
              <a:rPr lang="vi-VN" b="1" dirty="0"/>
              <a:t>Database optimization (vacuum for example) (Tối ưu hóa cơ sở dữ liệu (ví dụ: vacuum)):</a:t>
            </a:r>
            <a:r>
              <a:rPr lang="vi-VN" dirty="0"/>
              <a:t> Thực hiện các công việc tối ưu hóa cơ sở dữ liệu, ví dụ như lệnh vacuum trong PostgreSQL để dọn dẹp không gian lưu trữ và cải thiện hiệu suất.</a:t>
            </a:r>
          </a:p>
          <a:p>
            <a:r>
              <a:rPr lang="vi-VN" b="1" dirty="0"/>
              <a:t>Security Updates (Cập nhật Bảo mật):</a:t>
            </a:r>
            <a:r>
              <a:rPr lang="vi-VN" dirty="0"/>
              <a:t> Đề cập đến việc cập nhật các bản vá bảo mật cho hệ điều hành, phần mềm và các thành phần khác của hệ thống.</a:t>
            </a:r>
          </a:p>
          <a:p>
            <a:r>
              <a:rPr lang="vi-VN" b="1" dirty="0"/>
              <a:t>Backup and Recovery (Sao lưu và Khôi phục):</a:t>
            </a:r>
            <a:r>
              <a:rPr lang="vi-VN" dirty="0"/>
              <a:t> Đề cập đến việc sao lưu dữ liệu định kỳ và kế hoạch khôi phục hệ thống trong trường hợp xảy ra sự cố.</a:t>
            </a:r>
          </a:p>
          <a:p>
            <a:endParaRPr lang="en-US" dirty="0"/>
          </a:p>
        </p:txBody>
      </p:sp>
    </p:spTree>
    <p:extLst>
      <p:ext uri="{BB962C8B-B14F-4D97-AF65-F5344CB8AC3E}">
        <p14:creationId xmlns:p14="http://schemas.microsoft.com/office/powerpoint/2010/main" val="30640475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High-Level Design (HLD) (Thiết kế Cấp cao):</a:t>
            </a:r>
            <a:endParaRPr lang="vi-VN" dirty="0"/>
          </a:p>
          <a:p>
            <a:pPr>
              <a:buFont typeface="Arial" panose="020B0604020202020204" pitchFamily="34" charset="0"/>
              <a:buChar char="•"/>
            </a:pPr>
            <a:r>
              <a:rPr lang="vi-VN" b="1" dirty="0"/>
              <a:t>Use Case (Trường hợp Sử dụng):</a:t>
            </a:r>
            <a:r>
              <a:rPr lang="vi-VN" dirty="0"/>
              <a:t> Overview for stakeholders (Tổng quan cho các bên liên quan). HLD được sử dụng để cung cấp một cái nhìn tổng quan về hệ thống cho các bên liên quan (ví dụ: khách hàng, quản lý), giúp họ hiểu được mục tiêu, phạm vi và các thành phần chính của hệ thống mà không cần đi sâu vào chi tiết kỹ thuật.</a:t>
            </a:r>
          </a:p>
          <a:p>
            <a:r>
              <a:rPr lang="vi-VN" b="1" dirty="0"/>
              <a:t>Low-Level Design (LLD) (Thiết kế Cấp thấp):</a:t>
            </a:r>
            <a:endParaRPr lang="vi-VN" dirty="0"/>
          </a:p>
          <a:p>
            <a:pPr>
              <a:buFont typeface="Arial" panose="020B0604020202020204" pitchFamily="34" charset="0"/>
              <a:buChar char="•"/>
            </a:pPr>
            <a:r>
              <a:rPr lang="vi-VN" b="1" dirty="0"/>
              <a:t>Use Case (Trường hợp Sử dụng):</a:t>
            </a:r>
            <a:r>
              <a:rPr lang="vi-VN" dirty="0"/>
              <a:t> Developer guidance (Hướng dẫn cho nhà phát triển). LLD cung cấp hướng dẫn chi tiết cho các nhà phát triển về cách triển khai từng thành phần của hệ thống, bao gồm các thuật toán, cấu trúc dữ liệu và các chi tiết kỹ thuật khác.</a:t>
            </a:r>
          </a:p>
          <a:p>
            <a:r>
              <a:rPr lang="vi-VN" b="1" dirty="0"/>
              <a:t>Architectural Design (Thiết kế Kiến trúc):</a:t>
            </a:r>
            <a:endParaRPr lang="vi-VN" dirty="0"/>
          </a:p>
          <a:p>
            <a:pPr>
              <a:buFont typeface="Arial" panose="020B0604020202020204" pitchFamily="34" charset="0"/>
              <a:buChar char="•"/>
            </a:pPr>
            <a:r>
              <a:rPr lang="vi-VN" b="1" dirty="0"/>
              <a:t>Use Case (Trường hợp Sử dụng):</a:t>
            </a:r>
            <a:r>
              <a:rPr lang="vi-VN" dirty="0"/>
              <a:t> Large, scalable, or cloud systems (Các hệ thống lớn, có khả năng mở rộng hoặc hệ thống trên cloud). Tài liệu này đặc biệt quan trọng cho các hệ thống phức tạp, yêu cầu khả năng mở rộng cao hoặc được triển khai trên môi trường cloud. Nó mô tả cấu trúc tổng thể của hệ thống và cách các thành phần tương tác với nhau.</a:t>
            </a:r>
          </a:p>
          <a:p>
            <a:r>
              <a:rPr lang="vi-VN" b="1" dirty="0"/>
              <a:t>Data Design (Thiết kế Dữ liệu):</a:t>
            </a:r>
            <a:endParaRPr lang="vi-VN" dirty="0"/>
          </a:p>
          <a:p>
            <a:pPr>
              <a:buFont typeface="Arial" panose="020B0604020202020204" pitchFamily="34" charset="0"/>
              <a:buChar char="•"/>
            </a:pPr>
            <a:r>
              <a:rPr lang="vi-VN" b="1" dirty="0"/>
              <a:t>Use Case (Trường hợp Sử dụng):</a:t>
            </a:r>
            <a:r>
              <a:rPr lang="vi-VN" dirty="0"/>
              <a:t> Data-driven applications (Các ứng dụng hướng dữ liệu). Tài liệu này tập trung vào cấu trúc và tổ chức của dữ liệu được sử dụng bởi ứng dụng, bao gồm các lược đồ cơ sở dữ liệu, các kiểu dữ liệu và các ràng buộc dữ liệu. Nó rất quan trọng cho các ứng dụng mà dữ liệu đóng vai trò trung tâm.</a:t>
            </a:r>
          </a:p>
          <a:p>
            <a:r>
              <a:rPr lang="vi-VN" b="1" dirty="0"/>
              <a:t>Component Design (Thiết kế Thành phần):</a:t>
            </a:r>
            <a:endParaRPr lang="vi-VN" dirty="0"/>
          </a:p>
          <a:p>
            <a:pPr>
              <a:buFont typeface="Arial" panose="020B0604020202020204" pitchFamily="34" charset="0"/>
              <a:buChar char="•"/>
            </a:pPr>
            <a:r>
              <a:rPr lang="vi-VN" b="1" dirty="0"/>
              <a:t>Use Case (Trường hợp Sử dụng):</a:t>
            </a:r>
            <a:r>
              <a:rPr lang="vi-VN" dirty="0"/>
              <a:t> Modular systems (Các hệ thống dạng module). Tài liệu này mô tả chi tiết về từng thành phần hoặc module của hệ thống, bao gồm chức năng, giao diện và cách chúng tương tác với các thành phần khác. Nó hữu ích cho các hệ thống được xây dựng theo kiến trúc module.</a:t>
            </a:r>
          </a:p>
          <a:p>
            <a:r>
              <a:rPr lang="vi-VN" b="1" dirty="0"/>
              <a:t>UI/UX Design (Thiết kế UI/UX):</a:t>
            </a:r>
            <a:endParaRPr lang="vi-VN" dirty="0"/>
          </a:p>
          <a:p>
            <a:pPr>
              <a:buFont typeface="Arial" panose="020B0604020202020204" pitchFamily="34" charset="0"/>
              <a:buChar char="•"/>
            </a:pPr>
            <a:r>
              <a:rPr lang="vi-VN" b="1" dirty="0"/>
              <a:t>Use Case (Trường hợp Sử dụng):</a:t>
            </a:r>
            <a:r>
              <a:rPr lang="vi-VN" dirty="0"/>
              <a:t> UI/UX-focused systems (Các hệ thống tập trung vào UI/UX). Tài liệu này tập trung vào giao diện người dùng và trải nghiệm người dùng, mô tả cách người dùng sẽ tương tác với hệ thống. Nó quan trọng cho các ứng dụng mà trải nghiệm người dùng là yếu tố then chốt.</a:t>
            </a:r>
          </a:p>
          <a:p>
            <a:r>
              <a:rPr lang="vi-VN" b="1" dirty="0"/>
              <a:t>API Design (Thiết kế API):</a:t>
            </a:r>
            <a:endParaRPr lang="vi-VN" dirty="0"/>
          </a:p>
          <a:p>
            <a:pPr>
              <a:buFont typeface="Arial" panose="020B0604020202020204" pitchFamily="34" charset="0"/>
              <a:buChar char="•"/>
            </a:pPr>
            <a:r>
              <a:rPr lang="vi-VN" b="1" dirty="0"/>
              <a:t>Use Case (Trường hợp Sử dụng):</a:t>
            </a:r>
            <a:r>
              <a:rPr lang="vi-VN" dirty="0"/>
              <a:t> Public or private API documentation (Tài liệu API công khai hoặc riêng tư). Tài liệu này mô tả cách các ứng dụng khác có thể tương tác với hệ thống thông qua các API được định nghĩa. Nó cần thiết khi hệ thống cung cấp API cho các ứng dụng bên ngoài hoặc cho các phần khác của hệ thống.</a:t>
            </a:r>
          </a:p>
          <a:p>
            <a:r>
              <a:rPr lang="vi-VN" b="1" dirty="0"/>
              <a:t>Security Design (Thiết kế Bảo mật):</a:t>
            </a:r>
            <a:endParaRPr lang="vi-VN" dirty="0"/>
          </a:p>
          <a:p>
            <a:pPr>
              <a:buFont typeface="Arial" panose="020B0604020202020204" pitchFamily="34" charset="0"/>
              <a:buChar char="•"/>
            </a:pPr>
            <a:r>
              <a:rPr lang="vi-VN" b="1" dirty="0"/>
              <a:t>Use Case (Trường hợp Sử dụng):</a:t>
            </a:r>
            <a:r>
              <a:rPr lang="vi-VN" dirty="0"/>
              <a:t> Systems requiring high security (Các hệ thống yêu cầu bảo mật cao). Tài liệu này mô tả các biện pháp bảo mật được áp dụng để bảo vệ hệ thống khỏi các mối đe dọa. Nó rất quan trọng cho các hệ thống xử lý dữ liệu nhạy cảm hoặc yêu cầu mức độ bảo mật cao.</a:t>
            </a:r>
          </a:p>
          <a:p>
            <a:r>
              <a:rPr lang="vi-VN" b="1" dirty="0"/>
              <a:t>Deployment and Maintenance (Triển khai và Bảo trì):</a:t>
            </a:r>
            <a:endParaRPr lang="vi-VN" dirty="0"/>
          </a:p>
          <a:p>
            <a:pPr>
              <a:buFont typeface="Arial" panose="020B0604020202020204" pitchFamily="34" charset="0"/>
              <a:buChar char="•"/>
            </a:pPr>
            <a:r>
              <a:rPr lang="vi-VN" b="1" dirty="0"/>
              <a:t>Use Case (Trường hợp Sử dụng):</a:t>
            </a:r>
            <a:r>
              <a:rPr lang="vi-VN" dirty="0"/>
              <a:t> Production and cloud environments (Môi trường sản xuất và cloud). Tài liệu này mô tả cách hệ thống được triển khai, giám sát và bảo trì trong môi trường sản xuất hoặc trên cloud. Nó quan trọng để đảm bảo hệ thống hoạt động ổn định và hiệu quả.</a:t>
            </a:r>
          </a:p>
          <a:p>
            <a:endParaRPr lang="en-US" dirty="0"/>
          </a:p>
        </p:txBody>
      </p:sp>
    </p:spTree>
    <p:extLst>
      <p:ext uri="{BB962C8B-B14F-4D97-AF65-F5344CB8AC3E}">
        <p14:creationId xmlns:p14="http://schemas.microsoft.com/office/powerpoint/2010/main" val="14681162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Must have changes record or document version (Phải có hồ sơ thay đổi hoặc phiên bản tài liệu):</a:t>
            </a:r>
            <a:r>
              <a:rPr lang="vi-VN" dirty="0"/>
              <a:t> Điều này nhấn mạnh tầm quan trọng của việc theo dõi các thay đổi được thực hiện đối với SDD. Mỗi khi có thay đổi, cần ghi lại thông tin về người thực hiện, ngày thay đổi và mô tả chi tiết về thay đổi đó. Việc này giúp:</a:t>
            </a:r>
          </a:p>
          <a:p>
            <a:pPr>
              <a:buFont typeface="Arial" panose="020B0604020202020204" pitchFamily="34" charset="0"/>
              <a:buChar char="•"/>
            </a:pPr>
            <a:r>
              <a:rPr lang="vi-VN" b="1" dirty="0"/>
              <a:t>Theo dõi lịch sử:</a:t>
            </a:r>
            <a:r>
              <a:rPr lang="vi-VN" dirty="0"/>
              <a:t> Biết được khi nào và ai đã thực hiện thay đổi gì đối với thiết kế.</a:t>
            </a:r>
          </a:p>
          <a:p>
            <a:pPr>
              <a:buFont typeface="Arial" panose="020B0604020202020204" pitchFamily="34" charset="0"/>
              <a:buChar char="•"/>
            </a:pPr>
            <a:r>
              <a:rPr lang="vi-VN" b="1" dirty="0"/>
              <a:t>Quản lý phiên bản:</a:t>
            </a:r>
            <a:r>
              <a:rPr lang="vi-VN" dirty="0"/>
              <a:t> Dễ dàng quay lại các phiên bản trước đó nếu cần.</a:t>
            </a:r>
          </a:p>
          <a:p>
            <a:pPr>
              <a:buFont typeface="Arial" panose="020B0604020202020204" pitchFamily="34" charset="0"/>
              <a:buChar char="•"/>
            </a:pPr>
            <a:r>
              <a:rPr lang="vi-VN" b="1" dirty="0"/>
              <a:t>Đảm bảo tính minh bạch:</a:t>
            </a:r>
            <a:r>
              <a:rPr lang="vi-VN" dirty="0"/>
              <a:t> Giúp mọi người trong nhóm hiểu rõ quá trình phát triển và các quyết định thiết kế.</a:t>
            </a:r>
          </a:p>
          <a:p>
            <a:r>
              <a:rPr lang="vi-VN" b="1" dirty="0"/>
              <a:t>May combine types of design document (Có thể kết hợp các loại tài liệu thiết kế):</a:t>
            </a:r>
            <a:r>
              <a:rPr lang="vi-VN" dirty="0"/>
              <a:t> Quy tắc này cho phép linh hoạt trong việc sử dụng các loại SDD. Tùy thuộc vào độ phức tạp và yêu cầu của dự án, có thể kết hợp các loại SDD khác nhau để tạo ra một tài liệu đầy đủ và phù hợp. Ví dụ: một dự án nhỏ có thể kết hợp HLD và LLD vào một tài liệu duy nhất.</a:t>
            </a:r>
          </a:p>
          <a:p>
            <a:r>
              <a:rPr lang="vi-VN" b="1" dirty="0"/>
              <a:t>Follow a uniform structure and template across various projects and teams (Tuân theo cấu trúc và mẫu thống nhất trên các dự án và nhóm khác nhau):</a:t>
            </a:r>
            <a:r>
              <a:rPr lang="vi-VN" dirty="0"/>
              <a:t> Quy tắc này khuyến nghị việc sử dụng một cấu trúc và mẫu thống nhất cho SDD trên tất cả các dự án và nhóm. Việc này giúp:</a:t>
            </a:r>
          </a:p>
          <a:p>
            <a:pPr>
              <a:buFont typeface="Arial" panose="020B0604020202020204" pitchFamily="34" charset="0"/>
              <a:buChar char="•"/>
            </a:pPr>
            <a:r>
              <a:rPr lang="vi-VN" b="1" dirty="0"/>
              <a:t>Đảm bảo tính nhất quán:</a:t>
            </a:r>
            <a:r>
              <a:rPr lang="vi-VN" dirty="0"/>
              <a:t> Các tài liệu thiết kế được trình bày theo cùng một cách, giúp dễ đọc và dễ hiểu.</a:t>
            </a:r>
          </a:p>
          <a:p>
            <a:pPr>
              <a:buFont typeface="Arial" panose="020B0604020202020204" pitchFamily="34" charset="0"/>
              <a:buChar char="•"/>
            </a:pPr>
            <a:r>
              <a:rPr lang="vi-VN" b="1" dirty="0"/>
              <a:t>Tăng hiệu quả làm việc:</a:t>
            </a:r>
            <a:r>
              <a:rPr lang="vi-VN" dirty="0"/>
              <a:t> Các thành viên trong nhóm quen thuộc với cấu trúc tài liệu, giúp họ làm việc hiệu quả hơn.</a:t>
            </a:r>
          </a:p>
          <a:p>
            <a:pPr>
              <a:buFont typeface="Arial" panose="020B0604020202020204" pitchFamily="34" charset="0"/>
              <a:buChar char="•"/>
            </a:pPr>
            <a:r>
              <a:rPr lang="vi-VN" b="1" dirty="0"/>
              <a:t>Dễ dàng trao đổi thông tin:</a:t>
            </a:r>
            <a:r>
              <a:rPr lang="vi-VN" dirty="0"/>
              <a:t> Việc sử dụng mẫu thống nhất giúp các nhóm khác nhau dễ dàng trao đổi và hiểu thông tin thiết kế của nhau.</a:t>
            </a:r>
          </a:p>
          <a:p>
            <a:endParaRPr lang="en-US" dirty="0"/>
          </a:p>
        </p:txBody>
      </p:sp>
    </p:spTree>
    <p:extLst>
      <p:ext uri="{BB962C8B-B14F-4D97-AF65-F5344CB8AC3E}">
        <p14:creationId xmlns:p14="http://schemas.microsoft.com/office/powerpoint/2010/main" val="838837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FE9FEC1-483B-425E-B0C1-B8B1F2119B26}"/>
              </a:ext>
            </a:extLst>
          </p:cNvPr>
          <p:cNvSpPr>
            <a:spLocks noGrp="1"/>
          </p:cNvSpPr>
          <p:nvPr>
            <p:ph type="body" sz="quarter" idx="10" hasCustomPrompt="1"/>
          </p:nvPr>
        </p:nvSpPr>
        <p:spPr>
          <a:xfrm>
            <a:off x="744135" y="2597642"/>
            <a:ext cx="12960668" cy="2633081"/>
          </a:xfrm>
          <a:prstGeom prst="rect">
            <a:avLst/>
          </a:prstGeom>
        </p:spPr>
        <p:txBody>
          <a:bodyPr/>
          <a:lstStyle>
            <a:lvl1pPr marL="0" indent="0" algn="ctr">
              <a:buNone/>
              <a:defRPr sz="5760" b="1">
                <a:solidFill>
                  <a:schemeClr val="bg1"/>
                </a:solidFill>
                <a:latin typeface="Arial" panose="020B0604020202020204" pitchFamily="34" charset="0"/>
                <a:cs typeface="Arial" panose="020B0604020202020204" pitchFamily="34" charset="0"/>
              </a:defRPr>
            </a:lvl1pPr>
          </a:lstStyle>
          <a:p>
            <a:pPr lvl="0"/>
            <a:r>
              <a:rPr lang="en-US" dirty="0"/>
              <a:t>Click to add title</a:t>
            </a:r>
          </a:p>
        </p:txBody>
      </p:sp>
      <p:sp>
        <p:nvSpPr>
          <p:cNvPr id="8" name="Text Placeholder 7">
            <a:extLst>
              <a:ext uri="{FF2B5EF4-FFF2-40B4-BE49-F238E27FC236}">
                <a16:creationId xmlns:a16="http://schemas.microsoft.com/office/drawing/2014/main" id="{33B98C62-0FD9-4624-8D35-021561432891}"/>
              </a:ext>
            </a:extLst>
          </p:cNvPr>
          <p:cNvSpPr>
            <a:spLocks noGrp="1"/>
          </p:cNvSpPr>
          <p:nvPr>
            <p:ph type="body" sz="quarter" idx="11" hasCustomPrompt="1"/>
          </p:nvPr>
        </p:nvSpPr>
        <p:spPr>
          <a:xfrm>
            <a:off x="744134" y="5320406"/>
            <a:ext cx="12960668" cy="495300"/>
          </a:xfrm>
          <a:prstGeom prst="rect">
            <a:avLst/>
          </a:prstGeom>
        </p:spPr>
        <p:txBody>
          <a:bodyPr/>
          <a:lstStyle>
            <a:lvl1pPr marL="0" indent="0" algn="ctr">
              <a:buNone/>
              <a:defRPr sz="2400">
                <a:solidFill>
                  <a:schemeClr val="bg1"/>
                </a:solidFill>
                <a:latin typeface="Arial" panose="020B0604020202020204" pitchFamily="34" charset="0"/>
                <a:cs typeface="Arial" panose="020B0604020202020204" pitchFamily="34" charset="0"/>
              </a:defRPr>
            </a:lvl1pPr>
          </a:lstStyle>
          <a:p>
            <a:pPr lvl="0"/>
            <a:r>
              <a:rPr lang="en-US" dirty="0"/>
              <a:t>Click to add sub-title</a:t>
            </a:r>
          </a:p>
        </p:txBody>
      </p:sp>
      <p:sp>
        <p:nvSpPr>
          <p:cNvPr id="9" name="Slide Number Placeholder 4">
            <a:extLst>
              <a:ext uri="{FF2B5EF4-FFF2-40B4-BE49-F238E27FC236}">
                <a16:creationId xmlns:a16="http://schemas.microsoft.com/office/drawing/2014/main" id="{5EB812CF-FC02-4C33-A206-BCF1436A39B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1599074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957C91-5AD0-4461-941C-245F034364DB}"/>
              </a:ext>
            </a:extLst>
          </p:cNvPr>
          <p:cNvSpPr>
            <a:spLocks noGrp="1"/>
          </p:cNvSpPr>
          <p:nvPr>
            <p:ph type="subTitle" idx="1"/>
          </p:nvPr>
        </p:nvSpPr>
        <p:spPr>
          <a:xfrm>
            <a:off x="746999" y="1906924"/>
            <a:ext cx="13155431" cy="5486400"/>
          </a:xfrm>
        </p:spPr>
        <p:txBody>
          <a:bodyPr/>
          <a:lstStyle>
            <a:lvl1pPr marL="0" indent="0" algn="l">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Click to edit Master subtitle style</a:t>
            </a:r>
          </a:p>
        </p:txBody>
      </p:sp>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973646" y="-13709"/>
            <a:ext cx="10656755" cy="947534"/>
          </a:xfrm>
          <a:prstGeom prst="rect">
            <a:avLst/>
          </a:prstGeom>
        </p:spPr>
        <p:txBody>
          <a:bodyPr vert="horz" lIns="109728" tIns="54864" rIns="109728" bIns="54864"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sz="3600" dirty="0"/>
          </a:p>
        </p:txBody>
      </p:sp>
      <p:sp>
        <p:nvSpPr>
          <p:cNvPr id="8" name="Slide Number Placeholder 4">
            <a:extLst>
              <a:ext uri="{FF2B5EF4-FFF2-40B4-BE49-F238E27FC236}">
                <a16:creationId xmlns:a16="http://schemas.microsoft.com/office/drawing/2014/main" id="{DBAE61E2-5E8A-4CA1-8C1E-1106F4E462E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DA09F63-7F7A-4F6B-8B0F-50384B0193BD}"/>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51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747000" y="1917577"/>
            <a:ext cx="13166084" cy="5494778"/>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a:extLst>
              <a:ext uri="{FF2B5EF4-FFF2-40B4-BE49-F238E27FC236}">
                <a16:creationId xmlns:a16="http://schemas.microsoft.com/office/drawing/2014/main" id="{9F4D43A2-E4DB-497D-9B5D-E32D9E64BECA}"/>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22B04073-83B8-47CB-9F12-D7CD4B660F09}"/>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05949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747001" y="1917578"/>
            <a:ext cx="13166084" cy="5497052"/>
          </a:xfrm>
        </p:spPr>
        <p:txBody>
          <a:bodyPr/>
          <a:lstStyle>
            <a:lvl1pPr marL="0" indent="0">
              <a:buNone/>
              <a:defRPr sz="2880">
                <a:solidFill>
                  <a:srgbClr val="0070C0"/>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dirty="0"/>
              <a:t>Click to edit Master text styles</a:t>
            </a:r>
          </a:p>
        </p:txBody>
      </p:sp>
      <p:sp>
        <p:nvSpPr>
          <p:cNvPr id="6" name="Slide Number Placeholder 4">
            <a:extLst>
              <a:ext uri="{FF2B5EF4-FFF2-40B4-BE49-F238E27FC236}">
                <a16:creationId xmlns:a16="http://schemas.microsoft.com/office/drawing/2014/main" id="{BA76B584-4F94-4DD1-9943-77A2F3AF15C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040D9B5B-D231-4612-89E6-B4776226BA7C}"/>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107828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747000" y="1928230"/>
            <a:ext cx="6568200" cy="5484126"/>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7327130" y="1928230"/>
            <a:ext cx="6568199" cy="5484126"/>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4">
            <a:extLst>
              <a:ext uri="{FF2B5EF4-FFF2-40B4-BE49-F238E27FC236}">
                <a16:creationId xmlns:a16="http://schemas.microsoft.com/office/drawing/2014/main" id="{E6FCE726-79EE-487F-9798-E531C3475E8B}"/>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3FB126F2-FBF5-4556-AAF5-1ECB22E17B0D}"/>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041146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747000" y="1923930"/>
            <a:ext cx="6568200" cy="988694"/>
          </a:xfrm>
        </p:spPr>
        <p:txBody>
          <a:bodyPr anchor="b"/>
          <a:lstStyle>
            <a:lvl1pPr marL="0" indent="0">
              <a:buNone/>
              <a:defRPr sz="2880" b="1">
                <a:latin typeface="+mj-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746999" y="3014858"/>
            <a:ext cx="6568199" cy="4412737"/>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7315201" y="1923930"/>
            <a:ext cx="6568199"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7315199" y="3014858"/>
            <a:ext cx="6568200" cy="4412737"/>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4">
            <a:extLst>
              <a:ext uri="{FF2B5EF4-FFF2-40B4-BE49-F238E27FC236}">
                <a16:creationId xmlns:a16="http://schemas.microsoft.com/office/drawing/2014/main" id="{EDD1D7D5-B40B-4404-87A7-8074677D8997}"/>
              </a:ext>
            </a:extLst>
          </p:cNvPr>
          <p:cNvSpPr>
            <a:spLocks noGrp="1"/>
          </p:cNvSpPr>
          <p:nvPr>
            <p:ph type="sldNum" sz="quarter" idx="11"/>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11" name="Title Placeholder 1">
            <a:extLst>
              <a:ext uri="{FF2B5EF4-FFF2-40B4-BE49-F238E27FC236}">
                <a16:creationId xmlns:a16="http://schemas.microsoft.com/office/drawing/2014/main" id="{401B562F-EFD8-422F-B98E-C48C0F73AC49}"/>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072891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37972AD-1D52-4C38-A4F1-BA8AAFF97032}"/>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7" name="Title Placeholder 1">
            <a:extLst>
              <a:ext uri="{FF2B5EF4-FFF2-40B4-BE49-F238E27FC236}">
                <a16:creationId xmlns:a16="http://schemas.microsoft.com/office/drawing/2014/main" id="{70797FE1-3F5B-4DD2-B196-B7AAF6628D62}"/>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950097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923181" y="1928230"/>
            <a:ext cx="7947173" cy="5475746"/>
          </a:xfrm>
        </p:spPr>
        <p:txBody>
          <a:bodyPr/>
          <a:lstStyle>
            <a:lvl1pPr>
              <a:defRPr sz="3840">
                <a:latin typeface="+mj-lt"/>
              </a:defRPr>
            </a:lvl1pPr>
            <a:lvl2pPr>
              <a:defRPr sz="3360">
                <a:latin typeface="+mj-lt"/>
              </a:defRPr>
            </a:lvl2pPr>
            <a:lvl3pPr>
              <a:defRPr sz="2880">
                <a:latin typeface="+mj-lt"/>
              </a:defRPr>
            </a:lvl3pPr>
            <a:lvl4pPr>
              <a:defRPr sz="2400">
                <a:latin typeface="+mj-lt"/>
              </a:defRPr>
            </a:lvl4pPr>
            <a:lvl5pPr>
              <a:defRPr sz="2400">
                <a:latin typeface="+mj-lt"/>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747000" y="1928231"/>
            <a:ext cx="4809852" cy="547574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AEEB6E2B-6FA2-4169-B497-FAE2CD95A8B1}"/>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479BEDD5-9D69-4F36-BBA7-2ED62B0AD6F3}"/>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072529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859262" y="1928230"/>
            <a:ext cx="8011092" cy="5465093"/>
          </a:xfrm>
        </p:spPr>
        <p:txBody>
          <a:bodyPr>
            <a:normAutofit/>
          </a:bodyPr>
          <a:lstStyle>
            <a:lvl1pPr marL="0" indent="0">
              <a:buNone/>
              <a:defRPr sz="336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dirty="0"/>
              <a:t>Click icon to add picture</a:t>
            </a:r>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747000" y="1928231"/>
            <a:ext cx="4779926" cy="5465093"/>
          </a:xfrm>
        </p:spPr>
        <p:txBody>
          <a:bodyPr>
            <a:normAutofit/>
          </a:bodyPr>
          <a:lstStyle>
            <a:lvl1pPr marL="0" indent="0">
              <a:buNone/>
              <a:defRPr sz="28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722E68E5-0D29-4AF4-99F7-1F5BCDCEB05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BED9312-A7F8-456D-9D54-D034D097842E}"/>
              </a:ext>
            </a:extLst>
          </p:cNvPr>
          <p:cNvSpPr>
            <a:spLocks noGrp="1"/>
          </p:cNvSpPr>
          <p:nvPr>
            <p:ph type="title"/>
          </p:nvPr>
        </p:nvSpPr>
        <p:spPr>
          <a:xfrm>
            <a:off x="629085" y="13105"/>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360645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746999" y="1917578"/>
            <a:ext cx="13155431" cy="549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4">
            <a:extLst>
              <a:ext uri="{FF2B5EF4-FFF2-40B4-BE49-F238E27FC236}">
                <a16:creationId xmlns:a16="http://schemas.microsoft.com/office/drawing/2014/main" id="{93D0DE23-B8AD-4136-812D-27D46B8ADC8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5A661BC8-CBE6-40B1-BF65-3DDC3730BEA8}"/>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2226324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746999" y="1906924"/>
            <a:ext cx="13155431" cy="55054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Placeholder 1">
            <a:extLst>
              <a:ext uri="{FF2B5EF4-FFF2-40B4-BE49-F238E27FC236}">
                <a16:creationId xmlns:a16="http://schemas.microsoft.com/office/drawing/2014/main" id="{AF7114A3-57EF-412A-8AEB-90C1FF86B1F4}"/>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Slide Number Placeholder 4">
            <a:extLst>
              <a:ext uri="{FF2B5EF4-FFF2-40B4-BE49-F238E27FC236}">
                <a16:creationId xmlns:a16="http://schemas.microsoft.com/office/drawing/2014/main" id="{291FBA3B-7B9C-4B9A-93C5-F00783BA10B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3378322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81110BB5-4CAA-4D6D-B0E5-CD6E3D5444C4}"/>
              </a:ext>
            </a:extLst>
          </p:cNvPr>
          <p:cNvSpPr>
            <a:spLocks noGrp="1"/>
          </p:cNvSpPr>
          <p:nvPr>
            <p:ph type="body" sz="quarter" idx="10" hasCustomPrompt="1"/>
          </p:nvPr>
        </p:nvSpPr>
        <p:spPr>
          <a:xfrm>
            <a:off x="0" y="3123888"/>
            <a:ext cx="14630400" cy="2633081"/>
          </a:xfrm>
          <a:prstGeom prst="rect">
            <a:avLst/>
          </a:prstGeom>
        </p:spPr>
        <p:txBody>
          <a:bodyPr/>
          <a:lstStyle>
            <a:lvl1pPr marL="0" indent="0" algn="ctr">
              <a:buNone/>
              <a:defRPr sz="7200" b="1">
                <a:solidFill>
                  <a:schemeClr val="bg1"/>
                </a:solidFill>
                <a:latin typeface="Arial" panose="020B0604020202020204" pitchFamily="34" charset="0"/>
                <a:cs typeface="Arial" panose="020B0604020202020204" pitchFamily="34" charset="0"/>
              </a:defRPr>
            </a:lvl1pPr>
          </a:lstStyle>
          <a:p>
            <a:pPr lvl="0"/>
            <a:r>
              <a:rPr lang="en-US" dirty="0"/>
              <a:t>THANK YOU</a:t>
            </a:r>
          </a:p>
        </p:txBody>
      </p:sp>
      <p:sp>
        <p:nvSpPr>
          <p:cNvPr id="3" name="Slide Number Placeholder 4">
            <a:extLst>
              <a:ext uri="{FF2B5EF4-FFF2-40B4-BE49-F238E27FC236}">
                <a16:creationId xmlns:a16="http://schemas.microsoft.com/office/drawing/2014/main" id="{3B7D03F5-A2EB-443F-8808-CB92782BB9DC}"/>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974592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4.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166A51-751E-4C91-AF12-35FEA5D26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6909" y="832674"/>
            <a:ext cx="3516583" cy="1579366"/>
          </a:xfrm>
          <a:prstGeom prst="rect">
            <a:avLst/>
          </a:prstGeom>
        </p:spPr>
      </p:pic>
      <p:sp>
        <p:nvSpPr>
          <p:cNvPr id="5" name="Slide Number Placeholder 4">
            <a:extLst>
              <a:ext uri="{FF2B5EF4-FFF2-40B4-BE49-F238E27FC236}">
                <a16:creationId xmlns:a16="http://schemas.microsoft.com/office/drawing/2014/main" id="{95B40CFA-9026-435C-9897-175C51B6BE55}"/>
              </a:ext>
            </a:extLst>
          </p:cNvPr>
          <p:cNvSpPr>
            <a:spLocks noGrp="1"/>
          </p:cNvSpPr>
          <p:nvPr>
            <p:ph type="sldNum" sz="quarter" idx="4"/>
          </p:nvPr>
        </p:nvSpPr>
        <p:spPr>
          <a:xfrm>
            <a:off x="11338560" y="7773417"/>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690241652"/>
      </p:ext>
    </p:extLst>
  </p:cSld>
  <p:clrMap bg1="lt1" tx1="dk1" bg2="lt2" tx2="dk2" accent1="accent1" accent2="accent2" accent3="accent3" accent4="accent4" accent5="accent5" accent6="accent6" hlink="hlink" folHlink="folHlink"/>
  <p:sldLayoutIdLst>
    <p:sldLayoutId id="2147483661"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17655" y="28597"/>
            <a:ext cx="10975981" cy="560070"/>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747000" y="1576675"/>
            <a:ext cx="13136400" cy="58356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4">
            <a:extLst>
              <a:ext uri="{FF2B5EF4-FFF2-40B4-BE49-F238E27FC236}">
                <a16:creationId xmlns:a16="http://schemas.microsoft.com/office/drawing/2014/main" id="{1278EBD5-1C90-47B8-ADFB-BF109E3CF4A6}"/>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pic>
        <p:nvPicPr>
          <p:cNvPr id="7" name="Picture 6">
            <a:extLst>
              <a:ext uri="{FF2B5EF4-FFF2-40B4-BE49-F238E27FC236}">
                <a16:creationId xmlns:a16="http://schemas.microsoft.com/office/drawing/2014/main" id="{53EC741C-2937-40DA-B5CD-6BDD68A49B8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138661" y="153680"/>
            <a:ext cx="1744740" cy="309905"/>
          </a:xfrm>
          <a:prstGeom prst="rect">
            <a:avLst/>
          </a:prstGeom>
        </p:spPr>
      </p:pic>
    </p:spTree>
    <p:extLst>
      <p:ext uri="{BB962C8B-B14F-4D97-AF65-F5344CB8AC3E}">
        <p14:creationId xmlns:p14="http://schemas.microsoft.com/office/powerpoint/2010/main" val="20165981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hdr="0" ftr="0"/>
  <p:txStyles>
    <p:titleStyle>
      <a:lvl1pPr algn="l" defTabSz="1097280" rtl="0" eaLnBrk="1" latinLnBrk="0" hangingPunct="1">
        <a:lnSpc>
          <a:spcPct val="90000"/>
        </a:lnSpc>
        <a:spcBef>
          <a:spcPct val="0"/>
        </a:spcBef>
        <a:buNone/>
        <a:defRPr sz="2760" b="1" kern="1200" baseline="0">
          <a:solidFill>
            <a:schemeClr val="bg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9FC78E-716C-42DD-9A91-4572741330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5079" y="2575224"/>
            <a:ext cx="5100239" cy="486910"/>
          </a:xfrm>
          <a:prstGeom prst="rect">
            <a:avLst/>
          </a:prstGeom>
        </p:spPr>
      </p:pic>
      <p:pic>
        <p:nvPicPr>
          <p:cNvPr id="3" name="Picture 2" descr="A picture containing icon&#10;&#10;Description automatically generated">
            <a:extLst>
              <a:ext uri="{FF2B5EF4-FFF2-40B4-BE49-F238E27FC236}">
                <a16:creationId xmlns:a16="http://schemas.microsoft.com/office/drawing/2014/main" id="{7D5A94FF-61CC-4076-B3C5-90D92D6517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4395" y="662825"/>
            <a:ext cx="3661606" cy="1644498"/>
          </a:xfrm>
          <a:prstGeom prst="rect">
            <a:avLst/>
          </a:prstGeom>
        </p:spPr>
      </p:pic>
      <p:sp>
        <p:nvSpPr>
          <p:cNvPr id="6" name="Slide Number Placeholder 4">
            <a:extLst>
              <a:ext uri="{FF2B5EF4-FFF2-40B4-BE49-F238E27FC236}">
                <a16:creationId xmlns:a16="http://schemas.microsoft.com/office/drawing/2014/main" id="{536F9F23-BD13-46C8-A1F1-15DBEB1CBFF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556741362"/>
      </p:ext>
    </p:extLst>
  </p:cSld>
  <p:clrMap bg1="lt1" tx1="dk1" bg2="lt2" tx2="dk2" accent1="accent1" accent2="accent2" accent3="accent3" accent4="accent4" accent5="accent5" accent6="accent6" hlink="hlink" folHlink="folHlink"/>
  <p:sldLayoutIdLst>
    <p:sldLayoutId id="2147483684"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EACC5C-4747-42C2-9BF5-D1B4A984743F}"/>
              </a:ext>
            </a:extLst>
          </p:cNvPr>
          <p:cNvSpPr>
            <a:spLocks noGrp="1"/>
          </p:cNvSpPr>
          <p:nvPr>
            <p:ph type="body" sz="quarter" idx="10"/>
          </p:nvPr>
        </p:nvSpPr>
        <p:spPr/>
        <p:txBody>
          <a:bodyPr/>
          <a:lstStyle/>
          <a:p>
            <a:r>
              <a:rPr lang="en-US" dirty="0"/>
              <a:t>Software Design Document</a:t>
            </a:r>
          </a:p>
        </p:txBody>
      </p:sp>
      <p:sp>
        <p:nvSpPr>
          <p:cNvPr id="3" name="Text Placeholder 2">
            <a:extLst>
              <a:ext uri="{FF2B5EF4-FFF2-40B4-BE49-F238E27FC236}">
                <a16:creationId xmlns:a16="http://schemas.microsoft.com/office/drawing/2014/main" id="{230F2B9A-60B9-45E8-BBFF-DC81B2A1274F}"/>
              </a:ext>
            </a:extLst>
          </p:cNvPr>
          <p:cNvSpPr>
            <a:spLocks noGrp="1"/>
          </p:cNvSpPr>
          <p:nvPr>
            <p:ph type="body"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6948CFE-703F-41E2-8287-36611713304E}"/>
              </a:ext>
            </a:extLst>
          </p:cNvPr>
          <p:cNvSpPr>
            <a:spLocks noGrp="1"/>
          </p:cNvSpPr>
          <p:nvPr>
            <p:ph type="sldNum" sz="quarter" idx="4"/>
          </p:nvPr>
        </p:nvSpPr>
        <p:spPr/>
        <p:txBody>
          <a:bodyPr/>
          <a:lstStyle/>
          <a:p>
            <a:fld id="{31D26D55-0A22-487A-A687-61FB58A6F16A}" type="slidenum">
              <a:rPr lang="en-US" smtClean="0"/>
              <a:pPr/>
              <a:t>1</a:t>
            </a:fld>
            <a:endParaRPr lang="en-US" dirty="0"/>
          </a:p>
        </p:txBody>
      </p:sp>
    </p:spTree>
    <p:extLst>
      <p:ext uri="{BB962C8B-B14F-4D97-AF65-F5344CB8AC3E}">
        <p14:creationId xmlns:p14="http://schemas.microsoft.com/office/powerpoint/2010/main" val="1253848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BE8B27-5752-4972-AC92-80E2DC67EE37}"/>
              </a:ext>
            </a:extLst>
          </p:cNvPr>
          <p:cNvSpPr>
            <a:spLocks noGrp="1"/>
          </p:cNvSpPr>
          <p:nvPr>
            <p:ph sz="half" idx="1"/>
          </p:nvPr>
        </p:nvSpPr>
        <p:spPr/>
        <p:txBody>
          <a:bodyPr/>
          <a:lstStyle/>
          <a:p>
            <a:pPr marL="0" indent="0">
              <a:buNone/>
            </a:pPr>
            <a:r>
              <a:rPr lang="en-US" b="1" dirty="0"/>
              <a:t>Definition</a:t>
            </a:r>
          </a:p>
          <a:p>
            <a:pPr marL="0" indent="0">
              <a:buNone/>
            </a:pPr>
            <a:r>
              <a:rPr lang="en-US" dirty="0"/>
              <a:t>SDD is a comprehensive document that outlines the architecture, design, and functionality of a software system.</a:t>
            </a:r>
          </a:p>
          <a:p>
            <a:endParaRPr lang="en-US" dirty="0"/>
          </a:p>
        </p:txBody>
      </p:sp>
      <p:sp>
        <p:nvSpPr>
          <p:cNvPr id="3" name="Content Placeholder 2">
            <a:extLst>
              <a:ext uri="{FF2B5EF4-FFF2-40B4-BE49-F238E27FC236}">
                <a16:creationId xmlns:a16="http://schemas.microsoft.com/office/drawing/2014/main" id="{5ED0F814-0CE2-47AD-93EF-0531F60BE2AA}"/>
              </a:ext>
            </a:extLst>
          </p:cNvPr>
          <p:cNvSpPr>
            <a:spLocks noGrp="1"/>
          </p:cNvSpPr>
          <p:nvPr>
            <p:ph sz="half" idx="2"/>
          </p:nvPr>
        </p:nvSpPr>
        <p:spPr/>
        <p:txBody>
          <a:bodyPr/>
          <a:lstStyle/>
          <a:p>
            <a:pPr marL="0" indent="0">
              <a:buNone/>
            </a:pPr>
            <a:r>
              <a:rPr lang="en-US" b="1" dirty="0"/>
              <a:t>Purpose</a:t>
            </a:r>
          </a:p>
          <a:p>
            <a:pPr marL="0" indent="0">
              <a:buNone/>
            </a:pPr>
            <a:r>
              <a:rPr lang="en-US" dirty="0"/>
              <a:t>It serves as a guide for developers, testers, and stakeholders, providing a clear understanding of the software's structure and how it will work.</a:t>
            </a:r>
          </a:p>
          <a:p>
            <a:endParaRPr lang="en-US" dirty="0"/>
          </a:p>
        </p:txBody>
      </p:sp>
      <p:sp>
        <p:nvSpPr>
          <p:cNvPr id="4" name="Slide Number Placeholder 3">
            <a:extLst>
              <a:ext uri="{FF2B5EF4-FFF2-40B4-BE49-F238E27FC236}">
                <a16:creationId xmlns:a16="http://schemas.microsoft.com/office/drawing/2014/main" id="{00BF13AD-20C6-4AFA-A92B-38BFCAFB4C4C}"/>
              </a:ext>
            </a:extLst>
          </p:cNvPr>
          <p:cNvSpPr>
            <a:spLocks noGrp="1"/>
          </p:cNvSpPr>
          <p:nvPr>
            <p:ph type="sldNum" sz="quarter" idx="4"/>
          </p:nvPr>
        </p:nvSpPr>
        <p:spPr/>
        <p:txBody>
          <a:bodyPr/>
          <a:lstStyle/>
          <a:p>
            <a:fld id="{31D26D55-0A22-487A-A687-61FB58A6F16A}" type="slidenum">
              <a:rPr lang="en-US" smtClean="0"/>
              <a:pPr/>
              <a:t>2</a:t>
            </a:fld>
            <a:endParaRPr lang="en-US" dirty="0"/>
          </a:p>
        </p:txBody>
      </p:sp>
      <p:sp>
        <p:nvSpPr>
          <p:cNvPr id="5" name="Title 4">
            <a:extLst>
              <a:ext uri="{FF2B5EF4-FFF2-40B4-BE49-F238E27FC236}">
                <a16:creationId xmlns:a16="http://schemas.microsoft.com/office/drawing/2014/main" id="{94F37DC4-9A96-45E1-B73C-F84102E63112}"/>
              </a:ext>
            </a:extLst>
          </p:cNvPr>
          <p:cNvSpPr>
            <a:spLocks noGrp="1"/>
          </p:cNvSpPr>
          <p:nvPr>
            <p:ph type="title"/>
          </p:nvPr>
        </p:nvSpPr>
        <p:spPr/>
        <p:txBody>
          <a:bodyPr/>
          <a:lstStyle/>
          <a:p>
            <a:r>
              <a:rPr lang="en-US" dirty="0"/>
              <a:t>What is SDD?</a:t>
            </a:r>
          </a:p>
        </p:txBody>
      </p:sp>
    </p:spTree>
    <p:extLst>
      <p:ext uri="{BB962C8B-B14F-4D97-AF65-F5344CB8AC3E}">
        <p14:creationId xmlns:p14="http://schemas.microsoft.com/office/powerpoint/2010/main" val="3857908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55603E-4562-44E9-B5C3-0B5B1209B089}"/>
              </a:ext>
            </a:extLst>
          </p:cNvPr>
          <p:cNvSpPr>
            <a:spLocks noGrp="1"/>
          </p:cNvSpPr>
          <p:nvPr>
            <p:ph type="sldNum" sz="quarter" idx="4"/>
          </p:nvPr>
        </p:nvSpPr>
        <p:spPr/>
        <p:txBody>
          <a:bodyPr/>
          <a:lstStyle/>
          <a:p>
            <a:fld id="{31D26D55-0A22-487A-A687-61FB58A6F16A}" type="slidenum">
              <a:rPr lang="en-US" smtClean="0"/>
              <a:pPr/>
              <a:t>3</a:t>
            </a:fld>
            <a:endParaRPr lang="en-US" dirty="0"/>
          </a:p>
        </p:txBody>
      </p:sp>
      <p:sp>
        <p:nvSpPr>
          <p:cNvPr id="4" name="Title 3">
            <a:extLst>
              <a:ext uri="{FF2B5EF4-FFF2-40B4-BE49-F238E27FC236}">
                <a16:creationId xmlns:a16="http://schemas.microsoft.com/office/drawing/2014/main" id="{DCCFF4E3-36BB-42A3-8929-97F93843F7D8}"/>
              </a:ext>
            </a:extLst>
          </p:cNvPr>
          <p:cNvSpPr>
            <a:spLocks noGrp="1"/>
          </p:cNvSpPr>
          <p:nvPr>
            <p:ph type="title"/>
          </p:nvPr>
        </p:nvSpPr>
        <p:spPr/>
        <p:txBody>
          <a:bodyPr/>
          <a:lstStyle/>
          <a:p>
            <a:r>
              <a:rPr lang="en-US" dirty="0"/>
              <a:t>Evolution of SDD</a:t>
            </a:r>
          </a:p>
        </p:txBody>
      </p:sp>
      <p:graphicFrame>
        <p:nvGraphicFramePr>
          <p:cNvPr id="18" name="Table 18">
            <a:extLst>
              <a:ext uri="{FF2B5EF4-FFF2-40B4-BE49-F238E27FC236}">
                <a16:creationId xmlns:a16="http://schemas.microsoft.com/office/drawing/2014/main" id="{973D8294-09F4-4E11-8272-9025B5243EAF}"/>
              </a:ext>
            </a:extLst>
          </p:cNvPr>
          <p:cNvGraphicFramePr>
            <a:graphicFrameLocks noGrp="1"/>
          </p:cNvGraphicFramePr>
          <p:nvPr>
            <p:extLst>
              <p:ext uri="{D42A27DB-BD31-4B8C-83A1-F6EECF244321}">
                <p14:modId xmlns:p14="http://schemas.microsoft.com/office/powerpoint/2010/main" val="2720854230"/>
              </p:ext>
            </p:extLst>
          </p:nvPr>
        </p:nvGraphicFramePr>
        <p:xfrm>
          <a:off x="629085" y="1591056"/>
          <a:ext cx="12982412" cy="5794682"/>
        </p:xfrm>
        <a:graphic>
          <a:graphicData uri="http://schemas.openxmlformats.org/drawingml/2006/table">
            <a:tbl>
              <a:tblPr firstRow="1" bandRow="1">
                <a:tableStyleId>{5C22544A-7EE6-4342-B048-85BDC9FD1C3A}</a:tableStyleId>
              </a:tblPr>
              <a:tblGrid>
                <a:gridCol w="3245603">
                  <a:extLst>
                    <a:ext uri="{9D8B030D-6E8A-4147-A177-3AD203B41FA5}">
                      <a16:colId xmlns:a16="http://schemas.microsoft.com/office/drawing/2014/main" val="3212328150"/>
                    </a:ext>
                  </a:extLst>
                </a:gridCol>
                <a:gridCol w="3245603">
                  <a:extLst>
                    <a:ext uri="{9D8B030D-6E8A-4147-A177-3AD203B41FA5}">
                      <a16:colId xmlns:a16="http://schemas.microsoft.com/office/drawing/2014/main" val="466391568"/>
                    </a:ext>
                  </a:extLst>
                </a:gridCol>
                <a:gridCol w="3245603">
                  <a:extLst>
                    <a:ext uri="{9D8B030D-6E8A-4147-A177-3AD203B41FA5}">
                      <a16:colId xmlns:a16="http://schemas.microsoft.com/office/drawing/2014/main" val="605247348"/>
                    </a:ext>
                  </a:extLst>
                </a:gridCol>
                <a:gridCol w="3245603">
                  <a:extLst>
                    <a:ext uri="{9D8B030D-6E8A-4147-A177-3AD203B41FA5}">
                      <a16:colId xmlns:a16="http://schemas.microsoft.com/office/drawing/2014/main" val="1629738460"/>
                    </a:ext>
                  </a:extLst>
                </a:gridCol>
              </a:tblGrid>
              <a:tr h="943138">
                <a:tc>
                  <a:txBody>
                    <a:bodyPr/>
                    <a:lstStyle/>
                    <a:p>
                      <a:r>
                        <a:rPr lang="en-US" b="1" dirty="0"/>
                        <a:t>Era</a:t>
                      </a:r>
                      <a:endParaRPr lang="en-US" dirty="0"/>
                    </a:p>
                  </a:txBody>
                  <a:tcPr anchor="ctr"/>
                </a:tc>
                <a:tc>
                  <a:txBody>
                    <a:bodyPr/>
                    <a:lstStyle/>
                    <a:p>
                      <a:r>
                        <a:rPr lang="en-US" b="1"/>
                        <a:t>Focus</a:t>
                      </a:r>
                      <a:endParaRPr lang="en-US"/>
                    </a:p>
                  </a:txBody>
                  <a:tcPr anchor="ctr"/>
                </a:tc>
                <a:tc>
                  <a:txBody>
                    <a:bodyPr/>
                    <a:lstStyle/>
                    <a:p>
                      <a:r>
                        <a:rPr lang="en-US" b="1"/>
                        <a:t>Design Techniques</a:t>
                      </a:r>
                      <a:endParaRPr lang="en-US"/>
                    </a:p>
                  </a:txBody>
                  <a:tcPr anchor="ctr"/>
                </a:tc>
                <a:tc>
                  <a:txBody>
                    <a:bodyPr/>
                    <a:lstStyle/>
                    <a:p>
                      <a:r>
                        <a:rPr lang="en-US" b="1" dirty="0"/>
                        <a:t>Documentation</a:t>
                      </a:r>
                      <a:endParaRPr lang="en-US" dirty="0"/>
                    </a:p>
                  </a:txBody>
                  <a:tcPr anchor="ctr"/>
                </a:tc>
                <a:extLst>
                  <a:ext uri="{0D108BD9-81ED-4DB2-BD59-A6C34878D82A}">
                    <a16:rowId xmlns:a16="http://schemas.microsoft.com/office/drawing/2014/main" val="1456783115"/>
                  </a:ext>
                </a:extLst>
              </a:tr>
              <a:tr h="943138">
                <a:tc>
                  <a:txBody>
                    <a:bodyPr/>
                    <a:lstStyle/>
                    <a:p>
                      <a:r>
                        <a:rPr lang="en-US" b="1" dirty="0"/>
                        <a:t>1940s–1960s</a:t>
                      </a:r>
                      <a:endParaRPr lang="en-US" dirty="0"/>
                    </a:p>
                  </a:txBody>
                  <a:tcPr anchor="ctr"/>
                </a:tc>
                <a:tc>
                  <a:txBody>
                    <a:bodyPr/>
                    <a:lstStyle/>
                    <a:p>
                      <a:r>
                        <a:rPr lang="en-US"/>
                        <a:t>Hardware-oriented</a:t>
                      </a:r>
                    </a:p>
                  </a:txBody>
                  <a:tcPr anchor="ctr"/>
                </a:tc>
                <a:tc>
                  <a:txBody>
                    <a:bodyPr/>
                    <a:lstStyle/>
                    <a:p>
                      <a:r>
                        <a:rPr lang="en-US" dirty="0"/>
                        <a:t>Minimal, ad-hoc coding</a:t>
                      </a:r>
                    </a:p>
                  </a:txBody>
                  <a:tcPr anchor="ctr"/>
                </a:tc>
                <a:tc>
                  <a:txBody>
                    <a:bodyPr/>
                    <a:lstStyle/>
                    <a:p>
                      <a:r>
                        <a:rPr lang="en-US" dirty="0"/>
                        <a:t>None or basic flowcharts</a:t>
                      </a:r>
                    </a:p>
                  </a:txBody>
                  <a:tcPr anchor="ctr"/>
                </a:tc>
                <a:extLst>
                  <a:ext uri="{0D108BD9-81ED-4DB2-BD59-A6C34878D82A}">
                    <a16:rowId xmlns:a16="http://schemas.microsoft.com/office/drawing/2014/main" val="377123120"/>
                  </a:ext>
                </a:extLst>
              </a:tr>
              <a:tr h="943138">
                <a:tc>
                  <a:txBody>
                    <a:bodyPr/>
                    <a:lstStyle/>
                    <a:p>
                      <a:r>
                        <a:rPr lang="en-US" b="1" dirty="0"/>
                        <a:t>1970s–1980s</a:t>
                      </a:r>
                      <a:endParaRPr lang="en-US" dirty="0"/>
                    </a:p>
                  </a:txBody>
                  <a:tcPr anchor="ctr"/>
                </a:tc>
                <a:tc>
                  <a:txBody>
                    <a:bodyPr/>
                    <a:lstStyle/>
                    <a:p>
                      <a:r>
                        <a:rPr lang="en-US" dirty="0"/>
                        <a:t>Structured Programming</a:t>
                      </a:r>
                    </a:p>
                  </a:txBody>
                  <a:tcPr anchor="ctr"/>
                </a:tc>
                <a:tc>
                  <a:txBody>
                    <a:bodyPr/>
                    <a:lstStyle/>
                    <a:p>
                      <a:r>
                        <a:rPr lang="en-US"/>
                        <a:t>Modular and Waterfall Design</a:t>
                      </a:r>
                    </a:p>
                  </a:txBody>
                  <a:tcPr anchor="ctr"/>
                </a:tc>
                <a:tc>
                  <a:txBody>
                    <a:bodyPr/>
                    <a:lstStyle/>
                    <a:p>
                      <a:r>
                        <a:rPr lang="en-US"/>
                        <a:t>Flowcharts, Data Flow Diagrams</a:t>
                      </a:r>
                    </a:p>
                  </a:txBody>
                  <a:tcPr anchor="ctr"/>
                </a:tc>
                <a:extLst>
                  <a:ext uri="{0D108BD9-81ED-4DB2-BD59-A6C34878D82A}">
                    <a16:rowId xmlns:a16="http://schemas.microsoft.com/office/drawing/2014/main" val="684817355"/>
                  </a:ext>
                </a:extLst>
              </a:tr>
              <a:tr h="943138">
                <a:tc>
                  <a:txBody>
                    <a:bodyPr/>
                    <a:lstStyle/>
                    <a:p>
                      <a:r>
                        <a:rPr lang="en-US" b="1"/>
                        <a:t>1990s</a:t>
                      </a:r>
                      <a:endParaRPr lang="en-US"/>
                    </a:p>
                  </a:txBody>
                  <a:tcPr anchor="ctr"/>
                </a:tc>
                <a:tc>
                  <a:txBody>
                    <a:bodyPr/>
                    <a:lstStyle/>
                    <a:p>
                      <a:r>
                        <a:rPr lang="en-US"/>
                        <a:t>Object-Oriented Programming</a:t>
                      </a:r>
                    </a:p>
                  </a:txBody>
                  <a:tcPr anchor="ctr"/>
                </a:tc>
                <a:tc>
                  <a:txBody>
                    <a:bodyPr/>
                    <a:lstStyle/>
                    <a:p>
                      <a:r>
                        <a:rPr lang="en-US" dirty="0"/>
                        <a:t>UML, Design Patterns</a:t>
                      </a:r>
                    </a:p>
                  </a:txBody>
                  <a:tcPr anchor="ctr"/>
                </a:tc>
                <a:tc>
                  <a:txBody>
                    <a:bodyPr/>
                    <a:lstStyle/>
                    <a:p>
                      <a:r>
                        <a:rPr lang="en-US"/>
                        <a:t>Class Diagrams, Sequence Diagrams</a:t>
                      </a:r>
                    </a:p>
                  </a:txBody>
                  <a:tcPr anchor="ctr"/>
                </a:tc>
                <a:extLst>
                  <a:ext uri="{0D108BD9-81ED-4DB2-BD59-A6C34878D82A}">
                    <a16:rowId xmlns:a16="http://schemas.microsoft.com/office/drawing/2014/main" val="2961713232"/>
                  </a:ext>
                </a:extLst>
              </a:tr>
              <a:tr h="943138">
                <a:tc>
                  <a:txBody>
                    <a:bodyPr/>
                    <a:lstStyle/>
                    <a:p>
                      <a:r>
                        <a:rPr lang="en-US" b="1"/>
                        <a:t>2000s</a:t>
                      </a:r>
                      <a:endParaRPr lang="en-US"/>
                    </a:p>
                  </a:txBody>
                  <a:tcPr anchor="ctr"/>
                </a:tc>
                <a:tc>
                  <a:txBody>
                    <a:bodyPr/>
                    <a:lstStyle/>
                    <a:p>
                      <a:r>
                        <a:rPr lang="en-US"/>
                        <a:t>Agile Development</a:t>
                      </a:r>
                    </a:p>
                  </a:txBody>
                  <a:tcPr anchor="ctr"/>
                </a:tc>
                <a:tc>
                  <a:txBody>
                    <a:bodyPr/>
                    <a:lstStyle/>
                    <a:p>
                      <a:r>
                        <a:rPr lang="en-US"/>
                        <a:t>Lightweight, iterative design</a:t>
                      </a:r>
                    </a:p>
                  </a:txBody>
                  <a:tcPr anchor="ctr"/>
                </a:tc>
                <a:tc>
                  <a:txBody>
                    <a:bodyPr/>
                    <a:lstStyle/>
                    <a:p>
                      <a:r>
                        <a:rPr lang="en-US"/>
                        <a:t>User Stories, Diagrams, Wikis</a:t>
                      </a:r>
                    </a:p>
                  </a:txBody>
                  <a:tcPr anchor="ctr"/>
                </a:tc>
                <a:extLst>
                  <a:ext uri="{0D108BD9-81ED-4DB2-BD59-A6C34878D82A}">
                    <a16:rowId xmlns:a16="http://schemas.microsoft.com/office/drawing/2014/main" val="3484684920"/>
                  </a:ext>
                </a:extLst>
              </a:tr>
              <a:tr h="943138">
                <a:tc>
                  <a:txBody>
                    <a:bodyPr/>
                    <a:lstStyle/>
                    <a:p>
                      <a:r>
                        <a:rPr lang="en-US" b="1"/>
                        <a:t>2010s–Present</a:t>
                      </a:r>
                      <a:endParaRPr lang="en-US"/>
                    </a:p>
                  </a:txBody>
                  <a:tcPr anchor="ctr"/>
                </a:tc>
                <a:tc>
                  <a:txBody>
                    <a:bodyPr/>
                    <a:lstStyle/>
                    <a:p>
                      <a:r>
                        <a:rPr lang="en-US"/>
                        <a:t>Cloud &amp; Microservices</a:t>
                      </a:r>
                    </a:p>
                  </a:txBody>
                  <a:tcPr anchor="ctr"/>
                </a:tc>
                <a:tc>
                  <a:txBody>
                    <a:bodyPr/>
                    <a:lstStyle/>
                    <a:p>
                      <a:r>
                        <a:rPr lang="fr-FR"/>
                        <a:t>IaC (Infrastructure as Code), API Contracts, Continuous Design</a:t>
                      </a:r>
                    </a:p>
                  </a:txBody>
                  <a:tcPr anchor="ctr"/>
                </a:tc>
                <a:tc>
                  <a:txBody>
                    <a:bodyPr/>
                    <a:lstStyle/>
                    <a:p>
                      <a:r>
                        <a:rPr lang="en-US" dirty="0"/>
                        <a:t>Living Docs, APIs, Cloud Diagrams</a:t>
                      </a:r>
                    </a:p>
                  </a:txBody>
                  <a:tcPr anchor="ctr"/>
                </a:tc>
                <a:extLst>
                  <a:ext uri="{0D108BD9-81ED-4DB2-BD59-A6C34878D82A}">
                    <a16:rowId xmlns:a16="http://schemas.microsoft.com/office/drawing/2014/main" val="261199354"/>
                  </a:ext>
                </a:extLst>
              </a:tr>
            </a:tbl>
          </a:graphicData>
        </a:graphic>
      </p:graphicFrame>
    </p:spTree>
    <p:extLst>
      <p:ext uri="{BB962C8B-B14F-4D97-AF65-F5344CB8AC3E}">
        <p14:creationId xmlns:p14="http://schemas.microsoft.com/office/powerpoint/2010/main" val="706688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2E1E846-FF83-4EE8-B226-E4F56EDCEA57}"/>
              </a:ext>
            </a:extLst>
          </p:cNvPr>
          <p:cNvSpPr>
            <a:spLocks noGrp="1"/>
          </p:cNvSpPr>
          <p:nvPr>
            <p:ph type="body" idx="1"/>
          </p:nvPr>
        </p:nvSpPr>
        <p:spPr>
          <a:xfrm>
            <a:off x="732158" y="1169433"/>
            <a:ext cx="13166084" cy="5497052"/>
          </a:xfrm>
        </p:spPr>
        <p:txBody>
          <a:bodyPr>
            <a:normAutofit fontScale="92500"/>
          </a:bodyPr>
          <a:lstStyle/>
          <a:p>
            <a:pPr>
              <a:lnSpc>
                <a:spcPct val="150000"/>
              </a:lnSpc>
            </a:pPr>
            <a:r>
              <a:rPr lang="en-US" b="1" dirty="0"/>
              <a:t>Foundation</a:t>
            </a:r>
          </a:p>
          <a:p>
            <a:pPr>
              <a:lnSpc>
                <a:spcPct val="150000"/>
              </a:lnSpc>
            </a:pPr>
            <a:r>
              <a:rPr lang="en-US" dirty="0"/>
              <a:t>Defines the overall system architecture and its key components.</a:t>
            </a:r>
          </a:p>
          <a:p>
            <a:pPr>
              <a:lnSpc>
                <a:spcPct val="150000"/>
              </a:lnSpc>
            </a:pPr>
            <a:r>
              <a:rPr lang="en-US" b="1" dirty="0"/>
              <a:t>Structure</a:t>
            </a:r>
          </a:p>
          <a:p>
            <a:pPr>
              <a:lnSpc>
                <a:spcPct val="150000"/>
              </a:lnSpc>
            </a:pPr>
            <a:r>
              <a:rPr lang="en-US" dirty="0"/>
              <a:t>Outlines the relationships between components, their functionalities, and interactions.</a:t>
            </a:r>
          </a:p>
          <a:p>
            <a:pPr>
              <a:lnSpc>
                <a:spcPct val="150000"/>
              </a:lnSpc>
            </a:pPr>
            <a:r>
              <a:rPr lang="en-US" b="1" dirty="0"/>
              <a:t>Building Blocks</a:t>
            </a:r>
          </a:p>
          <a:p>
            <a:pPr>
              <a:lnSpc>
                <a:spcPct val="150000"/>
              </a:lnSpc>
            </a:pPr>
            <a:r>
              <a:rPr lang="en-US" dirty="0"/>
              <a:t>Details individual components, their functionalities, and how they contribute to the overall system.</a:t>
            </a:r>
          </a:p>
          <a:p>
            <a:pPr>
              <a:lnSpc>
                <a:spcPct val="150000"/>
              </a:lnSpc>
            </a:pPr>
            <a:endParaRPr lang="en-US" dirty="0"/>
          </a:p>
        </p:txBody>
      </p:sp>
      <p:sp>
        <p:nvSpPr>
          <p:cNvPr id="3" name="Slide Number Placeholder 2">
            <a:extLst>
              <a:ext uri="{FF2B5EF4-FFF2-40B4-BE49-F238E27FC236}">
                <a16:creationId xmlns:a16="http://schemas.microsoft.com/office/drawing/2014/main" id="{E1D018C0-99E1-4655-8A27-A8339E558332}"/>
              </a:ext>
            </a:extLst>
          </p:cNvPr>
          <p:cNvSpPr>
            <a:spLocks noGrp="1"/>
          </p:cNvSpPr>
          <p:nvPr>
            <p:ph type="sldNum" sz="quarter" idx="4"/>
          </p:nvPr>
        </p:nvSpPr>
        <p:spPr/>
        <p:txBody>
          <a:bodyPr/>
          <a:lstStyle/>
          <a:p>
            <a:fld id="{31D26D55-0A22-487A-A687-61FB58A6F16A}" type="slidenum">
              <a:rPr lang="en-US" smtClean="0"/>
              <a:pPr/>
              <a:t>4</a:t>
            </a:fld>
            <a:endParaRPr lang="en-US" dirty="0"/>
          </a:p>
        </p:txBody>
      </p:sp>
      <p:sp>
        <p:nvSpPr>
          <p:cNvPr id="4" name="Title 3">
            <a:extLst>
              <a:ext uri="{FF2B5EF4-FFF2-40B4-BE49-F238E27FC236}">
                <a16:creationId xmlns:a16="http://schemas.microsoft.com/office/drawing/2014/main" id="{8357BD3B-5CE8-442B-AAC6-094881FE839E}"/>
              </a:ext>
            </a:extLst>
          </p:cNvPr>
          <p:cNvSpPr>
            <a:spLocks noGrp="1"/>
          </p:cNvSpPr>
          <p:nvPr>
            <p:ph type="title"/>
          </p:nvPr>
        </p:nvSpPr>
        <p:spPr/>
        <p:txBody>
          <a:bodyPr/>
          <a:lstStyle/>
          <a:p>
            <a:r>
              <a:rPr lang="en-US" b="1" dirty="0"/>
              <a:t>Blueprint for System Architecture and Components</a:t>
            </a:r>
            <a:endParaRPr lang="en-US" dirty="0"/>
          </a:p>
        </p:txBody>
      </p:sp>
    </p:spTree>
    <p:extLst>
      <p:ext uri="{BB962C8B-B14F-4D97-AF65-F5344CB8AC3E}">
        <p14:creationId xmlns:p14="http://schemas.microsoft.com/office/powerpoint/2010/main" val="4128601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3164FD-7E45-4139-AD62-54498E7C44B5}"/>
              </a:ext>
            </a:extLst>
          </p:cNvPr>
          <p:cNvSpPr>
            <a:spLocks noGrp="1"/>
          </p:cNvSpPr>
          <p:nvPr>
            <p:ph type="body" idx="1"/>
          </p:nvPr>
        </p:nvSpPr>
        <p:spPr/>
        <p:txBody>
          <a:bodyPr>
            <a:normAutofit lnSpcReduction="10000"/>
          </a:bodyPr>
          <a:lstStyle/>
          <a:p>
            <a:pPr marL="457200" indent="-457200">
              <a:lnSpc>
                <a:spcPct val="200000"/>
              </a:lnSpc>
              <a:buFont typeface="Arial" panose="020B0604020202020204" pitchFamily="34" charset="0"/>
              <a:buChar char="•"/>
            </a:pPr>
            <a:r>
              <a:rPr lang="en-US" b="1" dirty="0"/>
              <a:t>Clear Communication: </a:t>
            </a:r>
            <a:r>
              <a:rPr lang="en-US" dirty="0"/>
              <a:t>SDD ensures everyone is on the same page, leading to consistent code and fewer misunderstandings.</a:t>
            </a:r>
          </a:p>
          <a:p>
            <a:pPr marL="457200" indent="-457200">
              <a:lnSpc>
                <a:spcPct val="200000"/>
              </a:lnSpc>
              <a:buFont typeface="Arial" panose="020B0604020202020204" pitchFamily="34" charset="0"/>
              <a:buChar char="•"/>
            </a:pPr>
            <a:r>
              <a:rPr lang="en-US" b="1" dirty="0"/>
              <a:t>Early Detection: </a:t>
            </a:r>
            <a:r>
              <a:rPr lang="en-US" dirty="0"/>
              <a:t>Potential issues can be identified and addressed early on in the design phase, reducing costly rework.</a:t>
            </a:r>
          </a:p>
          <a:p>
            <a:pPr marL="457200" indent="-457200">
              <a:lnSpc>
                <a:spcPct val="200000"/>
              </a:lnSpc>
              <a:buFont typeface="Arial" panose="020B0604020202020204" pitchFamily="34" charset="0"/>
              <a:buChar char="•"/>
            </a:pPr>
            <a:r>
              <a:rPr lang="en-US" b="1" dirty="0"/>
              <a:t>Shared Understanding: </a:t>
            </a:r>
            <a:r>
              <a:rPr lang="en-US" dirty="0"/>
              <a:t>SDD fosters a shared understanding of the software, preventing inconsistencies and errors in implementation.</a:t>
            </a:r>
          </a:p>
          <a:p>
            <a:pPr marL="457200" indent="-457200">
              <a:lnSpc>
                <a:spcPct val="200000"/>
              </a:lnSpc>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B5F49ACB-CA85-4326-A9F1-FE5820E00D6D}"/>
              </a:ext>
            </a:extLst>
          </p:cNvPr>
          <p:cNvSpPr>
            <a:spLocks noGrp="1"/>
          </p:cNvSpPr>
          <p:nvPr>
            <p:ph type="sldNum" sz="quarter" idx="4"/>
          </p:nvPr>
        </p:nvSpPr>
        <p:spPr/>
        <p:txBody>
          <a:bodyPr/>
          <a:lstStyle/>
          <a:p>
            <a:fld id="{31D26D55-0A22-487A-A687-61FB58A6F16A}" type="slidenum">
              <a:rPr lang="en-US" smtClean="0"/>
              <a:pPr/>
              <a:t>5</a:t>
            </a:fld>
            <a:endParaRPr lang="en-US" dirty="0"/>
          </a:p>
        </p:txBody>
      </p:sp>
      <p:sp>
        <p:nvSpPr>
          <p:cNvPr id="4" name="Title 3">
            <a:extLst>
              <a:ext uri="{FF2B5EF4-FFF2-40B4-BE49-F238E27FC236}">
                <a16:creationId xmlns:a16="http://schemas.microsoft.com/office/drawing/2014/main" id="{E62A913B-0286-477D-AEBC-08663E61D08E}"/>
              </a:ext>
            </a:extLst>
          </p:cNvPr>
          <p:cNvSpPr>
            <a:spLocks noGrp="1"/>
          </p:cNvSpPr>
          <p:nvPr>
            <p:ph type="title"/>
          </p:nvPr>
        </p:nvSpPr>
        <p:spPr/>
        <p:txBody>
          <a:bodyPr>
            <a:normAutofit/>
          </a:bodyPr>
          <a:lstStyle/>
          <a:p>
            <a:r>
              <a:rPr lang="en-US" b="1" dirty="0"/>
              <a:t>Reduced Defects and Errors During Development</a:t>
            </a:r>
            <a:endParaRPr lang="en-US" dirty="0"/>
          </a:p>
        </p:txBody>
      </p:sp>
    </p:spTree>
    <p:extLst>
      <p:ext uri="{BB962C8B-B14F-4D97-AF65-F5344CB8AC3E}">
        <p14:creationId xmlns:p14="http://schemas.microsoft.com/office/powerpoint/2010/main" val="2925532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3CB741-38C0-41D3-AD7E-FB0D1BCCDDBC}"/>
              </a:ext>
            </a:extLst>
          </p:cNvPr>
          <p:cNvSpPr>
            <a:spLocks noGrp="1"/>
          </p:cNvSpPr>
          <p:nvPr>
            <p:ph type="body" idx="1"/>
          </p:nvPr>
        </p:nvSpPr>
        <p:spPr/>
        <p:txBody>
          <a:bodyPr>
            <a:normAutofit lnSpcReduction="10000"/>
          </a:bodyPr>
          <a:lstStyle/>
          <a:p>
            <a:pPr marL="457200" indent="-457200">
              <a:lnSpc>
                <a:spcPct val="200000"/>
              </a:lnSpc>
              <a:buFont typeface="Arial" panose="020B0604020202020204" pitchFamily="34" charset="0"/>
              <a:buChar char="•"/>
            </a:pPr>
            <a:r>
              <a:rPr lang="en-US" b="1" dirty="0"/>
              <a:t>Issue Tracking: </a:t>
            </a:r>
            <a:r>
              <a:rPr lang="en-US" dirty="0"/>
              <a:t>SDD provides a clear reference point for debugging issues, allowing developers to quickly identify the source of errors.</a:t>
            </a:r>
          </a:p>
          <a:p>
            <a:pPr marL="457200" indent="-457200">
              <a:lnSpc>
                <a:spcPct val="200000"/>
              </a:lnSpc>
              <a:buFont typeface="Arial" panose="020B0604020202020204" pitchFamily="34" charset="0"/>
              <a:buChar char="•"/>
            </a:pPr>
            <a:r>
              <a:rPr lang="en-US" b="1" dirty="0"/>
              <a:t>Change Management: </a:t>
            </a:r>
            <a:r>
              <a:rPr lang="en-US" dirty="0"/>
              <a:t>SDD simplifies the process of updating and modifying the software, minimizing the impact on existing functionality.</a:t>
            </a:r>
          </a:p>
          <a:p>
            <a:pPr marL="457200" indent="-457200">
              <a:lnSpc>
                <a:spcPct val="200000"/>
              </a:lnSpc>
              <a:buFont typeface="Arial" panose="020B0604020202020204" pitchFamily="34" charset="0"/>
              <a:buChar char="•"/>
            </a:pPr>
            <a:r>
              <a:rPr lang="en-US" b="1" dirty="0"/>
              <a:t>Streamlined Process: </a:t>
            </a:r>
            <a:r>
              <a:rPr lang="en-US" dirty="0"/>
              <a:t>SDD makes it easier to navigate the codebase, leading to more efficient and effective updates and modifications.</a:t>
            </a:r>
          </a:p>
          <a:p>
            <a:pPr marL="457200" indent="-457200">
              <a:lnSpc>
                <a:spcPct val="200000"/>
              </a:lnSpc>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B421D874-911E-4D33-9BF1-C7A8A850455D}"/>
              </a:ext>
            </a:extLst>
          </p:cNvPr>
          <p:cNvSpPr>
            <a:spLocks noGrp="1"/>
          </p:cNvSpPr>
          <p:nvPr>
            <p:ph type="sldNum" sz="quarter" idx="4"/>
          </p:nvPr>
        </p:nvSpPr>
        <p:spPr/>
        <p:txBody>
          <a:bodyPr/>
          <a:lstStyle/>
          <a:p>
            <a:fld id="{31D26D55-0A22-487A-A687-61FB58A6F16A}" type="slidenum">
              <a:rPr lang="en-US" smtClean="0"/>
              <a:pPr/>
              <a:t>6</a:t>
            </a:fld>
            <a:endParaRPr lang="en-US" dirty="0"/>
          </a:p>
        </p:txBody>
      </p:sp>
      <p:sp>
        <p:nvSpPr>
          <p:cNvPr id="4" name="Title 3">
            <a:extLst>
              <a:ext uri="{FF2B5EF4-FFF2-40B4-BE49-F238E27FC236}">
                <a16:creationId xmlns:a16="http://schemas.microsoft.com/office/drawing/2014/main" id="{5997AED7-9942-47CF-BF28-BC10EE2CFDCF}"/>
              </a:ext>
            </a:extLst>
          </p:cNvPr>
          <p:cNvSpPr>
            <a:spLocks noGrp="1"/>
          </p:cNvSpPr>
          <p:nvPr>
            <p:ph type="title"/>
          </p:nvPr>
        </p:nvSpPr>
        <p:spPr/>
        <p:txBody>
          <a:bodyPr>
            <a:normAutofit/>
          </a:bodyPr>
          <a:lstStyle/>
          <a:p>
            <a:r>
              <a:rPr lang="en-US" b="1" dirty="0"/>
              <a:t>Easier Debugging, Updates, and Modifications</a:t>
            </a:r>
            <a:endParaRPr lang="en-US" dirty="0"/>
          </a:p>
        </p:txBody>
      </p:sp>
    </p:spTree>
    <p:extLst>
      <p:ext uri="{BB962C8B-B14F-4D97-AF65-F5344CB8AC3E}">
        <p14:creationId xmlns:p14="http://schemas.microsoft.com/office/powerpoint/2010/main" val="1947254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15579A-B86B-4FEA-A6A1-26BDAE0F3E4F}"/>
              </a:ext>
            </a:extLst>
          </p:cNvPr>
          <p:cNvSpPr>
            <a:spLocks noGrp="1"/>
          </p:cNvSpPr>
          <p:nvPr>
            <p:ph type="body" idx="1"/>
          </p:nvPr>
        </p:nvSpPr>
        <p:spPr/>
        <p:txBody>
          <a:bodyPr>
            <a:normAutofit fontScale="92500"/>
          </a:bodyPr>
          <a:lstStyle/>
          <a:p>
            <a:pPr marL="457200" indent="-457200">
              <a:lnSpc>
                <a:spcPct val="200000"/>
              </a:lnSpc>
              <a:buFont typeface="Arial" panose="020B0604020202020204" pitchFamily="34" charset="0"/>
              <a:buChar char="•"/>
            </a:pPr>
            <a:r>
              <a:rPr lang="en-US" b="1" dirty="0"/>
              <a:t>Scalability: </a:t>
            </a:r>
            <a:r>
              <a:rPr lang="en-US" dirty="0"/>
              <a:t>SDD facilitates scalability by ensuring the system can accommodate future growth and changes in user demands.</a:t>
            </a:r>
          </a:p>
          <a:p>
            <a:pPr marL="457200" indent="-457200">
              <a:lnSpc>
                <a:spcPct val="200000"/>
              </a:lnSpc>
              <a:buFont typeface="Arial" panose="020B0604020202020204" pitchFamily="34" charset="0"/>
              <a:buChar char="•"/>
            </a:pPr>
            <a:r>
              <a:rPr lang="en-US" b="1" dirty="0"/>
              <a:t>Performance: </a:t>
            </a:r>
            <a:r>
              <a:rPr lang="en-US" dirty="0"/>
              <a:t>Well-designed systems with optimized components lead to improved performance, minimizing resource usage and maximizing efficiency.</a:t>
            </a:r>
          </a:p>
          <a:p>
            <a:pPr marL="457200" indent="-457200">
              <a:lnSpc>
                <a:spcPct val="200000"/>
              </a:lnSpc>
              <a:buFont typeface="Arial" panose="020B0604020202020204" pitchFamily="34" charset="0"/>
              <a:buChar char="•"/>
            </a:pPr>
            <a:r>
              <a:rPr lang="en-US" b="1" dirty="0"/>
              <a:t>Efficiency: </a:t>
            </a:r>
            <a:r>
              <a:rPr lang="en-US" dirty="0"/>
              <a:t>SDD promotes efficient resource allocation, minimizing unnecessary code and improving the overall system performance.</a:t>
            </a:r>
          </a:p>
          <a:p>
            <a:pPr marL="457200" indent="-457200">
              <a:lnSpc>
                <a:spcPct val="200000"/>
              </a:lnSpc>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12AE5145-3480-47C0-B5D3-C8BA3345B0D7}"/>
              </a:ext>
            </a:extLst>
          </p:cNvPr>
          <p:cNvSpPr>
            <a:spLocks noGrp="1"/>
          </p:cNvSpPr>
          <p:nvPr>
            <p:ph type="sldNum" sz="quarter" idx="4"/>
          </p:nvPr>
        </p:nvSpPr>
        <p:spPr/>
        <p:txBody>
          <a:bodyPr/>
          <a:lstStyle/>
          <a:p>
            <a:fld id="{31D26D55-0A22-487A-A687-61FB58A6F16A}" type="slidenum">
              <a:rPr lang="en-US" smtClean="0"/>
              <a:pPr/>
              <a:t>7</a:t>
            </a:fld>
            <a:endParaRPr lang="en-US" dirty="0"/>
          </a:p>
        </p:txBody>
      </p:sp>
      <p:sp>
        <p:nvSpPr>
          <p:cNvPr id="4" name="Title 3">
            <a:extLst>
              <a:ext uri="{FF2B5EF4-FFF2-40B4-BE49-F238E27FC236}">
                <a16:creationId xmlns:a16="http://schemas.microsoft.com/office/drawing/2014/main" id="{092450A9-1632-4D43-BC71-0DA1928BEB47}"/>
              </a:ext>
            </a:extLst>
          </p:cNvPr>
          <p:cNvSpPr>
            <a:spLocks noGrp="1"/>
          </p:cNvSpPr>
          <p:nvPr>
            <p:ph type="title"/>
          </p:nvPr>
        </p:nvSpPr>
        <p:spPr/>
        <p:txBody>
          <a:bodyPr>
            <a:normAutofit/>
          </a:bodyPr>
          <a:lstStyle/>
          <a:p>
            <a:r>
              <a:rPr lang="en-US" b="1" dirty="0"/>
              <a:t>Improved Scalability and Performance</a:t>
            </a:r>
            <a:endParaRPr lang="en-US" dirty="0"/>
          </a:p>
        </p:txBody>
      </p:sp>
    </p:spTree>
    <p:extLst>
      <p:ext uri="{BB962C8B-B14F-4D97-AF65-F5344CB8AC3E}">
        <p14:creationId xmlns:p14="http://schemas.microsoft.com/office/powerpoint/2010/main" val="3638254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D5D591-C253-42E2-BBF5-069FFC14487D}"/>
              </a:ext>
            </a:extLst>
          </p:cNvPr>
          <p:cNvSpPr>
            <a:spLocks noGrp="1"/>
          </p:cNvSpPr>
          <p:nvPr>
            <p:ph type="body" idx="1"/>
          </p:nvPr>
        </p:nvSpPr>
        <p:spPr/>
        <p:txBody>
          <a:bodyPr/>
          <a:lstStyle/>
          <a:p>
            <a:r>
              <a:rPr lang="en-US" b="1" dirty="0"/>
              <a:t>Reduced Costs</a:t>
            </a:r>
          </a:p>
          <a:p>
            <a:r>
              <a:rPr lang="en-US" dirty="0"/>
              <a:t>SDD helps avoid costly rework and reduces development time, ultimately lowering overall development costs.</a:t>
            </a:r>
          </a:p>
          <a:p>
            <a:r>
              <a:rPr lang="en-US" b="1" dirty="0"/>
              <a:t>Faster Time to Market</a:t>
            </a:r>
          </a:p>
          <a:p>
            <a:r>
              <a:rPr lang="en-US" dirty="0"/>
              <a:t>Streamlined development processes facilitated by SDD lead to faster delivery of the software to the market.</a:t>
            </a:r>
          </a:p>
          <a:p>
            <a:r>
              <a:rPr lang="en-US" b="1" dirty="0"/>
              <a:t>Reduced Risk</a:t>
            </a:r>
          </a:p>
          <a:p>
            <a:r>
              <a:rPr lang="en-US" dirty="0"/>
              <a:t>SDD mitigates risks by identifying potential issues early on, reducing the likelihood of costly delays and rework.</a:t>
            </a:r>
          </a:p>
          <a:p>
            <a:endParaRPr lang="en-US" dirty="0"/>
          </a:p>
        </p:txBody>
      </p:sp>
      <p:sp>
        <p:nvSpPr>
          <p:cNvPr id="3" name="Slide Number Placeholder 2">
            <a:extLst>
              <a:ext uri="{FF2B5EF4-FFF2-40B4-BE49-F238E27FC236}">
                <a16:creationId xmlns:a16="http://schemas.microsoft.com/office/drawing/2014/main" id="{026AC8D5-1B5D-437B-BB36-545CC2CBFFA7}"/>
              </a:ext>
            </a:extLst>
          </p:cNvPr>
          <p:cNvSpPr>
            <a:spLocks noGrp="1"/>
          </p:cNvSpPr>
          <p:nvPr>
            <p:ph type="sldNum" sz="quarter" idx="4"/>
          </p:nvPr>
        </p:nvSpPr>
        <p:spPr/>
        <p:txBody>
          <a:bodyPr/>
          <a:lstStyle/>
          <a:p>
            <a:fld id="{31D26D55-0A22-487A-A687-61FB58A6F16A}" type="slidenum">
              <a:rPr lang="en-US" smtClean="0"/>
              <a:pPr/>
              <a:t>8</a:t>
            </a:fld>
            <a:endParaRPr lang="en-US" dirty="0"/>
          </a:p>
        </p:txBody>
      </p:sp>
      <p:sp>
        <p:nvSpPr>
          <p:cNvPr id="4" name="Title 3">
            <a:extLst>
              <a:ext uri="{FF2B5EF4-FFF2-40B4-BE49-F238E27FC236}">
                <a16:creationId xmlns:a16="http://schemas.microsoft.com/office/drawing/2014/main" id="{5CF6E8CC-05EE-48A5-A90E-961F883CB1BF}"/>
              </a:ext>
            </a:extLst>
          </p:cNvPr>
          <p:cNvSpPr>
            <a:spLocks noGrp="1"/>
          </p:cNvSpPr>
          <p:nvPr>
            <p:ph type="title"/>
          </p:nvPr>
        </p:nvSpPr>
        <p:spPr/>
        <p:txBody>
          <a:bodyPr>
            <a:normAutofit/>
          </a:bodyPr>
          <a:lstStyle/>
          <a:p>
            <a:r>
              <a:rPr lang="en-US" b="1" dirty="0"/>
              <a:t>Cost and Time Efficiency</a:t>
            </a:r>
            <a:endParaRPr lang="en-US" dirty="0"/>
          </a:p>
        </p:txBody>
      </p:sp>
    </p:spTree>
    <p:extLst>
      <p:ext uri="{BB962C8B-B14F-4D97-AF65-F5344CB8AC3E}">
        <p14:creationId xmlns:p14="http://schemas.microsoft.com/office/powerpoint/2010/main" val="4226850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AC696C-60B3-4F3D-B47E-514D11A613E2}"/>
              </a:ext>
            </a:extLst>
          </p:cNvPr>
          <p:cNvSpPr>
            <a:spLocks noGrp="1"/>
          </p:cNvSpPr>
          <p:nvPr>
            <p:ph idx="1"/>
          </p:nvPr>
        </p:nvSpPr>
        <p:spPr>
          <a:xfrm>
            <a:off x="747000" y="1352317"/>
            <a:ext cx="13166084" cy="5494778"/>
          </a:xfrm>
        </p:spPr>
        <p:txBody>
          <a:bodyPr>
            <a:normAutofit/>
          </a:bodyPr>
          <a:lstStyle/>
          <a:p>
            <a:r>
              <a:rPr lang="en-US" dirty="0"/>
              <a:t>High-Level Design Document (HLD)</a:t>
            </a:r>
          </a:p>
          <a:p>
            <a:r>
              <a:rPr lang="en-US" dirty="0"/>
              <a:t>Low-Level Design Document (LLD)</a:t>
            </a:r>
          </a:p>
          <a:p>
            <a:r>
              <a:rPr lang="en-US" dirty="0"/>
              <a:t>Architectural Design Document</a:t>
            </a:r>
          </a:p>
          <a:p>
            <a:r>
              <a:rPr lang="en-US" dirty="0"/>
              <a:t>Data Design Document</a:t>
            </a:r>
          </a:p>
          <a:p>
            <a:r>
              <a:rPr lang="en-US" dirty="0"/>
              <a:t>Component Design Document</a:t>
            </a:r>
          </a:p>
          <a:p>
            <a:r>
              <a:rPr lang="en-US" dirty="0"/>
              <a:t>UI/UX Design Document</a:t>
            </a:r>
          </a:p>
          <a:p>
            <a:r>
              <a:rPr lang="en-US" dirty="0"/>
              <a:t>API Design Document</a:t>
            </a:r>
          </a:p>
          <a:p>
            <a:r>
              <a:rPr lang="en-US" dirty="0"/>
              <a:t>Security Design Document</a:t>
            </a:r>
          </a:p>
          <a:p>
            <a:r>
              <a:rPr lang="en-US" dirty="0"/>
              <a:t>Deployment and Maintenance Document</a:t>
            </a:r>
          </a:p>
        </p:txBody>
      </p:sp>
      <p:sp>
        <p:nvSpPr>
          <p:cNvPr id="3" name="Slide Number Placeholder 2">
            <a:extLst>
              <a:ext uri="{FF2B5EF4-FFF2-40B4-BE49-F238E27FC236}">
                <a16:creationId xmlns:a16="http://schemas.microsoft.com/office/drawing/2014/main" id="{613B1AE2-7DE3-4B95-9408-FA64C9EAAEDC}"/>
              </a:ext>
            </a:extLst>
          </p:cNvPr>
          <p:cNvSpPr>
            <a:spLocks noGrp="1"/>
          </p:cNvSpPr>
          <p:nvPr>
            <p:ph type="sldNum" sz="quarter" idx="4"/>
          </p:nvPr>
        </p:nvSpPr>
        <p:spPr/>
        <p:txBody>
          <a:bodyPr/>
          <a:lstStyle/>
          <a:p>
            <a:fld id="{31D26D55-0A22-487A-A687-61FB58A6F16A}" type="slidenum">
              <a:rPr lang="en-US" smtClean="0"/>
              <a:pPr/>
              <a:t>9</a:t>
            </a:fld>
            <a:endParaRPr lang="en-US" dirty="0"/>
          </a:p>
        </p:txBody>
      </p:sp>
      <p:sp>
        <p:nvSpPr>
          <p:cNvPr id="4" name="Title 3">
            <a:extLst>
              <a:ext uri="{FF2B5EF4-FFF2-40B4-BE49-F238E27FC236}">
                <a16:creationId xmlns:a16="http://schemas.microsoft.com/office/drawing/2014/main" id="{0ED2BBCF-A6AB-4058-BB0C-D3E315DFE6D2}"/>
              </a:ext>
            </a:extLst>
          </p:cNvPr>
          <p:cNvSpPr>
            <a:spLocks noGrp="1"/>
          </p:cNvSpPr>
          <p:nvPr>
            <p:ph type="title"/>
          </p:nvPr>
        </p:nvSpPr>
        <p:spPr/>
        <p:txBody>
          <a:bodyPr/>
          <a:lstStyle/>
          <a:p>
            <a:r>
              <a:rPr lang="en-US" dirty="0"/>
              <a:t>SDD Types</a:t>
            </a:r>
          </a:p>
        </p:txBody>
      </p:sp>
    </p:spTree>
    <p:extLst>
      <p:ext uri="{BB962C8B-B14F-4D97-AF65-F5344CB8AC3E}">
        <p14:creationId xmlns:p14="http://schemas.microsoft.com/office/powerpoint/2010/main" val="711413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28D1CE-6173-486B-8105-D26B2990686E}"/>
              </a:ext>
            </a:extLst>
          </p:cNvPr>
          <p:cNvSpPr>
            <a:spLocks noGrp="1"/>
          </p:cNvSpPr>
          <p:nvPr>
            <p:ph idx="1"/>
          </p:nvPr>
        </p:nvSpPr>
        <p:spPr/>
        <p:txBody>
          <a:bodyPr>
            <a:normAutofit fontScale="85000" lnSpcReduction="10000"/>
          </a:bodyPr>
          <a:lstStyle/>
          <a:p>
            <a:pPr>
              <a:lnSpc>
                <a:spcPct val="150000"/>
              </a:lnSpc>
            </a:pPr>
            <a:r>
              <a:rPr lang="en-US" dirty="0"/>
              <a:t>Provides an overview of the system’s architecture and major components. It focuses on the </a:t>
            </a:r>
            <a:r>
              <a:rPr lang="en-US" b="1" dirty="0"/>
              <a:t>"what"</a:t>
            </a:r>
            <a:r>
              <a:rPr lang="en-US" dirty="0"/>
              <a:t> rather than the implementation details.</a:t>
            </a:r>
          </a:p>
          <a:p>
            <a:pPr>
              <a:lnSpc>
                <a:spcPct val="150000"/>
              </a:lnSpc>
              <a:buFont typeface="Arial" panose="020B0604020202020204" pitchFamily="34" charset="0"/>
              <a:buChar char="•"/>
            </a:pPr>
            <a:r>
              <a:rPr lang="en-US" b="1" dirty="0"/>
              <a:t>Contents</a:t>
            </a:r>
            <a:r>
              <a:rPr lang="en-US" dirty="0"/>
              <a:t>:</a:t>
            </a:r>
          </a:p>
          <a:p>
            <a:pPr lvl="1">
              <a:lnSpc>
                <a:spcPct val="150000"/>
              </a:lnSpc>
            </a:pPr>
            <a:r>
              <a:rPr lang="en-US" dirty="0"/>
              <a:t>System architecture diagram.</a:t>
            </a:r>
          </a:p>
          <a:p>
            <a:pPr lvl="1">
              <a:lnSpc>
                <a:spcPct val="150000"/>
              </a:lnSpc>
            </a:pPr>
            <a:r>
              <a:rPr lang="en-US" dirty="0"/>
              <a:t>Major modules/components and their roles.</a:t>
            </a:r>
          </a:p>
          <a:p>
            <a:pPr lvl="1">
              <a:lnSpc>
                <a:spcPct val="150000"/>
              </a:lnSpc>
            </a:pPr>
            <a:r>
              <a:rPr lang="en-US" dirty="0"/>
              <a:t>External system integrations.</a:t>
            </a:r>
          </a:p>
          <a:p>
            <a:pPr lvl="1">
              <a:lnSpc>
                <a:spcPct val="150000"/>
              </a:lnSpc>
            </a:pPr>
            <a:r>
              <a:rPr lang="en-US" dirty="0"/>
              <a:t>High-level data flow diagrams.</a:t>
            </a:r>
          </a:p>
          <a:p>
            <a:pPr lvl="1">
              <a:lnSpc>
                <a:spcPct val="150000"/>
              </a:lnSpc>
            </a:pPr>
            <a:r>
              <a:rPr lang="en-US" dirty="0"/>
              <a:t>Technologies, frameworks, and tools.</a:t>
            </a:r>
          </a:p>
          <a:p>
            <a:pPr>
              <a:lnSpc>
                <a:spcPct val="150000"/>
              </a:lnSpc>
            </a:pPr>
            <a:endParaRPr lang="en-US" dirty="0"/>
          </a:p>
        </p:txBody>
      </p:sp>
      <p:sp>
        <p:nvSpPr>
          <p:cNvPr id="3" name="Slide Number Placeholder 2">
            <a:extLst>
              <a:ext uri="{FF2B5EF4-FFF2-40B4-BE49-F238E27FC236}">
                <a16:creationId xmlns:a16="http://schemas.microsoft.com/office/drawing/2014/main" id="{D974C636-2576-4FAB-A6FF-9A0DB3DB753A}"/>
              </a:ext>
            </a:extLst>
          </p:cNvPr>
          <p:cNvSpPr>
            <a:spLocks noGrp="1"/>
          </p:cNvSpPr>
          <p:nvPr>
            <p:ph type="sldNum" sz="quarter" idx="4"/>
          </p:nvPr>
        </p:nvSpPr>
        <p:spPr/>
        <p:txBody>
          <a:bodyPr/>
          <a:lstStyle/>
          <a:p>
            <a:fld id="{31D26D55-0A22-487A-A687-61FB58A6F16A}" type="slidenum">
              <a:rPr lang="en-US" smtClean="0"/>
              <a:pPr/>
              <a:t>10</a:t>
            </a:fld>
            <a:endParaRPr lang="en-US" dirty="0"/>
          </a:p>
        </p:txBody>
      </p:sp>
      <p:sp>
        <p:nvSpPr>
          <p:cNvPr id="4" name="Title 3">
            <a:extLst>
              <a:ext uri="{FF2B5EF4-FFF2-40B4-BE49-F238E27FC236}">
                <a16:creationId xmlns:a16="http://schemas.microsoft.com/office/drawing/2014/main" id="{C815040E-664F-4888-9CA6-8752F4D14271}"/>
              </a:ext>
            </a:extLst>
          </p:cNvPr>
          <p:cNvSpPr>
            <a:spLocks noGrp="1"/>
          </p:cNvSpPr>
          <p:nvPr>
            <p:ph type="title"/>
          </p:nvPr>
        </p:nvSpPr>
        <p:spPr/>
        <p:txBody>
          <a:bodyPr/>
          <a:lstStyle/>
          <a:p>
            <a:r>
              <a:rPr lang="en-US" dirty="0"/>
              <a:t>Tài </a:t>
            </a:r>
            <a:r>
              <a:rPr lang="en-US" dirty="0" err="1"/>
              <a:t>liệu</a:t>
            </a:r>
            <a:r>
              <a:rPr lang="en-US" dirty="0"/>
              <a:t> </a:t>
            </a:r>
            <a:r>
              <a:rPr lang="en-US" dirty="0" err="1"/>
              <a:t>thiết</a:t>
            </a:r>
            <a:r>
              <a:rPr lang="en-US" dirty="0"/>
              <a:t> </a:t>
            </a:r>
            <a:r>
              <a:rPr lang="en-US" dirty="0" err="1"/>
              <a:t>kế</a:t>
            </a:r>
            <a:r>
              <a:rPr lang="en-US" dirty="0"/>
              <a:t> </a:t>
            </a:r>
            <a:r>
              <a:rPr lang="en-US" dirty="0" err="1"/>
              <a:t>cấp</a:t>
            </a:r>
            <a:r>
              <a:rPr lang="en-US" dirty="0"/>
              <a:t> </a:t>
            </a:r>
            <a:r>
              <a:rPr lang="en-US" dirty="0" err="1"/>
              <a:t>cao</a:t>
            </a:r>
            <a:r>
              <a:rPr lang="en-US" dirty="0"/>
              <a:t> (HLD)</a:t>
            </a:r>
          </a:p>
        </p:txBody>
      </p:sp>
    </p:spTree>
    <p:extLst>
      <p:ext uri="{BB962C8B-B14F-4D97-AF65-F5344CB8AC3E}">
        <p14:creationId xmlns:p14="http://schemas.microsoft.com/office/powerpoint/2010/main" val="3003119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E6A532-9BA6-40ED-BCBF-1B66BA798734}"/>
              </a:ext>
            </a:extLst>
          </p:cNvPr>
          <p:cNvSpPr>
            <a:spLocks noGrp="1"/>
          </p:cNvSpPr>
          <p:nvPr>
            <p:ph idx="1"/>
          </p:nvPr>
        </p:nvSpPr>
        <p:spPr>
          <a:xfrm>
            <a:off x="747000" y="953589"/>
            <a:ext cx="13166084" cy="6458766"/>
          </a:xfrm>
        </p:spPr>
        <p:txBody>
          <a:bodyPr>
            <a:normAutofit/>
          </a:bodyPr>
          <a:lstStyle/>
          <a:p>
            <a:r>
              <a:rPr lang="en-US" b="1" dirty="0"/>
              <a:t>Introduction</a:t>
            </a:r>
          </a:p>
          <a:p>
            <a:pPr lvl="1"/>
            <a:r>
              <a:rPr lang="en-US" b="1" dirty="0"/>
              <a:t>Purpose of the Document: </a:t>
            </a:r>
            <a:r>
              <a:rPr lang="en-US" dirty="0"/>
              <a:t>The purpose of this document is to define the high-level architecture, components, and functional design for the online banking application.</a:t>
            </a:r>
          </a:p>
          <a:p>
            <a:pPr lvl="1"/>
            <a:r>
              <a:rPr lang="en-US" b="1" dirty="0"/>
              <a:t>Scope: </a:t>
            </a:r>
            <a:r>
              <a:rPr lang="en-US" dirty="0"/>
              <a:t>The system enables customers to perform secure online banking activities such as account management, funds transfer, and statement viewing.</a:t>
            </a:r>
          </a:p>
          <a:p>
            <a:r>
              <a:rPr lang="en-US" b="1" dirty="0"/>
              <a:t>System Overview:</a:t>
            </a:r>
          </a:p>
          <a:p>
            <a:pPr lvl="1"/>
            <a:r>
              <a:rPr lang="en-US" b="1" dirty="0"/>
              <a:t>System Objectives</a:t>
            </a:r>
          </a:p>
          <a:p>
            <a:pPr lvl="2"/>
            <a:r>
              <a:rPr lang="en-US" dirty="0"/>
              <a:t>Allow users to access their accounts securely.</a:t>
            </a:r>
          </a:p>
          <a:p>
            <a:pPr lvl="2"/>
            <a:r>
              <a:rPr lang="en-US" dirty="0"/>
              <a:t>Facilitate fund transfers between accounts.</a:t>
            </a:r>
          </a:p>
          <a:p>
            <a:pPr lvl="2"/>
            <a:r>
              <a:rPr lang="en-US" dirty="0"/>
              <a:t>Provide real-time account balance and statements.</a:t>
            </a:r>
          </a:p>
          <a:p>
            <a:r>
              <a:rPr lang="en-US" dirty="0"/>
              <a:t>…</a:t>
            </a:r>
          </a:p>
        </p:txBody>
      </p:sp>
      <p:sp>
        <p:nvSpPr>
          <p:cNvPr id="3" name="Slide Number Placeholder 2">
            <a:extLst>
              <a:ext uri="{FF2B5EF4-FFF2-40B4-BE49-F238E27FC236}">
                <a16:creationId xmlns:a16="http://schemas.microsoft.com/office/drawing/2014/main" id="{10F366F0-C658-4329-9909-2A9730905678}"/>
              </a:ext>
            </a:extLst>
          </p:cNvPr>
          <p:cNvSpPr>
            <a:spLocks noGrp="1"/>
          </p:cNvSpPr>
          <p:nvPr>
            <p:ph type="sldNum" sz="quarter" idx="4"/>
          </p:nvPr>
        </p:nvSpPr>
        <p:spPr/>
        <p:txBody>
          <a:bodyPr/>
          <a:lstStyle/>
          <a:p>
            <a:fld id="{31D26D55-0A22-487A-A687-61FB58A6F16A}" type="slidenum">
              <a:rPr lang="en-US" smtClean="0"/>
              <a:pPr/>
              <a:t>11</a:t>
            </a:fld>
            <a:endParaRPr lang="en-US" dirty="0"/>
          </a:p>
        </p:txBody>
      </p:sp>
      <p:sp>
        <p:nvSpPr>
          <p:cNvPr id="4" name="Title 3">
            <a:extLst>
              <a:ext uri="{FF2B5EF4-FFF2-40B4-BE49-F238E27FC236}">
                <a16:creationId xmlns:a16="http://schemas.microsoft.com/office/drawing/2014/main" id="{99F49739-BB3B-41BA-AA5A-635B5396EF85}"/>
              </a:ext>
            </a:extLst>
          </p:cNvPr>
          <p:cNvSpPr>
            <a:spLocks noGrp="1"/>
          </p:cNvSpPr>
          <p:nvPr>
            <p:ph type="title"/>
          </p:nvPr>
        </p:nvSpPr>
        <p:spPr/>
        <p:txBody>
          <a:bodyPr/>
          <a:lstStyle/>
          <a:p>
            <a:r>
              <a:rPr lang="en-US" dirty="0"/>
              <a:t>HLD Example: Online Banking System</a:t>
            </a:r>
          </a:p>
        </p:txBody>
      </p:sp>
    </p:spTree>
    <p:extLst>
      <p:ext uri="{BB962C8B-B14F-4D97-AF65-F5344CB8AC3E}">
        <p14:creationId xmlns:p14="http://schemas.microsoft.com/office/powerpoint/2010/main" val="2332596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FBCF17-399D-4670-99E8-8F2DAB0D0A1E}"/>
              </a:ext>
            </a:extLst>
          </p:cNvPr>
          <p:cNvSpPr>
            <a:spLocks noGrp="1"/>
          </p:cNvSpPr>
          <p:nvPr>
            <p:ph idx="1"/>
          </p:nvPr>
        </p:nvSpPr>
        <p:spPr/>
        <p:txBody>
          <a:bodyPr>
            <a:normAutofit/>
          </a:bodyPr>
          <a:lstStyle/>
          <a:p>
            <a:pPr>
              <a:lnSpc>
                <a:spcPct val="150000"/>
              </a:lnSpc>
            </a:pPr>
            <a:r>
              <a:rPr lang="en-US" dirty="0"/>
              <a:t>Provides detailed descriptions of system components, including </a:t>
            </a:r>
            <a:r>
              <a:rPr lang="en-US" b="1" dirty="0"/>
              <a:t>implementation details</a:t>
            </a:r>
            <a:r>
              <a:rPr lang="en-US" dirty="0"/>
              <a:t> for developers.</a:t>
            </a:r>
          </a:p>
          <a:p>
            <a:pPr>
              <a:lnSpc>
                <a:spcPct val="150000"/>
              </a:lnSpc>
              <a:buFont typeface="Arial" panose="020B0604020202020204" pitchFamily="34" charset="0"/>
              <a:buChar char="•"/>
            </a:pPr>
            <a:r>
              <a:rPr lang="en-US" b="1" dirty="0"/>
              <a:t>Contents</a:t>
            </a:r>
            <a:r>
              <a:rPr lang="en-US" dirty="0"/>
              <a:t>:</a:t>
            </a:r>
          </a:p>
          <a:p>
            <a:pPr lvl="1">
              <a:lnSpc>
                <a:spcPct val="150000"/>
              </a:lnSpc>
            </a:pPr>
            <a:r>
              <a:rPr lang="en-US" dirty="0"/>
              <a:t>Module-level design.</a:t>
            </a:r>
          </a:p>
          <a:p>
            <a:pPr lvl="1">
              <a:lnSpc>
                <a:spcPct val="150000"/>
              </a:lnSpc>
            </a:pPr>
            <a:r>
              <a:rPr lang="en-US" dirty="0"/>
              <a:t>Component responsibilities, inputs/outputs.</a:t>
            </a:r>
          </a:p>
        </p:txBody>
      </p:sp>
      <p:sp>
        <p:nvSpPr>
          <p:cNvPr id="3" name="Slide Number Placeholder 2">
            <a:extLst>
              <a:ext uri="{FF2B5EF4-FFF2-40B4-BE49-F238E27FC236}">
                <a16:creationId xmlns:a16="http://schemas.microsoft.com/office/drawing/2014/main" id="{FFF4EA5A-B955-4BB8-B170-298479DE0AC1}"/>
              </a:ext>
            </a:extLst>
          </p:cNvPr>
          <p:cNvSpPr>
            <a:spLocks noGrp="1"/>
          </p:cNvSpPr>
          <p:nvPr>
            <p:ph type="sldNum" sz="quarter" idx="4"/>
          </p:nvPr>
        </p:nvSpPr>
        <p:spPr/>
        <p:txBody>
          <a:bodyPr/>
          <a:lstStyle/>
          <a:p>
            <a:fld id="{31D26D55-0A22-487A-A687-61FB58A6F16A}" type="slidenum">
              <a:rPr lang="en-US" smtClean="0"/>
              <a:pPr/>
              <a:t>12</a:t>
            </a:fld>
            <a:endParaRPr lang="en-US" dirty="0"/>
          </a:p>
        </p:txBody>
      </p:sp>
      <p:sp>
        <p:nvSpPr>
          <p:cNvPr id="4" name="Title 3">
            <a:extLst>
              <a:ext uri="{FF2B5EF4-FFF2-40B4-BE49-F238E27FC236}">
                <a16:creationId xmlns:a16="http://schemas.microsoft.com/office/drawing/2014/main" id="{2050B894-445F-4442-A4A6-4DB7E01DC3AC}"/>
              </a:ext>
            </a:extLst>
          </p:cNvPr>
          <p:cNvSpPr>
            <a:spLocks noGrp="1"/>
          </p:cNvSpPr>
          <p:nvPr>
            <p:ph type="title"/>
          </p:nvPr>
        </p:nvSpPr>
        <p:spPr/>
        <p:txBody>
          <a:bodyPr/>
          <a:lstStyle/>
          <a:p>
            <a:r>
              <a:rPr lang="en-US" dirty="0"/>
              <a:t>Low-Level Design Document (LLD)</a:t>
            </a:r>
          </a:p>
        </p:txBody>
      </p:sp>
    </p:spTree>
    <p:extLst>
      <p:ext uri="{BB962C8B-B14F-4D97-AF65-F5344CB8AC3E}">
        <p14:creationId xmlns:p14="http://schemas.microsoft.com/office/powerpoint/2010/main" val="828158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E2DEDB-6DAD-4F18-ACF7-C05904CEEF5D}"/>
              </a:ext>
            </a:extLst>
          </p:cNvPr>
          <p:cNvSpPr>
            <a:spLocks noGrp="1"/>
          </p:cNvSpPr>
          <p:nvPr>
            <p:ph idx="1"/>
          </p:nvPr>
        </p:nvSpPr>
        <p:spPr>
          <a:xfrm>
            <a:off x="747000" y="1084217"/>
            <a:ext cx="13166084" cy="6328138"/>
          </a:xfrm>
        </p:spPr>
        <p:txBody>
          <a:bodyPr>
            <a:normAutofit fontScale="92500" lnSpcReduction="10000"/>
          </a:bodyPr>
          <a:lstStyle/>
          <a:p>
            <a:pPr marL="0" indent="0">
              <a:buNone/>
            </a:pPr>
            <a:r>
              <a:rPr lang="en-US" b="1" dirty="0"/>
              <a:t>Functional Responsibilities</a:t>
            </a:r>
          </a:p>
          <a:p>
            <a:pPr>
              <a:buFont typeface="+mj-lt"/>
              <a:buAutoNum type="arabicPeriod"/>
            </a:pPr>
            <a:r>
              <a:rPr lang="en-US" b="1" dirty="0"/>
              <a:t>Login Process:</a:t>
            </a:r>
            <a:endParaRPr lang="en-US" dirty="0"/>
          </a:p>
          <a:p>
            <a:pPr marL="742950" lvl="1" indent="-285750">
              <a:buFont typeface="+mj-lt"/>
              <a:buAutoNum type="arabicPeriod"/>
            </a:pPr>
            <a:r>
              <a:rPr lang="en-US" dirty="0"/>
              <a:t>Accepts username and password.</a:t>
            </a:r>
          </a:p>
          <a:p>
            <a:pPr marL="742950" lvl="1" indent="-285750">
              <a:buFont typeface="+mj-lt"/>
              <a:buAutoNum type="arabicPeriod"/>
            </a:pPr>
            <a:r>
              <a:rPr lang="en-US" dirty="0"/>
              <a:t>Verifies credentials against the user database.</a:t>
            </a:r>
          </a:p>
          <a:p>
            <a:pPr marL="742950" lvl="1" indent="-285750">
              <a:buFont typeface="+mj-lt"/>
              <a:buAutoNum type="arabicPeriod"/>
            </a:pPr>
            <a:r>
              <a:rPr lang="en-US" dirty="0"/>
              <a:t>Issues a secure token (JWT).</a:t>
            </a:r>
          </a:p>
          <a:p>
            <a:pPr>
              <a:buFont typeface="+mj-lt"/>
              <a:buAutoNum type="arabicPeriod"/>
            </a:pPr>
            <a:r>
              <a:rPr lang="en-US" b="1" dirty="0"/>
              <a:t>Logout Process:</a:t>
            </a:r>
            <a:endParaRPr lang="en-US" dirty="0"/>
          </a:p>
          <a:p>
            <a:pPr marL="742950" lvl="1" indent="-285750">
              <a:buFont typeface="+mj-lt"/>
              <a:buAutoNum type="arabicPeriod"/>
            </a:pPr>
            <a:r>
              <a:rPr lang="en-US" dirty="0"/>
              <a:t>Invalidates the user session and revokes the token.</a:t>
            </a:r>
          </a:p>
          <a:p>
            <a:pPr>
              <a:buFont typeface="+mj-lt"/>
              <a:buAutoNum type="arabicPeriod"/>
            </a:pPr>
            <a:r>
              <a:rPr lang="en-US" b="1" dirty="0"/>
              <a:t>Password Reset:</a:t>
            </a:r>
            <a:endParaRPr lang="en-US" dirty="0"/>
          </a:p>
          <a:p>
            <a:pPr marL="742950" lvl="1" indent="-285750">
              <a:buFont typeface="+mj-lt"/>
              <a:buAutoNum type="arabicPeriod"/>
            </a:pPr>
            <a:r>
              <a:rPr lang="en-US" dirty="0"/>
              <a:t>Sends password reset link via email.</a:t>
            </a:r>
          </a:p>
          <a:p>
            <a:pPr marL="742950" lvl="1" indent="-285750">
              <a:buFont typeface="+mj-lt"/>
              <a:buAutoNum type="arabicPeriod"/>
            </a:pPr>
            <a:r>
              <a:rPr lang="en-US" dirty="0"/>
              <a:t>Allows users to set a new password.</a:t>
            </a:r>
          </a:p>
          <a:p>
            <a:pPr>
              <a:buFont typeface="+mj-lt"/>
              <a:buAutoNum type="arabicPeriod"/>
            </a:pPr>
            <a:r>
              <a:rPr lang="en-US" b="1" dirty="0"/>
              <a:t>Multi-Factor Authentication (MFA):</a:t>
            </a:r>
            <a:endParaRPr lang="en-US" dirty="0"/>
          </a:p>
          <a:p>
            <a:pPr marL="742950" lvl="1" indent="-285750">
              <a:buFont typeface="+mj-lt"/>
              <a:buAutoNum type="arabicPeriod"/>
            </a:pPr>
            <a:r>
              <a:rPr lang="en-US" dirty="0"/>
              <a:t>Sends OTP via SMS/Email.</a:t>
            </a:r>
          </a:p>
          <a:p>
            <a:pPr marL="742950" lvl="1" indent="-285750">
              <a:buFont typeface="+mj-lt"/>
              <a:buAutoNum type="arabicPeriod"/>
            </a:pPr>
            <a:r>
              <a:rPr lang="en-US" dirty="0"/>
              <a:t>Verifies OTP before granting access.</a:t>
            </a:r>
          </a:p>
          <a:p>
            <a:endParaRPr lang="en-US" dirty="0"/>
          </a:p>
        </p:txBody>
      </p:sp>
      <p:sp>
        <p:nvSpPr>
          <p:cNvPr id="3" name="Slide Number Placeholder 2">
            <a:extLst>
              <a:ext uri="{FF2B5EF4-FFF2-40B4-BE49-F238E27FC236}">
                <a16:creationId xmlns:a16="http://schemas.microsoft.com/office/drawing/2014/main" id="{46BF534D-33A5-4E58-A46A-7D19F2794F0C}"/>
              </a:ext>
            </a:extLst>
          </p:cNvPr>
          <p:cNvSpPr>
            <a:spLocks noGrp="1"/>
          </p:cNvSpPr>
          <p:nvPr>
            <p:ph type="sldNum" sz="quarter" idx="4"/>
          </p:nvPr>
        </p:nvSpPr>
        <p:spPr/>
        <p:txBody>
          <a:bodyPr/>
          <a:lstStyle/>
          <a:p>
            <a:fld id="{31D26D55-0A22-487A-A687-61FB58A6F16A}" type="slidenum">
              <a:rPr lang="en-US" smtClean="0"/>
              <a:pPr/>
              <a:t>13</a:t>
            </a:fld>
            <a:endParaRPr lang="en-US" dirty="0"/>
          </a:p>
        </p:txBody>
      </p:sp>
      <p:sp>
        <p:nvSpPr>
          <p:cNvPr id="4" name="Title 3">
            <a:extLst>
              <a:ext uri="{FF2B5EF4-FFF2-40B4-BE49-F238E27FC236}">
                <a16:creationId xmlns:a16="http://schemas.microsoft.com/office/drawing/2014/main" id="{F7B22669-B375-4A1F-98BB-610B242DBECD}"/>
              </a:ext>
            </a:extLst>
          </p:cNvPr>
          <p:cNvSpPr>
            <a:spLocks noGrp="1"/>
          </p:cNvSpPr>
          <p:nvPr>
            <p:ph type="title"/>
          </p:nvPr>
        </p:nvSpPr>
        <p:spPr/>
        <p:txBody>
          <a:bodyPr/>
          <a:lstStyle/>
          <a:p>
            <a:r>
              <a:rPr lang="en-US" dirty="0"/>
              <a:t>LLD Example: User Authentication Module</a:t>
            </a:r>
          </a:p>
        </p:txBody>
      </p:sp>
    </p:spTree>
    <p:extLst>
      <p:ext uri="{BB962C8B-B14F-4D97-AF65-F5344CB8AC3E}">
        <p14:creationId xmlns:p14="http://schemas.microsoft.com/office/powerpoint/2010/main" val="2584342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0117ED-5F95-42CE-A4A7-127FE0A118E1}"/>
              </a:ext>
            </a:extLst>
          </p:cNvPr>
          <p:cNvSpPr>
            <a:spLocks noGrp="1"/>
          </p:cNvSpPr>
          <p:nvPr>
            <p:ph idx="1"/>
          </p:nvPr>
        </p:nvSpPr>
        <p:spPr/>
        <p:txBody>
          <a:bodyPr>
            <a:normAutofit fontScale="85000" lnSpcReduction="20000"/>
          </a:bodyPr>
          <a:lstStyle/>
          <a:p>
            <a:pPr>
              <a:lnSpc>
                <a:spcPct val="170000"/>
              </a:lnSpc>
            </a:pPr>
            <a:r>
              <a:rPr lang="en-US" dirty="0"/>
              <a:t>Focuses specifically on the </a:t>
            </a:r>
            <a:r>
              <a:rPr lang="en-US" b="1" dirty="0"/>
              <a:t>architecture</a:t>
            </a:r>
            <a:r>
              <a:rPr lang="en-US" dirty="0"/>
              <a:t> of the system, describing the structural components and their interactions.</a:t>
            </a:r>
          </a:p>
          <a:p>
            <a:pPr>
              <a:lnSpc>
                <a:spcPct val="170000"/>
              </a:lnSpc>
              <a:buFont typeface="Arial" panose="020B0604020202020204" pitchFamily="34" charset="0"/>
              <a:buChar char="•"/>
            </a:pPr>
            <a:r>
              <a:rPr lang="en-US" b="1" dirty="0"/>
              <a:t>Contents</a:t>
            </a:r>
            <a:r>
              <a:rPr lang="en-US" dirty="0"/>
              <a:t>:</a:t>
            </a:r>
          </a:p>
          <a:p>
            <a:pPr lvl="1">
              <a:lnSpc>
                <a:spcPct val="170000"/>
              </a:lnSpc>
            </a:pPr>
            <a:r>
              <a:rPr lang="en-US" dirty="0"/>
              <a:t>System architecture patterns (e.g., microservices, layered architecture).</a:t>
            </a:r>
          </a:p>
          <a:p>
            <a:pPr lvl="1">
              <a:lnSpc>
                <a:spcPct val="170000"/>
              </a:lnSpc>
            </a:pPr>
            <a:r>
              <a:rPr lang="en-US" dirty="0"/>
              <a:t>Component interaction diagrams.</a:t>
            </a:r>
          </a:p>
          <a:p>
            <a:pPr lvl="1">
              <a:lnSpc>
                <a:spcPct val="170000"/>
              </a:lnSpc>
            </a:pPr>
            <a:r>
              <a:rPr lang="en-US" dirty="0"/>
              <a:t>Deployment architecture (e.g., cloud or on-premises setup).</a:t>
            </a:r>
          </a:p>
          <a:p>
            <a:pPr lvl="1">
              <a:lnSpc>
                <a:spcPct val="170000"/>
              </a:lnSpc>
            </a:pPr>
            <a:r>
              <a:rPr lang="en-US" dirty="0"/>
              <a:t>Performance and scalability considerations.</a:t>
            </a:r>
          </a:p>
          <a:p>
            <a:pPr lvl="1">
              <a:lnSpc>
                <a:spcPct val="170000"/>
              </a:lnSpc>
            </a:pPr>
            <a:r>
              <a:rPr lang="en-US" dirty="0"/>
              <a:t>Security architecture (data encryption, access control).</a:t>
            </a:r>
          </a:p>
          <a:p>
            <a:pPr>
              <a:lnSpc>
                <a:spcPct val="170000"/>
              </a:lnSpc>
            </a:pPr>
            <a:endParaRPr lang="en-US" dirty="0"/>
          </a:p>
        </p:txBody>
      </p:sp>
      <p:sp>
        <p:nvSpPr>
          <p:cNvPr id="3" name="Slide Number Placeholder 2">
            <a:extLst>
              <a:ext uri="{FF2B5EF4-FFF2-40B4-BE49-F238E27FC236}">
                <a16:creationId xmlns:a16="http://schemas.microsoft.com/office/drawing/2014/main" id="{655FB025-5930-4971-93E3-1F6460EE833E}"/>
              </a:ext>
            </a:extLst>
          </p:cNvPr>
          <p:cNvSpPr>
            <a:spLocks noGrp="1"/>
          </p:cNvSpPr>
          <p:nvPr>
            <p:ph type="sldNum" sz="quarter" idx="4"/>
          </p:nvPr>
        </p:nvSpPr>
        <p:spPr/>
        <p:txBody>
          <a:bodyPr/>
          <a:lstStyle/>
          <a:p>
            <a:fld id="{31D26D55-0A22-487A-A687-61FB58A6F16A}" type="slidenum">
              <a:rPr lang="en-US" smtClean="0"/>
              <a:pPr/>
              <a:t>14</a:t>
            </a:fld>
            <a:endParaRPr lang="en-US" dirty="0"/>
          </a:p>
        </p:txBody>
      </p:sp>
      <p:sp>
        <p:nvSpPr>
          <p:cNvPr id="4" name="Title 3">
            <a:extLst>
              <a:ext uri="{FF2B5EF4-FFF2-40B4-BE49-F238E27FC236}">
                <a16:creationId xmlns:a16="http://schemas.microsoft.com/office/drawing/2014/main" id="{A3090368-F49D-4CB3-A9CB-C5D31775ADD5}"/>
              </a:ext>
            </a:extLst>
          </p:cNvPr>
          <p:cNvSpPr>
            <a:spLocks noGrp="1"/>
          </p:cNvSpPr>
          <p:nvPr>
            <p:ph type="title"/>
          </p:nvPr>
        </p:nvSpPr>
        <p:spPr/>
        <p:txBody>
          <a:bodyPr/>
          <a:lstStyle/>
          <a:p>
            <a:r>
              <a:rPr lang="en-US" dirty="0"/>
              <a:t>Architectural Design Document</a:t>
            </a:r>
          </a:p>
        </p:txBody>
      </p:sp>
    </p:spTree>
    <p:extLst>
      <p:ext uri="{BB962C8B-B14F-4D97-AF65-F5344CB8AC3E}">
        <p14:creationId xmlns:p14="http://schemas.microsoft.com/office/powerpoint/2010/main" val="2496479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7657944-4C9D-4517-B57B-FFD694C17C85}"/>
              </a:ext>
            </a:extLst>
          </p:cNvPr>
          <p:cNvSpPr>
            <a:spLocks noGrp="1"/>
          </p:cNvSpPr>
          <p:nvPr>
            <p:ph type="sldNum" sz="quarter" idx="4"/>
          </p:nvPr>
        </p:nvSpPr>
        <p:spPr/>
        <p:txBody>
          <a:bodyPr/>
          <a:lstStyle/>
          <a:p>
            <a:fld id="{31D26D55-0A22-487A-A687-61FB58A6F16A}" type="slidenum">
              <a:rPr lang="en-US" smtClean="0"/>
              <a:pPr/>
              <a:t>15</a:t>
            </a:fld>
            <a:endParaRPr lang="en-US" dirty="0"/>
          </a:p>
        </p:txBody>
      </p:sp>
      <p:sp>
        <p:nvSpPr>
          <p:cNvPr id="4" name="Title 3">
            <a:extLst>
              <a:ext uri="{FF2B5EF4-FFF2-40B4-BE49-F238E27FC236}">
                <a16:creationId xmlns:a16="http://schemas.microsoft.com/office/drawing/2014/main" id="{5B52EB2C-23B7-4A33-9A68-3E9D62C6AB22}"/>
              </a:ext>
            </a:extLst>
          </p:cNvPr>
          <p:cNvSpPr>
            <a:spLocks noGrp="1"/>
          </p:cNvSpPr>
          <p:nvPr>
            <p:ph type="title"/>
          </p:nvPr>
        </p:nvSpPr>
        <p:spPr/>
        <p:txBody>
          <a:bodyPr/>
          <a:lstStyle/>
          <a:p>
            <a:r>
              <a:rPr lang="en-US" dirty="0"/>
              <a:t>Architectural Design Document Example</a:t>
            </a:r>
          </a:p>
        </p:txBody>
      </p:sp>
      <p:pic>
        <p:nvPicPr>
          <p:cNvPr id="10" name="Content Placeholder 9">
            <a:extLst>
              <a:ext uri="{FF2B5EF4-FFF2-40B4-BE49-F238E27FC236}">
                <a16:creationId xmlns:a16="http://schemas.microsoft.com/office/drawing/2014/main" id="{EB5F9DBC-ACC5-4F08-B61A-C5FE2D3864EE}"/>
              </a:ext>
            </a:extLst>
          </p:cNvPr>
          <p:cNvPicPr>
            <a:picLocks noGrp="1" noChangeAspect="1"/>
          </p:cNvPicPr>
          <p:nvPr>
            <p:ph idx="1"/>
          </p:nvPr>
        </p:nvPicPr>
        <p:blipFill>
          <a:blip r:embed="rId3"/>
          <a:stretch>
            <a:fillRect/>
          </a:stretch>
        </p:blipFill>
        <p:spPr bwMode="auto">
          <a:xfrm>
            <a:off x="1827209" y="1065916"/>
            <a:ext cx="10975981" cy="6097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1904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96FB0E-C6E9-44D7-A4A7-C63C1B432F29}"/>
              </a:ext>
            </a:extLst>
          </p:cNvPr>
          <p:cNvSpPr>
            <a:spLocks noGrp="1"/>
          </p:cNvSpPr>
          <p:nvPr>
            <p:ph idx="1"/>
          </p:nvPr>
        </p:nvSpPr>
        <p:spPr/>
        <p:txBody>
          <a:bodyPr>
            <a:normAutofit fontScale="92500" lnSpcReduction="10000"/>
          </a:bodyPr>
          <a:lstStyle/>
          <a:p>
            <a:pPr>
              <a:lnSpc>
                <a:spcPct val="200000"/>
              </a:lnSpc>
            </a:pPr>
            <a:r>
              <a:rPr lang="en-US" dirty="0"/>
              <a:t>Focuses on how data is modeled, stored, and managed.</a:t>
            </a:r>
          </a:p>
          <a:p>
            <a:pPr>
              <a:lnSpc>
                <a:spcPct val="200000"/>
              </a:lnSpc>
              <a:buFont typeface="Arial" panose="020B0604020202020204" pitchFamily="34" charset="0"/>
              <a:buChar char="•"/>
            </a:pPr>
            <a:r>
              <a:rPr lang="en-US" b="1" dirty="0"/>
              <a:t>Contents</a:t>
            </a:r>
            <a:r>
              <a:rPr lang="en-US" dirty="0"/>
              <a:t>:</a:t>
            </a:r>
          </a:p>
          <a:p>
            <a:pPr lvl="1">
              <a:lnSpc>
                <a:spcPct val="200000"/>
              </a:lnSpc>
            </a:pPr>
            <a:r>
              <a:rPr lang="en-US" dirty="0"/>
              <a:t>Entity-Relationship Diagrams (ERD).</a:t>
            </a:r>
          </a:p>
          <a:p>
            <a:pPr lvl="1">
              <a:lnSpc>
                <a:spcPct val="200000"/>
              </a:lnSpc>
            </a:pPr>
            <a:r>
              <a:rPr lang="en-US" dirty="0"/>
              <a:t>Database schema: tables, relationships, indexes, constraints.</a:t>
            </a:r>
          </a:p>
          <a:p>
            <a:pPr lvl="1">
              <a:lnSpc>
                <a:spcPct val="200000"/>
              </a:lnSpc>
            </a:pPr>
            <a:r>
              <a:rPr lang="en-US" dirty="0"/>
              <a:t>Data flow diagrams (DFD).</a:t>
            </a:r>
          </a:p>
          <a:p>
            <a:pPr lvl="1">
              <a:lnSpc>
                <a:spcPct val="200000"/>
              </a:lnSpc>
            </a:pPr>
            <a:r>
              <a:rPr lang="en-US" dirty="0"/>
              <a:t>Data storage optimization strategies.</a:t>
            </a:r>
          </a:p>
          <a:p>
            <a:pPr>
              <a:lnSpc>
                <a:spcPct val="200000"/>
              </a:lnSpc>
            </a:pPr>
            <a:endParaRPr lang="en-US" dirty="0"/>
          </a:p>
        </p:txBody>
      </p:sp>
      <p:sp>
        <p:nvSpPr>
          <p:cNvPr id="3" name="Slide Number Placeholder 2">
            <a:extLst>
              <a:ext uri="{FF2B5EF4-FFF2-40B4-BE49-F238E27FC236}">
                <a16:creationId xmlns:a16="http://schemas.microsoft.com/office/drawing/2014/main" id="{620627BE-4185-4AEC-B08D-5BD7F02A8731}"/>
              </a:ext>
            </a:extLst>
          </p:cNvPr>
          <p:cNvSpPr>
            <a:spLocks noGrp="1"/>
          </p:cNvSpPr>
          <p:nvPr>
            <p:ph type="sldNum" sz="quarter" idx="4"/>
          </p:nvPr>
        </p:nvSpPr>
        <p:spPr/>
        <p:txBody>
          <a:bodyPr/>
          <a:lstStyle/>
          <a:p>
            <a:fld id="{31D26D55-0A22-487A-A687-61FB58A6F16A}" type="slidenum">
              <a:rPr lang="en-US" smtClean="0"/>
              <a:pPr/>
              <a:t>16</a:t>
            </a:fld>
            <a:endParaRPr lang="en-US" dirty="0"/>
          </a:p>
        </p:txBody>
      </p:sp>
      <p:sp>
        <p:nvSpPr>
          <p:cNvPr id="4" name="Title 3">
            <a:extLst>
              <a:ext uri="{FF2B5EF4-FFF2-40B4-BE49-F238E27FC236}">
                <a16:creationId xmlns:a16="http://schemas.microsoft.com/office/drawing/2014/main" id="{211F696F-57B1-41C4-8B27-81C3533FA7A0}"/>
              </a:ext>
            </a:extLst>
          </p:cNvPr>
          <p:cNvSpPr>
            <a:spLocks noGrp="1"/>
          </p:cNvSpPr>
          <p:nvPr>
            <p:ph type="title"/>
          </p:nvPr>
        </p:nvSpPr>
        <p:spPr>
          <a:xfrm>
            <a:off x="629085" y="0"/>
            <a:ext cx="10975981" cy="548640"/>
          </a:xfrm>
        </p:spPr>
        <p:txBody>
          <a:bodyPr/>
          <a:lstStyle/>
          <a:p>
            <a:r>
              <a:rPr lang="en-US" dirty="0"/>
              <a:t>Data Design Document</a:t>
            </a:r>
          </a:p>
        </p:txBody>
      </p:sp>
    </p:spTree>
    <p:extLst>
      <p:ext uri="{BB962C8B-B14F-4D97-AF65-F5344CB8AC3E}">
        <p14:creationId xmlns:p14="http://schemas.microsoft.com/office/powerpoint/2010/main" val="1735533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0070057-E937-4C8B-9BD9-55F5B47815F9}"/>
              </a:ext>
            </a:extLst>
          </p:cNvPr>
          <p:cNvPicPr>
            <a:picLocks noGrp="1" noChangeAspect="1"/>
          </p:cNvPicPr>
          <p:nvPr>
            <p:ph idx="1"/>
          </p:nvPr>
        </p:nvPicPr>
        <p:blipFill rotWithShape="1">
          <a:blip r:embed="rId2"/>
          <a:srcRect b="10845"/>
          <a:stretch/>
        </p:blipFill>
        <p:spPr>
          <a:xfrm>
            <a:off x="3002337" y="850933"/>
            <a:ext cx="8625726" cy="6527734"/>
          </a:xfrm>
        </p:spPr>
      </p:pic>
      <p:sp>
        <p:nvSpPr>
          <p:cNvPr id="3" name="Slide Number Placeholder 2">
            <a:extLst>
              <a:ext uri="{FF2B5EF4-FFF2-40B4-BE49-F238E27FC236}">
                <a16:creationId xmlns:a16="http://schemas.microsoft.com/office/drawing/2014/main" id="{424ADEAD-4C07-4E8C-8961-CFB837D22EB6}"/>
              </a:ext>
            </a:extLst>
          </p:cNvPr>
          <p:cNvSpPr>
            <a:spLocks noGrp="1"/>
          </p:cNvSpPr>
          <p:nvPr>
            <p:ph type="sldNum" sz="quarter" idx="4"/>
          </p:nvPr>
        </p:nvSpPr>
        <p:spPr/>
        <p:txBody>
          <a:bodyPr/>
          <a:lstStyle/>
          <a:p>
            <a:fld id="{31D26D55-0A22-487A-A687-61FB58A6F16A}" type="slidenum">
              <a:rPr lang="en-US" smtClean="0"/>
              <a:pPr/>
              <a:t>17</a:t>
            </a:fld>
            <a:endParaRPr lang="en-US" dirty="0"/>
          </a:p>
        </p:txBody>
      </p:sp>
      <p:sp>
        <p:nvSpPr>
          <p:cNvPr id="4" name="Title 3">
            <a:extLst>
              <a:ext uri="{FF2B5EF4-FFF2-40B4-BE49-F238E27FC236}">
                <a16:creationId xmlns:a16="http://schemas.microsoft.com/office/drawing/2014/main" id="{4A4FF46B-21B4-419E-8851-E3591FF39A90}"/>
              </a:ext>
            </a:extLst>
          </p:cNvPr>
          <p:cNvSpPr>
            <a:spLocks noGrp="1"/>
          </p:cNvSpPr>
          <p:nvPr>
            <p:ph type="title"/>
          </p:nvPr>
        </p:nvSpPr>
        <p:spPr/>
        <p:txBody>
          <a:bodyPr/>
          <a:lstStyle/>
          <a:p>
            <a:r>
              <a:rPr lang="en-US" dirty="0"/>
              <a:t>Data Design Document Example</a:t>
            </a:r>
          </a:p>
        </p:txBody>
      </p:sp>
    </p:spTree>
    <p:extLst>
      <p:ext uri="{BB962C8B-B14F-4D97-AF65-F5344CB8AC3E}">
        <p14:creationId xmlns:p14="http://schemas.microsoft.com/office/powerpoint/2010/main" val="1499146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155902-D6BE-4430-8A24-201F98A8F72A}"/>
              </a:ext>
            </a:extLst>
          </p:cNvPr>
          <p:cNvSpPr>
            <a:spLocks noGrp="1"/>
          </p:cNvSpPr>
          <p:nvPr>
            <p:ph idx="1"/>
          </p:nvPr>
        </p:nvSpPr>
        <p:spPr/>
        <p:txBody>
          <a:bodyPr>
            <a:normAutofit fontScale="85000" lnSpcReduction="20000"/>
          </a:bodyPr>
          <a:lstStyle/>
          <a:p>
            <a:pPr>
              <a:lnSpc>
                <a:spcPct val="170000"/>
              </a:lnSpc>
            </a:pPr>
            <a:r>
              <a:rPr lang="en-US" dirty="0"/>
              <a:t>Focuses on the design and responsibilities of </a:t>
            </a:r>
            <a:r>
              <a:rPr lang="en-US" b="1" dirty="0"/>
              <a:t>individual components</a:t>
            </a:r>
            <a:r>
              <a:rPr lang="en-US" dirty="0"/>
              <a:t> or modules.</a:t>
            </a:r>
          </a:p>
          <a:p>
            <a:pPr>
              <a:lnSpc>
                <a:spcPct val="170000"/>
              </a:lnSpc>
              <a:buFont typeface="Arial" panose="020B0604020202020204" pitchFamily="34" charset="0"/>
              <a:buChar char="•"/>
            </a:pPr>
            <a:r>
              <a:rPr lang="en-US" b="1" dirty="0"/>
              <a:t>Contents</a:t>
            </a:r>
            <a:r>
              <a:rPr lang="en-US" dirty="0"/>
              <a:t>:</a:t>
            </a:r>
          </a:p>
          <a:p>
            <a:pPr lvl="1">
              <a:lnSpc>
                <a:spcPct val="170000"/>
              </a:lnSpc>
            </a:pPr>
            <a:r>
              <a:rPr lang="en-US" dirty="0"/>
              <a:t>Component name and purpose.</a:t>
            </a:r>
          </a:p>
          <a:p>
            <a:pPr lvl="1">
              <a:lnSpc>
                <a:spcPct val="170000"/>
              </a:lnSpc>
            </a:pPr>
            <a:r>
              <a:rPr lang="en-US" dirty="0"/>
              <a:t>Responsibilities and features.</a:t>
            </a:r>
          </a:p>
          <a:p>
            <a:pPr lvl="1">
              <a:lnSpc>
                <a:spcPct val="170000"/>
              </a:lnSpc>
            </a:pPr>
            <a:r>
              <a:rPr lang="en-US" dirty="0"/>
              <a:t>APIs/interfaces (input/output specifications).</a:t>
            </a:r>
          </a:p>
          <a:p>
            <a:pPr lvl="1">
              <a:lnSpc>
                <a:spcPct val="170000"/>
              </a:lnSpc>
            </a:pPr>
            <a:r>
              <a:rPr lang="en-US" dirty="0"/>
              <a:t>Dependencies on other components.</a:t>
            </a:r>
          </a:p>
          <a:p>
            <a:pPr lvl="1">
              <a:lnSpc>
                <a:spcPct val="170000"/>
              </a:lnSpc>
            </a:pPr>
            <a:r>
              <a:rPr lang="en-US" dirty="0"/>
              <a:t>Flowcharts or sequence diagrams.</a:t>
            </a:r>
          </a:p>
          <a:p>
            <a:pPr>
              <a:lnSpc>
                <a:spcPct val="170000"/>
              </a:lnSpc>
            </a:pPr>
            <a:endParaRPr lang="en-US" dirty="0"/>
          </a:p>
        </p:txBody>
      </p:sp>
      <p:sp>
        <p:nvSpPr>
          <p:cNvPr id="3" name="Slide Number Placeholder 2">
            <a:extLst>
              <a:ext uri="{FF2B5EF4-FFF2-40B4-BE49-F238E27FC236}">
                <a16:creationId xmlns:a16="http://schemas.microsoft.com/office/drawing/2014/main" id="{00F99086-7B4C-4B45-BF62-BBD97A30B69D}"/>
              </a:ext>
            </a:extLst>
          </p:cNvPr>
          <p:cNvSpPr>
            <a:spLocks noGrp="1"/>
          </p:cNvSpPr>
          <p:nvPr>
            <p:ph type="sldNum" sz="quarter" idx="4"/>
          </p:nvPr>
        </p:nvSpPr>
        <p:spPr/>
        <p:txBody>
          <a:bodyPr/>
          <a:lstStyle/>
          <a:p>
            <a:fld id="{31D26D55-0A22-487A-A687-61FB58A6F16A}" type="slidenum">
              <a:rPr lang="en-US" smtClean="0"/>
              <a:pPr/>
              <a:t>18</a:t>
            </a:fld>
            <a:endParaRPr lang="en-US" dirty="0"/>
          </a:p>
        </p:txBody>
      </p:sp>
      <p:sp>
        <p:nvSpPr>
          <p:cNvPr id="4" name="Title 3">
            <a:extLst>
              <a:ext uri="{FF2B5EF4-FFF2-40B4-BE49-F238E27FC236}">
                <a16:creationId xmlns:a16="http://schemas.microsoft.com/office/drawing/2014/main" id="{5855E39A-E352-48A0-B70E-EBF4D37E5CEA}"/>
              </a:ext>
            </a:extLst>
          </p:cNvPr>
          <p:cNvSpPr>
            <a:spLocks noGrp="1"/>
          </p:cNvSpPr>
          <p:nvPr>
            <p:ph type="title"/>
          </p:nvPr>
        </p:nvSpPr>
        <p:spPr/>
        <p:txBody>
          <a:bodyPr/>
          <a:lstStyle/>
          <a:p>
            <a:r>
              <a:rPr lang="en-US" dirty="0"/>
              <a:t>Component Design Document</a:t>
            </a:r>
          </a:p>
        </p:txBody>
      </p:sp>
    </p:spTree>
    <p:extLst>
      <p:ext uri="{BB962C8B-B14F-4D97-AF65-F5344CB8AC3E}">
        <p14:creationId xmlns:p14="http://schemas.microsoft.com/office/powerpoint/2010/main" val="2015432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BF534D-33A5-4E58-A46A-7D19F2794F0C}"/>
              </a:ext>
            </a:extLst>
          </p:cNvPr>
          <p:cNvSpPr>
            <a:spLocks noGrp="1"/>
          </p:cNvSpPr>
          <p:nvPr>
            <p:ph type="sldNum" sz="quarter" idx="4"/>
          </p:nvPr>
        </p:nvSpPr>
        <p:spPr/>
        <p:txBody>
          <a:bodyPr/>
          <a:lstStyle/>
          <a:p>
            <a:fld id="{31D26D55-0A22-487A-A687-61FB58A6F16A}" type="slidenum">
              <a:rPr lang="en-US" smtClean="0"/>
              <a:pPr/>
              <a:t>19</a:t>
            </a:fld>
            <a:endParaRPr lang="en-US" dirty="0"/>
          </a:p>
        </p:txBody>
      </p:sp>
      <p:sp>
        <p:nvSpPr>
          <p:cNvPr id="4" name="Title 3">
            <a:extLst>
              <a:ext uri="{FF2B5EF4-FFF2-40B4-BE49-F238E27FC236}">
                <a16:creationId xmlns:a16="http://schemas.microsoft.com/office/drawing/2014/main" id="{F7B22669-B375-4A1F-98BB-610B242DBECD}"/>
              </a:ext>
            </a:extLst>
          </p:cNvPr>
          <p:cNvSpPr>
            <a:spLocks noGrp="1"/>
          </p:cNvSpPr>
          <p:nvPr>
            <p:ph type="title"/>
          </p:nvPr>
        </p:nvSpPr>
        <p:spPr/>
        <p:txBody>
          <a:bodyPr>
            <a:normAutofit fontScale="90000"/>
          </a:bodyPr>
          <a:lstStyle/>
          <a:p>
            <a:r>
              <a:rPr lang="en-US" dirty="0"/>
              <a:t>Component Design Document Example: User Authentication Module</a:t>
            </a:r>
          </a:p>
        </p:txBody>
      </p:sp>
      <p:graphicFrame>
        <p:nvGraphicFramePr>
          <p:cNvPr id="7" name="Table 7">
            <a:extLst>
              <a:ext uri="{FF2B5EF4-FFF2-40B4-BE49-F238E27FC236}">
                <a16:creationId xmlns:a16="http://schemas.microsoft.com/office/drawing/2014/main" id="{99093203-FF05-44A4-A0A2-C7482366F857}"/>
              </a:ext>
            </a:extLst>
          </p:cNvPr>
          <p:cNvGraphicFramePr>
            <a:graphicFrameLocks noGrp="1"/>
          </p:cNvGraphicFramePr>
          <p:nvPr>
            <p:ph idx="1"/>
            <p:extLst>
              <p:ext uri="{D42A27DB-BD31-4B8C-83A1-F6EECF244321}">
                <p14:modId xmlns:p14="http://schemas.microsoft.com/office/powerpoint/2010/main" val="869575289"/>
              </p:ext>
            </p:extLst>
          </p:nvPr>
        </p:nvGraphicFramePr>
        <p:xfrm>
          <a:off x="747713" y="1691495"/>
          <a:ext cx="13165137" cy="1682496"/>
        </p:xfrm>
        <a:graphic>
          <a:graphicData uri="http://schemas.openxmlformats.org/drawingml/2006/table">
            <a:tbl>
              <a:tblPr firstRow="1" bandRow="1">
                <a:tableStyleId>{5C22544A-7EE6-4342-B048-85BDC9FD1C3A}</a:tableStyleId>
              </a:tblPr>
              <a:tblGrid>
                <a:gridCol w="4388379">
                  <a:extLst>
                    <a:ext uri="{9D8B030D-6E8A-4147-A177-3AD203B41FA5}">
                      <a16:colId xmlns:a16="http://schemas.microsoft.com/office/drawing/2014/main" val="2928597582"/>
                    </a:ext>
                  </a:extLst>
                </a:gridCol>
                <a:gridCol w="4388379">
                  <a:extLst>
                    <a:ext uri="{9D8B030D-6E8A-4147-A177-3AD203B41FA5}">
                      <a16:colId xmlns:a16="http://schemas.microsoft.com/office/drawing/2014/main" val="2219210944"/>
                    </a:ext>
                  </a:extLst>
                </a:gridCol>
                <a:gridCol w="4388379">
                  <a:extLst>
                    <a:ext uri="{9D8B030D-6E8A-4147-A177-3AD203B41FA5}">
                      <a16:colId xmlns:a16="http://schemas.microsoft.com/office/drawing/2014/main" val="2735022970"/>
                    </a:ext>
                  </a:extLst>
                </a:gridCol>
              </a:tblGrid>
              <a:tr h="370840">
                <a:tc>
                  <a:txBody>
                    <a:bodyPr/>
                    <a:lstStyle/>
                    <a:p>
                      <a:r>
                        <a:rPr lang="en-US" b="1" dirty="0"/>
                        <a:t>Functionality</a:t>
                      </a:r>
                      <a:endParaRPr lang="en-US" dirty="0"/>
                    </a:p>
                  </a:txBody>
                  <a:tcPr anchor="ctr"/>
                </a:tc>
                <a:tc>
                  <a:txBody>
                    <a:bodyPr/>
                    <a:lstStyle/>
                    <a:p>
                      <a:r>
                        <a:rPr lang="en-US" b="1"/>
                        <a:t>Inputs</a:t>
                      </a:r>
                      <a:endParaRPr lang="en-US"/>
                    </a:p>
                  </a:txBody>
                  <a:tcPr anchor="ctr"/>
                </a:tc>
                <a:tc>
                  <a:txBody>
                    <a:bodyPr/>
                    <a:lstStyle/>
                    <a:p>
                      <a:r>
                        <a:rPr lang="en-US" b="1" dirty="0"/>
                        <a:t>Outputs</a:t>
                      </a:r>
                      <a:endParaRPr lang="en-US" dirty="0"/>
                    </a:p>
                  </a:txBody>
                  <a:tcPr anchor="ctr"/>
                </a:tc>
                <a:extLst>
                  <a:ext uri="{0D108BD9-81ED-4DB2-BD59-A6C34878D82A}">
                    <a16:rowId xmlns:a16="http://schemas.microsoft.com/office/drawing/2014/main" val="2186300060"/>
                  </a:ext>
                </a:extLst>
              </a:tr>
              <a:tr h="370840">
                <a:tc>
                  <a:txBody>
                    <a:bodyPr/>
                    <a:lstStyle/>
                    <a:p>
                      <a:r>
                        <a:rPr lang="en-US" dirty="0"/>
                        <a:t>User Login</a:t>
                      </a:r>
                    </a:p>
                  </a:txBody>
                  <a:tcPr anchor="ctr"/>
                </a:tc>
                <a:tc>
                  <a:txBody>
                    <a:bodyPr/>
                    <a:lstStyle/>
                    <a:p>
                      <a:r>
                        <a:rPr lang="en-US" dirty="0"/>
                        <a:t>Username, Password</a:t>
                      </a:r>
                    </a:p>
                  </a:txBody>
                  <a:tcPr anchor="ctr"/>
                </a:tc>
                <a:tc>
                  <a:txBody>
                    <a:bodyPr/>
                    <a:lstStyle/>
                    <a:p>
                      <a:r>
                        <a:rPr lang="en-US" dirty="0"/>
                        <a:t>Success/Failure, JWT Token</a:t>
                      </a:r>
                    </a:p>
                  </a:txBody>
                  <a:tcPr anchor="ctr"/>
                </a:tc>
                <a:extLst>
                  <a:ext uri="{0D108BD9-81ED-4DB2-BD59-A6C34878D82A}">
                    <a16:rowId xmlns:a16="http://schemas.microsoft.com/office/drawing/2014/main" val="2284619837"/>
                  </a:ext>
                </a:extLst>
              </a:tr>
              <a:tr h="370840">
                <a:tc>
                  <a:txBody>
                    <a:bodyPr/>
                    <a:lstStyle/>
                    <a:p>
                      <a:r>
                        <a:rPr lang="en-US" dirty="0"/>
                        <a:t>Password Reset</a:t>
                      </a:r>
                    </a:p>
                  </a:txBody>
                  <a:tcPr anchor="ctr"/>
                </a:tc>
                <a:tc>
                  <a:txBody>
                    <a:bodyPr/>
                    <a:lstStyle/>
                    <a:p>
                      <a:r>
                        <a:rPr lang="en-US"/>
                        <a:t>Email Address</a:t>
                      </a:r>
                    </a:p>
                  </a:txBody>
                  <a:tcPr anchor="ctr"/>
                </a:tc>
                <a:tc>
                  <a:txBody>
                    <a:bodyPr/>
                    <a:lstStyle/>
                    <a:p>
                      <a:r>
                        <a:rPr lang="en-US" dirty="0"/>
                        <a:t>Password Reset Link</a:t>
                      </a:r>
                    </a:p>
                  </a:txBody>
                  <a:tcPr anchor="ctr"/>
                </a:tc>
                <a:extLst>
                  <a:ext uri="{0D108BD9-81ED-4DB2-BD59-A6C34878D82A}">
                    <a16:rowId xmlns:a16="http://schemas.microsoft.com/office/drawing/2014/main" val="510885122"/>
                  </a:ext>
                </a:extLst>
              </a:tr>
              <a:tr h="370840">
                <a:tc>
                  <a:txBody>
                    <a:bodyPr/>
                    <a:lstStyle/>
                    <a:p>
                      <a:r>
                        <a:rPr lang="en-US" dirty="0"/>
                        <a:t>MFA Verification</a:t>
                      </a:r>
                    </a:p>
                  </a:txBody>
                  <a:tcPr anchor="ctr"/>
                </a:tc>
                <a:tc>
                  <a:txBody>
                    <a:bodyPr/>
                    <a:lstStyle/>
                    <a:p>
                      <a:r>
                        <a:rPr lang="en-US" dirty="0"/>
                        <a:t>OTP, Session ID</a:t>
                      </a:r>
                    </a:p>
                  </a:txBody>
                  <a:tcPr anchor="ctr"/>
                </a:tc>
                <a:tc>
                  <a:txBody>
                    <a:bodyPr/>
                    <a:lstStyle/>
                    <a:p>
                      <a:r>
                        <a:rPr lang="en-US" dirty="0"/>
                        <a:t>Success/Failure</a:t>
                      </a:r>
                    </a:p>
                  </a:txBody>
                  <a:tcPr/>
                </a:tc>
                <a:extLst>
                  <a:ext uri="{0D108BD9-81ED-4DB2-BD59-A6C34878D82A}">
                    <a16:rowId xmlns:a16="http://schemas.microsoft.com/office/drawing/2014/main" val="593017915"/>
                  </a:ext>
                </a:extLst>
              </a:tr>
            </a:tbl>
          </a:graphicData>
        </a:graphic>
      </p:graphicFrame>
      <p:graphicFrame>
        <p:nvGraphicFramePr>
          <p:cNvPr id="8" name="Table 8">
            <a:extLst>
              <a:ext uri="{FF2B5EF4-FFF2-40B4-BE49-F238E27FC236}">
                <a16:creationId xmlns:a16="http://schemas.microsoft.com/office/drawing/2014/main" id="{5708D149-A858-4EF1-8467-20FB22F701BE}"/>
              </a:ext>
            </a:extLst>
          </p:cNvPr>
          <p:cNvGraphicFramePr>
            <a:graphicFrameLocks noGrp="1"/>
          </p:cNvGraphicFramePr>
          <p:nvPr>
            <p:extLst>
              <p:ext uri="{D42A27DB-BD31-4B8C-83A1-F6EECF244321}">
                <p14:modId xmlns:p14="http://schemas.microsoft.com/office/powerpoint/2010/main" val="2349729619"/>
              </p:ext>
            </p:extLst>
          </p:nvPr>
        </p:nvGraphicFramePr>
        <p:xfrm>
          <a:off x="747712" y="4359220"/>
          <a:ext cx="13165138" cy="2523744"/>
        </p:xfrm>
        <a:graphic>
          <a:graphicData uri="http://schemas.openxmlformats.org/drawingml/2006/table">
            <a:tbl>
              <a:tblPr firstRow="1" bandRow="1">
                <a:tableStyleId>{5C22544A-7EE6-4342-B048-85BDC9FD1C3A}</a:tableStyleId>
              </a:tblPr>
              <a:tblGrid>
                <a:gridCol w="2949077">
                  <a:extLst>
                    <a:ext uri="{9D8B030D-6E8A-4147-A177-3AD203B41FA5}">
                      <a16:colId xmlns:a16="http://schemas.microsoft.com/office/drawing/2014/main" val="2979716363"/>
                    </a:ext>
                  </a:extLst>
                </a:gridCol>
                <a:gridCol w="10216061">
                  <a:extLst>
                    <a:ext uri="{9D8B030D-6E8A-4147-A177-3AD203B41FA5}">
                      <a16:colId xmlns:a16="http://schemas.microsoft.com/office/drawing/2014/main" val="2918742542"/>
                    </a:ext>
                  </a:extLst>
                </a:gridCol>
              </a:tblGrid>
              <a:tr h="370840">
                <a:tc>
                  <a:txBody>
                    <a:bodyPr/>
                    <a:lstStyle/>
                    <a:p>
                      <a:r>
                        <a:rPr lang="en-US" b="1" dirty="0"/>
                        <a:t>Component</a:t>
                      </a:r>
                      <a:endParaRPr lang="en-US" dirty="0"/>
                    </a:p>
                  </a:txBody>
                  <a:tcPr anchor="ctr"/>
                </a:tc>
                <a:tc>
                  <a:txBody>
                    <a:bodyPr/>
                    <a:lstStyle/>
                    <a:p>
                      <a:r>
                        <a:rPr lang="en-US" b="1" dirty="0"/>
                        <a:t>Description</a:t>
                      </a:r>
                      <a:endParaRPr lang="en-US" dirty="0"/>
                    </a:p>
                  </a:txBody>
                  <a:tcPr anchor="ctr"/>
                </a:tc>
                <a:extLst>
                  <a:ext uri="{0D108BD9-81ED-4DB2-BD59-A6C34878D82A}">
                    <a16:rowId xmlns:a16="http://schemas.microsoft.com/office/drawing/2014/main" val="4144223835"/>
                  </a:ext>
                </a:extLst>
              </a:tr>
              <a:tr h="370840">
                <a:tc>
                  <a:txBody>
                    <a:bodyPr/>
                    <a:lstStyle/>
                    <a:p>
                      <a:r>
                        <a:rPr lang="en-US" b="1" dirty="0"/>
                        <a:t>Auth Controller</a:t>
                      </a:r>
                      <a:endParaRPr lang="en-US" dirty="0"/>
                    </a:p>
                  </a:txBody>
                  <a:tcPr anchor="ctr"/>
                </a:tc>
                <a:tc>
                  <a:txBody>
                    <a:bodyPr/>
                    <a:lstStyle/>
                    <a:p>
                      <a:r>
                        <a:rPr lang="fr-FR" dirty="0" err="1"/>
                        <a:t>Handles</a:t>
                      </a:r>
                      <a:r>
                        <a:rPr lang="fr-FR" dirty="0"/>
                        <a:t> API </a:t>
                      </a:r>
                      <a:r>
                        <a:rPr lang="fr-FR" dirty="0" err="1"/>
                        <a:t>endpoints</a:t>
                      </a:r>
                      <a:r>
                        <a:rPr lang="fr-FR" dirty="0"/>
                        <a:t>: /login, /</a:t>
                      </a:r>
                      <a:r>
                        <a:rPr lang="fr-FR" dirty="0" err="1"/>
                        <a:t>logout</a:t>
                      </a:r>
                      <a:r>
                        <a:rPr lang="fr-FR" dirty="0"/>
                        <a:t>, /reset-</a:t>
                      </a:r>
                      <a:r>
                        <a:rPr lang="fr-FR" dirty="0" err="1"/>
                        <a:t>password</a:t>
                      </a:r>
                      <a:r>
                        <a:rPr lang="fr-FR" dirty="0"/>
                        <a:t>.</a:t>
                      </a:r>
                    </a:p>
                  </a:txBody>
                  <a:tcPr anchor="ctr"/>
                </a:tc>
                <a:extLst>
                  <a:ext uri="{0D108BD9-81ED-4DB2-BD59-A6C34878D82A}">
                    <a16:rowId xmlns:a16="http://schemas.microsoft.com/office/drawing/2014/main" val="864820517"/>
                  </a:ext>
                </a:extLst>
              </a:tr>
              <a:tr h="370840">
                <a:tc>
                  <a:txBody>
                    <a:bodyPr/>
                    <a:lstStyle/>
                    <a:p>
                      <a:r>
                        <a:rPr lang="en-US" b="1" dirty="0"/>
                        <a:t>Auth Service</a:t>
                      </a:r>
                      <a:endParaRPr lang="en-US" dirty="0"/>
                    </a:p>
                  </a:txBody>
                  <a:tcPr anchor="ctr"/>
                </a:tc>
                <a:tc>
                  <a:txBody>
                    <a:bodyPr/>
                    <a:lstStyle/>
                    <a:p>
                      <a:r>
                        <a:rPr lang="en-US" dirty="0"/>
                        <a:t>Business logic for authentication and MFA.</a:t>
                      </a:r>
                    </a:p>
                  </a:txBody>
                  <a:tcPr anchor="ctr"/>
                </a:tc>
                <a:extLst>
                  <a:ext uri="{0D108BD9-81ED-4DB2-BD59-A6C34878D82A}">
                    <a16:rowId xmlns:a16="http://schemas.microsoft.com/office/drawing/2014/main" val="930735346"/>
                  </a:ext>
                </a:extLst>
              </a:tr>
              <a:tr h="370840">
                <a:tc>
                  <a:txBody>
                    <a:bodyPr/>
                    <a:lstStyle/>
                    <a:p>
                      <a:r>
                        <a:rPr lang="en-US" b="1" dirty="0"/>
                        <a:t>User Repository</a:t>
                      </a:r>
                      <a:endParaRPr lang="en-US" dirty="0"/>
                    </a:p>
                  </a:txBody>
                  <a:tcPr anchor="ctr"/>
                </a:tc>
                <a:tc>
                  <a:txBody>
                    <a:bodyPr/>
                    <a:lstStyle/>
                    <a:p>
                      <a:r>
                        <a:rPr lang="en-US"/>
                        <a:t>Fetches user data from the database.</a:t>
                      </a:r>
                    </a:p>
                  </a:txBody>
                  <a:tcPr anchor="ctr"/>
                </a:tc>
                <a:extLst>
                  <a:ext uri="{0D108BD9-81ED-4DB2-BD59-A6C34878D82A}">
                    <a16:rowId xmlns:a16="http://schemas.microsoft.com/office/drawing/2014/main" val="1452390395"/>
                  </a:ext>
                </a:extLst>
              </a:tr>
              <a:tr h="370840">
                <a:tc>
                  <a:txBody>
                    <a:bodyPr/>
                    <a:lstStyle/>
                    <a:p>
                      <a:r>
                        <a:rPr lang="en-US" b="1"/>
                        <a:t>Token Manager</a:t>
                      </a:r>
                      <a:endParaRPr lang="en-US"/>
                    </a:p>
                  </a:txBody>
                  <a:tcPr anchor="ctr"/>
                </a:tc>
                <a:tc>
                  <a:txBody>
                    <a:bodyPr/>
                    <a:lstStyle/>
                    <a:p>
                      <a:r>
                        <a:rPr lang="en-US"/>
                        <a:t>Generates, validates, and revokes JWT tokens.</a:t>
                      </a:r>
                    </a:p>
                  </a:txBody>
                  <a:tcPr anchor="ctr"/>
                </a:tc>
                <a:extLst>
                  <a:ext uri="{0D108BD9-81ED-4DB2-BD59-A6C34878D82A}">
                    <a16:rowId xmlns:a16="http://schemas.microsoft.com/office/drawing/2014/main" val="670425360"/>
                  </a:ext>
                </a:extLst>
              </a:tr>
              <a:tr h="370840">
                <a:tc>
                  <a:txBody>
                    <a:bodyPr/>
                    <a:lstStyle/>
                    <a:p>
                      <a:r>
                        <a:rPr lang="en-US" b="1"/>
                        <a:t>Notification Service</a:t>
                      </a:r>
                      <a:endParaRPr lang="en-US"/>
                    </a:p>
                  </a:txBody>
                  <a:tcPr anchor="ctr"/>
                </a:tc>
                <a:tc>
                  <a:txBody>
                    <a:bodyPr/>
                    <a:lstStyle/>
                    <a:p>
                      <a:r>
                        <a:rPr lang="en-US" dirty="0"/>
                        <a:t>Sends OTPs and emails (e.g., reset links).</a:t>
                      </a:r>
                    </a:p>
                  </a:txBody>
                  <a:tcPr anchor="ctr"/>
                </a:tc>
                <a:extLst>
                  <a:ext uri="{0D108BD9-81ED-4DB2-BD59-A6C34878D82A}">
                    <a16:rowId xmlns:a16="http://schemas.microsoft.com/office/drawing/2014/main" val="193284183"/>
                  </a:ext>
                </a:extLst>
              </a:tr>
            </a:tbl>
          </a:graphicData>
        </a:graphic>
      </p:graphicFrame>
      <p:sp>
        <p:nvSpPr>
          <p:cNvPr id="9" name="TextBox 8">
            <a:extLst>
              <a:ext uri="{FF2B5EF4-FFF2-40B4-BE49-F238E27FC236}">
                <a16:creationId xmlns:a16="http://schemas.microsoft.com/office/drawing/2014/main" id="{49C0D1D3-B5B4-4B59-B4EE-2E210CE5FB08}"/>
              </a:ext>
            </a:extLst>
          </p:cNvPr>
          <p:cNvSpPr txBox="1"/>
          <p:nvPr/>
        </p:nvSpPr>
        <p:spPr>
          <a:xfrm>
            <a:off x="747712" y="1258561"/>
            <a:ext cx="4049486" cy="369332"/>
          </a:xfrm>
          <a:prstGeom prst="rect">
            <a:avLst/>
          </a:prstGeom>
          <a:noFill/>
        </p:spPr>
        <p:txBody>
          <a:bodyPr wrap="square" rtlCol="0">
            <a:spAutoFit/>
          </a:bodyPr>
          <a:lstStyle/>
          <a:p>
            <a:r>
              <a:rPr lang="en-US" b="1" dirty="0"/>
              <a:t>Module Input/output</a:t>
            </a:r>
          </a:p>
        </p:txBody>
      </p:sp>
      <p:sp>
        <p:nvSpPr>
          <p:cNvPr id="10" name="TextBox 9">
            <a:extLst>
              <a:ext uri="{FF2B5EF4-FFF2-40B4-BE49-F238E27FC236}">
                <a16:creationId xmlns:a16="http://schemas.microsoft.com/office/drawing/2014/main" id="{0B2B908C-3C8C-4829-A4F4-975943EA26BD}"/>
              </a:ext>
            </a:extLst>
          </p:cNvPr>
          <p:cNvSpPr txBox="1"/>
          <p:nvPr/>
        </p:nvSpPr>
        <p:spPr>
          <a:xfrm>
            <a:off x="747712" y="3926286"/>
            <a:ext cx="4049486" cy="369332"/>
          </a:xfrm>
          <a:prstGeom prst="rect">
            <a:avLst/>
          </a:prstGeom>
          <a:noFill/>
        </p:spPr>
        <p:txBody>
          <a:bodyPr wrap="square" rtlCol="0">
            <a:spAutoFit/>
          </a:bodyPr>
          <a:lstStyle/>
          <a:p>
            <a:r>
              <a:rPr lang="en-US" b="1" dirty="0"/>
              <a:t>Module components</a:t>
            </a:r>
          </a:p>
        </p:txBody>
      </p:sp>
    </p:spTree>
    <p:extLst>
      <p:ext uri="{BB962C8B-B14F-4D97-AF65-F5344CB8AC3E}">
        <p14:creationId xmlns:p14="http://schemas.microsoft.com/office/powerpoint/2010/main" val="374901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15629A-0541-4619-A3D8-D057493FCB01}"/>
              </a:ext>
            </a:extLst>
          </p:cNvPr>
          <p:cNvSpPr>
            <a:spLocks noGrp="1"/>
          </p:cNvSpPr>
          <p:nvPr>
            <p:ph idx="1"/>
          </p:nvPr>
        </p:nvSpPr>
        <p:spPr/>
        <p:txBody>
          <a:bodyPr/>
          <a:lstStyle/>
          <a:p>
            <a:pPr>
              <a:lnSpc>
                <a:spcPct val="150000"/>
              </a:lnSpc>
            </a:pPr>
            <a:r>
              <a:rPr lang="en-US" dirty="0"/>
              <a:t>Describes the visual and interactive aspects of the software.</a:t>
            </a:r>
          </a:p>
          <a:p>
            <a:pPr>
              <a:lnSpc>
                <a:spcPct val="150000"/>
              </a:lnSpc>
              <a:buFont typeface="Arial" panose="020B0604020202020204" pitchFamily="34" charset="0"/>
              <a:buChar char="•"/>
            </a:pPr>
            <a:r>
              <a:rPr lang="en-US" b="1" dirty="0"/>
              <a:t>Contents</a:t>
            </a:r>
            <a:r>
              <a:rPr lang="en-US" dirty="0"/>
              <a:t>:</a:t>
            </a:r>
          </a:p>
          <a:p>
            <a:pPr lvl="1">
              <a:lnSpc>
                <a:spcPct val="150000"/>
              </a:lnSpc>
            </a:pPr>
            <a:r>
              <a:rPr lang="en-US" dirty="0"/>
              <a:t>Wireframes (low-fidelity) and mockups (high-fidelity).</a:t>
            </a:r>
          </a:p>
          <a:p>
            <a:pPr lvl="1">
              <a:lnSpc>
                <a:spcPct val="150000"/>
              </a:lnSpc>
            </a:pPr>
            <a:r>
              <a:rPr lang="en-US" dirty="0"/>
              <a:t>User flows and navigation structures.</a:t>
            </a:r>
          </a:p>
          <a:p>
            <a:pPr lvl="1">
              <a:lnSpc>
                <a:spcPct val="150000"/>
              </a:lnSpc>
            </a:pPr>
            <a:r>
              <a:rPr lang="en-US" dirty="0"/>
              <a:t>UI components (buttons, forms, navigation bars).</a:t>
            </a:r>
          </a:p>
          <a:p>
            <a:pPr lvl="1">
              <a:lnSpc>
                <a:spcPct val="150000"/>
              </a:lnSpc>
            </a:pPr>
            <a:r>
              <a:rPr lang="en-US" dirty="0"/>
              <a:t>Design guidelines: typography, color palettes, spacing.</a:t>
            </a:r>
          </a:p>
          <a:p>
            <a:pPr lvl="1">
              <a:lnSpc>
                <a:spcPct val="150000"/>
              </a:lnSpc>
            </a:pPr>
            <a:r>
              <a:rPr lang="en-US" dirty="0"/>
              <a:t>Accessibility considerations.</a:t>
            </a:r>
          </a:p>
          <a:p>
            <a:pPr>
              <a:lnSpc>
                <a:spcPct val="150000"/>
              </a:lnSpc>
            </a:pPr>
            <a:endParaRPr lang="en-US" dirty="0"/>
          </a:p>
        </p:txBody>
      </p:sp>
      <p:sp>
        <p:nvSpPr>
          <p:cNvPr id="3" name="Slide Number Placeholder 2">
            <a:extLst>
              <a:ext uri="{FF2B5EF4-FFF2-40B4-BE49-F238E27FC236}">
                <a16:creationId xmlns:a16="http://schemas.microsoft.com/office/drawing/2014/main" id="{5D0BE5B0-726C-4F98-902B-1AF1B05F64A3}"/>
              </a:ext>
            </a:extLst>
          </p:cNvPr>
          <p:cNvSpPr>
            <a:spLocks noGrp="1"/>
          </p:cNvSpPr>
          <p:nvPr>
            <p:ph type="sldNum" sz="quarter" idx="4"/>
          </p:nvPr>
        </p:nvSpPr>
        <p:spPr/>
        <p:txBody>
          <a:bodyPr/>
          <a:lstStyle/>
          <a:p>
            <a:fld id="{31D26D55-0A22-487A-A687-61FB58A6F16A}" type="slidenum">
              <a:rPr lang="en-US" smtClean="0"/>
              <a:pPr/>
              <a:t>20</a:t>
            </a:fld>
            <a:endParaRPr lang="en-US" dirty="0"/>
          </a:p>
        </p:txBody>
      </p:sp>
      <p:sp>
        <p:nvSpPr>
          <p:cNvPr id="4" name="Title 3">
            <a:extLst>
              <a:ext uri="{FF2B5EF4-FFF2-40B4-BE49-F238E27FC236}">
                <a16:creationId xmlns:a16="http://schemas.microsoft.com/office/drawing/2014/main" id="{64E9FE7F-BAA6-4448-8CAA-501325A6ABF9}"/>
              </a:ext>
            </a:extLst>
          </p:cNvPr>
          <p:cNvSpPr>
            <a:spLocks noGrp="1"/>
          </p:cNvSpPr>
          <p:nvPr>
            <p:ph type="title"/>
          </p:nvPr>
        </p:nvSpPr>
        <p:spPr/>
        <p:txBody>
          <a:bodyPr>
            <a:normAutofit/>
          </a:bodyPr>
          <a:lstStyle/>
          <a:p>
            <a:r>
              <a:rPr lang="en-US" dirty="0"/>
              <a:t>UI/UX Design Document</a:t>
            </a:r>
          </a:p>
        </p:txBody>
      </p:sp>
    </p:spTree>
    <p:extLst>
      <p:ext uri="{BB962C8B-B14F-4D97-AF65-F5344CB8AC3E}">
        <p14:creationId xmlns:p14="http://schemas.microsoft.com/office/powerpoint/2010/main" val="37806478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1A590C7-A79E-42C0-B4FC-34DEFEFB2FB7}"/>
              </a:ext>
            </a:extLst>
          </p:cNvPr>
          <p:cNvPicPr>
            <a:picLocks noGrp="1" noChangeAspect="1"/>
          </p:cNvPicPr>
          <p:nvPr>
            <p:ph idx="1"/>
          </p:nvPr>
        </p:nvPicPr>
        <p:blipFill>
          <a:blip r:embed="rId3"/>
          <a:stretch>
            <a:fillRect/>
          </a:stretch>
        </p:blipFill>
        <p:spPr>
          <a:xfrm>
            <a:off x="2403508" y="1917700"/>
            <a:ext cx="9853546" cy="5494338"/>
          </a:xfrm>
        </p:spPr>
      </p:pic>
      <p:sp>
        <p:nvSpPr>
          <p:cNvPr id="3" name="Slide Number Placeholder 2">
            <a:extLst>
              <a:ext uri="{FF2B5EF4-FFF2-40B4-BE49-F238E27FC236}">
                <a16:creationId xmlns:a16="http://schemas.microsoft.com/office/drawing/2014/main" id="{6B6C22F3-0D6B-4067-9510-9750D622C6F4}"/>
              </a:ext>
            </a:extLst>
          </p:cNvPr>
          <p:cNvSpPr>
            <a:spLocks noGrp="1"/>
          </p:cNvSpPr>
          <p:nvPr>
            <p:ph type="sldNum" sz="quarter" idx="4"/>
          </p:nvPr>
        </p:nvSpPr>
        <p:spPr/>
        <p:txBody>
          <a:bodyPr/>
          <a:lstStyle/>
          <a:p>
            <a:fld id="{31D26D55-0A22-487A-A687-61FB58A6F16A}" type="slidenum">
              <a:rPr lang="en-US" smtClean="0"/>
              <a:pPr/>
              <a:t>21</a:t>
            </a:fld>
            <a:endParaRPr lang="en-US" dirty="0"/>
          </a:p>
        </p:txBody>
      </p:sp>
      <p:sp>
        <p:nvSpPr>
          <p:cNvPr id="4" name="Title 3">
            <a:extLst>
              <a:ext uri="{FF2B5EF4-FFF2-40B4-BE49-F238E27FC236}">
                <a16:creationId xmlns:a16="http://schemas.microsoft.com/office/drawing/2014/main" id="{3C9CA0ED-4DE7-4485-8B1A-8A1C00624C1E}"/>
              </a:ext>
            </a:extLst>
          </p:cNvPr>
          <p:cNvSpPr>
            <a:spLocks noGrp="1"/>
          </p:cNvSpPr>
          <p:nvPr>
            <p:ph type="title"/>
          </p:nvPr>
        </p:nvSpPr>
        <p:spPr/>
        <p:txBody>
          <a:bodyPr/>
          <a:lstStyle/>
          <a:p>
            <a:r>
              <a:rPr lang="en-US" dirty="0"/>
              <a:t>UI/UX Design </a:t>
            </a:r>
            <a:r>
              <a:rPr lang="en-US" dirty="0" err="1"/>
              <a:t>Excample</a:t>
            </a:r>
            <a:r>
              <a:rPr lang="en-US" dirty="0"/>
              <a:t>: Wireframe</a:t>
            </a:r>
          </a:p>
        </p:txBody>
      </p:sp>
    </p:spTree>
    <p:extLst>
      <p:ext uri="{BB962C8B-B14F-4D97-AF65-F5344CB8AC3E}">
        <p14:creationId xmlns:p14="http://schemas.microsoft.com/office/powerpoint/2010/main" val="3810094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92CBBE-CB25-4276-8859-18EFDE4909C1}"/>
              </a:ext>
            </a:extLst>
          </p:cNvPr>
          <p:cNvSpPr>
            <a:spLocks noGrp="1"/>
          </p:cNvSpPr>
          <p:nvPr>
            <p:ph idx="1"/>
          </p:nvPr>
        </p:nvSpPr>
        <p:spPr/>
        <p:txBody>
          <a:bodyPr>
            <a:normAutofit fontScale="92500"/>
          </a:bodyPr>
          <a:lstStyle/>
          <a:p>
            <a:pPr>
              <a:lnSpc>
                <a:spcPct val="150000"/>
              </a:lnSpc>
            </a:pPr>
            <a:r>
              <a:rPr lang="en-US" dirty="0"/>
              <a:t>Describes the design and structure of APIs for internal or external use.</a:t>
            </a:r>
          </a:p>
          <a:p>
            <a:pPr>
              <a:lnSpc>
                <a:spcPct val="150000"/>
              </a:lnSpc>
              <a:buFont typeface="Arial" panose="020B0604020202020204" pitchFamily="34" charset="0"/>
              <a:buChar char="•"/>
            </a:pPr>
            <a:r>
              <a:rPr lang="en-US" b="1" dirty="0"/>
              <a:t>Contents</a:t>
            </a:r>
            <a:r>
              <a:rPr lang="en-US" dirty="0"/>
              <a:t>:</a:t>
            </a:r>
          </a:p>
          <a:p>
            <a:pPr lvl="1">
              <a:lnSpc>
                <a:spcPct val="150000"/>
              </a:lnSpc>
            </a:pPr>
            <a:r>
              <a:rPr lang="en-US" dirty="0"/>
              <a:t>API endpoints with HTTP methods.</a:t>
            </a:r>
          </a:p>
          <a:p>
            <a:pPr lvl="1">
              <a:lnSpc>
                <a:spcPct val="150000"/>
              </a:lnSpc>
            </a:pPr>
            <a:r>
              <a:rPr lang="en-US" dirty="0"/>
              <a:t>Request/response payloads (JSON, XML).</a:t>
            </a:r>
          </a:p>
          <a:p>
            <a:pPr lvl="1">
              <a:lnSpc>
                <a:spcPct val="150000"/>
              </a:lnSpc>
            </a:pPr>
            <a:r>
              <a:rPr lang="en-US" dirty="0"/>
              <a:t>Authentication mechanisms (e.g., OAuth 2.0, API keys).</a:t>
            </a:r>
          </a:p>
          <a:p>
            <a:pPr lvl="1">
              <a:lnSpc>
                <a:spcPct val="150000"/>
              </a:lnSpc>
            </a:pPr>
            <a:r>
              <a:rPr lang="en-US" dirty="0"/>
              <a:t>Error handling and status codes.</a:t>
            </a:r>
          </a:p>
          <a:p>
            <a:pPr lvl="1">
              <a:lnSpc>
                <a:spcPct val="150000"/>
              </a:lnSpc>
            </a:pPr>
            <a:r>
              <a:rPr lang="en-US" dirty="0"/>
              <a:t>Rate limiting policies.</a:t>
            </a:r>
          </a:p>
          <a:p>
            <a:pPr>
              <a:lnSpc>
                <a:spcPct val="150000"/>
              </a:lnSpc>
            </a:pPr>
            <a:endParaRPr lang="en-US" dirty="0"/>
          </a:p>
        </p:txBody>
      </p:sp>
      <p:sp>
        <p:nvSpPr>
          <p:cNvPr id="3" name="Slide Number Placeholder 2">
            <a:extLst>
              <a:ext uri="{FF2B5EF4-FFF2-40B4-BE49-F238E27FC236}">
                <a16:creationId xmlns:a16="http://schemas.microsoft.com/office/drawing/2014/main" id="{F54D55AA-AC51-4AB2-A4E7-43220A49B08D}"/>
              </a:ext>
            </a:extLst>
          </p:cNvPr>
          <p:cNvSpPr>
            <a:spLocks noGrp="1"/>
          </p:cNvSpPr>
          <p:nvPr>
            <p:ph type="sldNum" sz="quarter" idx="4"/>
          </p:nvPr>
        </p:nvSpPr>
        <p:spPr/>
        <p:txBody>
          <a:bodyPr/>
          <a:lstStyle/>
          <a:p>
            <a:fld id="{31D26D55-0A22-487A-A687-61FB58A6F16A}" type="slidenum">
              <a:rPr lang="en-US" smtClean="0"/>
              <a:pPr/>
              <a:t>22</a:t>
            </a:fld>
            <a:endParaRPr lang="en-US" dirty="0"/>
          </a:p>
        </p:txBody>
      </p:sp>
      <p:sp>
        <p:nvSpPr>
          <p:cNvPr id="4" name="Title 3">
            <a:extLst>
              <a:ext uri="{FF2B5EF4-FFF2-40B4-BE49-F238E27FC236}">
                <a16:creationId xmlns:a16="http://schemas.microsoft.com/office/drawing/2014/main" id="{B4D56867-FFEF-4DE0-8E4B-398A1347896B}"/>
              </a:ext>
            </a:extLst>
          </p:cNvPr>
          <p:cNvSpPr>
            <a:spLocks noGrp="1"/>
          </p:cNvSpPr>
          <p:nvPr>
            <p:ph type="title"/>
          </p:nvPr>
        </p:nvSpPr>
        <p:spPr/>
        <p:txBody>
          <a:bodyPr/>
          <a:lstStyle/>
          <a:p>
            <a:r>
              <a:rPr lang="en-US" dirty="0"/>
              <a:t>API Design Document</a:t>
            </a:r>
          </a:p>
        </p:txBody>
      </p:sp>
    </p:spTree>
    <p:extLst>
      <p:ext uri="{BB962C8B-B14F-4D97-AF65-F5344CB8AC3E}">
        <p14:creationId xmlns:p14="http://schemas.microsoft.com/office/powerpoint/2010/main" val="2170392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F824456-D9D1-4072-869B-E447F146EF18}"/>
              </a:ext>
            </a:extLst>
          </p:cNvPr>
          <p:cNvSpPr>
            <a:spLocks noGrp="1"/>
          </p:cNvSpPr>
          <p:nvPr>
            <p:ph type="sldNum" sz="quarter" idx="4"/>
          </p:nvPr>
        </p:nvSpPr>
        <p:spPr/>
        <p:txBody>
          <a:bodyPr/>
          <a:lstStyle/>
          <a:p>
            <a:fld id="{31D26D55-0A22-487A-A687-61FB58A6F16A}" type="slidenum">
              <a:rPr lang="en-US" smtClean="0"/>
              <a:pPr/>
              <a:t>23</a:t>
            </a:fld>
            <a:endParaRPr lang="en-US" dirty="0"/>
          </a:p>
        </p:txBody>
      </p:sp>
      <p:sp>
        <p:nvSpPr>
          <p:cNvPr id="4" name="Title 3">
            <a:extLst>
              <a:ext uri="{FF2B5EF4-FFF2-40B4-BE49-F238E27FC236}">
                <a16:creationId xmlns:a16="http://schemas.microsoft.com/office/drawing/2014/main" id="{2B383AE8-70CD-4169-BF39-A8A81553D8F2}"/>
              </a:ext>
            </a:extLst>
          </p:cNvPr>
          <p:cNvSpPr>
            <a:spLocks noGrp="1"/>
          </p:cNvSpPr>
          <p:nvPr>
            <p:ph type="title"/>
          </p:nvPr>
        </p:nvSpPr>
        <p:spPr/>
        <p:txBody>
          <a:bodyPr/>
          <a:lstStyle/>
          <a:p>
            <a:r>
              <a:rPr lang="en-US" dirty="0"/>
              <a:t>API Design Sample</a:t>
            </a:r>
          </a:p>
        </p:txBody>
      </p:sp>
      <p:pic>
        <p:nvPicPr>
          <p:cNvPr id="8" name="Content Placeholder 7">
            <a:extLst>
              <a:ext uri="{FF2B5EF4-FFF2-40B4-BE49-F238E27FC236}">
                <a16:creationId xmlns:a16="http://schemas.microsoft.com/office/drawing/2014/main" id="{5A18F244-7BE9-415D-97A8-B101D0435757}"/>
              </a:ext>
            </a:extLst>
          </p:cNvPr>
          <p:cNvPicPr>
            <a:picLocks noGrp="1" noChangeAspect="1"/>
          </p:cNvPicPr>
          <p:nvPr>
            <p:ph idx="1"/>
          </p:nvPr>
        </p:nvPicPr>
        <p:blipFill>
          <a:blip r:embed="rId2"/>
          <a:stretch>
            <a:fillRect/>
          </a:stretch>
        </p:blipFill>
        <p:spPr bwMode="auto">
          <a:xfrm>
            <a:off x="7099102" y="1382122"/>
            <a:ext cx="6616897" cy="6111441"/>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1">
            <a:extLst>
              <a:ext uri="{FF2B5EF4-FFF2-40B4-BE49-F238E27FC236}">
                <a16:creationId xmlns:a16="http://schemas.microsoft.com/office/drawing/2014/main" id="{B09EEEDE-F4E6-4FA0-99C7-234BEE4E7A12}"/>
              </a:ext>
            </a:extLst>
          </p:cNvPr>
          <p:cNvSpPr txBox="1">
            <a:spLocks/>
          </p:cNvSpPr>
          <p:nvPr/>
        </p:nvSpPr>
        <p:spPr>
          <a:xfrm>
            <a:off x="511869" y="1690453"/>
            <a:ext cx="6176314" cy="5494778"/>
          </a:xfrm>
          <a:prstGeom prst="rect">
            <a:avLst/>
          </a:prstGeom>
        </p:spPr>
        <p:txBody>
          <a:bodyPr vert="horz" lIns="91440" tIns="45720" rIns="91440" bIns="45720" rtlCol="0">
            <a:norm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j-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j-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j-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nSpc>
                <a:spcPct val="150000"/>
              </a:lnSpc>
            </a:pPr>
            <a:r>
              <a:rPr lang="en-US" dirty="0"/>
              <a:t>Method</a:t>
            </a:r>
          </a:p>
          <a:p>
            <a:pPr>
              <a:lnSpc>
                <a:spcPct val="150000"/>
              </a:lnSpc>
            </a:pPr>
            <a:r>
              <a:rPr lang="en-US" dirty="0"/>
              <a:t>URL</a:t>
            </a:r>
          </a:p>
          <a:p>
            <a:pPr>
              <a:lnSpc>
                <a:spcPct val="150000"/>
              </a:lnSpc>
            </a:pPr>
            <a:r>
              <a:rPr lang="en-US" dirty="0"/>
              <a:t>Input params and descriptions</a:t>
            </a:r>
          </a:p>
          <a:p>
            <a:pPr>
              <a:lnSpc>
                <a:spcPct val="150000"/>
              </a:lnSpc>
            </a:pPr>
            <a:r>
              <a:rPr lang="en-US" dirty="0"/>
              <a:t>Response field and descriptions</a:t>
            </a:r>
          </a:p>
          <a:p>
            <a:pPr>
              <a:lnSpc>
                <a:spcPct val="150000"/>
              </a:lnSpc>
            </a:pPr>
            <a:r>
              <a:rPr lang="en-US" dirty="0"/>
              <a:t>Curl sample</a:t>
            </a:r>
          </a:p>
        </p:txBody>
      </p:sp>
    </p:spTree>
    <p:extLst>
      <p:ext uri="{BB962C8B-B14F-4D97-AF65-F5344CB8AC3E}">
        <p14:creationId xmlns:p14="http://schemas.microsoft.com/office/powerpoint/2010/main" val="611906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6BC194-57A7-4BCC-A927-F418B8FF748D}"/>
              </a:ext>
            </a:extLst>
          </p:cNvPr>
          <p:cNvSpPr>
            <a:spLocks noGrp="1"/>
          </p:cNvSpPr>
          <p:nvPr>
            <p:ph idx="1"/>
          </p:nvPr>
        </p:nvSpPr>
        <p:spPr/>
        <p:txBody>
          <a:bodyPr>
            <a:normAutofit fontScale="92500"/>
          </a:bodyPr>
          <a:lstStyle/>
          <a:p>
            <a:pPr>
              <a:lnSpc>
                <a:spcPct val="150000"/>
              </a:lnSpc>
            </a:pPr>
            <a:r>
              <a:rPr lang="en-US" dirty="0"/>
              <a:t>Describes the strategies and mechanisms to ensure system security.</a:t>
            </a:r>
          </a:p>
          <a:p>
            <a:pPr>
              <a:lnSpc>
                <a:spcPct val="150000"/>
              </a:lnSpc>
              <a:buFont typeface="Arial" panose="020B0604020202020204" pitchFamily="34" charset="0"/>
              <a:buChar char="•"/>
            </a:pPr>
            <a:r>
              <a:rPr lang="en-US" b="1" dirty="0"/>
              <a:t>Contents</a:t>
            </a:r>
            <a:r>
              <a:rPr lang="en-US" dirty="0"/>
              <a:t>:</a:t>
            </a:r>
          </a:p>
          <a:p>
            <a:pPr lvl="1">
              <a:lnSpc>
                <a:spcPct val="150000"/>
              </a:lnSpc>
            </a:pPr>
            <a:r>
              <a:rPr lang="en-US" dirty="0"/>
              <a:t>Authentication and authorization mechanisms.</a:t>
            </a:r>
          </a:p>
          <a:p>
            <a:pPr lvl="1">
              <a:lnSpc>
                <a:spcPct val="150000"/>
              </a:lnSpc>
            </a:pPr>
            <a:r>
              <a:rPr lang="en-US" dirty="0"/>
              <a:t>Data encryption (in transit and at rest).</a:t>
            </a:r>
          </a:p>
          <a:p>
            <a:pPr lvl="1">
              <a:lnSpc>
                <a:spcPct val="150000"/>
              </a:lnSpc>
            </a:pPr>
            <a:r>
              <a:rPr lang="en-US" dirty="0"/>
              <a:t>Input validation and sanitization.</a:t>
            </a:r>
          </a:p>
          <a:p>
            <a:pPr lvl="1">
              <a:lnSpc>
                <a:spcPct val="150000"/>
              </a:lnSpc>
            </a:pPr>
            <a:r>
              <a:rPr lang="en-US" dirty="0"/>
              <a:t>Compliance with security standards (GDPR, PCI-DSS, HIPAA).</a:t>
            </a:r>
          </a:p>
          <a:p>
            <a:pPr lvl="1">
              <a:lnSpc>
                <a:spcPct val="150000"/>
              </a:lnSpc>
            </a:pPr>
            <a:r>
              <a:rPr lang="en-US" dirty="0"/>
              <a:t>Threat modeling and mitigation strategies.</a:t>
            </a:r>
          </a:p>
          <a:p>
            <a:pPr>
              <a:lnSpc>
                <a:spcPct val="150000"/>
              </a:lnSpc>
            </a:pPr>
            <a:endParaRPr lang="en-US" dirty="0"/>
          </a:p>
        </p:txBody>
      </p:sp>
      <p:sp>
        <p:nvSpPr>
          <p:cNvPr id="3" name="Slide Number Placeholder 2">
            <a:extLst>
              <a:ext uri="{FF2B5EF4-FFF2-40B4-BE49-F238E27FC236}">
                <a16:creationId xmlns:a16="http://schemas.microsoft.com/office/drawing/2014/main" id="{5D5055BD-8FA5-4C7D-8CFF-D63142A9D2C5}"/>
              </a:ext>
            </a:extLst>
          </p:cNvPr>
          <p:cNvSpPr>
            <a:spLocks noGrp="1"/>
          </p:cNvSpPr>
          <p:nvPr>
            <p:ph type="sldNum" sz="quarter" idx="4"/>
          </p:nvPr>
        </p:nvSpPr>
        <p:spPr/>
        <p:txBody>
          <a:bodyPr/>
          <a:lstStyle/>
          <a:p>
            <a:fld id="{31D26D55-0A22-487A-A687-61FB58A6F16A}" type="slidenum">
              <a:rPr lang="en-US" smtClean="0"/>
              <a:pPr/>
              <a:t>24</a:t>
            </a:fld>
            <a:endParaRPr lang="en-US" dirty="0"/>
          </a:p>
        </p:txBody>
      </p:sp>
      <p:sp>
        <p:nvSpPr>
          <p:cNvPr id="4" name="Title 3">
            <a:extLst>
              <a:ext uri="{FF2B5EF4-FFF2-40B4-BE49-F238E27FC236}">
                <a16:creationId xmlns:a16="http://schemas.microsoft.com/office/drawing/2014/main" id="{1E91D917-F0D5-41A5-8E3E-B963E1FBFD3D}"/>
              </a:ext>
            </a:extLst>
          </p:cNvPr>
          <p:cNvSpPr>
            <a:spLocks noGrp="1"/>
          </p:cNvSpPr>
          <p:nvPr>
            <p:ph type="title"/>
          </p:nvPr>
        </p:nvSpPr>
        <p:spPr/>
        <p:txBody>
          <a:bodyPr/>
          <a:lstStyle/>
          <a:p>
            <a:r>
              <a:rPr lang="en-US" dirty="0"/>
              <a:t>Security Design Document</a:t>
            </a:r>
          </a:p>
        </p:txBody>
      </p:sp>
    </p:spTree>
    <p:extLst>
      <p:ext uri="{BB962C8B-B14F-4D97-AF65-F5344CB8AC3E}">
        <p14:creationId xmlns:p14="http://schemas.microsoft.com/office/powerpoint/2010/main" val="3872929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8D0A98-7390-48B7-A8AE-89374F341A44}"/>
              </a:ext>
            </a:extLst>
          </p:cNvPr>
          <p:cNvSpPr>
            <a:spLocks noGrp="1"/>
          </p:cNvSpPr>
          <p:nvPr>
            <p:ph type="sldNum" sz="quarter" idx="4"/>
          </p:nvPr>
        </p:nvSpPr>
        <p:spPr/>
        <p:txBody>
          <a:bodyPr/>
          <a:lstStyle/>
          <a:p>
            <a:fld id="{31D26D55-0A22-487A-A687-61FB58A6F16A}" type="slidenum">
              <a:rPr lang="en-US" smtClean="0"/>
              <a:pPr/>
              <a:t>25</a:t>
            </a:fld>
            <a:endParaRPr lang="en-US" dirty="0"/>
          </a:p>
        </p:txBody>
      </p:sp>
      <p:sp>
        <p:nvSpPr>
          <p:cNvPr id="4" name="Title 3">
            <a:extLst>
              <a:ext uri="{FF2B5EF4-FFF2-40B4-BE49-F238E27FC236}">
                <a16:creationId xmlns:a16="http://schemas.microsoft.com/office/drawing/2014/main" id="{898F04D8-260A-4BA6-977E-D5614496C9EF}"/>
              </a:ext>
            </a:extLst>
          </p:cNvPr>
          <p:cNvSpPr>
            <a:spLocks noGrp="1"/>
          </p:cNvSpPr>
          <p:nvPr>
            <p:ph type="title"/>
          </p:nvPr>
        </p:nvSpPr>
        <p:spPr/>
        <p:txBody>
          <a:bodyPr/>
          <a:lstStyle/>
          <a:p>
            <a:r>
              <a:rPr lang="en-US" dirty="0"/>
              <a:t>Security Design Example</a:t>
            </a:r>
          </a:p>
        </p:txBody>
      </p:sp>
      <p:pic>
        <p:nvPicPr>
          <p:cNvPr id="8" name="Content Placeholder 7">
            <a:extLst>
              <a:ext uri="{FF2B5EF4-FFF2-40B4-BE49-F238E27FC236}">
                <a16:creationId xmlns:a16="http://schemas.microsoft.com/office/drawing/2014/main" id="{87D24191-1D84-44D4-A29D-7DA134C5516B}"/>
              </a:ext>
            </a:extLst>
          </p:cNvPr>
          <p:cNvPicPr>
            <a:picLocks noGrp="1" noChangeAspect="1"/>
          </p:cNvPicPr>
          <p:nvPr>
            <p:ph idx="1"/>
          </p:nvPr>
        </p:nvPicPr>
        <p:blipFill>
          <a:blip r:embed="rId3"/>
          <a:stretch>
            <a:fillRect/>
          </a:stretch>
        </p:blipFill>
        <p:spPr bwMode="auto">
          <a:xfrm>
            <a:off x="2985892" y="1959152"/>
            <a:ext cx="8688779" cy="5411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2474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814BD0-E78D-4468-9FDF-37DEB34BD75A}"/>
              </a:ext>
            </a:extLst>
          </p:cNvPr>
          <p:cNvSpPr>
            <a:spLocks noGrp="1"/>
          </p:cNvSpPr>
          <p:nvPr>
            <p:ph idx="1"/>
          </p:nvPr>
        </p:nvSpPr>
        <p:spPr/>
        <p:txBody>
          <a:bodyPr/>
          <a:lstStyle/>
          <a:p>
            <a:pPr>
              <a:lnSpc>
                <a:spcPct val="150000"/>
              </a:lnSpc>
            </a:pPr>
            <a:r>
              <a:rPr lang="en-US" dirty="0"/>
              <a:t>Outlines deployment, monitoring, and maintenance processes.</a:t>
            </a:r>
          </a:p>
          <a:p>
            <a:pPr>
              <a:lnSpc>
                <a:spcPct val="150000"/>
              </a:lnSpc>
              <a:buFont typeface="Arial" panose="020B0604020202020204" pitchFamily="34" charset="0"/>
              <a:buChar char="•"/>
            </a:pPr>
            <a:r>
              <a:rPr lang="en-US" b="1" dirty="0"/>
              <a:t>Contents</a:t>
            </a:r>
            <a:r>
              <a:rPr lang="en-US" dirty="0"/>
              <a:t>:</a:t>
            </a:r>
          </a:p>
          <a:p>
            <a:pPr lvl="1">
              <a:lnSpc>
                <a:spcPct val="150000"/>
              </a:lnSpc>
            </a:pPr>
            <a:r>
              <a:rPr lang="en-US" dirty="0"/>
              <a:t>Deployment environments and strategies (blue-green, canary releases).</a:t>
            </a:r>
          </a:p>
          <a:p>
            <a:pPr lvl="1">
              <a:lnSpc>
                <a:spcPct val="150000"/>
              </a:lnSpc>
            </a:pPr>
            <a:r>
              <a:rPr lang="en-US" dirty="0"/>
              <a:t>CI/CD pipelines and automation tools.</a:t>
            </a:r>
          </a:p>
          <a:p>
            <a:pPr lvl="1">
              <a:lnSpc>
                <a:spcPct val="150000"/>
              </a:lnSpc>
            </a:pPr>
            <a:r>
              <a:rPr lang="en-US" dirty="0"/>
              <a:t>Infrastructure as Code (</a:t>
            </a:r>
            <a:r>
              <a:rPr lang="en-US" dirty="0" err="1"/>
              <a:t>IaC</a:t>
            </a:r>
            <a:r>
              <a:rPr lang="en-US" dirty="0"/>
              <a:t>) configurations.</a:t>
            </a:r>
          </a:p>
          <a:p>
            <a:pPr lvl="1">
              <a:lnSpc>
                <a:spcPct val="150000"/>
              </a:lnSpc>
            </a:pPr>
            <a:r>
              <a:rPr lang="en-US" dirty="0"/>
              <a:t>Monitoring and logging tools.</a:t>
            </a:r>
          </a:p>
          <a:p>
            <a:pPr lvl="1">
              <a:lnSpc>
                <a:spcPct val="150000"/>
              </a:lnSpc>
            </a:pPr>
            <a:r>
              <a:rPr lang="en-US" dirty="0"/>
              <a:t>Backup and disaster recovery plans.</a:t>
            </a:r>
          </a:p>
          <a:p>
            <a:pPr>
              <a:lnSpc>
                <a:spcPct val="150000"/>
              </a:lnSpc>
            </a:pPr>
            <a:endParaRPr lang="en-US" dirty="0"/>
          </a:p>
        </p:txBody>
      </p:sp>
      <p:sp>
        <p:nvSpPr>
          <p:cNvPr id="3" name="Slide Number Placeholder 2">
            <a:extLst>
              <a:ext uri="{FF2B5EF4-FFF2-40B4-BE49-F238E27FC236}">
                <a16:creationId xmlns:a16="http://schemas.microsoft.com/office/drawing/2014/main" id="{8A9B6596-0B23-40B3-ACB3-00031C1E3EFE}"/>
              </a:ext>
            </a:extLst>
          </p:cNvPr>
          <p:cNvSpPr>
            <a:spLocks noGrp="1"/>
          </p:cNvSpPr>
          <p:nvPr>
            <p:ph type="sldNum" sz="quarter" idx="4"/>
          </p:nvPr>
        </p:nvSpPr>
        <p:spPr/>
        <p:txBody>
          <a:bodyPr/>
          <a:lstStyle/>
          <a:p>
            <a:fld id="{31D26D55-0A22-487A-A687-61FB58A6F16A}" type="slidenum">
              <a:rPr lang="en-US" smtClean="0"/>
              <a:pPr/>
              <a:t>26</a:t>
            </a:fld>
            <a:endParaRPr lang="en-US" dirty="0"/>
          </a:p>
        </p:txBody>
      </p:sp>
      <p:sp>
        <p:nvSpPr>
          <p:cNvPr id="4" name="Title 3">
            <a:extLst>
              <a:ext uri="{FF2B5EF4-FFF2-40B4-BE49-F238E27FC236}">
                <a16:creationId xmlns:a16="http://schemas.microsoft.com/office/drawing/2014/main" id="{84CF6249-FF7A-4307-9858-CFDD1048AA20}"/>
              </a:ext>
            </a:extLst>
          </p:cNvPr>
          <p:cNvSpPr>
            <a:spLocks noGrp="1"/>
          </p:cNvSpPr>
          <p:nvPr>
            <p:ph type="title"/>
          </p:nvPr>
        </p:nvSpPr>
        <p:spPr>
          <a:xfrm>
            <a:off x="747000" y="23152"/>
            <a:ext cx="10975981" cy="548640"/>
          </a:xfrm>
        </p:spPr>
        <p:txBody>
          <a:bodyPr/>
          <a:lstStyle/>
          <a:p>
            <a:r>
              <a:rPr lang="en-US" dirty="0"/>
              <a:t>Deployment and Maintenance Document</a:t>
            </a:r>
          </a:p>
        </p:txBody>
      </p:sp>
    </p:spTree>
    <p:extLst>
      <p:ext uri="{BB962C8B-B14F-4D97-AF65-F5344CB8AC3E}">
        <p14:creationId xmlns:p14="http://schemas.microsoft.com/office/powerpoint/2010/main" val="10638082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56ADA1-81A7-4260-9D7C-292E8420F07E}"/>
              </a:ext>
            </a:extLst>
          </p:cNvPr>
          <p:cNvSpPr>
            <a:spLocks noGrp="1"/>
          </p:cNvSpPr>
          <p:nvPr>
            <p:ph idx="1"/>
          </p:nvPr>
        </p:nvSpPr>
        <p:spPr>
          <a:xfrm>
            <a:off x="747000" y="836023"/>
            <a:ext cx="13166084" cy="6576332"/>
          </a:xfrm>
        </p:spPr>
        <p:txBody>
          <a:bodyPr>
            <a:normAutofit fontScale="85000" lnSpcReduction="20000"/>
          </a:bodyPr>
          <a:lstStyle/>
          <a:p>
            <a:pPr>
              <a:buFont typeface="Arial" panose="020B0604020202020204" pitchFamily="34" charset="0"/>
              <a:buChar char="•"/>
            </a:pPr>
            <a:r>
              <a:rPr lang="en-US" b="1" dirty="0"/>
              <a:t>System Requirements:</a:t>
            </a:r>
          </a:p>
          <a:p>
            <a:pPr lvl="1"/>
            <a:r>
              <a:rPr lang="en-US" dirty="0"/>
              <a:t>OS: Windows/Linux [specify version]</a:t>
            </a:r>
          </a:p>
          <a:p>
            <a:pPr lvl="1"/>
            <a:r>
              <a:rPr lang="en-US" dirty="0"/>
              <a:t>RAM: [e.g., 16GB]</a:t>
            </a:r>
          </a:p>
          <a:p>
            <a:pPr lvl="1"/>
            <a:r>
              <a:rPr lang="en-US" dirty="0"/>
              <a:t>Disk Space: [e.g., 100GB]</a:t>
            </a:r>
          </a:p>
          <a:p>
            <a:r>
              <a:rPr lang="en-US" b="1" dirty="0"/>
              <a:t>Deployment Procedure:</a:t>
            </a:r>
          </a:p>
          <a:p>
            <a:pPr lvl="1"/>
            <a:r>
              <a:rPr lang="en-US" dirty="0"/>
              <a:t>Prepare the Environment:</a:t>
            </a:r>
          </a:p>
          <a:p>
            <a:pPr lvl="2"/>
            <a:r>
              <a:rPr lang="en-US" dirty="0"/>
              <a:t>Connect to the target server via SSH.</a:t>
            </a:r>
          </a:p>
          <a:p>
            <a:pPr lvl="2"/>
            <a:r>
              <a:rPr lang="en-US" dirty="0"/>
              <a:t>Install required dependencies using apt-get or yum.</a:t>
            </a:r>
          </a:p>
          <a:p>
            <a:pPr lvl="1"/>
            <a:r>
              <a:rPr lang="en-US" dirty="0"/>
              <a:t>Deploy the Application:</a:t>
            </a:r>
          </a:p>
          <a:p>
            <a:pPr lvl="2"/>
            <a:r>
              <a:rPr lang="en-US" dirty="0"/>
              <a:t>Use docker-compose up or equivalent.</a:t>
            </a:r>
          </a:p>
          <a:p>
            <a:pPr lvl="2"/>
            <a:r>
              <a:rPr lang="en-US" dirty="0"/>
              <a:t>Verify that all services are running.</a:t>
            </a:r>
          </a:p>
          <a:p>
            <a:pPr lvl="1"/>
            <a:r>
              <a:rPr lang="en-US" dirty="0"/>
              <a:t>Database Migration (if required):</a:t>
            </a:r>
          </a:p>
          <a:p>
            <a:pPr lvl="2"/>
            <a:r>
              <a:rPr lang="en-US" dirty="0"/>
              <a:t>Run migration scripts using python manage.py migrate (for Django, as an example).</a:t>
            </a:r>
          </a:p>
          <a:p>
            <a:pPr lvl="1"/>
            <a:r>
              <a:rPr lang="en-US" dirty="0"/>
              <a:t>Verification:</a:t>
            </a:r>
          </a:p>
          <a:p>
            <a:pPr lvl="2"/>
            <a:r>
              <a:rPr lang="en-US" dirty="0"/>
              <a:t>Confirm deployment success by checking application logs (tail -f logs/app.log).</a:t>
            </a:r>
          </a:p>
          <a:p>
            <a:r>
              <a:rPr lang="en-US" b="1" dirty="0"/>
              <a:t>Rollback Plan:</a:t>
            </a:r>
          </a:p>
          <a:p>
            <a:pPr lvl="1"/>
            <a:r>
              <a:rPr lang="en-US" dirty="0"/>
              <a:t>If deployment fails, restore from the most recent backup.</a:t>
            </a:r>
          </a:p>
          <a:p>
            <a:pPr lvl="1"/>
            <a:r>
              <a:rPr lang="en-US" dirty="0"/>
              <a:t>Run rollback scripts [location/path].</a:t>
            </a:r>
          </a:p>
          <a:p>
            <a:endParaRPr lang="en-US" dirty="0"/>
          </a:p>
        </p:txBody>
      </p:sp>
      <p:sp>
        <p:nvSpPr>
          <p:cNvPr id="3" name="Slide Number Placeholder 2">
            <a:extLst>
              <a:ext uri="{FF2B5EF4-FFF2-40B4-BE49-F238E27FC236}">
                <a16:creationId xmlns:a16="http://schemas.microsoft.com/office/drawing/2014/main" id="{5B187691-8480-448A-8445-7212DD088FAC}"/>
              </a:ext>
            </a:extLst>
          </p:cNvPr>
          <p:cNvSpPr>
            <a:spLocks noGrp="1"/>
          </p:cNvSpPr>
          <p:nvPr>
            <p:ph type="sldNum" sz="quarter" idx="4"/>
          </p:nvPr>
        </p:nvSpPr>
        <p:spPr/>
        <p:txBody>
          <a:bodyPr/>
          <a:lstStyle/>
          <a:p>
            <a:fld id="{31D26D55-0A22-487A-A687-61FB58A6F16A}" type="slidenum">
              <a:rPr lang="en-US" smtClean="0"/>
              <a:pPr/>
              <a:t>27</a:t>
            </a:fld>
            <a:endParaRPr lang="en-US" dirty="0"/>
          </a:p>
        </p:txBody>
      </p:sp>
      <p:sp>
        <p:nvSpPr>
          <p:cNvPr id="4" name="Title 3">
            <a:extLst>
              <a:ext uri="{FF2B5EF4-FFF2-40B4-BE49-F238E27FC236}">
                <a16:creationId xmlns:a16="http://schemas.microsoft.com/office/drawing/2014/main" id="{EE0ADB2A-739C-45EC-B361-C4A6320AC8F1}"/>
              </a:ext>
            </a:extLst>
          </p:cNvPr>
          <p:cNvSpPr>
            <a:spLocks noGrp="1"/>
          </p:cNvSpPr>
          <p:nvPr>
            <p:ph type="title"/>
          </p:nvPr>
        </p:nvSpPr>
        <p:spPr/>
        <p:txBody>
          <a:bodyPr/>
          <a:lstStyle/>
          <a:p>
            <a:r>
              <a:rPr lang="en-US" dirty="0"/>
              <a:t>Deployment Document Sample</a:t>
            </a:r>
          </a:p>
        </p:txBody>
      </p:sp>
    </p:spTree>
    <p:extLst>
      <p:ext uri="{BB962C8B-B14F-4D97-AF65-F5344CB8AC3E}">
        <p14:creationId xmlns:p14="http://schemas.microsoft.com/office/powerpoint/2010/main" val="13777181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337737-9718-4AA2-A1EB-D124504614E6}"/>
              </a:ext>
            </a:extLst>
          </p:cNvPr>
          <p:cNvSpPr>
            <a:spLocks noGrp="1"/>
          </p:cNvSpPr>
          <p:nvPr>
            <p:ph idx="1"/>
          </p:nvPr>
        </p:nvSpPr>
        <p:spPr/>
        <p:txBody>
          <a:bodyPr>
            <a:normAutofit lnSpcReduction="10000"/>
          </a:bodyPr>
          <a:lstStyle/>
          <a:p>
            <a:r>
              <a:rPr lang="en-US" b="1" dirty="0"/>
              <a:t>Maintenance Objectives</a:t>
            </a:r>
          </a:p>
          <a:p>
            <a:pPr lvl="1"/>
            <a:r>
              <a:rPr lang="en-US" dirty="0"/>
              <a:t>Ensure system uptime and stability.</a:t>
            </a:r>
          </a:p>
          <a:p>
            <a:pPr lvl="1"/>
            <a:r>
              <a:rPr lang="en-US" dirty="0"/>
              <a:t>Identify and resolve bugs proactively.</a:t>
            </a:r>
          </a:p>
          <a:p>
            <a:pPr lvl="1"/>
            <a:r>
              <a:rPr lang="en-US" dirty="0"/>
              <a:t>Apply security patches as needed.</a:t>
            </a:r>
          </a:p>
          <a:p>
            <a:r>
              <a:rPr lang="en-US" dirty="0"/>
              <a:t>Maintenance task</a:t>
            </a:r>
          </a:p>
          <a:p>
            <a:pPr lvl="1"/>
            <a:r>
              <a:rPr lang="en-US" dirty="0"/>
              <a:t>Daily / Weekly / Monthly / Quarterly</a:t>
            </a:r>
          </a:p>
          <a:p>
            <a:pPr lvl="1"/>
            <a:r>
              <a:rPr lang="en-US" dirty="0"/>
              <a:t>Log monitoring</a:t>
            </a:r>
          </a:p>
          <a:p>
            <a:pPr lvl="1"/>
            <a:r>
              <a:rPr lang="en-US" dirty="0"/>
              <a:t>Health checks</a:t>
            </a:r>
          </a:p>
          <a:p>
            <a:pPr lvl="1"/>
            <a:r>
              <a:rPr lang="en-US" dirty="0"/>
              <a:t>Database optimization (vacuum for example)</a:t>
            </a:r>
          </a:p>
          <a:p>
            <a:r>
              <a:rPr lang="en-US" dirty="0"/>
              <a:t>Security Updates</a:t>
            </a:r>
          </a:p>
          <a:p>
            <a:r>
              <a:rPr lang="en-US" dirty="0"/>
              <a:t>Backup and Recovery</a:t>
            </a:r>
          </a:p>
          <a:p>
            <a:endParaRPr lang="en-US" dirty="0"/>
          </a:p>
        </p:txBody>
      </p:sp>
      <p:sp>
        <p:nvSpPr>
          <p:cNvPr id="3" name="Slide Number Placeholder 2">
            <a:extLst>
              <a:ext uri="{FF2B5EF4-FFF2-40B4-BE49-F238E27FC236}">
                <a16:creationId xmlns:a16="http://schemas.microsoft.com/office/drawing/2014/main" id="{8FC45A97-3409-4A4E-852F-63C3A8ACFB55}"/>
              </a:ext>
            </a:extLst>
          </p:cNvPr>
          <p:cNvSpPr>
            <a:spLocks noGrp="1"/>
          </p:cNvSpPr>
          <p:nvPr>
            <p:ph type="sldNum" sz="quarter" idx="4"/>
          </p:nvPr>
        </p:nvSpPr>
        <p:spPr/>
        <p:txBody>
          <a:bodyPr/>
          <a:lstStyle/>
          <a:p>
            <a:fld id="{31D26D55-0A22-487A-A687-61FB58A6F16A}" type="slidenum">
              <a:rPr lang="en-US" smtClean="0"/>
              <a:pPr/>
              <a:t>28</a:t>
            </a:fld>
            <a:endParaRPr lang="en-US" dirty="0"/>
          </a:p>
        </p:txBody>
      </p:sp>
      <p:sp>
        <p:nvSpPr>
          <p:cNvPr id="4" name="Title 3">
            <a:extLst>
              <a:ext uri="{FF2B5EF4-FFF2-40B4-BE49-F238E27FC236}">
                <a16:creationId xmlns:a16="http://schemas.microsoft.com/office/drawing/2014/main" id="{EBCF6188-A893-4625-B803-B7219495C4F9}"/>
              </a:ext>
            </a:extLst>
          </p:cNvPr>
          <p:cNvSpPr>
            <a:spLocks noGrp="1"/>
          </p:cNvSpPr>
          <p:nvPr>
            <p:ph type="title"/>
          </p:nvPr>
        </p:nvSpPr>
        <p:spPr/>
        <p:txBody>
          <a:bodyPr/>
          <a:lstStyle/>
          <a:p>
            <a:r>
              <a:rPr lang="en-US" dirty="0"/>
              <a:t>Maintain Document Sample</a:t>
            </a:r>
          </a:p>
        </p:txBody>
      </p:sp>
    </p:spTree>
    <p:extLst>
      <p:ext uri="{BB962C8B-B14F-4D97-AF65-F5344CB8AC3E}">
        <p14:creationId xmlns:p14="http://schemas.microsoft.com/office/powerpoint/2010/main" val="27407243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5">
            <a:extLst>
              <a:ext uri="{FF2B5EF4-FFF2-40B4-BE49-F238E27FC236}">
                <a16:creationId xmlns:a16="http://schemas.microsoft.com/office/drawing/2014/main" id="{7A87C0F9-0A37-49A1-BCA1-E1E9B0A79153}"/>
              </a:ext>
            </a:extLst>
          </p:cNvPr>
          <p:cNvGraphicFramePr>
            <a:graphicFrameLocks noGrp="1"/>
          </p:cNvGraphicFramePr>
          <p:nvPr>
            <p:ph idx="1"/>
            <p:extLst>
              <p:ext uri="{D42A27DB-BD31-4B8C-83A1-F6EECF244321}">
                <p14:modId xmlns:p14="http://schemas.microsoft.com/office/powerpoint/2010/main" val="1219795165"/>
              </p:ext>
            </p:extLst>
          </p:nvPr>
        </p:nvGraphicFramePr>
        <p:xfrm>
          <a:off x="5812972" y="1847087"/>
          <a:ext cx="8268788" cy="4535424"/>
        </p:xfrm>
        <a:graphic>
          <a:graphicData uri="http://schemas.openxmlformats.org/drawingml/2006/table">
            <a:tbl>
              <a:tblPr firstRow="1" bandRow="1">
                <a:tableStyleId>{5C22544A-7EE6-4342-B048-85BDC9FD1C3A}</a:tableStyleId>
              </a:tblPr>
              <a:tblGrid>
                <a:gridCol w="4134394">
                  <a:extLst>
                    <a:ext uri="{9D8B030D-6E8A-4147-A177-3AD203B41FA5}">
                      <a16:colId xmlns:a16="http://schemas.microsoft.com/office/drawing/2014/main" val="1183630616"/>
                    </a:ext>
                  </a:extLst>
                </a:gridCol>
                <a:gridCol w="4134394">
                  <a:extLst>
                    <a:ext uri="{9D8B030D-6E8A-4147-A177-3AD203B41FA5}">
                      <a16:colId xmlns:a16="http://schemas.microsoft.com/office/drawing/2014/main" val="3581315650"/>
                    </a:ext>
                  </a:extLst>
                </a:gridCol>
              </a:tblGrid>
              <a:tr h="370840">
                <a:tc>
                  <a:txBody>
                    <a:bodyPr/>
                    <a:lstStyle/>
                    <a:p>
                      <a:r>
                        <a:rPr lang="en-US" b="1" dirty="0"/>
                        <a:t>Type of SDD</a:t>
                      </a:r>
                      <a:endParaRPr lang="en-US" dirty="0"/>
                    </a:p>
                  </a:txBody>
                  <a:tcPr anchor="ctr"/>
                </a:tc>
                <a:tc>
                  <a:txBody>
                    <a:bodyPr/>
                    <a:lstStyle/>
                    <a:p>
                      <a:r>
                        <a:rPr lang="en-US" b="1" dirty="0"/>
                        <a:t>Use Case</a:t>
                      </a:r>
                      <a:endParaRPr lang="en-US" dirty="0"/>
                    </a:p>
                  </a:txBody>
                  <a:tcPr anchor="ctr"/>
                </a:tc>
                <a:extLst>
                  <a:ext uri="{0D108BD9-81ED-4DB2-BD59-A6C34878D82A}">
                    <a16:rowId xmlns:a16="http://schemas.microsoft.com/office/drawing/2014/main" val="2564312683"/>
                  </a:ext>
                </a:extLst>
              </a:tr>
              <a:tr h="370840">
                <a:tc>
                  <a:txBody>
                    <a:bodyPr/>
                    <a:lstStyle/>
                    <a:p>
                      <a:r>
                        <a:rPr lang="en-US" dirty="0"/>
                        <a:t>High-Level Design (HLD)</a:t>
                      </a:r>
                    </a:p>
                  </a:txBody>
                  <a:tcPr anchor="ctr"/>
                </a:tc>
                <a:tc>
                  <a:txBody>
                    <a:bodyPr/>
                    <a:lstStyle/>
                    <a:p>
                      <a:r>
                        <a:rPr lang="en-US" dirty="0"/>
                        <a:t>Overview for stakeholders</a:t>
                      </a:r>
                    </a:p>
                  </a:txBody>
                  <a:tcPr anchor="ctr"/>
                </a:tc>
                <a:extLst>
                  <a:ext uri="{0D108BD9-81ED-4DB2-BD59-A6C34878D82A}">
                    <a16:rowId xmlns:a16="http://schemas.microsoft.com/office/drawing/2014/main" val="3864221192"/>
                  </a:ext>
                </a:extLst>
              </a:tr>
              <a:tr h="370840">
                <a:tc>
                  <a:txBody>
                    <a:bodyPr/>
                    <a:lstStyle/>
                    <a:p>
                      <a:r>
                        <a:rPr lang="en-US" dirty="0"/>
                        <a:t>Low-Level Design (LLD)</a:t>
                      </a:r>
                    </a:p>
                  </a:txBody>
                  <a:tcPr anchor="ctr"/>
                </a:tc>
                <a:tc>
                  <a:txBody>
                    <a:bodyPr/>
                    <a:lstStyle/>
                    <a:p>
                      <a:r>
                        <a:rPr lang="en-US"/>
                        <a:t>Developer guidance</a:t>
                      </a:r>
                    </a:p>
                  </a:txBody>
                  <a:tcPr anchor="ctr"/>
                </a:tc>
                <a:extLst>
                  <a:ext uri="{0D108BD9-81ED-4DB2-BD59-A6C34878D82A}">
                    <a16:rowId xmlns:a16="http://schemas.microsoft.com/office/drawing/2014/main" val="533218454"/>
                  </a:ext>
                </a:extLst>
              </a:tr>
              <a:tr h="370840">
                <a:tc>
                  <a:txBody>
                    <a:bodyPr/>
                    <a:lstStyle/>
                    <a:p>
                      <a:r>
                        <a:rPr lang="en-US"/>
                        <a:t>Architectural Design</a:t>
                      </a:r>
                    </a:p>
                  </a:txBody>
                  <a:tcPr anchor="ctr"/>
                </a:tc>
                <a:tc>
                  <a:txBody>
                    <a:bodyPr/>
                    <a:lstStyle/>
                    <a:p>
                      <a:r>
                        <a:rPr lang="en-US"/>
                        <a:t>Large, scalable, or cloud systems</a:t>
                      </a:r>
                    </a:p>
                  </a:txBody>
                  <a:tcPr anchor="ctr"/>
                </a:tc>
                <a:extLst>
                  <a:ext uri="{0D108BD9-81ED-4DB2-BD59-A6C34878D82A}">
                    <a16:rowId xmlns:a16="http://schemas.microsoft.com/office/drawing/2014/main" val="2847557012"/>
                  </a:ext>
                </a:extLst>
              </a:tr>
              <a:tr h="370840">
                <a:tc>
                  <a:txBody>
                    <a:bodyPr/>
                    <a:lstStyle/>
                    <a:p>
                      <a:r>
                        <a:rPr lang="en-US"/>
                        <a:t>Data Design</a:t>
                      </a:r>
                    </a:p>
                  </a:txBody>
                  <a:tcPr anchor="ctr"/>
                </a:tc>
                <a:tc>
                  <a:txBody>
                    <a:bodyPr/>
                    <a:lstStyle/>
                    <a:p>
                      <a:r>
                        <a:rPr lang="en-US"/>
                        <a:t>Data-driven applications</a:t>
                      </a:r>
                    </a:p>
                  </a:txBody>
                  <a:tcPr anchor="ctr"/>
                </a:tc>
                <a:extLst>
                  <a:ext uri="{0D108BD9-81ED-4DB2-BD59-A6C34878D82A}">
                    <a16:rowId xmlns:a16="http://schemas.microsoft.com/office/drawing/2014/main" val="2421752933"/>
                  </a:ext>
                </a:extLst>
              </a:tr>
              <a:tr h="370840">
                <a:tc>
                  <a:txBody>
                    <a:bodyPr/>
                    <a:lstStyle/>
                    <a:p>
                      <a:r>
                        <a:rPr lang="en-US"/>
                        <a:t>Component Design</a:t>
                      </a:r>
                    </a:p>
                  </a:txBody>
                  <a:tcPr anchor="ctr"/>
                </a:tc>
                <a:tc>
                  <a:txBody>
                    <a:bodyPr/>
                    <a:lstStyle/>
                    <a:p>
                      <a:r>
                        <a:rPr lang="en-US" dirty="0"/>
                        <a:t>Modular systems</a:t>
                      </a:r>
                    </a:p>
                  </a:txBody>
                  <a:tcPr anchor="ctr"/>
                </a:tc>
                <a:extLst>
                  <a:ext uri="{0D108BD9-81ED-4DB2-BD59-A6C34878D82A}">
                    <a16:rowId xmlns:a16="http://schemas.microsoft.com/office/drawing/2014/main" val="2984995317"/>
                  </a:ext>
                </a:extLst>
              </a:tr>
              <a:tr h="370840">
                <a:tc>
                  <a:txBody>
                    <a:bodyPr/>
                    <a:lstStyle/>
                    <a:p>
                      <a:r>
                        <a:rPr lang="en-US"/>
                        <a:t>UI/UX Design</a:t>
                      </a:r>
                    </a:p>
                  </a:txBody>
                  <a:tcPr anchor="ctr"/>
                </a:tc>
                <a:tc>
                  <a:txBody>
                    <a:bodyPr/>
                    <a:lstStyle/>
                    <a:p>
                      <a:r>
                        <a:rPr lang="en-US" dirty="0"/>
                        <a:t>UI/UX-focused systems</a:t>
                      </a:r>
                    </a:p>
                  </a:txBody>
                  <a:tcPr anchor="ctr"/>
                </a:tc>
                <a:extLst>
                  <a:ext uri="{0D108BD9-81ED-4DB2-BD59-A6C34878D82A}">
                    <a16:rowId xmlns:a16="http://schemas.microsoft.com/office/drawing/2014/main" val="298729944"/>
                  </a:ext>
                </a:extLst>
              </a:tr>
              <a:tr h="370840">
                <a:tc>
                  <a:txBody>
                    <a:bodyPr/>
                    <a:lstStyle/>
                    <a:p>
                      <a:r>
                        <a:rPr lang="en-US" dirty="0"/>
                        <a:t>API Design</a:t>
                      </a:r>
                    </a:p>
                  </a:txBody>
                  <a:tcPr anchor="ctr"/>
                </a:tc>
                <a:tc>
                  <a:txBody>
                    <a:bodyPr/>
                    <a:lstStyle/>
                    <a:p>
                      <a:r>
                        <a:rPr lang="en-US"/>
                        <a:t>Public or private API documentation</a:t>
                      </a:r>
                    </a:p>
                  </a:txBody>
                  <a:tcPr anchor="ctr"/>
                </a:tc>
                <a:extLst>
                  <a:ext uri="{0D108BD9-81ED-4DB2-BD59-A6C34878D82A}">
                    <a16:rowId xmlns:a16="http://schemas.microsoft.com/office/drawing/2014/main" val="4109941003"/>
                  </a:ext>
                </a:extLst>
              </a:tr>
              <a:tr h="370840">
                <a:tc>
                  <a:txBody>
                    <a:bodyPr/>
                    <a:lstStyle/>
                    <a:p>
                      <a:r>
                        <a:rPr lang="en-US"/>
                        <a:t>Security Design</a:t>
                      </a:r>
                    </a:p>
                  </a:txBody>
                  <a:tcPr anchor="ctr"/>
                </a:tc>
                <a:tc>
                  <a:txBody>
                    <a:bodyPr/>
                    <a:lstStyle/>
                    <a:p>
                      <a:r>
                        <a:rPr lang="en-US"/>
                        <a:t>Systems requiring high security</a:t>
                      </a:r>
                    </a:p>
                  </a:txBody>
                  <a:tcPr anchor="ctr"/>
                </a:tc>
                <a:extLst>
                  <a:ext uri="{0D108BD9-81ED-4DB2-BD59-A6C34878D82A}">
                    <a16:rowId xmlns:a16="http://schemas.microsoft.com/office/drawing/2014/main" val="2097086939"/>
                  </a:ext>
                </a:extLst>
              </a:tr>
              <a:tr h="370840">
                <a:tc>
                  <a:txBody>
                    <a:bodyPr/>
                    <a:lstStyle/>
                    <a:p>
                      <a:r>
                        <a:rPr lang="en-US"/>
                        <a:t>Deployment and Maintenance</a:t>
                      </a:r>
                    </a:p>
                  </a:txBody>
                  <a:tcPr anchor="ctr"/>
                </a:tc>
                <a:tc>
                  <a:txBody>
                    <a:bodyPr/>
                    <a:lstStyle/>
                    <a:p>
                      <a:r>
                        <a:rPr lang="en-US" dirty="0"/>
                        <a:t>Production and cloud environments</a:t>
                      </a:r>
                    </a:p>
                  </a:txBody>
                  <a:tcPr anchor="ctr"/>
                </a:tc>
                <a:extLst>
                  <a:ext uri="{0D108BD9-81ED-4DB2-BD59-A6C34878D82A}">
                    <a16:rowId xmlns:a16="http://schemas.microsoft.com/office/drawing/2014/main" val="1585925255"/>
                  </a:ext>
                </a:extLst>
              </a:tr>
            </a:tbl>
          </a:graphicData>
        </a:graphic>
      </p:graphicFrame>
      <p:sp>
        <p:nvSpPr>
          <p:cNvPr id="3" name="Slide Number Placeholder 2">
            <a:extLst>
              <a:ext uri="{FF2B5EF4-FFF2-40B4-BE49-F238E27FC236}">
                <a16:creationId xmlns:a16="http://schemas.microsoft.com/office/drawing/2014/main" id="{7A50FA0B-C98C-4BD3-AF96-C8A3172910DE}"/>
              </a:ext>
            </a:extLst>
          </p:cNvPr>
          <p:cNvSpPr>
            <a:spLocks noGrp="1"/>
          </p:cNvSpPr>
          <p:nvPr>
            <p:ph type="sldNum" sz="quarter" idx="4"/>
          </p:nvPr>
        </p:nvSpPr>
        <p:spPr/>
        <p:txBody>
          <a:bodyPr/>
          <a:lstStyle/>
          <a:p>
            <a:fld id="{31D26D55-0A22-487A-A687-61FB58A6F16A}" type="slidenum">
              <a:rPr lang="en-US" smtClean="0"/>
              <a:pPr/>
              <a:t>29</a:t>
            </a:fld>
            <a:endParaRPr lang="en-US" dirty="0"/>
          </a:p>
        </p:txBody>
      </p:sp>
      <p:sp>
        <p:nvSpPr>
          <p:cNvPr id="4" name="Title 3">
            <a:extLst>
              <a:ext uri="{FF2B5EF4-FFF2-40B4-BE49-F238E27FC236}">
                <a16:creationId xmlns:a16="http://schemas.microsoft.com/office/drawing/2014/main" id="{1195A0F7-C5A8-4EA4-99C2-F84B0B56843E}"/>
              </a:ext>
            </a:extLst>
          </p:cNvPr>
          <p:cNvSpPr>
            <a:spLocks noGrp="1"/>
          </p:cNvSpPr>
          <p:nvPr>
            <p:ph type="title"/>
          </p:nvPr>
        </p:nvSpPr>
        <p:spPr/>
        <p:txBody>
          <a:bodyPr/>
          <a:lstStyle/>
          <a:p>
            <a:r>
              <a:rPr lang="en-US" dirty="0"/>
              <a:t>When to use?</a:t>
            </a:r>
          </a:p>
        </p:txBody>
      </p:sp>
      <p:pic>
        <p:nvPicPr>
          <p:cNvPr id="19" name="Picture 18">
            <a:extLst>
              <a:ext uri="{FF2B5EF4-FFF2-40B4-BE49-F238E27FC236}">
                <a16:creationId xmlns:a16="http://schemas.microsoft.com/office/drawing/2014/main" id="{1281ACA1-E0E9-4376-83A5-35C63894804B}"/>
              </a:ext>
            </a:extLst>
          </p:cNvPr>
          <p:cNvPicPr>
            <a:picLocks noChangeAspect="1"/>
          </p:cNvPicPr>
          <p:nvPr/>
        </p:nvPicPr>
        <p:blipFill>
          <a:blip r:embed="rId3"/>
          <a:stretch>
            <a:fillRect/>
          </a:stretch>
        </p:blipFill>
        <p:spPr>
          <a:xfrm>
            <a:off x="326572" y="1489165"/>
            <a:ext cx="5251269" cy="5251269"/>
          </a:xfrm>
          <a:prstGeom prst="rect">
            <a:avLst/>
          </a:prstGeom>
        </p:spPr>
      </p:pic>
    </p:spTree>
    <p:extLst>
      <p:ext uri="{BB962C8B-B14F-4D97-AF65-F5344CB8AC3E}">
        <p14:creationId xmlns:p14="http://schemas.microsoft.com/office/powerpoint/2010/main" val="25864316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F36EC4-5B51-41D5-9398-A748704919A7}"/>
              </a:ext>
            </a:extLst>
          </p:cNvPr>
          <p:cNvSpPr>
            <a:spLocks noGrp="1"/>
          </p:cNvSpPr>
          <p:nvPr>
            <p:ph idx="1"/>
          </p:nvPr>
        </p:nvSpPr>
        <p:spPr/>
        <p:txBody>
          <a:bodyPr/>
          <a:lstStyle/>
          <a:p>
            <a:pPr>
              <a:lnSpc>
                <a:spcPct val="200000"/>
              </a:lnSpc>
            </a:pPr>
            <a:r>
              <a:rPr lang="en-US" dirty="0"/>
              <a:t>Must have changes record or document version</a:t>
            </a:r>
          </a:p>
          <a:p>
            <a:pPr>
              <a:lnSpc>
                <a:spcPct val="200000"/>
              </a:lnSpc>
            </a:pPr>
            <a:r>
              <a:rPr lang="en-US" dirty="0"/>
              <a:t>May combine types of design document</a:t>
            </a:r>
          </a:p>
          <a:p>
            <a:pPr>
              <a:lnSpc>
                <a:spcPct val="200000"/>
              </a:lnSpc>
            </a:pPr>
            <a:r>
              <a:rPr lang="en-US" dirty="0"/>
              <a:t>Follow a uniform structure and template across various projects and teams</a:t>
            </a:r>
          </a:p>
        </p:txBody>
      </p:sp>
      <p:sp>
        <p:nvSpPr>
          <p:cNvPr id="3" name="Slide Number Placeholder 2">
            <a:extLst>
              <a:ext uri="{FF2B5EF4-FFF2-40B4-BE49-F238E27FC236}">
                <a16:creationId xmlns:a16="http://schemas.microsoft.com/office/drawing/2014/main" id="{AE12E2EA-D521-4F18-8A97-C42DCC39E050}"/>
              </a:ext>
            </a:extLst>
          </p:cNvPr>
          <p:cNvSpPr>
            <a:spLocks noGrp="1"/>
          </p:cNvSpPr>
          <p:nvPr>
            <p:ph type="sldNum" sz="quarter" idx="4"/>
          </p:nvPr>
        </p:nvSpPr>
        <p:spPr/>
        <p:txBody>
          <a:bodyPr/>
          <a:lstStyle/>
          <a:p>
            <a:fld id="{31D26D55-0A22-487A-A687-61FB58A6F16A}" type="slidenum">
              <a:rPr lang="en-US" smtClean="0"/>
              <a:pPr/>
              <a:t>30</a:t>
            </a:fld>
            <a:endParaRPr lang="en-US" dirty="0"/>
          </a:p>
        </p:txBody>
      </p:sp>
      <p:sp>
        <p:nvSpPr>
          <p:cNvPr id="4" name="Title 3">
            <a:extLst>
              <a:ext uri="{FF2B5EF4-FFF2-40B4-BE49-F238E27FC236}">
                <a16:creationId xmlns:a16="http://schemas.microsoft.com/office/drawing/2014/main" id="{2D7B5321-F0FD-443E-9310-9C37BDFD39F8}"/>
              </a:ext>
            </a:extLst>
          </p:cNvPr>
          <p:cNvSpPr>
            <a:spLocks noGrp="1"/>
          </p:cNvSpPr>
          <p:nvPr>
            <p:ph type="title"/>
          </p:nvPr>
        </p:nvSpPr>
        <p:spPr/>
        <p:txBody>
          <a:bodyPr/>
          <a:lstStyle/>
          <a:p>
            <a:r>
              <a:rPr lang="en-US" dirty="0"/>
              <a:t>SDD Rules</a:t>
            </a:r>
          </a:p>
        </p:txBody>
      </p:sp>
    </p:spTree>
    <p:extLst>
      <p:ext uri="{BB962C8B-B14F-4D97-AF65-F5344CB8AC3E}">
        <p14:creationId xmlns:p14="http://schemas.microsoft.com/office/powerpoint/2010/main" val="2261838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521CC8-6AFB-40F2-BA4D-E59E797F1A05}"/>
              </a:ext>
            </a:extLst>
          </p:cNvPr>
          <p:cNvSpPr>
            <a:spLocks noGrp="1"/>
          </p:cNvSpPr>
          <p:nvPr>
            <p:ph type="body" sz="quarter" idx="10"/>
          </p:nvPr>
        </p:nvSpPr>
        <p:spPr/>
        <p:txBody>
          <a:bodyPr/>
          <a:lstStyle/>
          <a:p>
            <a:endParaRPr lang="en-US"/>
          </a:p>
        </p:txBody>
      </p:sp>
      <p:sp>
        <p:nvSpPr>
          <p:cNvPr id="3" name="Slide Number Placeholder 2">
            <a:extLst>
              <a:ext uri="{FF2B5EF4-FFF2-40B4-BE49-F238E27FC236}">
                <a16:creationId xmlns:a16="http://schemas.microsoft.com/office/drawing/2014/main" id="{ED53F442-82F2-4F8B-AAE4-41782D9CF6B7}"/>
              </a:ext>
            </a:extLst>
          </p:cNvPr>
          <p:cNvSpPr>
            <a:spLocks noGrp="1"/>
          </p:cNvSpPr>
          <p:nvPr>
            <p:ph type="sldNum" sz="quarter" idx="4"/>
          </p:nvPr>
        </p:nvSpPr>
        <p:spPr/>
        <p:txBody>
          <a:bodyPr/>
          <a:lstStyle/>
          <a:p>
            <a:fld id="{31D26D55-0A22-487A-A687-61FB58A6F16A}" type="slidenum">
              <a:rPr lang="en-US" smtClean="0"/>
              <a:pPr/>
              <a:t>31</a:t>
            </a:fld>
            <a:endParaRPr lang="en-US" dirty="0"/>
          </a:p>
        </p:txBody>
      </p:sp>
    </p:spTree>
    <p:extLst>
      <p:ext uri="{BB962C8B-B14F-4D97-AF65-F5344CB8AC3E}">
        <p14:creationId xmlns:p14="http://schemas.microsoft.com/office/powerpoint/2010/main" val="1711510086"/>
      </p:ext>
    </p:extLst>
  </p:cSld>
  <p:clrMapOvr>
    <a:masterClrMapping/>
  </p:clrMapOvr>
</p:sld>
</file>

<file path=ppt/theme/theme1.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A1FCA969-387E-4DB4-9551-88DE0367AE2C}"/>
    </a:ext>
  </a:extLst>
</a:theme>
</file>

<file path=ppt/theme/theme2.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40093B85-BF9A-493F-85B6-14614628567D}"/>
    </a:ext>
  </a:extLst>
</a:theme>
</file>

<file path=ppt/theme/theme3.xml><?xml version="1.0" encoding="utf-8"?>
<a:theme xmlns:a="http://schemas.openxmlformats.org/drawingml/2006/main" name="End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271355E2-C430-4D72-871F-A29EDD8FE0B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9c558a-331c-4b2a-9422-cc1872e64aa6">
      <Terms xmlns="http://schemas.microsoft.com/office/infopath/2007/PartnerControls"/>
    </lcf76f155ced4ddcb4097134ff3c332f>
    <TaxCatchAll xmlns="0daeb402-9d2e-4002-a65f-37a660ceb8f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307973FBAC0FD44AFF67A0CF8CAB7ED" ma:contentTypeVersion="15" ma:contentTypeDescription="Create a new document." ma:contentTypeScope="" ma:versionID="74905d119c205581eaedd23186ce405f">
  <xsd:schema xmlns:xsd="http://www.w3.org/2001/XMLSchema" xmlns:xs="http://www.w3.org/2001/XMLSchema" xmlns:p="http://schemas.microsoft.com/office/2006/metadata/properties" xmlns:ns2="6e9c558a-331c-4b2a-9422-cc1872e64aa6" xmlns:ns3="0daeb402-9d2e-4002-a65f-37a660ceb8fd" targetNamespace="http://schemas.microsoft.com/office/2006/metadata/properties" ma:root="true" ma:fieldsID="708587739f1abd74a42e448662f10547" ns2:_="" ns3:_="">
    <xsd:import namespace="6e9c558a-331c-4b2a-9422-cc1872e64aa6"/>
    <xsd:import namespace="0daeb402-9d2e-4002-a65f-37a660ceb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c558a-331c-4b2a-9422-cc1872e64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a48d64-e0f2-481a-8596-878e2f0ebd5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aeb402-9d2e-4002-a65f-37a660ceb8f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c41332e-9ceb-47bb-9b4b-dcfc7eb8757e}" ma:internalName="TaxCatchAll" ma:showField="CatchAllData" ma:web="0daeb402-9d2e-4002-a65f-37a660ceb8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3CECEE-C264-416C-91B8-F3A09ADC80F6}">
  <ds:schemaRefs>
    <ds:schemaRef ds:uri="http://www.w3.org/XML/1998/namespace"/>
    <ds:schemaRef ds:uri="http://purl.org/dc/elements/1.1/"/>
    <ds:schemaRef ds:uri="http://schemas.openxmlformats.org/package/2006/metadata/core-properties"/>
    <ds:schemaRef ds:uri="http://schemas.microsoft.com/office/2006/metadata/properties"/>
    <ds:schemaRef ds:uri="6e9c558a-331c-4b2a-9422-cc1872e64aa6"/>
    <ds:schemaRef ds:uri="0daeb402-9d2e-4002-a65f-37a660ceb8fd"/>
    <ds:schemaRef ds:uri="http://schemas.microsoft.com/office/2006/documentManagement/types"/>
    <ds:schemaRef ds:uri="http://purl.org/dc/terms/"/>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6AA14335-53EE-471B-8069-38D98638A2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c558a-331c-4b2a-9422-cc1872e64aa6"/>
    <ds:schemaRef ds:uri="0daeb402-9d2e-4002-a65f-37a660ceb8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BFA1290-430E-4815-86E8-A11D63A22C1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cmc-uni-slide-template</Template>
  <TotalTime>4325</TotalTime>
  <Words>11116</Words>
  <Application>Microsoft Office PowerPoint</Application>
  <PresentationFormat>Custom</PresentationFormat>
  <Paragraphs>548</Paragraphs>
  <Slides>31</Slides>
  <Notes>27</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31</vt:i4>
      </vt:variant>
    </vt:vector>
  </HeadingPairs>
  <TitlesOfParts>
    <vt:vector size="36" baseType="lpstr">
      <vt:lpstr>Times New Roman</vt:lpstr>
      <vt:lpstr>Arial</vt:lpstr>
      <vt:lpstr>Opening slide</vt:lpstr>
      <vt:lpstr>Body slide</vt:lpstr>
      <vt:lpstr>Ending slide</vt:lpstr>
      <vt:lpstr>PowerPoint Presentation</vt:lpstr>
      <vt:lpstr>What is SDD?</vt:lpstr>
      <vt:lpstr>Evolution of SDD</vt:lpstr>
      <vt:lpstr>Blueprint for System Architecture and Components</vt:lpstr>
      <vt:lpstr>Reduced Defects and Errors During Development</vt:lpstr>
      <vt:lpstr>Easier Debugging, Updates, and Modifications</vt:lpstr>
      <vt:lpstr>Improved Scalability and Performance</vt:lpstr>
      <vt:lpstr>Cost and Time Efficiency</vt:lpstr>
      <vt:lpstr>SDD Types</vt:lpstr>
      <vt:lpstr>Tài liệu thiết kế cấp cao (HLD)</vt:lpstr>
      <vt:lpstr>HLD Example: Online Banking System</vt:lpstr>
      <vt:lpstr>Low-Level Design Document (LLD)</vt:lpstr>
      <vt:lpstr>LLD Example: User Authentication Module</vt:lpstr>
      <vt:lpstr>Architectural Design Document</vt:lpstr>
      <vt:lpstr>Architectural Design Document Example</vt:lpstr>
      <vt:lpstr>Data Design Document</vt:lpstr>
      <vt:lpstr>Data Design Document Example</vt:lpstr>
      <vt:lpstr>Component Design Document</vt:lpstr>
      <vt:lpstr>Component Design Document Example: User Authentication Module</vt:lpstr>
      <vt:lpstr>UI/UX Design Document</vt:lpstr>
      <vt:lpstr>UI/UX Design Excample: Wireframe</vt:lpstr>
      <vt:lpstr>API Design Document</vt:lpstr>
      <vt:lpstr>API Design Sample</vt:lpstr>
      <vt:lpstr>Security Design Document</vt:lpstr>
      <vt:lpstr>Security Design Example</vt:lpstr>
      <vt:lpstr>Deployment and Maintenance Document</vt:lpstr>
      <vt:lpstr>Deployment Document Sample</vt:lpstr>
      <vt:lpstr>Maintain Document Sample</vt:lpstr>
      <vt:lpstr>When to use?</vt:lpstr>
      <vt:lpstr>SDD Rules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Hung. Nguyen Viet - CMCU</cp:lastModifiedBy>
  <cp:revision>19</cp:revision>
  <dcterms:created xsi:type="dcterms:W3CDTF">2024-12-09T10:47:32Z</dcterms:created>
  <dcterms:modified xsi:type="dcterms:W3CDTF">2026-01-13T02:07:14Z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0x010100B307973FBAC0FD44AFF67A0CF8CAB7ED</vt:lpwstr>
  </property>
</Properties>
</file>