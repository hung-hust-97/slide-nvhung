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4"/>
    <p:sldMasterId id="2147483672" r:id="rId5"/>
    <p:sldMasterId id="2147483683" r:id="rId6"/>
  </p:sldMasterIdLst>
  <p:notesMasterIdLst>
    <p:notesMasterId r:id="rId44"/>
  </p:notesMasterIdLst>
  <p:sldIdLst>
    <p:sldId id="267" r:id="rId7"/>
    <p:sldId id="271" r:id="rId8"/>
    <p:sldId id="272" r:id="rId9"/>
    <p:sldId id="291" r:id="rId10"/>
    <p:sldId id="295" r:id="rId11"/>
    <p:sldId id="297" r:id="rId12"/>
    <p:sldId id="298" r:id="rId13"/>
    <p:sldId id="299" r:id="rId14"/>
    <p:sldId id="300" r:id="rId15"/>
    <p:sldId id="301" r:id="rId16"/>
    <p:sldId id="293" r:id="rId17"/>
    <p:sldId id="302" r:id="rId18"/>
    <p:sldId id="303" r:id="rId19"/>
    <p:sldId id="304" r:id="rId20"/>
    <p:sldId id="305" r:id="rId21"/>
    <p:sldId id="306" r:id="rId22"/>
    <p:sldId id="307" r:id="rId23"/>
    <p:sldId id="316" r:id="rId24"/>
    <p:sldId id="317" r:id="rId25"/>
    <p:sldId id="308" r:id="rId26"/>
    <p:sldId id="318" r:id="rId27"/>
    <p:sldId id="319" r:id="rId28"/>
    <p:sldId id="320" r:id="rId29"/>
    <p:sldId id="321" r:id="rId30"/>
    <p:sldId id="322" r:id="rId31"/>
    <p:sldId id="309" r:id="rId32"/>
    <p:sldId id="325" r:id="rId33"/>
    <p:sldId id="326" r:id="rId34"/>
    <p:sldId id="327" r:id="rId35"/>
    <p:sldId id="329" r:id="rId36"/>
    <p:sldId id="332" r:id="rId37"/>
    <p:sldId id="330" r:id="rId38"/>
    <p:sldId id="310" r:id="rId39"/>
    <p:sldId id="311" r:id="rId40"/>
    <p:sldId id="313" r:id="rId41"/>
    <p:sldId id="314" r:id="rId42"/>
    <p:sldId id="269" r:id="rId43"/>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529A3B8-2AEA-49D5-A9C8-8389F9D6D579}">
          <p14:sldIdLst>
            <p14:sldId id="267"/>
          </p14:sldIdLst>
        </p14:section>
        <p14:section name="uml definitions" id="{D6847B42-2078-4C7F-8B76-6E541E587F03}">
          <p14:sldIdLst>
            <p14:sldId id="271"/>
            <p14:sldId id="272"/>
            <p14:sldId id="291"/>
            <p14:sldId id="295"/>
          </p14:sldIdLst>
        </p14:section>
        <p14:section name="uml types" id="{F20CE4A1-05EF-446B-A805-B097A1463C8F}">
          <p14:sldIdLst>
            <p14:sldId id="297"/>
            <p14:sldId id="298"/>
            <p14:sldId id="299"/>
            <p14:sldId id="300"/>
            <p14:sldId id="301"/>
            <p14:sldId id="293"/>
            <p14:sldId id="302"/>
            <p14:sldId id="303"/>
            <p14:sldId id="304"/>
            <p14:sldId id="305"/>
            <p14:sldId id="306"/>
            <p14:sldId id="307"/>
            <p14:sldId id="316"/>
            <p14:sldId id="317"/>
            <p14:sldId id="308"/>
            <p14:sldId id="318"/>
            <p14:sldId id="319"/>
            <p14:sldId id="320"/>
            <p14:sldId id="321"/>
            <p14:sldId id="322"/>
            <p14:sldId id="309"/>
            <p14:sldId id="325"/>
            <p14:sldId id="326"/>
            <p14:sldId id="327"/>
            <p14:sldId id="329"/>
            <p14:sldId id="332"/>
            <p14:sldId id="330"/>
            <p14:sldId id="310"/>
            <p14:sldId id="311"/>
            <p14:sldId id="313"/>
            <p14:sldId id="314"/>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F88A24-4525-4895-8860-43764E1ED37B}" v="2" dt="2026-01-13T05:05:15.4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741" autoAdjust="0"/>
    <p:restoredTop sz="77699" autoAdjust="0"/>
  </p:normalViewPr>
  <p:slideViewPr>
    <p:cSldViewPr snapToGrid="0" snapToObjects="1">
      <p:cViewPr>
        <p:scale>
          <a:sx n="48" d="100"/>
          <a:sy n="48" d="100"/>
        </p:scale>
        <p:origin x="1275" y="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2099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dirty="0"/>
          </a:p>
        </p:txBody>
      </p:sp>
    </p:spTree>
    <p:extLst>
      <p:ext uri="{BB962C8B-B14F-4D97-AF65-F5344CB8AC3E}">
        <p14:creationId xmlns:p14="http://schemas.microsoft.com/office/powerpoint/2010/main" val="13512499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dirty="0"/>
              <a:t>Được phát triển để cung cấp một ngôn ngữ và ký hiệu đồ họa tiêu chuẩn để mô tả các mô hình hướng đối tượng. </a:t>
            </a:r>
            <a:endParaRPr lang="en-US" dirty="0"/>
          </a:p>
          <a:p>
            <a:r>
              <a:rPr lang="vi-VN" dirty="0"/>
              <a:t>Mô hình hóa UC: các yêu cầu chức năng </a:t>
            </a:r>
            <a:endParaRPr lang="en-US" dirty="0"/>
          </a:p>
          <a:p>
            <a:r>
              <a:rPr lang="vi-VN" dirty="0"/>
              <a:t>Mô hình hóa tĩnh: cái nhìn cấu trúc của hệ thống </a:t>
            </a:r>
            <a:endParaRPr lang="en-US" dirty="0"/>
          </a:p>
          <a:p>
            <a:r>
              <a:rPr lang="vi-VN" dirty="0"/>
              <a:t>Mô hình hóa động: cái nhìn về hành vi của hệ thống </a:t>
            </a:r>
            <a:endParaRPr lang="en-US" dirty="0"/>
          </a:p>
          <a:p>
            <a:r>
              <a:rPr lang="vi-VN" dirty="0"/>
              <a:t>Công cụ: Visio, Draw.io, ...</a:t>
            </a:r>
            <a:endParaRPr lang="en-US" dirty="0"/>
          </a:p>
        </p:txBody>
      </p:sp>
    </p:spTree>
    <p:extLst>
      <p:ext uri="{BB962C8B-B14F-4D97-AF65-F5344CB8AC3E}">
        <p14:creationId xmlns:p14="http://schemas.microsoft.com/office/powerpoint/2010/main" val="10690559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None/>
            </a:pPr>
            <a:r>
              <a:rPr lang="vi-VN" b="1" dirty="0"/>
              <a:t>Lịch sử UML</a:t>
            </a:r>
            <a:endParaRPr lang="vi-VN" dirty="0"/>
          </a:p>
          <a:p>
            <a:pPr>
              <a:buFont typeface="Arial" panose="020B0604020202020204" pitchFamily="34" charset="0"/>
              <a:buChar char="•"/>
            </a:pPr>
            <a:r>
              <a:rPr lang="vi-VN" dirty="0"/>
              <a:t>Kỷ nguyên tiền-UML (thập niên 1970 – 1980): Các phương pháp rời rạc</a:t>
            </a:r>
          </a:p>
          <a:p>
            <a:pPr>
              <a:buFont typeface="Arial" panose="020B0604020202020204" pitchFamily="34" charset="0"/>
              <a:buChar char="•"/>
            </a:pPr>
            <a:r>
              <a:rPr lang="vi-VN" dirty="0"/>
              <a:t>1994–1995: "Bộ ba quyền lực" – </a:t>
            </a:r>
            <a:r>
              <a:rPr lang="vi-VN" dirty="0" err="1"/>
              <a:t>Grady</a:t>
            </a:r>
            <a:r>
              <a:rPr lang="vi-VN" dirty="0"/>
              <a:t> </a:t>
            </a:r>
            <a:r>
              <a:rPr lang="vi-VN" dirty="0" err="1"/>
              <a:t>Booch</a:t>
            </a:r>
            <a:r>
              <a:rPr lang="vi-VN" dirty="0"/>
              <a:t>, </a:t>
            </a:r>
            <a:r>
              <a:rPr lang="vi-VN" dirty="0" err="1"/>
              <a:t>James</a:t>
            </a:r>
            <a:r>
              <a:rPr lang="vi-VN" dirty="0"/>
              <a:t> </a:t>
            </a:r>
            <a:r>
              <a:rPr lang="vi-VN" dirty="0" err="1"/>
              <a:t>Rumbaugh</a:t>
            </a:r>
            <a:r>
              <a:rPr lang="vi-VN" dirty="0"/>
              <a:t> và </a:t>
            </a:r>
            <a:r>
              <a:rPr lang="vi-VN" dirty="0" err="1"/>
              <a:t>Ivar</a:t>
            </a:r>
            <a:r>
              <a:rPr lang="vi-VN" dirty="0"/>
              <a:t> </a:t>
            </a:r>
            <a:r>
              <a:rPr lang="vi-VN" dirty="0" err="1"/>
              <a:t>Jacobson</a:t>
            </a:r>
            <a:r>
              <a:rPr lang="vi-VN" dirty="0"/>
              <a:t> bắt đầu hợp nhất các phương pháp của họ, dẫn đến các bản nháp UML 0.9 và UML 0.91.</a:t>
            </a:r>
          </a:p>
          <a:p>
            <a:pPr>
              <a:buFont typeface="Arial" panose="020B0604020202020204" pitchFamily="34" charset="0"/>
              <a:buChar char="•"/>
            </a:pPr>
            <a:r>
              <a:rPr lang="vi-VN" dirty="0"/>
              <a:t>UML 1.x (1997–2003)</a:t>
            </a:r>
          </a:p>
          <a:p>
            <a:pPr>
              <a:buFont typeface="Arial" panose="020B0604020202020204" pitchFamily="34" charset="0"/>
              <a:buChar char="•"/>
            </a:pPr>
            <a:r>
              <a:rPr lang="vi-VN" dirty="0"/>
              <a:t>UML 2.x (từ 2005 trở đi)</a:t>
            </a:r>
          </a:p>
          <a:p>
            <a:pPr>
              <a:buFont typeface="Arial" panose="020B0604020202020204" pitchFamily="34" charset="0"/>
              <a:buChar char="•"/>
            </a:pPr>
            <a:r>
              <a:rPr lang="vi-VN" dirty="0"/>
              <a:t>Phiên bản mới nhất: UML 2.5.1 vào tháng 12 năm 2017</a:t>
            </a:r>
          </a:p>
          <a:p>
            <a:endParaRPr lang="en-US" dirty="0"/>
          </a:p>
        </p:txBody>
      </p:sp>
    </p:spTree>
    <p:extLst>
      <p:ext uri="{BB962C8B-B14F-4D97-AF65-F5344CB8AC3E}">
        <p14:creationId xmlns:p14="http://schemas.microsoft.com/office/powerpoint/2010/main" val="41309731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None/>
            </a:pPr>
            <a:r>
              <a:rPr lang="vi-VN" dirty="0"/>
              <a:t>UML cung cấp ba cơ chế để cho phép mở rộng ngôn ngữ:</a:t>
            </a:r>
          </a:p>
          <a:p>
            <a:pPr>
              <a:buFont typeface="Arial" panose="020B0604020202020204" pitchFamily="34" charset="0"/>
              <a:buChar char="•"/>
            </a:pPr>
            <a:r>
              <a:rPr lang="vi-VN" b="1" dirty="0"/>
              <a:t>Giá trị gắn thẻ (A </a:t>
            </a:r>
            <a:r>
              <a:rPr lang="vi-VN" b="1" dirty="0" err="1"/>
              <a:t>tagged</a:t>
            </a:r>
            <a:r>
              <a:rPr lang="vi-VN" b="1" dirty="0"/>
              <a:t> </a:t>
            </a:r>
            <a:r>
              <a:rPr lang="vi-VN" b="1" dirty="0" err="1"/>
              <a:t>value</a:t>
            </a:r>
            <a:r>
              <a:rPr lang="vi-VN" b="1" dirty="0"/>
              <a:t>):</a:t>
            </a:r>
            <a:endParaRPr lang="vi-VN" dirty="0"/>
          </a:p>
          <a:p>
            <a:pPr marL="742950" lvl="1" indent="-285750">
              <a:buFont typeface="Arial" panose="020B0604020202020204" pitchFamily="34" charset="0"/>
              <a:buChar char="•"/>
            </a:pPr>
            <a:r>
              <a:rPr lang="vi-VN" dirty="0"/>
              <a:t>Mở rộng các thuộc tính, do đó thêm thông tin mới.</a:t>
            </a:r>
          </a:p>
          <a:p>
            <a:pPr marL="742950" lvl="1" indent="-285750">
              <a:buFont typeface="Arial" panose="020B0604020202020204" pitchFamily="34" charset="0"/>
              <a:buChar char="•"/>
            </a:pPr>
            <a:r>
              <a:rPr lang="vi-VN" dirty="0"/>
              <a:t>Được đặt trong dấu ngoặc nhọn dưới dạng {</a:t>
            </a:r>
            <a:r>
              <a:rPr lang="vi-VN" dirty="0" err="1"/>
              <a:t>tag</a:t>
            </a:r>
            <a:r>
              <a:rPr lang="vi-VN" dirty="0"/>
              <a:t> = </a:t>
            </a:r>
            <a:r>
              <a:rPr lang="vi-VN" dirty="0" err="1"/>
              <a:t>value</a:t>
            </a:r>
            <a:r>
              <a:rPr lang="vi-VN" dirty="0"/>
              <a:t>}.</a:t>
            </a:r>
          </a:p>
          <a:p>
            <a:pPr marL="742950" lvl="1" indent="-285750">
              <a:buFont typeface="Arial" panose="020B0604020202020204" pitchFamily="34" charset="0"/>
              <a:buChar char="•"/>
            </a:pPr>
            <a:r>
              <a:rPr lang="vi-VN" dirty="0"/>
              <a:t>Dấu phẩy phân tách các giá trị gắn thẻ bổ sung.</a:t>
            </a:r>
          </a:p>
          <a:p>
            <a:pPr>
              <a:buFont typeface="Arial" panose="020B0604020202020204" pitchFamily="34" charset="0"/>
              <a:buChar char="•"/>
            </a:pPr>
            <a:r>
              <a:rPr lang="vi-VN" b="1" dirty="0"/>
              <a:t>Ràng buộc (A </a:t>
            </a:r>
            <a:r>
              <a:rPr lang="vi-VN" b="1" dirty="0" err="1"/>
              <a:t>constraint</a:t>
            </a:r>
            <a:r>
              <a:rPr lang="vi-VN" b="1" dirty="0"/>
              <a:t>):</a:t>
            </a:r>
            <a:endParaRPr lang="vi-VN" dirty="0"/>
          </a:p>
          <a:p>
            <a:pPr marL="742950" lvl="1" indent="-285750">
              <a:buFont typeface="Arial" panose="020B0604020202020204" pitchFamily="34" charset="0"/>
              <a:buChar char="•"/>
            </a:pPr>
            <a:r>
              <a:rPr lang="vi-VN" dirty="0"/>
              <a:t>Một điều kiện phải đúng.</a:t>
            </a:r>
          </a:p>
          <a:p>
            <a:pPr marL="742950" lvl="1" indent="-285750">
              <a:buFont typeface="Arial" panose="020B0604020202020204" pitchFamily="34" charset="0"/>
              <a:buChar char="•"/>
            </a:pPr>
            <a:r>
              <a:rPr lang="vi-VN" dirty="0"/>
              <a:t>Cho phép bổ sung các quy tắc mới hoặc sửa đổi các quy tắc hiện có.</a:t>
            </a:r>
          </a:p>
          <a:p>
            <a:pPr>
              <a:buFont typeface="Arial" panose="020B0604020202020204" pitchFamily="34" charset="0"/>
              <a:buChar char="•"/>
            </a:pPr>
            <a:r>
              <a:rPr lang="vi-VN" b="1" dirty="0"/>
              <a:t>Kiểu mẫu (A </a:t>
            </a:r>
            <a:r>
              <a:rPr lang="vi-VN" b="1" dirty="0" err="1"/>
              <a:t>stereotype</a:t>
            </a:r>
            <a:r>
              <a:rPr lang="vi-VN" b="1" dirty="0"/>
              <a:t>):</a:t>
            </a:r>
            <a:endParaRPr lang="vi-VN" dirty="0"/>
          </a:p>
          <a:p>
            <a:pPr marL="742950" lvl="1" indent="-285750">
              <a:buFont typeface="Arial" panose="020B0604020202020204" pitchFamily="34" charset="0"/>
              <a:buChar char="•"/>
            </a:pPr>
            <a:r>
              <a:rPr lang="vi-VN" dirty="0"/>
              <a:t>Định nghĩa một khối xây dựng mới được bắt nguồn từ một yếu tố mô hình hóa UML hiện có nhưng được tùy chỉnh theo vấn đề của người mô hình.</a:t>
            </a:r>
          </a:p>
          <a:p>
            <a:pPr marL="742950" lvl="1" indent="-285750">
              <a:buFont typeface="Arial" panose="020B0604020202020204" pitchFamily="34" charset="0"/>
              <a:buChar char="•"/>
            </a:pPr>
            <a:r>
              <a:rPr lang="vi-VN" dirty="0"/>
              <a:t>Các kiểu mẫu được chỉ ra bằng dấu ngoặc kép kiểu Pháp (« »).</a:t>
            </a:r>
          </a:p>
          <a:p>
            <a:endParaRPr lang="en-US" dirty="0"/>
          </a:p>
        </p:txBody>
      </p:sp>
    </p:spTree>
    <p:extLst>
      <p:ext uri="{BB962C8B-B14F-4D97-AF65-F5344CB8AC3E}">
        <p14:creationId xmlns:p14="http://schemas.microsoft.com/office/powerpoint/2010/main" val="29317017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Biểu đồ lớp (</a:t>
            </a:r>
            <a:r>
              <a:rPr lang="vi-VN" b="1" dirty="0" err="1"/>
              <a:t>Class</a:t>
            </a:r>
            <a:r>
              <a:rPr lang="vi-VN" b="1" dirty="0"/>
              <a:t> </a:t>
            </a:r>
            <a:r>
              <a:rPr lang="vi-VN" b="1" dirty="0" err="1"/>
              <a:t>Diagram</a:t>
            </a:r>
            <a:r>
              <a:rPr lang="vi-VN" b="1" dirty="0"/>
              <a:t>)</a:t>
            </a:r>
            <a:r>
              <a:rPr lang="en-US" b="1" dirty="0"/>
              <a:t> </a:t>
            </a:r>
            <a:r>
              <a:rPr lang="vi-VN" dirty="0"/>
              <a:t>Mô hình hóa các lớp, thuộc tính và mối quan hệ.</a:t>
            </a:r>
            <a:endParaRPr lang="en-US" dirty="0"/>
          </a:p>
          <a:p>
            <a:r>
              <a:rPr lang="vi-VN" b="1" dirty="0"/>
              <a:t>Biểu đồ đối tượng (</a:t>
            </a:r>
            <a:r>
              <a:rPr lang="vi-VN" b="1" dirty="0" err="1"/>
              <a:t>Object</a:t>
            </a:r>
            <a:r>
              <a:rPr lang="vi-VN" b="1" dirty="0"/>
              <a:t> </a:t>
            </a:r>
            <a:r>
              <a:rPr lang="vi-VN" b="1" dirty="0" err="1"/>
              <a:t>Diagram</a:t>
            </a:r>
            <a:r>
              <a:rPr lang="vi-VN" b="1" dirty="0"/>
              <a:t>)</a:t>
            </a:r>
            <a:r>
              <a:rPr lang="en-US" b="1" dirty="0"/>
              <a:t> </a:t>
            </a:r>
            <a:r>
              <a:rPr lang="vi-VN" dirty="0"/>
              <a:t>Trực quan hóa các thể hiện đối tượng tại thời điểm chạy.</a:t>
            </a:r>
            <a:endParaRPr lang="en-US" dirty="0"/>
          </a:p>
          <a:p>
            <a:r>
              <a:rPr lang="vi-VN" b="1" dirty="0"/>
              <a:t>Biểu đồ thành phần (</a:t>
            </a:r>
            <a:r>
              <a:rPr lang="vi-VN" b="1" dirty="0" err="1"/>
              <a:t>Component</a:t>
            </a:r>
            <a:r>
              <a:rPr lang="vi-VN" b="1" dirty="0"/>
              <a:t> </a:t>
            </a:r>
            <a:r>
              <a:rPr lang="vi-VN" b="1" dirty="0" err="1"/>
              <a:t>Diagram</a:t>
            </a:r>
            <a:r>
              <a:rPr lang="vi-VN" b="1" dirty="0"/>
              <a:t>)</a:t>
            </a:r>
            <a:r>
              <a:rPr lang="en-US" b="1" dirty="0"/>
              <a:t> </a:t>
            </a:r>
            <a:r>
              <a:rPr lang="vi-VN" dirty="0"/>
              <a:t>Đại diện cho các thành phần </a:t>
            </a:r>
            <a:r>
              <a:rPr lang="vi-VN" dirty="0" err="1"/>
              <a:t>phần</a:t>
            </a:r>
            <a:r>
              <a:rPr lang="vi-VN" dirty="0"/>
              <a:t> mềm và sự phụ thuộc của chúng.</a:t>
            </a:r>
            <a:endParaRPr lang="en-US" dirty="0"/>
          </a:p>
          <a:p>
            <a:r>
              <a:rPr lang="vi-VN" b="1" dirty="0"/>
              <a:t>Biểu đồ triển khai (</a:t>
            </a:r>
            <a:r>
              <a:rPr lang="vi-VN" b="1" dirty="0" err="1"/>
              <a:t>Deployment</a:t>
            </a:r>
            <a:r>
              <a:rPr lang="vi-VN" b="1" dirty="0"/>
              <a:t> </a:t>
            </a:r>
            <a:r>
              <a:rPr lang="vi-VN" b="1" dirty="0" err="1"/>
              <a:t>Diagram</a:t>
            </a:r>
            <a:r>
              <a:rPr lang="vi-VN" b="1" dirty="0"/>
              <a:t>)</a:t>
            </a:r>
            <a:r>
              <a:rPr lang="en-US" b="1" dirty="0"/>
              <a:t> </a:t>
            </a:r>
            <a:r>
              <a:rPr lang="vi-VN" dirty="0"/>
              <a:t>Hiển thị việc triển khai vật lý của các tạo tác phần mềm.</a:t>
            </a:r>
            <a:endParaRPr lang="en-US" dirty="0"/>
          </a:p>
          <a:p>
            <a:r>
              <a:rPr lang="vi-VN" b="1" dirty="0"/>
              <a:t>Biểu đồ gói (</a:t>
            </a:r>
            <a:r>
              <a:rPr lang="vi-VN" b="1" dirty="0" err="1"/>
              <a:t>Package</a:t>
            </a:r>
            <a:r>
              <a:rPr lang="vi-VN" b="1" dirty="0"/>
              <a:t> </a:t>
            </a:r>
            <a:r>
              <a:rPr lang="vi-VN" b="1" dirty="0" err="1"/>
              <a:t>Diagram</a:t>
            </a:r>
            <a:r>
              <a:rPr lang="vi-VN" b="1" dirty="0"/>
              <a:t>)</a:t>
            </a:r>
            <a:r>
              <a:rPr lang="en-US" dirty="0"/>
              <a:t> </a:t>
            </a:r>
            <a:r>
              <a:rPr lang="vi-VN" dirty="0"/>
              <a:t>Nhóm các lớp hoặc thành phần vào các gói.</a:t>
            </a:r>
            <a:endParaRPr lang="en-US" dirty="0"/>
          </a:p>
          <a:p>
            <a:r>
              <a:rPr lang="vi-VN" b="1" dirty="0"/>
              <a:t>Biểu đồ hồ sơ (</a:t>
            </a:r>
            <a:r>
              <a:rPr lang="vi-VN" b="1" dirty="0" err="1"/>
              <a:t>Profile</a:t>
            </a:r>
            <a:r>
              <a:rPr lang="vi-VN" b="1" dirty="0"/>
              <a:t> </a:t>
            </a:r>
            <a:r>
              <a:rPr lang="vi-VN" b="1" dirty="0" err="1"/>
              <a:t>Diagram</a:t>
            </a:r>
            <a:r>
              <a:rPr lang="vi-VN" b="1" dirty="0"/>
              <a:t>)</a:t>
            </a:r>
            <a:r>
              <a:rPr lang="en-US" dirty="0"/>
              <a:t> </a:t>
            </a:r>
            <a:r>
              <a:rPr lang="vi-VN" dirty="0"/>
              <a:t>Mở rộng UML cho các mục đích cụ thể của miền.</a:t>
            </a:r>
            <a:endParaRPr lang="en-US" dirty="0"/>
          </a:p>
          <a:p>
            <a:r>
              <a:rPr lang="vi-VN" b="1" dirty="0"/>
              <a:t>Biểu đồ trường hợp sử dụng (</a:t>
            </a:r>
            <a:r>
              <a:rPr lang="vi-VN" b="1" dirty="0" err="1"/>
              <a:t>Use</a:t>
            </a:r>
            <a:r>
              <a:rPr lang="vi-VN" b="1" dirty="0"/>
              <a:t> </a:t>
            </a:r>
            <a:r>
              <a:rPr lang="vi-VN" b="1" dirty="0" err="1"/>
              <a:t>Case</a:t>
            </a:r>
            <a:r>
              <a:rPr lang="vi-VN" b="1" dirty="0"/>
              <a:t> </a:t>
            </a:r>
            <a:r>
              <a:rPr lang="vi-VN" b="1" dirty="0" err="1"/>
              <a:t>Diagram</a:t>
            </a:r>
            <a:r>
              <a:rPr lang="vi-VN" b="1" dirty="0"/>
              <a:t>)</a:t>
            </a:r>
            <a:r>
              <a:rPr lang="en-US" b="1" dirty="0"/>
              <a:t> </a:t>
            </a:r>
            <a:r>
              <a:rPr lang="vi-VN" dirty="0"/>
              <a:t>Ghi lại các yêu cầu chức năng và mục tiêu hệ thống.</a:t>
            </a:r>
            <a:endParaRPr lang="en-US" dirty="0"/>
          </a:p>
          <a:p>
            <a:r>
              <a:rPr lang="vi-VN" b="1" dirty="0"/>
              <a:t>Biểu đồ trình tự (</a:t>
            </a:r>
            <a:r>
              <a:rPr lang="vi-VN" b="1" dirty="0" err="1"/>
              <a:t>Sequence</a:t>
            </a:r>
            <a:r>
              <a:rPr lang="vi-VN" b="1" dirty="0"/>
              <a:t> </a:t>
            </a:r>
            <a:r>
              <a:rPr lang="vi-VN" b="1" dirty="0" err="1"/>
              <a:t>Diagram</a:t>
            </a:r>
            <a:r>
              <a:rPr lang="vi-VN" b="1" dirty="0"/>
              <a:t>)</a:t>
            </a:r>
            <a:r>
              <a:rPr lang="en-US" b="1" dirty="0"/>
              <a:t> </a:t>
            </a:r>
            <a:r>
              <a:rPr lang="vi-VN" dirty="0"/>
              <a:t>Mô hình hóa các trao đổi thông điệp theo một thứ tự cụ thể.</a:t>
            </a:r>
            <a:endParaRPr lang="en-US" dirty="0"/>
          </a:p>
          <a:p>
            <a:r>
              <a:rPr lang="vi-VN" b="1" dirty="0"/>
              <a:t>Biểu đồ hoạt động (</a:t>
            </a:r>
            <a:r>
              <a:rPr lang="vi-VN" b="1" dirty="0" err="1"/>
              <a:t>Activity</a:t>
            </a:r>
            <a:r>
              <a:rPr lang="vi-VN" b="1" dirty="0"/>
              <a:t> </a:t>
            </a:r>
            <a:r>
              <a:rPr lang="vi-VN" b="1" dirty="0" err="1"/>
              <a:t>Diagram</a:t>
            </a:r>
            <a:r>
              <a:rPr lang="vi-VN" b="1" dirty="0"/>
              <a:t>)</a:t>
            </a:r>
            <a:r>
              <a:rPr lang="en-US" b="1" dirty="0"/>
              <a:t> </a:t>
            </a:r>
            <a:r>
              <a:rPr lang="vi-VN" dirty="0"/>
              <a:t>Trực quan hóa các quy trình công việc và quy trình.</a:t>
            </a:r>
            <a:endParaRPr lang="en-US" dirty="0"/>
          </a:p>
          <a:p>
            <a:r>
              <a:rPr lang="vi-VN" b="1" dirty="0"/>
              <a:t>Biểu đồ máy trạng thái (</a:t>
            </a:r>
            <a:r>
              <a:rPr lang="vi-VN" b="1" dirty="0" err="1"/>
              <a:t>State</a:t>
            </a:r>
            <a:r>
              <a:rPr lang="vi-VN" b="1" dirty="0"/>
              <a:t> </a:t>
            </a:r>
            <a:r>
              <a:rPr lang="vi-VN" b="1" dirty="0" err="1"/>
              <a:t>Machine</a:t>
            </a:r>
            <a:r>
              <a:rPr lang="vi-VN" b="1" dirty="0"/>
              <a:t> </a:t>
            </a:r>
            <a:r>
              <a:rPr lang="vi-VN" b="1" dirty="0" err="1"/>
              <a:t>Diagram</a:t>
            </a:r>
            <a:r>
              <a:rPr lang="vi-VN" b="1" dirty="0"/>
              <a:t>)</a:t>
            </a:r>
            <a:r>
              <a:rPr lang="en-US" b="1" dirty="0"/>
              <a:t> </a:t>
            </a:r>
            <a:r>
              <a:rPr lang="vi-VN" dirty="0"/>
              <a:t>Đại diện cho các trạng thái và chuyển đổi của đối tượng.</a:t>
            </a:r>
            <a:r>
              <a:rPr lang="en-US" dirty="0"/>
              <a:t> </a:t>
            </a:r>
          </a:p>
          <a:p>
            <a:r>
              <a:rPr lang="vi-VN" b="1" dirty="0"/>
              <a:t>Biểu đồ giao tiếp (</a:t>
            </a:r>
            <a:r>
              <a:rPr lang="vi-VN" b="1" dirty="0" err="1"/>
              <a:t>Communication</a:t>
            </a:r>
            <a:r>
              <a:rPr lang="vi-VN" b="1" dirty="0"/>
              <a:t> </a:t>
            </a:r>
            <a:r>
              <a:rPr lang="vi-VN" b="1" dirty="0" err="1"/>
              <a:t>Diagram</a:t>
            </a:r>
            <a:r>
              <a:rPr lang="vi-VN" b="1" dirty="0"/>
              <a:t>)</a:t>
            </a:r>
            <a:r>
              <a:rPr lang="en-US" b="1" dirty="0"/>
              <a:t> </a:t>
            </a:r>
            <a:r>
              <a:rPr lang="vi-VN" dirty="0"/>
              <a:t>Nhấn mạnh mối quan hệ giữa các đối tượng và luồng thông điệp.</a:t>
            </a:r>
            <a:endParaRPr lang="en-US" dirty="0"/>
          </a:p>
        </p:txBody>
      </p:sp>
    </p:spTree>
    <p:extLst>
      <p:ext uri="{BB962C8B-B14F-4D97-AF65-F5344CB8AC3E}">
        <p14:creationId xmlns:p14="http://schemas.microsoft.com/office/powerpoint/2010/main" val="13221903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Một biểu đồ cấu trúc đại diện cho bản thiết kế của một hệ thống, hiển thị các lớp, thuộc tính, phương thức và mối quan hệ.</a:t>
            </a:r>
            <a:endParaRPr lang="en-US" b="1" dirty="0"/>
          </a:p>
          <a:p>
            <a:r>
              <a:rPr lang="vi-VN" dirty="0"/>
              <a:t>Một ảnh chụp nhanh của hệ thống tại một thời điểm cụ thể, hiển thị các </a:t>
            </a:r>
            <a:r>
              <a:rPr lang="vi-VN" b="1" dirty="0"/>
              <a:t>thể hiện cụ thể (đối tượng)</a:t>
            </a:r>
            <a:r>
              <a:rPr lang="vi-VN" dirty="0"/>
              <a:t> và trạng thái của chúng.</a:t>
            </a:r>
            <a:endParaRPr lang="en-US" dirty="0"/>
          </a:p>
          <a:p>
            <a:pPr marL="171450" indent="-171450">
              <a:buFontTx/>
              <a:buChar char="-"/>
            </a:pPr>
            <a:r>
              <a:rPr lang="vi-VN" b="1" dirty="0"/>
              <a:t>Để xác định cấu trúc của một hệ thống. </a:t>
            </a:r>
            <a:endParaRPr lang="en-US" b="1" dirty="0"/>
          </a:p>
          <a:p>
            <a:pPr marL="171450" indent="-171450">
              <a:buFontTx/>
              <a:buChar char="-"/>
            </a:pPr>
            <a:r>
              <a:rPr lang="vi-VN" b="1" dirty="0"/>
              <a:t>Để mô tả các lớp, mối quan hệ và hệ thống phân cấp của chúng</a:t>
            </a:r>
            <a:endParaRPr lang="en-US" b="1" dirty="0"/>
          </a:p>
          <a:p>
            <a:pPr marL="171450" indent="-171450">
              <a:buFontTx/>
              <a:buChar char="-"/>
            </a:pPr>
            <a:r>
              <a:rPr lang="vi-VN" dirty="0"/>
              <a:t>Để mô tả trạng thái thời gian thực của hệ thống</a:t>
            </a:r>
            <a:endParaRPr lang="en-US" dirty="0"/>
          </a:p>
          <a:p>
            <a:pPr marL="171450" indent="-171450">
              <a:buFontTx/>
              <a:buChar char="-"/>
            </a:pPr>
            <a:r>
              <a:rPr lang="vi-VN" dirty="0"/>
              <a:t>Để hiển thị các đối tượng và mối quan hệ của chúng tại một điểm cụ thể trong quá trình thực thi.</a:t>
            </a:r>
            <a:endParaRPr lang="en-US" dirty="0"/>
          </a:p>
          <a:p>
            <a:pPr marL="171450" indent="-171450">
              <a:buFontTx/>
              <a:buChar char="-"/>
            </a:pPr>
            <a:r>
              <a:rPr lang="vi-VN" b="1" dirty="0"/>
              <a:t>Biểu diễn trừu tượng các thành phần của hệ thống.</a:t>
            </a:r>
            <a:endParaRPr lang="en-US" b="1" dirty="0"/>
          </a:p>
          <a:p>
            <a:pPr marL="171450" indent="-171450">
              <a:buFontTx/>
              <a:buChar char="-"/>
            </a:pPr>
            <a:r>
              <a:rPr lang="vi-VN" b="0" dirty="0"/>
              <a:t>Biểu diễn cụ thể với các giá trị dữ liệu thực.</a:t>
            </a:r>
            <a:endParaRPr lang="en-US" b="0" dirty="0"/>
          </a:p>
          <a:p>
            <a:pPr marL="171450" indent="-171450">
              <a:buFontTx/>
              <a:buChar char="-"/>
            </a:pPr>
            <a:r>
              <a:rPr lang="vi-VN" b="1" dirty="0"/>
              <a:t>Tĩnh: Đại diện cho cấu trúc của hệ thống độc lập với thời gian chạy.</a:t>
            </a:r>
            <a:r>
              <a:rPr lang="en-US" b="1" dirty="0"/>
              <a:t> </a:t>
            </a:r>
          </a:p>
          <a:p>
            <a:pPr marL="171450" indent="-171450">
              <a:buFontTx/>
              <a:buChar char="-"/>
            </a:pPr>
            <a:r>
              <a:rPr lang="vi-VN" b="0" dirty="0"/>
              <a:t>Động: Đại diện cho một ảnh chụp nhanh cấu trúc của hệ thống trong quá trình thực thi.</a:t>
            </a:r>
            <a:endParaRPr lang="en-US" b="0" dirty="0"/>
          </a:p>
          <a:p>
            <a:pPr marL="171450" indent="-171450">
              <a:buFontTx/>
              <a:buChar char="-"/>
            </a:pPr>
            <a:r>
              <a:rPr lang="vi-VN" b="1" dirty="0"/>
              <a:t>Trong giai đoạn thiết kế để mô hình hóa cấu trúc </a:t>
            </a:r>
            <a:r>
              <a:rPr lang="vi-VN" b="1" dirty="0" err="1"/>
              <a:t>logic</a:t>
            </a:r>
            <a:r>
              <a:rPr lang="vi-VN" b="1" dirty="0"/>
              <a:t> của một hệ thống. </a:t>
            </a:r>
            <a:endParaRPr lang="en-US" b="1" dirty="0"/>
          </a:p>
          <a:p>
            <a:pPr marL="171450" indent="-171450">
              <a:buFontTx/>
              <a:buChar char="-"/>
            </a:pPr>
            <a:r>
              <a:rPr lang="vi-VN" b="0" dirty="0"/>
              <a:t>Trong phân tích thời gian chạy hoặc để hiểu các kịch bản cụ thể trong hệ thống.</a:t>
            </a:r>
            <a:endParaRPr lang="en-US" b="0" dirty="0"/>
          </a:p>
          <a:p>
            <a:pPr marL="171450" indent="-171450">
              <a:buFontTx/>
              <a:buChar char="-"/>
            </a:pPr>
            <a:r>
              <a:rPr lang="vi-VN" b="1" dirty="0"/>
              <a:t>Hiển thị mối quan hệ như kế thừa, tổng hợp, kết hợp và liên kết giữa các lớp.</a:t>
            </a:r>
            <a:endParaRPr lang="en-US" b="1" dirty="0"/>
          </a:p>
          <a:p>
            <a:pPr marL="171450" indent="-171450">
              <a:buFontTx/>
              <a:buChar char="-"/>
            </a:pPr>
            <a:r>
              <a:rPr lang="vi-VN" b="0" dirty="0"/>
              <a:t>Hiển thị liên kết giữa các đối tượng là các thể hiện của các mối quan hệ đó.</a:t>
            </a:r>
            <a:endParaRPr lang="en-US" b="0" dirty="0"/>
          </a:p>
          <a:p>
            <a:pPr marL="171450" indent="-171450">
              <a:buFontTx/>
              <a:buChar char="-"/>
            </a:pPr>
            <a:r>
              <a:rPr lang="vi-VN" b="1" dirty="0"/>
              <a:t>Xác định bản thiết kế của một hệ thống (ví dụ: tất cả các lớp có thể có trong hệ thống quản lý thư viện).</a:t>
            </a:r>
            <a:endParaRPr lang="en-US" b="1" dirty="0"/>
          </a:p>
          <a:p>
            <a:pPr marL="171450" indent="-171450">
              <a:buFontTx/>
              <a:buChar char="-"/>
            </a:pPr>
            <a:r>
              <a:rPr lang="vi-VN" dirty="0"/>
              <a:t>Đại diện cho trạng thái hiện tại của hệ thống (ví dụ: các cuốn sách cụ thể được cấp cho các thành viên cụ thể).</a:t>
            </a:r>
            <a:endParaRPr lang="en-US" dirty="0"/>
          </a:p>
          <a:p>
            <a:pPr marL="171450" indent="-171450">
              <a:buFontTx/>
              <a:buChar char="-"/>
            </a:pPr>
            <a:r>
              <a:rPr lang="vi-VN" b="1" dirty="0"/>
              <a:t>Biểu đồ lớp: Hiển thị Ô tô, Động cơ và Bánh xe dưới dạng các lớp với các thuộc tính như màu sắc, tốc độ.</a:t>
            </a:r>
            <a:endParaRPr lang="en-US" b="1" dirty="0"/>
          </a:p>
          <a:p>
            <a:pPr marL="171450" indent="-171450">
              <a:buFontTx/>
              <a:buChar char="-"/>
            </a:pPr>
            <a:r>
              <a:rPr lang="vi-VN" b="0" dirty="0"/>
              <a:t>Biểu đồ đối tượng: Hiển thị một đối tượng Ô tô cụ thể có màu = đỏ, tốc độ = 120.</a:t>
            </a:r>
            <a:endParaRPr lang="en-US" b="0" dirty="0"/>
          </a:p>
        </p:txBody>
      </p:sp>
    </p:spTree>
    <p:extLst>
      <p:ext uri="{BB962C8B-B14F-4D97-AF65-F5344CB8AC3E}">
        <p14:creationId xmlns:p14="http://schemas.microsoft.com/office/powerpoint/2010/main" val="10946308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Font typeface="Arial" panose="020B0604020202020204" pitchFamily="34" charset="0"/>
              <a:buNone/>
            </a:pPr>
            <a:r>
              <a:rPr lang="vi-VN" b="1" dirty="0"/>
              <a:t>Được sử dụng để trực quan hóa cấu trúc cấp cao của các thành phần </a:t>
            </a:r>
            <a:r>
              <a:rPr lang="vi-VN" b="1" dirty="0" err="1"/>
              <a:t>phần</a:t>
            </a:r>
            <a:r>
              <a:rPr lang="vi-VN" b="1" dirty="0"/>
              <a:t> mềm:</a:t>
            </a:r>
            <a:r>
              <a:rPr lang="vi-VN" dirty="0"/>
              <a:t> Mô hình hóa các </a:t>
            </a:r>
            <a:r>
              <a:rPr lang="vi-VN" dirty="0" err="1"/>
              <a:t>khía</a:t>
            </a:r>
            <a:r>
              <a:rPr lang="vi-VN" dirty="0"/>
              <a:t> cạnh vật lý của một hệ thống.</a:t>
            </a:r>
          </a:p>
          <a:p>
            <a:pPr>
              <a:buFont typeface="Arial" panose="020B0604020202020204" pitchFamily="34" charset="0"/>
              <a:buNone/>
            </a:pPr>
            <a:r>
              <a:rPr lang="vi-VN" dirty="0"/>
              <a:t>Đại diện cho các thành phần </a:t>
            </a:r>
            <a:r>
              <a:rPr lang="vi-VN" dirty="0" err="1"/>
              <a:t>phần</a:t>
            </a:r>
            <a:r>
              <a:rPr lang="vi-VN" dirty="0"/>
              <a:t> mềm, các mối quan hệ của chúng và các giao diện của chúng.</a:t>
            </a:r>
          </a:p>
          <a:p>
            <a:pPr>
              <a:buFont typeface="Arial" panose="020B0604020202020204" pitchFamily="34" charset="0"/>
              <a:buNone/>
            </a:pPr>
            <a:r>
              <a:rPr lang="vi-VN" dirty="0"/>
              <a:t>Phân tích các mối phụ thuộc giữa các thành phần để thiết kế hệ thống tốt hơn.</a:t>
            </a:r>
          </a:p>
          <a:p>
            <a:pPr>
              <a:buFont typeface="Arial" panose="020B0604020202020204" pitchFamily="34" charset="0"/>
              <a:buNone/>
            </a:pPr>
            <a:r>
              <a:rPr lang="vi-VN" dirty="0"/>
              <a:t>Tạo điều kiện thuận lợi cho việc phát triển dựa trên thành phần bằng cách tài liệu hóa các phần có thể tái sử dụng và mô-đun.</a:t>
            </a:r>
          </a:p>
          <a:p>
            <a:endParaRPr lang="en-US" dirty="0"/>
          </a:p>
        </p:txBody>
      </p:sp>
    </p:spTree>
    <p:extLst>
      <p:ext uri="{BB962C8B-B14F-4D97-AF65-F5344CB8AC3E}">
        <p14:creationId xmlns:p14="http://schemas.microsoft.com/office/powerpoint/2010/main" val="40640308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None/>
            </a:pPr>
            <a:r>
              <a:rPr lang="vi-VN" b="1" dirty="0"/>
              <a:t>Minh họa cấu hình thời gian chạy của hệ thống, bao gồm các thành phần </a:t>
            </a:r>
            <a:r>
              <a:rPr lang="vi-VN" b="1" dirty="0" err="1"/>
              <a:t>phần</a:t>
            </a:r>
            <a:r>
              <a:rPr lang="vi-VN" b="1" dirty="0"/>
              <a:t> cứng, phần mềm và </a:t>
            </a:r>
            <a:r>
              <a:rPr lang="vi-VN" b="1" dirty="0" err="1"/>
              <a:t>middleware</a:t>
            </a:r>
            <a:r>
              <a:rPr lang="vi-VN" b="1" dirty="0"/>
              <a:t>:</a:t>
            </a:r>
            <a:endParaRPr lang="vi-VN" dirty="0"/>
          </a:p>
          <a:p>
            <a:pPr>
              <a:buFont typeface="Arial" panose="020B0604020202020204" pitchFamily="34" charset="0"/>
              <a:buChar char="•"/>
            </a:pPr>
            <a:r>
              <a:rPr lang="vi-VN" dirty="0"/>
              <a:t>Để trực quan hóa kiến trúc vật lý của một hệ thống</a:t>
            </a:r>
          </a:p>
          <a:p>
            <a:pPr>
              <a:buFont typeface="Arial" panose="020B0604020202020204" pitchFamily="34" charset="0"/>
              <a:buChar char="•"/>
            </a:pPr>
            <a:r>
              <a:rPr lang="vi-VN" dirty="0"/>
              <a:t>Để hiểu việc triển khai các tạo tác phần mềm trên các thành phần </a:t>
            </a:r>
            <a:r>
              <a:rPr lang="vi-VN" dirty="0" err="1"/>
              <a:t>phần</a:t>
            </a:r>
            <a:r>
              <a:rPr lang="vi-VN" dirty="0"/>
              <a:t> cứng.</a:t>
            </a:r>
          </a:p>
          <a:p>
            <a:pPr>
              <a:buFont typeface="Arial" panose="020B0604020202020204" pitchFamily="34" charset="0"/>
              <a:buChar char="•"/>
            </a:pPr>
            <a:r>
              <a:rPr lang="vi-VN" dirty="0"/>
              <a:t>Để mô hình hóa môi trường thời gian chạy của các hệ thống phân tán, hệ thống đám mây hoặc các ứng dụng đa tầng.</a:t>
            </a:r>
          </a:p>
          <a:p>
            <a:endParaRPr lang="en-US" dirty="0"/>
          </a:p>
        </p:txBody>
      </p:sp>
    </p:spTree>
    <p:extLst>
      <p:ext uri="{BB962C8B-B14F-4D97-AF65-F5344CB8AC3E}">
        <p14:creationId xmlns:p14="http://schemas.microsoft.com/office/powerpoint/2010/main" val="2969131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Font typeface="Arial" panose="020B0604020202020204" pitchFamily="34" charset="0"/>
              <a:buChar char="•"/>
            </a:pPr>
            <a:r>
              <a:rPr lang="en-US" b="1" dirty="0"/>
              <a:t>Minh </a:t>
            </a:r>
            <a:r>
              <a:rPr lang="en-US" b="1" dirty="0" err="1"/>
              <a:t>họa</a:t>
            </a:r>
            <a:r>
              <a:rPr lang="en-US" b="1" dirty="0"/>
              <a:t> </a:t>
            </a:r>
            <a:r>
              <a:rPr lang="en-US" b="1" dirty="0" err="1"/>
              <a:t>tổ</a:t>
            </a:r>
            <a:r>
              <a:rPr lang="en-US" b="1" dirty="0"/>
              <a:t> </a:t>
            </a:r>
            <a:r>
              <a:rPr lang="en-US" b="1" dirty="0" err="1"/>
              <a:t>chức</a:t>
            </a:r>
            <a:r>
              <a:rPr lang="en-US" b="1" dirty="0"/>
              <a:t> </a:t>
            </a:r>
            <a:r>
              <a:rPr lang="en-US" b="1" dirty="0" err="1"/>
              <a:t>và</a:t>
            </a:r>
            <a:r>
              <a:rPr lang="en-US" b="1" dirty="0"/>
              <a:t> </a:t>
            </a:r>
            <a:r>
              <a:rPr lang="en-US" b="1" dirty="0" err="1"/>
              <a:t>các</a:t>
            </a:r>
            <a:r>
              <a:rPr lang="en-US" b="1" dirty="0"/>
              <a:t> </a:t>
            </a:r>
            <a:r>
              <a:rPr lang="en-US" b="1" dirty="0" err="1"/>
              <a:t>mối</a:t>
            </a:r>
            <a:r>
              <a:rPr lang="en-US" b="1" dirty="0"/>
              <a:t> </a:t>
            </a:r>
            <a:r>
              <a:rPr lang="en-US" b="1" dirty="0" err="1"/>
              <a:t>quan</a:t>
            </a:r>
            <a:r>
              <a:rPr lang="en-US" b="1" dirty="0"/>
              <a:t> </a:t>
            </a:r>
            <a:r>
              <a:rPr lang="en-US" b="1" dirty="0" err="1"/>
              <a:t>hệ</a:t>
            </a:r>
            <a:r>
              <a:rPr lang="en-US" b="1" dirty="0"/>
              <a:t> </a:t>
            </a:r>
            <a:r>
              <a:rPr lang="en-US" b="1" dirty="0" err="1"/>
              <a:t>phụ</a:t>
            </a:r>
            <a:r>
              <a:rPr lang="en-US" b="1" dirty="0"/>
              <a:t> </a:t>
            </a:r>
            <a:r>
              <a:rPr lang="en-US" b="1" dirty="0" err="1"/>
              <a:t>thuộc</a:t>
            </a:r>
            <a:r>
              <a:rPr lang="en-US" b="1" dirty="0"/>
              <a:t> </a:t>
            </a:r>
            <a:r>
              <a:rPr lang="en-US" b="1" dirty="0" err="1"/>
              <a:t>giữa</a:t>
            </a:r>
            <a:r>
              <a:rPr lang="en-US" b="1" dirty="0"/>
              <a:t> </a:t>
            </a:r>
            <a:r>
              <a:rPr lang="en-US" b="1" dirty="0" err="1"/>
              <a:t>các</a:t>
            </a:r>
            <a:r>
              <a:rPr lang="en-US" b="1" dirty="0"/>
              <a:t> </a:t>
            </a:r>
            <a:r>
              <a:rPr lang="en-US" b="1" dirty="0" err="1"/>
              <a:t>gói</a:t>
            </a:r>
            <a:r>
              <a:rPr lang="en-US" b="1" dirty="0"/>
              <a:t> </a:t>
            </a:r>
            <a:r>
              <a:rPr lang="en-US" b="1" dirty="0" err="1"/>
              <a:t>khác</a:t>
            </a:r>
            <a:r>
              <a:rPr lang="en-US" b="1" dirty="0"/>
              <a:t> </a:t>
            </a:r>
            <a:r>
              <a:rPr lang="en-US" b="1" dirty="0" err="1"/>
              <a:t>nhau</a:t>
            </a:r>
            <a:r>
              <a:rPr lang="en-US" b="1" dirty="0"/>
              <a:t> </a:t>
            </a:r>
            <a:r>
              <a:rPr lang="en-US" b="1" dirty="0" err="1"/>
              <a:t>trong</a:t>
            </a:r>
            <a:r>
              <a:rPr lang="en-US" b="1" dirty="0"/>
              <a:t> </a:t>
            </a:r>
            <a:r>
              <a:rPr lang="en-US" b="1" dirty="0" err="1"/>
              <a:t>một</a:t>
            </a:r>
            <a:r>
              <a:rPr lang="en-US" b="1" dirty="0"/>
              <a:t> </a:t>
            </a:r>
            <a:r>
              <a:rPr lang="en-US" b="1" dirty="0" err="1"/>
              <a:t>hệ</a:t>
            </a:r>
            <a:r>
              <a:rPr lang="en-US" b="1" dirty="0"/>
              <a:t> </a:t>
            </a:r>
            <a:r>
              <a:rPr lang="en-US" b="1" dirty="0" err="1"/>
              <a:t>thống</a:t>
            </a:r>
            <a:r>
              <a:rPr lang="en-US" b="1" dirty="0"/>
              <a:t>:</a:t>
            </a:r>
            <a:r>
              <a:rPr lang="en-US" dirty="0"/>
              <a:t> </a:t>
            </a:r>
            <a:r>
              <a:rPr lang="en-US" dirty="0" err="1"/>
              <a:t>Tổ</a:t>
            </a:r>
            <a:r>
              <a:rPr lang="en-US" dirty="0"/>
              <a:t> </a:t>
            </a:r>
            <a:r>
              <a:rPr lang="en-US" dirty="0" err="1"/>
              <a:t>chức</a:t>
            </a:r>
            <a:r>
              <a:rPr lang="en-US" dirty="0"/>
              <a:t> </a:t>
            </a:r>
            <a:r>
              <a:rPr lang="en-US" dirty="0" err="1"/>
              <a:t>và</a:t>
            </a:r>
            <a:r>
              <a:rPr lang="en-US" dirty="0"/>
              <a:t> </a:t>
            </a:r>
            <a:r>
              <a:rPr lang="en-US" dirty="0" err="1"/>
              <a:t>cấu</a:t>
            </a:r>
            <a:r>
              <a:rPr lang="en-US" dirty="0"/>
              <a:t> </a:t>
            </a:r>
            <a:r>
              <a:rPr lang="en-US" dirty="0" err="1"/>
              <a:t>trúc</a:t>
            </a:r>
            <a:r>
              <a:rPr lang="en-US" dirty="0"/>
              <a:t> </a:t>
            </a:r>
            <a:r>
              <a:rPr lang="en-US" dirty="0" err="1"/>
              <a:t>các</a:t>
            </a:r>
            <a:r>
              <a:rPr lang="en-US" dirty="0"/>
              <a:t> </a:t>
            </a:r>
            <a:r>
              <a:rPr lang="en-US" dirty="0" err="1"/>
              <a:t>thành</a:t>
            </a:r>
            <a:r>
              <a:rPr lang="en-US" dirty="0"/>
              <a:t> </a:t>
            </a:r>
            <a:r>
              <a:rPr lang="en-US" dirty="0" err="1"/>
              <a:t>phần</a:t>
            </a:r>
            <a:r>
              <a:rPr lang="en-US" dirty="0"/>
              <a:t> </a:t>
            </a:r>
            <a:r>
              <a:rPr lang="en-US" dirty="0" err="1"/>
              <a:t>của</a:t>
            </a:r>
            <a:r>
              <a:rPr lang="en-US" dirty="0"/>
              <a:t> </a:t>
            </a:r>
            <a:r>
              <a:rPr lang="en-US" dirty="0" err="1"/>
              <a:t>hệ</a:t>
            </a:r>
            <a:r>
              <a:rPr lang="en-US" dirty="0"/>
              <a:t> </a:t>
            </a:r>
            <a:r>
              <a:rPr lang="en-US" dirty="0" err="1"/>
              <a:t>thống</a:t>
            </a:r>
            <a:r>
              <a:rPr lang="en-US" dirty="0"/>
              <a:t> </a:t>
            </a:r>
            <a:r>
              <a:rPr lang="en-US" dirty="0" err="1"/>
              <a:t>một</a:t>
            </a:r>
            <a:r>
              <a:rPr lang="en-US" dirty="0"/>
              <a:t> </a:t>
            </a:r>
            <a:r>
              <a:rPr lang="en-US" dirty="0" err="1"/>
              <a:t>cách</a:t>
            </a:r>
            <a:r>
              <a:rPr lang="en-US" dirty="0"/>
              <a:t> logic.</a:t>
            </a:r>
          </a:p>
          <a:p>
            <a:pPr>
              <a:buFont typeface="Arial" panose="020B0604020202020204" pitchFamily="34" charset="0"/>
              <a:buChar char="•"/>
            </a:pPr>
            <a:r>
              <a:rPr lang="en-US" dirty="0"/>
              <a:t>Quản </a:t>
            </a:r>
            <a:r>
              <a:rPr lang="en-US" dirty="0" err="1"/>
              <a:t>lý</a:t>
            </a:r>
            <a:r>
              <a:rPr lang="en-US" dirty="0"/>
              <a:t> </a:t>
            </a:r>
            <a:r>
              <a:rPr lang="en-US" dirty="0" err="1"/>
              <a:t>các</a:t>
            </a:r>
            <a:r>
              <a:rPr lang="en-US" dirty="0"/>
              <a:t> </a:t>
            </a:r>
            <a:r>
              <a:rPr lang="en-US" dirty="0" err="1"/>
              <a:t>hệ</a:t>
            </a:r>
            <a:r>
              <a:rPr lang="en-US" dirty="0"/>
              <a:t> </a:t>
            </a:r>
            <a:r>
              <a:rPr lang="en-US" dirty="0" err="1"/>
              <a:t>thống</a:t>
            </a:r>
            <a:r>
              <a:rPr lang="en-US" dirty="0"/>
              <a:t> </a:t>
            </a:r>
            <a:r>
              <a:rPr lang="en-US" dirty="0" err="1"/>
              <a:t>lớn</a:t>
            </a:r>
            <a:r>
              <a:rPr lang="en-US" dirty="0"/>
              <a:t> </a:t>
            </a:r>
            <a:r>
              <a:rPr lang="en-US" dirty="0" err="1"/>
              <a:t>bằng</a:t>
            </a:r>
            <a:r>
              <a:rPr lang="en-US" dirty="0"/>
              <a:t> </a:t>
            </a:r>
            <a:r>
              <a:rPr lang="en-US" dirty="0" err="1"/>
              <a:t>cách</a:t>
            </a:r>
            <a:r>
              <a:rPr lang="en-US" dirty="0"/>
              <a:t> </a:t>
            </a:r>
            <a:r>
              <a:rPr lang="en-US" dirty="0" err="1"/>
              <a:t>nhóm</a:t>
            </a:r>
            <a:r>
              <a:rPr lang="en-US" dirty="0"/>
              <a:t> </a:t>
            </a:r>
            <a:r>
              <a:rPr lang="en-US" dirty="0" err="1"/>
              <a:t>các</a:t>
            </a:r>
            <a:r>
              <a:rPr lang="en-US" dirty="0"/>
              <a:t> </a:t>
            </a:r>
            <a:r>
              <a:rPr lang="en-US" dirty="0" err="1"/>
              <a:t>yếu</a:t>
            </a:r>
            <a:r>
              <a:rPr lang="en-US" dirty="0"/>
              <a:t> </a:t>
            </a:r>
            <a:r>
              <a:rPr lang="en-US" dirty="0" err="1"/>
              <a:t>tố</a:t>
            </a:r>
            <a:r>
              <a:rPr lang="en-US" dirty="0"/>
              <a:t> </a:t>
            </a:r>
            <a:r>
              <a:rPr lang="en-US" dirty="0" err="1"/>
              <a:t>liên</a:t>
            </a:r>
            <a:r>
              <a:rPr lang="en-US" dirty="0"/>
              <a:t> </a:t>
            </a:r>
            <a:r>
              <a:rPr lang="en-US" dirty="0" err="1"/>
              <a:t>quan</a:t>
            </a:r>
            <a:r>
              <a:rPr lang="en-US" dirty="0"/>
              <a:t>.</a:t>
            </a:r>
          </a:p>
          <a:p>
            <a:pPr>
              <a:buFont typeface="Arial" panose="020B0604020202020204" pitchFamily="34" charset="0"/>
              <a:buChar char="•"/>
            </a:pPr>
            <a:r>
              <a:rPr lang="en-US" dirty="0" err="1"/>
              <a:t>Trực</a:t>
            </a:r>
            <a:r>
              <a:rPr lang="en-US" dirty="0"/>
              <a:t> </a:t>
            </a:r>
            <a:r>
              <a:rPr lang="en-US" dirty="0" err="1"/>
              <a:t>quan</a:t>
            </a:r>
            <a:r>
              <a:rPr lang="en-US" dirty="0"/>
              <a:t> </a:t>
            </a:r>
            <a:r>
              <a:rPr lang="en-US" dirty="0" err="1"/>
              <a:t>hóa</a:t>
            </a:r>
            <a:r>
              <a:rPr lang="en-US" dirty="0"/>
              <a:t> </a:t>
            </a:r>
            <a:r>
              <a:rPr lang="en-US" dirty="0" err="1"/>
              <a:t>các</a:t>
            </a:r>
            <a:r>
              <a:rPr lang="en-US" dirty="0"/>
              <a:t> </a:t>
            </a:r>
            <a:r>
              <a:rPr lang="en-US" dirty="0" err="1"/>
              <a:t>mối</a:t>
            </a:r>
            <a:r>
              <a:rPr lang="en-US" dirty="0"/>
              <a:t> </a:t>
            </a:r>
            <a:r>
              <a:rPr lang="en-US" dirty="0" err="1"/>
              <a:t>quan</a:t>
            </a:r>
            <a:r>
              <a:rPr lang="en-US" dirty="0"/>
              <a:t> </a:t>
            </a:r>
            <a:r>
              <a:rPr lang="en-US" dirty="0" err="1"/>
              <a:t>hệ</a:t>
            </a:r>
            <a:r>
              <a:rPr lang="en-US" dirty="0"/>
              <a:t> </a:t>
            </a:r>
            <a:r>
              <a:rPr lang="en-US" dirty="0" err="1"/>
              <a:t>phụ</a:t>
            </a:r>
            <a:r>
              <a:rPr lang="en-US" dirty="0"/>
              <a:t> </a:t>
            </a:r>
            <a:r>
              <a:rPr lang="en-US" dirty="0" err="1"/>
              <a:t>thuộc</a:t>
            </a:r>
            <a:r>
              <a:rPr lang="en-US" dirty="0"/>
              <a:t> </a:t>
            </a:r>
            <a:r>
              <a:rPr lang="en-US" dirty="0" err="1"/>
              <a:t>và</a:t>
            </a:r>
            <a:r>
              <a:rPr lang="en-US" dirty="0"/>
              <a:t> </a:t>
            </a:r>
            <a:r>
              <a:rPr lang="en-US" dirty="0" err="1"/>
              <a:t>giảm</a:t>
            </a:r>
            <a:r>
              <a:rPr lang="en-US" dirty="0"/>
              <a:t> </a:t>
            </a:r>
            <a:r>
              <a:rPr lang="en-US" dirty="0" err="1"/>
              <a:t>sự</a:t>
            </a:r>
            <a:r>
              <a:rPr lang="en-US" dirty="0"/>
              <a:t> </a:t>
            </a:r>
            <a:r>
              <a:rPr lang="en-US" dirty="0" err="1"/>
              <a:t>ràng</a:t>
            </a:r>
            <a:r>
              <a:rPr lang="en-US" dirty="0"/>
              <a:t> </a:t>
            </a:r>
            <a:r>
              <a:rPr lang="en-US" dirty="0" err="1"/>
              <a:t>buộc</a:t>
            </a:r>
            <a:r>
              <a:rPr lang="en-US" dirty="0"/>
              <a:t> </a:t>
            </a:r>
            <a:r>
              <a:rPr lang="en-US" dirty="0" err="1"/>
              <a:t>giữa</a:t>
            </a:r>
            <a:r>
              <a:rPr lang="en-US" dirty="0"/>
              <a:t> </a:t>
            </a:r>
            <a:r>
              <a:rPr lang="en-US" dirty="0" err="1"/>
              <a:t>các</a:t>
            </a:r>
            <a:r>
              <a:rPr lang="en-US" dirty="0"/>
              <a:t> </a:t>
            </a:r>
            <a:r>
              <a:rPr lang="en-US" dirty="0" err="1"/>
              <a:t>thành</a:t>
            </a:r>
            <a:r>
              <a:rPr lang="en-US" dirty="0"/>
              <a:t> </a:t>
            </a:r>
            <a:r>
              <a:rPr lang="en-US" dirty="0" err="1"/>
              <a:t>phần</a:t>
            </a:r>
            <a:r>
              <a:rPr lang="en-US" dirty="0"/>
              <a:t>.</a:t>
            </a:r>
          </a:p>
          <a:p>
            <a:pPr>
              <a:buFont typeface="Arial" panose="020B0604020202020204" pitchFamily="34" charset="0"/>
              <a:buChar char="•"/>
            </a:pPr>
            <a:r>
              <a:rPr lang="en-US" dirty="0" err="1"/>
              <a:t>Đại</a:t>
            </a:r>
            <a:r>
              <a:rPr lang="en-US" dirty="0"/>
              <a:t> </a:t>
            </a:r>
            <a:r>
              <a:rPr lang="en-US" dirty="0" err="1"/>
              <a:t>diện</a:t>
            </a:r>
            <a:r>
              <a:rPr lang="en-US" dirty="0"/>
              <a:t> </a:t>
            </a:r>
            <a:r>
              <a:rPr lang="en-US" dirty="0" err="1"/>
              <a:t>cho</a:t>
            </a:r>
            <a:r>
              <a:rPr lang="en-US" dirty="0"/>
              <a:t> </a:t>
            </a:r>
            <a:r>
              <a:rPr lang="en-US" dirty="0" err="1"/>
              <a:t>các</a:t>
            </a:r>
            <a:r>
              <a:rPr lang="en-US" dirty="0"/>
              <a:t> </a:t>
            </a:r>
            <a:r>
              <a:rPr lang="en-US" dirty="0" err="1"/>
              <a:t>hệ</a:t>
            </a:r>
            <a:r>
              <a:rPr lang="en-US" dirty="0"/>
              <a:t> </a:t>
            </a:r>
            <a:r>
              <a:rPr lang="en-US" dirty="0" err="1"/>
              <a:t>thống</a:t>
            </a:r>
            <a:r>
              <a:rPr lang="en-US" dirty="0"/>
              <a:t> </a:t>
            </a:r>
            <a:r>
              <a:rPr lang="en-US" dirty="0" err="1"/>
              <a:t>phân</a:t>
            </a:r>
            <a:r>
              <a:rPr lang="en-US" dirty="0"/>
              <a:t> </a:t>
            </a:r>
            <a:r>
              <a:rPr lang="en-US" dirty="0" err="1"/>
              <a:t>cấp</a:t>
            </a:r>
            <a:r>
              <a:rPr lang="en-US" dirty="0"/>
              <a:t> </a:t>
            </a:r>
            <a:r>
              <a:rPr lang="en-US" dirty="0" err="1"/>
              <a:t>không</a:t>
            </a:r>
            <a:r>
              <a:rPr lang="en-US" dirty="0"/>
              <a:t> </a:t>
            </a:r>
            <a:r>
              <a:rPr lang="en-US" dirty="0" err="1"/>
              <a:t>gian</a:t>
            </a:r>
            <a:r>
              <a:rPr lang="en-US" dirty="0"/>
              <a:t> </a:t>
            </a:r>
            <a:r>
              <a:rPr lang="en-US" dirty="0" err="1"/>
              <a:t>tên</a:t>
            </a:r>
            <a:r>
              <a:rPr lang="en-US" dirty="0"/>
              <a:t>.</a:t>
            </a:r>
          </a:p>
          <a:p>
            <a:endParaRPr lang="en-US" dirty="0"/>
          </a:p>
        </p:txBody>
      </p:sp>
    </p:spTree>
    <p:extLst>
      <p:ext uri="{BB962C8B-B14F-4D97-AF65-F5344CB8AC3E}">
        <p14:creationId xmlns:p14="http://schemas.microsoft.com/office/powerpoint/2010/main" val="776468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Font typeface="Arial" panose="020B0604020202020204" pitchFamily="34" charset="0"/>
              <a:buChar char="•"/>
            </a:pPr>
            <a:r>
              <a:rPr lang="vi-VN" b="1"/>
              <a:t>Đại diện cho các tương tác giữa người dùng (tác nhân) và một hệ thống:</a:t>
            </a:r>
            <a:r>
              <a:rPr lang="vi-VN"/>
              <a:t> Xác định chức năng do hệ thống cung cấp.</a:t>
            </a:r>
          </a:p>
          <a:p>
            <a:pPr>
              <a:buFont typeface="Arial" panose="020B0604020202020204" pitchFamily="34" charset="0"/>
              <a:buChar char="•"/>
            </a:pPr>
            <a:r>
              <a:rPr lang="vi-VN"/>
              <a:t>Định nghĩa các tương tác giữa các tác nhân và hệ thống.</a:t>
            </a:r>
          </a:p>
          <a:p>
            <a:pPr>
              <a:buFont typeface="Arial" panose="020B0604020202020204" pitchFamily="34" charset="0"/>
              <a:buChar char="•"/>
            </a:pPr>
            <a:r>
              <a:rPr lang="vi-VN"/>
              <a:t>Làm rõ các yêu cầu hệ thống và truyền đạt chúng cho các bên liên quan.</a:t>
            </a:r>
          </a:p>
          <a:p>
            <a:pPr>
              <a:buFont typeface="Arial" panose="020B0604020202020204" pitchFamily="34" charset="0"/>
              <a:buChar char="•"/>
            </a:pPr>
            <a:r>
              <a:rPr lang="vi-VN"/>
              <a:t>Phục vụ như một nền tảng để thiết kế và kiểm thử hệ thống.</a:t>
            </a:r>
          </a:p>
          <a:p>
            <a:endParaRPr lang="en-US" dirty="0"/>
          </a:p>
        </p:txBody>
      </p:sp>
    </p:spTree>
    <p:extLst>
      <p:ext uri="{BB962C8B-B14F-4D97-AF65-F5344CB8AC3E}">
        <p14:creationId xmlns:p14="http://schemas.microsoft.com/office/powerpoint/2010/main" val="29933665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Font typeface="Arial" panose="020B0604020202020204" pitchFamily="34" charset="0"/>
              <a:buChar char="•"/>
            </a:pPr>
            <a:r>
              <a:rPr lang="vi-VN" b="1"/>
              <a:t>Biểu đồ tương tác mô hình hóa cách các đối tượng tương tác trong một kịch bản cụ thể của một trường hợp sử dụng:</a:t>
            </a:r>
            <a:r>
              <a:rPr lang="vi-VN"/>
              <a:t> Mô hình hóa luồng thông điệp trong một tương tác hoặc kịch bản cụ thể.</a:t>
            </a:r>
          </a:p>
          <a:p>
            <a:pPr>
              <a:buFont typeface="Arial" panose="020B0604020202020204" pitchFamily="34" charset="0"/>
              <a:buChar char="•"/>
            </a:pPr>
            <a:r>
              <a:rPr lang="vi-VN"/>
              <a:t>Tài liệu hóa cách các chức năng của trường hợp sử dụng được hiện thực hóa.</a:t>
            </a:r>
          </a:p>
          <a:p>
            <a:pPr>
              <a:buFont typeface="Arial" panose="020B0604020202020204" pitchFamily="34" charset="0"/>
              <a:buChar char="•"/>
            </a:pPr>
            <a:r>
              <a:rPr lang="vi-VN"/>
              <a:t>Xác định các vấn đề thiết kế tiềm ẩn, chẳng hạn như sự gắn kết chặt chẽ giữa các thành phần.</a:t>
            </a:r>
          </a:p>
          <a:p>
            <a:pPr>
              <a:buFont typeface="Arial" panose="020B0604020202020204" pitchFamily="34" charset="0"/>
              <a:buChar char="•"/>
            </a:pPr>
            <a:r>
              <a:rPr lang="vi-VN"/>
              <a:t>Được sử dụng trong thiết kế hệ thống, gỡ lỗi và tài liệu hóa.</a:t>
            </a:r>
          </a:p>
          <a:p>
            <a:endParaRPr lang="en-US" dirty="0"/>
          </a:p>
        </p:txBody>
      </p:sp>
    </p:spTree>
    <p:extLst>
      <p:ext uri="{BB962C8B-B14F-4D97-AF65-F5344CB8AC3E}">
        <p14:creationId xmlns:p14="http://schemas.microsoft.com/office/powerpoint/2010/main" val="26049405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Font typeface="Arial" panose="020B0604020202020204" pitchFamily="34" charset="0"/>
              <a:buChar char="•"/>
            </a:pPr>
            <a:r>
              <a:rPr lang="vi-VN" b="1"/>
              <a:t>Hiển thị các khía cạnh động của một hệ thống, bao gồm trình tự và các điều kiện cho luồng điều khiển:</a:t>
            </a:r>
            <a:r>
              <a:rPr lang="vi-VN"/>
              <a:t> Mô hình hóa các quy trình làm việc và quy trình kinh doanh.</a:t>
            </a:r>
          </a:p>
          <a:p>
            <a:pPr>
              <a:buFont typeface="Arial" panose="020B0604020202020204" pitchFamily="34" charset="0"/>
              <a:buChar char="•"/>
            </a:pPr>
            <a:r>
              <a:rPr lang="vi-VN"/>
              <a:t>Mô tả logic đằng sau một trường hợp sử dụng hoặc hoạt động.</a:t>
            </a:r>
          </a:p>
          <a:p>
            <a:pPr>
              <a:buFont typeface="Arial" panose="020B0604020202020204" pitchFamily="34" charset="0"/>
              <a:buChar char="•"/>
            </a:pPr>
            <a:r>
              <a:rPr lang="vi-VN"/>
              <a:t>Trực quan hóa các luồng song song và có điều kiện trong một quy trình.</a:t>
            </a:r>
          </a:p>
          <a:p>
            <a:pPr>
              <a:buFont typeface="Arial" panose="020B0604020202020204" pitchFamily="34" charset="0"/>
              <a:buChar char="•"/>
            </a:pPr>
            <a:r>
              <a:rPr lang="vi-VN"/>
              <a:t>Phân tích và tối ưu hóa các quy trình làm việc phức tạp.</a:t>
            </a:r>
          </a:p>
          <a:p>
            <a:endParaRPr lang="en-US" dirty="0"/>
          </a:p>
        </p:txBody>
      </p:sp>
    </p:spTree>
    <p:extLst>
      <p:ext uri="{BB962C8B-B14F-4D97-AF65-F5344CB8AC3E}">
        <p14:creationId xmlns:p14="http://schemas.microsoft.com/office/powerpoint/2010/main" val="32976778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Font typeface="Arial" panose="020B0604020202020204" pitchFamily="34" charset="0"/>
              <a:buChar char="•"/>
            </a:pPr>
            <a:r>
              <a:rPr lang="vi-VN" b="1" dirty="0"/>
              <a:t>Mô hình hóa các trạng thái mà một đối tượng trải qua trong suốt vòng đời của nó và các chuyển đổi giữa các trạng thái đó:</a:t>
            </a:r>
            <a:r>
              <a:rPr lang="vi-VN" dirty="0"/>
              <a:t> Mô hình hóa hành vi của một đối tượng trong suốt vòng đời của nó.</a:t>
            </a:r>
          </a:p>
          <a:p>
            <a:pPr>
              <a:buFont typeface="Arial" panose="020B0604020202020204" pitchFamily="34" charset="0"/>
              <a:buChar char="•"/>
            </a:pPr>
            <a:r>
              <a:rPr lang="vi-VN" dirty="0"/>
              <a:t>Thu thập </a:t>
            </a:r>
            <a:r>
              <a:rPr lang="vi-VN" dirty="0" err="1"/>
              <a:t>logic</a:t>
            </a:r>
            <a:r>
              <a:rPr lang="vi-VN" dirty="0"/>
              <a:t> phụ thuộc trạng thái phức tạp.</a:t>
            </a:r>
          </a:p>
          <a:p>
            <a:pPr>
              <a:buFont typeface="Arial" panose="020B0604020202020204" pitchFamily="34" charset="0"/>
              <a:buChar char="•"/>
            </a:pPr>
            <a:r>
              <a:rPr lang="vi-VN" dirty="0"/>
              <a:t>Trực quan hóa các hệ thống dựa trên sự kiện hoặc phản ứng.</a:t>
            </a:r>
          </a:p>
          <a:p>
            <a:pPr>
              <a:buFont typeface="Arial" panose="020B0604020202020204" pitchFamily="34" charset="0"/>
              <a:buChar char="•"/>
            </a:pPr>
            <a:r>
              <a:rPr lang="vi-VN" dirty="0"/>
              <a:t>Thiết kế và kiểm thử các thành phần có trạng thái trong một hệ thống.</a:t>
            </a:r>
          </a:p>
          <a:p>
            <a:endParaRPr lang="en-US" dirty="0"/>
          </a:p>
        </p:txBody>
      </p:sp>
    </p:spTree>
    <p:extLst>
      <p:ext uri="{BB962C8B-B14F-4D97-AF65-F5344CB8AC3E}">
        <p14:creationId xmlns:p14="http://schemas.microsoft.com/office/powerpoint/2010/main" val="18502256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Font typeface="Arial" panose="020B0604020202020204" pitchFamily="34" charset="0"/>
              <a:buChar char="•"/>
            </a:pPr>
            <a:r>
              <a:rPr lang="vi-VN" b="1"/>
              <a:t>Hiển thị cách các đối tượng tương tác trong một kịch bản cụ thể:</a:t>
            </a:r>
            <a:r>
              <a:rPr lang="vi-VN"/>
              <a:t> Trực quan hóa các tương tác đối tượng cho một trường hợp sử dụng hoặc kịch bản cụ thể.</a:t>
            </a:r>
          </a:p>
          <a:p>
            <a:pPr>
              <a:buFont typeface="Arial" panose="020B0604020202020204" pitchFamily="34" charset="0"/>
              <a:buChar char="•"/>
            </a:pPr>
            <a:r>
              <a:rPr lang="vi-VN"/>
              <a:t>Phân tích các mối quan hệ giữa các đối tượng.</a:t>
            </a:r>
          </a:p>
          <a:p>
            <a:pPr>
              <a:buFont typeface="Arial" panose="020B0604020202020204" pitchFamily="34" charset="0"/>
              <a:buChar char="•"/>
            </a:pPr>
            <a:r>
              <a:rPr lang="vi-VN"/>
              <a:t>Hiểu cách các phần khác nhau của một hệ thống cộng tác để đạt được chức năng.</a:t>
            </a:r>
          </a:p>
          <a:p>
            <a:endParaRPr lang="en-US" dirty="0"/>
          </a:p>
        </p:txBody>
      </p:sp>
    </p:spTree>
    <p:extLst>
      <p:ext uri="{BB962C8B-B14F-4D97-AF65-F5344CB8AC3E}">
        <p14:creationId xmlns:p14="http://schemas.microsoft.com/office/powerpoint/2010/main" val="7074753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None/>
            </a:pPr>
            <a:r>
              <a:rPr lang="vi-VN" b="1" dirty="0"/>
              <a:t>Biểu đồ luồng dữ liệu (DFD) cấp 1 của Hệ thống đặt chỗ đường sắt</a:t>
            </a:r>
            <a:endParaRPr lang="vi-VN" dirty="0"/>
          </a:p>
          <a:p>
            <a:pPr>
              <a:buFont typeface="Arial" panose="020B0604020202020204" pitchFamily="34" charset="0"/>
              <a:buChar char="•"/>
            </a:pPr>
            <a:r>
              <a:rPr lang="vi-VN" b="1" dirty="0"/>
              <a:t>Một biểu diễn đồ họa cấp cao về luồng dữ liệu trong một hệ thống:</a:t>
            </a:r>
            <a:endParaRPr lang="vi-VN" dirty="0"/>
          </a:p>
          <a:p>
            <a:pPr marL="742950" lvl="1" indent="-285750">
              <a:buFont typeface="Arial" panose="020B0604020202020204" pitchFamily="34" charset="0"/>
              <a:buChar char="•"/>
            </a:pPr>
            <a:r>
              <a:rPr lang="vi-VN" dirty="0"/>
              <a:t>Luồng dữ liệu giữa các mô-đun, thành phần</a:t>
            </a:r>
          </a:p>
          <a:p>
            <a:pPr marL="742950" lvl="1" indent="-285750">
              <a:buFont typeface="Arial" panose="020B0604020202020204" pitchFamily="34" charset="0"/>
              <a:buChar char="•"/>
            </a:pPr>
            <a:r>
              <a:rPr lang="vi-VN" dirty="0"/>
              <a:t>Lưu trữ/bộ đệm dữ liệu</a:t>
            </a:r>
          </a:p>
          <a:p>
            <a:pPr>
              <a:buFont typeface="Arial" panose="020B0604020202020204" pitchFamily="34" charset="0"/>
              <a:buChar char="•"/>
            </a:pPr>
            <a:r>
              <a:rPr lang="vi-VN" b="1" dirty="0"/>
              <a:t>Các cấp độ chi tiết:</a:t>
            </a:r>
            <a:endParaRPr lang="vi-VN" dirty="0"/>
          </a:p>
          <a:p>
            <a:pPr marL="742950" lvl="1" indent="-285750">
              <a:buFont typeface="Arial" panose="020B0604020202020204" pitchFamily="34" charset="0"/>
              <a:buChar char="•"/>
            </a:pPr>
            <a:r>
              <a:rPr lang="vi-VN" dirty="0"/>
              <a:t>Cấp độ 0: Biểu đồ ngữ cảnh</a:t>
            </a:r>
          </a:p>
          <a:p>
            <a:pPr marL="742950" lvl="1" indent="-285750">
              <a:buFont typeface="Arial" panose="020B0604020202020204" pitchFamily="34" charset="0"/>
              <a:buChar char="•"/>
            </a:pPr>
            <a:r>
              <a:rPr lang="vi-VN" dirty="0"/>
              <a:t>Cấp độ 1: Biểu đồ phân rã</a:t>
            </a:r>
          </a:p>
          <a:p>
            <a:r>
              <a:rPr lang="vi-VN" b="1" dirty="0"/>
              <a:t>1. Quy trình (</a:t>
            </a:r>
            <a:r>
              <a:rPr lang="vi-VN" b="1" dirty="0" err="1"/>
              <a:t>Processes</a:t>
            </a:r>
            <a:r>
              <a:rPr lang="vi-VN" b="1" dirty="0"/>
              <a:t>):</a:t>
            </a:r>
            <a:r>
              <a:rPr lang="vi-VN" dirty="0"/>
              <a:t> 1. Đại diện cho các hoạt động hoặc chức năng biến đổi dữ liệu đầu vào thành dữ liệu đầu ra. 2. Được mô tả bằng hình tròn hoặc hình chữ nhật bo tròn. 3. Được đặt tên bằng động từ hoặc cụm động từ (ví dụ: "Tính lương").</a:t>
            </a:r>
          </a:p>
          <a:p>
            <a:r>
              <a:rPr lang="vi-VN" b="1" dirty="0"/>
              <a:t>2. Luồng dữ liệu (</a:t>
            </a:r>
            <a:r>
              <a:rPr lang="vi-VN" b="1" dirty="0" err="1"/>
              <a:t>Data</a:t>
            </a:r>
            <a:r>
              <a:rPr lang="vi-VN" b="1" dirty="0"/>
              <a:t> </a:t>
            </a:r>
            <a:r>
              <a:rPr lang="vi-VN" b="1" dirty="0" err="1"/>
              <a:t>Flows</a:t>
            </a:r>
            <a:r>
              <a:rPr lang="vi-VN" b="1" dirty="0"/>
              <a:t>):</a:t>
            </a:r>
            <a:r>
              <a:rPr lang="vi-VN" dirty="0"/>
              <a:t> 1. Đại diện cho sự di chuyển của dữ liệu giữa các quy trình, kho dữ liệu và các thực thể bên ngoài. 2. Được mô tả bằng các mũi tên có nhãn là dữ liệu đang được truyền (ví dụ: "Chi tiết đơn hàng").</a:t>
            </a:r>
          </a:p>
          <a:p>
            <a:r>
              <a:rPr lang="vi-VN" b="1" dirty="0"/>
              <a:t>3. Kho dữ liệu (</a:t>
            </a:r>
            <a:r>
              <a:rPr lang="vi-VN" b="1" dirty="0" err="1"/>
              <a:t>Data</a:t>
            </a:r>
            <a:r>
              <a:rPr lang="vi-VN" b="1" dirty="0"/>
              <a:t> </a:t>
            </a:r>
            <a:r>
              <a:rPr lang="vi-VN" b="1" dirty="0" err="1"/>
              <a:t>Stores</a:t>
            </a:r>
            <a:r>
              <a:rPr lang="vi-VN" b="1" dirty="0"/>
              <a:t>):</a:t>
            </a:r>
            <a:r>
              <a:rPr lang="vi-VN" dirty="0"/>
              <a:t> 1. Đại diện cho các kho lưu trữ dữ liệu (ví dụ: cơ sở dữ liệu, tệp). 2. Được mô tả bằng các hình chữ nhật mở ở một đầu hoặc các đường song </a:t>
            </a:r>
            <a:r>
              <a:rPr lang="vi-VN" dirty="0" err="1"/>
              <a:t>song</a:t>
            </a:r>
            <a:r>
              <a:rPr lang="vi-VN" dirty="0"/>
              <a:t> nằm ngang. 3. Được đặt tên bằng danh từ (ví dụ: "Cơ sở dữ liệu khách hàng").</a:t>
            </a:r>
          </a:p>
          <a:p>
            <a:r>
              <a:rPr lang="vi-VN" b="1" dirty="0"/>
              <a:t>4. Thực thể bên ngoài (</a:t>
            </a:r>
            <a:r>
              <a:rPr lang="vi-VN" b="1" dirty="0" err="1"/>
              <a:t>External</a:t>
            </a:r>
            <a:r>
              <a:rPr lang="vi-VN" b="1" dirty="0"/>
              <a:t> </a:t>
            </a:r>
            <a:r>
              <a:rPr lang="vi-VN" b="1" dirty="0" err="1"/>
              <a:t>Entities</a:t>
            </a:r>
            <a:r>
              <a:rPr lang="vi-VN" b="1" dirty="0"/>
              <a:t>):</a:t>
            </a:r>
            <a:r>
              <a:rPr lang="vi-VN" dirty="0"/>
              <a:t> 1. Đại diện cho các hệ thống, người hoặc tổ chức bên ngoài tương tác với hệ thống. 2. Được mô tả bằng hình chữ nhật. 3. Được đặt tên bằng danh từ (ví dụ: "Người dùng", "Nhà cung cấp").</a:t>
            </a:r>
          </a:p>
          <a:p>
            <a:endParaRPr lang="en-US" dirty="0"/>
          </a:p>
          <a:p>
            <a:r>
              <a:rPr lang="vi-VN" b="1" dirty="0"/>
              <a:t>Các cấp độ của DFD</a:t>
            </a:r>
            <a:endParaRPr lang="vi-VN" dirty="0"/>
          </a:p>
          <a:p>
            <a:r>
              <a:rPr lang="vi-VN" b="1" dirty="0"/>
              <a:t>1. Cấp độ 0: Biểu đồ ngữ cảnh (</a:t>
            </a:r>
            <a:r>
              <a:rPr lang="vi-VN" b="1" dirty="0" err="1"/>
              <a:t>Context</a:t>
            </a:r>
            <a:r>
              <a:rPr lang="vi-VN" b="1" dirty="0"/>
              <a:t> </a:t>
            </a:r>
            <a:r>
              <a:rPr lang="vi-VN" b="1" dirty="0" err="1"/>
              <a:t>Diagram</a:t>
            </a:r>
            <a:r>
              <a:rPr lang="vi-VN" b="1" dirty="0"/>
              <a:t>)</a:t>
            </a:r>
            <a:r>
              <a:rPr lang="vi-VN" dirty="0"/>
              <a:t> 1. Cung cấp cái nhìn tổng quan cấp cao về toàn bộ hệ thống. 2. Hiển thị hệ thống dưới dạng một quy trình duy nhất và các tương tác của nó với các thực thể bên ngoài.</a:t>
            </a:r>
          </a:p>
          <a:p>
            <a:r>
              <a:rPr lang="vi-VN" b="1" dirty="0"/>
              <a:t>2. Cấp độ 1: Biểu đồ phân rã (</a:t>
            </a:r>
            <a:r>
              <a:rPr lang="vi-VN" b="1" dirty="0" err="1"/>
              <a:t>Decomposition</a:t>
            </a:r>
            <a:r>
              <a:rPr lang="vi-VN" b="1" dirty="0"/>
              <a:t> </a:t>
            </a:r>
            <a:r>
              <a:rPr lang="vi-VN" b="1" dirty="0" err="1"/>
              <a:t>Diagram</a:t>
            </a:r>
            <a:r>
              <a:rPr lang="vi-VN" b="1" dirty="0"/>
              <a:t>)</a:t>
            </a:r>
            <a:r>
              <a:rPr lang="vi-VN" dirty="0"/>
              <a:t> 1. Phân rã quy trình Cấp độ 0 thành các quy trình con để hiển thị chi tiết hơn. 2. Hiển thị các quy trình chính, luồng dữ liệu và kho dữ liệu.</a:t>
            </a:r>
          </a:p>
          <a:p>
            <a:r>
              <a:rPr lang="vi-VN" b="1" dirty="0"/>
              <a:t>3. Cấp độ 2 trở lên:</a:t>
            </a:r>
            <a:r>
              <a:rPr lang="vi-VN" dirty="0"/>
              <a:t> 1. Cung cấp chi tiết hơn nữa bằng cách phân rã các quy trình con từ Cấp độ 1 thành các chi tiết nhỏ hơn. 2. Hữu ích cho các hệ thống phức tạp.</a:t>
            </a:r>
          </a:p>
          <a:p>
            <a:endParaRPr lang="en-US" dirty="0"/>
          </a:p>
        </p:txBody>
      </p:sp>
    </p:spTree>
    <p:extLst>
      <p:ext uri="{BB962C8B-B14F-4D97-AF65-F5344CB8AC3E}">
        <p14:creationId xmlns:p14="http://schemas.microsoft.com/office/powerpoint/2010/main" val="16626746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Cách tạo DFD</a:t>
            </a:r>
            <a:endParaRPr lang="vi-VN" dirty="0"/>
          </a:p>
          <a:p>
            <a:r>
              <a:rPr lang="vi-VN" b="1" dirty="0"/>
              <a:t>1. Xác định các quy trình:</a:t>
            </a:r>
            <a:r>
              <a:rPr lang="vi-VN" dirty="0"/>
              <a:t> 1. Xác định các chức năng hoặc quy trình chính trong hệ thống.</a:t>
            </a:r>
          </a:p>
          <a:p>
            <a:r>
              <a:rPr lang="vi-VN" b="1" dirty="0"/>
              <a:t>2. Xác định luồng dữ liệu:</a:t>
            </a:r>
            <a:r>
              <a:rPr lang="vi-VN" dirty="0"/>
              <a:t> 1. Lập bản đồ cách dữ liệu di chuyển giữa các quy trình, kho dữ liệu và các thực thể bên ngoài.</a:t>
            </a:r>
          </a:p>
          <a:p>
            <a:r>
              <a:rPr lang="vi-VN" b="1" dirty="0"/>
              <a:t>3. Xác định kho dữ liệu:</a:t>
            </a:r>
            <a:r>
              <a:rPr lang="vi-VN" dirty="0"/>
              <a:t> 1. Liệt kê tất cả các điểm lưu trữ dữ liệu (ví dụ: cơ sở dữ liệu, tệp).</a:t>
            </a:r>
          </a:p>
          <a:p>
            <a:r>
              <a:rPr lang="vi-VN" b="1" dirty="0"/>
              <a:t>4. Xác định các thực thể bên ngoài:</a:t>
            </a:r>
            <a:r>
              <a:rPr lang="vi-VN" dirty="0"/>
              <a:t> 1. Xác định các hệ thống, người hoặc tổ chức tương tác với hệ thống.</a:t>
            </a:r>
          </a:p>
          <a:p>
            <a:r>
              <a:rPr lang="vi-VN" b="1" dirty="0"/>
              <a:t>5. Tạo biểu đồ ngữ cảnh (Cấp độ 0):</a:t>
            </a:r>
            <a:r>
              <a:rPr lang="vi-VN" dirty="0"/>
              <a:t> 1. Bắt đầu với một quy trình duy nhất đại diện cho toàn bộ hệ thống.</a:t>
            </a:r>
          </a:p>
          <a:p>
            <a:r>
              <a:rPr lang="vi-VN" b="1" dirty="0"/>
              <a:t>6. Phân rã thành các cấp độ thấp hơn:</a:t>
            </a:r>
            <a:r>
              <a:rPr lang="vi-VN" dirty="0"/>
              <a:t> 1. Phân rã quy trình chính thành các quy trình con để hiển thị chi tiết hơn.</a:t>
            </a:r>
          </a:p>
          <a:p>
            <a:endParaRPr lang="en-US" dirty="0"/>
          </a:p>
        </p:txBody>
      </p:sp>
    </p:spTree>
    <p:extLst>
      <p:ext uri="{BB962C8B-B14F-4D97-AF65-F5344CB8AC3E}">
        <p14:creationId xmlns:p14="http://schemas.microsoft.com/office/powerpoint/2010/main" val="2709695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dirty="0"/>
              <a:t>Đảm bảo tính toàn vẹn dữ liệu. </a:t>
            </a:r>
            <a:endParaRPr lang="en-US" dirty="0"/>
          </a:p>
          <a:p>
            <a:r>
              <a:rPr lang="vi-VN" dirty="0"/>
              <a:t>Giảm thiểu sự dư thừa. </a:t>
            </a:r>
            <a:endParaRPr lang="en-US" dirty="0"/>
          </a:p>
          <a:p>
            <a:r>
              <a:rPr lang="vi-VN" dirty="0"/>
              <a:t>Tối ưu hóa hiệu suất. </a:t>
            </a:r>
            <a:endParaRPr lang="en-US" dirty="0"/>
          </a:p>
          <a:p>
            <a:r>
              <a:rPr lang="vi-VN" dirty="0"/>
              <a:t>Hỗ trợ khả năng mở rộng trong tương lai.</a:t>
            </a:r>
            <a:endParaRPr lang="en-US" dirty="0"/>
          </a:p>
        </p:txBody>
      </p:sp>
    </p:spTree>
    <p:extLst>
      <p:ext uri="{BB962C8B-B14F-4D97-AF65-F5344CB8AC3E}">
        <p14:creationId xmlns:p14="http://schemas.microsoft.com/office/powerpoint/2010/main" val="25237237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b="0" dirty="0" err="1"/>
              <a:t>Phân</a:t>
            </a:r>
            <a:r>
              <a:rPr lang="en-US" b="0" dirty="0"/>
              <a:t> </a:t>
            </a:r>
            <a:r>
              <a:rPr lang="en-US" b="0" dirty="0" err="1"/>
              <a:t>tích</a:t>
            </a:r>
            <a:r>
              <a:rPr lang="en-US" b="0" dirty="0"/>
              <a:t> </a:t>
            </a:r>
            <a:r>
              <a:rPr lang="en-US" b="0" dirty="0" err="1"/>
              <a:t>yêu</a:t>
            </a:r>
            <a:r>
              <a:rPr lang="en-US" b="0" dirty="0"/>
              <a:t> </a:t>
            </a:r>
            <a:r>
              <a:rPr lang="en-US" b="0" dirty="0" err="1"/>
              <a:t>cầu</a:t>
            </a:r>
            <a:r>
              <a:rPr lang="en-US" b="0" dirty="0"/>
              <a:t> </a:t>
            </a:r>
          </a:p>
          <a:p>
            <a:r>
              <a:rPr lang="en-US" b="0" dirty="0" err="1"/>
              <a:t>Thiết</a:t>
            </a:r>
            <a:r>
              <a:rPr lang="en-US" b="0" dirty="0"/>
              <a:t> </a:t>
            </a:r>
            <a:r>
              <a:rPr lang="en-US" b="0" dirty="0" err="1"/>
              <a:t>kế</a:t>
            </a:r>
            <a:r>
              <a:rPr lang="en-US" b="0" dirty="0"/>
              <a:t> logic </a:t>
            </a:r>
          </a:p>
          <a:p>
            <a:r>
              <a:rPr lang="en-US" b="0" dirty="0" err="1"/>
              <a:t>Thiết</a:t>
            </a:r>
            <a:r>
              <a:rPr lang="en-US" b="0" dirty="0"/>
              <a:t> </a:t>
            </a:r>
            <a:r>
              <a:rPr lang="en-US" b="0" dirty="0" err="1"/>
              <a:t>kế</a:t>
            </a:r>
            <a:r>
              <a:rPr lang="en-US" b="0" dirty="0"/>
              <a:t> </a:t>
            </a:r>
            <a:r>
              <a:rPr lang="en-US" b="0" dirty="0" err="1"/>
              <a:t>vật</a:t>
            </a:r>
            <a:r>
              <a:rPr lang="en-US" b="0" dirty="0"/>
              <a:t> </a:t>
            </a:r>
            <a:r>
              <a:rPr lang="en-US" b="0" dirty="0" err="1"/>
              <a:t>lý</a:t>
            </a:r>
            <a:r>
              <a:rPr lang="en-US" b="0" dirty="0"/>
              <a:t> </a:t>
            </a:r>
          </a:p>
          <a:p>
            <a:r>
              <a:rPr lang="en-US" b="0" dirty="0" err="1"/>
              <a:t>Triển</a:t>
            </a:r>
            <a:r>
              <a:rPr lang="en-US" b="0" dirty="0"/>
              <a:t> </a:t>
            </a:r>
            <a:r>
              <a:rPr lang="en-US" b="0" dirty="0" err="1"/>
              <a:t>khai</a:t>
            </a:r>
            <a:r>
              <a:rPr lang="en-US" b="0" dirty="0"/>
              <a:t> </a:t>
            </a:r>
          </a:p>
          <a:p>
            <a:r>
              <a:rPr lang="en-US" b="0" dirty="0" err="1"/>
              <a:t>Giám</a:t>
            </a:r>
            <a:r>
              <a:rPr lang="en-US" b="0" dirty="0"/>
              <a:t> </a:t>
            </a:r>
            <a:r>
              <a:rPr lang="en-US" b="0" dirty="0" err="1"/>
              <a:t>sát</a:t>
            </a:r>
            <a:r>
              <a:rPr lang="en-US" b="0" dirty="0"/>
              <a:t>, </a:t>
            </a:r>
            <a:r>
              <a:rPr lang="en-US" b="0" dirty="0" err="1"/>
              <a:t>sửa</a:t>
            </a:r>
            <a:r>
              <a:rPr lang="en-US" b="0" dirty="0"/>
              <a:t> </a:t>
            </a:r>
            <a:r>
              <a:rPr lang="en-US" b="0" dirty="0" err="1"/>
              <a:t>đổi</a:t>
            </a:r>
            <a:r>
              <a:rPr lang="en-US" b="0" dirty="0"/>
              <a:t> &amp; </a:t>
            </a:r>
            <a:r>
              <a:rPr lang="en-US" b="0" dirty="0" err="1"/>
              <a:t>bảo</a:t>
            </a:r>
            <a:r>
              <a:rPr lang="en-US" b="0" dirty="0"/>
              <a:t> </a:t>
            </a:r>
            <a:r>
              <a:rPr lang="en-US" b="0" dirty="0" err="1"/>
              <a:t>trì</a:t>
            </a:r>
            <a:endParaRPr lang="en-US" b="0" dirty="0"/>
          </a:p>
        </p:txBody>
      </p:sp>
    </p:spTree>
    <p:extLst>
      <p:ext uri="{BB962C8B-B14F-4D97-AF65-F5344CB8AC3E}">
        <p14:creationId xmlns:p14="http://schemas.microsoft.com/office/powerpoint/2010/main" val="36816138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dirty="0"/>
              <a:t>Một biểu diễn trực quan của dữ liệu và các mối quan hệ của nó trong cơ sở dữ liệu </a:t>
            </a:r>
            <a:endParaRPr lang="en-US" dirty="0"/>
          </a:p>
          <a:p>
            <a:r>
              <a:rPr lang="vi-VN" b="1" dirty="0"/>
              <a:t>Các thành phần chính của ERD:</a:t>
            </a:r>
            <a:r>
              <a:rPr lang="vi-VN" dirty="0"/>
              <a:t> </a:t>
            </a:r>
            <a:endParaRPr lang="en-US" dirty="0"/>
          </a:p>
          <a:p>
            <a:r>
              <a:rPr lang="vi-VN" dirty="0"/>
              <a:t>Các thực thể (</a:t>
            </a:r>
            <a:r>
              <a:rPr lang="vi-VN" dirty="0" err="1"/>
              <a:t>Entities</a:t>
            </a:r>
            <a:r>
              <a:rPr lang="vi-VN" dirty="0"/>
              <a:t>)</a:t>
            </a:r>
          </a:p>
          <a:p>
            <a:r>
              <a:rPr lang="vi-VN" dirty="0"/>
              <a:t>Các thuộc tính (</a:t>
            </a:r>
            <a:r>
              <a:rPr lang="vi-VN" dirty="0" err="1"/>
              <a:t>Attributes</a:t>
            </a:r>
            <a:r>
              <a:rPr lang="vi-VN" dirty="0"/>
              <a:t>)</a:t>
            </a:r>
          </a:p>
          <a:p>
            <a:r>
              <a:rPr lang="vi-VN" dirty="0"/>
              <a:t>Các mối quan hệ (</a:t>
            </a:r>
            <a:r>
              <a:rPr lang="vi-VN" dirty="0" err="1"/>
              <a:t>Relationships</a:t>
            </a:r>
            <a:r>
              <a:rPr lang="vi-VN" dirty="0"/>
              <a:t>)</a:t>
            </a:r>
          </a:p>
          <a:p>
            <a:r>
              <a:rPr lang="vi-VN" dirty="0"/>
              <a:t>Tính bản số (</a:t>
            </a:r>
            <a:r>
              <a:rPr lang="vi-VN" dirty="0" err="1"/>
              <a:t>Cardinality</a:t>
            </a:r>
            <a:r>
              <a:rPr lang="vi-VN" dirty="0"/>
              <a:t>)</a:t>
            </a:r>
          </a:p>
          <a:p>
            <a:r>
              <a:rPr lang="vi-VN" dirty="0"/>
              <a:t>Khóa chính và khóa ngoại (</a:t>
            </a:r>
            <a:r>
              <a:rPr lang="vi-VN" dirty="0" err="1"/>
              <a:t>Primary</a:t>
            </a:r>
            <a:r>
              <a:rPr lang="vi-VN" dirty="0"/>
              <a:t> </a:t>
            </a:r>
            <a:r>
              <a:rPr lang="vi-VN" dirty="0" err="1"/>
              <a:t>and</a:t>
            </a:r>
            <a:r>
              <a:rPr lang="vi-VN" dirty="0"/>
              <a:t> </a:t>
            </a:r>
            <a:r>
              <a:rPr lang="vi-VN" dirty="0" err="1"/>
              <a:t>Foreign</a:t>
            </a:r>
            <a:r>
              <a:rPr lang="vi-VN" dirty="0"/>
              <a:t> </a:t>
            </a:r>
            <a:r>
              <a:rPr lang="vi-VN" dirty="0" err="1"/>
              <a:t>Keys</a:t>
            </a:r>
            <a:r>
              <a:rPr lang="vi-VN" dirty="0"/>
              <a:t>)</a:t>
            </a:r>
          </a:p>
          <a:p>
            <a:endParaRPr lang="en-US" dirty="0"/>
          </a:p>
        </p:txBody>
      </p:sp>
    </p:spTree>
    <p:extLst>
      <p:ext uri="{BB962C8B-B14F-4D97-AF65-F5344CB8AC3E}">
        <p14:creationId xmlns:p14="http://schemas.microsoft.com/office/powerpoint/2010/main" val="15967953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Các thực thể</a:t>
            </a:r>
            <a:r>
              <a:rPr lang="vi-VN"/>
              <a:t> là các đối tượng, khái niệm hoặc thứ có trong hệ thống mà dữ liệu được lưu trữ về chúng. </a:t>
            </a:r>
            <a:endParaRPr lang="en-US"/>
          </a:p>
          <a:p>
            <a:r>
              <a:rPr lang="vi-VN"/>
              <a:t>Được biểu diễn bằng </a:t>
            </a:r>
            <a:r>
              <a:rPr lang="vi-VN" b="1"/>
              <a:t>hình chữ nhật</a:t>
            </a:r>
            <a:r>
              <a:rPr lang="vi-VN"/>
              <a:t> trong ERD. </a:t>
            </a:r>
            <a:endParaRPr lang="en-US"/>
          </a:p>
          <a:p>
            <a:r>
              <a:rPr lang="vi-VN" b="1"/>
              <a:t>Các loại:</a:t>
            </a:r>
            <a:r>
              <a:rPr lang="vi-VN"/>
              <a:t> </a:t>
            </a:r>
            <a:endParaRPr lang="en-US"/>
          </a:p>
          <a:p>
            <a:r>
              <a:rPr lang="vi-VN" b="1"/>
              <a:t>Thực thể mạnh (Strong Entities):</a:t>
            </a:r>
            <a:r>
              <a:rPr lang="vi-VN"/>
              <a:t> Độc lập và không phụ thuộc vào các thực thể khác để tồn tại.</a:t>
            </a:r>
          </a:p>
          <a:p>
            <a:r>
              <a:rPr lang="vi-VN" b="1"/>
              <a:t>Thực thể yếu (Weak Entities):</a:t>
            </a:r>
            <a:r>
              <a:rPr lang="vi-VN"/>
              <a:t> Phụ thuộc vào một thực thể mạnh và không thể tồn tại nếu không có nó.</a:t>
            </a:r>
          </a:p>
          <a:p>
            <a:endParaRPr lang="en-US" dirty="0"/>
          </a:p>
        </p:txBody>
      </p:sp>
    </p:spTree>
    <p:extLst>
      <p:ext uri="{BB962C8B-B14F-4D97-AF65-F5344CB8AC3E}">
        <p14:creationId xmlns:p14="http://schemas.microsoft.com/office/powerpoint/2010/main" val="41011963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Font typeface="Arial" panose="020B0604020202020204" pitchFamily="34" charset="0"/>
              <a:buNone/>
            </a:pPr>
            <a:r>
              <a:rPr lang="vi-VN" b="1" dirty="0"/>
              <a:t>Các thuộc tính</a:t>
            </a:r>
            <a:r>
              <a:rPr lang="vi-VN" dirty="0"/>
              <a:t> mô tả các tính chất hoặc đặc điểm của một thực thể hoặc mối quan hệ. </a:t>
            </a:r>
            <a:endParaRPr lang="en-US" dirty="0"/>
          </a:p>
          <a:p>
            <a:pPr>
              <a:buFont typeface="Arial" panose="020B0604020202020204" pitchFamily="34" charset="0"/>
              <a:buNone/>
            </a:pPr>
            <a:r>
              <a:rPr lang="vi-VN" dirty="0"/>
              <a:t>Được biểu diễn bằng </a:t>
            </a:r>
            <a:r>
              <a:rPr lang="vi-VN" b="1" dirty="0"/>
              <a:t>hình </a:t>
            </a:r>
            <a:r>
              <a:rPr lang="vi-VN" b="1" dirty="0" err="1"/>
              <a:t>elip</a:t>
            </a:r>
            <a:r>
              <a:rPr lang="vi-VN" dirty="0"/>
              <a:t> kết nối với các thực thể hoặc mối quan hệ. </a:t>
            </a:r>
            <a:endParaRPr lang="en-US" dirty="0"/>
          </a:p>
          <a:p>
            <a:pPr>
              <a:buFont typeface="Arial" panose="020B0604020202020204" pitchFamily="34" charset="0"/>
              <a:buNone/>
            </a:pPr>
            <a:r>
              <a:rPr lang="vi-VN" b="1" dirty="0"/>
              <a:t>Các loại thuộc tính:</a:t>
            </a:r>
            <a:r>
              <a:rPr lang="vi-VN" dirty="0"/>
              <a:t> </a:t>
            </a:r>
            <a:endParaRPr lang="en-US" dirty="0"/>
          </a:p>
          <a:p>
            <a:pPr>
              <a:buFont typeface="Arial" panose="020B0604020202020204" pitchFamily="34" charset="0"/>
              <a:buNone/>
            </a:pPr>
            <a:r>
              <a:rPr lang="vi-VN" b="1" dirty="0"/>
              <a:t>Thuộc tính đơn giản (</a:t>
            </a:r>
            <a:r>
              <a:rPr lang="vi-VN" b="1" dirty="0" err="1"/>
              <a:t>Simple</a:t>
            </a:r>
            <a:r>
              <a:rPr lang="vi-VN" b="1" dirty="0"/>
              <a:t> </a:t>
            </a:r>
            <a:r>
              <a:rPr lang="vi-VN" b="1" dirty="0" err="1"/>
              <a:t>Attributes</a:t>
            </a:r>
            <a:r>
              <a:rPr lang="vi-VN" b="1" dirty="0"/>
              <a:t>):</a:t>
            </a:r>
            <a:r>
              <a:rPr lang="vi-VN" dirty="0"/>
              <a:t> Các giá trị nguyên tử không thể chia nhỏ hơn nữa (ví dụ: Tuổi).</a:t>
            </a:r>
          </a:p>
          <a:p>
            <a:pPr>
              <a:buFont typeface="Arial" panose="020B0604020202020204" pitchFamily="34" charset="0"/>
              <a:buNone/>
            </a:pPr>
            <a:r>
              <a:rPr lang="vi-VN" b="1" dirty="0"/>
              <a:t>Thuộc tính tổng hợp (</a:t>
            </a:r>
            <a:r>
              <a:rPr lang="vi-VN" b="1" dirty="0" err="1"/>
              <a:t>Composite</a:t>
            </a:r>
            <a:r>
              <a:rPr lang="vi-VN" b="1" dirty="0"/>
              <a:t> </a:t>
            </a:r>
            <a:r>
              <a:rPr lang="vi-VN" b="1" dirty="0" err="1"/>
              <a:t>Attributes</a:t>
            </a:r>
            <a:r>
              <a:rPr lang="vi-VN" b="1" dirty="0"/>
              <a:t>):</a:t>
            </a:r>
            <a:r>
              <a:rPr lang="vi-VN" dirty="0"/>
              <a:t> Bao gồm nhiều thành phần (ví dụ: </a:t>
            </a:r>
            <a:r>
              <a:rPr lang="vi-VN" dirty="0" err="1"/>
              <a:t>FullName</a:t>
            </a:r>
            <a:r>
              <a:rPr lang="vi-VN" dirty="0"/>
              <a:t> – </a:t>
            </a:r>
            <a:r>
              <a:rPr lang="vi-VN" dirty="0" err="1"/>
              <a:t>FirstName</a:t>
            </a:r>
            <a:r>
              <a:rPr lang="vi-VN" dirty="0"/>
              <a:t>, </a:t>
            </a:r>
            <a:r>
              <a:rPr lang="vi-VN" dirty="0" err="1"/>
              <a:t>LastName</a:t>
            </a:r>
            <a:r>
              <a:rPr lang="vi-VN" dirty="0"/>
              <a:t>).</a:t>
            </a:r>
          </a:p>
          <a:p>
            <a:pPr>
              <a:buFont typeface="Arial" panose="020B0604020202020204" pitchFamily="34" charset="0"/>
              <a:buNone/>
            </a:pPr>
            <a:r>
              <a:rPr lang="vi-VN" b="1" dirty="0"/>
              <a:t>Thuộc tính suy diễn (</a:t>
            </a:r>
            <a:r>
              <a:rPr lang="vi-VN" b="1" dirty="0" err="1"/>
              <a:t>Derived</a:t>
            </a:r>
            <a:r>
              <a:rPr lang="vi-VN" b="1" dirty="0"/>
              <a:t> </a:t>
            </a:r>
            <a:r>
              <a:rPr lang="vi-VN" b="1" dirty="0" err="1"/>
              <a:t>Attributes</a:t>
            </a:r>
            <a:r>
              <a:rPr lang="vi-VN" b="1" dirty="0"/>
              <a:t>):</a:t>
            </a:r>
            <a:r>
              <a:rPr lang="vi-VN" dirty="0"/>
              <a:t> Có thể được tính toán từ các thuộc tính khác (ví dụ: Tuổi suy diễn từ Ngày sinh).</a:t>
            </a:r>
          </a:p>
          <a:p>
            <a:pPr>
              <a:buFont typeface="Arial" panose="020B0604020202020204" pitchFamily="34" charset="0"/>
              <a:buNone/>
            </a:pPr>
            <a:r>
              <a:rPr lang="vi-VN" b="1" dirty="0"/>
              <a:t>Thuộc tính đa giá trị (</a:t>
            </a:r>
            <a:r>
              <a:rPr lang="vi-VN" b="1" dirty="0" err="1"/>
              <a:t>Multivalued</a:t>
            </a:r>
            <a:r>
              <a:rPr lang="vi-VN" b="1" dirty="0"/>
              <a:t> </a:t>
            </a:r>
            <a:r>
              <a:rPr lang="vi-VN" b="1" dirty="0" err="1"/>
              <a:t>Attributes</a:t>
            </a:r>
            <a:r>
              <a:rPr lang="vi-VN" b="1" dirty="0"/>
              <a:t>):</a:t>
            </a:r>
            <a:r>
              <a:rPr lang="vi-VN" dirty="0"/>
              <a:t> Có thể có nhiều giá trị (ví dụ: Số điện thoại của một người).</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14504074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Font typeface="Arial" panose="020B0604020202020204" pitchFamily="34" charset="0"/>
              <a:buChar char="•"/>
            </a:pPr>
            <a:r>
              <a:rPr lang="vi-VN" b="1" dirty="0"/>
              <a:t>Các mối quan hệ</a:t>
            </a:r>
            <a:r>
              <a:rPr lang="vi-VN" dirty="0"/>
              <a:t> cho thấy cách hai hoặc nhiều thực thể được kết nối. Được biểu diễn bằng </a:t>
            </a:r>
            <a:r>
              <a:rPr lang="vi-VN" b="1" dirty="0"/>
              <a:t>hình thoi</a:t>
            </a:r>
            <a:r>
              <a:rPr lang="vi-VN" dirty="0"/>
              <a:t> trong ERD. </a:t>
            </a:r>
            <a:r>
              <a:rPr lang="vi-VN" b="1" dirty="0"/>
              <a:t>Các loại mối quan hệ:</a:t>
            </a:r>
            <a:r>
              <a:rPr lang="vi-VN" dirty="0"/>
              <a:t> </a:t>
            </a:r>
            <a:r>
              <a:rPr lang="vi-VN" b="1" dirty="0"/>
              <a:t>Một-một (1:1):</a:t>
            </a:r>
            <a:r>
              <a:rPr lang="vi-VN" dirty="0"/>
              <a:t> </a:t>
            </a:r>
          </a:p>
          <a:p>
            <a:pPr marL="742950" lvl="1" indent="-285750">
              <a:buFont typeface="Arial" panose="020B0604020202020204" pitchFamily="34" charset="0"/>
              <a:buChar char="•"/>
            </a:pPr>
            <a:r>
              <a:rPr lang="vi-VN" dirty="0"/>
              <a:t>Một thể hiện thực thể được liên kết với chính xác một thể hiện của thực thể khác.</a:t>
            </a:r>
          </a:p>
          <a:p>
            <a:pPr marL="742950" lvl="1" indent="-285750">
              <a:buFont typeface="Arial" panose="020B0604020202020204" pitchFamily="34" charset="0"/>
              <a:buChar char="•"/>
            </a:pPr>
            <a:r>
              <a:rPr lang="vi-VN" dirty="0"/>
              <a:t>Ví dụ: Một người có một hộ chiếu.</a:t>
            </a:r>
          </a:p>
          <a:p>
            <a:pPr>
              <a:buFont typeface="Arial" panose="020B0604020202020204" pitchFamily="34" charset="0"/>
              <a:buChar char="•"/>
            </a:pPr>
            <a:r>
              <a:rPr lang="vi-VN" b="1" dirty="0"/>
              <a:t>Một-nhiều (1:N):</a:t>
            </a:r>
            <a:r>
              <a:rPr lang="vi-VN" dirty="0"/>
              <a:t> </a:t>
            </a:r>
          </a:p>
          <a:p>
            <a:pPr marL="742950" lvl="1" indent="-285750">
              <a:buFont typeface="Arial" panose="020B0604020202020204" pitchFamily="34" charset="0"/>
              <a:buChar char="•"/>
            </a:pPr>
            <a:r>
              <a:rPr lang="vi-VN" dirty="0"/>
              <a:t>Một thể hiện thực thể được liên kết với nhiều thể hiện của thực thể khác.</a:t>
            </a:r>
          </a:p>
          <a:p>
            <a:pPr marL="742950" lvl="1" indent="-285750">
              <a:buFont typeface="Arial" panose="020B0604020202020204" pitchFamily="34" charset="0"/>
              <a:buChar char="•"/>
            </a:pPr>
            <a:r>
              <a:rPr lang="vi-VN" dirty="0"/>
              <a:t>Ví dụ: Một khách hàng có thể đặt nhiều đơn hàng.</a:t>
            </a:r>
          </a:p>
          <a:p>
            <a:pPr>
              <a:buFont typeface="Arial" panose="020B0604020202020204" pitchFamily="34" charset="0"/>
              <a:buChar char="•"/>
            </a:pPr>
            <a:r>
              <a:rPr lang="vi-VN" b="1" dirty="0"/>
              <a:t>Nhiều-nhiều (M:N):</a:t>
            </a:r>
            <a:r>
              <a:rPr lang="vi-VN" dirty="0"/>
              <a:t> </a:t>
            </a:r>
          </a:p>
          <a:p>
            <a:pPr marL="742950" lvl="1" indent="-285750">
              <a:buFont typeface="Arial" panose="020B0604020202020204" pitchFamily="34" charset="0"/>
              <a:buChar char="•"/>
            </a:pPr>
            <a:r>
              <a:rPr lang="vi-VN" dirty="0"/>
              <a:t>Nhiều thể hiện của một thực thể được liên kết với nhiều thể hiện của thực thể khác.</a:t>
            </a:r>
          </a:p>
          <a:p>
            <a:pPr marL="742950" lvl="1" indent="-285750">
              <a:buFont typeface="Arial" panose="020B0604020202020204" pitchFamily="34" charset="0"/>
              <a:buChar char="•"/>
            </a:pPr>
            <a:r>
              <a:rPr lang="vi-VN" dirty="0"/>
              <a:t>Ví dụ: Sinh viên đăng ký nhiều khóa học, và các khóa học có nhiều sinh viên.</a:t>
            </a:r>
          </a:p>
          <a:p>
            <a:endParaRPr lang="en-US" dirty="0"/>
          </a:p>
        </p:txBody>
      </p:sp>
    </p:spTree>
    <p:extLst>
      <p:ext uri="{BB962C8B-B14F-4D97-AF65-F5344CB8AC3E}">
        <p14:creationId xmlns:p14="http://schemas.microsoft.com/office/powerpoint/2010/main" val="17686442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Font typeface="Arial" panose="020B0604020202020204" pitchFamily="34" charset="0"/>
              <a:buNone/>
            </a:pPr>
            <a:r>
              <a:rPr lang="vi-VN" dirty="0"/>
              <a:t>Chỉ rõ số lượng thể hiện của một thực thể có thể hoặc phải được liên kết với thể hiện của một thực thể khác. </a:t>
            </a:r>
            <a:endParaRPr lang="en-US" dirty="0"/>
          </a:p>
          <a:p>
            <a:pPr>
              <a:buFont typeface="Arial" panose="020B0604020202020204" pitchFamily="34" charset="0"/>
              <a:buNone/>
            </a:pPr>
            <a:r>
              <a:rPr lang="vi-VN" dirty="0"/>
              <a:t>Được biểu diễn bằng số hoặc ký hiệu (ví dụ: 1, N). </a:t>
            </a:r>
            <a:endParaRPr lang="en-US" dirty="0"/>
          </a:p>
          <a:p>
            <a:pPr>
              <a:buFont typeface="Arial" panose="020B0604020202020204" pitchFamily="34" charset="0"/>
              <a:buNone/>
            </a:pPr>
            <a:r>
              <a:rPr lang="vi-VN" dirty="0"/>
              <a:t>Ví dụ: mỗi khách hàng đặt 1 đến N đơn hàng. </a:t>
            </a:r>
            <a:endParaRPr lang="en-US" dirty="0"/>
          </a:p>
          <a:p>
            <a:pPr>
              <a:buFont typeface="Arial" panose="020B0604020202020204" pitchFamily="34" charset="0"/>
              <a:buNone/>
            </a:pPr>
            <a:r>
              <a:rPr lang="vi-VN" dirty="0"/>
              <a:t>So sánh với các Mối quan hệ (</a:t>
            </a:r>
            <a:r>
              <a:rPr lang="vi-VN" dirty="0" err="1"/>
              <a:t>Relations</a:t>
            </a:r>
            <a:r>
              <a:rPr lang="vi-VN" dirty="0"/>
              <a:t>): </a:t>
            </a:r>
            <a:endParaRPr lang="en-US" dirty="0"/>
          </a:p>
          <a:p>
            <a:pPr>
              <a:buFont typeface="Arial" panose="020B0604020202020204" pitchFamily="34" charset="0"/>
              <a:buNone/>
            </a:pPr>
            <a:r>
              <a:rPr lang="vi-VN" dirty="0"/>
              <a:t>Mối quan hệ 1:N =&gt; một khách hàng có thể có nhiều đơn hàng, một đơn hàng chỉ có thể thuộc về 1 khách hàng.</a:t>
            </a:r>
          </a:p>
          <a:p>
            <a:pPr>
              <a:buFont typeface="Arial" panose="020B0604020202020204" pitchFamily="34" charset="0"/>
              <a:buNone/>
            </a:pPr>
            <a:r>
              <a:rPr lang="vi-VN" dirty="0"/>
              <a:t>Tính bản số 1:N =&gt; một khách hàng phải có ít nhất 1 đơn hàng.</a:t>
            </a:r>
          </a:p>
          <a:p>
            <a:endParaRPr lang="en-US" dirty="0"/>
          </a:p>
        </p:txBody>
      </p:sp>
    </p:spTree>
    <p:extLst>
      <p:ext uri="{BB962C8B-B14F-4D97-AF65-F5344CB8AC3E}">
        <p14:creationId xmlns:p14="http://schemas.microsoft.com/office/powerpoint/2010/main" val="39798307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None/>
            </a:pPr>
            <a:r>
              <a:rPr lang="vi-VN" b="1" dirty="0"/>
              <a:t>1. Các Thực thể (</a:t>
            </a:r>
            <a:r>
              <a:rPr lang="vi-VN" b="1" dirty="0" err="1"/>
              <a:t>Entities</a:t>
            </a:r>
            <a:r>
              <a:rPr lang="vi-VN" b="1" dirty="0"/>
              <a:t>):</a:t>
            </a:r>
            <a:endParaRPr lang="vi-VN" dirty="0"/>
          </a:p>
          <a:p>
            <a:pPr>
              <a:buFont typeface="Arial" panose="020B0604020202020204" pitchFamily="34" charset="0"/>
              <a:buChar char="•"/>
            </a:pPr>
            <a:r>
              <a:rPr lang="vi-VN" b="1" dirty="0" err="1"/>
              <a:t>Doctor</a:t>
            </a:r>
            <a:r>
              <a:rPr lang="vi-VN" b="1" dirty="0"/>
              <a:t> (Bác sĩ):</a:t>
            </a:r>
            <a:r>
              <a:rPr lang="vi-VN" dirty="0"/>
              <a:t> </a:t>
            </a:r>
          </a:p>
          <a:p>
            <a:pPr marL="742950" lvl="1" indent="-285750">
              <a:buFont typeface="Arial" panose="020B0604020202020204" pitchFamily="34" charset="0"/>
              <a:buChar char="•"/>
            </a:pPr>
            <a:r>
              <a:rPr lang="vi-VN" dirty="0"/>
              <a:t>Thuộc tính: ID, </a:t>
            </a:r>
            <a:r>
              <a:rPr lang="vi-VN" dirty="0" err="1"/>
              <a:t>FirstName</a:t>
            </a:r>
            <a:r>
              <a:rPr lang="vi-VN" dirty="0"/>
              <a:t> (Tên), </a:t>
            </a:r>
            <a:r>
              <a:rPr lang="vi-VN" dirty="0" err="1"/>
              <a:t>LastName</a:t>
            </a:r>
            <a:r>
              <a:rPr lang="vi-VN" dirty="0"/>
              <a:t> (Họ)</a:t>
            </a:r>
          </a:p>
          <a:p>
            <a:pPr>
              <a:buFont typeface="Arial" panose="020B0604020202020204" pitchFamily="34" charset="0"/>
              <a:buChar char="•"/>
            </a:pPr>
            <a:r>
              <a:rPr lang="vi-VN" b="1" dirty="0" err="1"/>
              <a:t>Patient</a:t>
            </a:r>
            <a:r>
              <a:rPr lang="vi-VN" b="1" dirty="0"/>
              <a:t> (Bệnh nhân):</a:t>
            </a:r>
            <a:r>
              <a:rPr lang="vi-VN" dirty="0"/>
              <a:t> </a:t>
            </a:r>
          </a:p>
          <a:p>
            <a:pPr marL="742950" lvl="1" indent="-285750">
              <a:buFont typeface="Arial" panose="020B0604020202020204" pitchFamily="34" charset="0"/>
              <a:buChar char="•"/>
            </a:pPr>
            <a:r>
              <a:rPr lang="vi-VN" dirty="0"/>
              <a:t>Thuộc tính: ID, </a:t>
            </a:r>
            <a:r>
              <a:rPr lang="vi-VN" dirty="0" err="1"/>
              <a:t>FirstName</a:t>
            </a:r>
            <a:r>
              <a:rPr lang="vi-VN" dirty="0"/>
              <a:t> (Tên), </a:t>
            </a:r>
            <a:r>
              <a:rPr lang="vi-VN" dirty="0" err="1"/>
              <a:t>LastName</a:t>
            </a:r>
            <a:r>
              <a:rPr lang="vi-VN" dirty="0"/>
              <a:t> (Họ), </a:t>
            </a:r>
            <a:r>
              <a:rPr lang="vi-VN" dirty="0" err="1"/>
              <a:t>Insurance</a:t>
            </a:r>
            <a:r>
              <a:rPr lang="vi-VN" dirty="0"/>
              <a:t> </a:t>
            </a:r>
            <a:r>
              <a:rPr lang="vi-VN" dirty="0" err="1"/>
              <a:t>Number</a:t>
            </a:r>
            <a:r>
              <a:rPr lang="vi-VN" dirty="0"/>
              <a:t> (Số bảo hiểm)</a:t>
            </a:r>
          </a:p>
          <a:p>
            <a:pPr>
              <a:buFont typeface="Arial" panose="020B0604020202020204" pitchFamily="34" charset="0"/>
              <a:buChar char="•"/>
            </a:pPr>
            <a:r>
              <a:rPr lang="vi-VN" b="1" dirty="0" err="1"/>
              <a:t>Specialization</a:t>
            </a:r>
            <a:r>
              <a:rPr lang="vi-VN" b="1" dirty="0"/>
              <a:t> (Chuyên khoa):</a:t>
            </a:r>
            <a:r>
              <a:rPr lang="vi-VN" dirty="0"/>
              <a:t> </a:t>
            </a:r>
          </a:p>
          <a:p>
            <a:pPr marL="742950" lvl="1" indent="-285750">
              <a:buFont typeface="Arial" panose="020B0604020202020204" pitchFamily="34" charset="0"/>
              <a:buChar char="•"/>
            </a:pPr>
            <a:r>
              <a:rPr lang="vi-VN" dirty="0"/>
              <a:t>Thuộc tính: ID, </a:t>
            </a:r>
            <a:r>
              <a:rPr lang="vi-VN" dirty="0" err="1"/>
              <a:t>Description</a:t>
            </a:r>
            <a:r>
              <a:rPr lang="vi-VN" dirty="0"/>
              <a:t> (Mô tả)</a:t>
            </a:r>
          </a:p>
          <a:p>
            <a:pPr>
              <a:buFont typeface="Arial" panose="020B0604020202020204" pitchFamily="34" charset="0"/>
              <a:buChar char="•"/>
            </a:pPr>
            <a:r>
              <a:rPr lang="vi-VN" b="1" dirty="0" err="1"/>
              <a:t>Diagnose</a:t>
            </a:r>
            <a:r>
              <a:rPr lang="vi-VN" b="1" dirty="0"/>
              <a:t> (Chẩn đoán):</a:t>
            </a:r>
            <a:r>
              <a:rPr lang="vi-VN" dirty="0"/>
              <a:t> </a:t>
            </a:r>
          </a:p>
          <a:p>
            <a:pPr marL="742950" lvl="1" indent="-285750">
              <a:buFont typeface="Arial" panose="020B0604020202020204" pitchFamily="34" charset="0"/>
              <a:buChar char="•"/>
            </a:pPr>
            <a:r>
              <a:rPr lang="vi-VN" dirty="0"/>
              <a:t>Thuộc tính: </a:t>
            </a:r>
            <a:r>
              <a:rPr lang="vi-VN" dirty="0" err="1"/>
              <a:t>Code</a:t>
            </a:r>
            <a:r>
              <a:rPr lang="vi-VN" dirty="0"/>
              <a:t> (Mã), </a:t>
            </a:r>
            <a:r>
              <a:rPr lang="vi-VN" dirty="0" err="1"/>
              <a:t>Details</a:t>
            </a:r>
            <a:r>
              <a:rPr lang="vi-VN" dirty="0"/>
              <a:t> (Chi tiết)</a:t>
            </a:r>
          </a:p>
          <a:p>
            <a:pPr>
              <a:buNone/>
            </a:pPr>
            <a:r>
              <a:rPr lang="vi-VN" b="1" dirty="0"/>
              <a:t>2. Các Mối quan hệ (</a:t>
            </a:r>
            <a:r>
              <a:rPr lang="vi-VN" b="1" dirty="0" err="1"/>
              <a:t>Relationships</a:t>
            </a:r>
            <a:r>
              <a:rPr lang="vi-VN" b="1" dirty="0"/>
              <a:t>):</a:t>
            </a:r>
            <a:endParaRPr lang="vi-VN" dirty="0"/>
          </a:p>
          <a:p>
            <a:pPr>
              <a:buFont typeface="Arial" panose="020B0604020202020204" pitchFamily="34" charset="0"/>
              <a:buChar char="•"/>
            </a:pPr>
            <a:r>
              <a:rPr lang="vi-VN" b="1" dirty="0" err="1"/>
              <a:t>Doctor</a:t>
            </a:r>
            <a:r>
              <a:rPr lang="vi-VN" b="1" dirty="0"/>
              <a:t> - </a:t>
            </a:r>
            <a:r>
              <a:rPr lang="vi-VN" b="1" dirty="0" err="1"/>
              <a:t>has</a:t>
            </a:r>
            <a:r>
              <a:rPr lang="vi-VN" b="1" dirty="0"/>
              <a:t> - </a:t>
            </a:r>
            <a:r>
              <a:rPr lang="vi-VN" b="1" dirty="0" err="1"/>
              <a:t>Patient</a:t>
            </a:r>
            <a:r>
              <a:rPr lang="vi-VN" b="1" dirty="0"/>
              <a:t>:</a:t>
            </a:r>
            <a:r>
              <a:rPr lang="vi-VN" dirty="0"/>
              <a:t> Mối quan hệ giữa Bác sĩ và Bệnh nhân. </a:t>
            </a:r>
          </a:p>
          <a:p>
            <a:pPr marL="742950" lvl="1" indent="-285750">
              <a:buFont typeface="Arial" panose="020B0604020202020204" pitchFamily="34" charset="0"/>
              <a:buChar char="•"/>
            </a:pPr>
            <a:r>
              <a:rPr lang="vi-VN" dirty="0"/>
              <a:t>Một Bác sĩ có thể có nhiều (N) Bệnh nhân.</a:t>
            </a:r>
          </a:p>
          <a:p>
            <a:pPr marL="742950" lvl="1" indent="-285750">
              <a:buFont typeface="Arial" panose="020B0604020202020204" pitchFamily="34" charset="0"/>
              <a:buChar char="•"/>
            </a:pPr>
            <a:r>
              <a:rPr lang="vi-VN" dirty="0"/>
              <a:t>Một Bệnh nhân có thể được có bởi nhiều (N) Bác sĩ. (Đây là mối quan hệ Nhiều-Nhiều (M:N)).</a:t>
            </a:r>
          </a:p>
          <a:p>
            <a:pPr>
              <a:buFont typeface="Arial" panose="020B0604020202020204" pitchFamily="34" charset="0"/>
              <a:buChar char="•"/>
            </a:pPr>
            <a:r>
              <a:rPr lang="vi-VN" b="1" dirty="0" err="1"/>
              <a:t>Doctor</a:t>
            </a:r>
            <a:r>
              <a:rPr lang="vi-VN" b="1" dirty="0"/>
              <a:t> - </a:t>
            </a:r>
            <a:r>
              <a:rPr lang="vi-VN" b="1" dirty="0" err="1"/>
              <a:t>has</a:t>
            </a:r>
            <a:r>
              <a:rPr lang="vi-VN" b="1" dirty="0"/>
              <a:t> - </a:t>
            </a:r>
            <a:r>
              <a:rPr lang="vi-VN" b="1" dirty="0" err="1"/>
              <a:t>Specialization</a:t>
            </a:r>
            <a:r>
              <a:rPr lang="vi-VN" b="1" dirty="0"/>
              <a:t>:</a:t>
            </a:r>
            <a:r>
              <a:rPr lang="vi-VN" dirty="0"/>
              <a:t> Mối quan hệ giữa Bác sĩ và Chuyên khoa. </a:t>
            </a:r>
          </a:p>
          <a:p>
            <a:pPr marL="742950" lvl="1" indent="-285750">
              <a:buFont typeface="Arial" panose="020B0604020202020204" pitchFamily="34" charset="0"/>
              <a:buChar char="•"/>
            </a:pPr>
            <a:r>
              <a:rPr lang="vi-VN" dirty="0"/>
              <a:t>Một Bác sĩ có một (1) Chuyên khoa.</a:t>
            </a:r>
          </a:p>
          <a:p>
            <a:pPr marL="742950" lvl="1" indent="-285750">
              <a:buFont typeface="Arial" panose="020B0604020202020204" pitchFamily="34" charset="0"/>
              <a:buChar char="•"/>
            </a:pPr>
            <a:r>
              <a:rPr lang="vi-VN" dirty="0"/>
              <a:t>Một Chuyên khoa có thể có nhiều (N) Bác sĩ. (Đây là mối quan hệ Một-Nhiều (1:N)).</a:t>
            </a:r>
          </a:p>
          <a:p>
            <a:pPr>
              <a:buFont typeface="Arial" panose="020B0604020202020204" pitchFamily="34" charset="0"/>
              <a:buChar char="•"/>
            </a:pPr>
            <a:r>
              <a:rPr lang="vi-VN" b="1" dirty="0" err="1"/>
              <a:t>Patient</a:t>
            </a:r>
            <a:r>
              <a:rPr lang="vi-VN" b="1" dirty="0"/>
              <a:t> - </a:t>
            </a:r>
            <a:r>
              <a:rPr lang="vi-VN" b="1" dirty="0" err="1"/>
              <a:t>has</a:t>
            </a:r>
            <a:r>
              <a:rPr lang="vi-VN" b="1" dirty="0"/>
              <a:t> - </a:t>
            </a:r>
            <a:r>
              <a:rPr lang="vi-VN" b="1" dirty="0" err="1"/>
              <a:t>Diagnose</a:t>
            </a:r>
            <a:r>
              <a:rPr lang="vi-VN" b="1" dirty="0"/>
              <a:t>:</a:t>
            </a:r>
            <a:r>
              <a:rPr lang="vi-VN" dirty="0"/>
              <a:t> Mối quan hệ giữa Bệnh nhân và Chẩn đoán. </a:t>
            </a:r>
          </a:p>
          <a:p>
            <a:pPr marL="742950" lvl="1" indent="-285750">
              <a:buFont typeface="Arial" panose="020B0604020202020204" pitchFamily="34" charset="0"/>
              <a:buChar char="•"/>
            </a:pPr>
            <a:r>
              <a:rPr lang="vi-VN" dirty="0"/>
              <a:t>Một Bệnh nhân có thể có nhiều (N) Chẩn đoán.</a:t>
            </a:r>
          </a:p>
          <a:p>
            <a:pPr marL="742950" lvl="1" indent="-285750">
              <a:buFont typeface="Arial" panose="020B0604020202020204" pitchFamily="34" charset="0"/>
              <a:buChar char="•"/>
            </a:pPr>
            <a:r>
              <a:rPr lang="vi-VN" dirty="0"/>
              <a:t>Một Chẩn đoán có thể được có bởi một (1) Bệnh nhân. (Đây là mối quan hệ Một-Nhiều (1:N), nhưng được biểu diễn ngược lại từ phía </a:t>
            </a:r>
            <a:r>
              <a:rPr lang="vi-VN" dirty="0" err="1"/>
              <a:t>Diagnose</a:t>
            </a:r>
            <a:r>
              <a:rPr lang="vi-VN" dirty="0"/>
              <a:t> đến </a:t>
            </a:r>
            <a:r>
              <a:rPr lang="vi-VN" dirty="0" err="1"/>
              <a:t>Patient</a:t>
            </a:r>
            <a:r>
              <a:rPr lang="vi-VN" dirty="0"/>
              <a:t>).</a:t>
            </a:r>
          </a:p>
          <a:p>
            <a:r>
              <a:rPr lang="vi-VN" b="1" dirty="0"/>
              <a:t>Hình chữ nhật:</a:t>
            </a:r>
            <a:r>
              <a:rPr lang="vi-VN" dirty="0"/>
              <a:t> Đại diện cho các thực thể. </a:t>
            </a:r>
            <a:endParaRPr lang="en-US" dirty="0"/>
          </a:p>
          <a:p>
            <a:r>
              <a:rPr lang="vi-VN" b="1" dirty="0"/>
              <a:t>Hình </a:t>
            </a:r>
            <a:r>
              <a:rPr lang="vi-VN" b="1" dirty="0" err="1"/>
              <a:t>elip</a:t>
            </a:r>
            <a:r>
              <a:rPr lang="vi-VN" b="1" dirty="0"/>
              <a:t>:</a:t>
            </a:r>
            <a:r>
              <a:rPr lang="vi-VN" dirty="0"/>
              <a:t> Đại diện cho các thuộc tính của thực thể. </a:t>
            </a:r>
            <a:endParaRPr lang="en-US" dirty="0"/>
          </a:p>
          <a:p>
            <a:r>
              <a:rPr lang="vi-VN" b="1" dirty="0"/>
              <a:t>Hình thoi:</a:t>
            </a:r>
            <a:r>
              <a:rPr lang="vi-VN" dirty="0"/>
              <a:t> Đại diện cho các mối quan hệ giữa các thực thể. </a:t>
            </a:r>
            <a:endParaRPr lang="en-US" dirty="0"/>
          </a:p>
          <a:p>
            <a:r>
              <a:rPr lang="vi-VN" b="1" dirty="0"/>
              <a:t>Đường thẳng:</a:t>
            </a:r>
            <a:r>
              <a:rPr lang="vi-VN" dirty="0"/>
              <a:t> Nối các thực thể với thuộc tính và mối quan hệ của chúng. </a:t>
            </a:r>
            <a:endParaRPr lang="en-US" dirty="0"/>
          </a:p>
          <a:p>
            <a:r>
              <a:rPr lang="vi-VN" b="1" dirty="0"/>
              <a:t>Chữ cái (N) và số (1):</a:t>
            </a:r>
            <a:r>
              <a:rPr lang="vi-VN" dirty="0"/>
              <a:t> Biểu thị tính bản số (</a:t>
            </a:r>
            <a:r>
              <a:rPr lang="vi-VN" dirty="0" err="1"/>
              <a:t>Cardinality</a:t>
            </a:r>
            <a:r>
              <a:rPr lang="vi-VN" dirty="0"/>
              <a:t>) của mối quan hệ, cho biết số lượng thể hiện tối thiểu và tối đa của một thực thể có thể tham gia vào mối quan hệ với thể hiện của thực thể khác.</a:t>
            </a:r>
            <a:endParaRPr lang="en-US" dirty="0"/>
          </a:p>
        </p:txBody>
      </p:sp>
    </p:spTree>
    <p:extLst>
      <p:ext uri="{BB962C8B-B14F-4D97-AF65-F5344CB8AC3E}">
        <p14:creationId xmlns:p14="http://schemas.microsoft.com/office/powerpoint/2010/main" val="26555861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Font typeface="Arial" panose="020B0604020202020204" pitchFamily="34" charset="0"/>
              <a:buNone/>
            </a:pPr>
            <a:r>
              <a:rPr lang="vi-VN" dirty="0"/>
              <a:t>Chuyển ERD thành một mô hình </a:t>
            </a:r>
            <a:r>
              <a:rPr lang="vi-VN" dirty="0" err="1"/>
              <a:t>logic</a:t>
            </a:r>
            <a:r>
              <a:rPr lang="vi-VN" dirty="0"/>
              <a:t> định nghĩa cấu trúc của cơ sở dữ liệu dưới dạng các quan hệ (bảng), thuộc tính (cột) và mối quan hệ (khóa ngoại). </a:t>
            </a:r>
            <a:endParaRPr lang="en-US" dirty="0"/>
          </a:p>
          <a:p>
            <a:pPr>
              <a:buFont typeface="Arial" panose="020B0604020202020204" pitchFamily="34" charset="0"/>
              <a:buNone/>
            </a:pPr>
            <a:r>
              <a:rPr lang="vi-VN" dirty="0"/>
              <a:t>Các bước: Tạo lược đồ </a:t>
            </a:r>
            <a:r>
              <a:rPr lang="vi-VN" dirty="0" err="1"/>
              <a:t>logic</a:t>
            </a:r>
            <a:endParaRPr lang="vi-VN" dirty="0"/>
          </a:p>
          <a:p>
            <a:pPr>
              <a:buFont typeface="Arial" panose="020B0604020202020204" pitchFamily="34" charset="0"/>
              <a:buNone/>
            </a:pPr>
            <a:r>
              <a:rPr lang="vi-VN" dirty="0"/>
              <a:t>Chuẩn hóa dữ liệu</a:t>
            </a:r>
          </a:p>
          <a:p>
            <a:pPr>
              <a:buFont typeface="Arial" panose="020B0604020202020204" pitchFamily="34" charset="0"/>
              <a:buNone/>
            </a:pPr>
            <a:r>
              <a:rPr lang="vi-VN" dirty="0"/>
              <a:t>Định nghĩa các ràng buộc</a:t>
            </a:r>
          </a:p>
          <a:p>
            <a:pPr>
              <a:buFont typeface="Arial" panose="020B0604020202020204" pitchFamily="34" charset="0"/>
              <a:buNone/>
            </a:pPr>
            <a:r>
              <a:rPr lang="vi-VN" dirty="0"/>
              <a:t>Thiết lập mối quan hệ</a:t>
            </a:r>
          </a:p>
          <a:p>
            <a:pPr>
              <a:buFont typeface="Arial" panose="020B0604020202020204" pitchFamily="34" charset="0"/>
              <a:buNone/>
            </a:pPr>
            <a:r>
              <a:rPr lang="vi-VN" dirty="0"/>
              <a:t>Chỉ định các thuộc tính suy diễn</a:t>
            </a:r>
          </a:p>
          <a:p>
            <a:endParaRPr lang="en-US" dirty="0"/>
          </a:p>
        </p:txBody>
      </p:sp>
    </p:spTree>
    <p:extLst>
      <p:ext uri="{BB962C8B-B14F-4D97-AF65-F5344CB8AC3E}">
        <p14:creationId xmlns:p14="http://schemas.microsoft.com/office/powerpoint/2010/main" val="6581435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dirty="0"/>
              <a:t>Áp dụng các quy tắc chuẩn hóa để đảm bảo cấu trúc cơ sở dữ liệu giảm thiểu các vấn đề dư thừa và phụ thuộc. </a:t>
            </a:r>
            <a:endParaRPr lang="en-US" dirty="0"/>
          </a:p>
          <a:p>
            <a:r>
              <a:rPr lang="vi-VN" dirty="0"/>
              <a:t>Di chuyển qua các dạng chuẩn (1NF, 2NF, 3NF, BCNF, </a:t>
            </a:r>
            <a:r>
              <a:rPr lang="vi-VN" dirty="0" err="1"/>
              <a:t>v.v</a:t>
            </a:r>
            <a:r>
              <a:rPr lang="vi-VN" dirty="0"/>
              <a:t>.) để tạo ra một thiết kế hiệu quả.</a:t>
            </a:r>
            <a:endParaRPr lang="en-US" dirty="0"/>
          </a:p>
        </p:txBody>
      </p:sp>
    </p:spTree>
    <p:extLst>
      <p:ext uri="{BB962C8B-B14F-4D97-AF65-F5344CB8AC3E}">
        <p14:creationId xmlns:p14="http://schemas.microsoft.com/office/powerpoint/2010/main" val="14939157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a:t>Mỗi cột chứa các giá trị nguyên tử (không thể chia nhỏ). </a:t>
            </a:r>
          </a:p>
          <a:p>
            <a:r>
              <a:rPr lang="en-US"/>
              <a:t>Mỗi hàng là duy nhất (có khóa chính). Mỗi cột chứa các giá trị của một kiểu duy nhất.</a:t>
            </a:r>
          </a:p>
        </p:txBody>
      </p:sp>
    </p:spTree>
    <p:extLst>
      <p:ext uri="{BB962C8B-B14F-4D97-AF65-F5344CB8AC3E}">
        <p14:creationId xmlns:p14="http://schemas.microsoft.com/office/powerpoint/2010/main" val="16884885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a:t>Bảng phải ở dạng 1NF. Tất cả các thuộc tính không phải là khóa phải phụ thuộc vào toàn bộ khóa chính (loại bỏ sự phụ thuộc từng phần).</a:t>
            </a:r>
          </a:p>
        </p:txBody>
      </p:sp>
    </p:spTree>
    <p:extLst>
      <p:ext uri="{BB962C8B-B14F-4D97-AF65-F5344CB8AC3E}">
        <p14:creationId xmlns:p14="http://schemas.microsoft.com/office/powerpoint/2010/main" val="5630385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a:t>Bảng phải ở dạng 2NF. </a:t>
            </a:r>
          </a:p>
          <a:p>
            <a:r>
              <a:rPr lang="en-US"/>
              <a:t>Không có sự phụ thuộc bắc cầu (các thuộc tính không phải là khóa chỉ phụ thuộc vào khóa chính, không phụ thuộc vào các thuộc tính không phải là khóa khác).</a:t>
            </a:r>
          </a:p>
        </p:txBody>
      </p:sp>
    </p:spTree>
    <p:extLst>
      <p:ext uri="{BB962C8B-B14F-4D97-AF65-F5344CB8AC3E}">
        <p14:creationId xmlns:p14="http://schemas.microsoft.com/office/powerpoint/2010/main" val="42379309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a:t>Bảng phải ở dạng 3NF. </a:t>
            </a:r>
          </a:p>
          <a:p>
            <a:r>
              <a:rPr lang="en-US"/>
              <a:t>Mọi yếu tố xác định phải là một khóa ứng cử viên (giải quyết các khóa ứng cử viên trùng lặp).</a:t>
            </a:r>
          </a:p>
        </p:txBody>
      </p:sp>
    </p:spTree>
    <p:extLst>
      <p:ext uri="{BB962C8B-B14F-4D97-AF65-F5344CB8AC3E}">
        <p14:creationId xmlns:p14="http://schemas.microsoft.com/office/powerpoint/2010/main" val="21773809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Font typeface="Arial" panose="020B0604020202020204" pitchFamily="34" charset="0"/>
              <a:buChar char="•"/>
            </a:pPr>
            <a:r>
              <a:rPr lang="vi-VN" b="1"/>
              <a:t>Ràng buộc khóa chính (Primary Key Constraint):</a:t>
            </a:r>
            <a:r>
              <a:rPr lang="vi-VN"/>
              <a:t> Định danh duy nhất mỗi hàng trong một bảng.</a:t>
            </a:r>
          </a:p>
          <a:p>
            <a:pPr>
              <a:buFont typeface="Arial" panose="020B0604020202020204" pitchFamily="34" charset="0"/>
              <a:buChar char="•"/>
            </a:pPr>
            <a:r>
              <a:rPr lang="vi-VN" b="1"/>
              <a:t>Ràng buộc khóa ngoại (Foreign Key Constraint):</a:t>
            </a:r>
            <a:r>
              <a:rPr lang="vi-VN"/>
              <a:t> Thực thi tính toàn vẹn tham chiếu giữa các bảng.</a:t>
            </a:r>
          </a:p>
          <a:p>
            <a:pPr>
              <a:buFont typeface="Arial" panose="020B0604020202020204" pitchFamily="34" charset="0"/>
              <a:buChar char="•"/>
            </a:pPr>
            <a:r>
              <a:rPr lang="vi-VN" b="1"/>
              <a:t>Ràng buộc duy nhất (Unique Constraint):</a:t>
            </a:r>
            <a:r>
              <a:rPr lang="vi-VN"/>
              <a:t> Đảm bảo các giá trị trong một cột hoặc nhóm cột là duy nhất.</a:t>
            </a:r>
          </a:p>
          <a:p>
            <a:pPr>
              <a:buFont typeface="Arial" panose="020B0604020202020204" pitchFamily="34" charset="0"/>
              <a:buChar char="•"/>
            </a:pPr>
            <a:r>
              <a:rPr lang="vi-VN" b="1"/>
              <a:t>Ràng buộc không rỗng (Not Null Constraint):</a:t>
            </a:r>
            <a:r>
              <a:rPr lang="vi-VN"/>
              <a:t> Ngăn chặn giá trị rỗng trong các trường bắt buộc.</a:t>
            </a:r>
          </a:p>
          <a:p>
            <a:r>
              <a:rPr lang="en-US" b="1"/>
              <a:t>Một-một (1:1):</a:t>
            </a:r>
            <a:r>
              <a:rPr lang="en-US"/>
              <a:t> Sử dụng khóa ngoại và các ràng buộc duy nhất. </a:t>
            </a:r>
          </a:p>
          <a:p>
            <a:r>
              <a:rPr lang="en-US" b="1"/>
              <a:t>Một-nhiều (1:N):</a:t>
            </a:r>
            <a:r>
              <a:rPr lang="en-US"/>
              <a:t> Thêm khóa ngoại vào phía "nhiều". </a:t>
            </a:r>
          </a:p>
          <a:p>
            <a:r>
              <a:rPr lang="en-US" b="1"/>
              <a:t>Nhiều-nhiều (M:N):</a:t>
            </a:r>
            <a:r>
              <a:rPr lang="en-US"/>
              <a:t> Tạo một bảng trung gian để kết nối hai thực thể.</a:t>
            </a:r>
          </a:p>
        </p:txBody>
      </p:sp>
    </p:spTree>
    <p:extLst>
      <p:ext uri="{BB962C8B-B14F-4D97-AF65-F5344CB8AC3E}">
        <p14:creationId xmlns:p14="http://schemas.microsoft.com/office/powerpoint/2010/main" val="26992091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a:t>Chuyển đổi thiết kế logic thành một lược đồ vật lý phù hợp với DBMS cụ thể (ví dụ: MySQL, PostgreSQL</a:t>
            </a:r>
            <a:endParaRPr lang="en-US"/>
          </a:p>
          <a:p>
            <a:r>
              <a:rPr lang="vi-VN" b="1"/>
              <a:t>Mô hình thiết kế </a:t>
            </a:r>
            <a:r>
              <a:rPr lang="en-US" b="1"/>
              <a:t>khái niệm</a:t>
            </a:r>
            <a:r>
              <a:rPr lang="vi-VN" b="1"/>
              <a:t> </a:t>
            </a:r>
            <a:r>
              <a:rPr lang="vi-VN"/>
              <a:t>một biểu đồ ERD đơn giản, hiển thị các thực thể như Time, Product, Sales, Store và mối quan hệ giữa chúng, với các liên kết</a:t>
            </a:r>
            <a:endParaRPr lang="en-US"/>
          </a:p>
          <a:p>
            <a:r>
              <a:rPr lang="vi-VN" b="1"/>
              <a:t>Mô hình thiết kế </a:t>
            </a:r>
            <a:r>
              <a:rPr lang="en-US" b="1"/>
              <a:t>logic </a:t>
            </a:r>
            <a:r>
              <a:rPr lang="vi-VN"/>
              <a:t>các bảng với các cột và mối quan hệ giữa chúng, ví dụ: bảng Time với các cột như Date, Day Description; bảng Product với Product ID, Product Description, Unit Price, v.v.; bảng Sales với Store ID, Product ID, Date, v.v</a:t>
            </a:r>
            <a:endParaRPr lang="en-US"/>
          </a:p>
          <a:p>
            <a:r>
              <a:rPr lang="vi-VN" b="1"/>
              <a:t>Mô hình thiết kế vật lý</a:t>
            </a:r>
            <a:r>
              <a:rPr lang="en-US" b="1"/>
              <a:t> </a:t>
            </a:r>
            <a:r>
              <a:rPr lang="vi-VN"/>
              <a:t>các bảng với kiểu dữ liệu cụ thể cho từng cột, ví dụ: DIM_TIME với DATE_ID INTEGER, MONTH_ID INTEGER; FACT_SALES với STORE_ID INTEGER, PRODUCT_ID INTEGER, DATE_ID INTEGER, SALES_AMOUNT DOUBLE, v.v</a:t>
            </a:r>
            <a:endParaRPr lang="en-US"/>
          </a:p>
        </p:txBody>
      </p:sp>
    </p:spTree>
    <p:extLst>
      <p:ext uri="{BB962C8B-B14F-4D97-AF65-F5344CB8AC3E}">
        <p14:creationId xmlns:p14="http://schemas.microsoft.com/office/powerpoint/2010/main" val="14378409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a:t>Chuyển đổi lược đồ logic thành các bảng, cột và mối quan hệ của cơ sở dữ liệu vật lý. </a:t>
            </a:r>
            <a:endParaRPr lang="en-US"/>
          </a:p>
          <a:p>
            <a:r>
              <a:rPr lang="vi-VN"/>
              <a:t>Chọn kiểu dữ liệu thích hợp cho mỗi thuộc tính dựa trên các giá trị dữ liệu mong đợi. </a:t>
            </a:r>
            <a:endParaRPr lang="en-US"/>
          </a:p>
          <a:p>
            <a:r>
              <a:rPr lang="vi-VN"/>
              <a:t>Định nghĩa lưu trữ vật lý. </a:t>
            </a:r>
            <a:endParaRPr lang="en-US"/>
          </a:p>
          <a:p>
            <a:r>
              <a:rPr lang="vi-VN"/>
              <a:t>Cấu hình đánh chỉ mục (không quá đánh chỉ mục). </a:t>
            </a:r>
            <a:endParaRPr lang="en-US"/>
          </a:p>
          <a:p>
            <a:r>
              <a:rPr lang="vi-VN"/>
              <a:t>Thiết lập phân vùng. </a:t>
            </a:r>
            <a:endParaRPr lang="en-US"/>
          </a:p>
          <a:p>
            <a:r>
              <a:rPr lang="vi-VN"/>
              <a:t>Triển khai mối quan hệ.</a:t>
            </a:r>
            <a:endParaRPr lang="en-US"/>
          </a:p>
        </p:txBody>
      </p:sp>
    </p:spTree>
    <p:extLst>
      <p:ext uri="{BB962C8B-B14F-4D97-AF65-F5344CB8AC3E}">
        <p14:creationId xmlns:p14="http://schemas.microsoft.com/office/powerpoint/2010/main" val="36759950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a:t>Một chỉ mục là một đối tượng cơ sở dữ liệu giúp cải thiện tốc độ của các thao tác truy xuất dữ liệu bằng cách tạo cấu trúc tra cứu nhanh cho bảng. </a:t>
            </a:r>
            <a:endParaRPr lang="en-US"/>
          </a:p>
          <a:p>
            <a:r>
              <a:rPr lang="vi-VN" b="1"/>
              <a:t>Cách cải thiện:</a:t>
            </a:r>
            <a:r>
              <a:rPr lang="vi-VN"/>
              <a:t> </a:t>
            </a:r>
            <a:endParaRPr lang="en-US"/>
          </a:p>
          <a:p>
            <a:r>
              <a:rPr lang="vi-VN"/>
              <a:t>Giảm quét toàn bộ bảng.</a:t>
            </a:r>
          </a:p>
          <a:p>
            <a:r>
              <a:rPr lang="vi-VN"/>
              <a:t>Tăng tốc các thao tác JOIN.</a:t>
            </a:r>
          </a:p>
          <a:p>
            <a:r>
              <a:rPr lang="vi-VN"/>
              <a:t>Hỗ trợ sắp xếp và nhóm.</a:t>
            </a:r>
          </a:p>
          <a:p>
            <a:r>
              <a:rPr lang="vi-VN"/>
              <a:t>Các truy vấn phạm vi hiệu quả.</a:t>
            </a:r>
          </a:p>
          <a:p>
            <a:r>
              <a:rPr lang="vi-VN" b="1"/>
              <a:t>Hạn chế:</a:t>
            </a:r>
            <a:r>
              <a:rPr lang="vi-VN"/>
              <a:t> </a:t>
            </a:r>
            <a:endParaRPr lang="en-US"/>
          </a:p>
          <a:p>
            <a:r>
              <a:rPr lang="vi-VN"/>
              <a:t>Chi phí lưu trữ.</a:t>
            </a:r>
          </a:p>
          <a:p>
            <a:r>
              <a:rPr lang="vi-VN"/>
              <a:t>Chi phí chèn/cập nhật/xóa.</a:t>
            </a:r>
          </a:p>
          <a:p>
            <a:r>
              <a:rPr lang="vi-VN"/>
              <a:t>Đánh chỉ mục quá mức.</a:t>
            </a:r>
          </a:p>
        </p:txBody>
      </p:sp>
    </p:spTree>
    <p:extLst>
      <p:ext uri="{BB962C8B-B14F-4D97-AF65-F5344CB8AC3E}">
        <p14:creationId xmlns:p14="http://schemas.microsoft.com/office/powerpoint/2010/main" val="31514384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a:t>Bảo vệ thông tin nhạy cảm: Bảo vệ dữ liệu cá nhân, tài chính và độc quyền khỏi truy cập trái phép hoặc vi phạm. </a:t>
            </a:r>
          </a:p>
          <a:p>
            <a:r>
              <a:rPr lang="en-US"/>
              <a:t>Đảm bảo tuân thủ: Tuân thủ các yêu cầu quy định (ví dụ: GDPR, HIPAA). </a:t>
            </a:r>
          </a:p>
          <a:p>
            <a:r>
              <a:rPr lang="en-US"/>
              <a:t>Ngăn chặn mất dữ liệu: Giảm thiểu rủi ro hỏng dữ liệu hoặc xóa nhầm. </a:t>
            </a:r>
          </a:p>
          <a:p>
            <a:r>
              <a:rPr lang="en-US"/>
              <a:t>Duy trì tính toàn vẹn hệ thống: Ngăn chặn sửa đổi trái phép dữ liệu quan trọng.</a:t>
            </a:r>
          </a:p>
        </p:txBody>
      </p:sp>
    </p:spTree>
    <p:extLst>
      <p:ext uri="{BB962C8B-B14F-4D97-AF65-F5344CB8AC3E}">
        <p14:creationId xmlns:p14="http://schemas.microsoft.com/office/powerpoint/2010/main" val="18389595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a:t>Đảm bảo dữ liệu luôn có sẵn trong trường hợp xóa nhầm, hỏng dữ liệu hoặc các cuộc tấn công (ví dụ: ransomware). </a:t>
            </a:r>
            <a:endParaRPr lang="en-US"/>
          </a:p>
          <a:p>
            <a:r>
              <a:rPr lang="vi-VN" b="1"/>
              <a:t>Các chiến lược:</a:t>
            </a:r>
            <a:r>
              <a:rPr lang="vi-VN"/>
              <a:t> </a:t>
            </a:r>
            <a:endParaRPr lang="en-US"/>
          </a:p>
          <a:p>
            <a:r>
              <a:rPr lang="vi-VN"/>
              <a:t>Sao lưu đầy đủ (Full backups): Toàn bộ cơ sở dữ liệu được sao lưu.</a:t>
            </a:r>
          </a:p>
          <a:p>
            <a:r>
              <a:rPr lang="vi-VN"/>
              <a:t>Sao lưu tăng dần (Incremental backups): Chỉ các thay đổi kể từ lần sao lưu cuối cùng</a:t>
            </a:r>
          </a:p>
          <a:p>
            <a:endParaRPr lang="en-US"/>
          </a:p>
        </p:txBody>
      </p:sp>
    </p:spTree>
    <p:extLst>
      <p:ext uri="{BB962C8B-B14F-4D97-AF65-F5344CB8AC3E}">
        <p14:creationId xmlns:p14="http://schemas.microsoft.com/office/powerpoint/2010/main" val="1316038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FE9FEC1-483B-425E-B0C1-B8B1F2119B26}"/>
              </a:ext>
            </a:extLst>
          </p:cNvPr>
          <p:cNvSpPr>
            <a:spLocks noGrp="1"/>
          </p:cNvSpPr>
          <p:nvPr>
            <p:ph type="body" sz="quarter" idx="10" hasCustomPrompt="1"/>
          </p:nvPr>
        </p:nvSpPr>
        <p:spPr>
          <a:xfrm>
            <a:off x="744135" y="2597642"/>
            <a:ext cx="12960668" cy="2633081"/>
          </a:xfrm>
          <a:prstGeom prst="rect">
            <a:avLst/>
          </a:prstGeom>
        </p:spPr>
        <p:txBody>
          <a:bodyPr/>
          <a:lstStyle>
            <a:lvl1pPr marL="0" indent="0" algn="ctr">
              <a:buNone/>
              <a:defRPr sz="5760" b="1">
                <a:solidFill>
                  <a:schemeClr val="bg1"/>
                </a:solidFill>
                <a:latin typeface="Arial" panose="020B0604020202020204" pitchFamily="34" charset="0"/>
                <a:cs typeface="Arial" panose="020B0604020202020204" pitchFamily="34" charset="0"/>
              </a:defRPr>
            </a:lvl1pPr>
          </a:lstStyle>
          <a:p>
            <a:pPr lvl="0"/>
            <a:r>
              <a:rPr lang="en-US" dirty="0"/>
              <a:t>Click to add title</a:t>
            </a:r>
          </a:p>
        </p:txBody>
      </p:sp>
      <p:sp>
        <p:nvSpPr>
          <p:cNvPr id="8" name="Text Placeholder 7">
            <a:extLst>
              <a:ext uri="{FF2B5EF4-FFF2-40B4-BE49-F238E27FC236}">
                <a16:creationId xmlns:a16="http://schemas.microsoft.com/office/drawing/2014/main" id="{33B98C62-0FD9-4624-8D35-021561432891}"/>
              </a:ext>
            </a:extLst>
          </p:cNvPr>
          <p:cNvSpPr>
            <a:spLocks noGrp="1"/>
          </p:cNvSpPr>
          <p:nvPr>
            <p:ph type="body" sz="quarter" idx="11" hasCustomPrompt="1"/>
          </p:nvPr>
        </p:nvSpPr>
        <p:spPr>
          <a:xfrm>
            <a:off x="744134" y="5320406"/>
            <a:ext cx="12960668" cy="495300"/>
          </a:xfrm>
          <a:prstGeom prst="rect">
            <a:avLst/>
          </a:prstGeom>
        </p:spPr>
        <p:txBody>
          <a:bodyPr/>
          <a:lstStyle>
            <a:lvl1pPr marL="0" indent="0" algn="ctr">
              <a:buNone/>
              <a:defRPr sz="2400">
                <a:solidFill>
                  <a:schemeClr val="bg1"/>
                </a:solidFill>
                <a:latin typeface="Arial" panose="020B0604020202020204" pitchFamily="34" charset="0"/>
                <a:cs typeface="Arial" panose="020B0604020202020204" pitchFamily="34" charset="0"/>
              </a:defRPr>
            </a:lvl1pPr>
          </a:lstStyle>
          <a:p>
            <a:pPr lvl="0"/>
            <a:r>
              <a:rPr lang="en-US" dirty="0"/>
              <a:t>Click to add sub-title</a:t>
            </a:r>
          </a:p>
        </p:txBody>
      </p:sp>
      <p:sp>
        <p:nvSpPr>
          <p:cNvPr id="9" name="Slide Number Placeholder 4">
            <a:extLst>
              <a:ext uri="{FF2B5EF4-FFF2-40B4-BE49-F238E27FC236}">
                <a16:creationId xmlns:a16="http://schemas.microsoft.com/office/drawing/2014/main" id="{5EB812CF-FC02-4C33-A206-BCF1436A39B4}"/>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1599074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A957C91-5AD0-4461-941C-245F034364DB}"/>
              </a:ext>
            </a:extLst>
          </p:cNvPr>
          <p:cNvSpPr>
            <a:spLocks noGrp="1"/>
          </p:cNvSpPr>
          <p:nvPr>
            <p:ph type="subTitle" idx="1"/>
          </p:nvPr>
        </p:nvSpPr>
        <p:spPr>
          <a:xfrm>
            <a:off x="746999" y="1906924"/>
            <a:ext cx="13155431" cy="5486400"/>
          </a:xfrm>
        </p:spPr>
        <p:txBody>
          <a:bodyPr/>
          <a:lstStyle>
            <a:lvl1pPr marL="0" indent="0" algn="l">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dirty="0"/>
              <a:t>Click to edit Master subtitle style</a:t>
            </a:r>
          </a:p>
        </p:txBody>
      </p:sp>
      <p:sp>
        <p:nvSpPr>
          <p:cNvPr id="7" name="Title 1">
            <a:extLst>
              <a:ext uri="{FF2B5EF4-FFF2-40B4-BE49-F238E27FC236}">
                <a16:creationId xmlns:a16="http://schemas.microsoft.com/office/drawing/2014/main" id="{1E181B04-7A0A-4201-BF8A-A7E924267571}"/>
              </a:ext>
            </a:extLst>
          </p:cNvPr>
          <p:cNvSpPr txBox="1">
            <a:spLocks/>
          </p:cNvSpPr>
          <p:nvPr userDrawn="1"/>
        </p:nvSpPr>
        <p:spPr>
          <a:xfrm>
            <a:off x="3973646" y="-13709"/>
            <a:ext cx="10656755" cy="947534"/>
          </a:xfrm>
          <a:prstGeom prst="rect">
            <a:avLst/>
          </a:prstGeom>
        </p:spPr>
        <p:txBody>
          <a:bodyPr vert="horz" lIns="109728" tIns="54864" rIns="109728" bIns="54864" rtlCol="0" anchor="ctr">
            <a:normAutofit/>
          </a:bodyPr>
          <a:lstStyle>
            <a:lvl1pPr algn="ctr" defTabSz="914400" rtl="0" eaLnBrk="1" latinLnBrk="0" hangingPunct="1">
              <a:lnSpc>
                <a:spcPct val="90000"/>
              </a:lnSpc>
              <a:spcBef>
                <a:spcPct val="0"/>
              </a:spcBef>
              <a:buNone/>
              <a:defRPr sz="3000" b="1" kern="1200">
                <a:solidFill>
                  <a:schemeClr val="tx1"/>
                </a:solidFill>
                <a:latin typeface="+mj-lt"/>
                <a:ea typeface="+mj-ea"/>
                <a:cs typeface="+mj-cs"/>
              </a:defRPr>
            </a:lvl1pPr>
          </a:lstStyle>
          <a:p>
            <a:endParaRPr lang="en-US" sz="3600" dirty="0"/>
          </a:p>
        </p:txBody>
      </p:sp>
      <p:sp>
        <p:nvSpPr>
          <p:cNvPr id="8" name="Slide Number Placeholder 4">
            <a:extLst>
              <a:ext uri="{FF2B5EF4-FFF2-40B4-BE49-F238E27FC236}">
                <a16:creationId xmlns:a16="http://schemas.microsoft.com/office/drawing/2014/main" id="{DBAE61E2-5E8A-4CA1-8C1E-1106F4E462E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7DA09F63-7F7A-4F6B-8B0F-50384B0193BD}"/>
              </a:ext>
            </a:extLst>
          </p:cNvPr>
          <p:cNvSpPr>
            <a:spLocks noGrp="1"/>
          </p:cNvSpPr>
          <p:nvPr>
            <p:ph type="title"/>
          </p:nvPr>
        </p:nvSpPr>
        <p:spPr>
          <a:xfrm>
            <a:off x="629085" y="23152"/>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451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F51A7-6B22-4874-8FC5-ED388E5D187B}"/>
              </a:ext>
            </a:extLst>
          </p:cNvPr>
          <p:cNvSpPr>
            <a:spLocks noGrp="1"/>
          </p:cNvSpPr>
          <p:nvPr>
            <p:ph idx="1"/>
          </p:nvPr>
        </p:nvSpPr>
        <p:spPr>
          <a:xfrm>
            <a:off x="747000" y="1917577"/>
            <a:ext cx="13166084" cy="5494778"/>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4">
            <a:extLst>
              <a:ext uri="{FF2B5EF4-FFF2-40B4-BE49-F238E27FC236}">
                <a16:creationId xmlns:a16="http://schemas.microsoft.com/office/drawing/2014/main" id="{9F4D43A2-E4DB-497D-9B5D-E32D9E64BECA}"/>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22B04073-83B8-47CB-9F12-D7CD4B660F09}"/>
              </a:ext>
            </a:extLst>
          </p:cNvPr>
          <p:cNvSpPr>
            <a:spLocks noGrp="1"/>
          </p:cNvSpPr>
          <p:nvPr>
            <p:ph type="title"/>
          </p:nvPr>
        </p:nvSpPr>
        <p:spPr>
          <a:xfrm>
            <a:off x="629085" y="23152"/>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405949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A6E213-C056-49F2-8A77-C3C4C25F42D3}"/>
              </a:ext>
            </a:extLst>
          </p:cNvPr>
          <p:cNvSpPr>
            <a:spLocks noGrp="1"/>
          </p:cNvSpPr>
          <p:nvPr>
            <p:ph type="body" idx="1"/>
          </p:nvPr>
        </p:nvSpPr>
        <p:spPr>
          <a:xfrm>
            <a:off x="747001" y="1917578"/>
            <a:ext cx="13166084" cy="5497052"/>
          </a:xfrm>
        </p:spPr>
        <p:txBody>
          <a:bodyPr/>
          <a:lstStyle>
            <a:lvl1pPr marL="0" indent="0">
              <a:buNone/>
              <a:defRPr sz="2880">
                <a:solidFill>
                  <a:srgbClr val="0070C0"/>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dirty="0"/>
              <a:t>Click to edit Master text styles</a:t>
            </a:r>
          </a:p>
        </p:txBody>
      </p:sp>
      <p:sp>
        <p:nvSpPr>
          <p:cNvPr id="6" name="Slide Number Placeholder 4">
            <a:extLst>
              <a:ext uri="{FF2B5EF4-FFF2-40B4-BE49-F238E27FC236}">
                <a16:creationId xmlns:a16="http://schemas.microsoft.com/office/drawing/2014/main" id="{BA76B584-4F94-4DD1-9943-77A2F3AF15CF}"/>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040D9B5B-D231-4612-89E6-B4776226BA7C}"/>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107828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F5726-7887-4ED4-A172-AF9307881508}"/>
              </a:ext>
            </a:extLst>
          </p:cNvPr>
          <p:cNvSpPr>
            <a:spLocks noGrp="1"/>
          </p:cNvSpPr>
          <p:nvPr>
            <p:ph sz="half" idx="1"/>
          </p:nvPr>
        </p:nvSpPr>
        <p:spPr>
          <a:xfrm>
            <a:off x="747000" y="1928230"/>
            <a:ext cx="6568200" cy="5484126"/>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CA0F843-3E9A-4C49-A1AC-A3FA71EF7350}"/>
              </a:ext>
            </a:extLst>
          </p:cNvPr>
          <p:cNvSpPr>
            <a:spLocks noGrp="1"/>
          </p:cNvSpPr>
          <p:nvPr>
            <p:ph sz="half" idx="2"/>
          </p:nvPr>
        </p:nvSpPr>
        <p:spPr>
          <a:xfrm>
            <a:off x="7327130" y="1928230"/>
            <a:ext cx="6568199" cy="5484126"/>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4">
            <a:extLst>
              <a:ext uri="{FF2B5EF4-FFF2-40B4-BE49-F238E27FC236}">
                <a16:creationId xmlns:a16="http://schemas.microsoft.com/office/drawing/2014/main" id="{E6FCE726-79EE-487F-9798-E531C3475E8B}"/>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3FB126F2-FBF5-4556-AAF5-1ECB22E17B0D}"/>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041146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41CF06-6B06-4E7F-82EA-7C5047EA60A1}"/>
              </a:ext>
            </a:extLst>
          </p:cNvPr>
          <p:cNvSpPr>
            <a:spLocks noGrp="1"/>
          </p:cNvSpPr>
          <p:nvPr>
            <p:ph type="body" idx="1"/>
          </p:nvPr>
        </p:nvSpPr>
        <p:spPr>
          <a:xfrm>
            <a:off x="747000" y="1923930"/>
            <a:ext cx="6568200" cy="988694"/>
          </a:xfrm>
        </p:spPr>
        <p:txBody>
          <a:bodyPr anchor="b"/>
          <a:lstStyle>
            <a:lvl1pPr marL="0" indent="0">
              <a:buNone/>
              <a:defRPr sz="2880" b="1">
                <a:latin typeface="+mj-lt"/>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FD9E841-81B0-403F-B4A9-7ACB7AAF8E75}"/>
              </a:ext>
            </a:extLst>
          </p:cNvPr>
          <p:cNvSpPr>
            <a:spLocks noGrp="1"/>
          </p:cNvSpPr>
          <p:nvPr>
            <p:ph sz="half" idx="2"/>
          </p:nvPr>
        </p:nvSpPr>
        <p:spPr>
          <a:xfrm>
            <a:off x="746999" y="3014858"/>
            <a:ext cx="6568199" cy="4412737"/>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0BB9AEE-2F75-43DB-921D-43380FB8C592}"/>
              </a:ext>
            </a:extLst>
          </p:cNvPr>
          <p:cNvSpPr>
            <a:spLocks noGrp="1"/>
          </p:cNvSpPr>
          <p:nvPr>
            <p:ph type="body" sz="quarter" idx="3"/>
          </p:nvPr>
        </p:nvSpPr>
        <p:spPr>
          <a:xfrm>
            <a:off x="7315201" y="1923930"/>
            <a:ext cx="6568199"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4F1E4C2-CBB6-4430-BE56-3BF9E9AA8B7D}"/>
              </a:ext>
            </a:extLst>
          </p:cNvPr>
          <p:cNvSpPr>
            <a:spLocks noGrp="1"/>
          </p:cNvSpPr>
          <p:nvPr>
            <p:ph sz="quarter" idx="4"/>
          </p:nvPr>
        </p:nvSpPr>
        <p:spPr>
          <a:xfrm>
            <a:off x="7315199" y="3014858"/>
            <a:ext cx="6568200" cy="4412737"/>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4">
            <a:extLst>
              <a:ext uri="{FF2B5EF4-FFF2-40B4-BE49-F238E27FC236}">
                <a16:creationId xmlns:a16="http://schemas.microsoft.com/office/drawing/2014/main" id="{EDD1D7D5-B40B-4404-87A7-8074677D8997}"/>
              </a:ext>
            </a:extLst>
          </p:cNvPr>
          <p:cNvSpPr>
            <a:spLocks noGrp="1"/>
          </p:cNvSpPr>
          <p:nvPr>
            <p:ph type="sldNum" sz="quarter" idx="11"/>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11" name="Title Placeholder 1">
            <a:extLst>
              <a:ext uri="{FF2B5EF4-FFF2-40B4-BE49-F238E27FC236}">
                <a16:creationId xmlns:a16="http://schemas.microsoft.com/office/drawing/2014/main" id="{401B562F-EFD8-422F-B98E-C48C0F73AC49}"/>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3072891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37972AD-1D52-4C38-A4F1-BA8AAFF97032}"/>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7" name="Title Placeholder 1">
            <a:extLst>
              <a:ext uri="{FF2B5EF4-FFF2-40B4-BE49-F238E27FC236}">
                <a16:creationId xmlns:a16="http://schemas.microsoft.com/office/drawing/2014/main" id="{70797FE1-3F5B-4DD2-B196-B7AAF6628D62}"/>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950097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BB3D6C-BEF2-4E06-A9B0-9A309DB3444E}"/>
              </a:ext>
            </a:extLst>
          </p:cNvPr>
          <p:cNvSpPr>
            <a:spLocks noGrp="1"/>
          </p:cNvSpPr>
          <p:nvPr>
            <p:ph idx="1"/>
          </p:nvPr>
        </p:nvSpPr>
        <p:spPr>
          <a:xfrm>
            <a:off x="5923181" y="1928230"/>
            <a:ext cx="7947173" cy="5475746"/>
          </a:xfrm>
        </p:spPr>
        <p:txBody>
          <a:bodyPr/>
          <a:lstStyle>
            <a:lvl1pPr>
              <a:defRPr sz="3840">
                <a:latin typeface="+mj-lt"/>
              </a:defRPr>
            </a:lvl1pPr>
            <a:lvl2pPr>
              <a:defRPr sz="3360">
                <a:latin typeface="+mj-lt"/>
              </a:defRPr>
            </a:lvl2pPr>
            <a:lvl3pPr>
              <a:defRPr sz="2880">
                <a:latin typeface="+mj-lt"/>
              </a:defRPr>
            </a:lvl3pPr>
            <a:lvl4pPr>
              <a:defRPr sz="2400">
                <a:latin typeface="+mj-lt"/>
              </a:defRPr>
            </a:lvl4pPr>
            <a:lvl5pPr>
              <a:defRPr sz="2400">
                <a:latin typeface="+mj-lt"/>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8ECDB52-24E0-4CBA-AE63-33BD3EF657F8}"/>
              </a:ext>
            </a:extLst>
          </p:cNvPr>
          <p:cNvSpPr>
            <a:spLocks noGrp="1"/>
          </p:cNvSpPr>
          <p:nvPr>
            <p:ph type="body" sz="half" idx="2"/>
          </p:nvPr>
        </p:nvSpPr>
        <p:spPr>
          <a:xfrm>
            <a:off x="747000" y="1928231"/>
            <a:ext cx="4809852" cy="547574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edit Master text styles</a:t>
            </a:r>
          </a:p>
        </p:txBody>
      </p:sp>
      <p:sp>
        <p:nvSpPr>
          <p:cNvPr id="7" name="Slide Number Placeholder 4">
            <a:extLst>
              <a:ext uri="{FF2B5EF4-FFF2-40B4-BE49-F238E27FC236}">
                <a16:creationId xmlns:a16="http://schemas.microsoft.com/office/drawing/2014/main" id="{AEEB6E2B-6FA2-4169-B497-FAE2CD95A8B1}"/>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479BEDD5-9D69-4F36-BBA7-2ED62B0AD6F3}"/>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072529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6D3D43A-8744-40D7-AFFD-6F0B4A4ECB2C}"/>
              </a:ext>
            </a:extLst>
          </p:cNvPr>
          <p:cNvSpPr>
            <a:spLocks noGrp="1"/>
          </p:cNvSpPr>
          <p:nvPr>
            <p:ph type="pic" idx="1"/>
          </p:nvPr>
        </p:nvSpPr>
        <p:spPr>
          <a:xfrm>
            <a:off x="5859262" y="1928230"/>
            <a:ext cx="8011092" cy="5465093"/>
          </a:xfrm>
        </p:spPr>
        <p:txBody>
          <a:bodyPr>
            <a:normAutofit/>
          </a:bodyPr>
          <a:lstStyle>
            <a:lvl1pPr marL="0" indent="0">
              <a:buNone/>
              <a:defRPr sz="336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dirty="0"/>
              <a:t>Click icon to add picture</a:t>
            </a:r>
          </a:p>
        </p:txBody>
      </p:sp>
      <p:sp>
        <p:nvSpPr>
          <p:cNvPr id="4" name="Text Placeholder 3">
            <a:extLst>
              <a:ext uri="{FF2B5EF4-FFF2-40B4-BE49-F238E27FC236}">
                <a16:creationId xmlns:a16="http://schemas.microsoft.com/office/drawing/2014/main" id="{ED85C3DD-CC1C-4A73-BCDA-09DF7D09C2C1}"/>
              </a:ext>
            </a:extLst>
          </p:cNvPr>
          <p:cNvSpPr>
            <a:spLocks noGrp="1"/>
          </p:cNvSpPr>
          <p:nvPr>
            <p:ph type="body" sz="half" idx="2"/>
          </p:nvPr>
        </p:nvSpPr>
        <p:spPr>
          <a:xfrm>
            <a:off x="747000" y="1928231"/>
            <a:ext cx="4779926" cy="5465093"/>
          </a:xfrm>
        </p:spPr>
        <p:txBody>
          <a:bodyPr>
            <a:normAutofit/>
          </a:bodyPr>
          <a:lstStyle>
            <a:lvl1pPr marL="0" indent="0">
              <a:buNone/>
              <a:defRPr sz="288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edit Master text styles</a:t>
            </a:r>
          </a:p>
        </p:txBody>
      </p:sp>
      <p:sp>
        <p:nvSpPr>
          <p:cNvPr id="7" name="Slide Number Placeholder 4">
            <a:extLst>
              <a:ext uri="{FF2B5EF4-FFF2-40B4-BE49-F238E27FC236}">
                <a16:creationId xmlns:a16="http://schemas.microsoft.com/office/drawing/2014/main" id="{722E68E5-0D29-4AF4-99F7-1F5BCDCEB05F}"/>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7BED9312-A7F8-456D-9D54-D034D097842E}"/>
              </a:ext>
            </a:extLst>
          </p:cNvPr>
          <p:cNvSpPr>
            <a:spLocks noGrp="1"/>
          </p:cNvSpPr>
          <p:nvPr>
            <p:ph type="title"/>
          </p:nvPr>
        </p:nvSpPr>
        <p:spPr>
          <a:xfrm>
            <a:off x="629085" y="13105"/>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360645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38B93FDE-0843-445A-8B34-9092D666FC3E}"/>
              </a:ext>
            </a:extLst>
          </p:cNvPr>
          <p:cNvSpPr>
            <a:spLocks noGrp="1"/>
          </p:cNvSpPr>
          <p:nvPr>
            <p:ph type="body" orient="vert" idx="1"/>
          </p:nvPr>
        </p:nvSpPr>
        <p:spPr>
          <a:xfrm>
            <a:off x="746999" y="1917578"/>
            <a:ext cx="13155431" cy="54947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4">
            <a:extLst>
              <a:ext uri="{FF2B5EF4-FFF2-40B4-BE49-F238E27FC236}">
                <a16:creationId xmlns:a16="http://schemas.microsoft.com/office/drawing/2014/main" id="{93D0DE23-B8AD-4136-812D-27D46B8ADC8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5A661BC8-CBE6-40B1-BF65-3DDC3730BEA8}"/>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2226324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781CC48-27A5-4590-A158-B24464D8BE2C}"/>
              </a:ext>
            </a:extLst>
          </p:cNvPr>
          <p:cNvSpPr>
            <a:spLocks noGrp="1"/>
          </p:cNvSpPr>
          <p:nvPr>
            <p:ph type="body" orient="vert" idx="1"/>
          </p:nvPr>
        </p:nvSpPr>
        <p:spPr>
          <a:xfrm>
            <a:off x="746999" y="1906924"/>
            <a:ext cx="13155431" cy="55054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Placeholder 1">
            <a:extLst>
              <a:ext uri="{FF2B5EF4-FFF2-40B4-BE49-F238E27FC236}">
                <a16:creationId xmlns:a16="http://schemas.microsoft.com/office/drawing/2014/main" id="{AF7114A3-57EF-412A-8AEB-90C1FF86B1F4}"/>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6" name="Slide Number Placeholder 4">
            <a:extLst>
              <a:ext uri="{FF2B5EF4-FFF2-40B4-BE49-F238E27FC236}">
                <a16:creationId xmlns:a16="http://schemas.microsoft.com/office/drawing/2014/main" id="{291FBA3B-7B9C-4B9A-93C5-F00783BA10B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3378322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ext Placeholder 5">
            <a:extLst>
              <a:ext uri="{FF2B5EF4-FFF2-40B4-BE49-F238E27FC236}">
                <a16:creationId xmlns:a16="http://schemas.microsoft.com/office/drawing/2014/main" id="{81110BB5-4CAA-4D6D-B0E5-CD6E3D5444C4}"/>
              </a:ext>
            </a:extLst>
          </p:cNvPr>
          <p:cNvSpPr>
            <a:spLocks noGrp="1"/>
          </p:cNvSpPr>
          <p:nvPr>
            <p:ph type="body" sz="quarter" idx="10" hasCustomPrompt="1"/>
          </p:nvPr>
        </p:nvSpPr>
        <p:spPr>
          <a:xfrm>
            <a:off x="0" y="3123888"/>
            <a:ext cx="14630400" cy="2633081"/>
          </a:xfrm>
          <a:prstGeom prst="rect">
            <a:avLst/>
          </a:prstGeom>
        </p:spPr>
        <p:txBody>
          <a:bodyPr/>
          <a:lstStyle>
            <a:lvl1pPr marL="0" indent="0" algn="ctr">
              <a:buNone/>
              <a:defRPr sz="7200" b="1">
                <a:solidFill>
                  <a:schemeClr val="bg1"/>
                </a:solidFill>
                <a:latin typeface="Arial" panose="020B0604020202020204" pitchFamily="34" charset="0"/>
                <a:cs typeface="Arial" panose="020B0604020202020204" pitchFamily="34" charset="0"/>
              </a:defRPr>
            </a:lvl1pPr>
          </a:lstStyle>
          <a:p>
            <a:pPr lvl="0"/>
            <a:r>
              <a:rPr lang="en-US" dirty="0"/>
              <a:t>THANK YOU</a:t>
            </a:r>
          </a:p>
        </p:txBody>
      </p:sp>
      <p:sp>
        <p:nvSpPr>
          <p:cNvPr id="3" name="Slide Number Placeholder 4">
            <a:extLst>
              <a:ext uri="{FF2B5EF4-FFF2-40B4-BE49-F238E27FC236}">
                <a16:creationId xmlns:a16="http://schemas.microsoft.com/office/drawing/2014/main" id="{3B7D03F5-A2EB-443F-8808-CB92782BB9DC}"/>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974592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4.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jp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166A51-751E-4C91-AF12-35FEA5D260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6909" y="832674"/>
            <a:ext cx="3516583" cy="1579366"/>
          </a:xfrm>
          <a:prstGeom prst="rect">
            <a:avLst/>
          </a:prstGeom>
        </p:spPr>
      </p:pic>
      <p:sp>
        <p:nvSpPr>
          <p:cNvPr id="5" name="Slide Number Placeholder 4">
            <a:extLst>
              <a:ext uri="{FF2B5EF4-FFF2-40B4-BE49-F238E27FC236}">
                <a16:creationId xmlns:a16="http://schemas.microsoft.com/office/drawing/2014/main" id="{95B40CFA-9026-435C-9897-175C51B6BE55}"/>
              </a:ext>
            </a:extLst>
          </p:cNvPr>
          <p:cNvSpPr>
            <a:spLocks noGrp="1"/>
          </p:cNvSpPr>
          <p:nvPr>
            <p:ph type="sldNum" sz="quarter" idx="4"/>
          </p:nvPr>
        </p:nvSpPr>
        <p:spPr>
          <a:xfrm>
            <a:off x="11338560" y="7773417"/>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2690241652"/>
      </p:ext>
    </p:extLst>
  </p:cSld>
  <p:clrMap bg1="lt1" tx1="dk1" bg2="lt2" tx2="dk2" accent1="accent1" accent2="accent2" accent3="accent3" accent4="accent4" accent5="accent5" accent6="accent6" hlink="hlink" folHlink="folHlink"/>
  <p:sldLayoutIdLst>
    <p:sldLayoutId id="2147483661" r:id="rId1"/>
  </p:sldLayoutIdLst>
  <p:hf hdr="0" ft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16BAF0-010B-4DE2-BDEA-F2879C620864}"/>
              </a:ext>
            </a:extLst>
          </p:cNvPr>
          <p:cNvSpPr>
            <a:spLocks noGrp="1"/>
          </p:cNvSpPr>
          <p:nvPr>
            <p:ph type="title"/>
          </p:nvPr>
        </p:nvSpPr>
        <p:spPr>
          <a:xfrm>
            <a:off x="617655" y="28597"/>
            <a:ext cx="10975981" cy="560070"/>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73FBB290-2494-4607-B867-D433D7531872}"/>
              </a:ext>
            </a:extLst>
          </p:cNvPr>
          <p:cNvSpPr>
            <a:spLocks noGrp="1"/>
          </p:cNvSpPr>
          <p:nvPr>
            <p:ph type="body" idx="1"/>
          </p:nvPr>
        </p:nvSpPr>
        <p:spPr>
          <a:xfrm>
            <a:off x="747000" y="1576675"/>
            <a:ext cx="13136400" cy="58356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4">
            <a:extLst>
              <a:ext uri="{FF2B5EF4-FFF2-40B4-BE49-F238E27FC236}">
                <a16:creationId xmlns:a16="http://schemas.microsoft.com/office/drawing/2014/main" id="{1278EBD5-1C90-47B8-ADFB-BF109E3CF4A6}"/>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pic>
        <p:nvPicPr>
          <p:cNvPr id="7" name="Picture 6">
            <a:extLst>
              <a:ext uri="{FF2B5EF4-FFF2-40B4-BE49-F238E27FC236}">
                <a16:creationId xmlns:a16="http://schemas.microsoft.com/office/drawing/2014/main" id="{53EC741C-2937-40DA-B5CD-6BDD68A49B8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2138661" y="153680"/>
            <a:ext cx="1744740" cy="309905"/>
          </a:xfrm>
          <a:prstGeom prst="rect">
            <a:avLst/>
          </a:prstGeom>
        </p:spPr>
      </p:pic>
    </p:spTree>
    <p:extLst>
      <p:ext uri="{BB962C8B-B14F-4D97-AF65-F5344CB8AC3E}">
        <p14:creationId xmlns:p14="http://schemas.microsoft.com/office/powerpoint/2010/main" val="201659814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Lst>
  <p:hf hdr="0" ftr="0"/>
  <p:txStyles>
    <p:titleStyle>
      <a:lvl1pPr algn="l" defTabSz="1097280" rtl="0" eaLnBrk="1" latinLnBrk="0" hangingPunct="1">
        <a:lnSpc>
          <a:spcPct val="90000"/>
        </a:lnSpc>
        <a:spcBef>
          <a:spcPct val="0"/>
        </a:spcBef>
        <a:buNone/>
        <a:defRPr sz="2760" b="1" kern="1200" baseline="0">
          <a:solidFill>
            <a:schemeClr val="bg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j-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j-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C9FC78E-716C-42DD-9A91-4572741330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65079" y="2575224"/>
            <a:ext cx="5100239" cy="486910"/>
          </a:xfrm>
          <a:prstGeom prst="rect">
            <a:avLst/>
          </a:prstGeom>
        </p:spPr>
      </p:pic>
      <p:pic>
        <p:nvPicPr>
          <p:cNvPr id="3" name="Picture 2" descr="A picture containing icon&#10;&#10;Description automatically generated">
            <a:extLst>
              <a:ext uri="{FF2B5EF4-FFF2-40B4-BE49-F238E27FC236}">
                <a16:creationId xmlns:a16="http://schemas.microsoft.com/office/drawing/2014/main" id="{7D5A94FF-61CC-4076-B3C5-90D92D6517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84395" y="662825"/>
            <a:ext cx="3661606" cy="1644498"/>
          </a:xfrm>
          <a:prstGeom prst="rect">
            <a:avLst/>
          </a:prstGeom>
        </p:spPr>
      </p:pic>
      <p:sp>
        <p:nvSpPr>
          <p:cNvPr id="6" name="Slide Number Placeholder 4">
            <a:extLst>
              <a:ext uri="{FF2B5EF4-FFF2-40B4-BE49-F238E27FC236}">
                <a16:creationId xmlns:a16="http://schemas.microsoft.com/office/drawing/2014/main" id="{536F9F23-BD13-46C8-A1F1-15DBEB1CBFF4}"/>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2556741362"/>
      </p:ext>
    </p:extLst>
  </p:cSld>
  <p:clrMap bg1="lt1" tx1="dk1" bg2="lt2" tx2="dk2" accent1="accent1" accent2="accent2" accent3="accent3" accent4="accent4" accent5="accent5" accent6="accent6" hlink="hlink" folHlink="folHlink"/>
  <p:sldLayoutIdLst>
    <p:sldLayoutId id="2147483684" r:id="rId1"/>
  </p:sldLayoutIdLst>
  <p:hf hdr="0" ft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EACC5C-4747-42C2-9BF5-D1B4A984743F}"/>
              </a:ext>
            </a:extLst>
          </p:cNvPr>
          <p:cNvSpPr>
            <a:spLocks noGrp="1"/>
          </p:cNvSpPr>
          <p:nvPr>
            <p:ph type="body" sz="quarter" idx="10"/>
          </p:nvPr>
        </p:nvSpPr>
        <p:spPr/>
        <p:txBody>
          <a:bodyPr/>
          <a:lstStyle/>
          <a:p>
            <a:r>
              <a:rPr lang="en-US" dirty="0"/>
              <a:t>Diagram Design</a:t>
            </a:r>
          </a:p>
        </p:txBody>
      </p:sp>
      <p:sp>
        <p:nvSpPr>
          <p:cNvPr id="3" name="Text Placeholder 2">
            <a:extLst>
              <a:ext uri="{FF2B5EF4-FFF2-40B4-BE49-F238E27FC236}">
                <a16:creationId xmlns:a16="http://schemas.microsoft.com/office/drawing/2014/main" id="{230F2B9A-60B9-45E8-BBFF-DC81B2A1274F}"/>
              </a:ext>
            </a:extLst>
          </p:cNvPr>
          <p:cNvSpPr>
            <a:spLocks noGrp="1"/>
          </p:cNvSpPr>
          <p:nvPr>
            <p:ph type="body" sz="quarter" idx="11"/>
          </p:nvPr>
        </p:nvSpPr>
        <p:spPr>
          <a:xfrm>
            <a:off x="-3132126" y="6701945"/>
            <a:ext cx="12960668" cy="495300"/>
          </a:xfrm>
        </p:spPr>
        <p:txBody>
          <a:bodyPr/>
          <a:lstStyle/>
          <a:p>
            <a:endParaRPr lang="en-US" dirty="0"/>
          </a:p>
        </p:txBody>
      </p:sp>
      <p:sp>
        <p:nvSpPr>
          <p:cNvPr id="4" name="Slide Number Placeholder 3">
            <a:extLst>
              <a:ext uri="{FF2B5EF4-FFF2-40B4-BE49-F238E27FC236}">
                <a16:creationId xmlns:a16="http://schemas.microsoft.com/office/drawing/2014/main" id="{26948CFE-703F-41E2-8287-36611713304E}"/>
              </a:ext>
            </a:extLst>
          </p:cNvPr>
          <p:cNvSpPr>
            <a:spLocks noGrp="1"/>
          </p:cNvSpPr>
          <p:nvPr>
            <p:ph type="sldNum" sz="quarter" idx="4"/>
          </p:nvPr>
        </p:nvSpPr>
        <p:spPr/>
        <p:txBody>
          <a:bodyPr/>
          <a:lstStyle/>
          <a:p>
            <a:fld id="{31D26D55-0A22-487A-A687-61FB58A6F16A}" type="slidenum">
              <a:rPr lang="en-US" smtClean="0"/>
              <a:pPr/>
              <a:t>1</a:t>
            </a:fld>
            <a:endParaRPr lang="en-US" dirty="0"/>
          </a:p>
        </p:txBody>
      </p:sp>
    </p:spTree>
    <p:extLst>
      <p:ext uri="{BB962C8B-B14F-4D97-AF65-F5344CB8AC3E}">
        <p14:creationId xmlns:p14="http://schemas.microsoft.com/office/powerpoint/2010/main" val="1253848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E140F0-251B-48BB-A2CC-1A864AE97273}"/>
              </a:ext>
            </a:extLst>
          </p:cNvPr>
          <p:cNvSpPr>
            <a:spLocks noGrp="1"/>
          </p:cNvSpPr>
          <p:nvPr>
            <p:ph idx="1"/>
          </p:nvPr>
        </p:nvSpPr>
        <p:spPr>
          <a:xfrm>
            <a:off x="747000" y="1917577"/>
            <a:ext cx="13269446" cy="5494778"/>
          </a:xfrm>
        </p:spPr>
        <p:txBody>
          <a:bodyPr/>
          <a:lstStyle/>
          <a:p>
            <a:pPr>
              <a:lnSpc>
                <a:spcPct val="150000"/>
              </a:lnSpc>
            </a:pPr>
            <a:r>
              <a:rPr lang="en-US" sz="2880" dirty="0"/>
              <a:t>Developed to provide a standardized graphical language and notation for describing object-oriented models.</a:t>
            </a:r>
          </a:p>
          <a:p>
            <a:pPr>
              <a:lnSpc>
                <a:spcPct val="150000"/>
              </a:lnSpc>
            </a:pPr>
            <a:r>
              <a:rPr lang="en-US" sz="2880" dirty="0"/>
              <a:t>UC modeling: functional requirements</a:t>
            </a:r>
          </a:p>
          <a:p>
            <a:pPr>
              <a:lnSpc>
                <a:spcPct val="150000"/>
              </a:lnSpc>
            </a:pPr>
            <a:r>
              <a:rPr lang="en-US" sz="2880" dirty="0"/>
              <a:t>Static modeling: structural view of the system</a:t>
            </a:r>
          </a:p>
          <a:p>
            <a:pPr>
              <a:lnSpc>
                <a:spcPct val="150000"/>
              </a:lnSpc>
            </a:pPr>
            <a:r>
              <a:rPr lang="en-US" sz="2880" dirty="0"/>
              <a:t>Dynamic modeling: behavioral view of the system</a:t>
            </a:r>
          </a:p>
          <a:p>
            <a:pPr>
              <a:lnSpc>
                <a:spcPct val="150000"/>
              </a:lnSpc>
            </a:pPr>
            <a:r>
              <a:rPr lang="en-US" sz="2880" dirty="0"/>
              <a:t>Tools: Visio, Draw.io, …</a:t>
            </a:r>
          </a:p>
        </p:txBody>
      </p:sp>
      <p:sp>
        <p:nvSpPr>
          <p:cNvPr id="3" name="Slide Number Placeholder 2">
            <a:extLst>
              <a:ext uri="{FF2B5EF4-FFF2-40B4-BE49-F238E27FC236}">
                <a16:creationId xmlns:a16="http://schemas.microsoft.com/office/drawing/2014/main" id="{7D7EAD0B-4754-4848-A672-37AB52348BC2}"/>
              </a:ext>
            </a:extLst>
          </p:cNvPr>
          <p:cNvSpPr>
            <a:spLocks noGrp="1"/>
          </p:cNvSpPr>
          <p:nvPr>
            <p:ph type="sldNum" sz="quarter" idx="4"/>
          </p:nvPr>
        </p:nvSpPr>
        <p:spPr/>
        <p:txBody>
          <a:bodyPr/>
          <a:lstStyle/>
          <a:p>
            <a:fld id="{31D26D55-0A22-487A-A687-61FB58A6F16A}" type="slidenum">
              <a:rPr lang="en-US" smtClean="0"/>
              <a:pPr/>
              <a:t>2</a:t>
            </a:fld>
            <a:endParaRPr lang="en-US" dirty="0"/>
          </a:p>
        </p:txBody>
      </p:sp>
      <p:sp>
        <p:nvSpPr>
          <p:cNvPr id="4" name="Title 3">
            <a:extLst>
              <a:ext uri="{FF2B5EF4-FFF2-40B4-BE49-F238E27FC236}">
                <a16:creationId xmlns:a16="http://schemas.microsoft.com/office/drawing/2014/main" id="{4C0312C5-2077-43DD-AE5F-041247032598}"/>
              </a:ext>
            </a:extLst>
          </p:cNvPr>
          <p:cNvSpPr>
            <a:spLocks noGrp="1"/>
          </p:cNvSpPr>
          <p:nvPr>
            <p:ph type="title"/>
          </p:nvPr>
        </p:nvSpPr>
        <p:spPr/>
        <p:txBody>
          <a:bodyPr/>
          <a:lstStyle/>
          <a:p>
            <a:r>
              <a:rPr lang="en-US" sz="2400" dirty="0"/>
              <a:t>Unified Modeling Language (UML)</a:t>
            </a:r>
            <a:endParaRPr lang="en-US" dirty="0"/>
          </a:p>
        </p:txBody>
      </p:sp>
    </p:spTree>
    <p:extLst>
      <p:ext uri="{BB962C8B-B14F-4D97-AF65-F5344CB8AC3E}">
        <p14:creationId xmlns:p14="http://schemas.microsoft.com/office/powerpoint/2010/main" val="933841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B7EDE8-CEBA-45AF-9ADC-41BA06719AD7}"/>
              </a:ext>
            </a:extLst>
          </p:cNvPr>
          <p:cNvSpPr>
            <a:spLocks noGrp="1"/>
          </p:cNvSpPr>
          <p:nvPr>
            <p:ph idx="1"/>
          </p:nvPr>
        </p:nvSpPr>
        <p:spPr>
          <a:xfrm>
            <a:off x="747000" y="3389505"/>
            <a:ext cx="13166084" cy="4022850"/>
          </a:xfrm>
        </p:spPr>
        <p:txBody>
          <a:bodyPr/>
          <a:lstStyle/>
          <a:p>
            <a:r>
              <a:rPr lang="en-US" dirty="0"/>
              <a:t>Pre-UML Era (1970s–1980s): Fragmented Methods</a:t>
            </a:r>
          </a:p>
          <a:p>
            <a:r>
              <a:rPr lang="en-US" dirty="0"/>
              <a:t>1994–1995: The "Three Amigos“ - </a:t>
            </a:r>
            <a:r>
              <a:rPr lang="en-US" b="1" dirty="0"/>
              <a:t>Grady </a:t>
            </a:r>
            <a:r>
              <a:rPr lang="en-US" b="1" dirty="0" err="1"/>
              <a:t>Booch</a:t>
            </a:r>
            <a:r>
              <a:rPr lang="en-US" dirty="0"/>
              <a:t>, </a:t>
            </a:r>
            <a:r>
              <a:rPr lang="en-US" b="1" dirty="0"/>
              <a:t>James Rumbaugh</a:t>
            </a:r>
            <a:r>
              <a:rPr lang="en-US" dirty="0"/>
              <a:t>, and </a:t>
            </a:r>
            <a:r>
              <a:rPr lang="en-US" b="1" dirty="0"/>
              <a:t>Ivar Jacobson</a:t>
            </a:r>
            <a:r>
              <a:rPr lang="en-US" dirty="0"/>
              <a:t> began merging their methods, resulting in UML 0.9 and UML 0.91 drafts.</a:t>
            </a:r>
          </a:p>
          <a:p>
            <a:r>
              <a:rPr lang="en-US" dirty="0"/>
              <a:t>UML 1.x (1997–2003)</a:t>
            </a:r>
          </a:p>
          <a:p>
            <a:r>
              <a:rPr lang="en-US" dirty="0"/>
              <a:t>UML 2.x (2005 onward)</a:t>
            </a:r>
          </a:p>
          <a:p>
            <a:r>
              <a:rPr lang="en-US" dirty="0"/>
              <a:t>Latest version: </a:t>
            </a:r>
            <a:r>
              <a:rPr lang="en-US" b="1" dirty="0"/>
              <a:t>UML 2.5.1</a:t>
            </a:r>
            <a:r>
              <a:rPr lang="en-US" dirty="0"/>
              <a:t> in Dec 2017</a:t>
            </a:r>
          </a:p>
        </p:txBody>
      </p:sp>
      <p:sp>
        <p:nvSpPr>
          <p:cNvPr id="3" name="Slide Number Placeholder 2">
            <a:extLst>
              <a:ext uri="{FF2B5EF4-FFF2-40B4-BE49-F238E27FC236}">
                <a16:creationId xmlns:a16="http://schemas.microsoft.com/office/drawing/2014/main" id="{65D3A5DB-515E-48CC-914F-BD8A8E030030}"/>
              </a:ext>
            </a:extLst>
          </p:cNvPr>
          <p:cNvSpPr>
            <a:spLocks noGrp="1"/>
          </p:cNvSpPr>
          <p:nvPr>
            <p:ph type="sldNum" sz="quarter" idx="4"/>
          </p:nvPr>
        </p:nvSpPr>
        <p:spPr/>
        <p:txBody>
          <a:bodyPr/>
          <a:lstStyle/>
          <a:p>
            <a:fld id="{31D26D55-0A22-487A-A687-61FB58A6F16A}" type="slidenum">
              <a:rPr lang="en-US" smtClean="0"/>
              <a:pPr/>
              <a:t>3</a:t>
            </a:fld>
            <a:endParaRPr lang="en-US" dirty="0"/>
          </a:p>
        </p:txBody>
      </p:sp>
      <p:sp>
        <p:nvSpPr>
          <p:cNvPr id="4" name="Title 3">
            <a:extLst>
              <a:ext uri="{FF2B5EF4-FFF2-40B4-BE49-F238E27FC236}">
                <a16:creationId xmlns:a16="http://schemas.microsoft.com/office/drawing/2014/main" id="{F2C5A125-6E4A-4E2F-B977-1D2BC99A1D0B}"/>
              </a:ext>
            </a:extLst>
          </p:cNvPr>
          <p:cNvSpPr>
            <a:spLocks noGrp="1"/>
          </p:cNvSpPr>
          <p:nvPr>
            <p:ph type="title"/>
          </p:nvPr>
        </p:nvSpPr>
        <p:spPr/>
        <p:txBody>
          <a:bodyPr/>
          <a:lstStyle/>
          <a:p>
            <a:r>
              <a:rPr lang="en-US" dirty="0"/>
              <a:t>History of UML</a:t>
            </a:r>
          </a:p>
        </p:txBody>
      </p:sp>
      <p:pic>
        <p:nvPicPr>
          <p:cNvPr id="5" name="Picture 4">
            <a:extLst>
              <a:ext uri="{FF2B5EF4-FFF2-40B4-BE49-F238E27FC236}">
                <a16:creationId xmlns:a16="http://schemas.microsoft.com/office/drawing/2014/main" id="{2E72D135-BFC3-4EC0-8C29-3496D06A523B}"/>
              </a:ext>
            </a:extLst>
          </p:cNvPr>
          <p:cNvPicPr>
            <a:picLocks noChangeAspect="1"/>
          </p:cNvPicPr>
          <p:nvPr/>
        </p:nvPicPr>
        <p:blipFill>
          <a:blip r:embed="rId3"/>
          <a:stretch>
            <a:fillRect/>
          </a:stretch>
        </p:blipFill>
        <p:spPr>
          <a:xfrm>
            <a:off x="3394894" y="685151"/>
            <a:ext cx="7704856" cy="2704354"/>
          </a:xfrm>
          <a:prstGeom prst="rect">
            <a:avLst/>
          </a:prstGeom>
        </p:spPr>
      </p:pic>
    </p:spTree>
    <p:extLst>
      <p:ext uri="{BB962C8B-B14F-4D97-AF65-F5344CB8AC3E}">
        <p14:creationId xmlns:p14="http://schemas.microsoft.com/office/powerpoint/2010/main" val="2133594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Extension Mechanisms 1/2</a:t>
            </a:r>
          </a:p>
        </p:txBody>
      </p:sp>
      <p:sp>
        <p:nvSpPr>
          <p:cNvPr id="3" name="Content Placeholder 2"/>
          <p:cNvSpPr>
            <a:spLocks noGrp="1"/>
          </p:cNvSpPr>
          <p:nvPr>
            <p:ph idx="1"/>
          </p:nvPr>
        </p:nvSpPr>
        <p:spPr>
          <a:xfrm>
            <a:off x="747000" y="1917577"/>
            <a:ext cx="7809171" cy="5494778"/>
          </a:xfrm>
        </p:spPr>
        <p:txBody>
          <a:bodyPr>
            <a:normAutofit/>
          </a:bodyPr>
          <a:lstStyle/>
          <a:p>
            <a:pPr marL="0" indent="0" algn="just">
              <a:buNone/>
            </a:pPr>
            <a:r>
              <a:rPr lang="en-US" sz="2640" dirty="0"/>
              <a:t>UML provides three mechanisms to allow the language to be extended:</a:t>
            </a:r>
          </a:p>
          <a:p>
            <a:pPr algn="just"/>
            <a:r>
              <a:rPr lang="en-US" sz="2400" dirty="0"/>
              <a:t>A </a:t>
            </a:r>
            <a:r>
              <a:rPr lang="en-US" sz="2400" b="1" dirty="0"/>
              <a:t>tagged value:</a:t>
            </a:r>
          </a:p>
          <a:p>
            <a:pPr lvl="1" algn="just"/>
            <a:r>
              <a:rPr lang="en-US" sz="1920" dirty="0"/>
              <a:t>Extends the properties, thereby adding new information. </a:t>
            </a:r>
          </a:p>
          <a:p>
            <a:pPr lvl="1" algn="just"/>
            <a:r>
              <a:rPr lang="en-US" sz="1920" dirty="0"/>
              <a:t>Enclosed in braces in the form {tag = value}.</a:t>
            </a:r>
          </a:p>
          <a:p>
            <a:pPr lvl="1" algn="just"/>
            <a:r>
              <a:rPr lang="en-US" sz="1920" dirty="0"/>
              <a:t>Commas separate additional tagged values.</a:t>
            </a:r>
          </a:p>
          <a:p>
            <a:pPr algn="just"/>
            <a:r>
              <a:rPr lang="en-US" sz="2400" dirty="0"/>
              <a:t>A </a:t>
            </a:r>
            <a:r>
              <a:rPr lang="en-US" sz="2400" b="1" dirty="0"/>
              <a:t>constraint</a:t>
            </a:r>
            <a:r>
              <a:rPr lang="en-US" sz="2400" dirty="0"/>
              <a:t> :</a:t>
            </a:r>
          </a:p>
          <a:p>
            <a:pPr lvl="1" algn="just"/>
            <a:r>
              <a:rPr lang="en-US" sz="1920" dirty="0"/>
              <a:t>A condition that must be true.</a:t>
            </a:r>
          </a:p>
          <a:p>
            <a:pPr lvl="1" algn="just"/>
            <a:r>
              <a:rPr lang="en-US" sz="1920" dirty="0"/>
              <a:t>Allow the addition of new rules or modifications to existing rules</a:t>
            </a:r>
          </a:p>
          <a:p>
            <a:pPr algn="just"/>
            <a:r>
              <a:rPr lang="en-US" sz="2400" dirty="0"/>
              <a:t>A </a:t>
            </a:r>
            <a:r>
              <a:rPr lang="en-US" sz="2400" b="1" dirty="0"/>
              <a:t>stereotype:</a:t>
            </a:r>
          </a:p>
          <a:p>
            <a:pPr lvl="1" algn="just"/>
            <a:r>
              <a:rPr lang="en-US" sz="1920" dirty="0"/>
              <a:t>Defines a new building block that is derived from an existing UML modeling element but tailored to the modeler’s problem.</a:t>
            </a:r>
          </a:p>
          <a:p>
            <a:pPr lvl="1" algn="just"/>
            <a:r>
              <a:rPr lang="en-US" sz="1920" dirty="0"/>
              <a:t>Stereotypes are indicated by guillemets (« »)</a:t>
            </a:r>
          </a:p>
          <a:p>
            <a:pPr marL="0" indent="0" algn="just">
              <a:buNone/>
            </a:pPr>
            <a:endParaRPr lang="en-US" sz="2400" dirty="0"/>
          </a:p>
        </p:txBody>
      </p:sp>
      <p:pic>
        <p:nvPicPr>
          <p:cNvPr id="5" name="Picture 4"/>
          <p:cNvPicPr>
            <a:picLocks noChangeAspect="1"/>
          </p:cNvPicPr>
          <p:nvPr/>
        </p:nvPicPr>
        <p:blipFill rotWithShape="1">
          <a:blip r:embed="rId3"/>
          <a:srcRect l="1" r="30850" b="15146"/>
          <a:stretch/>
        </p:blipFill>
        <p:spPr>
          <a:xfrm>
            <a:off x="9618008" y="1591005"/>
            <a:ext cx="3653855" cy="1683158"/>
          </a:xfrm>
          <a:prstGeom prst="rect">
            <a:avLst/>
          </a:prstGeom>
        </p:spPr>
      </p:pic>
      <p:pic>
        <p:nvPicPr>
          <p:cNvPr id="6" name="Picture 5">
            <a:extLst>
              <a:ext uri="{FF2B5EF4-FFF2-40B4-BE49-F238E27FC236}">
                <a16:creationId xmlns:a16="http://schemas.microsoft.com/office/drawing/2014/main" id="{2A46A301-6678-448E-8FDC-18CF1C4A05D2}"/>
              </a:ext>
            </a:extLst>
          </p:cNvPr>
          <p:cNvPicPr>
            <a:picLocks noChangeAspect="1"/>
          </p:cNvPicPr>
          <p:nvPr/>
        </p:nvPicPr>
        <p:blipFill>
          <a:blip r:embed="rId4"/>
          <a:stretch>
            <a:fillRect/>
          </a:stretch>
        </p:blipFill>
        <p:spPr>
          <a:xfrm>
            <a:off x="8894717" y="3470905"/>
            <a:ext cx="5100436" cy="4115067"/>
          </a:xfrm>
          <a:prstGeom prst="rect">
            <a:avLst/>
          </a:prstGeom>
        </p:spPr>
      </p:pic>
    </p:spTree>
    <p:extLst>
      <p:ext uri="{BB962C8B-B14F-4D97-AF65-F5344CB8AC3E}">
        <p14:creationId xmlns:p14="http://schemas.microsoft.com/office/powerpoint/2010/main" val="3645335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94BCB31B-F06D-4B9F-A691-9B8A5768BCEA}"/>
              </a:ext>
            </a:extLst>
          </p:cNvPr>
          <p:cNvGraphicFramePr>
            <a:graphicFrameLocks noGrp="1"/>
          </p:cNvGraphicFramePr>
          <p:nvPr>
            <p:ph idx="1"/>
            <p:extLst>
              <p:ext uri="{D42A27DB-BD31-4B8C-83A1-F6EECF244321}">
                <p14:modId xmlns:p14="http://schemas.microsoft.com/office/powerpoint/2010/main" val="3616416695"/>
              </p:ext>
            </p:extLst>
          </p:nvPr>
        </p:nvGraphicFramePr>
        <p:xfrm>
          <a:off x="629084" y="1188719"/>
          <a:ext cx="13522403" cy="6438903"/>
        </p:xfrm>
        <a:graphic>
          <a:graphicData uri="http://schemas.openxmlformats.org/drawingml/2006/table">
            <a:tbl>
              <a:tblPr firstRow="1" bandRow="1">
                <a:tableStyleId>{5C22544A-7EE6-4342-B048-85BDC9FD1C3A}</a:tableStyleId>
              </a:tblPr>
              <a:tblGrid>
                <a:gridCol w="2474913">
                  <a:extLst>
                    <a:ext uri="{9D8B030D-6E8A-4147-A177-3AD203B41FA5}">
                      <a16:colId xmlns:a16="http://schemas.microsoft.com/office/drawing/2014/main" val="2840341198"/>
                    </a:ext>
                  </a:extLst>
                </a:gridCol>
                <a:gridCol w="4106372">
                  <a:extLst>
                    <a:ext uri="{9D8B030D-6E8A-4147-A177-3AD203B41FA5}">
                      <a16:colId xmlns:a16="http://schemas.microsoft.com/office/drawing/2014/main" val="1078524492"/>
                    </a:ext>
                  </a:extLst>
                </a:gridCol>
                <a:gridCol w="2286328">
                  <a:extLst>
                    <a:ext uri="{9D8B030D-6E8A-4147-A177-3AD203B41FA5}">
                      <a16:colId xmlns:a16="http://schemas.microsoft.com/office/drawing/2014/main" val="4135744695"/>
                    </a:ext>
                  </a:extLst>
                </a:gridCol>
                <a:gridCol w="4654790">
                  <a:extLst>
                    <a:ext uri="{9D8B030D-6E8A-4147-A177-3AD203B41FA5}">
                      <a16:colId xmlns:a16="http://schemas.microsoft.com/office/drawing/2014/main" val="2085476550"/>
                    </a:ext>
                  </a:extLst>
                </a:gridCol>
              </a:tblGrid>
              <a:tr h="561783">
                <a:tc gridSpan="2">
                  <a:txBody>
                    <a:bodyPr/>
                    <a:lstStyle/>
                    <a:p>
                      <a:pPr algn="ctr" fontAlgn="ctr"/>
                      <a:r>
                        <a:rPr lang="en-US" sz="2000" u="none" strike="noStrike" dirty="0">
                          <a:effectLst/>
                          <a:latin typeface="+mj-lt"/>
                        </a:rPr>
                        <a:t>Structural (Static) Diagrams</a:t>
                      </a:r>
                      <a:endParaRPr lang="en-US" sz="2000" b="1" i="0" u="none" strike="noStrike" dirty="0">
                        <a:solidFill>
                          <a:srgbClr val="000000"/>
                        </a:solidFill>
                        <a:effectLst/>
                        <a:latin typeface="+mj-lt"/>
                      </a:endParaRPr>
                    </a:p>
                  </a:txBody>
                  <a:tcPr marL="9525" marR="9525" marT="9525" marB="0" anchor="ctr"/>
                </a:tc>
                <a:tc hMerge="1">
                  <a:txBody>
                    <a:bodyPr/>
                    <a:lstStyle/>
                    <a:p>
                      <a:endParaRPr lang="en-US"/>
                    </a:p>
                  </a:txBody>
                  <a:tcPr/>
                </a:tc>
                <a:tc gridSpan="2">
                  <a:txBody>
                    <a:bodyPr/>
                    <a:lstStyle/>
                    <a:p>
                      <a:pPr algn="ctr" fontAlgn="ctr"/>
                      <a:r>
                        <a:rPr lang="en-US" sz="2000" u="none" strike="noStrike" dirty="0">
                          <a:effectLst/>
                          <a:latin typeface="+mj-lt"/>
                        </a:rPr>
                        <a:t>Behavioral (Dynamic) Diagrams</a:t>
                      </a:r>
                      <a:endParaRPr lang="en-US" sz="2000" b="1" i="0" u="none" strike="noStrike" dirty="0">
                        <a:solidFill>
                          <a:srgbClr val="000000"/>
                        </a:solidFill>
                        <a:effectLst/>
                        <a:latin typeface="+mj-lt"/>
                      </a:endParaRPr>
                    </a:p>
                  </a:txBody>
                  <a:tcPr marL="9525" marR="9525" marT="9525" marB="0" anchor="ctr"/>
                </a:tc>
                <a:tc hMerge="1">
                  <a:txBody>
                    <a:bodyPr/>
                    <a:lstStyle/>
                    <a:p>
                      <a:endParaRPr lang="en-US"/>
                    </a:p>
                  </a:txBody>
                  <a:tcPr/>
                </a:tc>
                <a:extLst>
                  <a:ext uri="{0D108BD9-81ED-4DB2-BD59-A6C34878D82A}">
                    <a16:rowId xmlns:a16="http://schemas.microsoft.com/office/drawing/2014/main" val="952396617"/>
                  </a:ext>
                </a:extLst>
              </a:tr>
              <a:tr h="561783">
                <a:tc>
                  <a:txBody>
                    <a:bodyPr/>
                    <a:lstStyle/>
                    <a:p>
                      <a:pPr algn="ctr" fontAlgn="ctr"/>
                      <a:r>
                        <a:rPr lang="en-US" sz="2000" u="none" strike="noStrike" dirty="0">
                          <a:effectLst/>
                          <a:latin typeface="+mj-lt"/>
                        </a:rPr>
                        <a:t>Diagram Type</a:t>
                      </a:r>
                      <a:endParaRPr lang="en-US" sz="2000" b="1" i="0" u="none" strike="noStrike" dirty="0">
                        <a:solidFill>
                          <a:srgbClr val="000000"/>
                        </a:solidFill>
                        <a:effectLst/>
                        <a:latin typeface="+mj-lt"/>
                      </a:endParaRPr>
                    </a:p>
                  </a:txBody>
                  <a:tcPr marL="9525" marR="9525" marT="9525" marB="0" anchor="ctr"/>
                </a:tc>
                <a:tc>
                  <a:txBody>
                    <a:bodyPr/>
                    <a:lstStyle/>
                    <a:p>
                      <a:pPr algn="ctr" fontAlgn="ctr"/>
                      <a:r>
                        <a:rPr lang="en-US" sz="2000" u="none" strike="noStrike">
                          <a:effectLst/>
                          <a:latin typeface="+mj-lt"/>
                        </a:rPr>
                        <a:t>Purpose</a:t>
                      </a:r>
                      <a:endParaRPr lang="en-US" sz="2000" b="1" i="0" u="none" strike="noStrike">
                        <a:solidFill>
                          <a:srgbClr val="000000"/>
                        </a:solidFill>
                        <a:effectLst/>
                        <a:latin typeface="+mj-lt"/>
                      </a:endParaRPr>
                    </a:p>
                  </a:txBody>
                  <a:tcPr marL="9525" marR="9525" marT="9525" marB="0" anchor="ctr"/>
                </a:tc>
                <a:tc>
                  <a:txBody>
                    <a:bodyPr/>
                    <a:lstStyle/>
                    <a:p>
                      <a:pPr algn="ctr" fontAlgn="ctr"/>
                      <a:r>
                        <a:rPr lang="en-US" sz="2000" u="none" strike="noStrike">
                          <a:effectLst/>
                          <a:latin typeface="+mj-lt"/>
                        </a:rPr>
                        <a:t>Diagram Type</a:t>
                      </a:r>
                      <a:endParaRPr lang="en-US" sz="2000" b="1" i="0" u="none" strike="noStrike">
                        <a:solidFill>
                          <a:srgbClr val="000000"/>
                        </a:solidFill>
                        <a:effectLst/>
                        <a:latin typeface="+mj-lt"/>
                      </a:endParaRPr>
                    </a:p>
                  </a:txBody>
                  <a:tcPr marL="9525" marR="9525" marT="9525" marB="0" anchor="ctr"/>
                </a:tc>
                <a:tc>
                  <a:txBody>
                    <a:bodyPr/>
                    <a:lstStyle/>
                    <a:p>
                      <a:pPr algn="ctr" fontAlgn="ctr"/>
                      <a:r>
                        <a:rPr lang="en-US" sz="2000" u="none" strike="noStrike" dirty="0">
                          <a:effectLst/>
                          <a:latin typeface="+mj-lt"/>
                        </a:rPr>
                        <a:t>Purpose</a:t>
                      </a:r>
                      <a:endParaRPr lang="en-US" sz="2000" b="1"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3324126777"/>
                  </a:ext>
                </a:extLst>
              </a:tr>
              <a:tr h="648212">
                <a:tc>
                  <a:txBody>
                    <a:bodyPr/>
                    <a:lstStyle/>
                    <a:p>
                      <a:pPr algn="l" fontAlgn="ctr"/>
                      <a:r>
                        <a:rPr lang="en-US" sz="2000" u="none" strike="noStrike" dirty="0">
                          <a:effectLst/>
                          <a:latin typeface="+mj-lt"/>
                        </a:rPr>
                        <a:t>Class Diagram</a:t>
                      </a:r>
                      <a:endParaRPr lang="en-US" sz="2000" b="0" i="0" u="none" strike="noStrike" dirty="0">
                        <a:solidFill>
                          <a:srgbClr val="000000"/>
                        </a:solidFill>
                        <a:effectLst/>
                        <a:latin typeface="+mj-lt"/>
                      </a:endParaRPr>
                    </a:p>
                  </a:txBody>
                  <a:tcPr marL="9525" marR="9525" marT="9525" marB="0" anchor="ctr"/>
                </a:tc>
                <a:tc>
                  <a:txBody>
                    <a:bodyPr/>
                    <a:lstStyle/>
                    <a:p>
                      <a:pPr algn="l" fontAlgn="ctr"/>
                      <a:r>
                        <a:rPr lang="en-US" sz="2000" u="none" strike="noStrike" dirty="0">
                          <a:effectLst/>
                          <a:latin typeface="+mj-lt"/>
                        </a:rPr>
                        <a:t>Models classes, attributes, and relationships.</a:t>
                      </a:r>
                      <a:endParaRPr lang="en-US" sz="2000" b="0" i="0" u="none" strike="noStrike" dirty="0">
                        <a:solidFill>
                          <a:srgbClr val="000000"/>
                        </a:solidFill>
                        <a:effectLst/>
                        <a:latin typeface="+mj-lt"/>
                      </a:endParaRPr>
                    </a:p>
                  </a:txBody>
                  <a:tcPr marL="9525" marR="9525" marT="9525" marB="0" anchor="ctr"/>
                </a:tc>
                <a:tc>
                  <a:txBody>
                    <a:bodyPr/>
                    <a:lstStyle/>
                    <a:p>
                      <a:pPr algn="l" fontAlgn="ctr"/>
                      <a:r>
                        <a:rPr lang="en-US" sz="2000" u="none" strike="noStrike">
                          <a:effectLst/>
                          <a:latin typeface="+mj-lt"/>
                        </a:rPr>
                        <a:t>Use Case Diagram</a:t>
                      </a:r>
                      <a:endParaRPr lang="en-US" sz="2000" b="0" i="0" u="none" strike="noStrike">
                        <a:solidFill>
                          <a:srgbClr val="000000"/>
                        </a:solidFill>
                        <a:effectLst/>
                        <a:latin typeface="+mj-lt"/>
                      </a:endParaRPr>
                    </a:p>
                  </a:txBody>
                  <a:tcPr marL="9525" marR="9525" marT="9525" marB="0" anchor="ctr"/>
                </a:tc>
                <a:tc>
                  <a:txBody>
                    <a:bodyPr/>
                    <a:lstStyle/>
                    <a:p>
                      <a:pPr algn="l" fontAlgn="ctr"/>
                      <a:r>
                        <a:rPr lang="en-US" sz="2000" u="none" strike="noStrike">
                          <a:effectLst/>
                          <a:latin typeface="+mj-lt"/>
                        </a:rPr>
                        <a:t>Captures functional requirements and system goals.</a:t>
                      </a:r>
                      <a:endParaRPr lang="en-US" sz="2000" b="0" i="0" u="none" strike="noStrike">
                        <a:solidFill>
                          <a:srgbClr val="000000"/>
                        </a:solidFill>
                        <a:effectLst/>
                        <a:latin typeface="+mj-lt"/>
                      </a:endParaRPr>
                    </a:p>
                  </a:txBody>
                  <a:tcPr marL="9525" marR="9525" marT="9525" marB="0" anchor="ctr"/>
                </a:tc>
                <a:extLst>
                  <a:ext uri="{0D108BD9-81ED-4DB2-BD59-A6C34878D82A}">
                    <a16:rowId xmlns:a16="http://schemas.microsoft.com/office/drawing/2014/main" val="4044185174"/>
                  </a:ext>
                </a:extLst>
              </a:tr>
              <a:tr h="648212">
                <a:tc>
                  <a:txBody>
                    <a:bodyPr/>
                    <a:lstStyle/>
                    <a:p>
                      <a:pPr algn="l" fontAlgn="ctr"/>
                      <a:r>
                        <a:rPr lang="en-US" sz="2000" u="none" strike="noStrike" dirty="0">
                          <a:effectLst/>
                          <a:latin typeface="+mj-lt"/>
                        </a:rPr>
                        <a:t>Object Diagram</a:t>
                      </a:r>
                      <a:endParaRPr lang="en-US" sz="2000" b="0" i="0" u="none" strike="noStrike" dirty="0">
                        <a:solidFill>
                          <a:srgbClr val="000000"/>
                        </a:solidFill>
                        <a:effectLst/>
                        <a:latin typeface="+mj-lt"/>
                      </a:endParaRPr>
                    </a:p>
                  </a:txBody>
                  <a:tcPr marL="9525" marR="9525" marT="9525" marB="0" anchor="ctr"/>
                </a:tc>
                <a:tc>
                  <a:txBody>
                    <a:bodyPr/>
                    <a:lstStyle/>
                    <a:p>
                      <a:pPr algn="l" fontAlgn="ctr"/>
                      <a:r>
                        <a:rPr lang="en-US" sz="2000" u="none" strike="noStrike" dirty="0">
                          <a:effectLst/>
                          <a:latin typeface="+mj-lt"/>
                        </a:rPr>
                        <a:t>Visualizes object instances at runtime.</a:t>
                      </a:r>
                      <a:endParaRPr lang="en-US" sz="2000" b="0" i="0" u="none" strike="noStrike" dirty="0">
                        <a:solidFill>
                          <a:srgbClr val="000000"/>
                        </a:solidFill>
                        <a:effectLst/>
                        <a:latin typeface="+mj-lt"/>
                      </a:endParaRPr>
                    </a:p>
                  </a:txBody>
                  <a:tcPr marL="9525" marR="9525" marT="9525" marB="0" anchor="ctr"/>
                </a:tc>
                <a:tc>
                  <a:txBody>
                    <a:bodyPr/>
                    <a:lstStyle/>
                    <a:p>
                      <a:pPr algn="l" fontAlgn="ctr"/>
                      <a:r>
                        <a:rPr lang="en-US" sz="2000" u="none" strike="noStrike" dirty="0">
                          <a:effectLst/>
                          <a:latin typeface="+mj-lt"/>
                        </a:rPr>
                        <a:t>Sequence Diagram</a:t>
                      </a:r>
                      <a:endParaRPr lang="en-US" sz="2000" b="0" i="0" u="none" strike="noStrike" dirty="0">
                        <a:solidFill>
                          <a:srgbClr val="000000"/>
                        </a:solidFill>
                        <a:effectLst/>
                        <a:latin typeface="+mj-lt"/>
                      </a:endParaRPr>
                    </a:p>
                  </a:txBody>
                  <a:tcPr marL="9525" marR="9525" marT="9525" marB="0" anchor="ctr"/>
                </a:tc>
                <a:tc>
                  <a:txBody>
                    <a:bodyPr/>
                    <a:lstStyle/>
                    <a:p>
                      <a:pPr algn="l" fontAlgn="ctr"/>
                      <a:r>
                        <a:rPr lang="en-US" sz="2000" u="none" strike="noStrike">
                          <a:effectLst/>
                          <a:latin typeface="+mj-lt"/>
                        </a:rPr>
                        <a:t>Models message exchanges in a specific order.</a:t>
                      </a:r>
                      <a:endParaRPr lang="en-US" sz="2000" b="0" i="0" u="none" strike="noStrike">
                        <a:solidFill>
                          <a:srgbClr val="000000"/>
                        </a:solidFill>
                        <a:effectLst/>
                        <a:latin typeface="+mj-lt"/>
                      </a:endParaRPr>
                    </a:p>
                  </a:txBody>
                  <a:tcPr marL="9525" marR="9525" marT="9525" marB="0" anchor="ctr"/>
                </a:tc>
                <a:extLst>
                  <a:ext uri="{0D108BD9-81ED-4DB2-BD59-A6C34878D82A}">
                    <a16:rowId xmlns:a16="http://schemas.microsoft.com/office/drawing/2014/main" val="4270346914"/>
                  </a:ext>
                </a:extLst>
              </a:tr>
              <a:tr h="1123567">
                <a:tc>
                  <a:txBody>
                    <a:bodyPr/>
                    <a:lstStyle/>
                    <a:p>
                      <a:pPr algn="l" fontAlgn="ctr"/>
                      <a:r>
                        <a:rPr lang="en-US" sz="2000" u="none" strike="noStrike" dirty="0">
                          <a:effectLst/>
                          <a:latin typeface="+mj-lt"/>
                        </a:rPr>
                        <a:t>Component Diagram</a:t>
                      </a:r>
                      <a:endParaRPr lang="en-US" sz="2000" b="0" i="0" u="none" strike="noStrike" dirty="0">
                        <a:solidFill>
                          <a:srgbClr val="000000"/>
                        </a:solidFill>
                        <a:effectLst/>
                        <a:latin typeface="+mj-lt"/>
                      </a:endParaRPr>
                    </a:p>
                  </a:txBody>
                  <a:tcPr marL="9525" marR="9525" marT="9525" marB="0" anchor="ctr"/>
                </a:tc>
                <a:tc>
                  <a:txBody>
                    <a:bodyPr/>
                    <a:lstStyle/>
                    <a:p>
                      <a:pPr algn="l" fontAlgn="ctr"/>
                      <a:r>
                        <a:rPr lang="en-US" sz="2000" u="none" strike="noStrike" dirty="0">
                          <a:effectLst/>
                          <a:latin typeface="+mj-lt"/>
                        </a:rPr>
                        <a:t>Represents software components and their dependencies.</a:t>
                      </a:r>
                      <a:endParaRPr lang="en-US" sz="2000" b="0" i="0" u="none" strike="noStrike" dirty="0">
                        <a:solidFill>
                          <a:srgbClr val="000000"/>
                        </a:solidFill>
                        <a:effectLst/>
                        <a:latin typeface="+mj-lt"/>
                      </a:endParaRPr>
                    </a:p>
                  </a:txBody>
                  <a:tcPr marL="9525" marR="9525" marT="9525" marB="0" anchor="ctr"/>
                </a:tc>
                <a:tc>
                  <a:txBody>
                    <a:bodyPr/>
                    <a:lstStyle/>
                    <a:p>
                      <a:pPr algn="l" fontAlgn="ctr"/>
                      <a:r>
                        <a:rPr lang="en-US" sz="2000" u="none" strike="noStrike" dirty="0">
                          <a:effectLst/>
                          <a:latin typeface="+mj-lt"/>
                        </a:rPr>
                        <a:t>Activity Diagram</a:t>
                      </a:r>
                      <a:endParaRPr lang="en-US" sz="2000" b="0" i="0" u="none" strike="noStrike" dirty="0">
                        <a:solidFill>
                          <a:srgbClr val="000000"/>
                        </a:solidFill>
                        <a:effectLst/>
                        <a:latin typeface="+mj-lt"/>
                      </a:endParaRPr>
                    </a:p>
                  </a:txBody>
                  <a:tcPr marL="9525" marR="9525" marT="9525" marB="0" anchor="ctr"/>
                </a:tc>
                <a:tc>
                  <a:txBody>
                    <a:bodyPr/>
                    <a:lstStyle/>
                    <a:p>
                      <a:pPr algn="l" fontAlgn="ctr"/>
                      <a:r>
                        <a:rPr lang="en-US" sz="2000" u="none" strike="noStrike" dirty="0">
                          <a:effectLst/>
                          <a:latin typeface="+mj-lt"/>
                        </a:rPr>
                        <a:t>Visualizes workflows and processes.</a:t>
                      </a:r>
                      <a:endParaRPr lang="en-US" sz="20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595007911"/>
                  </a:ext>
                </a:extLst>
              </a:tr>
              <a:tr h="1123567">
                <a:tc>
                  <a:txBody>
                    <a:bodyPr/>
                    <a:lstStyle/>
                    <a:p>
                      <a:pPr algn="l" fontAlgn="ctr"/>
                      <a:r>
                        <a:rPr lang="en-US" sz="2000" u="none" strike="noStrike" dirty="0">
                          <a:effectLst/>
                          <a:latin typeface="+mj-lt"/>
                        </a:rPr>
                        <a:t>Deployment Diagram</a:t>
                      </a:r>
                      <a:endParaRPr lang="en-US" sz="2000" b="0" i="0" u="none" strike="noStrike" dirty="0">
                        <a:solidFill>
                          <a:srgbClr val="000000"/>
                        </a:solidFill>
                        <a:effectLst/>
                        <a:latin typeface="+mj-lt"/>
                      </a:endParaRPr>
                    </a:p>
                  </a:txBody>
                  <a:tcPr marL="9525" marR="9525" marT="9525" marB="0" anchor="ctr"/>
                </a:tc>
                <a:tc>
                  <a:txBody>
                    <a:bodyPr/>
                    <a:lstStyle/>
                    <a:p>
                      <a:pPr algn="l" fontAlgn="ctr"/>
                      <a:r>
                        <a:rPr lang="en-US" sz="2000" u="none" strike="noStrike">
                          <a:effectLst/>
                          <a:latin typeface="+mj-lt"/>
                        </a:rPr>
                        <a:t>Shows the physical deployment of software artifacts.</a:t>
                      </a:r>
                      <a:endParaRPr lang="en-US" sz="2000" b="0" i="0" u="none" strike="noStrike">
                        <a:solidFill>
                          <a:srgbClr val="000000"/>
                        </a:solidFill>
                        <a:effectLst/>
                        <a:latin typeface="+mj-lt"/>
                      </a:endParaRPr>
                    </a:p>
                  </a:txBody>
                  <a:tcPr marL="9525" marR="9525" marT="9525" marB="0" anchor="ctr"/>
                </a:tc>
                <a:tc>
                  <a:txBody>
                    <a:bodyPr/>
                    <a:lstStyle/>
                    <a:p>
                      <a:pPr algn="l" fontAlgn="ctr"/>
                      <a:r>
                        <a:rPr lang="en-US" sz="2000" u="none" strike="noStrike" dirty="0">
                          <a:effectLst/>
                          <a:latin typeface="+mj-lt"/>
                        </a:rPr>
                        <a:t>State Machine Diagram</a:t>
                      </a:r>
                      <a:endParaRPr lang="en-US" sz="2000" b="0" i="0" u="none" strike="noStrike" dirty="0">
                        <a:solidFill>
                          <a:srgbClr val="000000"/>
                        </a:solidFill>
                        <a:effectLst/>
                        <a:latin typeface="+mj-lt"/>
                      </a:endParaRPr>
                    </a:p>
                  </a:txBody>
                  <a:tcPr marL="9525" marR="9525" marT="9525" marB="0" anchor="ctr"/>
                </a:tc>
                <a:tc>
                  <a:txBody>
                    <a:bodyPr/>
                    <a:lstStyle/>
                    <a:p>
                      <a:pPr algn="l" fontAlgn="ctr"/>
                      <a:r>
                        <a:rPr lang="en-US" sz="2000" u="none" strike="noStrike" dirty="0">
                          <a:effectLst/>
                          <a:latin typeface="+mj-lt"/>
                        </a:rPr>
                        <a:t>Represents object states and transitions.</a:t>
                      </a:r>
                      <a:endParaRPr lang="en-US" sz="20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1026124260"/>
                  </a:ext>
                </a:extLst>
              </a:tr>
              <a:tr h="648212">
                <a:tc>
                  <a:txBody>
                    <a:bodyPr/>
                    <a:lstStyle/>
                    <a:p>
                      <a:pPr algn="l" fontAlgn="ctr"/>
                      <a:r>
                        <a:rPr lang="en-US" sz="2000" u="none" strike="noStrike" dirty="0">
                          <a:effectLst/>
                          <a:latin typeface="+mj-lt"/>
                        </a:rPr>
                        <a:t>Package Diagram</a:t>
                      </a:r>
                      <a:endParaRPr lang="en-US" sz="2000" b="0" i="0" u="none" strike="noStrike" dirty="0">
                        <a:solidFill>
                          <a:srgbClr val="000000"/>
                        </a:solidFill>
                        <a:effectLst/>
                        <a:latin typeface="+mj-lt"/>
                      </a:endParaRPr>
                    </a:p>
                  </a:txBody>
                  <a:tcPr marL="9525" marR="9525" marT="9525" marB="0" anchor="ctr"/>
                </a:tc>
                <a:tc>
                  <a:txBody>
                    <a:bodyPr/>
                    <a:lstStyle/>
                    <a:p>
                      <a:pPr algn="l" fontAlgn="ctr"/>
                      <a:r>
                        <a:rPr lang="en-US" sz="2000" u="none" strike="noStrike">
                          <a:effectLst/>
                          <a:latin typeface="+mj-lt"/>
                        </a:rPr>
                        <a:t>Groups classes or components into packages.</a:t>
                      </a:r>
                      <a:endParaRPr lang="en-US" sz="2000" b="0" i="0" u="none" strike="noStrike">
                        <a:solidFill>
                          <a:srgbClr val="000000"/>
                        </a:solidFill>
                        <a:effectLst/>
                        <a:latin typeface="+mj-lt"/>
                      </a:endParaRPr>
                    </a:p>
                  </a:txBody>
                  <a:tcPr marL="9525" marR="9525" marT="9525" marB="0" anchor="ctr"/>
                </a:tc>
                <a:tc>
                  <a:txBody>
                    <a:bodyPr/>
                    <a:lstStyle/>
                    <a:p>
                      <a:pPr algn="l" fontAlgn="ctr"/>
                      <a:r>
                        <a:rPr lang="en-US" sz="2000" u="none" strike="noStrike" dirty="0">
                          <a:effectLst/>
                          <a:latin typeface="+mj-lt"/>
                        </a:rPr>
                        <a:t>Communication Diagram</a:t>
                      </a:r>
                      <a:endParaRPr lang="en-US" sz="2000" b="0" i="0" u="none" strike="noStrike" dirty="0">
                        <a:solidFill>
                          <a:srgbClr val="000000"/>
                        </a:solidFill>
                        <a:effectLst/>
                        <a:latin typeface="+mj-lt"/>
                      </a:endParaRPr>
                    </a:p>
                  </a:txBody>
                  <a:tcPr marL="9525" marR="9525" marT="9525" marB="0" anchor="ctr"/>
                </a:tc>
                <a:tc>
                  <a:txBody>
                    <a:bodyPr/>
                    <a:lstStyle/>
                    <a:p>
                      <a:pPr algn="l" fontAlgn="ctr"/>
                      <a:r>
                        <a:rPr lang="en-US" sz="2000" u="none" strike="noStrike" dirty="0">
                          <a:effectLst/>
                          <a:latin typeface="+mj-lt"/>
                        </a:rPr>
                        <a:t>Emphasizes relationships between objects and message flow.</a:t>
                      </a:r>
                      <a:endParaRPr lang="en-US" sz="20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425481185"/>
                  </a:ext>
                </a:extLst>
              </a:tr>
              <a:tr h="1123567">
                <a:tc>
                  <a:txBody>
                    <a:bodyPr/>
                    <a:lstStyle/>
                    <a:p>
                      <a:pPr algn="l" fontAlgn="ctr"/>
                      <a:r>
                        <a:rPr lang="en-US" sz="2000" u="none" strike="noStrike" dirty="0">
                          <a:effectLst/>
                          <a:latin typeface="+mj-lt"/>
                        </a:rPr>
                        <a:t>Profile Diagram</a:t>
                      </a:r>
                      <a:endParaRPr lang="en-US" sz="2000" b="0" i="0" u="none" strike="noStrike" dirty="0">
                        <a:solidFill>
                          <a:srgbClr val="000000"/>
                        </a:solidFill>
                        <a:effectLst/>
                        <a:latin typeface="+mj-lt"/>
                      </a:endParaRPr>
                    </a:p>
                  </a:txBody>
                  <a:tcPr marL="9525" marR="9525" marT="9525" marB="0" anchor="ctr"/>
                </a:tc>
                <a:tc>
                  <a:txBody>
                    <a:bodyPr/>
                    <a:lstStyle/>
                    <a:p>
                      <a:pPr algn="l" fontAlgn="ctr"/>
                      <a:r>
                        <a:rPr lang="en-US" sz="2000" u="none" strike="noStrike">
                          <a:effectLst/>
                          <a:latin typeface="+mj-lt"/>
                        </a:rPr>
                        <a:t>Extends UML for domain-specific purposes.</a:t>
                      </a:r>
                      <a:endParaRPr lang="en-US" sz="2000" b="0" i="0" u="none" strike="noStrike">
                        <a:solidFill>
                          <a:srgbClr val="000000"/>
                        </a:solidFill>
                        <a:effectLst/>
                        <a:latin typeface="+mj-lt"/>
                      </a:endParaRPr>
                    </a:p>
                  </a:txBody>
                  <a:tcPr marL="9525" marR="9525" marT="9525" marB="0" anchor="ctr"/>
                </a:tc>
                <a:tc>
                  <a:txBody>
                    <a:bodyPr/>
                    <a:lstStyle/>
                    <a:p>
                      <a:pPr algn="l" fontAlgn="ctr"/>
                      <a:endParaRPr lang="en-US" sz="2000" b="0" i="0" u="none" strike="noStrike" dirty="0">
                        <a:solidFill>
                          <a:srgbClr val="000000"/>
                        </a:solidFill>
                        <a:effectLst/>
                        <a:latin typeface="+mj-lt"/>
                      </a:endParaRPr>
                    </a:p>
                  </a:txBody>
                  <a:tcPr marL="9525" marR="9525" marT="9525" marB="0" anchor="ctr"/>
                </a:tc>
                <a:tc>
                  <a:txBody>
                    <a:bodyPr/>
                    <a:lstStyle/>
                    <a:p>
                      <a:pPr algn="l" fontAlgn="ctr"/>
                      <a:endParaRPr lang="en-US" sz="20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806349363"/>
                  </a:ext>
                </a:extLst>
              </a:tr>
            </a:tbl>
          </a:graphicData>
        </a:graphic>
      </p:graphicFrame>
      <p:sp>
        <p:nvSpPr>
          <p:cNvPr id="3" name="Slide Number Placeholder 2">
            <a:extLst>
              <a:ext uri="{FF2B5EF4-FFF2-40B4-BE49-F238E27FC236}">
                <a16:creationId xmlns:a16="http://schemas.microsoft.com/office/drawing/2014/main" id="{E2B551D1-4C39-4A02-847E-FD6E0E5599B8}"/>
              </a:ext>
            </a:extLst>
          </p:cNvPr>
          <p:cNvSpPr>
            <a:spLocks noGrp="1"/>
          </p:cNvSpPr>
          <p:nvPr>
            <p:ph type="sldNum" sz="quarter" idx="4"/>
          </p:nvPr>
        </p:nvSpPr>
        <p:spPr/>
        <p:txBody>
          <a:bodyPr/>
          <a:lstStyle/>
          <a:p>
            <a:fld id="{31D26D55-0A22-487A-A687-61FB58A6F16A}" type="slidenum">
              <a:rPr lang="en-US" smtClean="0"/>
              <a:pPr/>
              <a:t>5</a:t>
            </a:fld>
            <a:endParaRPr lang="en-US" dirty="0"/>
          </a:p>
        </p:txBody>
      </p:sp>
      <p:sp>
        <p:nvSpPr>
          <p:cNvPr id="4" name="Title 3">
            <a:extLst>
              <a:ext uri="{FF2B5EF4-FFF2-40B4-BE49-F238E27FC236}">
                <a16:creationId xmlns:a16="http://schemas.microsoft.com/office/drawing/2014/main" id="{2F3BA280-3C59-4F7E-96AC-B9ABAA7FCA8E}"/>
              </a:ext>
            </a:extLst>
          </p:cNvPr>
          <p:cNvSpPr>
            <a:spLocks noGrp="1"/>
          </p:cNvSpPr>
          <p:nvPr>
            <p:ph type="title"/>
          </p:nvPr>
        </p:nvSpPr>
        <p:spPr/>
        <p:txBody>
          <a:bodyPr/>
          <a:lstStyle/>
          <a:p>
            <a:r>
              <a:rPr lang="en-US" dirty="0"/>
              <a:t>UML Types</a:t>
            </a:r>
          </a:p>
        </p:txBody>
      </p:sp>
    </p:spTree>
    <p:extLst>
      <p:ext uri="{BB962C8B-B14F-4D97-AF65-F5344CB8AC3E}">
        <p14:creationId xmlns:p14="http://schemas.microsoft.com/office/powerpoint/2010/main" val="1782691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E2872116-A0F0-4D14-B4B4-B588687C1D60}"/>
              </a:ext>
            </a:extLst>
          </p:cNvPr>
          <p:cNvGraphicFramePr>
            <a:graphicFrameLocks noGrp="1"/>
          </p:cNvGraphicFramePr>
          <p:nvPr>
            <p:ph idx="1"/>
            <p:extLst>
              <p:ext uri="{D42A27DB-BD31-4B8C-83A1-F6EECF244321}">
                <p14:modId xmlns:p14="http://schemas.microsoft.com/office/powerpoint/2010/main" val="379439937"/>
              </p:ext>
            </p:extLst>
          </p:nvPr>
        </p:nvGraphicFramePr>
        <p:xfrm>
          <a:off x="747713" y="794294"/>
          <a:ext cx="13360173" cy="6959600"/>
        </p:xfrm>
        <a:graphic>
          <a:graphicData uri="http://schemas.openxmlformats.org/drawingml/2006/table">
            <a:tbl>
              <a:tblPr firstRow="1" bandRow="1">
                <a:tableStyleId>{5C22544A-7EE6-4342-B048-85BDC9FD1C3A}</a:tableStyleId>
              </a:tblPr>
              <a:tblGrid>
                <a:gridCol w="1708104">
                  <a:extLst>
                    <a:ext uri="{9D8B030D-6E8A-4147-A177-3AD203B41FA5}">
                      <a16:colId xmlns:a16="http://schemas.microsoft.com/office/drawing/2014/main" val="2852537520"/>
                    </a:ext>
                  </a:extLst>
                </a:gridCol>
                <a:gridCol w="5982789">
                  <a:extLst>
                    <a:ext uri="{9D8B030D-6E8A-4147-A177-3AD203B41FA5}">
                      <a16:colId xmlns:a16="http://schemas.microsoft.com/office/drawing/2014/main" val="1165896699"/>
                    </a:ext>
                  </a:extLst>
                </a:gridCol>
                <a:gridCol w="5669280">
                  <a:extLst>
                    <a:ext uri="{9D8B030D-6E8A-4147-A177-3AD203B41FA5}">
                      <a16:colId xmlns:a16="http://schemas.microsoft.com/office/drawing/2014/main" val="373328672"/>
                    </a:ext>
                  </a:extLst>
                </a:gridCol>
              </a:tblGrid>
              <a:tr h="370840">
                <a:tc>
                  <a:txBody>
                    <a:bodyPr/>
                    <a:lstStyle/>
                    <a:p>
                      <a:endParaRPr lang="en-US" sz="1800" dirty="0"/>
                    </a:p>
                  </a:txBody>
                  <a:tcPr anchor="ctr"/>
                </a:tc>
                <a:tc>
                  <a:txBody>
                    <a:bodyPr/>
                    <a:lstStyle/>
                    <a:p>
                      <a:r>
                        <a:rPr lang="en-US" sz="1800" b="1" dirty="0"/>
                        <a:t>Class Diagram</a:t>
                      </a:r>
                      <a:endParaRPr lang="en-US" sz="1800" dirty="0"/>
                    </a:p>
                  </a:txBody>
                  <a:tcPr anchor="ctr"/>
                </a:tc>
                <a:tc>
                  <a:txBody>
                    <a:bodyPr/>
                    <a:lstStyle/>
                    <a:p>
                      <a:r>
                        <a:rPr lang="en-US" sz="1800" b="1" dirty="0"/>
                        <a:t>Object Diagram</a:t>
                      </a:r>
                      <a:endParaRPr lang="en-US" sz="1800" dirty="0"/>
                    </a:p>
                  </a:txBody>
                  <a:tcPr anchor="ctr"/>
                </a:tc>
                <a:extLst>
                  <a:ext uri="{0D108BD9-81ED-4DB2-BD59-A6C34878D82A}">
                    <a16:rowId xmlns:a16="http://schemas.microsoft.com/office/drawing/2014/main" val="1932224713"/>
                  </a:ext>
                </a:extLst>
              </a:tr>
              <a:tr h="370840">
                <a:tc>
                  <a:txBody>
                    <a:bodyPr/>
                    <a:lstStyle/>
                    <a:p>
                      <a:r>
                        <a:rPr lang="en-US" sz="1800" b="1" dirty="0"/>
                        <a:t>Definition</a:t>
                      </a:r>
                      <a:endParaRPr lang="en-US" sz="1800" dirty="0"/>
                    </a:p>
                  </a:txBody>
                  <a:tcPr anchor="ctr"/>
                </a:tc>
                <a:tc>
                  <a:txBody>
                    <a:bodyPr/>
                    <a:lstStyle/>
                    <a:p>
                      <a:r>
                        <a:rPr lang="en-US" sz="1800" dirty="0"/>
                        <a:t>A structural diagram that represents the </a:t>
                      </a:r>
                      <a:r>
                        <a:rPr lang="en-US" sz="1800" b="1" dirty="0"/>
                        <a:t>blueprint</a:t>
                      </a:r>
                      <a:r>
                        <a:rPr lang="en-US" sz="1800" dirty="0"/>
                        <a:t> of a system, showing classes, attributes, methods, and relationships.</a:t>
                      </a:r>
                    </a:p>
                  </a:txBody>
                  <a:tcPr anchor="ctr"/>
                </a:tc>
                <a:tc>
                  <a:txBody>
                    <a:bodyPr/>
                    <a:lstStyle/>
                    <a:p>
                      <a:r>
                        <a:rPr lang="en-US" sz="1800" dirty="0"/>
                        <a:t>A snapshot of the system at a particular moment, showing specific </a:t>
                      </a:r>
                      <a:r>
                        <a:rPr lang="en-US" sz="1800" b="1" dirty="0"/>
                        <a:t>instances</a:t>
                      </a:r>
                      <a:r>
                        <a:rPr lang="en-US" sz="1800" dirty="0"/>
                        <a:t> (objects) and their states.</a:t>
                      </a:r>
                    </a:p>
                  </a:txBody>
                  <a:tcPr anchor="ctr"/>
                </a:tc>
                <a:extLst>
                  <a:ext uri="{0D108BD9-81ED-4DB2-BD59-A6C34878D82A}">
                    <a16:rowId xmlns:a16="http://schemas.microsoft.com/office/drawing/2014/main" val="2629886795"/>
                  </a:ext>
                </a:extLst>
              </a:tr>
              <a:tr h="370840">
                <a:tc>
                  <a:txBody>
                    <a:bodyPr/>
                    <a:lstStyle/>
                    <a:p>
                      <a:r>
                        <a:rPr lang="en-US" sz="1800" b="1" dirty="0"/>
                        <a:t>Purpose</a:t>
                      </a:r>
                      <a:endParaRPr lang="en-US" sz="1800" dirty="0"/>
                    </a:p>
                  </a:txBody>
                  <a:tcPr anchor="ctr"/>
                </a:tc>
                <a:tc>
                  <a:txBody>
                    <a:bodyPr/>
                    <a:lstStyle/>
                    <a:p>
                      <a:r>
                        <a:rPr lang="en-US" sz="1800" dirty="0"/>
                        <a:t>- To define the structure of a system. </a:t>
                      </a:r>
                      <a:br>
                        <a:rPr lang="en-US" sz="1800" dirty="0"/>
                      </a:br>
                      <a:r>
                        <a:rPr lang="en-US" sz="1800" dirty="0"/>
                        <a:t>- To describe classes, relationships, and their hierarchies.</a:t>
                      </a:r>
                    </a:p>
                  </a:txBody>
                  <a:tcPr anchor="ctr"/>
                </a:tc>
                <a:tc>
                  <a:txBody>
                    <a:bodyPr/>
                    <a:lstStyle/>
                    <a:p>
                      <a:r>
                        <a:rPr lang="en-US" sz="1800"/>
                        <a:t>- To depict the real-time state of the system. </a:t>
                      </a:r>
                      <a:br>
                        <a:rPr lang="en-US" sz="1800"/>
                      </a:br>
                      <a:r>
                        <a:rPr lang="en-US" sz="1800"/>
                        <a:t>- To show objects and their relationships at a specific point in execution.</a:t>
                      </a:r>
                    </a:p>
                  </a:txBody>
                  <a:tcPr anchor="ctr"/>
                </a:tc>
                <a:extLst>
                  <a:ext uri="{0D108BD9-81ED-4DB2-BD59-A6C34878D82A}">
                    <a16:rowId xmlns:a16="http://schemas.microsoft.com/office/drawing/2014/main" val="3414623811"/>
                  </a:ext>
                </a:extLst>
              </a:tr>
              <a:tr h="370840">
                <a:tc>
                  <a:txBody>
                    <a:bodyPr/>
                    <a:lstStyle/>
                    <a:p>
                      <a:r>
                        <a:rPr lang="en-US" sz="1800" b="1"/>
                        <a:t>Focus</a:t>
                      </a:r>
                      <a:endParaRPr lang="en-US" sz="1800"/>
                    </a:p>
                  </a:txBody>
                  <a:tcPr anchor="ctr"/>
                </a:tc>
                <a:tc>
                  <a:txBody>
                    <a:bodyPr/>
                    <a:lstStyle/>
                    <a:p>
                      <a:r>
                        <a:rPr lang="en-US" sz="1800"/>
                        <a:t>Abstract representation of the system’s components.</a:t>
                      </a:r>
                    </a:p>
                  </a:txBody>
                  <a:tcPr anchor="ctr"/>
                </a:tc>
                <a:tc>
                  <a:txBody>
                    <a:bodyPr/>
                    <a:lstStyle/>
                    <a:p>
                      <a:r>
                        <a:rPr lang="en-US" sz="1800" dirty="0"/>
                        <a:t>Concrete representation with real data values.</a:t>
                      </a:r>
                    </a:p>
                  </a:txBody>
                  <a:tcPr anchor="ctr"/>
                </a:tc>
                <a:extLst>
                  <a:ext uri="{0D108BD9-81ED-4DB2-BD59-A6C34878D82A}">
                    <a16:rowId xmlns:a16="http://schemas.microsoft.com/office/drawing/2014/main" val="3448578762"/>
                  </a:ext>
                </a:extLst>
              </a:tr>
              <a:tr h="370840">
                <a:tc>
                  <a:txBody>
                    <a:bodyPr/>
                    <a:lstStyle/>
                    <a:p>
                      <a:r>
                        <a:rPr lang="en-US" sz="1800" b="1"/>
                        <a:t>Elements</a:t>
                      </a:r>
                      <a:endParaRPr lang="en-US" sz="1800"/>
                    </a:p>
                  </a:txBody>
                  <a:tcPr anchor="ctr"/>
                </a:tc>
                <a:tc>
                  <a:txBody>
                    <a:bodyPr/>
                    <a:lstStyle/>
                    <a:p>
                      <a:r>
                        <a:rPr lang="en-US" sz="1800" dirty="0"/>
                        <a:t>- Classes </a:t>
                      </a:r>
                      <a:br>
                        <a:rPr lang="en-US" sz="1800" dirty="0"/>
                      </a:br>
                      <a:r>
                        <a:rPr lang="en-US" sz="1800" dirty="0"/>
                        <a:t>- Attributes </a:t>
                      </a:r>
                      <a:br>
                        <a:rPr lang="en-US" sz="1800" dirty="0"/>
                      </a:br>
                      <a:r>
                        <a:rPr lang="en-US" sz="1800" dirty="0"/>
                        <a:t>- Methods </a:t>
                      </a:r>
                      <a:br>
                        <a:rPr lang="en-US" sz="1800" dirty="0"/>
                      </a:br>
                      <a:r>
                        <a:rPr lang="en-US" sz="1800" dirty="0"/>
                        <a:t>- Relationships (associations, generalizations, dependencies, etc.)</a:t>
                      </a:r>
                    </a:p>
                  </a:txBody>
                  <a:tcPr anchor="ctr"/>
                </a:tc>
                <a:tc>
                  <a:txBody>
                    <a:bodyPr/>
                    <a:lstStyle/>
                    <a:p>
                      <a:r>
                        <a:rPr lang="en-US" sz="1800" dirty="0"/>
                        <a:t>- Objects (instances of classes) </a:t>
                      </a:r>
                      <a:br>
                        <a:rPr lang="en-US" sz="1800" dirty="0"/>
                      </a:br>
                      <a:r>
                        <a:rPr lang="en-US" sz="1800" dirty="0"/>
                        <a:t>- Attributes with specific values </a:t>
                      </a:r>
                      <a:br>
                        <a:rPr lang="en-US" sz="1800" dirty="0"/>
                      </a:br>
                      <a:r>
                        <a:rPr lang="en-US" sz="1800" dirty="0"/>
                        <a:t>- Links (relationships between objects)</a:t>
                      </a:r>
                    </a:p>
                  </a:txBody>
                  <a:tcPr anchor="ctr"/>
                </a:tc>
                <a:extLst>
                  <a:ext uri="{0D108BD9-81ED-4DB2-BD59-A6C34878D82A}">
                    <a16:rowId xmlns:a16="http://schemas.microsoft.com/office/drawing/2014/main" val="1256987793"/>
                  </a:ext>
                </a:extLst>
              </a:tr>
              <a:tr h="370840">
                <a:tc>
                  <a:txBody>
                    <a:bodyPr/>
                    <a:lstStyle/>
                    <a:p>
                      <a:r>
                        <a:rPr lang="en-US" sz="1800" b="1"/>
                        <a:t>Static/Dynamic</a:t>
                      </a:r>
                      <a:endParaRPr lang="en-US" sz="1800"/>
                    </a:p>
                  </a:txBody>
                  <a:tcPr anchor="ctr"/>
                </a:tc>
                <a:tc>
                  <a:txBody>
                    <a:bodyPr/>
                    <a:lstStyle/>
                    <a:p>
                      <a:r>
                        <a:rPr lang="en-US" sz="1800" b="1" dirty="0"/>
                        <a:t>Static</a:t>
                      </a:r>
                      <a:r>
                        <a:rPr lang="en-US" sz="1800" dirty="0"/>
                        <a:t>: Represents a system’s structure independent of runtime.</a:t>
                      </a:r>
                    </a:p>
                  </a:txBody>
                  <a:tcPr anchor="ctr"/>
                </a:tc>
                <a:tc>
                  <a:txBody>
                    <a:bodyPr/>
                    <a:lstStyle/>
                    <a:p>
                      <a:r>
                        <a:rPr lang="en-US" sz="1800" b="1"/>
                        <a:t>Dynamic</a:t>
                      </a:r>
                      <a:r>
                        <a:rPr lang="en-US" sz="1800"/>
                        <a:t>: Represents a snapshot of the system’s structure during execution.</a:t>
                      </a:r>
                    </a:p>
                  </a:txBody>
                  <a:tcPr anchor="ctr"/>
                </a:tc>
                <a:extLst>
                  <a:ext uri="{0D108BD9-81ED-4DB2-BD59-A6C34878D82A}">
                    <a16:rowId xmlns:a16="http://schemas.microsoft.com/office/drawing/2014/main" val="2023931066"/>
                  </a:ext>
                </a:extLst>
              </a:tr>
              <a:tr h="370840">
                <a:tc>
                  <a:txBody>
                    <a:bodyPr/>
                    <a:lstStyle/>
                    <a:p>
                      <a:r>
                        <a:rPr lang="en-US" sz="1800" b="1"/>
                        <a:t>When Used</a:t>
                      </a:r>
                      <a:endParaRPr lang="en-US" sz="1800"/>
                    </a:p>
                  </a:txBody>
                  <a:tcPr anchor="ctr"/>
                </a:tc>
                <a:tc>
                  <a:txBody>
                    <a:bodyPr/>
                    <a:lstStyle/>
                    <a:p>
                      <a:r>
                        <a:rPr lang="en-US" sz="1800" dirty="0"/>
                        <a:t>- During </a:t>
                      </a:r>
                      <a:r>
                        <a:rPr lang="en-US" sz="1800" b="1" dirty="0"/>
                        <a:t>design phase</a:t>
                      </a:r>
                      <a:r>
                        <a:rPr lang="en-US" sz="1800" dirty="0"/>
                        <a:t> to model the logical structure of a system.</a:t>
                      </a:r>
                    </a:p>
                  </a:txBody>
                  <a:tcPr anchor="ctr"/>
                </a:tc>
                <a:tc>
                  <a:txBody>
                    <a:bodyPr/>
                    <a:lstStyle/>
                    <a:p>
                      <a:r>
                        <a:rPr lang="en-US" sz="1800"/>
                        <a:t>- During </a:t>
                      </a:r>
                      <a:r>
                        <a:rPr lang="en-US" sz="1800" b="1"/>
                        <a:t>runtime analysis</a:t>
                      </a:r>
                      <a:r>
                        <a:rPr lang="en-US" sz="1800"/>
                        <a:t> or to understand specific scenarios in the system.</a:t>
                      </a:r>
                    </a:p>
                  </a:txBody>
                  <a:tcPr anchor="ctr"/>
                </a:tc>
                <a:extLst>
                  <a:ext uri="{0D108BD9-81ED-4DB2-BD59-A6C34878D82A}">
                    <a16:rowId xmlns:a16="http://schemas.microsoft.com/office/drawing/2014/main" val="4153986224"/>
                  </a:ext>
                </a:extLst>
              </a:tr>
              <a:tr h="370840">
                <a:tc>
                  <a:txBody>
                    <a:bodyPr/>
                    <a:lstStyle/>
                    <a:p>
                      <a:r>
                        <a:rPr lang="en-US" sz="1800" b="1"/>
                        <a:t>Relationships</a:t>
                      </a:r>
                      <a:endParaRPr lang="en-US" sz="1800"/>
                    </a:p>
                  </a:txBody>
                  <a:tcPr anchor="ctr"/>
                </a:tc>
                <a:tc>
                  <a:txBody>
                    <a:bodyPr/>
                    <a:lstStyle/>
                    <a:p>
                      <a:r>
                        <a:rPr lang="en-US" sz="1800"/>
                        <a:t>Shows </a:t>
                      </a:r>
                      <a:r>
                        <a:rPr lang="en-US" sz="1800" b="1"/>
                        <a:t>relationships</a:t>
                      </a:r>
                      <a:r>
                        <a:rPr lang="en-US" sz="1800"/>
                        <a:t> like inheritance, composition, aggregation, and association between classes.</a:t>
                      </a:r>
                    </a:p>
                  </a:txBody>
                  <a:tcPr anchor="ctr"/>
                </a:tc>
                <a:tc>
                  <a:txBody>
                    <a:bodyPr/>
                    <a:lstStyle/>
                    <a:p>
                      <a:r>
                        <a:rPr lang="en-US" sz="1800"/>
                        <a:t>Shows </a:t>
                      </a:r>
                      <a:r>
                        <a:rPr lang="en-US" sz="1800" b="1"/>
                        <a:t>links</a:t>
                      </a:r>
                      <a:r>
                        <a:rPr lang="en-US" sz="1800"/>
                        <a:t> between objects that are instances of those relationships.</a:t>
                      </a:r>
                    </a:p>
                  </a:txBody>
                  <a:tcPr anchor="ctr"/>
                </a:tc>
                <a:extLst>
                  <a:ext uri="{0D108BD9-81ED-4DB2-BD59-A6C34878D82A}">
                    <a16:rowId xmlns:a16="http://schemas.microsoft.com/office/drawing/2014/main" val="2661304520"/>
                  </a:ext>
                </a:extLst>
              </a:tr>
              <a:tr h="370840">
                <a:tc>
                  <a:txBody>
                    <a:bodyPr/>
                    <a:lstStyle/>
                    <a:p>
                      <a:r>
                        <a:rPr lang="en-US" sz="1800" b="1"/>
                        <a:t>Example Scenario</a:t>
                      </a:r>
                      <a:endParaRPr lang="en-US" sz="1800"/>
                    </a:p>
                  </a:txBody>
                  <a:tcPr anchor="ctr"/>
                </a:tc>
                <a:tc>
                  <a:txBody>
                    <a:bodyPr/>
                    <a:lstStyle/>
                    <a:p>
                      <a:r>
                        <a:rPr lang="en-US" sz="1800"/>
                        <a:t>- Define the blueprint of a system (e.g., all possible classes in a library management system).</a:t>
                      </a:r>
                    </a:p>
                  </a:txBody>
                  <a:tcPr anchor="ctr"/>
                </a:tc>
                <a:tc>
                  <a:txBody>
                    <a:bodyPr/>
                    <a:lstStyle/>
                    <a:p>
                      <a:r>
                        <a:rPr lang="en-US" sz="1800" dirty="0"/>
                        <a:t>- Represent the current state of the system (e.g., specific books issued to specific members).</a:t>
                      </a:r>
                    </a:p>
                  </a:txBody>
                  <a:tcPr anchor="ctr"/>
                </a:tc>
                <a:extLst>
                  <a:ext uri="{0D108BD9-81ED-4DB2-BD59-A6C34878D82A}">
                    <a16:rowId xmlns:a16="http://schemas.microsoft.com/office/drawing/2014/main" val="2923281675"/>
                  </a:ext>
                </a:extLst>
              </a:tr>
              <a:tr h="370840">
                <a:tc>
                  <a:txBody>
                    <a:bodyPr/>
                    <a:lstStyle/>
                    <a:p>
                      <a:r>
                        <a:rPr lang="en-US" sz="1800" b="1"/>
                        <a:t>Example Diagram</a:t>
                      </a:r>
                      <a:endParaRPr lang="en-US" sz="1800"/>
                    </a:p>
                  </a:txBody>
                  <a:tcPr anchor="ctr"/>
                </a:tc>
                <a:tc>
                  <a:txBody>
                    <a:bodyPr/>
                    <a:lstStyle/>
                    <a:p>
                      <a:r>
                        <a:rPr lang="en-US" sz="1800" b="1"/>
                        <a:t>Class Diagram</a:t>
                      </a:r>
                      <a:r>
                        <a:rPr lang="en-US" sz="1800"/>
                        <a:t>: Shows Car, Engine, and Wheel as classes with attributes like color, speed.</a:t>
                      </a:r>
                    </a:p>
                  </a:txBody>
                  <a:tcPr anchor="ctr"/>
                </a:tc>
                <a:tc>
                  <a:txBody>
                    <a:bodyPr/>
                    <a:lstStyle/>
                    <a:p>
                      <a:r>
                        <a:rPr lang="en-US" sz="1800" b="1" dirty="0"/>
                        <a:t>Object Diagram</a:t>
                      </a:r>
                      <a:r>
                        <a:rPr lang="en-US" sz="1800" dirty="0"/>
                        <a:t>: Shows a specific Car object with color = red, speed = 120.</a:t>
                      </a:r>
                    </a:p>
                  </a:txBody>
                  <a:tcPr anchor="ctr"/>
                </a:tc>
                <a:extLst>
                  <a:ext uri="{0D108BD9-81ED-4DB2-BD59-A6C34878D82A}">
                    <a16:rowId xmlns:a16="http://schemas.microsoft.com/office/drawing/2014/main" val="3166271104"/>
                  </a:ext>
                </a:extLst>
              </a:tr>
            </a:tbl>
          </a:graphicData>
        </a:graphic>
      </p:graphicFrame>
      <p:sp>
        <p:nvSpPr>
          <p:cNvPr id="3" name="Slide Number Placeholder 2">
            <a:extLst>
              <a:ext uri="{FF2B5EF4-FFF2-40B4-BE49-F238E27FC236}">
                <a16:creationId xmlns:a16="http://schemas.microsoft.com/office/drawing/2014/main" id="{77A463D9-2AA3-4929-9BC1-AEEA93397091}"/>
              </a:ext>
            </a:extLst>
          </p:cNvPr>
          <p:cNvSpPr>
            <a:spLocks noGrp="1"/>
          </p:cNvSpPr>
          <p:nvPr>
            <p:ph type="sldNum" sz="quarter" idx="4"/>
          </p:nvPr>
        </p:nvSpPr>
        <p:spPr/>
        <p:txBody>
          <a:bodyPr/>
          <a:lstStyle/>
          <a:p>
            <a:fld id="{31D26D55-0A22-487A-A687-61FB58A6F16A}" type="slidenum">
              <a:rPr lang="en-US" smtClean="0"/>
              <a:pPr/>
              <a:t>6</a:t>
            </a:fld>
            <a:endParaRPr lang="en-US" dirty="0"/>
          </a:p>
        </p:txBody>
      </p:sp>
      <p:sp>
        <p:nvSpPr>
          <p:cNvPr id="4" name="Title 3">
            <a:extLst>
              <a:ext uri="{FF2B5EF4-FFF2-40B4-BE49-F238E27FC236}">
                <a16:creationId xmlns:a16="http://schemas.microsoft.com/office/drawing/2014/main" id="{3C436ADE-990D-440B-8ACE-DDFAE4BD2D35}"/>
              </a:ext>
            </a:extLst>
          </p:cNvPr>
          <p:cNvSpPr>
            <a:spLocks noGrp="1"/>
          </p:cNvSpPr>
          <p:nvPr>
            <p:ph type="title"/>
          </p:nvPr>
        </p:nvSpPr>
        <p:spPr/>
        <p:txBody>
          <a:bodyPr/>
          <a:lstStyle/>
          <a:p>
            <a:r>
              <a:rPr lang="en-US" dirty="0"/>
              <a:t>Class &amp; Object Diagram</a:t>
            </a:r>
          </a:p>
        </p:txBody>
      </p:sp>
    </p:spTree>
    <p:extLst>
      <p:ext uri="{BB962C8B-B14F-4D97-AF65-F5344CB8AC3E}">
        <p14:creationId xmlns:p14="http://schemas.microsoft.com/office/powerpoint/2010/main" val="261326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3EE57CE-F066-42C6-B385-590967220D63}"/>
              </a:ext>
            </a:extLst>
          </p:cNvPr>
          <p:cNvSpPr>
            <a:spLocks noGrp="1"/>
          </p:cNvSpPr>
          <p:nvPr>
            <p:ph idx="1"/>
          </p:nvPr>
        </p:nvSpPr>
        <p:spPr>
          <a:xfrm>
            <a:off x="747000" y="1791954"/>
            <a:ext cx="6568200" cy="5494778"/>
          </a:xfrm>
        </p:spPr>
        <p:txBody>
          <a:bodyPr>
            <a:normAutofit fontScale="85000" lnSpcReduction="20000"/>
          </a:bodyPr>
          <a:lstStyle/>
          <a:p>
            <a:pPr>
              <a:lnSpc>
                <a:spcPct val="150000"/>
              </a:lnSpc>
            </a:pPr>
            <a:r>
              <a:rPr lang="en-US" dirty="0"/>
              <a:t>Used to visualize the high-level structure of software components:</a:t>
            </a:r>
          </a:p>
          <a:p>
            <a:pPr lvl="1">
              <a:lnSpc>
                <a:spcPct val="150000"/>
              </a:lnSpc>
            </a:pPr>
            <a:r>
              <a:rPr lang="en-US" dirty="0"/>
              <a:t>Model the physical aspects of a system.</a:t>
            </a:r>
          </a:p>
          <a:p>
            <a:pPr lvl="1">
              <a:lnSpc>
                <a:spcPct val="150000"/>
              </a:lnSpc>
            </a:pPr>
            <a:r>
              <a:rPr lang="en-US" dirty="0"/>
              <a:t>Represent software components, their relationships, and their interfaces.</a:t>
            </a:r>
          </a:p>
          <a:p>
            <a:pPr lvl="1">
              <a:lnSpc>
                <a:spcPct val="150000"/>
              </a:lnSpc>
            </a:pPr>
            <a:r>
              <a:rPr lang="en-US" dirty="0"/>
              <a:t>Analyze the dependencies between components for better system design.</a:t>
            </a:r>
          </a:p>
          <a:p>
            <a:pPr lvl="1">
              <a:lnSpc>
                <a:spcPct val="150000"/>
              </a:lnSpc>
            </a:pPr>
            <a:r>
              <a:rPr lang="en-US" dirty="0"/>
              <a:t>Facilitate component-based development by documenting reusable and modular parts.</a:t>
            </a:r>
          </a:p>
        </p:txBody>
      </p:sp>
      <p:sp>
        <p:nvSpPr>
          <p:cNvPr id="3" name="Slide Number Placeholder 2">
            <a:extLst>
              <a:ext uri="{FF2B5EF4-FFF2-40B4-BE49-F238E27FC236}">
                <a16:creationId xmlns:a16="http://schemas.microsoft.com/office/drawing/2014/main" id="{A13FEB29-E8B5-44C6-8756-211BECAA401C}"/>
              </a:ext>
            </a:extLst>
          </p:cNvPr>
          <p:cNvSpPr>
            <a:spLocks noGrp="1"/>
          </p:cNvSpPr>
          <p:nvPr>
            <p:ph type="sldNum" sz="quarter" idx="4"/>
          </p:nvPr>
        </p:nvSpPr>
        <p:spPr/>
        <p:txBody>
          <a:bodyPr/>
          <a:lstStyle/>
          <a:p>
            <a:fld id="{31D26D55-0A22-487A-A687-61FB58A6F16A}" type="slidenum">
              <a:rPr lang="en-US" smtClean="0"/>
              <a:pPr/>
              <a:t>7</a:t>
            </a:fld>
            <a:endParaRPr lang="en-US" dirty="0"/>
          </a:p>
        </p:txBody>
      </p:sp>
      <p:sp>
        <p:nvSpPr>
          <p:cNvPr id="4" name="Title 3">
            <a:extLst>
              <a:ext uri="{FF2B5EF4-FFF2-40B4-BE49-F238E27FC236}">
                <a16:creationId xmlns:a16="http://schemas.microsoft.com/office/drawing/2014/main" id="{9AE094F1-70F3-4459-AD69-EFDF3505CA9F}"/>
              </a:ext>
            </a:extLst>
          </p:cNvPr>
          <p:cNvSpPr>
            <a:spLocks noGrp="1"/>
          </p:cNvSpPr>
          <p:nvPr>
            <p:ph type="title"/>
          </p:nvPr>
        </p:nvSpPr>
        <p:spPr/>
        <p:txBody>
          <a:bodyPr/>
          <a:lstStyle/>
          <a:p>
            <a:r>
              <a:rPr lang="en-US" dirty="0"/>
              <a:t>Component Diagram</a:t>
            </a:r>
          </a:p>
        </p:txBody>
      </p:sp>
      <p:pic>
        <p:nvPicPr>
          <p:cNvPr id="6150" name="Picture 6">
            <a:extLst>
              <a:ext uri="{FF2B5EF4-FFF2-40B4-BE49-F238E27FC236}">
                <a16:creationId xmlns:a16="http://schemas.microsoft.com/office/drawing/2014/main" id="{9D3BAE42-0A39-4470-ACA2-9AC2F1F81B3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108" t="20850" r="9717"/>
          <a:stretch/>
        </p:blipFill>
        <p:spPr bwMode="auto">
          <a:xfrm>
            <a:off x="7139099" y="2547257"/>
            <a:ext cx="7252491" cy="3984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1277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B3D849-ACD2-4FDE-B89F-6B76D0747E78}"/>
              </a:ext>
            </a:extLst>
          </p:cNvPr>
          <p:cNvSpPr>
            <a:spLocks noGrp="1"/>
          </p:cNvSpPr>
          <p:nvPr>
            <p:ph idx="1"/>
          </p:nvPr>
        </p:nvSpPr>
        <p:spPr>
          <a:xfrm>
            <a:off x="7445828" y="1917577"/>
            <a:ext cx="6467255" cy="5494778"/>
          </a:xfrm>
        </p:spPr>
        <p:txBody>
          <a:bodyPr>
            <a:normAutofit fontScale="77500" lnSpcReduction="20000"/>
          </a:bodyPr>
          <a:lstStyle/>
          <a:p>
            <a:pPr>
              <a:lnSpc>
                <a:spcPct val="150000"/>
              </a:lnSpc>
            </a:pPr>
            <a:r>
              <a:rPr lang="en-US" dirty="0"/>
              <a:t>Illustrates the system’s runtime configuration, including hardware, software, and middleware components:</a:t>
            </a:r>
          </a:p>
          <a:p>
            <a:pPr lvl="1">
              <a:lnSpc>
                <a:spcPct val="150000"/>
              </a:lnSpc>
            </a:pPr>
            <a:r>
              <a:rPr lang="en-US" dirty="0"/>
              <a:t>To visualize the physical architecture of a system</a:t>
            </a:r>
          </a:p>
          <a:p>
            <a:pPr lvl="1">
              <a:lnSpc>
                <a:spcPct val="150000"/>
              </a:lnSpc>
            </a:pPr>
            <a:r>
              <a:rPr lang="en-US" dirty="0"/>
              <a:t>To understand the deployment of software artifacts on hardware components.</a:t>
            </a:r>
          </a:p>
          <a:p>
            <a:pPr lvl="1">
              <a:lnSpc>
                <a:spcPct val="150000"/>
              </a:lnSpc>
            </a:pPr>
            <a:r>
              <a:rPr lang="en-US" dirty="0"/>
              <a:t>To model the runtime environment of distributed systems, cloud systems, or multi-tier applications.</a:t>
            </a:r>
          </a:p>
        </p:txBody>
      </p:sp>
      <p:sp>
        <p:nvSpPr>
          <p:cNvPr id="3" name="Slide Number Placeholder 2">
            <a:extLst>
              <a:ext uri="{FF2B5EF4-FFF2-40B4-BE49-F238E27FC236}">
                <a16:creationId xmlns:a16="http://schemas.microsoft.com/office/drawing/2014/main" id="{A6784EB1-7840-49EC-8C8A-76F0989E6577}"/>
              </a:ext>
            </a:extLst>
          </p:cNvPr>
          <p:cNvSpPr>
            <a:spLocks noGrp="1"/>
          </p:cNvSpPr>
          <p:nvPr>
            <p:ph type="sldNum" sz="quarter" idx="4"/>
          </p:nvPr>
        </p:nvSpPr>
        <p:spPr/>
        <p:txBody>
          <a:bodyPr/>
          <a:lstStyle/>
          <a:p>
            <a:fld id="{31D26D55-0A22-487A-A687-61FB58A6F16A}" type="slidenum">
              <a:rPr lang="en-US" smtClean="0"/>
              <a:pPr/>
              <a:t>8</a:t>
            </a:fld>
            <a:endParaRPr lang="en-US" dirty="0"/>
          </a:p>
        </p:txBody>
      </p:sp>
      <p:sp>
        <p:nvSpPr>
          <p:cNvPr id="4" name="Title 3">
            <a:extLst>
              <a:ext uri="{FF2B5EF4-FFF2-40B4-BE49-F238E27FC236}">
                <a16:creationId xmlns:a16="http://schemas.microsoft.com/office/drawing/2014/main" id="{0AA1F06E-F7A2-4673-9B76-36891FED788C}"/>
              </a:ext>
            </a:extLst>
          </p:cNvPr>
          <p:cNvSpPr>
            <a:spLocks noGrp="1"/>
          </p:cNvSpPr>
          <p:nvPr>
            <p:ph type="title"/>
          </p:nvPr>
        </p:nvSpPr>
        <p:spPr/>
        <p:txBody>
          <a:bodyPr/>
          <a:lstStyle/>
          <a:p>
            <a:r>
              <a:rPr lang="en-US" dirty="0"/>
              <a:t>Deploy Diagram</a:t>
            </a:r>
          </a:p>
        </p:txBody>
      </p:sp>
      <p:pic>
        <p:nvPicPr>
          <p:cNvPr id="7170" name="Picture 2">
            <a:extLst>
              <a:ext uri="{FF2B5EF4-FFF2-40B4-BE49-F238E27FC236}">
                <a16:creationId xmlns:a16="http://schemas.microsoft.com/office/drawing/2014/main" id="{2A5062C5-2599-4563-818B-88BDB9E7FE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610" y="1528763"/>
            <a:ext cx="7429500" cy="5172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7850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F61822-C0DA-4B28-AB1A-A5EB2557D25F}"/>
              </a:ext>
            </a:extLst>
          </p:cNvPr>
          <p:cNvSpPr>
            <a:spLocks noGrp="1"/>
          </p:cNvSpPr>
          <p:nvPr>
            <p:ph idx="1"/>
          </p:nvPr>
        </p:nvSpPr>
        <p:spPr>
          <a:xfrm>
            <a:off x="747000" y="1917577"/>
            <a:ext cx="6764143" cy="5494778"/>
          </a:xfrm>
        </p:spPr>
        <p:txBody>
          <a:bodyPr/>
          <a:lstStyle/>
          <a:p>
            <a:r>
              <a:rPr lang="en-US" dirty="0"/>
              <a:t>Illustrates the organization and dependencies between different packages in a system:</a:t>
            </a:r>
          </a:p>
          <a:p>
            <a:pPr lvl="1"/>
            <a:r>
              <a:rPr lang="en-US" dirty="0"/>
              <a:t>Organize and structure the system’s components logically.</a:t>
            </a:r>
          </a:p>
          <a:p>
            <a:pPr lvl="1"/>
            <a:r>
              <a:rPr lang="en-US" dirty="0"/>
              <a:t>Manage large systems by grouping related elements.</a:t>
            </a:r>
          </a:p>
          <a:p>
            <a:pPr lvl="1"/>
            <a:r>
              <a:rPr lang="en-US" dirty="0"/>
              <a:t>Visualize dependencies and reduce coupling between components.</a:t>
            </a:r>
          </a:p>
          <a:p>
            <a:pPr lvl="1"/>
            <a:r>
              <a:rPr lang="en-US" dirty="0"/>
              <a:t>Represent namespace hierarchies.</a:t>
            </a:r>
          </a:p>
        </p:txBody>
      </p:sp>
      <p:sp>
        <p:nvSpPr>
          <p:cNvPr id="3" name="Slide Number Placeholder 2">
            <a:extLst>
              <a:ext uri="{FF2B5EF4-FFF2-40B4-BE49-F238E27FC236}">
                <a16:creationId xmlns:a16="http://schemas.microsoft.com/office/drawing/2014/main" id="{7AA96258-EF36-4865-ADBB-046DE511537C}"/>
              </a:ext>
            </a:extLst>
          </p:cNvPr>
          <p:cNvSpPr>
            <a:spLocks noGrp="1"/>
          </p:cNvSpPr>
          <p:nvPr>
            <p:ph type="sldNum" sz="quarter" idx="4"/>
          </p:nvPr>
        </p:nvSpPr>
        <p:spPr/>
        <p:txBody>
          <a:bodyPr/>
          <a:lstStyle/>
          <a:p>
            <a:fld id="{31D26D55-0A22-487A-A687-61FB58A6F16A}" type="slidenum">
              <a:rPr lang="en-US" smtClean="0"/>
              <a:pPr/>
              <a:t>9</a:t>
            </a:fld>
            <a:endParaRPr lang="en-US" dirty="0"/>
          </a:p>
        </p:txBody>
      </p:sp>
      <p:sp>
        <p:nvSpPr>
          <p:cNvPr id="4" name="Title 3">
            <a:extLst>
              <a:ext uri="{FF2B5EF4-FFF2-40B4-BE49-F238E27FC236}">
                <a16:creationId xmlns:a16="http://schemas.microsoft.com/office/drawing/2014/main" id="{D834DDB0-75FE-4D87-8F50-5735F15B5E8A}"/>
              </a:ext>
            </a:extLst>
          </p:cNvPr>
          <p:cNvSpPr>
            <a:spLocks noGrp="1"/>
          </p:cNvSpPr>
          <p:nvPr>
            <p:ph type="title"/>
          </p:nvPr>
        </p:nvSpPr>
        <p:spPr/>
        <p:txBody>
          <a:bodyPr/>
          <a:lstStyle/>
          <a:p>
            <a:r>
              <a:rPr lang="en-US" dirty="0"/>
              <a:t>Package Diagram</a:t>
            </a:r>
          </a:p>
        </p:txBody>
      </p:sp>
      <p:pic>
        <p:nvPicPr>
          <p:cNvPr id="8194" name="Picture 2">
            <a:extLst>
              <a:ext uri="{FF2B5EF4-FFF2-40B4-BE49-F238E27FC236}">
                <a16:creationId xmlns:a16="http://schemas.microsoft.com/office/drawing/2014/main" id="{C0F5BCFD-7FB2-4D28-B759-D1E40EE27EA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509" b="12786"/>
          <a:stretch/>
        </p:blipFill>
        <p:spPr bwMode="auto">
          <a:xfrm>
            <a:off x="6865736" y="2952205"/>
            <a:ext cx="7764664" cy="2939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6496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4FCB62-AD2E-4E7C-A8D2-6D1ED3492292}"/>
              </a:ext>
            </a:extLst>
          </p:cNvPr>
          <p:cNvSpPr>
            <a:spLocks noGrp="1"/>
          </p:cNvSpPr>
          <p:nvPr>
            <p:ph idx="1"/>
          </p:nvPr>
        </p:nvSpPr>
        <p:spPr>
          <a:xfrm>
            <a:off x="747000" y="1917577"/>
            <a:ext cx="7809171" cy="5494778"/>
          </a:xfrm>
        </p:spPr>
        <p:txBody>
          <a:bodyPr>
            <a:normAutofit fontScale="85000" lnSpcReduction="10000"/>
          </a:bodyPr>
          <a:lstStyle/>
          <a:p>
            <a:pPr>
              <a:lnSpc>
                <a:spcPct val="150000"/>
              </a:lnSpc>
            </a:pPr>
            <a:r>
              <a:rPr lang="en-US" dirty="0"/>
              <a:t>Represents the interactions between users (actors) and a system:</a:t>
            </a:r>
          </a:p>
          <a:p>
            <a:pPr lvl="1">
              <a:lnSpc>
                <a:spcPct val="150000"/>
              </a:lnSpc>
            </a:pPr>
            <a:r>
              <a:rPr lang="en-US" dirty="0"/>
              <a:t>Identify the functionality provided by the system.</a:t>
            </a:r>
          </a:p>
          <a:p>
            <a:pPr lvl="1">
              <a:lnSpc>
                <a:spcPct val="150000"/>
              </a:lnSpc>
            </a:pPr>
            <a:r>
              <a:rPr lang="en-US" dirty="0"/>
              <a:t>Define interactions between actors and the system.</a:t>
            </a:r>
          </a:p>
          <a:p>
            <a:pPr lvl="1">
              <a:lnSpc>
                <a:spcPct val="150000"/>
              </a:lnSpc>
            </a:pPr>
            <a:r>
              <a:rPr lang="en-US" dirty="0"/>
              <a:t>Clarify system requirements and communicate them to stakeholders.</a:t>
            </a:r>
          </a:p>
          <a:p>
            <a:pPr lvl="1">
              <a:lnSpc>
                <a:spcPct val="150000"/>
              </a:lnSpc>
            </a:pPr>
            <a:r>
              <a:rPr lang="en-US" dirty="0"/>
              <a:t>Serve as a foundation for designing and testing the system.</a:t>
            </a:r>
          </a:p>
        </p:txBody>
      </p:sp>
      <p:sp>
        <p:nvSpPr>
          <p:cNvPr id="3" name="Slide Number Placeholder 2">
            <a:extLst>
              <a:ext uri="{FF2B5EF4-FFF2-40B4-BE49-F238E27FC236}">
                <a16:creationId xmlns:a16="http://schemas.microsoft.com/office/drawing/2014/main" id="{5C3E4959-1A21-40CA-90E8-85ED918D4813}"/>
              </a:ext>
            </a:extLst>
          </p:cNvPr>
          <p:cNvSpPr>
            <a:spLocks noGrp="1"/>
          </p:cNvSpPr>
          <p:nvPr>
            <p:ph type="sldNum" sz="quarter" idx="4"/>
          </p:nvPr>
        </p:nvSpPr>
        <p:spPr/>
        <p:txBody>
          <a:bodyPr/>
          <a:lstStyle/>
          <a:p>
            <a:fld id="{31D26D55-0A22-487A-A687-61FB58A6F16A}" type="slidenum">
              <a:rPr lang="en-US" smtClean="0"/>
              <a:pPr/>
              <a:t>10</a:t>
            </a:fld>
            <a:endParaRPr lang="en-US" dirty="0"/>
          </a:p>
        </p:txBody>
      </p:sp>
      <p:sp>
        <p:nvSpPr>
          <p:cNvPr id="4" name="Title 3">
            <a:extLst>
              <a:ext uri="{FF2B5EF4-FFF2-40B4-BE49-F238E27FC236}">
                <a16:creationId xmlns:a16="http://schemas.microsoft.com/office/drawing/2014/main" id="{573F5EC8-9E51-485D-90A1-757D6EB26AD8}"/>
              </a:ext>
            </a:extLst>
          </p:cNvPr>
          <p:cNvSpPr>
            <a:spLocks noGrp="1"/>
          </p:cNvSpPr>
          <p:nvPr>
            <p:ph type="title"/>
          </p:nvPr>
        </p:nvSpPr>
        <p:spPr/>
        <p:txBody>
          <a:bodyPr/>
          <a:lstStyle/>
          <a:p>
            <a:r>
              <a:rPr lang="en-US" dirty="0"/>
              <a:t>Use Case Diagrams</a:t>
            </a:r>
          </a:p>
        </p:txBody>
      </p:sp>
      <p:pic>
        <p:nvPicPr>
          <p:cNvPr id="9218" name="Picture 2">
            <a:extLst>
              <a:ext uri="{FF2B5EF4-FFF2-40B4-BE49-F238E27FC236}">
                <a16:creationId xmlns:a16="http://schemas.microsoft.com/office/drawing/2014/main" id="{909D49D9-12CD-4988-8687-1988B768723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199"/>
          <a:stretch/>
        </p:blipFill>
        <p:spPr bwMode="auto">
          <a:xfrm>
            <a:off x="8294914" y="1769270"/>
            <a:ext cx="6081436" cy="57913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6503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0BF246-890D-4567-8AF7-033B9A079F2E}"/>
              </a:ext>
            </a:extLst>
          </p:cNvPr>
          <p:cNvSpPr>
            <a:spLocks noGrp="1"/>
          </p:cNvSpPr>
          <p:nvPr>
            <p:ph idx="1"/>
          </p:nvPr>
        </p:nvSpPr>
        <p:spPr>
          <a:xfrm>
            <a:off x="6675120" y="1917577"/>
            <a:ext cx="7237963" cy="5494778"/>
          </a:xfrm>
        </p:spPr>
        <p:txBody>
          <a:bodyPr>
            <a:normAutofit/>
          </a:bodyPr>
          <a:lstStyle/>
          <a:p>
            <a:r>
              <a:rPr lang="en-US" dirty="0"/>
              <a:t>Interaction diagram that models how objects interact in a particular scenario of a use case</a:t>
            </a:r>
          </a:p>
          <a:p>
            <a:pPr lvl="1"/>
            <a:r>
              <a:rPr lang="en-US" dirty="0"/>
              <a:t>Model the flow of messages in a specific interaction or scenario.</a:t>
            </a:r>
          </a:p>
          <a:p>
            <a:pPr lvl="1"/>
            <a:r>
              <a:rPr lang="en-US" dirty="0"/>
              <a:t>Document how use case functionalities are realized.</a:t>
            </a:r>
          </a:p>
          <a:p>
            <a:pPr lvl="1"/>
            <a:r>
              <a:rPr lang="en-US" dirty="0"/>
              <a:t>Identify potential design issues, such as tight coupling between components.</a:t>
            </a:r>
          </a:p>
          <a:p>
            <a:pPr lvl="1"/>
            <a:r>
              <a:rPr lang="en-US" dirty="0"/>
              <a:t>Used in system design, debugging, and documentation.</a:t>
            </a:r>
          </a:p>
        </p:txBody>
      </p:sp>
      <p:sp>
        <p:nvSpPr>
          <p:cNvPr id="3" name="Slide Number Placeholder 2">
            <a:extLst>
              <a:ext uri="{FF2B5EF4-FFF2-40B4-BE49-F238E27FC236}">
                <a16:creationId xmlns:a16="http://schemas.microsoft.com/office/drawing/2014/main" id="{DD8A2ED8-1C70-4C6D-AA7D-93EE083C027F}"/>
              </a:ext>
            </a:extLst>
          </p:cNvPr>
          <p:cNvSpPr>
            <a:spLocks noGrp="1"/>
          </p:cNvSpPr>
          <p:nvPr>
            <p:ph type="sldNum" sz="quarter" idx="4"/>
          </p:nvPr>
        </p:nvSpPr>
        <p:spPr/>
        <p:txBody>
          <a:bodyPr/>
          <a:lstStyle/>
          <a:p>
            <a:fld id="{31D26D55-0A22-487A-A687-61FB58A6F16A}" type="slidenum">
              <a:rPr lang="en-US" smtClean="0"/>
              <a:pPr/>
              <a:t>11</a:t>
            </a:fld>
            <a:endParaRPr lang="en-US" dirty="0"/>
          </a:p>
        </p:txBody>
      </p:sp>
      <p:sp>
        <p:nvSpPr>
          <p:cNvPr id="4" name="Title 3">
            <a:extLst>
              <a:ext uri="{FF2B5EF4-FFF2-40B4-BE49-F238E27FC236}">
                <a16:creationId xmlns:a16="http://schemas.microsoft.com/office/drawing/2014/main" id="{C37AB640-D16C-4915-BA84-61031B594234}"/>
              </a:ext>
            </a:extLst>
          </p:cNvPr>
          <p:cNvSpPr>
            <a:spLocks noGrp="1"/>
          </p:cNvSpPr>
          <p:nvPr>
            <p:ph type="title"/>
          </p:nvPr>
        </p:nvSpPr>
        <p:spPr/>
        <p:txBody>
          <a:bodyPr/>
          <a:lstStyle/>
          <a:p>
            <a:r>
              <a:rPr lang="en-US" dirty="0"/>
              <a:t>Sequence Diagram</a:t>
            </a:r>
          </a:p>
        </p:txBody>
      </p:sp>
      <p:pic>
        <p:nvPicPr>
          <p:cNvPr id="10242" name="Picture 2" descr="Sequence Diagrams - Unified Modeling Language (UML) - GeeksforGeeks">
            <a:extLst>
              <a:ext uri="{FF2B5EF4-FFF2-40B4-BE49-F238E27FC236}">
                <a16:creationId xmlns:a16="http://schemas.microsoft.com/office/drawing/2014/main" id="{DF1AB7A3-C3BE-4BB5-9E2A-81406DE526D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804" t="10503" r="13040" b="11326"/>
          <a:stretch/>
        </p:blipFill>
        <p:spPr bwMode="auto">
          <a:xfrm>
            <a:off x="287383" y="2383971"/>
            <a:ext cx="6479177" cy="34616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4943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A096A0-6DAB-455A-B582-123C044B5E9A}"/>
              </a:ext>
            </a:extLst>
          </p:cNvPr>
          <p:cNvSpPr>
            <a:spLocks noGrp="1"/>
          </p:cNvSpPr>
          <p:nvPr>
            <p:ph idx="1"/>
          </p:nvPr>
        </p:nvSpPr>
        <p:spPr>
          <a:xfrm>
            <a:off x="488146" y="1917577"/>
            <a:ext cx="8563273" cy="5494778"/>
          </a:xfrm>
        </p:spPr>
        <p:txBody>
          <a:bodyPr>
            <a:normAutofit fontScale="92500" lnSpcReduction="20000"/>
          </a:bodyPr>
          <a:lstStyle/>
          <a:p>
            <a:pPr>
              <a:lnSpc>
                <a:spcPct val="150000"/>
              </a:lnSpc>
            </a:pPr>
            <a:r>
              <a:rPr lang="en-US" dirty="0"/>
              <a:t>Shows the dynamic aspects of a system, including the sequence and conditions for the flow of control:</a:t>
            </a:r>
          </a:p>
          <a:p>
            <a:pPr lvl="1">
              <a:lnSpc>
                <a:spcPct val="150000"/>
              </a:lnSpc>
            </a:pPr>
            <a:r>
              <a:rPr lang="en-US" dirty="0"/>
              <a:t>Model workflows and business processes.</a:t>
            </a:r>
          </a:p>
          <a:p>
            <a:pPr lvl="1">
              <a:lnSpc>
                <a:spcPct val="150000"/>
              </a:lnSpc>
            </a:pPr>
            <a:r>
              <a:rPr lang="en-US" dirty="0"/>
              <a:t>Describe the logic behind a use case or operation.</a:t>
            </a:r>
          </a:p>
          <a:p>
            <a:pPr lvl="1">
              <a:lnSpc>
                <a:spcPct val="150000"/>
              </a:lnSpc>
            </a:pPr>
            <a:r>
              <a:rPr lang="en-US" dirty="0"/>
              <a:t>Visualize parallel and conditional flows in a process.</a:t>
            </a:r>
          </a:p>
          <a:p>
            <a:pPr lvl="1">
              <a:lnSpc>
                <a:spcPct val="150000"/>
              </a:lnSpc>
            </a:pPr>
            <a:r>
              <a:rPr lang="en-US" dirty="0"/>
              <a:t>Analyze and optimize complex workflows.</a:t>
            </a:r>
          </a:p>
          <a:p>
            <a:pPr>
              <a:lnSpc>
                <a:spcPct val="150000"/>
              </a:lnSpc>
            </a:pPr>
            <a:endParaRPr lang="en-US" dirty="0"/>
          </a:p>
        </p:txBody>
      </p:sp>
      <p:sp>
        <p:nvSpPr>
          <p:cNvPr id="3" name="Slide Number Placeholder 2">
            <a:extLst>
              <a:ext uri="{FF2B5EF4-FFF2-40B4-BE49-F238E27FC236}">
                <a16:creationId xmlns:a16="http://schemas.microsoft.com/office/drawing/2014/main" id="{0768356A-F47B-443A-A59A-0C59561D95B0}"/>
              </a:ext>
            </a:extLst>
          </p:cNvPr>
          <p:cNvSpPr>
            <a:spLocks noGrp="1"/>
          </p:cNvSpPr>
          <p:nvPr>
            <p:ph type="sldNum" sz="quarter" idx="4"/>
          </p:nvPr>
        </p:nvSpPr>
        <p:spPr/>
        <p:txBody>
          <a:bodyPr/>
          <a:lstStyle/>
          <a:p>
            <a:fld id="{31D26D55-0A22-487A-A687-61FB58A6F16A}" type="slidenum">
              <a:rPr lang="en-US" smtClean="0"/>
              <a:pPr/>
              <a:t>12</a:t>
            </a:fld>
            <a:endParaRPr lang="en-US" dirty="0"/>
          </a:p>
        </p:txBody>
      </p:sp>
      <p:sp>
        <p:nvSpPr>
          <p:cNvPr id="4" name="Title 3">
            <a:extLst>
              <a:ext uri="{FF2B5EF4-FFF2-40B4-BE49-F238E27FC236}">
                <a16:creationId xmlns:a16="http://schemas.microsoft.com/office/drawing/2014/main" id="{63200E79-7838-4BE7-82E9-B97E0C417376}"/>
              </a:ext>
            </a:extLst>
          </p:cNvPr>
          <p:cNvSpPr>
            <a:spLocks noGrp="1"/>
          </p:cNvSpPr>
          <p:nvPr>
            <p:ph type="title"/>
          </p:nvPr>
        </p:nvSpPr>
        <p:spPr/>
        <p:txBody>
          <a:bodyPr>
            <a:normAutofit/>
          </a:bodyPr>
          <a:lstStyle/>
          <a:p>
            <a:r>
              <a:rPr lang="en-US" sz="2800" u="none" strike="noStrike" dirty="0">
                <a:effectLst/>
                <a:latin typeface="+mj-lt"/>
              </a:rPr>
              <a:t>Activity Diagram</a:t>
            </a:r>
            <a:endParaRPr lang="en-US" dirty="0"/>
          </a:p>
        </p:txBody>
      </p:sp>
      <p:pic>
        <p:nvPicPr>
          <p:cNvPr id="11266" name="Picture 2" descr="Example of UML-activity diagram | Download Scientific Diagram">
            <a:extLst>
              <a:ext uri="{FF2B5EF4-FFF2-40B4-BE49-F238E27FC236}">
                <a16:creationId xmlns:a16="http://schemas.microsoft.com/office/drawing/2014/main" id="{E0110B0F-F89F-47A2-8948-77EDDB632E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1420" y="2217857"/>
            <a:ext cx="4894217" cy="4894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3464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B8C1E2-FE12-4DC7-9CDF-B5B6C0E07495}"/>
              </a:ext>
            </a:extLst>
          </p:cNvPr>
          <p:cNvSpPr>
            <a:spLocks noGrp="1"/>
          </p:cNvSpPr>
          <p:nvPr>
            <p:ph idx="1"/>
          </p:nvPr>
        </p:nvSpPr>
        <p:spPr>
          <a:xfrm>
            <a:off x="7131059" y="1917577"/>
            <a:ext cx="7260531" cy="5494778"/>
          </a:xfrm>
        </p:spPr>
        <p:txBody>
          <a:bodyPr>
            <a:normAutofit fontScale="85000" lnSpcReduction="10000"/>
          </a:bodyPr>
          <a:lstStyle/>
          <a:p>
            <a:pPr>
              <a:lnSpc>
                <a:spcPct val="150000"/>
              </a:lnSpc>
            </a:pPr>
            <a:r>
              <a:rPr lang="en-US" dirty="0"/>
              <a:t>Models the states an object goes through during its lifetime and the transitions between those states:</a:t>
            </a:r>
          </a:p>
          <a:p>
            <a:pPr lvl="1">
              <a:lnSpc>
                <a:spcPct val="150000"/>
              </a:lnSpc>
            </a:pPr>
            <a:r>
              <a:rPr lang="en-US" dirty="0"/>
              <a:t>Model the behavior of an object over its lifetime.</a:t>
            </a:r>
          </a:p>
          <a:p>
            <a:pPr lvl="1">
              <a:lnSpc>
                <a:spcPct val="150000"/>
              </a:lnSpc>
            </a:pPr>
            <a:r>
              <a:rPr lang="en-US" dirty="0"/>
              <a:t>Capture complex state-dependent logic.</a:t>
            </a:r>
          </a:p>
          <a:p>
            <a:pPr lvl="1">
              <a:lnSpc>
                <a:spcPct val="150000"/>
              </a:lnSpc>
            </a:pPr>
            <a:r>
              <a:rPr lang="en-US" dirty="0"/>
              <a:t>Visualize event-driven or reactive systems.</a:t>
            </a:r>
          </a:p>
          <a:p>
            <a:pPr lvl="1">
              <a:lnSpc>
                <a:spcPct val="150000"/>
              </a:lnSpc>
            </a:pPr>
            <a:r>
              <a:rPr lang="en-US" dirty="0"/>
              <a:t>Design and test stateful components in a system.</a:t>
            </a:r>
          </a:p>
        </p:txBody>
      </p:sp>
      <p:sp>
        <p:nvSpPr>
          <p:cNvPr id="3" name="Slide Number Placeholder 2">
            <a:extLst>
              <a:ext uri="{FF2B5EF4-FFF2-40B4-BE49-F238E27FC236}">
                <a16:creationId xmlns:a16="http://schemas.microsoft.com/office/drawing/2014/main" id="{538427CF-2BFD-4AD7-8905-1AB058D7837F}"/>
              </a:ext>
            </a:extLst>
          </p:cNvPr>
          <p:cNvSpPr>
            <a:spLocks noGrp="1"/>
          </p:cNvSpPr>
          <p:nvPr>
            <p:ph type="sldNum" sz="quarter" idx="4"/>
          </p:nvPr>
        </p:nvSpPr>
        <p:spPr/>
        <p:txBody>
          <a:bodyPr/>
          <a:lstStyle/>
          <a:p>
            <a:fld id="{31D26D55-0A22-487A-A687-61FB58A6F16A}" type="slidenum">
              <a:rPr lang="en-US" smtClean="0"/>
              <a:pPr/>
              <a:t>13</a:t>
            </a:fld>
            <a:endParaRPr lang="en-US" dirty="0"/>
          </a:p>
        </p:txBody>
      </p:sp>
      <p:sp>
        <p:nvSpPr>
          <p:cNvPr id="4" name="Title 3">
            <a:extLst>
              <a:ext uri="{FF2B5EF4-FFF2-40B4-BE49-F238E27FC236}">
                <a16:creationId xmlns:a16="http://schemas.microsoft.com/office/drawing/2014/main" id="{D6165637-59AE-44B5-8E8B-862377BD1C28}"/>
              </a:ext>
            </a:extLst>
          </p:cNvPr>
          <p:cNvSpPr>
            <a:spLocks noGrp="1"/>
          </p:cNvSpPr>
          <p:nvPr>
            <p:ph type="title"/>
          </p:nvPr>
        </p:nvSpPr>
        <p:spPr/>
        <p:txBody>
          <a:bodyPr>
            <a:normAutofit/>
          </a:bodyPr>
          <a:lstStyle/>
          <a:p>
            <a:r>
              <a:rPr lang="en-US" sz="2800" u="none" strike="noStrike" dirty="0">
                <a:effectLst/>
                <a:latin typeface="+mj-lt"/>
              </a:rPr>
              <a:t>State Machine Diagram</a:t>
            </a:r>
            <a:endParaRPr lang="en-US" dirty="0"/>
          </a:p>
        </p:txBody>
      </p:sp>
      <p:pic>
        <p:nvPicPr>
          <p:cNvPr id="12290" name="Picture 2" descr="State Machine Diagrams - Beyond MBSE">
            <a:extLst>
              <a:ext uri="{FF2B5EF4-FFF2-40B4-BE49-F238E27FC236}">
                <a16:creationId xmlns:a16="http://schemas.microsoft.com/office/drawing/2014/main" id="{2091F3B1-8A23-422B-96C8-34BF2D70BC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092" y="1917577"/>
            <a:ext cx="6810373" cy="51511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0807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64A3AF-2CEF-4B67-BDEC-4B0585C3E1F5}"/>
              </a:ext>
            </a:extLst>
          </p:cNvPr>
          <p:cNvSpPr>
            <a:spLocks noGrp="1"/>
          </p:cNvSpPr>
          <p:nvPr>
            <p:ph idx="1"/>
          </p:nvPr>
        </p:nvSpPr>
        <p:spPr>
          <a:xfrm>
            <a:off x="747000" y="1917577"/>
            <a:ext cx="8266371" cy="5494778"/>
          </a:xfrm>
        </p:spPr>
        <p:txBody>
          <a:bodyPr/>
          <a:lstStyle/>
          <a:p>
            <a:pPr>
              <a:lnSpc>
                <a:spcPct val="150000"/>
              </a:lnSpc>
            </a:pPr>
            <a:r>
              <a:rPr lang="en-US" dirty="0"/>
              <a:t>Shows how objects interact in a specific scenario:</a:t>
            </a:r>
          </a:p>
          <a:p>
            <a:pPr lvl="1">
              <a:lnSpc>
                <a:spcPct val="150000"/>
              </a:lnSpc>
            </a:pPr>
            <a:r>
              <a:rPr lang="en-US" dirty="0"/>
              <a:t>Visualize object interactions for a specific use case or scenario.</a:t>
            </a:r>
          </a:p>
          <a:p>
            <a:pPr lvl="1">
              <a:lnSpc>
                <a:spcPct val="150000"/>
              </a:lnSpc>
            </a:pPr>
            <a:r>
              <a:rPr lang="en-US" dirty="0"/>
              <a:t>Analyze the relationships between objects.</a:t>
            </a:r>
          </a:p>
          <a:p>
            <a:pPr lvl="1">
              <a:lnSpc>
                <a:spcPct val="150000"/>
              </a:lnSpc>
            </a:pPr>
            <a:r>
              <a:rPr lang="en-US" dirty="0"/>
              <a:t>Understand how different parts of a system collaborate to achieve functionality.</a:t>
            </a:r>
          </a:p>
        </p:txBody>
      </p:sp>
      <p:sp>
        <p:nvSpPr>
          <p:cNvPr id="3" name="Slide Number Placeholder 2">
            <a:extLst>
              <a:ext uri="{FF2B5EF4-FFF2-40B4-BE49-F238E27FC236}">
                <a16:creationId xmlns:a16="http://schemas.microsoft.com/office/drawing/2014/main" id="{8C345B4A-F651-49E1-B3DD-82F1CC5B98F3}"/>
              </a:ext>
            </a:extLst>
          </p:cNvPr>
          <p:cNvSpPr>
            <a:spLocks noGrp="1"/>
          </p:cNvSpPr>
          <p:nvPr>
            <p:ph type="sldNum" sz="quarter" idx="4"/>
          </p:nvPr>
        </p:nvSpPr>
        <p:spPr/>
        <p:txBody>
          <a:bodyPr/>
          <a:lstStyle/>
          <a:p>
            <a:fld id="{31D26D55-0A22-487A-A687-61FB58A6F16A}" type="slidenum">
              <a:rPr lang="en-US" smtClean="0"/>
              <a:pPr/>
              <a:t>14</a:t>
            </a:fld>
            <a:endParaRPr lang="en-US" dirty="0"/>
          </a:p>
        </p:txBody>
      </p:sp>
      <p:sp>
        <p:nvSpPr>
          <p:cNvPr id="4" name="Title 3">
            <a:extLst>
              <a:ext uri="{FF2B5EF4-FFF2-40B4-BE49-F238E27FC236}">
                <a16:creationId xmlns:a16="http://schemas.microsoft.com/office/drawing/2014/main" id="{1C2F4D5F-B476-4D90-9E0B-FAD07F12B42F}"/>
              </a:ext>
            </a:extLst>
          </p:cNvPr>
          <p:cNvSpPr>
            <a:spLocks noGrp="1"/>
          </p:cNvSpPr>
          <p:nvPr>
            <p:ph type="title"/>
          </p:nvPr>
        </p:nvSpPr>
        <p:spPr/>
        <p:txBody>
          <a:bodyPr>
            <a:normAutofit/>
          </a:bodyPr>
          <a:lstStyle/>
          <a:p>
            <a:r>
              <a:rPr lang="en-US" sz="2800" u="none" strike="noStrike" dirty="0">
                <a:effectLst/>
                <a:latin typeface="+mj-lt"/>
              </a:rPr>
              <a:t>Communication/Collaboration Diagram</a:t>
            </a:r>
            <a:endParaRPr lang="en-US" dirty="0"/>
          </a:p>
        </p:txBody>
      </p:sp>
      <p:pic>
        <p:nvPicPr>
          <p:cNvPr id="13316" name="Picture 4">
            <a:extLst>
              <a:ext uri="{FF2B5EF4-FFF2-40B4-BE49-F238E27FC236}">
                <a16:creationId xmlns:a16="http://schemas.microsoft.com/office/drawing/2014/main" id="{A968EB5A-4BD1-4734-BC9C-A85C52512E6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70"/>
          <a:stretch/>
        </p:blipFill>
        <p:spPr bwMode="auto">
          <a:xfrm>
            <a:off x="8712926" y="2213770"/>
            <a:ext cx="5917474" cy="49023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685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A537FF-1E16-4E3C-95D9-7B8C28A65E6C}"/>
              </a:ext>
            </a:extLst>
          </p:cNvPr>
          <p:cNvSpPr>
            <a:spLocks noGrp="1"/>
          </p:cNvSpPr>
          <p:nvPr>
            <p:ph idx="1"/>
          </p:nvPr>
        </p:nvSpPr>
        <p:spPr>
          <a:xfrm>
            <a:off x="7406642" y="1917577"/>
            <a:ext cx="6506442" cy="5494778"/>
          </a:xfrm>
        </p:spPr>
        <p:txBody>
          <a:bodyPr>
            <a:normAutofit fontScale="85000" lnSpcReduction="20000"/>
          </a:bodyPr>
          <a:lstStyle/>
          <a:p>
            <a:pPr>
              <a:lnSpc>
                <a:spcPct val="150000"/>
              </a:lnSpc>
            </a:pPr>
            <a:r>
              <a:rPr lang="en-US" dirty="0"/>
              <a:t>A high –level graphical representation of the flow of data within a system:</a:t>
            </a:r>
          </a:p>
          <a:p>
            <a:pPr lvl="1">
              <a:lnSpc>
                <a:spcPct val="150000"/>
              </a:lnSpc>
            </a:pPr>
            <a:r>
              <a:rPr lang="en-US" dirty="0"/>
              <a:t>Data flows between modules, components</a:t>
            </a:r>
          </a:p>
          <a:p>
            <a:pPr lvl="1">
              <a:lnSpc>
                <a:spcPct val="150000"/>
              </a:lnSpc>
            </a:pPr>
            <a:r>
              <a:rPr lang="en-US" dirty="0"/>
              <a:t>Data storage/cached</a:t>
            </a:r>
          </a:p>
          <a:p>
            <a:pPr>
              <a:lnSpc>
                <a:spcPct val="150000"/>
              </a:lnSpc>
            </a:pPr>
            <a:r>
              <a:rPr lang="en-US" dirty="0"/>
              <a:t>Detail levels:</a:t>
            </a:r>
          </a:p>
          <a:p>
            <a:pPr lvl="1">
              <a:lnSpc>
                <a:spcPct val="150000"/>
              </a:lnSpc>
            </a:pPr>
            <a:r>
              <a:rPr lang="en-US" dirty="0"/>
              <a:t>Level 0: Context Diagram</a:t>
            </a:r>
          </a:p>
          <a:p>
            <a:pPr lvl="1">
              <a:lnSpc>
                <a:spcPct val="150000"/>
              </a:lnSpc>
            </a:pPr>
            <a:r>
              <a:rPr lang="en-US" dirty="0"/>
              <a:t>Level 1: Decomposition Diagram</a:t>
            </a:r>
          </a:p>
        </p:txBody>
      </p:sp>
      <p:sp>
        <p:nvSpPr>
          <p:cNvPr id="3" name="Slide Number Placeholder 2">
            <a:extLst>
              <a:ext uri="{FF2B5EF4-FFF2-40B4-BE49-F238E27FC236}">
                <a16:creationId xmlns:a16="http://schemas.microsoft.com/office/drawing/2014/main" id="{BE4AA350-1AB7-421E-B41F-15792C4D0852}"/>
              </a:ext>
            </a:extLst>
          </p:cNvPr>
          <p:cNvSpPr>
            <a:spLocks noGrp="1"/>
          </p:cNvSpPr>
          <p:nvPr>
            <p:ph type="sldNum" sz="quarter" idx="4"/>
          </p:nvPr>
        </p:nvSpPr>
        <p:spPr/>
        <p:txBody>
          <a:bodyPr/>
          <a:lstStyle/>
          <a:p>
            <a:fld id="{31D26D55-0A22-487A-A687-61FB58A6F16A}" type="slidenum">
              <a:rPr lang="en-US" smtClean="0"/>
              <a:pPr/>
              <a:t>15</a:t>
            </a:fld>
            <a:endParaRPr lang="en-US" dirty="0"/>
          </a:p>
        </p:txBody>
      </p:sp>
      <p:sp>
        <p:nvSpPr>
          <p:cNvPr id="4" name="Title 3">
            <a:extLst>
              <a:ext uri="{FF2B5EF4-FFF2-40B4-BE49-F238E27FC236}">
                <a16:creationId xmlns:a16="http://schemas.microsoft.com/office/drawing/2014/main" id="{F4E2BEF8-8837-44CE-80EB-07614136D912}"/>
              </a:ext>
            </a:extLst>
          </p:cNvPr>
          <p:cNvSpPr>
            <a:spLocks noGrp="1"/>
          </p:cNvSpPr>
          <p:nvPr>
            <p:ph type="title"/>
          </p:nvPr>
        </p:nvSpPr>
        <p:spPr/>
        <p:txBody>
          <a:bodyPr/>
          <a:lstStyle/>
          <a:p>
            <a:r>
              <a:rPr lang="en-US" dirty="0"/>
              <a:t>Data Flow Diagram</a:t>
            </a:r>
          </a:p>
        </p:txBody>
      </p:sp>
      <p:pic>
        <p:nvPicPr>
          <p:cNvPr id="8" name="Picture 7">
            <a:extLst>
              <a:ext uri="{FF2B5EF4-FFF2-40B4-BE49-F238E27FC236}">
                <a16:creationId xmlns:a16="http://schemas.microsoft.com/office/drawing/2014/main" id="{540D1349-8564-4A77-962D-71B7AA0E7B47}"/>
              </a:ext>
            </a:extLst>
          </p:cNvPr>
          <p:cNvPicPr>
            <a:picLocks noChangeAspect="1"/>
          </p:cNvPicPr>
          <p:nvPr/>
        </p:nvPicPr>
        <p:blipFill rotWithShape="1">
          <a:blip r:embed="rId3"/>
          <a:srcRect r="7941"/>
          <a:stretch/>
        </p:blipFill>
        <p:spPr>
          <a:xfrm>
            <a:off x="151413" y="1367411"/>
            <a:ext cx="7072346" cy="5494778"/>
          </a:xfrm>
          <a:prstGeom prst="rect">
            <a:avLst/>
          </a:prstGeom>
        </p:spPr>
      </p:pic>
    </p:spTree>
    <p:extLst>
      <p:ext uri="{BB962C8B-B14F-4D97-AF65-F5344CB8AC3E}">
        <p14:creationId xmlns:p14="http://schemas.microsoft.com/office/powerpoint/2010/main" val="938503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760164-4B0C-41CB-8DA3-588C10656E80}"/>
              </a:ext>
            </a:extLst>
          </p:cNvPr>
          <p:cNvSpPr>
            <a:spLocks noGrp="1"/>
          </p:cNvSpPr>
          <p:nvPr>
            <p:ph idx="1"/>
          </p:nvPr>
        </p:nvSpPr>
        <p:spPr>
          <a:xfrm>
            <a:off x="747000" y="1016000"/>
            <a:ext cx="13166084" cy="6396355"/>
          </a:xfrm>
        </p:spPr>
        <p:txBody>
          <a:bodyPr>
            <a:normAutofit fontScale="77500" lnSpcReduction="20000"/>
          </a:bodyPr>
          <a:lstStyle/>
          <a:p>
            <a:pPr>
              <a:lnSpc>
                <a:spcPct val="150000"/>
              </a:lnSpc>
            </a:pPr>
            <a:r>
              <a:rPr lang="en-US" dirty="0"/>
              <a:t>Identify Processes: determine the main functions or processes in the system.</a:t>
            </a:r>
          </a:p>
          <a:p>
            <a:pPr>
              <a:lnSpc>
                <a:spcPct val="150000"/>
              </a:lnSpc>
            </a:pPr>
            <a:r>
              <a:rPr lang="en-US" dirty="0"/>
              <a:t>Identify Data Flows: map out how data moves between processes, data stores, and external entities.</a:t>
            </a:r>
          </a:p>
          <a:p>
            <a:pPr>
              <a:lnSpc>
                <a:spcPct val="150000"/>
              </a:lnSpc>
            </a:pPr>
            <a:r>
              <a:rPr lang="en-US" dirty="0"/>
              <a:t>Identify Data Stores: list all data storage points (e.g., databases, files).</a:t>
            </a:r>
          </a:p>
          <a:p>
            <a:pPr>
              <a:lnSpc>
                <a:spcPct val="150000"/>
              </a:lnSpc>
            </a:pPr>
            <a:r>
              <a:rPr lang="en-US" dirty="0"/>
              <a:t>Identify External Entities: define the systems, people, or organizations interacting with the system.</a:t>
            </a:r>
          </a:p>
          <a:p>
            <a:pPr>
              <a:lnSpc>
                <a:spcPct val="150000"/>
              </a:lnSpc>
            </a:pPr>
            <a:r>
              <a:rPr lang="en-US" dirty="0"/>
              <a:t>Create Context Diagram (Level 0): start with a single process that represents the entire system.</a:t>
            </a:r>
          </a:p>
          <a:p>
            <a:pPr>
              <a:lnSpc>
                <a:spcPct val="150000"/>
              </a:lnSpc>
            </a:pPr>
            <a:r>
              <a:rPr lang="en-US" dirty="0"/>
              <a:t>Decompose into Lower Levels: break down the main process into sub-processes to show more details.</a:t>
            </a:r>
          </a:p>
        </p:txBody>
      </p:sp>
      <p:sp>
        <p:nvSpPr>
          <p:cNvPr id="3" name="Slide Number Placeholder 2">
            <a:extLst>
              <a:ext uri="{FF2B5EF4-FFF2-40B4-BE49-F238E27FC236}">
                <a16:creationId xmlns:a16="http://schemas.microsoft.com/office/drawing/2014/main" id="{4ABCF302-0D57-445E-939E-B670C3A055F0}"/>
              </a:ext>
            </a:extLst>
          </p:cNvPr>
          <p:cNvSpPr>
            <a:spLocks noGrp="1"/>
          </p:cNvSpPr>
          <p:nvPr>
            <p:ph type="sldNum" sz="quarter" idx="4"/>
          </p:nvPr>
        </p:nvSpPr>
        <p:spPr/>
        <p:txBody>
          <a:bodyPr/>
          <a:lstStyle/>
          <a:p>
            <a:fld id="{31D26D55-0A22-487A-A687-61FB58A6F16A}" type="slidenum">
              <a:rPr lang="en-US" smtClean="0"/>
              <a:pPr/>
              <a:t>16</a:t>
            </a:fld>
            <a:endParaRPr lang="en-US" dirty="0"/>
          </a:p>
        </p:txBody>
      </p:sp>
      <p:sp>
        <p:nvSpPr>
          <p:cNvPr id="4" name="Title 3">
            <a:extLst>
              <a:ext uri="{FF2B5EF4-FFF2-40B4-BE49-F238E27FC236}">
                <a16:creationId xmlns:a16="http://schemas.microsoft.com/office/drawing/2014/main" id="{C853E5A0-DBDE-4B7C-A9A1-FF4AE6622141}"/>
              </a:ext>
            </a:extLst>
          </p:cNvPr>
          <p:cNvSpPr>
            <a:spLocks noGrp="1"/>
          </p:cNvSpPr>
          <p:nvPr>
            <p:ph type="title"/>
          </p:nvPr>
        </p:nvSpPr>
        <p:spPr/>
        <p:txBody>
          <a:bodyPr/>
          <a:lstStyle/>
          <a:p>
            <a:r>
              <a:rPr lang="en-US" dirty="0"/>
              <a:t>DFD Steps</a:t>
            </a:r>
          </a:p>
        </p:txBody>
      </p:sp>
    </p:spTree>
    <p:extLst>
      <p:ext uri="{BB962C8B-B14F-4D97-AF65-F5344CB8AC3E}">
        <p14:creationId xmlns:p14="http://schemas.microsoft.com/office/powerpoint/2010/main" val="2497540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4E8B67-42FD-4D86-85FC-FC4A2E5D600F}"/>
              </a:ext>
            </a:extLst>
          </p:cNvPr>
          <p:cNvSpPr>
            <a:spLocks noGrp="1"/>
          </p:cNvSpPr>
          <p:nvPr>
            <p:ph idx="1"/>
          </p:nvPr>
        </p:nvSpPr>
        <p:spPr>
          <a:xfrm>
            <a:off x="747000" y="1917577"/>
            <a:ext cx="5639286" cy="5494778"/>
          </a:xfrm>
        </p:spPr>
        <p:txBody>
          <a:bodyPr/>
          <a:lstStyle/>
          <a:p>
            <a:pPr>
              <a:lnSpc>
                <a:spcPct val="150000"/>
              </a:lnSpc>
            </a:pPr>
            <a:r>
              <a:rPr lang="en-US" dirty="0"/>
              <a:t>Ensure data integrity.</a:t>
            </a:r>
          </a:p>
          <a:p>
            <a:pPr>
              <a:lnSpc>
                <a:spcPct val="150000"/>
              </a:lnSpc>
            </a:pPr>
            <a:r>
              <a:rPr lang="en-US" dirty="0"/>
              <a:t>Minimize redundancy.</a:t>
            </a:r>
          </a:p>
          <a:p>
            <a:pPr>
              <a:lnSpc>
                <a:spcPct val="150000"/>
              </a:lnSpc>
            </a:pPr>
            <a:r>
              <a:rPr lang="en-US" dirty="0"/>
              <a:t>Optimize performance.</a:t>
            </a:r>
          </a:p>
          <a:p>
            <a:pPr>
              <a:lnSpc>
                <a:spcPct val="150000"/>
              </a:lnSpc>
            </a:pPr>
            <a:r>
              <a:rPr lang="en-US" dirty="0"/>
              <a:t>Support future scalability.</a:t>
            </a:r>
          </a:p>
        </p:txBody>
      </p:sp>
      <p:sp>
        <p:nvSpPr>
          <p:cNvPr id="3" name="Slide Number Placeholder 2">
            <a:extLst>
              <a:ext uri="{FF2B5EF4-FFF2-40B4-BE49-F238E27FC236}">
                <a16:creationId xmlns:a16="http://schemas.microsoft.com/office/drawing/2014/main" id="{3494FE09-D7B4-47D9-8AD9-5ABAE98281B0}"/>
              </a:ext>
            </a:extLst>
          </p:cNvPr>
          <p:cNvSpPr>
            <a:spLocks noGrp="1"/>
          </p:cNvSpPr>
          <p:nvPr>
            <p:ph type="sldNum" sz="quarter" idx="4"/>
          </p:nvPr>
        </p:nvSpPr>
        <p:spPr/>
        <p:txBody>
          <a:bodyPr/>
          <a:lstStyle/>
          <a:p>
            <a:fld id="{31D26D55-0A22-487A-A687-61FB58A6F16A}" type="slidenum">
              <a:rPr lang="en-US" smtClean="0"/>
              <a:pPr/>
              <a:t>17</a:t>
            </a:fld>
            <a:endParaRPr lang="en-US" dirty="0"/>
          </a:p>
        </p:txBody>
      </p:sp>
      <p:sp>
        <p:nvSpPr>
          <p:cNvPr id="4" name="Title 3">
            <a:extLst>
              <a:ext uri="{FF2B5EF4-FFF2-40B4-BE49-F238E27FC236}">
                <a16:creationId xmlns:a16="http://schemas.microsoft.com/office/drawing/2014/main" id="{7ACD8D08-CD14-47F2-90CE-0220AC734222}"/>
              </a:ext>
            </a:extLst>
          </p:cNvPr>
          <p:cNvSpPr>
            <a:spLocks noGrp="1"/>
          </p:cNvSpPr>
          <p:nvPr>
            <p:ph type="title"/>
          </p:nvPr>
        </p:nvSpPr>
        <p:spPr/>
        <p:txBody>
          <a:bodyPr/>
          <a:lstStyle/>
          <a:p>
            <a:r>
              <a:rPr lang="en-US" dirty="0"/>
              <a:t>Database Design</a:t>
            </a:r>
          </a:p>
        </p:txBody>
      </p:sp>
      <p:pic>
        <p:nvPicPr>
          <p:cNvPr id="16391" name="Picture 7" descr="The Importance of Database Design">
            <a:extLst>
              <a:ext uri="{FF2B5EF4-FFF2-40B4-BE49-F238E27FC236}">
                <a16:creationId xmlns:a16="http://schemas.microsoft.com/office/drawing/2014/main" id="{4509B931-90EA-43BE-B6FF-F710EA0039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6286" y="685800"/>
            <a:ext cx="78486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8122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C40C1C0-3073-4064-B49A-53DFB8BB093A}"/>
              </a:ext>
            </a:extLst>
          </p:cNvPr>
          <p:cNvSpPr>
            <a:spLocks noGrp="1"/>
          </p:cNvSpPr>
          <p:nvPr>
            <p:ph type="sldNum" sz="quarter" idx="4"/>
          </p:nvPr>
        </p:nvSpPr>
        <p:spPr/>
        <p:txBody>
          <a:bodyPr/>
          <a:lstStyle/>
          <a:p>
            <a:fld id="{31D26D55-0A22-487A-A687-61FB58A6F16A}" type="slidenum">
              <a:rPr lang="en-US" smtClean="0"/>
              <a:pPr/>
              <a:t>18</a:t>
            </a:fld>
            <a:endParaRPr lang="en-US" dirty="0"/>
          </a:p>
        </p:txBody>
      </p:sp>
      <p:sp>
        <p:nvSpPr>
          <p:cNvPr id="4" name="Title 3">
            <a:extLst>
              <a:ext uri="{FF2B5EF4-FFF2-40B4-BE49-F238E27FC236}">
                <a16:creationId xmlns:a16="http://schemas.microsoft.com/office/drawing/2014/main" id="{B72D1E58-B754-42B5-A025-C95F4BCB3A80}"/>
              </a:ext>
            </a:extLst>
          </p:cNvPr>
          <p:cNvSpPr>
            <a:spLocks noGrp="1"/>
          </p:cNvSpPr>
          <p:nvPr>
            <p:ph type="title"/>
          </p:nvPr>
        </p:nvSpPr>
        <p:spPr/>
        <p:txBody>
          <a:bodyPr/>
          <a:lstStyle/>
          <a:p>
            <a:r>
              <a:rPr lang="en-US" dirty="0"/>
              <a:t>The Database Lifecycle</a:t>
            </a:r>
          </a:p>
        </p:txBody>
      </p:sp>
      <p:pic>
        <p:nvPicPr>
          <p:cNvPr id="17410" name="Picture 2" descr="DBLC Design Stages (Life Cycle Database Phases)">
            <a:extLst>
              <a:ext uri="{FF2B5EF4-FFF2-40B4-BE49-F238E27FC236}">
                <a16:creationId xmlns:a16="http://schemas.microsoft.com/office/drawing/2014/main" id="{E3DB646B-D6A0-429A-9C61-FE7025D13D4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633538" y="894687"/>
            <a:ext cx="7363323" cy="6440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1736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F01C9E-A2BE-435B-82FF-4EABEDFD37E3}"/>
              </a:ext>
            </a:extLst>
          </p:cNvPr>
          <p:cNvSpPr>
            <a:spLocks noGrp="1"/>
          </p:cNvSpPr>
          <p:nvPr>
            <p:ph idx="1"/>
          </p:nvPr>
        </p:nvSpPr>
        <p:spPr/>
        <p:txBody>
          <a:bodyPr>
            <a:normAutofit fontScale="92500"/>
          </a:bodyPr>
          <a:lstStyle/>
          <a:p>
            <a:pPr>
              <a:lnSpc>
                <a:spcPct val="150000"/>
              </a:lnSpc>
            </a:pPr>
            <a:r>
              <a:rPr lang="en-US" dirty="0"/>
              <a:t>A visual representation of the data and its relationships in a database</a:t>
            </a:r>
          </a:p>
          <a:p>
            <a:pPr>
              <a:lnSpc>
                <a:spcPct val="150000"/>
              </a:lnSpc>
            </a:pPr>
            <a:r>
              <a:rPr lang="en-US" dirty="0"/>
              <a:t>Key Components of an ERD:</a:t>
            </a:r>
          </a:p>
          <a:p>
            <a:pPr lvl="1">
              <a:lnSpc>
                <a:spcPct val="150000"/>
              </a:lnSpc>
            </a:pPr>
            <a:r>
              <a:rPr lang="en-US" dirty="0"/>
              <a:t>Entities</a:t>
            </a:r>
          </a:p>
          <a:p>
            <a:pPr lvl="1">
              <a:lnSpc>
                <a:spcPct val="150000"/>
              </a:lnSpc>
            </a:pPr>
            <a:r>
              <a:rPr lang="en-US" dirty="0"/>
              <a:t>Attributes</a:t>
            </a:r>
          </a:p>
          <a:p>
            <a:pPr lvl="1">
              <a:lnSpc>
                <a:spcPct val="150000"/>
              </a:lnSpc>
            </a:pPr>
            <a:r>
              <a:rPr lang="en-US" dirty="0"/>
              <a:t>Relationships</a:t>
            </a:r>
          </a:p>
          <a:p>
            <a:pPr lvl="1">
              <a:lnSpc>
                <a:spcPct val="150000"/>
              </a:lnSpc>
            </a:pPr>
            <a:r>
              <a:rPr lang="en-US" dirty="0"/>
              <a:t>Cardinality</a:t>
            </a:r>
          </a:p>
          <a:p>
            <a:pPr lvl="1">
              <a:lnSpc>
                <a:spcPct val="150000"/>
              </a:lnSpc>
            </a:pPr>
            <a:r>
              <a:rPr lang="en-US" dirty="0"/>
              <a:t>Primary and Foreign Keys</a:t>
            </a:r>
          </a:p>
        </p:txBody>
      </p:sp>
      <p:sp>
        <p:nvSpPr>
          <p:cNvPr id="3" name="Slide Number Placeholder 2">
            <a:extLst>
              <a:ext uri="{FF2B5EF4-FFF2-40B4-BE49-F238E27FC236}">
                <a16:creationId xmlns:a16="http://schemas.microsoft.com/office/drawing/2014/main" id="{6D5526B6-A0C9-4A18-830C-9587CE8BDA8C}"/>
              </a:ext>
            </a:extLst>
          </p:cNvPr>
          <p:cNvSpPr>
            <a:spLocks noGrp="1"/>
          </p:cNvSpPr>
          <p:nvPr>
            <p:ph type="sldNum" sz="quarter" idx="4"/>
          </p:nvPr>
        </p:nvSpPr>
        <p:spPr/>
        <p:txBody>
          <a:bodyPr/>
          <a:lstStyle/>
          <a:p>
            <a:fld id="{31D26D55-0A22-487A-A687-61FB58A6F16A}" type="slidenum">
              <a:rPr lang="en-US" smtClean="0"/>
              <a:pPr/>
              <a:t>19</a:t>
            </a:fld>
            <a:endParaRPr lang="en-US" dirty="0"/>
          </a:p>
        </p:txBody>
      </p:sp>
      <p:sp>
        <p:nvSpPr>
          <p:cNvPr id="4" name="Title 3">
            <a:extLst>
              <a:ext uri="{FF2B5EF4-FFF2-40B4-BE49-F238E27FC236}">
                <a16:creationId xmlns:a16="http://schemas.microsoft.com/office/drawing/2014/main" id="{DC0FF9FF-43C1-4FB3-AEEF-9CE2A5770E98}"/>
              </a:ext>
            </a:extLst>
          </p:cNvPr>
          <p:cNvSpPr>
            <a:spLocks noGrp="1"/>
          </p:cNvSpPr>
          <p:nvPr>
            <p:ph type="title"/>
          </p:nvPr>
        </p:nvSpPr>
        <p:spPr/>
        <p:txBody>
          <a:bodyPr/>
          <a:lstStyle/>
          <a:p>
            <a:r>
              <a:rPr lang="en-US" dirty="0"/>
              <a:t>ERD (Entity-Relationship Diagram)</a:t>
            </a:r>
          </a:p>
        </p:txBody>
      </p:sp>
    </p:spTree>
    <p:extLst>
      <p:ext uri="{BB962C8B-B14F-4D97-AF65-F5344CB8AC3E}">
        <p14:creationId xmlns:p14="http://schemas.microsoft.com/office/powerpoint/2010/main" val="20790673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A5184D-5FCD-41E5-9A83-05E582D39C15}"/>
              </a:ext>
            </a:extLst>
          </p:cNvPr>
          <p:cNvSpPr>
            <a:spLocks noGrp="1"/>
          </p:cNvSpPr>
          <p:nvPr>
            <p:ph idx="1"/>
          </p:nvPr>
        </p:nvSpPr>
        <p:spPr/>
        <p:txBody>
          <a:bodyPr>
            <a:normAutofit lnSpcReduction="10000"/>
          </a:bodyPr>
          <a:lstStyle/>
          <a:p>
            <a:pPr>
              <a:lnSpc>
                <a:spcPct val="150000"/>
              </a:lnSpc>
            </a:pPr>
            <a:r>
              <a:rPr lang="en-US" dirty="0"/>
              <a:t>Entities are objects, concepts, or things in the system that have data stored about them.</a:t>
            </a:r>
          </a:p>
          <a:p>
            <a:pPr>
              <a:lnSpc>
                <a:spcPct val="150000"/>
              </a:lnSpc>
            </a:pPr>
            <a:r>
              <a:rPr lang="en-US" dirty="0"/>
              <a:t>Represented as </a:t>
            </a:r>
            <a:r>
              <a:rPr lang="en-US" b="1" dirty="0"/>
              <a:t>rectangles</a:t>
            </a:r>
            <a:r>
              <a:rPr lang="en-US" dirty="0"/>
              <a:t> in the ERD.</a:t>
            </a:r>
          </a:p>
          <a:p>
            <a:pPr>
              <a:lnSpc>
                <a:spcPct val="150000"/>
              </a:lnSpc>
            </a:pPr>
            <a:r>
              <a:rPr lang="en-US" dirty="0"/>
              <a:t>Types:</a:t>
            </a:r>
          </a:p>
          <a:p>
            <a:pPr lvl="1">
              <a:lnSpc>
                <a:spcPct val="150000"/>
              </a:lnSpc>
            </a:pPr>
            <a:r>
              <a:rPr lang="en-US" b="1" dirty="0"/>
              <a:t>Strong Entities: </a:t>
            </a:r>
            <a:r>
              <a:rPr lang="en-US" dirty="0"/>
              <a:t>Independent and do not depend on other entities for their existence.</a:t>
            </a:r>
          </a:p>
          <a:p>
            <a:pPr lvl="1">
              <a:lnSpc>
                <a:spcPct val="150000"/>
              </a:lnSpc>
            </a:pPr>
            <a:r>
              <a:rPr lang="en-US" b="1" dirty="0"/>
              <a:t>Weak Entities: </a:t>
            </a:r>
            <a:r>
              <a:rPr lang="en-US" dirty="0"/>
              <a:t>Dependent on a strong entity and cannot exist without it.</a:t>
            </a:r>
          </a:p>
          <a:p>
            <a:pPr marL="548640" lvl="1" indent="0">
              <a:lnSpc>
                <a:spcPct val="150000"/>
              </a:lnSpc>
              <a:buNone/>
            </a:pPr>
            <a:endParaRPr lang="en-US" dirty="0"/>
          </a:p>
        </p:txBody>
      </p:sp>
      <p:sp>
        <p:nvSpPr>
          <p:cNvPr id="3" name="Slide Number Placeholder 2">
            <a:extLst>
              <a:ext uri="{FF2B5EF4-FFF2-40B4-BE49-F238E27FC236}">
                <a16:creationId xmlns:a16="http://schemas.microsoft.com/office/drawing/2014/main" id="{D165B877-DE1D-46CE-8AAD-1415BB8A7DA9}"/>
              </a:ext>
            </a:extLst>
          </p:cNvPr>
          <p:cNvSpPr>
            <a:spLocks noGrp="1"/>
          </p:cNvSpPr>
          <p:nvPr>
            <p:ph type="sldNum" sz="quarter" idx="4"/>
          </p:nvPr>
        </p:nvSpPr>
        <p:spPr/>
        <p:txBody>
          <a:bodyPr/>
          <a:lstStyle/>
          <a:p>
            <a:fld id="{31D26D55-0A22-487A-A687-61FB58A6F16A}" type="slidenum">
              <a:rPr lang="en-US" smtClean="0"/>
              <a:pPr/>
              <a:t>20</a:t>
            </a:fld>
            <a:endParaRPr lang="en-US" dirty="0"/>
          </a:p>
        </p:txBody>
      </p:sp>
      <p:sp>
        <p:nvSpPr>
          <p:cNvPr id="4" name="Title 3">
            <a:extLst>
              <a:ext uri="{FF2B5EF4-FFF2-40B4-BE49-F238E27FC236}">
                <a16:creationId xmlns:a16="http://schemas.microsoft.com/office/drawing/2014/main" id="{4D2A199A-34A1-4046-925F-EACE548736E8}"/>
              </a:ext>
            </a:extLst>
          </p:cNvPr>
          <p:cNvSpPr>
            <a:spLocks noGrp="1"/>
          </p:cNvSpPr>
          <p:nvPr>
            <p:ph type="title"/>
          </p:nvPr>
        </p:nvSpPr>
        <p:spPr/>
        <p:txBody>
          <a:bodyPr>
            <a:normAutofit/>
          </a:bodyPr>
          <a:lstStyle/>
          <a:p>
            <a:r>
              <a:rPr lang="en-US" dirty="0"/>
              <a:t>Entities</a:t>
            </a:r>
          </a:p>
        </p:txBody>
      </p:sp>
    </p:spTree>
    <p:extLst>
      <p:ext uri="{BB962C8B-B14F-4D97-AF65-F5344CB8AC3E}">
        <p14:creationId xmlns:p14="http://schemas.microsoft.com/office/powerpoint/2010/main" val="2725462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A5184D-5FCD-41E5-9A83-05E582D39C15}"/>
              </a:ext>
            </a:extLst>
          </p:cNvPr>
          <p:cNvSpPr>
            <a:spLocks noGrp="1"/>
          </p:cNvSpPr>
          <p:nvPr>
            <p:ph idx="1"/>
          </p:nvPr>
        </p:nvSpPr>
        <p:spPr/>
        <p:txBody>
          <a:bodyPr>
            <a:normAutofit fontScale="85000" lnSpcReduction="20000"/>
          </a:bodyPr>
          <a:lstStyle/>
          <a:p>
            <a:pPr>
              <a:lnSpc>
                <a:spcPct val="150000"/>
              </a:lnSpc>
            </a:pPr>
            <a:r>
              <a:rPr lang="en-US" dirty="0"/>
              <a:t>Attributes describe properties or characteristics of an entity or relationship.</a:t>
            </a:r>
          </a:p>
          <a:p>
            <a:pPr>
              <a:lnSpc>
                <a:spcPct val="150000"/>
              </a:lnSpc>
            </a:pPr>
            <a:r>
              <a:rPr lang="en-US" dirty="0"/>
              <a:t>Represented as </a:t>
            </a:r>
            <a:r>
              <a:rPr lang="en-US" b="1" dirty="0"/>
              <a:t>ellipses</a:t>
            </a:r>
            <a:r>
              <a:rPr lang="en-US" dirty="0"/>
              <a:t> connected to entities or relationships.</a:t>
            </a:r>
          </a:p>
          <a:p>
            <a:pPr>
              <a:lnSpc>
                <a:spcPct val="150000"/>
              </a:lnSpc>
              <a:buFont typeface="Arial" panose="020B0604020202020204" pitchFamily="34" charset="0"/>
              <a:buChar char="•"/>
            </a:pPr>
            <a:r>
              <a:rPr lang="en-US" dirty="0"/>
              <a:t>Types of Attributes:</a:t>
            </a:r>
          </a:p>
          <a:p>
            <a:pPr marL="742950" lvl="1" indent="-285750">
              <a:lnSpc>
                <a:spcPct val="150000"/>
              </a:lnSpc>
              <a:buFont typeface="Arial" panose="020B0604020202020204" pitchFamily="34" charset="0"/>
              <a:buChar char="•"/>
            </a:pPr>
            <a:r>
              <a:rPr lang="en-US" b="1" dirty="0"/>
              <a:t>Simple Attributes:</a:t>
            </a:r>
            <a:r>
              <a:rPr lang="en-US" dirty="0"/>
              <a:t> Atomic values that cannot be divided further (e.g., Age).</a:t>
            </a:r>
          </a:p>
          <a:p>
            <a:pPr marL="742950" lvl="1" indent="-285750">
              <a:lnSpc>
                <a:spcPct val="150000"/>
              </a:lnSpc>
              <a:buFont typeface="Arial" panose="020B0604020202020204" pitchFamily="34" charset="0"/>
              <a:buChar char="•"/>
            </a:pPr>
            <a:r>
              <a:rPr lang="en-US" b="1" dirty="0"/>
              <a:t>Composite Attributes:</a:t>
            </a:r>
            <a:r>
              <a:rPr lang="en-US" dirty="0"/>
              <a:t> Consist of multiple components (e.g., </a:t>
            </a:r>
            <a:r>
              <a:rPr lang="en-US" dirty="0" err="1"/>
              <a:t>FullName</a:t>
            </a:r>
            <a:r>
              <a:rPr lang="en-US" dirty="0"/>
              <a:t> → FirstName, </a:t>
            </a:r>
            <a:r>
              <a:rPr lang="en-US" dirty="0" err="1"/>
              <a:t>LastName</a:t>
            </a:r>
            <a:r>
              <a:rPr lang="en-US" dirty="0"/>
              <a:t>).</a:t>
            </a:r>
          </a:p>
          <a:p>
            <a:pPr marL="742950" lvl="1" indent="-285750">
              <a:lnSpc>
                <a:spcPct val="150000"/>
              </a:lnSpc>
              <a:buFont typeface="Arial" panose="020B0604020202020204" pitchFamily="34" charset="0"/>
              <a:buChar char="•"/>
            </a:pPr>
            <a:r>
              <a:rPr lang="en-US" b="1" dirty="0"/>
              <a:t>Derived Attributes:</a:t>
            </a:r>
            <a:r>
              <a:rPr lang="en-US" dirty="0"/>
              <a:t> Can be calculated from other attributes (e.g., Age derived from </a:t>
            </a:r>
            <a:r>
              <a:rPr lang="en-US" dirty="0" err="1"/>
              <a:t>DateOfBirth</a:t>
            </a:r>
            <a:r>
              <a:rPr lang="en-US" dirty="0"/>
              <a:t>).</a:t>
            </a:r>
          </a:p>
          <a:p>
            <a:pPr marL="742950" lvl="1" indent="-285750">
              <a:lnSpc>
                <a:spcPct val="150000"/>
              </a:lnSpc>
              <a:buFont typeface="Arial" panose="020B0604020202020204" pitchFamily="34" charset="0"/>
              <a:buChar char="•"/>
            </a:pPr>
            <a:r>
              <a:rPr lang="en-US" b="1" dirty="0"/>
              <a:t>Multivalued Attributes:</a:t>
            </a:r>
            <a:r>
              <a:rPr lang="en-US" dirty="0"/>
              <a:t> Can have multiple values (e.g., </a:t>
            </a:r>
            <a:r>
              <a:rPr lang="en-US" dirty="0" err="1"/>
              <a:t>PhoneNumbers</a:t>
            </a:r>
            <a:r>
              <a:rPr lang="en-US" dirty="0"/>
              <a:t> for a person).</a:t>
            </a:r>
          </a:p>
          <a:p>
            <a:pPr>
              <a:lnSpc>
                <a:spcPct val="150000"/>
              </a:lnSpc>
            </a:pPr>
            <a:endParaRPr lang="en-US" dirty="0"/>
          </a:p>
        </p:txBody>
      </p:sp>
      <p:sp>
        <p:nvSpPr>
          <p:cNvPr id="3" name="Slide Number Placeholder 2">
            <a:extLst>
              <a:ext uri="{FF2B5EF4-FFF2-40B4-BE49-F238E27FC236}">
                <a16:creationId xmlns:a16="http://schemas.microsoft.com/office/drawing/2014/main" id="{D165B877-DE1D-46CE-8AAD-1415BB8A7DA9}"/>
              </a:ext>
            </a:extLst>
          </p:cNvPr>
          <p:cNvSpPr>
            <a:spLocks noGrp="1"/>
          </p:cNvSpPr>
          <p:nvPr>
            <p:ph type="sldNum" sz="quarter" idx="4"/>
          </p:nvPr>
        </p:nvSpPr>
        <p:spPr/>
        <p:txBody>
          <a:bodyPr/>
          <a:lstStyle/>
          <a:p>
            <a:fld id="{31D26D55-0A22-487A-A687-61FB58A6F16A}" type="slidenum">
              <a:rPr lang="en-US" smtClean="0"/>
              <a:pPr/>
              <a:t>21</a:t>
            </a:fld>
            <a:endParaRPr lang="en-US" dirty="0"/>
          </a:p>
        </p:txBody>
      </p:sp>
      <p:sp>
        <p:nvSpPr>
          <p:cNvPr id="4" name="Title 3">
            <a:extLst>
              <a:ext uri="{FF2B5EF4-FFF2-40B4-BE49-F238E27FC236}">
                <a16:creationId xmlns:a16="http://schemas.microsoft.com/office/drawing/2014/main" id="{4D2A199A-34A1-4046-925F-EACE548736E8}"/>
              </a:ext>
            </a:extLst>
          </p:cNvPr>
          <p:cNvSpPr>
            <a:spLocks noGrp="1"/>
          </p:cNvSpPr>
          <p:nvPr>
            <p:ph type="title"/>
          </p:nvPr>
        </p:nvSpPr>
        <p:spPr/>
        <p:txBody>
          <a:bodyPr>
            <a:normAutofit/>
          </a:bodyPr>
          <a:lstStyle/>
          <a:p>
            <a:r>
              <a:rPr lang="en-US" dirty="0"/>
              <a:t>Attributes</a:t>
            </a:r>
          </a:p>
        </p:txBody>
      </p:sp>
    </p:spTree>
    <p:extLst>
      <p:ext uri="{BB962C8B-B14F-4D97-AF65-F5344CB8AC3E}">
        <p14:creationId xmlns:p14="http://schemas.microsoft.com/office/powerpoint/2010/main" val="3708176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A5184D-5FCD-41E5-9A83-05E582D39C15}"/>
              </a:ext>
            </a:extLst>
          </p:cNvPr>
          <p:cNvSpPr>
            <a:spLocks noGrp="1"/>
          </p:cNvSpPr>
          <p:nvPr>
            <p:ph idx="1"/>
          </p:nvPr>
        </p:nvSpPr>
        <p:spPr>
          <a:xfrm>
            <a:off x="747000" y="819150"/>
            <a:ext cx="13166084" cy="6593205"/>
          </a:xfrm>
        </p:spPr>
        <p:txBody>
          <a:bodyPr>
            <a:normAutofit fontScale="85000" lnSpcReduction="20000"/>
          </a:bodyPr>
          <a:lstStyle/>
          <a:p>
            <a:pPr>
              <a:lnSpc>
                <a:spcPct val="150000"/>
              </a:lnSpc>
            </a:pPr>
            <a:r>
              <a:rPr lang="en-US" dirty="0"/>
              <a:t>Relationships show how two or more entities are connected.</a:t>
            </a:r>
          </a:p>
          <a:p>
            <a:pPr>
              <a:lnSpc>
                <a:spcPct val="150000"/>
              </a:lnSpc>
            </a:pPr>
            <a:r>
              <a:rPr lang="en-US" dirty="0"/>
              <a:t>Represented as </a:t>
            </a:r>
            <a:r>
              <a:rPr lang="en-US" b="1" dirty="0"/>
              <a:t>diamonds</a:t>
            </a:r>
            <a:r>
              <a:rPr lang="en-US" dirty="0"/>
              <a:t> in the ERD.</a:t>
            </a:r>
          </a:p>
          <a:p>
            <a:pPr>
              <a:lnSpc>
                <a:spcPct val="150000"/>
              </a:lnSpc>
            </a:pPr>
            <a:r>
              <a:rPr lang="en-US" dirty="0"/>
              <a:t>Types of Relationships:</a:t>
            </a:r>
          </a:p>
          <a:p>
            <a:pPr lvl="1">
              <a:lnSpc>
                <a:spcPct val="150000"/>
              </a:lnSpc>
            </a:pPr>
            <a:r>
              <a:rPr lang="en-US" b="1" dirty="0"/>
              <a:t>One-to-One (1:1)</a:t>
            </a:r>
            <a:r>
              <a:rPr lang="en-US" dirty="0"/>
              <a:t>:</a:t>
            </a:r>
          </a:p>
          <a:p>
            <a:pPr lvl="2">
              <a:lnSpc>
                <a:spcPct val="150000"/>
              </a:lnSpc>
            </a:pPr>
            <a:r>
              <a:rPr lang="en-US" dirty="0"/>
              <a:t>One entity instance is associated with exactly one instance of another entity.</a:t>
            </a:r>
          </a:p>
          <a:p>
            <a:pPr lvl="2">
              <a:lnSpc>
                <a:spcPct val="150000"/>
              </a:lnSpc>
            </a:pPr>
            <a:r>
              <a:rPr lang="en-US" dirty="0"/>
              <a:t>Example: A person has one passport.</a:t>
            </a:r>
          </a:p>
          <a:p>
            <a:pPr lvl="1">
              <a:lnSpc>
                <a:spcPct val="150000"/>
              </a:lnSpc>
            </a:pPr>
            <a:r>
              <a:rPr lang="en-US" b="1" dirty="0"/>
              <a:t>One-to-Many (1:N)</a:t>
            </a:r>
            <a:r>
              <a:rPr lang="en-US" dirty="0"/>
              <a:t>:</a:t>
            </a:r>
          </a:p>
          <a:p>
            <a:pPr lvl="2">
              <a:lnSpc>
                <a:spcPct val="150000"/>
              </a:lnSpc>
            </a:pPr>
            <a:r>
              <a:rPr lang="en-US" dirty="0"/>
              <a:t>One entity instance is associated with many instances of another entity.</a:t>
            </a:r>
          </a:p>
          <a:p>
            <a:pPr lvl="2">
              <a:lnSpc>
                <a:spcPct val="150000"/>
              </a:lnSpc>
            </a:pPr>
            <a:r>
              <a:rPr lang="en-US" dirty="0"/>
              <a:t>Example: A customer can place many orders.</a:t>
            </a:r>
          </a:p>
          <a:p>
            <a:pPr lvl="1">
              <a:lnSpc>
                <a:spcPct val="150000"/>
              </a:lnSpc>
            </a:pPr>
            <a:r>
              <a:rPr lang="en-US" b="1" dirty="0"/>
              <a:t>Many-to-Many (M:N)</a:t>
            </a:r>
            <a:r>
              <a:rPr lang="en-US" dirty="0"/>
              <a:t>:</a:t>
            </a:r>
          </a:p>
          <a:p>
            <a:pPr lvl="2">
              <a:lnSpc>
                <a:spcPct val="150000"/>
              </a:lnSpc>
            </a:pPr>
            <a:r>
              <a:rPr lang="en-US" dirty="0"/>
              <a:t>Many instances of one entity are associated with many instances of another entity.</a:t>
            </a:r>
          </a:p>
          <a:p>
            <a:pPr lvl="2">
              <a:lnSpc>
                <a:spcPct val="150000"/>
              </a:lnSpc>
            </a:pPr>
            <a:r>
              <a:rPr lang="en-US" dirty="0"/>
              <a:t>Example: Students enroll in multiple courses, and courses have multiple students.</a:t>
            </a:r>
          </a:p>
        </p:txBody>
      </p:sp>
      <p:sp>
        <p:nvSpPr>
          <p:cNvPr id="3" name="Slide Number Placeholder 2">
            <a:extLst>
              <a:ext uri="{FF2B5EF4-FFF2-40B4-BE49-F238E27FC236}">
                <a16:creationId xmlns:a16="http://schemas.microsoft.com/office/drawing/2014/main" id="{D165B877-DE1D-46CE-8AAD-1415BB8A7DA9}"/>
              </a:ext>
            </a:extLst>
          </p:cNvPr>
          <p:cNvSpPr>
            <a:spLocks noGrp="1"/>
          </p:cNvSpPr>
          <p:nvPr>
            <p:ph type="sldNum" sz="quarter" idx="4"/>
          </p:nvPr>
        </p:nvSpPr>
        <p:spPr/>
        <p:txBody>
          <a:bodyPr/>
          <a:lstStyle/>
          <a:p>
            <a:fld id="{31D26D55-0A22-487A-A687-61FB58A6F16A}" type="slidenum">
              <a:rPr lang="en-US" smtClean="0"/>
              <a:pPr/>
              <a:t>22</a:t>
            </a:fld>
            <a:endParaRPr lang="en-US" dirty="0"/>
          </a:p>
        </p:txBody>
      </p:sp>
      <p:sp>
        <p:nvSpPr>
          <p:cNvPr id="4" name="Title 3">
            <a:extLst>
              <a:ext uri="{FF2B5EF4-FFF2-40B4-BE49-F238E27FC236}">
                <a16:creationId xmlns:a16="http://schemas.microsoft.com/office/drawing/2014/main" id="{4D2A199A-34A1-4046-925F-EACE548736E8}"/>
              </a:ext>
            </a:extLst>
          </p:cNvPr>
          <p:cNvSpPr>
            <a:spLocks noGrp="1"/>
          </p:cNvSpPr>
          <p:nvPr>
            <p:ph type="title"/>
          </p:nvPr>
        </p:nvSpPr>
        <p:spPr/>
        <p:txBody>
          <a:bodyPr>
            <a:normAutofit/>
          </a:bodyPr>
          <a:lstStyle/>
          <a:p>
            <a:r>
              <a:rPr lang="en-US" dirty="0"/>
              <a:t>Relationships</a:t>
            </a:r>
          </a:p>
        </p:txBody>
      </p:sp>
    </p:spTree>
    <p:extLst>
      <p:ext uri="{BB962C8B-B14F-4D97-AF65-F5344CB8AC3E}">
        <p14:creationId xmlns:p14="http://schemas.microsoft.com/office/powerpoint/2010/main" val="15325235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36F5FC-5E2E-4E22-B755-FECFABCE7F80}"/>
              </a:ext>
            </a:extLst>
          </p:cNvPr>
          <p:cNvSpPr>
            <a:spLocks noGrp="1"/>
          </p:cNvSpPr>
          <p:nvPr>
            <p:ph idx="1"/>
          </p:nvPr>
        </p:nvSpPr>
        <p:spPr>
          <a:xfrm>
            <a:off x="747000" y="990600"/>
            <a:ext cx="13166084" cy="6421755"/>
          </a:xfrm>
        </p:spPr>
        <p:txBody>
          <a:bodyPr>
            <a:normAutofit lnSpcReduction="10000"/>
          </a:bodyPr>
          <a:lstStyle/>
          <a:p>
            <a:pPr>
              <a:lnSpc>
                <a:spcPct val="150000"/>
              </a:lnSpc>
            </a:pPr>
            <a:r>
              <a:rPr lang="en-US" dirty="0"/>
              <a:t>Specifies the number of instances of one entity that can or must be associated with instances of another entity.</a:t>
            </a:r>
          </a:p>
          <a:p>
            <a:pPr>
              <a:lnSpc>
                <a:spcPct val="150000"/>
              </a:lnSpc>
            </a:pPr>
            <a:r>
              <a:rPr lang="en-US" dirty="0"/>
              <a:t>Represented </a:t>
            </a:r>
            <a:r>
              <a:rPr lang="en-US" b="1" dirty="0"/>
              <a:t>numerically or symbolically </a:t>
            </a:r>
            <a:r>
              <a:rPr lang="en-US" dirty="0"/>
              <a:t>(e.g., 1, N).</a:t>
            </a:r>
          </a:p>
          <a:p>
            <a:pPr>
              <a:lnSpc>
                <a:spcPct val="150000"/>
              </a:lnSpc>
            </a:pPr>
            <a:r>
              <a:rPr lang="en-US" dirty="0"/>
              <a:t>Example: each customer places 1 to N orders.</a:t>
            </a:r>
          </a:p>
          <a:p>
            <a:pPr>
              <a:lnSpc>
                <a:spcPct val="150000"/>
              </a:lnSpc>
            </a:pPr>
            <a:r>
              <a:rPr lang="en-US" dirty="0"/>
              <a:t>Compared to Relations: </a:t>
            </a:r>
          </a:p>
          <a:p>
            <a:pPr lvl="1">
              <a:lnSpc>
                <a:spcPct val="150000"/>
              </a:lnSpc>
            </a:pPr>
            <a:r>
              <a:rPr lang="en-US" dirty="0"/>
              <a:t>Relation 1:N =&gt; a customer can have many order, a order can only belong to 1 customer</a:t>
            </a:r>
          </a:p>
          <a:p>
            <a:pPr lvl="1">
              <a:lnSpc>
                <a:spcPct val="150000"/>
              </a:lnSpc>
            </a:pPr>
            <a:r>
              <a:rPr lang="en-US" dirty="0"/>
              <a:t>Cardinality 1:N =&gt; a customer must have at least 1 order</a:t>
            </a:r>
          </a:p>
        </p:txBody>
      </p:sp>
      <p:sp>
        <p:nvSpPr>
          <p:cNvPr id="3" name="Slide Number Placeholder 2">
            <a:extLst>
              <a:ext uri="{FF2B5EF4-FFF2-40B4-BE49-F238E27FC236}">
                <a16:creationId xmlns:a16="http://schemas.microsoft.com/office/drawing/2014/main" id="{0B58067A-002F-48CA-BA8A-290D31A6F231}"/>
              </a:ext>
            </a:extLst>
          </p:cNvPr>
          <p:cNvSpPr>
            <a:spLocks noGrp="1"/>
          </p:cNvSpPr>
          <p:nvPr>
            <p:ph type="sldNum" sz="quarter" idx="4"/>
          </p:nvPr>
        </p:nvSpPr>
        <p:spPr/>
        <p:txBody>
          <a:bodyPr/>
          <a:lstStyle/>
          <a:p>
            <a:fld id="{31D26D55-0A22-487A-A687-61FB58A6F16A}" type="slidenum">
              <a:rPr lang="en-US" smtClean="0"/>
              <a:pPr/>
              <a:t>23</a:t>
            </a:fld>
            <a:endParaRPr lang="en-US" dirty="0"/>
          </a:p>
        </p:txBody>
      </p:sp>
      <p:sp>
        <p:nvSpPr>
          <p:cNvPr id="4" name="Title 3">
            <a:extLst>
              <a:ext uri="{FF2B5EF4-FFF2-40B4-BE49-F238E27FC236}">
                <a16:creationId xmlns:a16="http://schemas.microsoft.com/office/drawing/2014/main" id="{18D833AC-C01A-4B4E-9008-BD6FA26B9FB6}"/>
              </a:ext>
            </a:extLst>
          </p:cNvPr>
          <p:cNvSpPr>
            <a:spLocks noGrp="1"/>
          </p:cNvSpPr>
          <p:nvPr>
            <p:ph type="title"/>
          </p:nvPr>
        </p:nvSpPr>
        <p:spPr/>
        <p:txBody>
          <a:bodyPr/>
          <a:lstStyle/>
          <a:p>
            <a:r>
              <a:rPr lang="en-US" dirty="0"/>
              <a:t>Cardinality</a:t>
            </a:r>
          </a:p>
        </p:txBody>
      </p:sp>
    </p:spTree>
    <p:extLst>
      <p:ext uri="{BB962C8B-B14F-4D97-AF65-F5344CB8AC3E}">
        <p14:creationId xmlns:p14="http://schemas.microsoft.com/office/powerpoint/2010/main" val="23469317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D19AC46-770E-4478-B97F-DB04370AA0EA}"/>
              </a:ext>
            </a:extLst>
          </p:cNvPr>
          <p:cNvSpPr>
            <a:spLocks noGrp="1"/>
          </p:cNvSpPr>
          <p:nvPr>
            <p:ph type="sldNum" sz="quarter" idx="4"/>
          </p:nvPr>
        </p:nvSpPr>
        <p:spPr/>
        <p:txBody>
          <a:bodyPr/>
          <a:lstStyle/>
          <a:p>
            <a:fld id="{31D26D55-0A22-487A-A687-61FB58A6F16A}" type="slidenum">
              <a:rPr lang="en-US" smtClean="0"/>
              <a:pPr/>
              <a:t>24</a:t>
            </a:fld>
            <a:endParaRPr lang="en-US" dirty="0"/>
          </a:p>
        </p:txBody>
      </p:sp>
      <p:sp>
        <p:nvSpPr>
          <p:cNvPr id="4" name="Title 3">
            <a:extLst>
              <a:ext uri="{FF2B5EF4-FFF2-40B4-BE49-F238E27FC236}">
                <a16:creationId xmlns:a16="http://schemas.microsoft.com/office/drawing/2014/main" id="{A313A171-DBE7-4995-B3E7-9765DB5B8E48}"/>
              </a:ext>
            </a:extLst>
          </p:cNvPr>
          <p:cNvSpPr>
            <a:spLocks noGrp="1"/>
          </p:cNvSpPr>
          <p:nvPr>
            <p:ph type="title"/>
          </p:nvPr>
        </p:nvSpPr>
        <p:spPr/>
        <p:txBody>
          <a:bodyPr/>
          <a:lstStyle/>
          <a:p>
            <a:r>
              <a:rPr lang="en-US" dirty="0"/>
              <a:t>ERD Example</a:t>
            </a:r>
          </a:p>
        </p:txBody>
      </p:sp>
      <p:pic>
        <p:nvPicPr>
          <p:cNvPr id="22530" name="Picture 2" descr="Entity Relationship Diagram Examples Online Free to Download">
            <a:extLst>
              <a:ext uri="{FF2B5EF4-FFF2-40B4-BE49-F238E27FC236}">
                <a16:creationId xmlns:a16="http://schemas.microsoft.com/office/drawing/2014/main" id="{9A266CBA-4B3B-40DE-81AA-203ADF50C4C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628371" y="1013222"/>
            <a:ext cx="9373658" cy="6203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69889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9B22D6-8117-477C-A3E3-DAD17359315A}"/>
              </a:ext>
            </a:extLst>
          </p:cNvPr>
          <p:cNvSpPr>
            <a:spLocks noGrp="1"/>
          </p:cNvSpPr>
          <p:nvPr>
            <p:ph idx="1"/>
          </p:nvPr>
        </p:nvSpPr>
        <p:spPr>
          <a:xfrm>
            <a:off x="747000" y="1123950"/>
            <a:ext cx="13166084" cy="6288405"/>
          </a:xfrm>
        </p:spPr>
        <p:txBody>
          <a:bodyPr>
            <a:normAutofit fontScale="92500" lnSpcReduction="10000"/>
          </a:bodyPr>
          <a:lstStyle/>
          <a:p>
            <a:pPr>
              <a:lnSpc>
                <a:spcPct val="150000"/>
              </a:lnSpc>
            </a:pPr>
            <a:r>
              <a:rPr lang="en-US" dirty="0"/>
              <a:t>Translating ERD into a logical model that defines the structure of the database in terms of relations (tables), attributes (columns), and relationships (foreign keys).</a:t>
            </a:r>
          </a:p>
          <a:p>
            <a:pPr>
              <a:lnSpc>
                <a:spcPct val="150000"/>
              </a:lnSpc>
            </a:pPr>
            <a:r>
              <a:rPr lang="en-US" dirty="0"/>
              <a:t>Steps:</a:t>
            </a:r>
          </a:p>
          <a:p>
            <a:pPr lvl="1">
              <a:lnSpc>
                <a:spcPct val="150000"/>
              </a:lnSpc>
            </a:pPr>
            <a:r>
              <a:rPr lang="en-US" dirty="0"/>
              <a:t>Create the Logical Schema</a:t>
            </a:r>
          </a:p>
          <a:p>
            <a:pPr lvl="1">
              <a:lnSpc>
                <a:spcPct val="150000"/>
              </a:lnSpc>
            </a:pPr>
            <a:r>
              <a:rPr lang="en-US" dirty="0"/>
              <a:t>Normalize the Data</a:t>
            </a:r>
          </a:p>
          <a:p>
            <a:pPr lvl="1">
              <a:lnSpc>
                <a:spcPct val="150000"/>
              </a:lnSpc>
            </a:pPr>
            <a:r>
              <a:rPr lang="en-US" dirty="0"/>
              <a:t>Define Constraints</a:t>
            </a:r>
          </a:p>
          <a:p>
            <a:pPr lvl="1">
              <a:lnSpc>
                <a:spcPct val="150000"/>
              </a:lnSpc>
            </a:pPr>
            <a:r>
              <a:rPr lang="en-US" dirty="0"/>
              <a:t>Establish Relationships</a:t>
            </a:r>
          </a:p>
          <a:p>
            <a:pPr lvl="1">
              <a:lnSpc>
                <a:spcPct val="150000"/>
              </a:lnSpc>
            </a:pPr>
            <a:r>
              <a:rPr lang="en-US" dirty="0"/>
              <a:t>Specify Derived Attributes</a:t>
            </a:r>
          </a:p>
        </p:txBody>
      </p:sp>
      <p:sp>
        <p:nvSpPr>
          <p:cNvPr id="3" name="Slide Number Placeholder 2">
            <a:extLst>
              <a:ext uri="{FF2B5EF4-FFF2-40B4-BE49-F238E27FC236}">
                <a16:creationId xmlns:a16="http://schemas.microsoft.com/office/drawing/2014/main" id="{1A54CE7B-DB5E-4908-BD5E-97E912423CD4}"/>
              </a:ext>
            </a:extLst>
          </p:cNvPr>
          <p:cNvSpPr>
            <a:spLocks noGrp="1"/>
          </p:cNvSpPr>
          <p:nvPr>
            <p:ph type="sldNum" sz="quarter" idx="4"/>
          </p:nvPr>
        </p:nvSpPr>
        <p:spPr/>
        <p:txBody>
          <a:bodyPr/>
          <a:lstStyle/>
          <a:p>
            <a:fld id="{31D26D55-0A22-487A-A687-61FB58A6F16A}" type="slidenum">
              <a:rPr lang="en-US" smtClean="0"/>
              <a:pPr/>
              <a:t>25</a:t>
            </a:fld>
            <a:endParaRPr lang="en-US" dirty="0"/>
          </a:p>
        </p:txBody>
      </p:sp>
      <p:sp>
        <p:nvSpPr>
          <p:cNvPr id="4" name="Title 3">
            <a:extLst>
              <a:ext uri="{FF2B5EF4-FFF2-40B4-BE49-F238E27FC236}">
                <a16:creationId xmlns:a16="http://schemas.microsoft.com/office/drawing/2014/main" id="{E8C3A710-A154-4656-A1F1-91BD29D3DE33}"/>
              </a:ext>
            </a:extLst>
          </p:cNvPr>
          <p:cNvSpPr>
            <a:spLocks noGrp="1"/>
          </p:cNvSpPr>
          <p:nvPr>
            <p:ph type="title"/>
          </p:nvPr>
        </p:nvSpPr>
        <p:spPr/>
        <p:txBody>
          <a:bodyPr/>
          <a:lstStyle/>
          <a:p>
            <a:r>
              <a:rPr lang="en-US" dirty="0"/>
              <a:t>Logical Design</a:t>
            </a:r>
          </a:p>
        </p:txBody>
      </p:sp>
    </p:spTree>
    <p:extLst>
      <p:ext uri="{BB962C8B-B14F-4D97-AF65-F5344CB8AC3E}">
        <p14:creationId xmlns:p14="http://schemas.microsoft.com/office/powerpoint/2010/main" val="14259080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9320DD-35C1-4DF9-8D56-7FDB96A42EA3}"/>
              </a:ext>
            </a:extLst>
          </p:cNvPr>
          <p:cNvSpPr>
            <a:spLocks noGrp="1"/>
          </p:cNvSpPr>
          <p:nvPr>
            <p:ph idx="1"/>
          </p:nvPr>
        </p:nvSpPr>
        <p:spPr>
          <a:xfrm>
            <a:off x="747000" y="1917577"/>
            <a:ext cx="13644590" cy="5494778"/>
          </a:xfrm>
        </p:spPr>
        <p:txBody>
          <a:bodyPr/>
          <a:lstStyle/>
          <a:p>
            <a:pPr>
              <a:lnSpc>
                <a:spcPct val="150000"/>
              </a:lnSpc>
            </a:pPr>
            <a:r>
              <a:rPr lang="en-US" dirty="0"/>
              <a:t>Apply normalization rules to ensure the database structure minimizes redundancy and dependency issues.</a:t>
            </a:r>
          </a:p>
          <a:p>
            <a:pPr>
              <a:lnSpc>
                <a:spcPct val="150000"/>
              </a:lnSpc>
            </a:pPr>
            <a:r>
              <a:rPr lang="en-US" dirty="0"/>
              <a:t>Move through the normal forms </a:t>
            </a:r>
          </a:p>
          <a:p>
            <a:pPr marL="0" indent="0">
              <a:lnSpc>
                <a:spcPct val="150000"/>
              </a:lnSpc>
              <a:buNone/>
            </a:pPr>
            <a:r>
              <a:rPr lang="en-US" dirty="0"/>
              <a:t>(1NF, 2NF, 3NF, BCNF, etc.)</a:t>
            </a:r>
          </a:p>
          <a:p>
            <a:pPr marL="0" indent="0">
              <a:lnSpc>
                <a:spcPct val="150000"/>
              </a:lnSpc>
              <a:buNone/>
            </a:pPr>
            <a:r>
              <a:rPr lang="en-US" dirty="0"/>
              <a:t>to create an efficient design.</a:t>
            </a:r>
          </a:p>
        </p:txBody>
      </p:sp>
      <p:sp>
        <p:nvSpPr>
          <p:cNvPr id="3" name="Slide Number Placeholder 2">
            <a:extLst>
              <a:ext uri="{FF2B5EF4-FFF2-40B4-BE49-F238E27FC236}">
                <a16:creationId xmlns:a16="http://schemas.microsoft.com/office/drawing/2014/main" id="{E95FA7E6-4CB2-416E-8E9D-E35F3EC5DE55}"/>
              </a:ext>
            </a:extLst>
          </p:cNvPr>
          <p:cNvSpPr>
            <a:spLocks noGrp="1"/>
          </p:cNvSpPr>
          <p:nvPr>
            <p:ph type="sldNum" sz="quarter" idx="4"/>
          </p:nvPr>
        </p:nvSpPr>
        <p:spPr/>
        <p:txBody>
          <a:bodyPr/>
          <a:lstStyle/>
          <a:p>
            <a:fld id="{31D26D55-0A22-487A-A687-61FB58A6F16A}" type="slidenum">
              <a:rPr lang="en-US" smtClean="0"/>
              <a:pPr/>
              <a:t>26</a:t>
            </a:fld>
            <a:endParaRPr lang="en-US" dirty="0"/>
          </a:p>
        </p:txBody>
      </p:sp>
      <p:sp>
        <p:nvSpPr>
          <p:cNvPr id="4" name="Title 3">
            <a:extLst>
              <a:ext uri="{FF2B5EF4-FFF2-40B4-BE49-F238E27FC236}">
                <a16:creationId xmlns:a16="http://schemas.microsoft.com/office/drawing/2014/main" id="{0C121FE1-E50E-45B7-8340-E81342D57224}"/>
              </a:ext>
            </a:extLst>
          </p:cNvPr>
          <p:cNvSpPr>
            <a:spLocks noGrp="1"/>
          </p:cNvSpPr>
          <p:nvPr>
            <p:ph type="title"/>
          </p:nvPr>
        </p:nvSpPr>
        <p:spPr/>
        <p:txBody>
          <a:bodyPr>
            <a:normAutofit/>
          </a:bodyPr>
          <a:lstStyle/>
          <a:p>
            <a:r>
              <a:rPr lang="en-US" dirty="0"/>
              <a:t>Normalization: Reducing Data Redundancy</a:t>
            </a:r>
          </a:p>
        </p:txBody>
      </p:sp>
      <p:pic>
        <p:nvPicPr>
          <p:cNvPr id="8" name="Picture 7">
            <a:extLst>
              <a:ext uri="{FF2B5EF4-FFF2-40B4-BE49-F238E27FC236}">
                <a16:creationId xmlns:a16="http://schemas.microsoft.com/office/drawing/2014/main" id="{DC4EF65F-E10F-4782-9967-E4E753922738}"/>
              </a:ext>
            </a:extLst>
          </p:cNvPr>
          <p:cNvPicPr>
            <a:picLocks noChangeAspect="1"/>
          </p:cNvPicPr>
          <p:nvPr/>
        </p:nvPicPr>
        <p:blipFill>
          <a:blip r:embed="rId3"/>
          <a:stretch>
            <a:fillRect/>
          </a:stretch>
        </p:blipFill>
        <p:spPr>
          <a:xfrm>
            <a:off x="7315200" y="3390900"/>
            <a:ext cx="6779986" cy="3848100"/>
          </a:xfrm>
          <a:prstGeom prst="rect">
            <a:avLst/>
          </a:prstGeom>
        </p:spPr>
      </p:pic>
    </p:spTree>
    <p:extLst>
      <p:ext uri="{BB962C8B-B14F-4D97-AF65-F5344CB8AC3E}">
        <p14:creationId xmlns:p14="http://schemas.microsoft.com/office/powerpoint/2010/main" val="3259399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AA467D-32ED-49EB-81CD-2CF753FE8E6D}"/>
              </a:ext>
            </a:extLst>
          </p:cNvPr>
          <p:cNvSpPr>
            <a:spLocks noGrp="1"/>
          </p:cNvSpPr>
          <p:nvPr>
            <p:ph idx="1"/>
          </p:nvPr>
        </p:nvSpPr>
        <p:spPr>
          <a:xfrm>
            <a:off x="747000" y="1917577"/>
            <a:ext cx="4529850" cy="5494778"/>
          </a:xfrm>
        </p:spPr>
        <p:txBody>
          <a:bodyPr/>
          <a:lstStyle/>
          <a:p>
            <a:r>
              <a:rPr lang="en-US" dirty="0"/>
              <a:t>Each column contains atomic (indivisible) values.</a:t>
            </a:r>
          </a:p>
          <a:p>
            <a:r>
              <a:rPr lang="en-US" dirty="0"/>
              <a:t>Each row is unique (has a primary key).</a:t>
            </a:r>
          </a:p>
          <a:p>
            <a:r>
              <a:rPr lang="en-US" dirty="0"/>
              <a:t>Each column contains values of a single type.</a:t>
            </a:r>
          </a:p>
        </p:txBody>
      </p:sp>
      <p:sp>
        <p:nvSpPr>
          <p:cNvPr id="3" name="Slide Number Placeholder 2">
            <a:extLst>
              <a:ext uri="{FF2B5EF4-FFF2-40B4-BE49-F238E27FC236}">
                <a16:creationId xmlns:a16="http://schemas.microsoft.com/office/drawing/2014/main" id="{9AD7EBD5-F9DB-43A9-85B8-DE6FB9B76BD0}"/>
              </a:ext>
            </a:extLst>
          </p:cNvPr>
          <p:cNvSpPr>
            <a:spLocks noGrp="1"/>
          </p:cNvSpPr>
          <p:nvPr>
            <p:ph type="sldNum" sz="quarter" idx="4"/>
          </p:nvPr>
        </p:nvSpPr>
        <p:spPr/>
        <p:txBody>
          <a:bodyPr/>
          <a:lstStyle/>
          <a:p>
            <a:fld id="{31D26D55-0A22-487A-A687-61FB58A6F16A}" type="slidenum">
              <a:rPr lang="en-US" smtClean="0"/>
              <a:pPr/>
              <a:t>27</a:t>
            </a:fld>
            <a:endParaRPr lang="en-US" dirty="0"/>
          </a:p>
        </p:txBody>
      </p:sp>
      <p:sp>
        <p:nvSpPr>
          <p:cNvPr id="4" name="Title 3">
            <a:extLst>
              <a:ext uri="{FF2B5EF4-FFF2-40B4-BE49-F238E27FC236}">
                <a16:creationId xmlns:a16="http://schemas.microsoft.com/office/drawing/2014/main" id="{25A61E76-F78E-455A-B07F-EC4C23ACA7F7}"/>
              </a:ext>
            </a:extLst>
          </p:cNvPr>
          <p:cNvSpPr>
            <a:spLocks noGrp="1"/>
          </p:cNvSpPr>
          <p:nvPr>
            <p:ph type="title"/>
          </p:nvPr>
        </p:nvSpPr>
        <p:spPr/>
        <p:txBody>
          <a:bodyPr/>
          <a:lstStyle/>
          <a:p>
            <a:r>
              <a:rPr lang="en-US" dirty="0"/>
              <a:t>1NF (First Normal Form)</a:t>
            </a:r>
          </a:p>
        </p:txBody>
      </p:sp>
      <p:graphicFrame>
        <p:nvGraphicFramePr>
          <p:cNvPr id="6" name="Table 6">
            <a:extLst>
              <a:ext uri="{FF2B5EF4-FFF2-40B4-BE49-F238E27FC236}">
                <a16:creationId xmlns:a16="http://schemas.microsoft.com/office/drawing/2014/main" id="{FD286A04-F0A3-4C80-8C6C-B8E0E0BABE5C}"/>
              </a:ext>
            </a:extLst>
          </p:cNvPr>
          <p:cNvGraphicFramePr>
            <a:graphicFrameLocks noGrp="1"/>
          </p:cNvGraphicFramePr>
          <p:nvPr>
            <p:extLst>
              <p:ext uri="{D42A27DB-BD31-4B8C-83A1-F6EECF244321}">
                <p14:modId xmlns:p14="http://schemas.microsoft.com/office/powerpoint/2010/main" val="2955358687"/>
              </p:ext>
            </p:extLst>
          </p:nvPr>
        </p:nvGraphicFramePr>
        <p:xfrm>
          <a:off x="5429250" y="1917577"/>
          <a:ext cx="8962338" cy="841248"/>
        </p:xfrm>
        <a:graphic>
          <a:graphicData uri="http://schemas.openxmlformats.org/drawingml/2006/table">
            <a:tbl>
              <a:tblPr firstRow="1" bandRow="1">
                <a:tableStyleId>{5C22544A-7EE6-4342-B048-85BDC9FD1C3A}</a:tableStyleId>
              </a:tblPr>
              <a:tblGrid>
                <a:gridCol w="2987446">
                  <a:extLst>
                    <a:ext uri="{9D8B030D-6E8A-4147-A177-3AD203B41FA5}">
                      <a16:colId xmlns:a16="http://schemas.microsoft.com/office/drawing/2014/main" val="4065779483"/>
                    </a:ext>
                  </a:extLst>
                </a:gridCol>
                <a:gridCol w="2987446">
                  <a:extLst>
                    <a:ext uri="{9D8B030D-6E8A-4147-A177-3AD203B41FA5}">
                      <a16:colId xmlns:a16="http://schemas.microsoft.com/office/drawing/2014/main" val="2892646769"/>
                    </a:ext>
                  </a:extLst>
                </a:gridCol>
                <a:gridCol w="2987446">
                  <a:extLst>
                    <a:ext uri="{9D8B030D-6E8A-4147-A177-3AD203B41FA5}">
                      <a16:colId xmlns:a16="http://schemas.microsoft.com/office/drawing/2014/main" val="3959021756"/>
                    </a:ext>
                  </a:extLst>
                </a:gridCol>
              </a:tblGrid>
              <a:tr h="370840">
                <a:tc>
                  <a:txBody>
                    <a:bodyPr/>
                    <a:lstStyle/>
                    <a:p>
                      <a:r>
                        <a:rPr lang="en-US" dirty="0" err="1"/>
                        <a:t>EmployeeID</a:t>
                      </a:r>
                      <a:endParaRPr lang="en-US" dirty="0"/>
                    </a:p>
                  </a:txBody>
                  <a:tcPr anchor="ctr"/>
                </a:tc>
                <a:tc>
                  <a:txBody>
                    <a:bodyPr/>
                    <a:lstStyle/>
                    <a:p>
                      <a:r>
                        <a:rPr lang="en-US"/>
                        <a:t>Name</a:t>
                      </a:r>
                    </a:p>
                  </a:txBody>
                  <a:tcPr anchor="ctr"/>
                </a:tc>
                <a:tc>
                  <a:txBody>
                    <a:bodyPr/>
                    <a:lstStyle/>
                    <a:p>
                      <a:r>
                        <a:rPr lang="en-US" dirty="0" err="1"/>
                        <a:t>PhoneNumbers</a:t>
                      </a:r>
                      <a:endParaRPr lang="en-US" dirty="0"/>
                    </a:p>
                  </a:txBody>
                  <a:tcPr anchor="ctr"/>
                </a:tc>
                <a:extLst>
                  <a:ext uri="{0D108BD9-81ED-4DB2-BD59-A6C34878D82A}">
                    <a16:rowId xmlns:a16="http://schemas.microsoft.com/office/drawing/2014/main" val="2191888579"/>
                  </a:ext>
                </a:extLst>
              </a:tr>
              <a:tr h="370840">
                <a:tc>
                  <a:txBody>
                    <a:bodyPr/>
                    <a:lstStyle/>
                    <a:p>
                      <a:r>
                        <a:rPr lang="en-US" dirty="0"/>
                        <a:t>1</a:t>
                      </a:r>
                    </a:p>
                  </a:txBody>
                  <a:tcPr anchor="ctr"/>
                </a:tc>
                <a:tc>
                  <a:txBody>
                    <a:bodyPr/>
                    <a:lstStyle/>
                    <a:p>
                      <a:r>
                        <a:rPr lang="en-US" dirty="0"/>
                        <a:t>John Doe</a:t>
                      </a:r>
                    </a:p>
                  </a:txBody>
                  <a:tcPr anchor="ctr"/>
                </a:tc>
                <a:tc>
                  <a:txBody>
                    <a:bodyPr/>
                    <a:lstStyle/>
                    <a:p>
                      <a:r>
                        <a:rPr lang="en-US" dirty="0"/>
                        <a:t>123-456, 789-012</a:t>
                      </a:r>
                    </a:p>
                  </a:txBody>
                  <a:tcPr anchor="ctr"/>
                </a:tc>
                <a:extLst>
                  <a:ext uri="{0D108BD9-81ED-4DB2-BD59-A6C34878D82A}">
                    <a16:rowId xmlns:a16="http://schemas.microsoft.com/office/drawing/2014/main" val="3367280540"/>
                  </a:ext>
                </a:extLst>
              </a:tr>
            </a:tbl>
          </a:graphicData>
        </a:graphic>
      </p:graphicFrame>
      <p:graphicFrame>
        <p:nvGraphicFramePr>
          <p:cNvPr id="8" name="Table 6">
            <a:extLst>
              <a:ext uri="{FF2B5EF4-FFF2-40B4-BE49-F238E27FC236}">
                <a16:creationId xmlns:a16="http://schemas.microsoft.com/office/drawing/2014/main" id="{30F74B59-7F46-46EF-9749-82061FBEF554}"/>
              </a:ext>
            </a:extLst>
          </p:cNvPr>
          <p:cNvGraphicFramePr>
            <a:graphicFrameLocks noGrp="1"/>
          </p:cNvGraphicFramePr>
          <p:nvPr>
            <p:extLst>
              <p:ext uri="{D42A27DB-BD31-4B8C-83A1-F6EECF244321}">
                <p14:modId xmlns:p14="http://schemas.microsoft.com/office/powerpoint/2010/main" val="4002793762"/>
              </p:ext>
            </p:extLst>
          </p:nvPr>
        </p:nvGraphicFramePr>
        <p:xfrm>
          <a:off x="5429251" y="4104610"/>
          <a:ext cx="8962338" cy="1261872"/>
        </p:xfrm>
        <a:graphic>
          <a:graphicData uri="http://schemas.openxmlformats.org/drawingml/2006/table">
            <a:tbl>
              <a:tblPr firstRow="1" bandRow="1">
                <a:tableStyleId>{5C22544A-7EE6-4342-B048-85BDC9FD1C3A}</a:tableStyleId>
              </a:tblPr>
              <a:tblGrid>
                <a:gridCol w="2987446">
                  <a:extLst>
                    <a:ext uri="{9D8B030D-6E8A-4147-A177-3AD203B41FA5}">
                      <a16:colId xmlns:a16="http://schemas.microsoft.com/office/drawing/2014/main" val="4065779483"/>
                    </a:ext>
                  </a:extLst>
                </a:gridCol>
                <a:gridCol w="2987446">
                  <a:extLst>
                    <a:ext uri="{9D8B030D-6E8A-4147-A177-3AD203B41FA5}">
                      <a16:colId xmlns:a16="http://schemas.microsoft.com/office/drawing/2014/main" val="2892646769"/>
                    </a:ext>
                  </a:extLst>
                </a:gridCol>
                <a:gridCol w="2987446">
                  <a:extLst>
                    <a:ext uri="{9D8B030D-6E8A-4147-A177-3AD203B41FA5}">
                      <a16:colId xmlns:a16="http://schemas.microsoft.com/office/drawing/2014/main" val="3959021756"/>
                    </a:ext>
                  </a:extLst>
                </a:gridCol>
              </a:tblGrid>
              <a:tr h="370840">
                <a:tc>
                  <a:txBody>
                    <a:bodyPr/>
                    <a:lstStyle/>
                    <a:p>
                      <a:r>
                        <a:rPr lang="en-US" dirty="0" err="1"/>
                        <a:t>EmployeeID</a:t>
                      </a:r>
                      <a:endParaRPr lang="en-US" dirty="0"/>
                    </a:p>
                  </a:txBody>
                  <a:tcPr anchor="ctr"/>
                </a:tc>
                <a:tc>
                  <a:txBody>
                    <a:bodyPr/>
                    <a:lstStyle/>
                    <a:p>
                      <a:r>
                        <a:rPr lang="en-US"/>
                        <a:t>Name</a:t>
                      </a:r>
                    </a:p>
                  </a:txBody>
                  <a:tcPr anchor="ctr"/>
                </a:tc>
                <a:tc>
                  <a:txBody>
                    <a:bodyPr/>
                    <a:lstStyle/>
                    <a:p>
                      <a:r>
                        <a:rPr lang="en-US" dirty="0" err="1"/>
                        <a:t>PhoneNumbers</a:t>
                      </a:r>
                      <a:endParaRPr lang="en-US" dirty="0"/>
                    </a:p>
                  </a:txBody>
                  <a:tcPr anchor="ctr"/>
                </a:tc>
                <a:extLst>
                  <a:ext uri="{0D108BD9-81ED-4DB2-BD59-A6C34878D82A}">
                    <a16:rowId xmlns:a16="http://schemas.microsoft.com/office/drawing/2014/main" val="2191888579"/>
                  </a:ext>
                </a:extLst>
              </a:tr>
              <a:tr h="370840">
                <a:tc>
                  <a:txBody>
                    <a:bodyPr/>
                    <a:lstStyle/>
                    <a:p>
                      <a:r>
                        <a:rPr lang="en-US" dirty="0"/>
                        <a:t>1</a:t>
                      </a:r>
                    </a:p>
                  </a:txBody>
                  <a:tcPr anchor="ctr"/>
                </a:tc>
                <a:tc>
                  <a:txBody>
                    <a:bodyPr/>
                    <a:lstStyle/>
                    <a:p>
                      <a:r>
                        <a:rPr lang="en-US" dirty="0"/>
                        <a:t>John Doe</a:t>
                      </a:r>
                    </a:p>
                  </a:txBody>
                  <a:tcPr anchor="ctr"/>
                </a:tc>
                <a:tc>
                  <a:txBody>
                    <a:bodyPr/>
                    <a:lstStyle/>
                    <a:p>
                      <a:r>
                        <a:rPr lang="en-US" dirty="0"/>
                        <a:t>123-456</a:t>
                      </a:r>
                    </a:p>
                  </a:txBody>
                  <a:tcPr anchor="ctr"/>
                </a:tc>
                <a:extLst>
                  <a:ext uri="{0D108BD9-81ED-4DB2-BD59-A6C34878D82A}">
                    <a16:rowId xmlns:a16="http://schemas.microsoft.com/office/drawing/2014/main" val="3367280540"/>
                  </a:ext>
                </a:extLst>
              </a:tr>
              <a:tr h="370840">
                <a:tc>
                  <a:txBody>
                    <a:bodyPr/>
                    <a:lstStyle/>
                    <a:p>
                      <a:r>
                        <a:rPr lang="en-US" dirty="0"/>
                        <a:t>1</a:t>
                      </a:r>
                    </a:p>
                  </a:txBody>
                  <a:tcPr anchor="ct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dirty="0"/>
                        <a:t>John Doe</a:t>
                      </a:r>
                    </a:p>
                  </a:txBody>
                  <a:tcPr anchor="ctr"/>
                </a:tc>
                <a:tc>
                  <a:txBody>
                    <a:bodyPr/>
                    <a:lstStyle/>
                    <a:p>
                      <a:r>
                        <a:rPr lang="en-US" dirty="0"/>
                        <a:t>789-012</a:t>
                      </a:r>
                    </a:p>
                  </a:txBody>
                  <a:tcPr anchor="ctr"/>
                </a:tc>
                <a:extLst>
                  <a:ext uri="{0D108BD9-81ED-4DB2-BD59-A6C34878D82A}">
                    <a16:rowId xmlns:a16="http://schemas.microsoft.com/office/drawing/2014/main" val="2521567256"/>
                  </a:ext>
                </a:extLst>
              </a:tr>
            </a:tbl>
          </a:graphicData>
        </a:graphic>
      </p:graphicFrame>
      <p:sp>
        <p:nvSpPr>
          <p:cNvPr id="9" name="Arrow: Down 8">
            <a:extLst>
              <a:ext uri="{FF2B5EF4-FFF2-40B4-BE49-F238E27FC236}">
                <a16:creationId xmlns:a16="http://schemas.microsoft.com/office/drawing/2014/main" id="{CE06E6C5-A4EC-409F-9957-C569B7DAB5D5}"/>
              </a:ext>
            </a:extLst>
          </p:cNvPr>
          <p:cNvSpPr/>
          <p:nvPr/>
        </p:nvSpPr>
        <p:spPr>
          <a:xfrm>
            <a:off x="9505950" y="3011093"/>
            <a:ext cx="609600" cy="84124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7776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DE810F-61B2-4662-A993-16B2F99E5AB1}"/>
              </a:ext>
            </a:extLst>
          </p:cNvPr>
          <p:cNvSpPr>
            <a:spLocks noGrp="1"/>
          </p:cNvSpPr>
          <p:nvPr>
            <p:ph idx="1"/>
          </p:nvPr>
        </p:nvSpPr>
        <p:spPr>
          <a:xfrm>
            <a:off x="747000" y="1917577"/>
            <a:ext cx="3729750" cy="5494778"/>
          </a:xfrm>
        </p:spPr>
        <p:txBody>
          <a:bodyPr/>
          <a:lstStyle/>
          <a:p>
            <a:r>
              <a:rPr lang="en-US" dirty="0"/>
              <a:t>The table must be in 1NF.</a:t>
            </a:r>
          </a:p>
          <a:p>
            <a:r>
              <a:rPr lang="en-US" dirty="0"/>
              <a:t>All non-key attributes must depend on the entire primary key (eliminate partial dependency).</a:t>
            </a:r>
          </a:p>
        </p:txBody>
      </p:sp>
      <p:sp>
        <p:nvSpPr>
          <p:cNvPr id="3" name="Slide Number Placeholder 2">
            <a:extLst>
              <a:ext uri="{FF2B5EF4-FFF2-40B4-BE49-F238E27FC236}">
                <a16:creationId xmlns:a16="http://schemas.microsoft.com/office/drawing/2014/main" id="{97CBA138-2EAF-4125-9BA6-E0F9BCBFC6E3}"/>
              </a:ext>
            </a:extLst>
          </p:cNvPr>
          <p:cNvSpPr>
            <a:spLocks noGrp="1"/>
          </p:cNvSpPr>
          <p:nvPr>
            <p:ph type="sldNum" sz="quarter" idx="4"/>
          </p:nvPr>
        </p:nvSpPr>
        <p:spPr/>
        <p:txBody>
          <a:bodyPr/>
          <a:lstStyle/>
          <a:p>
            <a:fld id="{31D26D55-0A22-487A-A687-61FB58A6F16A}" type="slidenum">
              <a:rPr lang="en-US" smtClean="0"/>
              <a:pPr/>
              <a:t>28</a:t>
            </a:fld>
            <a:endParaRPr lang="en-US" dirty="0"/>
          </a:p>
        </p:txBody>
      </p:sp>
      <p:sp>
        <p:nvSpPr>
          <p:cNvPr id="4" name="Title 3">
            <a:extLst>
              <a:ext uri="{FF2B5EF4-FFF2-40B4-BE49-F238E27FC236}">
                <a16:creationId xmlns:a16="http://schemas.microsoft.com/office/drawing/2014/main" id="{9BA97FEF-852B-4915-BB78-38217017AAF0}"/>
              </a:ext>
            </a:extLst>
          </p:cNvPr>
          <p:cNvSpPr>
            <a:spLocks noGrp="1"/>
          </p:cNvSpPr>
          <p:nvPr>
            <p:ph type="title"/>
          </p:nvPr>
        </p:nvSpPr>
        <p:spPr/>
        <p:txBody>
          <a:bodyPr/>
          <a:lstStyle/>
          <a:p>
            <a:r>
              <a:rPr lang="en-US" dirty="0"/>
              <a:t>2NF (Second Normal Form)</a:t>
            </a:r>
          </a:p>
        </p:txBody>
      </p:sp>
      <p:graphicFrame>
        <p:nvGraphicFramePr>
          <p:cNvPr id="7" name="Table 7">
            <a:extLst>
              <a:ext uri="{FF2B5EF4-FFF2-40B4-BE49-F238E27FC236}">
                <a16:creationId xmlns:a16="http://schemas.microsoft.com/office/drawing/2014/main" id="{7C34E40C-CDCB-4F00-BBE7-D1FD117F2F3A}"/>
              </a:ext>
            </a:extLst>
          </p:cNvPr>
          <p:cNvGraphicFramePr>
            <a:graphicFrameLocks noGrp="1"/>
          </p:cNvGraphicFramePr>
          <p:nvPr>
            <p:extLst>
              <p:ext uri="{D42A27DB-BD31-4B8C-83A1-F6EECF244321}">
                <p14:modId xmlns:p14="http://schemas.microsoft.com/office/powerpoint/2010/main" val="763655155"/>
              </p:ext>
            </p:extLst>
          </p:nvPr>
        </p:nvGraphicFramePr>
        <p:xfrm>
          <a:off x="4476750" y="1494536"/>
          <a:ext cx="9753600" cy="1261872"/>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3912884338"/>
                    </a:ext>
                  </a:extLst>
                </a:gridCol>
                <a:gridCol w="2438400">
                  <a:extLst>
                    <a:ext uri="{9D8B030D-6E8A-4147-A177-3AD203B41FA5}">
                      <a16:colId xmlns:a16="http://schemas.microsoft.com/office/drawing/2014/main" val="2534847676"/>
                    </a:ext>
                  </a:extLst>
                </a:gridCol>
                <a:gridCol w="2438400">
                  <a:extLst>
                    <a:ext uri="{9D8B030D-6E8A-4147-A177-3AD203B41FA5}">
                      <a16:colId xmlns:a16="http://schemas.microsoft.com/office/drawing/2014/main" val="2054375956"/>
                    </a:ext>
                  </a:extLst>
                </a:gridCol>
                <a:gridCol w="2438400">
                  <a:extLst>
                    <a:ext uri="{9D8B030D-6E8A-4147-A177-3AD203B41FA5}">
                      <a16:colId xmlns:a16="http://schemas.microsoft.com/office/drawing/2014/main" val="87965106"/>
                    </a:ext>
                  </a:extLst>
                </a:gridCol>
              </a:tblGrid>
              <a:tr h="370840">
                <a:tc>
                  <a:txBody>
                    <a:bodyPr/>
                    <a:lstStyle/>
                    <a:p>
                      <a:r>
                        <a:rPr lang="en-US" dirty="0" err="1"/>
                        <a:t>CourseID</a:t>
                      </a:r>
                      <a:endParaRPr lang="en-US" dirty="0"/>
                    </a:p>
                  </a:txBody>
                  <a:tcPr anchor="ctr"/>
                </a:tc>
                <a:tc>
                  <a:txBody>
                    <a:bodyPr/>
                    <a:lstStyle/>
                    <a:p>
                      <a:r>
                        <a:rPr lang="en-US"/>
                        <a:t>StudentID</a:t>
                      </a:r>
                    </a:p>
                  </a:txBody>
                  <a:tcPr anchor="ctr"/>
                </a:tc>
                <a:tc>
                  <a:txBody>
                    <a:bodyPr/>
                    <a:lstStyle/>
                    <a:p>
                      <a:r>
                        <a:rPr lang="en-US"/>
                        <a:t>StudentName</a:t>
                      </a:r>
                    </a:p>
                  </a:txBody>
                  <a:tcPr anchor="ctr"/>
                </a:tc>
                <a:tc>
                  <a:txBody>
                    <a:bodyPr/>
                    <a:lstStyle/>
                    <a:p>
                      <a:r>
                        <a:rPr lang="en-US" dirty="0" err="1"/>
                        <a:t>CourseName</a:t>
                      </a:r>
                      <a:endParaRPr lang="en-US" dirty="0"/>
                    </a:p>
                  </a:txBody>
                  <a:tcPr anchor="ctr"/>
                </a:tc>
                <a:extLst>
                  <a:ext uri="{0D108BD9-81ED-4DB2-BD59-A6C34878D82A}">
                    <a16:rowId xmlns:a16="http://schemas.microsoft.com/office/drawing/2014/main" val="177634633"/>
                  </a:ext>
                </a:extLst>
              </a:tr>
              <a:tr h="370840">
                <a:tc>
                  <a:txBody>
                    <a:bodyPr/>
                    <a:lstStyle/>
                    <a:p>
                      <a:r>
                        <a:rPr lang="en-US" dirty="0"/>
                        <a:t>101</a:t>
                      </a:r>
                    </a:p>
                  </a:txBody>
                  <a:tcPr anchor="ctr"/>
                </a:tc>
                <a:tc>
                  <a:txBody>
                    <a:bodyPr/>
                    <a:lstStyle/>
                    <a:p>
                      <a:r>
                        <a:rPr lang="en-US" dirty="0"/>
                        <a:t>1</a:t>
                      </a:r>
                    </a:p>
                  </a:txBody>
                  <a:tcPr anchor="ctr"/>
                </a:tc>
                <a:tc>
                  <a:txBody>
                    <a:bodyPr/>
                    <a:lstStyle/>
                    <a:p>
                      <a:r>
                        <a:rPr lang="en-US"/>
                        <a:t>Alice</a:t>
                      </a:r>
                    </a:p>
                  </a:txBody>
                  <a:tcPr anchor="ctr"/>
                </a:tc>
                <a:tc>
                  <a:txBody>
                    <a:bodyPr/>
                    <a:lstStyle/>
                    <a:p>
                      <a:r>
                        <a:rPr lang="en-US" dirty="0"/>
                        <a:t>Math</a:t>
                      </a:r>
                    </a:p>
                  </a:txBody>
                  <a:tcPr anchor="ctr"/>
                </a:tc>
                <a:extLst>
                  <a:ext uri="{0D108BD9-81ED-4DB2-BD59-A6C34878D82A}">
                    <a16:rowId xmlns:a16="http://schemas.microsoft.com/office/drawing/2014/main" val="2357562485"/>
                  </a:ext>
                </a:extLst>
              </a:tr>
              <a:tr h="370840">
                <a:tc>
                  <a:txBody>
                    <a:bodyPr/>
                    <a:lstStyle/>
                    <a:p>
                      <a:r>
                        <a:rPr lang="en-US" dirty="0"/>
                        <a:t>102</a:t>
                      </a:r>
                    </a:p>
                  </a:txBody>
                  <a:tcPr anchor="ctr"/>
                </a:tc>
                <a:tc>
                  <a:txBody>
                    <a:bodyPr/>
                    <a:lstStyle/>
                    <a:p>
                      <a:r>
                        <a:rPr lang="en-US" dirty="0"/>
                        <a:t>2</a:t>
                      </a:r>
                    </a:p>
                  </a:txBody>
                  <a:tcPr anchor="ctr"/>
                </a:tc>
                <a:tc>
                  <a:txBody>
                    <a:bodyPr/>
                    <a:lstStyle/>
                    <a:p>
                      <a:r>
                        <a:rPr lang="en-US" dirty="0"/>
                        <a:t>Bob</a:t>
                      </a:r>
                    </a:p>
                  </a:txBody>
                  <a:tcPr/>
                </a:tc>
                <a:tc>
                  <a:txBody>
                    <a:bodyPr/>
                    <a:lstStyle/>
                    <a:p>
                      <a:r>
                        <a:rPr lang="en-US" dirty="0"/>
                        <a:t>Science</a:t>
                      </a:r>
                    </a:p>
                  </a:txBody>
                  <a:tcPr/>
                </a:tc>
                <a:extLst>
                  <a:ext uri="{0D108BD9-81ED-4DB2-BD59-A6C34878D82A}">
                    <a16:rowId xmlns:a16="http://schemas.microsoft.com/office/drawing/2014/main" val="2365061216"/>
                  </a:ext>
                </a:extLst>
              </a:tr>
            </a:tbl>
          </a:graphicData>
        </a:graphic>
      </p:graphicFrame>
      <p:graphicFrame>
        <p:nvGraphicFramePr>
          <p:cNvPr id="8" name="Table 8">
            <a:extLst>
              <a:ext uri="{FF2B5EF4-FFF2-40B4-BE49-F238E27FC236}">
                <a16:creationId xmlns:a16="http://schemas.microsoft.com/office/drawing/2014/main" id="{499871B6-9A37-49E2-AD49-1042020B3793}"/>
              </a:ext>
            </a:extLst>
          </p:cNvPr>
          <p:cNvGraphicFramePr>
            <a:graphicFrameLocks noGrp="1"/>
          </p:cNvGraphicFramePr>
          <p:nvPr>
            <p:extLst>
              <p:ext uri="{D42A27DB-BD31-4B8C-83A1-F6EECF244321}">
                <p14:modId xmlns:p14="http://schemas.microsoft.com/office/powerpoint/2010/main" val="97984277"/>
              </p:ext>
            </p:extLst>
          </p:nvPr>
        </p:nvGraphicFramePr>
        <p:xfrm>
          <a:off x="4476750" y="3822509"/>
          <a:ext cx="9753600" cy="1261872"/>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746462781"/>
                    </a:ext>
                  </a:extLst>
                </a:gridCol>
                <a:gridCol w="4876800">
                  <a:extLst>
                    <a:ext uri="{9D8B030D-6E8A-4147-A177-3AD203B41FA5}">
                      <a16:colId xmlns:a16="http://schemas.microsoft.com/office/drawing/2014/main" val="508942988"/>
                    </a:ext>
                  </a:extLst>
                </a:gridCol>
              </a:tblGrid>
              <a:tr h="370840">
                <a:tc>
                  <a:txBody>
                    <a:bodyPr/>
                    <a:lstStyle/>
                    <a:p>
                      <a:r>
                        <a:rPr lang="en-US" dirty="0" err="1"/>
                        <a:t>StudentID</a:t>
                      </a:r>
                      <a:endParaRPr lang="en-US" dirty="0"/>
                    </a:p>
                  </a:txBody>
                  <a:tcPr anchor="ctr"/>
                </a:tc>
                <a:tc>
                  <a:txBody>
                    <a:bodyPr/>
                    <a:lstStyle/>
                    <a:p>
                      <a:r>
                        <a:rPr lang="en-US" dirty="0" err="1"/>
                        <a:t>StudentName</a:t>
                      </a:r>
                      <a:endParaRPr lang="en-US" dirty="0"/>
                    </a:p>
                  </a:txBody>
                  <a:tcPr anchor="ctr"/>
                </a:tc>
                <a:extLst>
                  <a:ext uri="{0D108BD9-81ED-4DB2-BD59-A6C34878D82A}">
                    <a16:rowId xmlns:a16="http://schemas.microsoft.com/office/drawing/2014/main" val="1662616733"/>
                  </a:ext>
                </a:extLst>
              </a:tr>
              <a:tr h="370840">
                <a:tc>
                  <a:txBody>
                    <a:bodyPr/>
                    <a:lstStyle/>
                    <a:p>
                      <a:r>
                        <a:rPr lang="en-US" dirty="0"/>
                        <a:t>1</a:t>
                      </a:r>
                    </a:p>
                  </a:txBody>
                  <a:tcPr anchor="ctr"/>
                </a:tc>
                <a:tc>
                  <a:txBody>
                    <a:bodyPr/>
                    <a:lstStyle/>
                    <a:p>
                      <a:r>
                        <a:rPr lang="en-US"/>
                        <a:t>Alice</a:t>
                      </a:r>
                    </a:p>
                  </a:txBody>
                  <a:tcPr anchor="ctr"/>
                </a:tc>
                <a:extLst>
                  <a:ext uri="{0D108BD9-81ED-4DB2-BD59-A6C34878D82A}">
                    <a16:rowId xmlns:a16="http://schemas.microsoft.com/office/drawing/2014/main" val="1897309639"/>
                  </a:ext>
                </a:extLst>
              </a:tr>
              <a:tr h="370840">
                <a:tc>
                  <a:txBody>
                    <a:bodyPr/>
                    <a:lstStyle/>
                    <a:p>
                      <a:r>
                        <a:rPr lang="en-US" dirty="0"/>
                        <a:t>2</a:t>
                      </a:r>
                    </a:p>
                  </a:txBody>
                  <a:tcPr anchor="ctr"/>
                </a:tc>
                <a:tc>
                  <a:txBody>
                    <a:bodyPr/>
                    <a:lstStyle/>
                    <a:p>
                      <a:r>
                        <a:rPr lang="en-US" dirty="0"/>
                        <a:t>Bob</a:t>
                      </a:r>
                    </a:p>
                  </a:txBody>
                  <a:tcPr/>
                </a:tc>
                <a:extLst>
                  <a:ext uri="{0D108BD9-81ED-4DB2-BD59-A6C34878D82A}">
                    <a16:rowId xmlns:a16="http://schemas.microsoft.com/office/drawing/2014/main" val="1586716245"/>
                  </a:ext>
                </a:extLst>
              </a:tr>
            </a:tbl>
          </a:graphicData>
        </a:graphic>
      </p:graphicFrame>
      <p:graphicFrame>
        <p:nvGraphicFramePr>
          <p:cNvPr id="9" name="Table 9">
            <a:extLst>
              <a:ext uri="{FF2B5EF4-FFF2-40B4-BE49-F238E27FC236}">
                <a16:creationId xmlns:a16="http://schemas.microsoft.com/office/drawing/2014/main" id="{05CAF3C8-CCBE-4FF2-9F96-9E8EEFAA2475}"/>
              </a:ext>
            </a:extLst>
          </p:cNvPr>
          <p:cNvGraphicFramePr>
            <a:graphicFrameLocks noGrp="1"/>
          </p:cNvGraphicFramePr>
          <p:nvPr>
            <p:extLst>
              <p:ext uri="{D42A27DB-BD31-4B8C-83A1-F6EECF244321}">
                <p14:modId xmlns:p14="http://schemas.microsoft.com/office/powerpoint/2010/main" val="1449484309"/>
              </p:ext>
            </p:extLst>
          </p:nvPr>
        </p:nvGraphicFramePr>
        <p:xfrm>
          <a:off x="4476750" y="5617432"/>
          <a:ext cx="9753600" cy="1261872"/>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140852838"/>
                    </a:ext>
                  </a:extLst>
                </a:gridCol>
                <a:gridCol w="3251200">
                  <a:extLst>
                    <a:ext uri="{9D8B030D-6E8A-4147-A177-3AD203B41FA5}">
                      <a16:colId xmlns:a16="http://schemas.microsoft.com/office/drawing/2014/main" val="3038601916"/>
                    </a:ext>
                  </a:extLst>
                </a:gridCol>
                <a:gridCol w="3251200">
                  <a:extLst>
                    <a:ext uri="{9D8B030D-6E8A-4147-A177-3AD203B41FA5}">
                      <a16:colId xmlns:a16="http://schemas.microsoft.com/office/drawing/2014/main" val="1542432700"/>
                    </a:ext>
                  </a:extLst>
                </a:gridCol>
              </a:tblGrid>
              <a:tr h="370840">
                <a:tc>
                  <a:txBody>
                    <a:bodyPr/>
                    <a:lstStyle/>
                    <a:p>
                      <a:r>
                        <a:rPr lang="en-US" dirty="0" err="1"/>
                        <a:t>CourseID</a:t>
                      </a:r>
                      <a:endParaRPr lang="en-US" dirty="0"/>
                    </a:p>
                  </a:txBody>
                  <a:tcPr anchor="ctr"/>
                </a:tc>
                <a:tc>
                  <a:txBody>
                    <a:bodyPr/>
                    <a:lstStyle/>
                    <a:p>
                      <a:r>
                        <a:rPr lang="en-US" dirty="0" err="1"/>
                        <a:t>StudentID</a:t>
                      </a:r>
                      <a:endParaRPr lang="en-US" dirty="0"/>
                    </a:p>
                  </a:txBody>
                  <a:tcPr/>
                </a:tc>
                <a:tc>
                  <a:txBody>
                    <a:bodyPr/>
                    <a:lstStyle/>
                    <a:p>
                      <a:r>
                        <a:rPr lang="en-US" dirty="0" err="1"/>
                        <a:t>CourseName</a:t>
                      </a:r>
                      <a:endParaRPr lang="en-US" dirty="0"/>
                    </a:p>
                  </a:txBody>
                  <a:tcPr/>
                </a:tc>
                <a:extLst>
                  <a:ext uri="{0D108BD9-81ED-4DB2-BD59-A6C34878D82A}">
                    <a16:rowId xmlns:a16="http://schemas.microsoft.com/office/drawing/2014/main" val="1761206472"/>
                  </a:ext>
                </a:extLst>
              </a:tr>
              <a:tr h="370840">
                <a:tc>
                  <a:txBody>
                    <a:bodyPr/>
                    <a:lstStyle/>
                    <a:p>
                      <a:r>
                        <a:rPr lang="en-US" dirty="0"/>
                        <a:t>101</a:t>
                      </a:r>
                    </a:p>
                  </a:txBody>
                  <a:tcPr/>
                </a:tc>
                <a:tc>
                  <a:txBody>
                    <a:bodyPr/>
                    <a:lstStyle/>
                    <a:p>
                      <a:r>
                        <a:rPr lang="en-US" dirty="0"/>
                        <a:t>1</a:t>
                      </a:r>
                    </a:p>
                  </a:txBody>
                  <a:tcPr anchor="ctr"/>
                </a:tc>
                <a:tc>
                  <a:txBody>
                    <a:bodyPr/>
                    <a:lstStyle/>
                    <a:p>
                      <a:r>
                        <a:rPr lang="en-US" dirty="0"/>
                        <a:t>Math</a:t>
                      </a:r>
                    </a:p>
                  </a:txBody>
                  <a:tcPr anchor="ctr"/>
                </a:tc>
                <a:extLst>
                  <a:ext uri="{0D108BD9-81ED-4DB2-BD59-A6C34878D82A}">
                    <a16:rowId xmlns:a16="http://schemas.microsoft.com/office/drawing/2014/main" val="2297198374"/>
                  </a:ext>
                </a:extLst>
              </a:tr>
              <a:tr h="370840">
                <a:tc>
                  <a:txBody>
                    <a:bodyPr/>
                    <a:lstStyle/>
                    <a:p>
                      <a:r>
                        <a:rPr lang="en-US" dirty="0"/>
                        <a:t>102</a:t>
                      </a:r>
                    </a:p>
                  </a:txBody>
                  <a:tcPr/>
                </a:tc>
                <a:tc>
                  <a:txBody>
                    <a:bodyPr/>
                    <a:lstStyle/>
                    <a:p>
                      <a:r>
                        <a:rPr lang="en-US" dirty="0"/>
                        <a:t>2</a:t>
                      </a:r>
                    </a:p>
                  </a:txBody>
                  <a:tcPr anchor="ctr"/>
                </a:tc>
                <a:tc>
                  <a:txBody>
                    <a:bodyPr/>
                    <a:lstStyle/>
                    <a:p>
                      <a:r>
                        <a:rPr lang="en-US" dirty="0"/>
                        <a:t>Science</a:t>
                      </a:r>
                    </a:p>
                  </a:txBody>
                  <a:tcPr/>
                </a:tc>
                <a:extLst>
                  <a:ext uri="{0D108BD9-81ED-4DB2-BD59-A6C34878D82A}">
                    <a16:rowId xmlns:a16="http://schemas.microsoft.com/office/drawing/2014/main" val="2685312028"/>
                  </a:ext>
                </a:extLst>
              </a:tr>
            </a:tbl>
          </a:graphicData>
        </a:graphic>
      </p:graphicFrame>
      <p:sp>
        <p:nvSpPr>
          <p:cNvPr id="10" name="Arrow: Down 9">
            <a:extLst>
              <a:ext uri="{FF2B5EF4-FFF2-40B4-BE49-F238E27FC236}">
                <a16:creationId xmlns:a16="http://schemas.microsoft.com/office/drawing/2014/main" id="{CE715D50-3993-47E0-830A-72599E71BE83}"/>
              </a:ext>
            </a:extLst>
          </p:cNvPr>
          <p:cNvSpPr/>
          <p:nvPr/>
        </p:nvSpPr>
        <p:spPr>
          <a:xfrm>
            <a:off x="9048750" y="2868834"/>
            <a:ext cx="609600" cy="84124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46656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BAAF4A-5B92-4DF4-99BF-B2F0E83FFC96}"/>
              </a:ext>
            </a:extLst>
          </p:cNvPr>
          <p:cNvSpPr>
            <a:spLocks noGrp="1"/>
          </p:cNvSpPr>
          <p:nvPr>
            <p:ph idx="1"/>
          </p:nvPr>
        </p:nvSpPr>
        <p:spPr>
          <a:xfrm>
            <a:off x="747000" y="1917577"/>
            <a:ext cx="3729750" cy="5494778"/>
          </a:xfrm>
        </p:spPr>
        <p:txBody>
          <a:bodyPr/>
          <a:lstStyle/>
          <a:p>
            <a:r>
              <a:rPr lang="en-US" dirty="0"/>
              <a:t>The table must be in 2NF.</a:t>
            </a:r>
          </a:p>
          <a:p>
            <a:r>
              <a:rPr lang="en-US" dirty="0"/>
              <a:t>There are no transitive dependencies (non-key attributes depend only on the primary key, not on other non-key attributes).</a:t>
            </a:r>
          </a:p>
        </p:txBody>
      </p:sp>
      <p:sp>
        <p:nvSpPr>
          <p:cNvPr id="3" name="Slide Number Placeholder 2">
            <a:extLst>
              <a:ext uri="{FF2B5EF4-FFF2-40B4-BE49-F238E27FC236}">
                <a16:creationId xmlns:a16="http://schemas.microsoft.com/office/drawing/2014/main" id="{02B76438-E8B9-414D-9F36-47EDB5372563}"/>
              </a:ext>
            </a:extLst>
          </p:cNvPr>
          <p:cNvSpPr>
            <a:spLocks noGrp="1"/>
          </p:cNvSpPr>
          <p:nvPr>
            <p:ph type="sldNum" sz="quarter" idx="4"/>
          </p:nvPr>
        </p:nvSpPr>
        <p:spPr/>
        <p:txBody>
          <a:bodyPr/>
          <a:lstStyle/>
          <a:p>
            <a:fld id="{31D26D55-0A22-487A-A687-61FB58A6F16A}" type="slidenum">
              <a:rPr lang="en-US" smtClean="0"/>
              <a:pPr/>
              <a:t>29</a:t>
            </a:fld>
            <a:endParaRPr lang="en-US" dirty="0"/>
          </a:p>
        </p:txBody>
      </p:sp>
      <p:sp>
        <p:nvSpPr>
          <p:cNvPr id="4" name="Title 3">
            <a:extLst>
              <a:ext uri="{FF2B5EF4-FFF2-40B4-BE49-F238E27FC236}">
                <a16:creationId xmlns:a16="http://schemas.microsoft.com/office/drawing/2014/main" id="{9C2E663A-E06E-41D4-9D5F-44B9275D31F1}"/>
              </a:ext>
            </a:extLst>
          </p:cNvPr>
          <p:cNvSpPr>
            <a:spLocks noGrp="1"/>
          </p:cNvSpPr>
          <p:nvPr>
            <p:ph type="title"/>
          </p:nvPr>
        </p:nvSpPr>
        <p:spPr/>
        <p:txBody>
          <a:bodyPr/>
          <a:lstStyle/>
          <a:p>
            <a:r>
              <a:rPr lang="en-US" dirty="0"/>
              <a:t>3NF (Third Normal Form)</a:t>
            </a:r>
          </a:p>
        </p:txBody>
      </p:sp>
      <p:graphicFrame>
        <p:nvGraphicFramePr>
          <p:cNvPr id="6" name="Table 7">
            <a:extLst>
              <a:ext uri="{FF2B5EF4-FFF2-40B4-BE49-F238E27FC236}">
                <a16:creationId xmlns:a16="http://schemas.microsoft.com/office/drawing/2014/main" id="{47428785-3486-41C1-9B23-B6EA69A826E0}"/>
              </a:ext>
            </a:extLst>
          </p:cNvPr>
          <p:cNvGraphicFramePr>
            <a:graphicFrameLocks noGrp="1"/>
          </p:cNvGraphicFramePr>
          <p:nvPr>
            <p:extLst>
              <p:ext uri="{D42A27DB-BD31-4B8C-83A1-F6EECF244321}">
                <p14:modId xmlns:p14="http://schemas.microsoft.com/office/powerpoint/2010/main" val="2015863492"/>
              </p:ext>
            </p:extLst>
          </p:nvPr>
        </p:nvGraphicFramePr>
        <p:xfrm>
          <a:off x="4476750" y="1494536"/>
          <a:ext cx="9753600" cy="1261872"/>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3912884338"/>
                    </a:ext>
                  </a:extLst>
                </a:gridCol>
                <a:gridCol w="3251200">
                  <a:extLst>
                    <a:ext uri="{9D8B030D-6E8A-4147-A177-3AD203B41FA5}">
                      <a16:colId xmlns:a16="http://schemas.microsoft.com/office/drawing/2014/main" val="2534847676"/>
                    </a:ext>
                  </a:extLst>
                </a:gridCol>
                <a:gridCol w="3251200">
                  <a:extLst>
                    <a:ext uri="{9D8B030D-6E8A-4147-A177-3AD203B41FA5}">
                      <a16:colId xmlns:a16="http://schemas.microsoft.com/office/drawing/2014/main" val="2054375956"/>
                    </a:ext>
                  </a:extLst>
                </a:gridCol>
              </a:tblGrid>
              <a:tr h="370840">
                <a:tc>
                  <a:txBody>
                    <a:bodyPr/>
                    <a:lstStyle/>
                    <a:p>
                      <a:r>
                        <a:rPr lang="en-US" dirty="0" err="1"/>
                        <a:t>EmployeeID</a:t>
                      </a:r>
                      <a:endParaRPr lang="en-US" dirty="0"/>
                    </a:p>
                  </a:txBody>
                  <a:tcPr anchor="ctr"/>
                </a:tc>
                <a:tc>
                  <a:txBody>
                    <a:bodyPr/>
                    <a:lstStyle/>
                    <a:p>
                      <a:r>
                        <a:rPr lang="en-US" dirty="0" err="1"/>
                        <a:t>DepartmentID</a:t>
                      </a:r>
                      <a:endParaRPr lang="en-US" dirty="0"/>
                    </a:p>
                  </a:txBody>
                  <a:tcPr anchor="ctr"/>
                </a:tc>
                <a:tc>
                  <a:txBody>
                    <a:bodyPr/>
                    <a:lstStyle/>
                    <a:p>
                      <a:r>
                        <a:rPr lang="en-US" dirty="0" err="1"/>
                        <a:t>DepartmentName</a:t>
                      </a:r>
                      <a:endParaRPr lang="en-US" dirty="0"/>
                    </a:p>
                  </a:txBody>
                  <a:tcPr anchor="ctr"/>
                </a:tc>
                <a:extLst>
                  <a:ext uri="{0D108BD9-81ED-4DB2-BD59-A6C34878D82A}">
                    <a16:rowId xmlns:a16="http://schemas.microsoft.com/office/drawing/2014/main" val="177634633"/>
                  </a:ext>
                </a:extLst>
              </a:tr>
              <a:tr h="370840">
                <a:tc>
                  <a:txBody>
                    <a:bodyPr/>
                    <a:lstStyle/>
                    <a:p>
                      <a:r>
                        <a:rPr lang="en-US" dirty="0"/>
                        <a:t>1</a:t>
                      </a:r>
                    </a:p>
                  </a:txBody>
                  <a:tcPr anchor="ctr"/>
                </a:tc>
                <a:tc>
                  <a:txBody>
                    <a:bodyPr/>
                    <a:lstStyle/>
                    <a:p>
                      <a:r>
                        <a:rPr lang="en-US" dirty="0"/>
                        <a:t>D001</a:t>
                      </a:r>
                    </a:p>
                  </a:txBody>
                  <a:tcPr anchor="ctr"/>
                </a:tc>
                <a:tc>
                  <a:txBody>
                    <a:bodyPr/>
                    <a:lstStyle/>
                    <a:p>
                      <a:r>
                        <a:rPr lang="en-US" dirty="0"/>
                        <a:t>HR</a:t>
                      </a:r>
                    </a:p>
                  </a:txBody>
                  <a:tcPr anchor="ctr"/>
                </a:tc>
                <a:extLst>
                  <a:ext uri="{0D108BD9-81ED-4DB2-BD59-A6C34878D82A}">
                    <a16:rowId xmlns:a16="http://schemas.microsoft.com/office/drawing/2014/main" val="2357562485"/>
                  </a:ext>
                </a:extLst>
              </a:tr>
              <a:tr h="370840">
                <a:tc>
                  <a:txBody>
                    <a:bodyPr/>
                    <a:lstStyle/>
                    <a:p>
                      <a:r>
                        <a:rPr lang="en-US" dirty="0"/>
                        <a:t>2</a:t>
                      </a:r>
                    </a:p>
                  </a:txBody>
                  <a:tcPr anchor="ctr"/>
                </a:tc>
                <a:tc>
                  <a:txBody>
                    <a:bodyPr/>
                    <a:lstStyle/>
                    <a:p>
                      <a:r>
                        <a:rPr lang="en-US" dirty="0"/>
                        <a:t>D002</a:t>
                      </a:r>
                    </a:p>
                  </a:txBody>
                  <a:tcPr anchor="ctr"/>
                </a:tc>
                <a:tc>
                  <a:txBody>
                    <a:bodyPr/>
                    <a:lstStyle/>
                    <a:p>
                      <a:r>
                        <a:rPr lang="en-US" dirty="0"/>
                        <a:t>IT</a:t>
                      </a:r>
                    </a:p>
                  </a:txBody>
                  <a:tcPr anchor="ctr"/>
                </a:tc>
                <a:extLst>
                  <a:ext uri="{0D108BD9-81ED-4DB2-BD59-A6C34878D82A}">
                    <a16:rowId xmlns:a16="http://schemas.microsoft.com/office/drawing/2014/main" val="2365061216"/>
                  </a:ext>
                </a:extLst>
              </a:tr>
            </a:tbl>
          </a:graphicData>
        </a:graphic>
      </p:graphicFrame>
      <p:graphicFrame>
        <p:nvGraphicFramePr>
          <p:cNvPr id="7" name="Table 8">
            <a:extLst>
              <a:ext uri="{FF2B5EF4-FFF2-40B4-BE49-F238E27FC236}">
                <a16:creationId xmlns:a16="http://schemas.microsoft.com/office/drawing/2014/main" id="{A966282F-2740-4DAE-AB07-54907300AFB3}"/>
              </a:ext>
            </a:extLst>
          </p:cNvPr>
          <p:cNvGraphicFramePr>
            <a:graphicFrameLocks noGrp="1"/>
          </p:cNvGraphicFramePr>
          <p:nvPr>
            <p:extLst>
              <p:ext uri="{D42A27DB-BD31-4B8C-83A1-F6EECF244321}">
                <p14:modId xmlns:p14="http://schemas.microsoft.com/office/powerpoint/2010/main" val="37044576"/>
              </p:ext>
            </p:extLst>
          </p:nvPr>
        </p:nvGraphicFramePr>
        <p:xfrm>
          <a:off x="4476750" y="3822509"/>
          <a:ext cx="9753600" cy="1261872"/>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746462781"/>
                    </a:ext>
                  </a:extLst>
                </a:gridCol>
                <a:gridCol w="4876800">
                  <a:extLst>
                    <a:ext uri="{9D8B030D-6E8A-4147-A177-3AD203B41FA5}">
                      <a16:colId xmlns:a16="http://schemas.microsoft.com/office/drawing/2014/main" val="508942988"/>
                    </a:ext>
                  </a:extLst>
                </a:gridCol>
              </a:tblGrid>
              <a:tr h="370840">
                <a:tc>
                  <a:txBody>
                    <a:bodyPr/>
                    <a:lstStyle/>
                    <a:p>
                      <a:r>
                        <a:rPr lang="en-US" dirty="0" err="1"/>
                        <a:t>DepartmentID</a:t>
                      </a:r>
                      <a:endParaRPr lang="en-US" dirty="0"/>
                    </a:p>
                  </a:txBody>
                  <a:tcPr anchor="ctr"/>
                </a:tc>
                <a:tc>
                  <a:txBody>
                    <a:bodyPr/>
                    <a:lstStyle/>
                    <a:p>
                      <a:r>
                        <a:rPr lang="en-US" dirty="0" err="1"/>
                        <a:t>DepartmentName</a:t>
                      </a:r>
                      <a:endParaRPr lang="en-US" dirty="0"/>
                    </a:p>
                  </a:txBody>
                  <a:tcPr anchor="ctr"/>
                </a:tc>
                <a:extLst>
                  <a:ext uri="{0D108BD9-81ED-4DB2-BD59-A6C34878D82A}">
                    <a16:rowId xmlns:a16="http://schemas.microsoft.com/office/drawing/2014/main" val="1662616733"/>
                  </a:ext>
                </a:extLst>
              </a:tr>
              <a:tr h="370840">
                <a:tc>
                  <a:txBody>
                    <a:bodyPr/>
                    <a:lstStyle/>
                    <a:p>
                      <a:r>
                        <a:rPr lang="en-US" dirty="0"/>
                        <a:t>D001</a:t>
                      </a:r>
                    </a:p>
                  </a:txBody>
                  <a:tcPr anchor="ctr"/>
                </a:tc>
                <a:tc>
                  <a:txBody>
                    <a:bodyPr/>
                    <a:lstStyle/>
                    <a:p>
                      <a:r>
                        <a:rPr lang="en-US" dirty="0"/>
                        <a:t>HR</a:t>
                      </a:r>
                    </a:p>
                  </a:txBody>
                  <a:tcPr anchor="ctr"/>
                </a:tc>
                <a:extLst>
                  <a:ext uri="{0D108BD9-81ED-4DB2-BD59-A6C34878D82A}">
                    <a16:rowId xmlns:a16="http://schemas.microsoft.com/office/drawing/2014/main" val="1897309639"/>
                  </a:ext>
                </a:extLst>
              </a:tr>
              <a:tr h="370840">
                <a:tc>
                  <a:txBody>
                    <a:bodyPr/>
                    <a:lstStyle/>
                    <a:p>
                      <a:r>
                        <a:rPr lang="en-US" dirty="0"/>
                        <a:t>D002</a:t>
                      </a:r>
                    </a:p>
                  </a:txBody>
                  <a:tcPr anchor="ctr"/>
                </a:tc>
                <a:tc>
                  <a:txBody>
                    <a:bodyPr/>
                    <a:lstStyle/>
                    <a:p>
                      <a:r>
                        <a:rPr lang="en-US" dirty="0"/>
                        <a:t>IT</a:t>
                      </a:r>
                    </a:p>
                  </a:txBody>
                  <a:tcPr anchor="ctr"/>
                </a:tc>
                <a:extLst>
                  <a:ext uri="{0D108BD9-81ED-4DB2-BD59-A6C34878D82A}">
                    <a16:rowId xmlns:a16="http://schemas.microsoft.com/office/drawing/2014/main" val="1586716245"/>
                  </a:ext>
                </a:extLst>
              </a:tr>
            </a:tbl>
          </a:graphicData>
        </a:graphic>
      </p:graphicFrame>
      <p:graphicFrame>
        <p:nvGraphicFramePr>
          <p:cNvPr id="8" name="Table 9">
            <a:extLst>
              <a:ext uri="{FF2B5EF4-FFF2-40B4-BE49-F238E27FC236}">
                <a16:creationId xmlns:a16="http://schemas.microsoft.com/office/drawing/2014/main" id="{08B79FE0-DCAF-4CC9-A9E8-1185A9D2A34D}"/>
              </a:ext>
            </a:extLst>
          </p:cNvPr>
          <p:cNvGraphicFramePr>
            <a:graphicFrameLocks noGrp="1"/>
          </p:cNvGraphicFramePr>
          <p:nvPr>
            <p:extLst>
              <p:ext uri="{D42A27DB-BD31-4B8C-83A1-F6EECF244321}">
                <p14:modId xmlns:p14="http://schemas.microsoft.com/office/powerpoint/2010/main" val="1910232481"/>
              </p:ext>
            </p:extLst>
          </p:nvPr>
        </p:nvGraphicFramePr>
        <p:xfrm>
          <a:off x="4476750" y="5617432"/>
          <a:ext cx="9753600" cy="1261872"/>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140852838"/>
                    </a:ext>
                  </a:extLst>
                </a:gridCol>
                <a:gridCol w="4876800">
                  <a:extLst>
                    <a:ext uri="{9D8B030D-6E8A-4147-A177-3AD203B41FA5}">
                      <a16:colId xmlns:a16="http://schemas.microsoft.com/office/drawing/2014/main" val="3038601916"/>
                    </a:ext>
                  </a:extLst>
                </a:gridCol>
              </a:tblGrid>
              <a:tr h="370840">
                <a:tc>
                  <a:txBody>
                    <a:bodyPr/>
                    <a:lstStyle/>
                    <a:p>
                      <a:r>
                        <a:rPr lang="en-US" dirty="0" err="1"/>
                        <a:t>EmployeeID</a:t>
                      </a:r>
                      <a:endParaRPr lang="en-US" dirty="0"/>
                    </a:p>
                  </a:txBody>
                  <a:tcPr anchor="ctr"/>
                </a:tc>
                <a:tc>
                  <a:txBody>
                    <a:bodyPr/>
                    <a:lstStyle/>
                    <a:p>
                      <a:r>
                        <a:rPr lang="en-US" dirty="0" err="1"/>
                        <a:t>DepartmentID</a:t>
                      </a:r>
                      <a:endParaRPr lang="en-US" dirty="0"/>
                    </a:p>
                  </a:txBody>
                  <a:tcPr anchor="ctr"/>
                </a:tc>
                <a:extLst>
                  <a:ext uri="{0D108BD9-81ED-4DB2-BD59-A6C34878D82A}">
                    <a16:rowId xmlns:a16="http://schemas.microsoft.com/office/drawing/2014/main" val="1761206472"/>
                  </a:ext>
                </a:extLst>
              </a:tr>
              <a:tr h="370840">
                <a:tc>
                  <a:txBody>
                    <a:bodyPr/>
                    <a:lstStyle/>
                    <a:p>
                      <a:r>
                        <a:rPr lang="en-US" dirty="0"/>
                        <a:t>1</a:t>
                      </a:r>
                    </a:p>
                  </a:txBody>
                  <a:tcPr anchor="ctr"/>
                </a:tc>
                <a:tc>
                  <a:txBody>
                    <a:bodyPr/>
                    <a:lstStyle/>
                    <a:p>
                      <a:r>
                        <a:rPr lang="en-US" dirty="0"/>
                        <a:t>D001</a:t>
                      </a:r>
                    </a:p>
                  </a:txBody>
                  <a:tcPr anchor="ctr"/>
                </a:tc>
                <a:extLst>
                  <a:ext uri="{0D108BD9-81ED-4DB2-BD59-A6C34878D82A}">
                    <a16:rowId xmlns:a16="http://schemas.microsoft.com/office/drawing/2014/main" val="2297198374"/>
                  </a:ext>
                </a:extLst>
              </a:tr>
              <a:tr h="370840">
                <a:tc>
                  <a:txBody>
                    <a:bodyPr/>
                    <a:lstStyle/>
                    <a:p>
                      <a:r>
                        <a:rPr lang="en-US" dirty="0"/>
                        <a:t>2</a:t>
                      </a:r>
                    </a:p>
                  </a:txBody>
                  <a:tcPr anchor="ctr"/>
                </a:tc>
                <a:tc>
                  <a:txBody>
                    <a:bodyPr/>
                    <a:lstStyle/>
                    <a:p>
                      <a:r>
                        <a:rPr lang="en-US" dirty="0"/>
                        <a:t>D002</a:t>
                      </a:r>
                    </a:p>
                  </a:txBody>
                  <a:tcPr anchor="ctr"/>
                </a:tc>
                <a:extLst>
                  <a:ext uri="{0D108BD9-81ED-4DB2-BD59-A6C34878D82A}">
                    <a16:rowId xmlns:a16="http://schemas.microsoft.com/office/drawing/2014/main" val="2685312028"/>
                  </a:ext>
                </a:extLst>
              </a:tr>
            </a:tbl>
          </a:graphicData>
        </a:graphic>
      </p:graphicFrame>
      <p:sp>
        <p:nvSpPr>
          <p:cNvPr id="9" name="Arrow: Down 8">
            <a:extLst>
              <a:ext uri="{FF2B5EF4-FFF2-40B4-BE49-F238E27FC236}">
                <a16:creationId xmlns:a16="http://schemas.microsoft.com/office/drawing/2014/main" id="{CCFA5A58-9CDB-4B3E-A53C-01EDA88EE605}"/>
              </a:ext>
            </a:extLst>
          </p:cNvPr>
          <p:cNvSpPr/>
          <p:nvPr/>
        </p:nvSpPr>
        <p:spPr>
          <a:xfrm>
            <a:off x="9048750" y="2868834"/>
            <a:ext cx="609600" cy="84124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01315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BAAF4A-5B92-4DF4-99BF-B2F0E83FFC96}"/>
              </a:ext>
            </a:extLst>
          </p:cNvPr>
          <p:cNvSpPr>
            <a:spLocks noGrp="1"/>
          </p:cNvSpPr>
          <p:nvPr>
            <p:ph idx="1"/>
          </p:nvPr>
        </p:nvSpPr>
        <p:spPr>
          <a:xfrm>
            <a:off x="747000" y="1917577"/>
            <a:ext cx="3729750" cy="5494778"/>
          </a:xfrm>
        </p:spPr>
        <p:txBody>
          <a:bodyPr/>
          <a:lstStyle/>
          <a:p>
            <a:r>
              <a:rPr lang="en-US" dirty="0"/>
              <a:t>The table must be in 3NF.</a:t>
            </a:r>
          </a:p>
          <a:p>
            <a:r>
              <a:rPr lang="en-US" dirty="0"/>
              <a:t>Every determinant must be a candidate key (resolve overlapping candidate keys).</a:t>
            </a:r>
          </a:p>
        </p:txBody>
      </p:sp>
      <p:sp>
        <p:nvSpPr>
          <p:cNvPr id="3" name="Slide Number Placeholder 2">
            <a:extLst>
              <a:ext uri="{FF2B5EF4-FFF2-40B4-BE49-F238E27FC236}">
                <a16:creationId xmlns:a16="http://schemas.microsoft.com/office/drawing/2014/main" id="{02B76438-E8B9-414D-9F36-47EDB5372563}"/>
              </a:ext>
            </a:extLst>
          </p:cNvPr>
          <p:cNvSpPr>
            <a:spLocks noGrp="1"/>
          </p:cNvSpPr>
          <p:nvPr>
            <p:ph type="sldNum" sz="quarter" idx="4"/>
          </p:nvPr>
        </p:nvSpPr>
        <p:spPr/>
        <p:txBody>
          <a:bodyPr/>
          <a:lstStyle/>
          <a:p>
            <a:fld id="{31D26D55-0A22-487A-A687-61FB58A6F16A}" type="slidenum">
              <a:rPr lang="en-US" smtClean="0"/>
              <a:pPr/>
              <a:t>30</a:t>
            </a:fld>
            <a:endParaRPr lang="en-US" dirty="0"/>
          </a:p>
        </p:txBody>
      </p:sp>
      <p:sp>
        <p:nvSpPr>
          <p:cNvPr id="4" name="Title 3">
            <a:extLst>
              <a:ext uri="{FF2B5EF4-FFF2-40B4-BE49-F238E27FC236}">
                <a16:creationId xmlns:a16="http://schemas.microsoft.com/office/drawing/2014/main" id="{9C2E663A-E06E-41D4-9D5F-44B9275D31F1}"/>
              </a:ext>
            </a:extLst>
          </p:cNvPr>
          <p:cNvSpPr>
            <a:spLocks noGrp="1"/>
          </p:cNvSpPr>
          <p:nvPr>
            <p:ph type="title"/>
          </p:nvPr>
        </p:nvSpPr>
        <p:spPr/>
        <p:txBody>
          <a:bodyPr/>
          <a:lstStyle/>
          <a:p>
            <a:r>
              <a:rPr lang="en-US" dirty="0"/>
              <a:t>BCNF (Boyce-Codd Normal Form)</a:t>
            </a:r>
          </a:p>
        </p:txBody>
      </p:sp>
      <p:graphicFrame>
        <p:nvGraphicFramePr>
          <p:cNvPr id="6" name="Table 7">
            <a:extLst>
              <a:ext uri="{FF2B5EF4-FFF2-40B4-BE49-F238E27FC236}">
                <a16:creationId xmlns:a16="http://schemas.microsoft.com/office/drawing/2014/main" id="{47428785-3486-41C1-9B23-B6EA69A826E0}"/>
              </a:ext>
            </a:extLst>
          </p:cNvPr>
          <p:cNvGraphicFramePr>
            <a:graphicFrameLocks noGrp="1"/>
          </p:cNvGraphicFramePr>
          <p:nvPr>
            <p:extLst>
              <p:ext uri="{D42A27DB-BD31-4B8C-83A1-F6EECF244321}">
                <p14:modId xmlns:p14="http://schemas.microsoft.com/office/powerpoint/2010/main" val="4200335661"/>
              </p:ext>
            </p:extLst>
          </p:nvPr>
        </p:nvGraphicFramePr>
        <p:xfrm>
          <a:off x="4476750" y="1494536"/>
          <a:ext cx="9753600" cy="1261872"/>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3912884338"/>
                    </a:ext>
                  </a:extLst>
                </a:gridCol>
                <a:gridCol w="3251200">
                  <a:extLst>
                    <a:ext uri="{9D8B030D-6E8A-4147-A177-3AD203B41FA5}">
                      <a16:colId xmlns:a16="http://schemas.microsoft.com/office/drawing/2014/main" val="2534847676"/>
                    </a:ext>
                  </a:extLst>
                </a:gridCol>
                <a:gridCol w="3251200">
                  <a:extLst>
                    <a:ext uri="{9D8B030D-6E8A-4147-A177-3AD203B41FA5}">
                      <a16:colId xmlns:a16="http://schemas.microsoft.com/office/drawing/2014/main" val="2054375956"/>
                    </a:ext>
                  </a:extLst>
                </a:gridCol>
              </a:tblGrid>
              <a:tr h="370840">
                <a:tc>
                  <a:txBody>
                    <a:bodyPr/>
                    <a:lstStyle/>
                    <a:p>
                      <a:r>
                        <a:rPr lang="en-US" dirty="0" err="1"/>
                        <a:t>CourseID</a:t>
                      </a:r>
                      <a:endParaRPr lang="en-US" dirty="0"/>
                    </a:p>
                  </a:txBody>
                  <a:tcPr anchor="ctr"/>
                </a:tc>
                <a:tc>
                  <a:txBody>
                    <a:bodyPr/>
                    <a:lstStyle/>
                    <a:p>
                      <a:r>
                        <a:rPr lang="en-US" dirty="0"/>
                        <a:t>Instructor</a:t>
                      </a:r>
                    </a:p>
                  </a:txBody>
                  <a:tcPr anchor="ctr"/>
                </a:tc>
                <a:tc>
                  <a:txBody>
                    <a:bodyPr/>
                    <a:lstStyle/>
                    <a:p>
                      <a:r>
                        <a:rPr lang="en-US" dirty="0"/>
                        <a:t>Time</a:t>
                      </a:r>
                    </a:p>
                  </a:txBody>
                  <a:tcPr anchor="ctr"/>
                </a:tc>
                <a:extLst>
                  <a:ext uri="{0D108BD9-81ED-4DB2-BD59-A6C34878D82A}">
                    <a16:rowId xmlns:a16="http://schemas.microsoft.com/office/drawing/2014/main" val="177634633"/>
                  </a:ext>
                </a:extLst>
              </a:tr>
              <a:tr h="370840">
                <a:tc>
                  <a:txBody>
                    <a:bodyPr/>
                    <a:lstStyle/>
                    <a:p>
                      <a:r>
                        <a:rPr lang="en-US" dirty="0"/>
                        <a:t>101</a:t>
                      </a:r>
                    </a:p>
                  </a:txBody>
                  <a:tcPr anchor="ctr"/>
                </a:tc>
                <a:tc>
                  <a:txBody>
                    <a:bodyPr/>
                    <a:lstStyle/>
                    <a:p>
                      <a:r>
                        <a:rPr lang="en-US" dirty="0"/>
                        <a:t>Prof. X</a:t>
                      </a:r>
                    </a:p>
                  </a:txBody>
                  <a:tcPr anchor="ctr"/>
                </a:tc>
                <a:tc>
                  <a:txBody>
                    <a:bodyPr/>
                    <a:lstStyle/>
                    <a:p>
                      <a:r>
                        <a:rPr lang="en-US" dirty="0"/>
                        <a:t>10:00 AM</a:t>
                      </a:r>
                    </a:p>
                  </a:txBody>
                  <a:tcPr anchor="ctr"/>
                </a:tc>
                <a:extLst>
                  <a:ext uri="{0D108BD9-81ED-4DB2-BD59-A6C34878D82A}">
                    <a16:rowId xmlns:a16="http://schemas.microsoft.com/office/drawing/2014/main" val="2357562485"/>
                  </a:ext>
                </a:extLst>
              </a:tr>
              <a:tr h="370840">
                <a:tc>
                  <a:txBody>
                    <a:bodyPr/>
                    <a:lstStyle/>
                    <a:p>
                      <a:r>
                        <a:rPr lang="en-US" dirty="0"/>
                        <a:t>101</a:t>
                      </a:r>
                    </a:p>
                  </a:txBody>
                  <a:tcPr anchor="ctr"/>
                </a:tc>
                <a:tc>
                  <a:txBody>
                    <a:bodyPr/>
                    <a:lstStyle/>
                    <a:p>
                      <a:r>
                        <a:rPr lang="en-US" dirty="0"/>
                        <a:t>Prof. Y</a:t>
                      </a:r>
                    </a:p>
                  </a:txBody>
                  <a:tcPr anchor="ctr"/>
                </a:tc>
                <a:tc>
                  <a:txBody>
                    <a:bodyPr/>
                    <a:lstStyle/>
                    <a:p>
                      <a:r>
                        <a:rPr lang="en-US" dirty="0"/>
                        <a:t>10:00 AM</a:t>
                      </a:r>
                    </a:p>
                  </a:txBody>
                  <a:tcPr anchor="ctr"/>
                </a:tc>
                <a:extLst>
                  <a:ext uri="{0D108BD9-81ED-4DB2-BD59-A6C34878D82A}">
                    <a16:rowId xmlns:a16="http://schemas.microsoft.com/office/drawing/2014/main" val="2365061216"/>
                  </a:ext>
                </a:extLst>
              </a:tr>
            </a:tbl>
          </a:graphicData>
        </a:graphic>
      </p:graphicFrame>
      <p:graphicFrame>
        <p:nvGraphicFramePr>
          <p:cNvPr id="7" name="Table 8">
            <a:extLst>
              <a:ext uri="{FF2B5EF4-FFF2-40B4-BE49-F238E27FC236}">
                <a16:creationId xmlns:a16="http://schemas.microsoft.com/office/drawing/2014/main" id="{A966282F-2740-4DAE-AB07-54907300AFB3}"/>
              </a:ext>
            </a:extLst>
          </p:cNvPr>
          <p:cNvGraphicFramePr>
            <a:graphicFrameLocks noGrp="1"/>
          </p:cNvGraphicFramePr>
          <p:nvPr>
            <p:extLst>
              <p:ext uri="{D42A27DB-BD31-4B8C-83A1-F6EECF244321}">
                <p14:modId xmlns:p14="http://schemas.microsoft.com/office/powerpoint/2010/main" val="1614364145"/>
              </p:ext>
            </p:extLst>
          </p:nvPr>
        </p:nvGraphicFramePr>
        <p:xfrm>
          <a:off x="4476750" y="3822509"/>
          <a:ext cx="9753600" cy="841248"/>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746462781"/>
                    </a:ext>
                  </a:extLst>
                </a:gridCol>
                <a:gridCol w="4876800">
                  <a:extLst>
                    <a:ext uri="{9D8B030D-6E8A-4147-A177-3AD203B41FA5}">
                      <a16:colId xmlns:a16="http://schemas.microsoft.com/office/drawing/2014/main" val="508942988"/>
                    </a:ext>
                  </a:extLst>
                </a:gridCol>
              </a:tblGrid>
              <a:tr h="370840">
                <a:tc>
                  <a:txBody>
                    <a:bodyPr/>
                    <a:lstStyle/>
                    <a:p>
                      <a:r>
                        <a:rPr lang="en-US" dirty="0" err="1"/>
                        <a:t>CourseID</a:t>
                      </a:r>
                      <a:endParaRPr lang="en-US" dirty="0"/>
                    </a:p>
                  </a:txBody>
                  <a:tcPr anchor="ctr"/>
                </a:tc>
                <a:tc>
                  <a:txBody>
                    <a:bodyPr/>
                    <a:lstStyle/>
                    <a:p>
                      <a:r>
                        <a:rPr lang="en-US" dirty="0"/>
                        <a:t>Time</a:t>
                      </a:r>
                    </a:p>
                  </a:txBody>
                  <a:tcPr anchor="ctr"/>
                </a:tc>
                <a:extLst>
                  <a:ext uri="{0D108BD9-81ED-4DB2-BD59-A6C34878D82A}">
                    <a16:rowId xmlns:a16="http://schemas.microsoft.com/office/drawing/2014/main" val="1662616733"/>
                  </a:ext>
                </a:extLst>
              </a:tr>
              <a:tr h="370840">
                <a:tc>
                  <a:txBody>
                    <a:bodyPr/>
                    <a:lstStyle/>
                    <a:p>
                      <a:r>
                        <a:rPr lang="en-US" dirty="0"/>
                        <a:t>101</a:t>
                      </a:r>
                    </a:p>
                  </a:txBody>
                  <a:tcPr anchor="ctr"/>
                </a:tc>
                <a:tc>
                  <a:txBody>
                    <a:bodyPr/>
                    <a:lstStyle/>
                    <a:p>
                      <a:r>
                        <a:rPr lang="en-US" dirty="0"/>
                        <a:t>10:00 AM</a:t>
                      </a:r>
                    </a:p>
                  </a:txBody>
                  <a:tcPr anchor="ctr"/>
                </a:tc>
                <a:extLst>
                  <a:ext uri="{0D108BD9-81ED-4DB2-BD59-A6C34878D82A}">
                    <a16:rowId xmlns:a16="http://schemas.microsoft.com/office/drawing/2014/main" val="1897309639"/>
                  </a:ext>
                </a:extLst>
              </a:tr>
            </a:tbl>
          </a:graphicData>
        </a:graphic>
      </p:graphicFrame>
      <p:graphicFrame>
        <p:nvGraphicFramePr>
          <p:cNvPr id="8" name="Table 9">
            <a:extLst>
              <a:ext uri="{FF2B5EF4-FFF2-40B4-BE49-F238E27FC236}">
                <a16:creationId xmlns:a16="http://schemas.microsoft.com/office/drawing/2014/main" id="{08B79FE0-DCAF-4CC9-A9E8-1185A9D2A34D}"/>
              </a:ext>
            </a:extLst>
          </p:cNvPr>
          <p:cNvGraphicFramePr>
            <a:graphicFrameLocks noGrp="1"/>
          </p:cNvGraphicFramePr>
          <p:nvPr>
            <p:extLst>
              <p:ext uri="{D42A27DB-BD31-4B8C-83A1-F6EECF244321}">
                <p14:modId xmlns:p14="http://schemas.microsoft.com/office/powerpoint/2010/main" val="907404283"/>
              </p:ext>
            </p:extLst>
          </p:nvPr>
        </p:nvGraphicFramePr>
        <p:xfrm>
          <a:off x="4476750" y="5617432"/>
          <a:ext cx="9753600" cy="1261872"/>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140852838"/>
                    </a:ext>
                  </a:extLst>
                </a:gridCol>
                <a:gridCol w="4876800">
                  <a:extLst>
                    <a:ext uri="{9D8B030D-6E8A-4147-A177-3AD203B41FA5}">
                      <a16:colId xmlns:a16="http://schemas.microsoft.com/office/drawing/2014/main" val="3038601916"/>
                    </a:ext>
                  </a:extLst>
                </a:gridCol>
              </a:tblGrid>
              <a:tr h="370840">
                <a:tc>
                  <a:txBody>
                    <a:bodyPr/>
                    <a:lstStyle/>
                    <a:p>
                      <a:r>
                        <a:rPr lang="en-US" dirty="0" err="1"/>
                        <a:t>CourseID</a:t>
                      </a:r>
                      <a:endParaRPr lang="en-US" dirty="0"/>
                    </a:p>
                  </a:txBody>
                  <a:tcPr anchor="ctr"/>
                </a:tc>
                <a:tc>
                  <a:txBody>
                    <a:bodyPr/>
                    <a:lstStyle/>
                    <a:p>
                      <a:r>
                        <a:rPr lang="en-US" dirty="0"/>
                        <a:t>Instructor</a:t>
                      </a:r>
                    </a:p>
                  </a:txBody>
                  <a:tcPr anchor="ctr"/>
                </a:tc>
                <a:extLst>
                  <a:ext uri="{0D108BD9-81ED-4DB2-BD59-A6C34878D82A}">
                    <a16:rowId xmlns:a16="http://schemas.microsoft.com/office/drawing/2014/main" val="1761206472"/>
                  </a:ext>
                </a:extLst>
              </a:tr>
              <a:tr h="370840">
                <a:tc>
                  <a:txBody>
                    <a:bodyPr/>
                    <a:lstStyle/>
                    <a:p>
                      <a:r>
                        <a:rPr lang="en-US" dirty="0"/>
                        <a:t>101</a:t>
                      </a:r>
                    </a:p>
                  </a:txBody>
                  <a:tcPr anchor="ctr"/>
                </a:tc>
                <a:tc>
                  <a:txBody>
                    <a:bodyPr/>
                    <a:lstStyle/>
                    <a:p>
                      <a:r>
                        <a:rPr lang="en-US" dirty="0"/>
                        <a:t>Prof. X</a:t>
                      </a:r>
                    </a:p>
                  </a:txBody>
                  <a:tcPr anchor="ctr"/>
                </a:tc>
                <a:extLst>
                  <a:ext uri="{0D108BD9-81ED-4DB2-BD59-A6C34878D82A}">
                    <a16:rowId xmlns:a16="http://schemas.microsoft.com/office/drawing/2014/main" val="2297198374"/>
                  </a:ext>
                </a:extLst>
              </a:tr>
              <a:tr h="370840">
                <a:tc>
                  <a:txBody>
                    <a:bodyPr/>
                    <a:lstStyle/>
                    <a:p>
                      <a:r>
                        <a:rPr lang="en-US" dirty="0"/>
                        <a:t>101</a:t>
                      </a:r>
                    </a:p>
                  </a:txBody>
                  <a:tcPr anchor="ctr"/>
                </a:tc>
                <a:tc>
                  <a:txBody>
                    <a:bodyPr/>
                    <a:lstStyle/>
                    <a:p>
                      <a:r>
                        <a:rPr lang="en-US" dirty="0"/>
                        <a:t>Prof. Y</a:t>
                      </a:r>
                    </a:p>
                  </a:txBody>
                  <a:tcPr anchor="ctr"/>
                </a:tc>
                <a:extLst>
                  <a:ext uri="{0D108BD9-81ED-4DB2-BD59-A6C34878D82A}">
                    <a16:rowId xmlns:a16="http://schemas.microsoft.com/office/drawing/2014/main" val="2685312028"/>
                  </a:ext>
                </a:extLst>
              </a:tr>
            </a:tbl>
          </a:graphicData>
        </a:graphic>
      </p:graphicFrame>
      <p:sp>
        <p:nvSpPr>
          <p:cNvPr id="9" name="Arrow: Down 8">
            <a:extLst>
              <a:ext uri="{FF2B5EF4-FFF2-40B4-BE49-F238E27FC236}">
                <a16:creationId xmlns:a16="http://schemas.microsoft.com/office/drawing/2014/main" id="{CCFA5A58-9CDB-4B3E-A53C-01EDA88EE605}"/>
              </a:ext>
            </a:extLst>
          </p:cNvPr>
          <p:cNvSpPr/>
          <p:nvPr/>
        </p:nvSpPr>
        <p:spPr>
          <a:xfrm>
            <a:off x="9048750" y="2868834"/>
            <a:ext cx="609600" cy="84124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90179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9B3833-1230-4BCC-BDDA-44892E0F0ED2}"/>
              </a:ext>
            </a:extLst>
          </p:cNvPr>
          <p:cNvSpPr>
            <a:spLocks noGrp="1"/>
          </p:cNvSpPr>
          <p:nvPr>
            <p:ph sz="half" idx="1"/>
          </p:nvPr>
        </p:nvSpPr>
        <p:spPr/>
        <p:txBody>
          <a:bodyPr>
            <a:normAutofit lnSpcReduction="10000"/>
          </a:bodyPr>
          <a:lstStyle/>
          <a:p>
            <a:r>
              <a:rPr lang="en-US" b="1" dirty="0"/>
              <a:t>Primary Key Constraint</a:t>
            </a:r>
            <a:r>
              <a:rPr lang="en-US" dirty="0"/>
              <a:t>: Uniquely identifies each row in a table.</a:t>
            </a:r>
          </a:p>
          <a:p>
            <a:r>
              <a:rPr lang="en-US" b="1" dirty="0"/>
              <a:t>Foreign Key Constraint</a:t>
            </a:r>
            <a:r>
              <a:rPr lang="en-US" dirty="0"/>
              <a:t>: Enforces referential integrity between tables.</a:t>
            </a:r>
          </a:p>
          <a:p>
            <a:r>
              <a:rPr lang="en-US" b="1" dirty="0"/>
              <a:t>Unique Constraint</a:t>
            </a:r>
            <a:r>
              <a:rPr lang="en-US" dirty="0"/>
              <a:t>: Ensures values in a column or group of columns are unique.</a:t>
            </a:r>
          </a:p>
          <a:p>
            <a:r>
              <a:rPr lang="en-US" b="1" dirty="0"/>
              <a:t>Not Null Constraint</a:t>
            </a:r>
            <a:r>
              <a:rPr lang="en-US" dirty="0"/>
              <a:t>: Prevents null values in required fields.</a:t>
            </a:r>
          </a:p>
        </p:txBody>
      </p:sp>
      <p:sp>
        <p:nvSpPr>
          <p:cNvPr id="3" name="Content Placeholder 2">
            <a:extLst>
              <a:ext uri="{FF2B5EF4-FFF2-40B4-BE49-F238E27FC236}">
                <a16:creationId xmlns:a16="http://schemas.microsoft.com/office/drawing/2014/main" id="{02F2D94E-C568-40D9-B108-CAF6DD4F2906}"/>
              </a:ext>
            </a:extLst>
          </p:cNvPr>
          <p:cNvSpPr>
            <a:spLocks noGrp="1"/>
          </p:cNvSpPr>
          <p:nvPr>
            <p:ph sz="half" idx="2"/>
          </p:nvPr>
        </p:nvSpPr>
        <p:spPr/>
        <p:txBody>
          <a:bodyPr/>
          <a:lstStyle/>
          <a:p>
            <a:r>
              <a:rPr lang="en-US" b="1" dirty="0"/>
              <a:t>One-to-One (1:1)</a:t>
            </a:r>
            <a:r>
              <a:rPr lang="en-US" dirty="0"/>
              <a:t>: Use foreign keys and unique constraints.</a:t>
            </a:r>
            <a:endParaRPr lang="en-US" b="1" dirty="0"/>
          </a:p>
          <a:p>
            <a:r>
              <a:rPr lang="en-US" b="1" dirty="0"/>
              <a:t>One-to-Many (1:N)</a:t>
            </a:r>
            <a:r>
              <a:rPr lang="en-US" dirty="0"/>
              <a:t>: Add foreign keys to the "many" side.</a:t>
            </a:r>
          </a:p>
          <a:p>
            <a:r>
              <a:rPr lang="en-US" b="1" dirty="0"/>
              <a:t>Many-to-Many (M:N)</a:t>
            </a:r>
            <a:r>
              <a:rPr lang="en-US" dirty="0"/>
              <a:t>: Create a junction table to bridge the two entities.</a:t>
            </a:r>
          </a:p>
        </p:txBody>
      </p:sp>
      <p:sp>
        <p:nvSpPr>
          <p:cNvPr id="4" name="Slide Number Placeholder 3">
            <a:extLst>
              <a:ext uri="{FF2B5EF4-FFF2-40B4-BE49-F238E27FC236}">
                <a16:creationId xmlns:a16="http://schemas.microsoft.com/office/drawing/2014/main" id="{CAB218BD-4BDF-4534-B568-E78B5EFAA6FF}"/>
              </a:ext>
            </a:extLst>
          </p:cNvPr>
          <p:cNvSpPr>
            <a:spLocks noGrp="1"/>
          </p:cNvSpPr>
          <p:nvPr>
            <p:ph type="sldNum" sz="quarter" idx="4"/>
          </p:nvPr>
        </p:nvSpPr>
        <p:spPr/>
        <p:txBody>
          <a:bodyPr/>
          <a:lstStyle/>
          <a:p>
            <a:fld id="{31D26D55-0A22-487A-A687-61FB58A6F16A}" type="slidenum">
              <a:rPr lang="en-US" smtClean="0"/>
              <a:pPr/>
              <a:t>31</a:t>
            </a:fld>
            <a:endParaRPr lang="en-US" dirty="0"/>
          </a:p>
        </p:txBody>
      </p:sp>
      <p:sp>
        <p:nvSpPr>
          <p:cNvPr id="5" name="Title 4">
            <a:extLst>
              <a:ext uri="{FF2B5EF4-FFF2-40B4-BE49-F238E27FC236}">
                <a16:creationId xmlns:a16="http://schemas.microsoft.com/office/drawing/2014/main" id="{5BD88DA9-10F2-409D-B9EF-D9CE5C0FFC50}"/>
              </a:ext>
            </a:extLst>
          </p:cNvPr>
          <p:cNvSpPr>
            <a:spLocks noGrp="1"/>
          </p:cNvSpPr>
          <p:nvPr>
            <p:ph type="title"/>
          </p:nvPr>
        </p:nvSpPr>
        <p:spPr/>
        <p:txBody>
          <a:bodyPr/>
          <a:lstStyle/>
          <a:p>
            <a:r>
              <a:rPr lang="en-US" dirty="0"/>
              <a:t>Constraints &amp; Relationships</a:t>
            </a:r>
          </a:p>
        </p:txBody>
      </p:sp>
    </p:spTree>
    <p:extLst>
      <p:ext uri="{BB962C8B-B14F-4D97-AF65-F5344CB8AC3E}">
        <p14:creationId xmlns:p14="http://schemas.microsoft.com/office/powerpoint/2010/main" val="5988195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F864ADB-81A7-491A-B120-02F68BCE4511}"/>
              </a:ext>
            </a:extLst>
          </p:cNvPr>
          <p:cNvSpPr>
            <a:spLocks noGrp="1"/>
          </p:cNvSpPr>
          <p:nvPr>
            <p:ph idx="1"/>
          </p:nvPr>
        </p:nvSpPr>
        <p:spPr>
          <a:xfrm>
            <a:off x="858743" y="1022227"/>
            <a:ext cx="13166084" cy="5494778"/>
          </a:xfrm>
        </p:spPr>
        <p:txBody>
          <a:bodyPr/>
          <a:lstStyle/>
          <a:p>
            <a:pPr marL="0" indent="0">
              <a:buNone/>
            </a:pPr>
            <a:r>
              <a:rPr lang="en-US" dirty="0"/>
              <a:t>Translated logical design into a physical schema tailored to the specific DBMS (e.g., MySQL, PostgreSQL).</a:t>
            </a:r>
          </a:p>
        </p:txBody>
      </p:sp>
      <p:sp>
        <p:nvSpPr>
          <p:cNvPr id="3" name="Slide Number Placeholder 2">
            <a:extLst>
              <a:ext uri="{FF2B5EF4-FFF2-40B4-BE49-F238E27FC236}">
                <a16:creationId xmlns:a16="http://schemas.microsoft.com/office/drawing/2014/main" id="{AAA920CE-7096-47CD-9692-12A0603730AF}"/>
              </a:ext>
            </a:extLst>
          </p:cNvPr>
          <p:cNvSpPr>
            <a:spLocks noGrp="1"/>
          </p:cNvSpPr>
          <p:nvPr>
            <p:ph type="sldNum" sz="quarter" idx="4"/>
          </p:nvPr>
        </p:nvSpPr>
        <p:spPr/>
        <p:txBody>
          <a:bodyPr/>
          <a:lstStyle/>
          <a:p>
            <a:fld id="{31D26D55-0A22-487A-A687-61FB58A6F16A}" type="slidenum">
              <a:rPr lang="en-US" smtClean="0"/>
              <a:pPr/>
              <a:t>32</a:t>
            </a:fld>
            <a:endParaRPr lang="en-US" dirty="0"/>
          </a:p>
        </p:txBody>
      </p:sp>
      <p:sp>
        <p:nvSpPr>
          <p:cNvPr id="4" name="Title 3">
            <a:extLst>
              <a:ext uri="{FF2B5EF4-FFF2-40B4-BE49-F238E27FC236}">
                <a16:creationId xmlns:a16="http://schemas.microsoft.com/office/drawing/2014/main" id="{B0B764C8-720A-4A9F-AA9B-79732D2FCDFE}"/>
              </a:ext>
            </a:extLst>
          </p:cNvPr>
          <p:cNvSpPr>
            <a:spLocks noGrp="1"/>
          </p:cNvSpPr>
          <p:nvPr>
            <p:ph type="title"/>
          </p:nvPr>
        </p:nvSpPr>
        <p:spPr/>
        <p:txBody>
          <a:bodyPr/>
          <a:lstStyle/>
          <a:p>
            <a:r>
              <a:rPr lang="en-US" dirty="0"/>
              <a:t>Physical Design</a:t>
            </a:r>
          </a:p>
        </p:txBody>
      </p:sp>
      <p:pic>
        <p:nvPicPr>
          <p:cNvPr id="5" name="Picture 2" descr="Database Schemas: The Beginner's Guide">
            <a:extLst>
              <a:ext uri="{FF2B5EF4-FFF2-40B4-BE49-F238E27FC236}">
                <a16:creationId xmlns:a16="http://schemas.microsoft.com/office/drawing/2014/main" id="{584B87C5-A3C0-4E74-B97C-7451041AD2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743" y="2081690"/>
            <a:ext cx="12912914" cy="55459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06728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BD55972-172F-4519-889E-D5D6D73C5D05}"/>
              </a:ext>
            </a:extLst>
          </p:cNvPr>
          <p:cNvSpPr>
            <a:spLocks noGrp="1"/>
          </p:cNvSpPr>
          <p:nvPr>
            <p:ph idx="1"/>
          </p:nvPr>
        </p:nvSpPr>
        <p:spPr/>
        <p:txBody>
          <a:bodyPr/>
          <a:lstStyle/>
          <a:p>
            <a:r>
              <a:rPr lang="en-US" dirty="0"/>
              <a:t>Transform the logical schema into physical database tables, columns, and relationships.</a:t>
            </a:r>
          </a:p>
          <a:p>
            <a:r>
              <a:rPr lang="en-US" dirty="0"/>
              <a:t>Select appropriate data types for each attribute based on the expected data values.</a:t>
            </a:r>
          </a:p>
          <a:p>
            <a:r>
              <a:rPr lang="en-US" dirty="0"/>
              <a:t>Define Physical Storage</a:t>
            </a:r>
          </a:p>
          <a:p>
            <a:r>
              <a:rPr lang="en-US" dirty="0"/>
              <a:t>Configure Indexing (not over-indexing)</a:t>
            </a:r>
          </a:p>
          <a:p>
            <a:r>
              <a:rPr lang="en-US" dirty="0"/>
              <a:t>Establish Partitioning</a:t>
            </a:r>
          </a:p>
          <a:p>
            <a:r>
              <a:rPr lang="en-US" dirty="0"/>
              <a:t>Implement Relationships</a:t>
            </a:r>
          </a:p>
        </p:txBody>
      </p:sp>
      <p:sp>
        <p:nvSpPr>
          <p:cNvPr id="3" name="Slide Number Placeholder 2">
            <a:extLst>
              <a:ext uri="{FF2B5EF4-FFF2-40B4-BE49-F238E27FC236}">
                <a16:creationId xmlns:a16="http://schemas.microsoft.com/office/drawing/2014/main" id="{E25902E1-81C0-4CF3-941C-B266173B9CBD}"/>
              </a:ext>
            </a:extLst>
          </p:cNvPr>
          <p:cNvSpPr>
            <a:spLocks noGrp="1"/>
          </p:cNvSpPr>
          <p:nvPr>
            <p:ph type="sldNum" sz="quarter" idx="4"/>
          </p:nvPr>
        </p:nvSpPr>
        <p:spPr/>
        <p:txBody>
          <a:bodyPr/>
          <a:lstStyle/>
          <a:p>
            <a:fld id="{31D26D55-0A22-487A-A687-61FB58A6F16A}" type="slidenum">
              <a:rPr lang="en-US" smtClean="0"/>
              <a:pPr/>
              <a:t>33</a:t>
            </a:fld>
            <a:endParaRPr lang="en-US" dirty="0"/>
          </a:p>
        </p:txBody>
      </p:sp>
      <p:sp>
        <p:nvSpPr>
          <p:cNvPr id="4" name="Title 3">
            <a:extLst>
              <a:ext uri="{FF2B5EF4-FFF2-40B4-BE49-F238E27FC236}">
                <a16:creationId xmlns:a16="http://schemas.microsoft.com/office/drawing/2014/main" id="{7990DB33-231C-4A54-B816-56B1A56E67B2}"/>
              </a:ext>
            </a:extLst>
          </p:cNvPr>
          <p:cNvSpPr>
            <a:spLocks noGrp="1"/>
          </p:cNvSpPr>
          <p:nvPr>
            <p:ph type="title"/>
          </p:nvPr>
        </p:nvSpPr>
        <p:spPr/>
        <p:txBody>
          <a:bodyPr>
            <a:normAutofit/>
          </a:bodyPr>
          <a:lstStyle/>
          <a:p>
            <a:r>
              <a:rPr lang="en-US" dirty="0"/>
              <a:t>Physical Design</a:t>
            </a:r>
          </a:p>
        </p:txBody>
      </p:sp>
    </p:spTree>
    <p:extLst>
      <p:ext uri="{BB962C8B-B14F-4D97-AF65-F5344CB8AC3E}">
        <p14:creationId xmlns:p14="http://schemas.microsoft.com/office/powerpoint/2010/main" val="28489463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929E9D-5F54-4901-84E6-938336DC97E4}"/>
              </a:ext>
            </a:extLst>
          </p:cNvPr>
          <p:cNvSpPr>
            <a:spLocks noGrp="1"/>
          </p:cNvSpPr>
          <p:nvPr>
            <p:ph idx="1"/>
          </p:nvPr>
        </p:nvSpPr>
        <p:spPr/>
        <p:txBody>
          <a:bodyPr>
            <a:normAutofit lnSpcReduction="10000"/>
          </a:bodyPr>
          <a:lstStyle/>
          <a:p>
            <a:r>
              <a:rPr lang="en-US" dirty="0"/>
              <a:t>An </a:t>
            </a:r>
            <a:r>
              <a:rPr lang="en-US" b="1" dirty="0"/>
              <a:t>index</a:t>
            </a:r>
            <a:r>
              <a:rPr lang="en-US" dirty="0"/>
              <a:t> is a database object that improves the speed of data retrieval operations by creating a quick lookup structure for the table.</a:t>
            </a:r>
          </a:p>
          <a:p>
            <a:r>
              <a:rPr lang="en-US" dirty="0"/>
              <a:t>How to improve:</a:t>
            </a:r>
          </a:p>
          <a:p>
            <a:pPr lvl="1"/>
            <a:r>
              <a:rPr lang="en-US" dirty="0"/>
              <a:t>Reduces Full Table Scans</a:t>
            </a:r>
          </a:p>
          <a:p>
            <a:pPr lvl="1"/>
            <a:r>
              <a:rPr lang="en-US" dirty="0"/>
              <a:t>Speeds Up JOIN Operations</a:t>
            </a:r>
          </a:p>
          <a:p>
            <a:pPr lvl="1"/>
            <a:r>
              <a:rPr lang="en-US" dirty="0"/>
              <a:t>Facilitates Sorting and Grouping</a:t>
            </a:r>
          </a:p>
          <a:p>
            <a:pPr lvl="1"/>
            <a:r>
              <a:rPr lang="en-US" dirty="0"/>
              <a:t>Efficient Range Queries</a:t>
            </a:r>
          </a:p>
          <a:p>
            <a:r>
              <a:rPr lang="en-US" dirty="0"/>
              <a:t>Drawbacks:</a:t>
            </a:r>
          </a:p>
          <a:p>
            <a:pPr lvl="1"/>
            <a:r>
              <a:rPr lang="en-US" dirty="0"/>
              <a:t>Storage Overhead</a:t>
            </a:r>
          </a:p>
          <a:p>
            <a:pPr lvl="1"/>
            <a:r>
              <a:rPr lang="en-US" dirty="0"/>
              <a:t>Insert/Update/Delete Overhead</a:t>
            </a:r>
          </a:p>
          <a:p>
            <a:pPr lvl="1"/>
            <a:r>
              <a:rPr lang="en-US" dirty="0"/>
              <a:t>Over-Indexing</a:t>
            </a:r>
          </a:p>
        </p:txBody>
      </p:sp>
      <p:sp>
        <p:nvSpPr>
          <p:cNvPr id="3" name="Slide Number Placeholder 2">
            <a:extLst>
              <a:ext uri="{FF2B5EF4-FFF2-40B4-BE49-F238E27FC236}">
                <a16:creationId xmlns:a16="http://schemas.microsoft.com/office/drawing/2014/main" id="{118C6144-BA16-442F-9119-A1D32D7CAA01}"/>
              </a:ext>
            </a:extLst>
          </p:cNvPr>
          <p:cNvSpPr>
            <a:spLocks noGrp="1"/>
          </p:cNvSpPr>
          <p:nvPr>
            <p:ph type="sldNum" sz="quarter" idx="4"/>
          </p:nvPr>
        </p:nvSpPr>
        <p:spPr/>
        <p:txBody>
          <a:bodyPr/>
          <a:lstStyle/>
          <a:p>
            <a:fld id="{31D26D55-0A22-487A-A687-61FB58A6F16A}" type="slidenum">
              <a:rPr lang="en-US" smtClean="0"/>
              <a:pPr/>
              <a:t>34</a:t>
            </a:fld>
            <a:endParaRPr lang="en-US" dirty="0"/>
          </a:p>
        </p:txBody>
      </p:sp>
      <p:sp>
        <p:nvSpPr>
          <p:cNvPr id="4" name="Title 3">
            <a:extLst>
              <a:ext uri="{FF2B5EF4-FFF2-40B4-BE49-F238E27FC236}">
                <a16:creationId xmlns:a16="http://schemas.microsoft.com/office/drawing/2014/main" id="{CCC76197-0D7B-4804-A4D7-4B88219BFAED}"/>
              </a:ext>
            </a:extLst>
          </p:cNvPr>
          <p:cNvSpPr>
            <a:spLocks noGrp="1"/>
          </p:cNvSpPr>
          <p:nvPr>
            <p:ph type="title"/>
          </p:nvPr>
        </p:nvSpPr>
        <p:spPr/>
        <p:txBody>
          <a:bodyPr>
            <a:normAutofit/>
          </a:bodyPr>
          <a:lstStyle/>
          <a:p>
            <a:r>
              <a:rPr lang="en-US" dirty="0"/>
              <a:t>Keys and Indexes for Efficient Querying</a:t>
            </a:r>
          </a:p>
        </p:txBody>
      </p:sp>
    </p:spTree>
    <p:extLst>
      <p:ext uri="{BB962C8B-B14F-4D97-AF65-F5344CB8AC3E}">
        <p14:creationId xmlns:p14="http://schemas.microsoft.com/office/powerpoint/2010/main" val="20046068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2891D9-6071-4311-908D-22E7D8CE8AEB}"/>
              </a:ext>
            </a:extLst>
          </p:cNvPr>
          <p:cNvSpPr>
            <a:spLocks noGrp="1"/>
          </p:cNvSpPr>
          <p:nvPr>
            <p:ph idx="1"/>
          </p:nvPr>
        </p:nvSpPr>
        <p:spPr/>
        <p:txBody>
          <a:bodyPr>
            <a:normAutofit fontScale="92500" lnSpcReduction="20000"/>
          </a:bodyPr>
          <a:lstStyle/>
          <a:p>
            <a:pPr>
              <a:lnSpc>
                <a:spcPct val="150000"/>
              </a:lnSpc>
            </a:pPr>
            <a:r>
              <a:rPr lang="en-US" dirty="0"/>
              <a:t>Protect Sensitive Information: Safeguards personal, financial, and proprietary data from unauthorized access or breaches.</a:t>
            </a:r>
          </a:p>
          <a:p>
            <a:pPr>
              <a:lnSpc>
                <a:spcPct val="150000"/>
              </a:lnSpc>
            </a:pPr>
            <a:r>
              <a:rPr lang="en-US" dirty="0"/>
              <a:t>Ensure Compliance: Adheres to regulatory requirements (e.g., GDPR, HIPAA).</a:t>
            </a:r>
          </a:p>
          <a:p>
            <a:pPr>
              <a:lnSpc>
                <a:spcPct val="150000"/>
              </a:lnSpc>
            </a:pPr>
            <a:r>
              <a:rPr lang="en-US" dirty="0"/>
              <a:t>Prevent Data Loss: Mitigates risks of data corruption or accidental deletion.</a:t>
            </a:r>
          </a:p>
          <a:p>
            <a:pPr>
              <a:lnSpc>
                <a:spcPct val="150000"/>
              </a:lnSpc>
            </a:pPr>
            <a:r>
              <a:rPr lang="en-US" dirty="0"/>
              <a:t>Maintain System Integrity: Prevents unauthorized modifications to critical data.</a:t>
            </a:r>
          </a:p>
        </p:txBody>
      </p:sp>
      <p:sp>
        <p:nvSpPr>
          <p:cNvPr id="3" name="Slide Number Placeholder 2">
            <a:extLst>
              <a:ext uri="{FF2B5EF4-FFF2-40B4-BE49-F238E27FC236}">
                <a16:creationId xmlns:a16="http://schemas.microsoft.com/office/drawing/2014/main" id="{7B4F7EBE-8DED-4CBF-872C-0BDC013FEB90}"/>
              </a:ext>
            </a:extLst>
          </p:cNvPr>
          <p:cNvSpPr>
            <a:spLocks noGrp="1"/>
          </p:cNvSpPr>
          <p:nvPr>
            <p:ph type="sldNum" sz="quarter" idx="4"/>
          </p:nvPr>
        </p:nvSpPr>
        <p:spPr/>
        <p:txBody>
          <a:bodyPr/>
          <a:lstStyle/>
          <a:p>
            <a:fld id="{31D26D55-0A22-487A-A687-61FB58A6F16A}" type="slidenum">
              <a:rPr lang="en-US" smtClean="0"/>
              <a:pPr/>
              <a:t>35</a:t>
            </a:fld>
            <a:endParaRPr lang="en-US" dirty="0"/>
          </a:p>
        </p:txBody>
      </p:sp>
      <p:sp>
        <p:nvSpPr>
          <p:cNvPr id="4" name="Title 3">
            <a:extLst>
              <a:ext uri="{FF2B5EF4-FFF2-40B4-BE49-F238E27FC236}">
                <a16:creationId xmlns:a16="http://schemas.microsoft.com/office/drawing/2014/main" id="{9124C72D-0C5D-4552-889A-DB50FF430190}"/>
              </a:ext>
            </a:extLst>
          </p:cNvPr>
          <p:cNvSpPr>
            <a:spLocks noGrp="1"/>
          </p:cNvSpPr>
          <p:nvPr>
            <p:ph type="title"/>
          </p:nvPr>
        </p:nvSpPr>
        <p:spPr/>
        <p:txBody>
          <a:bodyPr>
            <a:normAutofit/>
          </a:bodyPr>
          <a:lstStyle/>
          <a:p>
            <a:r>
              <a:rPr lang="en-US" dirty="0"/>
              <a:t>Database Security and Access Control</a:t>
            </a:r>
          </a:p>
        </p:txBody>
      </p:sp>
    </p:spTree>
    <p:extLst>
      <p:ext uri="{BB962C8B-B14F-4D97-AF65-F5344CB8AC3E}">
        <p14:creationId xmlns:p14="http://schemas.microsoft.com/office/powerpoint/2010/main" val="9092657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961508-5E45-4E2F-B0AA-0A48007A9E5B}"/>
              </a:ext>
            </a:extLst>
          </p:cNvPr>
          <p:cNvSpPr>
            <a:spLocks noGrp="1"/>
          </p:cNvSpPr>
          <p:nvPr>
            <p:ph idx="1"/>
          </p:nvPr>
        </p:nvSpPr>
        <p:spPr/>
        <p:txBody>
          <a:bodyPr/>
          <a:lstStyle/>
          <a:p>
            <a:pPr>
              <a:lnSpc>
                <a:spcPct val="150000"/>
              </a:lnSpc>
            </a:pPr>
            <a:r>
              <a:rPr lang="en-US" dirty="0"/>
              <a:t>Ensures data availability in case of accidental deletion, corruption, or attacks (e.g., ransomware).</a:t>
            </a:r>
          </a:p>
          <a:p>
            <a:pPr>
              <a:lnSpc>
                <a:spcPct val="150000"/>
              </a:lnSpc>
            </a:pPr>
            <a:r>
              <a:rPr lang="en-US" dirty="0"/>
              <a:t>Strategies:</a:t>
            </a:r>
          </a:p>
          <a:p>
            <a:pPr lvl="1">
              <a:lnSpc>
                <a:spcPct val="150000"/>
              </a:lnSpc>
            </a:pPr>
            <a:r>
              <a:rPr lang="en-US" dirty="0"/>
              <a:t>Full backups: Entire database is backed up.</a:t>
            </a:r>
          </a:p>
          <a:p>
            <a:pPr lvl="1">
              <a:lnSpc>
                <a:spcPct val="150000"/>
              </a:lnSpc>
            </a:pPr>
            <a:r>
              <a:rPr lang="en-US" dirty="0"/>
              <a:t>Incremental backups: Only changes since the last backup are saved.</a:t>
            </a:r>
          </a:p>
        </p:txBody>
      </p:sp>
      <p:sp>
        <p:nvSpPr>
          <p:cNvPr id="3" name="Slide Number Placeholder 2">
            <a:extLst>
              <a:ext uri="{FF2B5EF4-FFF2-40B4-BE49-F238E27FC236}">
                <a16:creationId xmlns:a16="http://schemas.microsoft.com/office/drawing/2014/main" id="{5236FA0F-109C-4586-A47A-31779B3806E7}"/>
              </a:ext>
            </a:extLst>
          </p:cNvPr>
          <p:cNvSpPr>
            <a:spLocks noGrp="1"/>
          </p:cNvSpPr>
          <p:nvPr>
            <p:ph type="sldNum" sz="quarter" idx="4"/>
          </p:nvPr>
        </p:nvSpPr>
        <p:spPr/>
        <p:txBody>
          <a:bodyPr/>
          <a:lstStyle/>
          <a:p>
            <a:fld id="{31D26D55-0A22-487A-A687-61FB58A6F16A}" type="slidenum">
              <a:rPr lang="en-US" smtClean="0"/>
              <a:pPr/>
              <a:t>36</a:t>
            </a:fld>
            <a:endParaRPr lang="en-US" dirty="0"/>
          </a:p>
        </p:txBody>
      </p:sp>
      <p:sp>
        <p:nvSpPr>
          <p:cNvPr id="4" name="Title 3">
            <a:extLst>
              <a:ext uri="{FF2B5EF4-FFF2-40B4-BE49-F238E27FC236}">
                <a16:creationId xmlns:a16="http://schemas.microsoft.com/office/drawing/2014/main" id="{414F16A3-35D1-4C49-9568-0056D54F28A9}"/>
              </a:ext>
            </a:extLst>
          </p:cNvPr>
          <p:cNvSpPr>
            <a:spLocks noGrp="1"/>
          </p:cNvSpPr>
          <p:nvPr>
            <p:ph type="title"/>
          </p:nvPr>
        </p:nvSpPr>
        <p:spPr/>
        <p:txBody>
          <a:bodyPr>
            <a:normAutofit/>
          </a:bodyPr>
          <a:lstStyle/>
          <a:p>
            <a:r>
              <a:rPr lang="en-US" dirty="0"/>
              <a:t>Backup and Recovery Strategies</a:t>
            </a:r>
          </a:p>
        </p:txBody>
      </p:sp>
    </p:spTree>
    <p:extLst>
      <p:ext uri="{BB962C8B-B14F-4D97-AF65-F5344CB8AC3E}">
        <p14:creationId xmlns:p14="http://schemas.microsoft.com/office/powerpoint/2010/main" val="30046813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521CC8-6AFB-40F2-BA4D-E59E797F1A05}"/>
              </a:ext>
            </a:extLst>
          </p:cNvPr>
          <p:cNvSpPr>
            <a:spLocks noGrp="1"/>
          </p:cNvSpPr>
          <p:nvPr>
            <p:ph type="body" sz="quarter" idx="10"/>
          </p:nvPr>
        </p:nvSpPr>
        <p:spPr/>
        <p:txBody>
          <a:bodyPr/>
          <a:lstStyle/>
          <a:p>
            <a:endParaRPr lang="en-US"/>
          </a:p>
        </p:txBody>
      </p:sp>
      <p:sp>
        <p:nvSpPr>
          <p:cNvPr id="3" name="Slide Number Placeholder 2">
            <a:extLst>
              <a:ext uri="{FF2B5EF4-FFF2-40B4-BE49-F238E27FC236}">
                <a16:creationId xmlns:a16="http://schemas.microsoft.com/office/drawing/2014/main" id="{ED53F442-82F2-4F8B-AAE4-41782D9CF6B7}"/>
              </a:ext>
            </a:extLst>
          </p:cNvPr>
          <p:cNvSpPr>
            <a:spLocks noGrp="1"/>
          </p:cNvSpPr>
          <p:nvPr>
            <p:ph type="sldNum" sz="quarter" idx="4"/>
          </p:nvPr>
        </p:nvSpPr>
        <p:spPr/>
        <p:txBody>
          <a:bodyPr/>
          <a:lstStyle/>
          <a:p>
            <a:fld id="{31D26D55-0A22-487A-A687-61FB58A6F16A}" type="slidenum">
              <a:rPr lang="en-US" smtClean="0"/>
              <a:pPr/>
              <a:t>37</a:t>
            </a:fld>
            <a:endParaRPr lang="en-US" dirty="0"/>
          </a:p>
        </p:txBody>
      </p:sp>
    </p:spTree>
    <p:extLst>
      <p:ext uri="{BB962C8B-B14F-4D97-AF65-F5344CB8AC3E}">
        <p14:creationId xmlns:p14="http://schemas.microsoft.com/office/powerpoint/2010/main" val="1711510086"/>
      </p:ext>
    </p:extLst>
  </p:cSld>
  <p:clrMapOvr>
    <a:masterClrMapping/>
  </p:clrMapOvr>
</p:sld>
</file>

<file path=ppt/theme/theme1.xml><?xml version="1.0" encoding="utf-8"?>
<a:theme xmlns:a="http://schemas.openxmlformats.org/drawingml/2006/main" name="Open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A1FCA969-387E-4DB4-9551-88DE0367AE2C}"/>
    </a:ext>
  </a:extLst>
</a:theme>
</file>

<file path=ppt/theme/theme2.xml><?xml version="1.0" encoding="utf-8"?>
<a:theme xmlns:a="http://schemas.openxmlformats.org/drawingml/2006/main" name="Body slide">
  <a:themeElements>
    <a:clrScheme name="pptx template 1">
      <a:dk1>
        <a:srgbClr val="0070C0"/>
      </a:dk1>
      <a:lt1>
        <a:sysClr val="window" lastClr="FFFFFF"/>
      </a:lt1>
      <a:dk2>
        <a:srgbClr val="0070C0"/>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40093B85-BF9A-493F-85B6-14614628567D}"/>
    </a:ext>
  </a:extLst>
</a:theme>
</file>

<file path=ppt/theme/theme3.xml><?xml version="1.0" encoding="utf-8"?>
<a:theme xmlns:a="http://schemas.openxmlformats.org/drawingml/2006/main" name="End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271355E2-C430-4D72-871F-A29EDD8FE0B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9c558a-331c-4b2a-9422-cc1872e64aa6">
      <Terms xmlns="http://schemas.microsoft.com/office/infopath/2007/PartnerControls"/>
    </lcf76f155ced4ddcb4097134ff3c332f>
    <TaxCatchAll xmlns="0daeb402-9d2e-4002-a65f-37a660ceb8f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307973FBAC0FD44AFF67A0CF8CAB7ED" ma:contentTypeVersion="15" ma:contentTypeDescription="Create a new document." ma:contentTypeScope="" ma:versionID="74905d119c205581eaedd23186ce405f">
  <xsd:schema xmlns:xsd="http://www.w3.org/2001/XMLSchema" xmlns:xs="http://www.w3.org/2001/XMLSchema" xmlns:p="http://schemas.microsoft.com/office/2006/metadata/properties" xmlns:ns2="6e9c558a-331c-4b2a-9422-cc1872e64aa6" xmlns:ns3="0daeb402-9d2e-4002-a65f-37a660ceb8fd" targetNamespace="http://schemas.microsoft.com/office/2006/metadata/properties" ma:root="true" ma:fieldsID="708587739f1abd74a42e448662f10547" ns2:_="" ns3:_="">
    <xsd:import namespace="6e9c558a-331c-4b2a-9422-cc1872e64aa6"/>
    <xsd:import namespace="0daeb402-9d2e-4002-a65f-37a660ceb8f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9c558a-331c-4b2a-9422-cc1872e64a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8aa48d64-e0f2-481a-8596-878e2f0ebd5d"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aeb402-9d2e-4002-a65f-37a660ceb8f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dc41332e-9ceb-47bb-9b4b-dcfc7eb8757e}" ma:internalName="TaxCatchAll" ma:showField="CatchAllData" ma:web="0daeb402-9d2e-4002-a65f-37a660ceb8f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CFB1B7A-7539-4967-8AAA-11AF0625B237}">
  <ds:schemaRefs>
    <ds:schemaRef ds:uri="0daeb402-9d2e-4002-a65f-37a660ceb8fd"/>
    <ds:schemaRef ds:uri="http://schemas.microsoft.com/office/2006/metadata/properties"/>
    <ds:schemaRef ds:uri="http://purl.org/dc/terms/"/>
    <ds:schemaRef ds:uri="http://schemas.microsoft.com/office/2006/documentManagement/types"/>
    <ds:schemaRef ds:uri="http://schemas.openxmlformats.org/package/2006/metadata/core-properties"/>
    <ds:schemaRef ds:uri="http://purl.org/dc/elements/1.1/"/>
    <ds:schemaRef ds:uri="http://purl.org/dc/dcmitype/"/>
    <ds:schemaRef ds:uri="http://schemas.microsoft.com/office/infopath/2007/PartnerControls"/>
    <ds:schemaRef ds:uri="6e9c558a-331c-4b2a-9422-cc1872e64aa6"/>
    <ds:schemaRef ds:uri="http://www.w3.org/XML/1998/namespace"/>
  </ds:schemaRefs>
</ds:datastoreItem>
</file>

<file path=customXml/itemProps2.xml><?xml version="1.0" encoding="utf-8"?>
<ds:datastoreItem xmlns:ds="http://schemas.openxmlformats.org/officeDocument/2006/customXml" ds:itemID="{45FC894D-4897-4786-BA25-A0F37F3FE4D9}">
  <ds:schemaRefs>
    <ds:schemaRef ds:uri="http://schemas.microsoft.com/sharepoint/v3/contenttype/forms"/>
  </ds:schemaRefs>
</ds:datastoreItem>
</file>

<file path=customXml/itemProps3.xml><?xml version="1.0" encoding="utf-8"?>
<ds:datastoreItem xmlns:ds="http://schemas.openxmlformats.org/officeDocument/2006/customXml" ds:itemID="{2F5F70AA-4D65-4F0B-84E1-9352916685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9c558a-331c-4b2a-9422-cc1872e64aa6"/>
    <ds:schemaRef ds:uri="0daeb402-9d2e-4002-a65f-37a660ceb8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cmc-uni-slide-template</Template>
  <TotalTime>13690</TotalTime>
  <Words>6355</Words>
  <Application>Microsoft Office PowerPoint</Application>
  <PresentationFormat>Custom</PresentationFormat>
  <Paragraphs>597</Paragraphs>
  <Slides>37</Slides>
  <Notes>36</Notes>
  <HiddenSlides>0</HiddenSlides>
  <MMClips>0</MMClips>
  <ScaleCrop>false</ScaleCrop>
  <HeadingPairs>
    <vt:vector size="6" baseType="variant">
      <vt:variant>
        <vt:lpstr>Fonts Used</vt:lpstr>
      </vt:variant>
      <vt:variant>
        <vt:i4>2</vt:i4>
      </vt:variant>
      <vt:variant>
        <vt:lpstr>Theme</vt:lpstr>
      </vt:variant>
      <vt:variant>
        <vt:i4>3</vt:i4>
      </vt:variant>
      <vt:variant>
        <vt:lpstr>Slide Titles</vt:lpstr>
      </vt:variant>
      <vt:variant>
        <vt:i4>37</vt:i4>
      </vt:variant>
    </vt:vector>
  </HeadingPairs>
  <TitlesOfParts>
    <vt:vector size="42" baseType="lpstr">
      <vt:lpstr>Arial</vt:lpstr>
      <vt:lpstr>Times New Roman</vt:lpstr>
      <vt:lpstr>Opening slide</vt:lpstr>
      <vt:lpstr>Body slide</vt:lpstr>
      <vt:lpstr>Ending slide</vt:lpstr>
      <vt:lpstr>PowerPoint Presentation</vt:lpstr>
      <vt:lpstr>Unified Modeling Language (UML)</vt:lpstr>
      <vt:lpstr>History of UML</vt:lpstr>
      <vt:lpstr>UML Extension Mechanisms 1/2</vt:lpstr>
      <vt:lpstr>UML Types</vt:lpstr>
      <vt:lpstr>Class &amp; Object Diagram</vt:lpstr>
      <vt:lpstr>Component Diagram</vt:lpstr>
      <vt:lpstr>Deploy Diagram</vt:lpstr>
      <vt:lpstr>Package Diagram</vt:lpstr>
      <vt:lpstr>Use Case Diagrams</vt:lpstr>
      <vt:lpstr>Sequence Diagram</vt:lpstr>
      <vt:lpstr>Activity Diagram</vt:lpstr>
      <vt:lpstr>State Machine Diagram</vt:lpstr>
      <vt:lpstr>Communication/Collaboration Diagram</vt:lpstr>
      <vt:lpstr>Data Flow Diagram</vt:lpstr>
      <vt:lpstr>DFD Steps</vt:lpstr>
      <vt:lpstr>Database Design</vt:lpstr>
      <vt:lpstr>The Database Lifecycle</vt:lpstr>
      <vt:lpstr>ERD (Entity-Relationship Diagram)</vt:lpstr>
      <vt:lpstr>Entities</vt:lpstr>
      <vt:lpstr>Attributes</vt:lpstr>
      <vt:lpstr>Relationships</vt:lpstr>
      <vt:lpstr>Cardinality</vt:lpstr>
      <vt:lpstr>ERD Example</vt:lpstr>
      <vt:lpstr>Logical Design</vt:lpstr>
      <vt:lpstr>Normalization: Reducing Data Redundancy</vt:lpstr>
      <vt:lpstr>1NF (First Normal Form)</vt:lpstr>
      <vt:lpstr>2NF (Second Normal Form)</vt:lpstr>
      <vt:lpstr>3NF (Third Normal Form)</vt:lpstr>
      <vt:lpstr>BCNF (Boyce-Codd Normal Form)</vt:lpstr>
      <vt:lpstr>Constraints &amp; Relationships</vt:lpstr>
      <vt:lpstr>Physical Design</vt:lpstr>
      <vt:lpstr>Physical Design</vt:lpstr>
      <vt:lpstr>Keys and Indexes for Efficient Querying</vt:lpstr>
      <vt:lpstr>Database Security and Access Control</vt:lpstr>
      <vt:lpstr>Backup and Recovery Strategies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Hung. Nguyen Viet - CMCU</cp:lastModifiedBy>
  <cp:revision>46</cp:revision>
  <dcterms:created xsi:type="dcterms:W3CDTF">2024-12-09T10:47:32Z</dcterms:created>
  <dcterms:modified xsi:type="dcterms:W3CDTF">2026-01-20T00:38:56Z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0x010100B307973FBAC0FD44AFF67A0CF8CAB7ED</vt:lpwstr>
  </property>
</Properties>
</file>