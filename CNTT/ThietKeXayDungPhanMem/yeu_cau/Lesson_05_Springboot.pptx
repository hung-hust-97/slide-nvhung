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4"/>
    <p:sldMasterId id="2147483672" r:id="rId5"/>
    <p:sldMasterId id="2147483683" r:id="rId6"/>
  </p:sldMasterIdLst>
  <p:notesMasterIdLst>
    <p:notesMasterId r:id="rId36"/>
  </p:notesMasterIdLst>
  <p:sldIdLst>
    <p:sldId id="267" r:id="rId7"/>
    <p:sldId id="270" r:id="rId8"/>
    <p:sldId id="271" r:id="rId9"/>
    <p:sldId id="272" r:id="rId10"/>
    <p:sldId id="274" r:id="rId11"/>
    <p:sldId id="276" r:id="rId12"/>
    <p:sldId id="296" r:id="rId13"/>
    <p:sldId id="273" r:id="rId14"/>
    <p:sldId id="280" r:id="rId15"/>
    <p:sldId id="281" r:id="rId16"/>
    <p:sldId id="278" r:id="rId17"/>
    <p:sldId id="283" r:id="rId18"/>
    <p:sldId id="285" r:id="rId19"/>
    <p:sldId id="293" r:id="rId20"/>
    <p:sldId id="286" r:id="rId21"/>
    <p:sldId id="287" r:id="rId22"/>
    <p:sldId id="282" r:id="rId23"/>
    <p:sldId id="288" r:id="rId24"/>
    <p:sldId id="279" r:id="rId25"/>
    <p:sldId id="289" r:id="rId26"/>
    <p:sldId id="284" r:id="rId27"/>
    <p:sldId id="290" r:id="rId28"/>
    <p:sldId id="277" r:id="rId29"/>
    <p:sldId id="291" r:id="rId30"/>
    <p:sldId id="295" r:id="rId31"/>
    <p:sldId id="294" r:id="rId32"/>
    <p:sldId id="292" r:id="rId33"/>
    <p:sldId id="297" r:id="rId34"/>
    <p:sldId id="269" r:id="rId35"/>
  </p:sldIdLst>
  <p:sldSz cx="14630400" cy="8229600"/>
  <p:notesSz cx="8229600" cy="14630400"/>
  <p:embeddedFontLst>
    <p:embeddedFont>
      <p:font typeface="Montserrat" panose="00000500000000000000" pitchFamily="2"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C6940E-B656-4D5A-9D96-73FF9C67C71F}">
          <p14:sldIdLst>
            <p14:sldId id="267"/>
          </p14:sldIdLst>
        </p14:section>
        <p14:section name="defination" id="{3B5FC28E-069E-4C03-9A63-83943DB47FAE}">
          <p14:sldIdLst>
            <p14:sldId id="270"/>
            <p14:sldId id="271"/>
            <p14:sldId id="272"/>
            <p14:sldId id="274"/>
            <p14:sldId id="276"/>
            <p14:sldId id="296"/>
          </p14:sldIdLst>
        </p14:section>
        <p14:section name="spring boot" id="{21B6AE88-8079-4A77-88F1-ABCCD52C7B1B}">
          <p14:sldIdLst>
            <p14:sldId id="273"/>
            <p14:sldId id="280"/>
            <p14:sldId id="281"/>
            <p14:sldId id="278"/>
            <p14:sldId id="283"/>
            <p14:sldId id="285"/>
            <p14:sldId id="293"/>
            <p14:sldId id="286"/>
            <p14:sldId id="287"/>
            <p14:sldId id="282"/>
            <p14:sldId id="288"/>
            <p14:sldId id="279"/>
            <p14:sldId id="289"/>
            <p14:sldId id="284"/>
            <p14:sldId id="290"/>
            <p14:sldId id="277"/>
            <p14:sldId id="291"/>
          </p14:sldIdLst>
        </p14:section>
        <p14:section name="spring advance" id="{4D609EDA-2B40-4F41-8ACA-C8129585D52A}">
          <p14:sldIdLst>
            <p14:sldId id="295"/>
            <p14:sldId id="294"/>
            <p14:sldId id="292"/>
            <p14:sldId id="297"/>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F7C956-8DD5-4B7C-8201-561A91B7084D}" v="3" dt="2026-01-21T00:31:40.0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72860" autoAdjust="0"/>
  </p:normalViewPr>
  <p:slideViewPr>
    <p:cSldViewPr snapToGrid="0" snapToObjects="1">
      <p:cViewPr>
        <p:scale>
          <a:sx n="48" d="100"/>
          <a:sy n="48" d="100"/>
        </p:scale>
        <p:origin x="975" y="30"/>
      </p:cViewPr>
      <p:guideLst/>
    </p:cSldViewPr>
  </p:slideViewPr>
  <p:notesTextViewPr>
    <p:cViewPr>
      <p:scale>
        <a:sx n="1" d="1"/>
        <a:sy n="1" d="1"/>
      </p:scale>
      <p:origin x="0" y="-384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3.fntdata"/><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font" Target="fonts/font1.fntdata"/><Relationship Id="rId40" Type="http://schemas.openxmlformats.org/officeDocument/2006/relationships/font" Target="fonts/font4.fntdata"/><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font" Target="fonts/font2.fntdata"/><Relationship Id="rId46" Type="http://schemas.microsoft.com/office/2015/10/relationships/revisionInfo" Target="revisionInfo.xml"/><Relationship Id="rId20" Type="http://schemas.openxmlformats.org/officeDocument/2006/relationships/slide" Target="slides/slide14.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g. Nguyen Viet - CMCU" userId="c51906a1-f569-4298-817a-9a14a5d7b82c" providerId="ADAL" clId="{4F5E3F8A-AF6A-421E-BD32-7F7F29FAA2DE}"/>
    <pc:docChg chg="modSld">
      <pc:chgData name="Hung. Nguyen Viet - CMCU" userId="c51906a1-f569-4298-817a-9a14a5d7b82c" providerId="ADAL" clId="{4F5E3F8A-AF6A-421E-BD32-7F7F29FAA2DE}" dt="2026-01-21T00:36:40.134" v="2" actId="6549"/>
      <pc:docMkLst>
        <pc:docMk/>
      </pc:docMkLst>
      <pc:sldChg chg="modNotesTx">
        <pc:chgData name="Hung. Nguyen Viet - CMCU" userId="c51906a1-f569-4298-817a-9a14a5d7b82c" providerId="ADAL" clId="{4F5E3F8A-AF6A-421E-BD32-7F7F29FAA2DE}" dt="2026-01-21T00:22:26.189" v="1" actId="20577"/>
        <pc:sldMkLst>
          <pc:docMk/>
          <pc:sldMk cId="2366127243" sldId="282"/>
        </pc:sldMkLst>
      </pc:sldChg>
      <pc:sldChg chg="modNotesTx">
        <pc:chgData name="Hung. Nguyen Viet - CMCU" userId="c51906a1-f569-4298-817a-9a14a5d7b82c" providerId="ADAL" clId="{4F5E3F8A-AF6A-421E-BD32-7F7F29FAA2DE}" dt="2026-01-21T00:12:52.181" v="0" actId="20577"/>
        <pc:sldMkLst>
          <pc:docMk/>
          <pc:sldMk cId="2693173114" sldId="286"/>
        </pc:sldMkLst>
      </pc:sldChg>
      <pc:sldChg chg="modNotesTx">
        <pc:chgData name="Hung. Nguyen Viet - CMCU" userId="c51906a1-f569-4298-817a-9a14a5d7b82c" providerId="ADAL" clId="{4F5E3F8A-AF6A-421E-BD32-7F7F29FAA2DE}" dt="2026-01-21T00:36:40.134" v="2" actId="6549"/>
        <pc:sldMkLst>
          <pc:docMk/>
          <pc:sldMk cId="1390512495" sldId="2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2099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 Spring Boot là một framework giúp đơn giản hóa và tăng tốc quá trình phát triển ứng dụng Java.</a:t>
            </a:r>
            <a:endParaRPr lang="vi-VN" dirty="0"/>
          </a:p>
          <a:p>
            <a:r>
              <a:rPr lang="vi-VN" b="1" dirty="0"/>
              <a:t>• Đặc biệt là đối với các ứng dụng web và API.</a:t>
            </a:r>
            <a:endParaRPr lang="vi-VN" dirty="0"/>
          </a:p>
          <a:p>
            <a:r>
              <a:rPr lang="vi-VN" b="1" dirty="0"/>
              <a:t>• Các tính năng chính:</a:t>
            </a:r>
            <a:endParaRPr lang="vi-VN" dirty="0"/>
          </a:p>
          <a:p>
            <a:r>
              <a:rPr lang="en-US" dirty="0">
                <a:effectLst/>
              </a:rPr>
              <a:t>	</a:t>
            </a:r>
            <a:r>
              <a:rPr lang="vi-VN" dirty="0">
                <a:effectLst/>
              </a:rPr>
              <a:t>• Cấu hình tối thiểu.</a:t>
            </a:r>
            <a:endParaRPr lang="en-US" dirty="0">
              <a:effectLst/>
            </a:endParaRPr>
          </a:p>
          <a:p>
            <a:r>
              <a:rPr lang="en-US" dirty="0">
                <a:effectLst/>
              </a:rPr>
              <a:t>	</a:t>
            </a:r>
            <a:r>
              <a:rPr lang="vi-VN" dirty="0">
                <a:effectLst/>
              </a:rPr>
              <a:t>• Tích hợp sẵn với các thư viện phổ biến.</a:t>
            </a:r>
            <a:endParaRPr lang="en-US" dirty="0">
              <a:effectLst/>
            </a:endParaRPr>
          </a:p>
          <a:p>
            <a:r>
              <a:rPr lang="en-US" dirty="0">
                <a:effectLst/>
              </a:rPr>
              <a:t>	</a:t>
            </a:r>
            <a:r>
              <a:rPr lang="vi-VN" dirty="0">
                <a:effectLst/>
              </a:rPr>
              <a:t>• Hỗ trợ các ứng dụng độc lập (server được nhúng).</a:t>
            </a:r>
          </a:p>
          <a:p>
            <a:endParaRPr lang="en-US" dirty="0"/>
          </a:p>
        </p:txBody>
      </p:sp>
    </p:spTree>
    <p:extLst>
      <p:ext uri="{BB962C8B-B14F-4D97-AF65-F5344CB8AC3E}">
        <p14:creationId xmlns:p14="http://schemas.microsoft.com/office/powerpoint/2010/main" val="2206975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algn="l"/>
            <a:r>
              <a:rPr lang="vi-VN" dirty="0"/>
              <a:t>• Quá trình phát triển nhanh hơn.</a:t>
            </a:r>
            <a:endParaRPr lang="en-US" dirty="0"/>
          </a:p>
          <a:p>
            <a:pPr algn="l"/>
            <a:r>
              <a:rPr lang="vi-VN" dirty="0"/>
              <a:t>• Tích hợp liền mạch với các dịch vụ bên ngoài (ví dụ: cơ sở dữ liệu, nhắn tin).</a:t>
            </a:r>
            <a:endParaRPr lang="en-US" dirty="0"/>
          </a:p>
          <a:p>
            <a:pPr algn="l"/>
            <a:r>
              <a:rPr lang="vi-VN" dirty="0"/>
              <a:t>• Quản lý phụ thuộc hiệu quả với Maven/Gradle.</a:t>
            </a:r>
            <a:endParaRPr lang="en-US" dirty="0"/>
          </a:p>
          <a:p>
            <a:pPr algn="l"/>
            <a:r>
              <a:rPr lang="vi-VN" dirty="0"/>
              <a:t>• Cộng đồng lớn và tài liệu phong phú.</a:t>
            </a:r>
            <a:endParaRPr lang="en-US" dirty="0"/>
          </a:p>
          <a:p>
            <a:pPr algn="l"/>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effectLst/>
              </a:rPr>
              <a:t>• </a:t>
            </a:r>
            <a:r>
              <a:rPr lang="en-US" b="1" dirty="0">
                <a:effectLst/>
              </a:rPr>
              <a:t>So </a:t>
            </a:r>
            <a:r>
              <a:rPr lang="en-US" b="1" dirty="0" err="1">
                <a:effectLst/>
              </a:rPr>
              <a:t>sánh</a:t>
            </a:r>
            <a:r>
              <a:rPr lang="en-US" b="1" dirty="0">
                <a:effectLst/>
              </a:rPr>
              <a:t>: </a:t>
            </a:r>
            <a:r>
              <a:rPr lang="vi-VN" b="1" dirty="0">
                <a:effectLst/>
              </a:rPr>
              <a:t>Linh hoạt hơn so với các framework Java truyền thống (ví dụ: Java EE).</a:t>
            </a:r>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 Hạn chế: Các phụ thuộc làm tăng kích thước của ứng dụng.</a:t>
            </a:r>
            <a:endParaRPr lang="vi-VN" dirty="0"/>
          </a:p>
          <a:p>
            <a:pPr algn="l"/>
            <a:endParaRPr lang="en-US" b="0" i="0" dirty="0">
              <a:effectLst/>
              <a:latin typeface="Montserrat" panose="00000500000000000000" pitchFamily="2" charset="0"/>
            </a:endParaRPr>
          </a:p>
          <a:p>
            <a:pPr algn="l"/>
            <a:r>
              <a:rPr lang="en-US" b="0" i="0" dirty="0">
                <a:effectLst/>
                <a:latin typeface="Montserrat" panose="00000500000000000000" pitchFamily="2" charset="0"/>
              </a:rPr>
              <a:t>Advantages of Spring Boot</a:t>
            </a:r>
          </a:p>
          <a:p>
            <a:r>
              <a:rPr lang="vi-VN" b="1" dirty="0"/>
              <a:t>Tạo ứng dụng Spring độc lập</a:t>
            </a:r>
            <a:r>
              <a:rPr lang="vi-VN" dirty="0"/>
              <a:t>: Spring Boot cho phép bạn đóng gói ứng dụng và chạy nó một cách độc lập bằng lệnh java -jar. Điều này giúp đơn giản hóa quá trình triển khai ứng dụng.</a:t>
            </a:r>
          </a:p>
          <a:p>
            <a:r>
              <a:rPr lang="vi-VN" b="1" dirty="0"/>
              <a:t>Kiểm thử ứng dụng web dễ dàng</a:t>
            </a:r>
            <a:r>
              <a:rPr lang="vi-VN" dirty="0"/>
              <a:t>: Với sự hỗ trợ của các embedded HTTP server như Tomcat, Jetty, việc kiểm thử ứng dụng web trở nên dễ dàng hơn bao giờ hết. Bạn không cần phải deploy file WAR (Web ARchive) vào một server riêng biệt.</a:t>
            </a:r>
          </a:p>
          <a:p>
            <a:r>
              <a:rPr lang="vi-VN" b="1" dirty="0"/>
              <a:t>Đơn giản hóa cấu hình Maven</a:t>
            </a:r>
            <a:r>
              <a:rPr lang="vi-VN" dirty="0"/>
              <a:t>: Spring Boot cung cấp các "starter POMs" (Project Object Model) đã được cấu hình sẵn, giúp đơn giản hóa cấu hình Maven của bạn. Bạn không cần phải lo lắng về việc quản lý các dependency phức tạp.</a:t>
            </a:r>
          </a:p>
          <a:p>
            <a:r>
              <a:rPr lang="vi-VN" b="1" dirty="0"/>
              <a:t>Tính năng sẵn sàng cho môi trường production</a:t>
            </a:r>
            <a:r>
              <a:rPr lang="vi-VN" dirty="0"/>
              <a:t>: Spring Boot tích hợp các tính năng hữu ích cho môi trường production như metrics (số liệu), health checks (kiểm tra sức khỏe), và externalized configuration (cấu hình bên ngoài).</a:t>
            </a:r>
          </a:p>
          <a:p>
            <a:r>
              <a:rPr lang="vi-VN" b="1" dirty="0"/>
              <a:t>Không yêu cầu cấu hình XML</a:t>
            </a:r>
            <a:r>
              <a:rPr lang="vi-VN" dirty="0"/>
              <a:t>: Spring Boot sử dụng convention over configuration, giúp giảm thiểu việc cấu hình bằng XML.</a:t>
            </a:r>
          </a:p>
          <a:p>
            <a:r>
              <a:rPr lang="vi-VN" b="1" dirty="0"/>
              <a:t>Cung cấp công cụ dòng lệnh (CLI)</a:t>
            </a:r>
            <a:r>
              <a:rPr lang="vi-VN" dirty="0"/>
              <a:t>: Spring Boot CLI cho phép bạn phát triển và kiểm thử ứng dụng Spring Boot một cách nhanh chóng thông qua dòng lệnh.</a:t>
            </a:r>
          </a:p>
          <a:p>
            <a:r>
              <a:rPr lang="vi-VN" b="1" dirty="0"/>
              <a:t>Cung cấp nhiều plugin</a:t>
            </a:r>
            <a:r>
              <a:rPr lang="vi-VN" dirty="0"/>
              <a:t>: Spring Boot tích hợp nhiều plugin hỗ trợ cho quá trình phát triển ứng dụng.</a:t>
            </a:r>
          </a:p>
          <a:p>
            <a:r>
              <a:rPr lang="vi-VN" b="1" dirty="0"/>
              <a:t>Giảm thiểu code boilerplate</a:t>
            </a:r>
            <a:r>
              <a:rPr lang="vi-VN" dirty="0"/>
              <a:t>: Spring Boot giúp giảm thiểu việc viết code boilerplate (code lặp đi lặp lại) và cấu hình XML, annotation.</a:t>
            </a:r>
          </a:p>
          <a:p>
            <a:r>
              <a:rPr lang="vi-VN" b="1" dirty="0"/>
              <a:t>Tăng năng suất và giảm thời gian phát triển</a:t>
            </a:r>
            <a:r>
              <a:rPr lang="vi-VN" dirty="0"/>
              <a:t>: Nhờ những ưu điểm trên, Spring Boot giúp tăng năng suất và giảm thời gian phát triển ứng dụng.</a:t>
            </a:r>
          </a:p>
          <a:p>
            <a:endParaRPr lang="en-US" dirty="0"/>
          </a:p>
        </p:txBody>
      </p:sp>
    </p:spTree>
    <p:extLst>
      <p:ext uri="{BB962C8B-B14F-4D97-AF65-F5344CB8AC3E}">
        <p14:creationId xmlns:p14="http://schemas.microsoft.com/office/powerpoint/2010/main" val="1567911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1. Kiến trúc Three-Tier (Ba lớp):</a:t>
            </a:r>
            <a:endParaRPr lang="vi-VN" dirty="0"/>
          </a:p>
          <a:p>
            <a:r>
              <a:rPr lang="vi-VN" dirty="0"/>
              <a:t>Kiến trúc này chia ứng dụng thành 3 lớp riêng biệt, mỗi lớp đảm nhận một vai trò cụ thể:</a:t>
            </a:r>
          </a:p>
          <a:p>
            <a:pPr>
              <a:buFont typeface="Arial" panose="020B0604020202020204" pitchFamily="34" charset="0"/>
              <a:buChar char="•"/>
            </a:pPr>
            <a:r>
              <a:rPr lang="vi-VN" b="1" dirty="0"/>
              <a:t>Presentation Layer (Lớp trình bày):</a:t>
            </a:r>
            <a:endParaRPr lang="vi-VN" dirty="0"/>
          </a:p>
          <a:p>
            <a:pPr marL="742950" lvl="1" indent="-285750">
              <a:buFont typeface="Arial" panose="020B0604020202020204" pitchFamily="34" charset="0"/>
              <a:buChar char="•"/>
            </a:pPr>
            <a:r>
              <a:rPr lang="vi-VN" dirty="0"/>
              <a:t>Nơi người dùng tương tác trực tiếp với ứng dụng.</a:t>
            </a:r>
          </a:p>
          <a:p>
            <a:pPr marL="742950" lvl="1" indent="-285750">
              <a:buFont typeface="Arial" panose="020B0604020202020204" pitchFamily="34" charset="0"/>
              <a:buChar char="•"/>
            </a:pPr>
            <a:r>
              <a:rPr lang="vi-VN" dirty="0"/>
              <a:t>Hiển thị giao diện người dùng (UI) và nhận dữ liệu đầu vào từ người dùng.</a:t>
            </a:r>
          </a:p>
          <a:p>
            <a:pPr marL="742950" lvl="1" indent="-285750">
              <a:buFont typeface="Arial" panose="020B0604020202020204" pitchFamily="34" charset="0"/>
              <a:buChar char="•"/>
            </a:pPr>
            <a:r>
              <a:rPr lang="vi-VN" dirty="0"/>
              <a:t>Trong hình ảnh, </a:t>
            </a:r>
            <a:r>
              <a:rPr lang="vi-VN" b="1" dirty="0"/>
              <a:t>Client</a:t>
            </a:r>
            <a:r>
              <a:rPr lang="vi-VN" dirty="0"/>
              <a:t> (khách hàng) được biểu diễn như là lớp trình bày.</a:t>
            </a:r>
          </a:p>
          <a:p>
            <a:pPr marL="742950" lvl="1" indent="-285750">
              <a:buFont typeface="Arial" panose="020B0604020202020204" pitchFamily="34" charset="0"/>
              <a:buChar char="•"/>
            </a:pPr>
            <a:r>
              <a:rPr lang="vi-VN" dirty="0"/>
              <a:t>Ví dụ: trình duyệt web, ứng dụng di động.</a:t>
            </a:r>
          </a:p>
          <a:p>
            <a:pPr>
              <a:buFont typeface="Arial" panose="020B0604020202020204" pitchFamily="34" charset="0"/>
              <a:buChar char="•"/>
            </a:pPr>
            <a:r>
              <a:rPr lang="vi-VN" b="1" dirty="0"/>
              <a:t>Business Logic Layer (Lớp logic nghiệp vụ):</a:t>
            </a:r>
            <a:endParaRPr lang="vi-VN" dirty="0"/>
          </a:p>
          <a:p>
            <a:pPr marL="742950" lvl="1" indent="-285750">
              <a:buFont typeface="Arial" panose="020B0604020202020204" pitchFamily="34" charset="0"/>
              <a:buChar char="•"/>
            </a:pPr>
            <a:r>
              <a:rPr lang="vi-VN" dirty="0"/>
              <a:t>Chứa logic xử lý của ứng dụng, quy tắc nghiệp vụ, và các chức năng chính.</a:t>
            </a:r>
          </a:p>
          <a:p>
            <a:pPr marL="742950" lvl="1" indent="-285750">
              <a:buFont typeface="Arial" panose="020B0604020202020204" pitchFamily="34" charset="0"/>
              <a:buChar char="•"/>
            </a:pPr>
            <a:r>
              <a:rPr lang="vi-VN" dirty="0"/>
              <a:t>Tiếp nhận yêu cầu từ lớp trình bày, xử lý dữ liệu, và tương tác với lớp dữ liệu.</a:t>
            </a:r>
          </a:p>
          <a:p>
            <a:pPr marL="742950" lvl="1" indent="-285750">
              <a:buFont typeface="Arial" panose="020B0604020202020204" pitchFamily="34" charset="0"/>
              <a:buChar char="•"/>
            </a:pPr>
            <a:r>
              <a:rPr lang="vi-VN" dirty="0"/>
              <a:t>Trong hình ảnh, lớp này được biểu diễn bằng khối màu đỏ </a:t>
            </a:r>
            <a:r>
              <a:rPr lang="vi-VN" b="1" dirty="0"/>
              <a:t>Business Logic Layer</a:t>
            </a:r>
            <a:r>
              <a:rPr lang="vi-VN" dirty="0"/>
              <a:t>.</a:t>
            </a:r>
          </a:p>
          <a:p>
            <a:pPr marL="742950" lvl="1" indent="-285750">
              <a:buFont typeface="Arial" panose="020B0604020202020204" pitchFamily="34" charset="0"/>
              <a:buChar char="•"/>
            </a:pPr>
            <a:r>
              <a:rPr lang="vi-VN" dirty="0"/>
              <a:t>Ví dụ: xử lý đơn hàng, tính toán lương, kiểm tra thông tin người dùng.</a:t>
            </a:r>
          </a:p>
          <a:p>
            <a:pPr>
              <a:buFont typeface="Arial" panose="020B0604020202020204" pitchFamily="34" charset="0"/>
              <a:buChar char="•"/>
            </a:pPr>
            <a:r>
              <a:rPr lang="vi-VN" b="1" dirty="0"/>
              <a:t>Data Access Layer (Lớp truy cập dữ liệu):</a:t>
            </a:r>
            <a:endParaRPr lang="vi-VN" dirty="0"/>
          </a:p>
          <a:p>
            <a:pPr marL="742950" lvl="1" indent="-285750">
              <a:buFont typeface="Arial" panose="020B0604020202020204" pitchFamily="34" charset="0"/>
              <a:buChar char="•"/>
            </a:pPr>
            <a:r>
              <a:rPr lang="vi-VN" dirty="0"/>
              <a:t>Quản lý việc truy cập và lưu trữ dữ liệu của ứng dụng.</a:t>
            </a:r>
          </a:p>
          <a:p>
            <a:pPr marL="742950" lvl="1" indent="-285750">
              <a:buFont typeface="Arial" panose="020B0604020202020204" pitchFamily="34" charset="0"/>
              <a:buChar char="•"/>
            </a:pPr>
            <a:r>
              <a:rPr lang="vi-VN" dirty="0"/>
              <a:t>Tương tác với cơ sở dữ liệu để lấy, thêm, sửa, xóa dữ liệu.</a:t>
            </a:r>
          </a:p>
          <a:p>
            <a:pPr marL="742950" lvl="1" indent="-285750">
              <a:buFont typeface="Arial" panose="020B0604020202020204" pitchFamily="34" charset="0"/>
              <a:buChar char="•"/>
            </a:pPr>
            <a:r>
              <a:rPr lang="vi-VN" dirty="0"/>
              <a:t>Trong hình ảnh, lớp này được biểu diễn bằng khối màu xanh lá cây </a:t>
            </a:r>
            <a:r>
              <a:rPr lang="vi-VN" b="1" dirty="0"/>
              <a:t>Data Access Layer</a:t>
            </a:r>
            <a:r>
              <a:rPr lang="vi-VN" dirty="0"/>
              <a:t>.</a:t>
            </a:r>
          </a:p>
          <a:p>
            <a:pPr marL="742950" lvl="1" indent="-285750">
              <a:buFont typeface="Arial" panose="020B0604020202020204" pitchFamily="34" charset="0"/>
              <a:buChar char="•"/>
            </a:pPr>
            <a:r>
              <a:rPr lang="vi-VN" dirty="0"/>
              <a:t>Ví dụ: thực hiện truy vấn SQL, kết nối đến database.</a:t>
            </a:r>
          </a:p>
          <a:p>
            <a:r>
              <a:rPr lang="vi-VN" dirty="0"/>
              <a:t>MVC là một mô hình thiết kế phần mềm phổ biến, thường được sử dụng để phát triển các ứng dụng web và ứng dụng có giao diện người dùng. Nó cũng chia ứng dụng thành 3 phần chính:</a:t>
            </a:r>
          </a:p>
          <a:p>
            <a:pPr>
              <a:buFont typeface="Arial" panose="020B0604020202020204" pitchFamily="34" charset="0"/>
              <a:buChar char="•"/>
            </a:pPr>
            <a:r>
              <a:rPr lang="vi-VN" b="1" dirty="0"/>
              <a:t>Model (Mô hình):</a:t>
            </a:r>
            <a:endParaRPr lang="vi-VN" dirty="0"/>
          </a:p>
          <a:p>
            <a:pPr marL="742950" lvl="1" indent="-285750">
              <a:buFont typeface="Arial" panose="020B0604020202020204" pitchFamily="34" charset="0"/>
              <a:buChar char="•"/>
            </a:pPr>
            <a:r>
              <a:rPr lang="vi-VN" dirty="0"/>
              <a:t>Đại diện cho dữ liệu và trạng thái của ứng dụng.</a:t>
            </a:r>
          </a:p>
          <a:p>
            <a:pPr marL="742950" lvl="1" indent="-285750">
              <a:buFont typeface="Arial" panose="020B0604020202020204" pitchFamily="34" charset="0"/>
              <a:buChar char="•"/>
            </a:pPr>
            <a:r>
              <a:rPr lang="vi-VN" dirty="0"/>
              <a:t>Chứa logic xử lý dữ liệu và tương tác với cơ sở dữ liệu (tương tự như lớp Data Access và một phần của Business Logic trong Three-Tier).</a:t>
            </a:r>
          </a:p>
          <a:p>
            <a:pPr marL="742950" lvl="1" indent="-285750">
              <a:buFont typeface="Arial" panose="020B0604020202020204" pitchFamily="34" charset="0"/>
              <a:buChar char="•"/>
            </a:pPr>
            <a:r>
              <a:rPr lang="vi-VN" dirty="0"/>
              <a:t>Trong hình ảnh, </a:t>
            </a:r>
            <a:r>
              <a:rPr lang="vi-VN" b="1" dirty="0"/>
              <a:t>Model</a:t>
            </a:r>
            <a:r>
              <a:rPr lang="vi-VN" dirty="0"/>
              <a:t> được biểu diễn bằng khối màu xanh lá cây nhạt.</a:t>
            </a:r>
          </a:p>
          <a:p>
            <a:pPr>
              <a:buFont typeface="Arial" panose="020B0604020202020204" pitchFamily="34" charset="0"/>
              <a:buChar char="•"/>
            </a:pPr>
            <a:r>
              <a:rPr lang="vi-VN" b="1" dirty="0"/>
              <a:t>View (Giao diện):</a:t>
            </a:r>
            <a:endParaRPr lang="vi-VN" dirty="0"/>
          </a:p>
          <a:p>
            <a:pPr marL="742950" lvl="1" indent="-285750">
              <a:buFont typeface="Arial" panose="020B0604020202020204" pitchFamily="34" charset="0"/>
              <a:buChar char="•"/>
            </a:pPr>
            <a:r>
              <a:rPr lang="vi-VN" dirty="0"/>
              <a:t>Hiển thị dữ liệu cho người dùng và cung cấp giao diện tương tác.</a:t>
            </a:r>
          </a:p>
          <a:p>
            <a:pPr marL="742950" lvl="1" indent="-285750">
              <a:buFont typeface="Arial" panose="020B0604020202020204" pitchFamily="34" charset="0"/>
              <a:buChar char="•"/>
            </a:pPr>
            <a:r>
              <a:rPr lang="vi-VN" dirty="0"/>
              <a:t>Nhận dữ liệu từ Controller để hiển thị.</a:t>
            </a:r>
          </a:p>
          <a:p>
            <a:pPr marL="742950" lvl="1" indent="-285750">
              <a:buFont typeface="Arial" panose="020B0604020202020204" pitchFamily="34" charset="0"/>
              <a:buChar char="•"/>
            </a:pPr>
            <a:r>
              <a:rPr lang="vi-VN" dirty="0"/>
              <a:t>Trong hình ảnh, </a:t>
            </a:r>
            <a:r>
              <a:rPr lang="vi-VN" b="1" dirty="0"/>
              <a:t>View</a:t>
            </a:r>
            <a:r>
              <a:rPr lang="vi-VN" dirty="0"/>
              <a:t> được biểu diễn bằng khối màu xanh lá cây nhạt.</a:t>
            </a:r>
          </a:p>
          <a:p>
            <a:pPr>
              <a:buFont typeface="Arial" panose="020B0604020202020204" pitchFamily="34" charset="0"/>
              <a:buChar char="•"/>
            </a:pPr>
            <a:r>
              <a:rPr lang="vi-VN" b="1" dirty="0"/>
              <a:t>Controller (Bộ điều khiển):</a:t>
            </a:r>
            <a:endParaRPr lang="vi-VN" dirty="0"/>
          </a:p>
          <a:p>
            <a:pPr marL="742950" lvl="1" indent="-285750">
              <a:buFont typeface="Arial" panose="020B0604020202020204" pitchFamily="34" charset="0"/>
              <a:buChar char="•"/>
            </a:pPr>
            <a:r>
              <a:rPr lang="vi-VN" dirty="0"/>
              <a:t>Xử lý các yêu cầu từ người dùng, điều hướng và quản lý luồng dữ liệu giữa Model và View.</a:t>
            </a:r>
          </a:p>
          <a:p>
            <a:pPr marL="742950" lvl="1" indent="-285750">
              <a:buFont typeface="Arial" panose="020B0604020202020204" pitchFamily="34" charset="0"/>
              <a:buChar char="•"/>
            </a:pPr>
            <a:r>
              <a:rPr lang="vi-VN" dirty="0"/>
              <a:t>Nhận dữ liệu đầu vào, gọi các phương thức của Model để xử lý, và chọn View để hiển thị kết quả.</a:t>
            </a:r>
          </a:p>
          <a:p>
            <a:pPr marL="742950" lvl="1" indent="-285750">
              <a:buFont typeface="Arial" panose="020B0604020202020204" pitchFamily="34" charset="0"/>
              <a:buChar char="•"/>
            </a:pPr>
            <a:r>
              <a:rPr lang="vi-VN" dirty="0"/>
              <a:t>Trong hình ảnh, </a:t>
            </a:r>
            <a:r>
              <a:rPr lang="vi-VN" b="1" dirty="0"/>
              <a:t>Controller</a:t>
            </a:r>
            <a:r>
              <a:rPr lang="vi-VN" dirty="0"/>
              <a:t> được biểu diễn bằng khối màu xanh lá cây nhạt.</a:t>
            </a:r>
          </a:p>
          <a:p>
            <a:pPr>
              <a:buFont typeface="Arial" panose="020B0604020202020204" pitchFamily="34" charset="0"/>
              <a:buChar char="•"/>
            </a:pPr>
            <a:r>
              <a:rPr lang="vi-VN" b="1" dirty="0"/>
              <a:t>Điểm tương đồng:</a:t>
            </a:r>
            <a:r>
              <a:rPr lang="vi-VN" dirty="0"/>
              <a:t> Cả hai đều chia ứng dụng thành 3 phần để quản lý sự phức tạp và tăng tính bảo trì. </a:t>
            </a:r>
            <a:endParaRPr lang="en-US" dirty="0"/>
          </a:p>
          <a:p>
            <a:pPr>
              <a:buFont typeface="Arial" panose="020B0604020202020204" pitchFamily="34" charset="0"/>
              <a:buChar char="•"/>
            </a:pPr>
            <a:r>
              <a:rPr lang="vi-VN" b="1" dirty="0"/>
              <a:t>Điểm khác biệt:</a:t>
            </a:r>
            <a:r>
              <a:rPr lang="vi-VN" dirty="0"/>
              <a:t> </a:t>
            </a:r>
            <a:endParaRPr lang="en-US" dirty="0"/>
          </a:p>
          <a:p>
            <a:pPr>
              <a:buFont typeface="Arial" panose="020B0604020202020204" pitchFamily="34" charset="0"/>
              <a:buChar char="•"/>
            </a:pPr>
            <a:r>
              <a:rPr lang="vi-VN" b="1" dirty="0"/>
              <a:t>Mục tiêu:</a:t>
            </a:r>
            <a:r>
              <a:rPr lang="vi-VN" dirty="0"/>
              <a:t> Three-Tier tập trung vào việc phân chia ứng dụng theo chiều dọc (theo chức năng), trong khi MVC tập trung vào việc phân chia theo chiều ngang (theo vai trò).</a:t>
            </a:r>
          </a:p>
          <a:p>
            <a:pPr>
              <a:buFont typeface="Arial" panose="020B0604020202020204" pitchFamily="34" charset="0"/>
              <a:buChar char="•"/>
            </a:pPr>
            <a:r>
              <a:rPr lang="vi-VN" b="1" dirty="0"/>
              <a:t>Kiến trúc:</a:t>
            </a:r>
            <a:r>
              <a:rPr lang="vi-VN" dirty="0"/>
              <a:t> Three-Tier là một kiến trúc tổng quát, trong khi MVC là một mô hình thiết kế cụ thể hơn, thường được áp dụng cho lớp Presentation.</a:t>
            </a:r>
          </a:p>
          <a:p>
            <a:pPr>
              <a:buFont typeface="Arial" panose="020B0604020202020204" pitchFamily="34" charset="0"/>
              <a:buChar char="•"/>
            </a:pPr>
            <a:r>
              <a:rPr lang="vi-VN" b="1" dirty="0"/>
              <a:t>Controller:</a:t>
            </a:r>
            <a:r>
              <a:rPr lang="vi-VN" dirty="0"/>
              <a:t> Trong Three-Tier, Controller chỉ là một phần của lớp Business Logic, trong khi trong MVC, Controller là một thành phần riêng biệt và quan trọng, đóng vai trò trung gian giữa Model và View.</a:t>
            </a:r>
          </a:p>
          <a:p>
            <a:endParaRPr lang="en-US" dirty="0"/>
          </a:p>
        </p:txBody>
      </p:sp>
    </p:spTree>
    <p:extLst>
      <p:ext uri="{BB962C8B-B14F-4D97-AF65-F5344CB8AC3E}">
        <p14:creationId xmlns:p14="http://schemas.microsoft.com/office/powerpoint/2010/main" val="3286102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en-US" dirty="0"/>
              <a:t>REST (Representational State Transfer - </a:t>
            </a:r>
            <a:r>
              <a:rPr lang="en-US" dirty="0" err="1"/>
              <a:t>tạm</a:t>
            </a:r>
            <a:r>
              <a:rPr lang="en-US" dirty="0"/>
              <a:t> </a:t>
            </a:r>
            <a:r>
              <a:rPr lang="en-US" dirty="0" err="1"/>
              <a:t>dịch</a:t>
            </a:r>
            <a:r>
              <a:rPr lang="en-US" dirty="0"/>
              <a:t>: </a:t>
            </a:r>
            <a:r>
              <a:rPr lang="en-US" dirty="0" err="1"/>
              <a:t>Chuyển</a:t>
            </a:r>
            <a:r>
              <a:rPr lang="en-US" dirty="0"/>
              <a:t> </a:t>
            </a:r>
            <a:r>
              <a:rPr lang="en-US" dirty="0" err="1"/>
              <a:t>giao</a:t>
            </a:r>
            <a:r>
              <a:rPr lang="en-US" dirty="0"/>
              <a:t> </a:t>
            </a:r>
            <a:r>
              <a:rPr lang="en-US" dirty="0" err="1"/>
              <a:t>trạng</a:t>
            </a:r>
            <a:r>
              <a:rPr lang="en-US" dirty="0"/>
              <a:t> </a:t>
            </a:r>
            <a:r>
              <a:rPr lang="en-US" dirty="0" err="1"/>
              <a:t>thái</a:t>
            </a:r>
            <a:r>
              <a:rPr lang="en-US" dirty="0"/>
              <a:t> </a:t>
            </a:r>
            <a:r>
              <a:rPr lang="en-US" dirty="0" err="1"/>
              <a:t>đại</a:t>
            </a:r>
            <a:r>
              <a:rPr lang="en-US" dirty="0"/>
              <a:t> </a:t>
            </a:r>
            <a:r>
              <a:rPr lang="en-US" dirty="0" err="1"/>
              <a:t>diện</a:t>
            </a:r>
            <a:r>
              <a:rPr lang="en-US" dirty="0"/>
              <a:t>): </a:t>
            </a:r>
            <a:r>
              <a:rPr lang="en-US" dirty="0" err="1"/>
              <a:t>Một</a:t>
            </a:r>
            <a:r>
              <a:rPr lang="en-US" dirty="0"/>
              <a:t> </a:t>
            </a:r>
            <a:r>
              <a:rPr lang="en-US" dirty="0" err="1"/>
              <a:t>kiểu</a:t>
            </a:r>
            <a:r>
              <a:rPr lang="en-US" dirty="0"/>
              <a:t> </a:t>
            </a:r>
            <a:r>
              <a:rPr lang="en-US" dirty="0" err="1"/>
              <a:t>kiến</a:t>
            </a:r>
            <a:r>
              <a:rPr lang="en-US" dirty="0"/>
              <a:t> </a:t>
            </a:r>
            <a:r>
              <a:rPr lang="en-US" dirty="0" err="1"/>
              <a:t>trúc</a:t>
            </a:r>
            <a:r>
              <a:rPr lang="en-US" dirty="0"/>
              <a:t> </a:t>
            </a:r>
            <a:r>
              <a:rPr lang="en-US" dirty="0" err="1"/>
              <a:t>để</a:t>
            </a:r>
            <a:r>
              <a:rPr lang="en-US" dirty="0"/>
              <a:t> </a:t>
            </a:r>
            <a:r>
              <a:rPr lang="en-US" dirty="0" err="1"/>
              <a:t>xây</a:t>
            </a:r>
            <a:r>
              <a:rPr lang="en-US" dirty="0"/>
              <a:t> </a:t>
            </a:r>
            <a:r>
              <a:rPr lang="en-US" dirty="0" err="1"/>
              <a:t>dựng</a:t>
            </a:r>
            <a:r>
              <a:rPr lang="en-US" dirty="0"/>
              <a:t> </a:t>
            </a:r>
            <a:r>
              <a:rPr lang="en-US" dirty="0" err="1"/>
              <a:t>các</a:t>
            </a:r>
            <a:r>
              <a:rPr lang="en-US" dirty="0"/>
              <a:t> </a:t>
            </a:r>
            <a:r>
              <a:rPr lang="en-US" dirty="0" err="1"/>
              <a:t>dịch</a:t>
            </a:r>
            <a:r>
              <a:rPr lang="en-US" dirty="0"/>
              <a:t> </a:t>
            </a:r>
            <a:r>
              <a:rPr lang="en-US" dirty="0" err="1"/>
              <a:t>vụ</a:t>
            </a:r>
            <a:r>
              <a:rPr lang="en-US" dirty="0"/>
              <a:t> web.</a:t>
            </a:r>
          </a:p>
          <a:p>
            <a:r>
              <a:rPr lang="en-US" dirty="0" err="1"/>
              <a:t>Các</a:t>
            </a:r>
            <a:r>
              <a:rPr lang="en-US" dirty="0"/>
              <a:t> </a:t>
            </a:r>
            <a:r>
              <a:rPr lang="en-US" dirty="0" err="1"/>
              <a:t>tính</a:t>
            </a:r>
            <a:r>
              <a:rPr lang="en-US" dirty="0"/>
              <a:t> </a:t>
            </a:r>
            <a:r>
              <a:rPr lang="en-US" dirty="0" err="1"/>
              <a:t>năng</a:t>
            </a:r>
            <a:r>
              <a:rPr lang="en-US" dirty="0"/>
              <a:t> </a:t>
            </a:r>
            <a:r>
              <a:rPr lang="en-US" dirty="0" err="1"/>
              <a:t>chính</a:t>
            </a:r>
            <a:r>
              <a:rPr lang="en-US" dirty="0"/>
              <a:t>:</a:t>
            </a:r>
          </a:p>
          <a:p>
            <a:r>
              <a:rPr lang="vi-VN" dirty="0"/>
              <a:t>• Sử dụng các phương thức HTTP (GET, POST, PUT, DELETE).</a:t>
            </a:r>
            <a:endParaRPr lang="en-US" dirty="0"/>
          </a:p>
          <a:p>
            <a:r>
              <a:rPr lang="vi-VN" dirty="0"/>
              <a:t>• Dữ liệu thường được trả về ở định dạng JSON hoặc XML.**</a:t>
            </a:r>
            <a:endParaRPr lang="en-US" dirty="0"/>
          </a:p>
        </p:txBody>
      </p:sp>
    </p:spTree>
    <p:extLst>
      <p:ext uri="{BB962C8B-B14F-4D97-AF65-F5344CB8AC3E}">
        <p14:creationId xmlns:p14="http://schemas.microsoft.com/office/powerpoint/2010/main" val="2635758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Nguyên</a:t>
            </a:r>
            <a:r>
              <a:rPr lang="en-US" b="1" dirty="0"/>
              <a:t> </a:t>
            </a:r>
            <a:r>
              <a:rPr lang="en-US" b="1" dirty="0" err="1"/>
              <a:t>tắc</a:t>
            </a:r>
            <a:r>
              <a:rPr lang="en-US" b="1" dirty="0"/>
              <a:t> </a:t>
            </a:r>
            <a:r>
              <a:rPr lang="en-US" b="1" dirty="0" err="1"/>
              <a:t>thiết</a:t>
            </a:r>
            <a:r>
              <a:rPr lang="en-US" b="1" dirty="0"/>
              <a:t> </a:t>
            </a:r>
            <a:r>
              <a:rPr lang="en-US" b="1" dirty="0" err="1"/>
              <a:t>kế</a:t>
            </a:r>
            <a:r>
              <a:rPr lang="en-US" b="1" dirty="0"/>
              <a:t> RESTful API:</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Proper use of HTTP status codes (</a:t>
            </a:r>
            <a:r>
              <a:rPr lang="en-US" b="0" dirty="0" err="1"/>
              <a:t>Sử</a:t>
            </a:r>
            <a:r>
              <a:rPr lang="en-US" b="0" dirty="0"/>
              <a:t> </a:t>
            </a:r>
            <a:r>
              <a:rPr lang="en-US" b="0" dirty="0" err="1"/>
              <a:t>dụng</a:t>
            </a:r>
            <a:r>
              <a:rPr lang="en-US" b="0" dirty="0"/>
              <a:t> </a:t>
            </a:r>
            <a:r>
              <a:rPr lang="en-US" b="0" dirty="0" err="1"/>
              <a:t>đúng</a:t>
            </a:r>
            <a:r>
              <a:rPr lang="en-US" b="0" dirty="0"/>
              <a:t> </a:t>
            </a:r>
            <a:r>
              <a:rPr lang="en-US" b="0" dirty="0" err="1"/>
              <a:t>mã</a:t>
            </a:r>
            <a:r>
              <a:rPr lang="en-US" b="0" dirty="0"/>
              <a:t> </a:t>
            </a:r>
            <a:r>
              <a:rPr lang="en-US" b="0" dirty="0" err="1"/>
              <a:t>trạng</a:t>
            </a:r>
            <a:r>
              <a:rPr lang="en-US" b="0" dirty="0"/>
              <a:t> </a:t>
            </a:r>
            <a:r>
              <a:rPr lang="en-US" b="0" dirty="0" err="1"/>
              <a:t>thái</a:t>
            </a:r>
            <a:r>
              <a:rPr lang="en-US" b="0" dirty="0"/>
              <a:t> HTTP):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Consistent and clear URIs (</a:t>
            </a:r>
            <a:r>
              <a:rPr lang="en-US" b="0" dirty="0" err="1"/>
              <a:t>Định</a:t>
            </a:r>
            <a:r>
              <a:rPr lang="en-US" b="0" dirty="0"/>
              <a:t> </a:t>
            </a:r>
            <a:r>
              <a:rPr lang="en-US" b="0" dirty="0" err="1"/>
              <a:t>danh</a:t>
            </a:r>
            <a:r>
              <a:rPr lang="en-US" b="0" dirty="0"/>
              <a:t> </a:t>
            </a:r>
            <a:r>
              <a:rPr lang="en-US" b="0" dirty="0" err="1"/>
              <a:t>tài</a:t>
            </a:r>
            <a:r>
              <a:rPr lang="en-US" b="0" dirty="0"/>
              <a:t> </a:t>
            </a:r>
            <a:r>
              <a:rPr lang="en-US" b="0" dirty="0" err="1"/>
              <a:t>nguyên</a:t>
            </a:r>
            <a:r>
              <a:rPr lang="en-US" b="0" dirty="0"/>
              <a:t> (URI) </a:t>
            </a:r>
            <a:r>
              <a:rPr lang="en-US" b="0" dirty="0" err="1"/>
              <a:t>nhất</a:t>
            </a:r>
            <a:r>
              <a:rPr lang="en-US" b="0" dirty="0"/>
              <a:t> </a:t>
            </a:r>
            <a:r>
              <a:rPr lang="en-US" b="0" dirty="0" err="1"/>
              <a:t>quán</a:t>
            </a:r>
            <a:r>
              <a:rPr lang="en-US" b="0" dirty="0"/>
              <a:t> và </a:t>
            </a:r>
            <a:r>
              <a:rPr lang="en-US" b="0" dirty="0" err="1"/>
              <a:t>rõ</a:t>
            </a:r>
            <a:r>
              <a:rPr lang="en-US" b="0" dirty="0"/>
              <a:t> </a:t>
            </a:r>
            <a:r>
              <a:rPr lang="en-US" b="0" dirty="0" err="1"/>
              <a:t>ràng</a:t>
            </a:r>
            <a:r>
              <a:rPr lang="en-US" b="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Stateless (</a:t>
            </a:r>
            <a:r>
              <a:rPr lang="en-US" b="0" dirty="0" err="1"/>
              <a:t>Tính</a:t>
            </a:r>
            <a:r>
              <a:rPr lang="en-US" b="0" dirty="0"/>
              <a:t> </a:t>
            </a:r>
            <a:r>
              <a:rPr lang="en-US" b="0" dirty="0" err="1"/>
              <a:t>không</a:t>
            </a:r>
            <a:r>
              <a:rPr lang="en-US" b="0" dirty="0"/>
              <a:t> </a:t>
            </a:r>
            <a:r>
              <a:rPr lang="en-US" b="0" dirty="0" err="1"/>
              <a:t>trạng</a:t>
            </a:r>
            <a:r>
              <a:rPr lang="en-US" b="0" dirty="0"/>
              <a:t> </a:t>
            </a:r>
            <a:r>
              <a:rPr lang="en-US" b="0" dirty="0" err="1"/>
              <a:t>thái</a:t>
            </a:r>
            <a:r>
              <a:rPr lang="en-US" b="0" dirty="0"/>
              <a:t>): </a:t>
            </a:r>
            <a:r>
              <a:rPr lang="vi-VN" dirty="0"/>
              <a:t>Mỗi request từ client đến server phải chứa đầy đủ thông tin cần thiết để server xử lý mà không cần phải lưu trữ trạng thái của client giữa các request.</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Support for JSON or XML formats (</a:t>
            </a:r>
            <a:r>
              <a:rPr lang="en-US" b="0" dirty="0" err="1"/>
              <a:t>Hỗ</a:t>
            </a:r>
            <a:r>
              <a:rPr lang="en-US" b="0" dirty="0"/>
              <a:t> </a:t>
            </a:r>
            <a:r>
              <a:rPr lang="en-US" b="0" dirty="0" err="1"/>
              <a:t>trợ</a:t>
            </a:r>
            <a:r>
              <a:rPr lang="en-US" b="0" dirty="0"/>
              <a:t> </a:t>
            </a:r>
            <a:r>
              <a:rPr lang="en-US" b="0" dirty="0" err="1"/>
              <a:t>định</a:t>
            </a:r>
            <a:r>
              <a:rPr lang="en-US" b="0" dirty="0"/>
              <a:t> </a:t>
            </a:r>
            <a:r>
              <a:rPr lang="en-US" b="0" dirty="0" err="1"/>
              <a:t>dạng</a:t>
            </a:r>
            <a:r>
              <a:rPr lang="en-US" b="0" dirty="0"/>
              <a:t> JSON </a:t>
            </a:r>
            <a:r>
              <a:rPr lang="en-US" b="0" dirty="0" err="1"/>
              <a:t>hoặc</a:t>
            </a:r>
            <a:r>
              <a:rPr lang="en-US" b="0" dirty="0"/>
              <a:t> XML):</a:t>
            </a:r>
          </a:p>
          <a:p>
            <a:r>
              <a:rPr lang="vi-VN" dirty="0"/>
              <a:t>HTTP methods (Các phương thức HTTP):</a:t>
            </a:r>
            <a:endParaRPr lang="en-US" dirty="0"/>
          </a:p>
        </p:txBody>
      </p:sp>
    </p:spTree>
    <p:extLst>
      <p:ext uri="{BB962C8B-B14F-4D97-AF65-F5344CB8AC3E}">
        <p14:creationId xmlns:p14="http://schemas.microsoft.com/office/powerpoint/2010/main" val="4280880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1087427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Định nghĩa Entity:</a:t>
            </a:r>
            <a:endParaRPr lang="vi-VN" dirty="0"/>
          </a:p>
          <a:p>
            <a:pPr>
              <a:buFont typeface="Arial" panose="020B0604020202020204" pitchFamily="34" charset="0"/>
              <a:buChar char="•"/>
            </a:pPr>
            <a:r>
              <a:rPr lang="vi-VN" b="1" dirty="0"/>
              <a:t>Entity đại diện cho một bảng trong cơ sở dữ liệu.</a:t>
            </a:r>
            <a:r>
              <a:rPr lang="vi-VN" dirty="0"/>
              <a:t> Mỗi Entity (thực thể) sẽ tương ứng với một bảng trong database.</a:t>
            </a:r>
          </a:p>
          <a:p>
            <a:pPr>
              <a:buFont typeface="Arial" panose="020B0604020202020204" pitchFamily="34" charset="0"/>
              <a:buChar char="•"/>
            </a:pPr>
            <a:r>
              <a:rPr lang="vi-VN" b="1" dirty="0"/>
              <a:t>Mỗi instance (thể hiện) của Entity tương ứng với một hàng trong bảng.</a:t>
            </a:r>
            <a:r>
              <a:rPr lang="vi-VN" dirty="0"/>
              <a:t> Khi bạn tạo một đối tượng (object) của Entity, nó sẽ đại diện cho một bản ghi (row) trong bảng.</a:t>
            </a:r>
          </a:p>
          <a:p>
            <a:endParaRPr lang="en-US" b="1" dirty="0"/>
          </a:p>
          <a:p>
            <a:r>
              <a:rPr lang="vi-VN" b="1" dirty="0"/>
              <a:t>Các đặc điểm chính của Entity:</a:t>
            </a:r>
            <a:endParaRPr lang="vi-VN" dirty="0"/>
          </a:p>
          <a:p>
            <a:pPr>
              <a:buFont typeface="+mj-lt"/>
              <a:buAutoNum type="arabicPeriod"/>
            </a:pPr>
            <a:r>
              <a:rPr lang="vi-VN" b="1" dirty="0"/>
              <a:t>Được đánh dấu bằng @Entity:</a:t>
            </a:r>
            <a:r>
              <a:rPr lang="vi-VN" dirty="0"/>
              <a:t> Annotation @Entity là bắt buộc để một class (lớp) được coi là một Entity và có thể được quản lý bởi JPA.</a:t>
            </a:r>
          </a:p>
          <a:p>
            <a:pPr>
              <a:buFont typeface="+mj-lt"/>
              <a:buAutoNum type="arabicPeriod"/>
            </a:pPr>
            <a:r>
              <a:rPr lang="vi-VN" b="1" dirty="0"/>
              <a:t>Ánh xạ các trường vào cột cơ sở dữ liệu bằng @Column:</a:t>
            </a:r>
            <a:r>
              <a:rPr lang="vi-VN" dirty="0"/>
              <a:t> Annotation @Column được sử dụng để chỉ định cách một trường (field) của Entity được ánh xạ tới một cột (column) trong bảng cơ sở dữ liệu. Ví dụ:</a:t>
            </a:r>
          </a:p>
          <a:p>
            <a:r>
              <a:rPr lang="en-US" b="1" dirty="0"/>
              <a:t>3.</a:t>
            </a:r>
            <a:r>
              <a:rPr lang="vi-VN" b="1" dirty="0"/>
              <a:t>Thường bao gồm @Id cho khóa chính và @GeneratedValue cho tự động tăng:</a:t>
            </a:r>
            <a:endParaRPr lang="vi-VN" dirty="0"/>
          </a:p>
          <a:p>
            <a:pPr>
              <a:buFont typeface="Arial" panose="020B0604020202020204" pitchFamily="34" charset="0"/>
              <a:buChar char="•"/>
            </a:pPr>
            <a:r>
              <a:rPr lang="vi-VN" b="1" dirty="0"/>
              <a:t>@Id:</a:t>
            </a:r>
            <a:r>
              <a:rPr lang="vi-VN" dirty="0"/>
              <a:t> Annotation @Id được sử dụng để đánh dấu trường nào là khóa chính (primary key) của bảng.</a:t>
            </a:r>
          </a:p>
          <a:p>
            <a:pPr>
              <a:buFont typeface="Arial" panose="020B0604020202020204" pitchFamily="34" charset="0"/>
              <a:buChar char="•"/>
            </a:pPr>
            <a:r>
              <a:rPr lang="vi-VN" b="1" dirty="0"/>
              <a:t>@GeneratedValue:</a:t>
            </a:r>
            <a:r>
              <a:rPr lang="vi-VN" dirty="0"/>
              <a:t> Annotation @GeneratedValue được sử dụng để chỉ định cách giá trị của khóa chính được tạo ra. strategy = GenerationType.IDENTITY phổ biến được dùng cho các trường tự động tăng.</a:t>
            </a:r>
          </a:p>
          <a:p>
            <a:endParaRPr lang="en-US" b="1" dirty="0"/>
          </a:p>
        </p:txBody>
      </p:sp>
    </p:spTree>
    <p:extLst>
      <p:ext uri="{BB962C8B-B14F-4D97-AF65-F5344CB8AC3E}">
        <p14:creationId xmlns:p14="http://schemas.microsoft.com/office/powerpoint/2010/main" val="4224016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Public: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Trao </a:t>
            </a:r>
            <a:r>
              <a:rPr lang="en-US" b="0" dirty="0" err="1"/>
              <a:t>đổi</a:t>
            </a:r>
            <a:r>
              <a:rPr lang="en-US" b="0" dirty="0"/>
              <a:t> </a:t>
            </a:r>
            <a:r>
              <a:rPr lang="en-US" b="0" dirty="0" err="1"/>
              <a:t>hoặc</a:t>
            </a:r>
            <a:r>
              <a:rPr lang="en-US" b="0" dirty="0"/>
              <a:t> chia </a:t>
            </a:r>
            <a:r>
              <a:rPr lang="en-US" b="0" dirty="0" err="1"/>
              <a:t>sẻ</a:t>
            </a:r>
            <a:r>
              <a:rPr lang="en-US" b="0" dirty="0"/>
              <a:t> </a:t>
            </a:r>
            <a:r>
              <a:rPr lang="en-US" b="0" dirty="0" err="1"/>
              <a:t>với</a:t>
            </a:r>
            <a:r>
              <a:rPr lang="en-US" b="0" dirty="0"/>
              <a:t> </a:t>
            </a:r>
            <a:r>
              <a:rPr lang="en-US" b="0" dirty="0" err="1"/>
              <a:t>các</a:t>
            </a:r>
            <a:r>
              <a:rPr lang="en-US" b="0" dirty="0"/>
              <a:t> </a:t>
            </a:r>
            <a:r>
              <a:rPr lang="en-US" b="0" dirty="0" err="1"/>
              <a:t>hệ</a:t>
            </a:r>
            <a:r>
              <a:rPr lang="en-US" b="0" dirty="0"/>
              <a:t> </a:t>
            </a:r>
            <a:r>
              <a:rPr lang="en-US" b="0" dirty="0" err="1"/>
              <a:t>thống</a:t>
            </a:r>
            <a:r>
              <a:rPr lang="en-US" b="0" dirty="0"/>
              <a:t> </a:t>
            </a:r>
            <a:r>
              <a:rPr lang="en-US" b="0" dirty="0" err="1"/>
              <a:t>bên</a:t>
            </a:r>
            <a:r>
              <a:rPr lang="en-US" b="0" dirty="0"/>
              <a:t> </a:t>
            </a:r>
            <a:r>
              <a:rPr lang="en-US" b="0" dirty="0" err="1"/>
              <a:t>ngoài</a:t>
            </a:r>
            <a:r>
              <a:rPr lang="en-US" b="0" dirty="0"/>
              <a:t> </a:t>
            </a:r>
            <a:r>
              <a:rPr lang="en-US" b="0" dirty="0" err="1"/>
              <a:t>thông</a:t>
            </a:r>
            <a:r>
              <a:rPr lang="en-US" b="0" dirty="0"/>
              <a:t> qua REST API: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Giao </a:t>
            </a:r>
            <a:r>
              <a:rPr lang="en-US" b="0" dirty="0" err="1"/>
              <a:t>tiếp</a:t>
            </a:r>
            <a:r>
              <a:rPr lang="en-US" b="0" dirty="0"/>
              <a:t> </a:t>
            </a:r>
            <a:r>
              <a:rPr lang="en-US" b="0" dirty="0" err="1"/>
              <a:t>với</a:t>
            </a:r>
            <a:r>
              <a:rPr lang="en-US" b="0" dirty="0"/>
              <a:t> </a:t>
            </a:r>
            <a:r>
              <a:rPr lang="en-US" b="0" dirty="0" err="1"/>
              <a:t>các</a:t>
            </a:r>
            <a:r>
              <a:rPr lang="en-US" b="0" dirty="0"/>
              <a:t> </a:t>
            </a:r>
            <a:r>
              <a:rPr lang="en-US" b="0" dirty="0" err="1"/>
              <a:t>dịch</a:t>
            </a:r>
            <a:r>
              <a:rPr lang="en-US" b="0" dirty="0"/>
              <a:t> </a:t>
            </a:r>
            <a:r>
              <a:rPr lang="en-US" b="0" dirty="0" err="1"/>
              <a:t>vụ</a:t>
            </a:r>
            <a:r>
              <a:rPr lang="en-US" b="0" dirty="0"/>
              <a:t> </a:t>
            </a:r>
            <a:r>
              <a:rPr lang="en-US" b="0" dirty="0" err="1"/>
              <a:t>khác</a:t>
            </a:r>
            <a:r>
              <a:rPr lang="en-US" b="0" dirty="0"/>
              <a:t> </a:t>
            </a:r>
            <a:r>
              <a:rPr lang="en-US" b="0" dirty="0" err="1"/>
              <a:t>trong</a:t>
            </a:r>
            <a:r>
              <a:rPr lang="en-US" b="0" dirty="0"/>
              <a:t> </a:t>
            </a:r>
            <a:r>
              <a:rPr lang="en-US" b="0" dirty="0" err="1"/>
              <a:t>kiến</a:t>
            </a:r>
            <a:r>
              <a:rPr lang="en-US" b="0" dirty="0"/>
              <a:t> </a:t>
            </a:r>
            <a:r>
              <a:rPr lang="en-US" b="0" dirty="0" err="1"/>
              <a:t>trúc</a:t>
            </a:r>
            <a:r>
              <a:rPr lang="en-US" b="0" dirty="0"/>
              <a:t> Microservices:</a:t>
            </a:r>
          </a:p>
          <a:p>
            <a:r>
              <a:rPr lang="en-US" b="1" dirty="0"/>
              <a:t>Private:</a:t>
            </a:r>
          </a:p>
          <a:p>
            <a:r>
              <a:rPr lang="vi-VN" dirty="0"/>
              <a:t>Dữ liệu được sử dụng nội bộ trong ứng dụng, không được phép tiết lộ cho các hệ thống bên ngoài</a:t>
            </a:r>
            <a:endParaRPr lang="en-US" dirty="0"/>
          </a:p>
          <a:p>
            <a:r>
              <a:rPr lang="en-US" dirty="0" err="1"/>
              <a:t>Dữ</a:t>
            </a:r>
            <a:r>
              <a:rPr lang="en-US" dirty="0"/>
              <a:t> </a:t>
            </a:r>
            <a:r>
              <a:rPr lang="en-US" dirty="0" err="1"/>
              <a:t>liệu</a:t>
            </a:r>
            <a:r>
              <a:rPr lang="en-US" dirty="0"/>
              <a:t> này </a:t>
            </a:r>
            <a:r>
              <a:rPr lang="en-US" dirty="0" err="1"/>
              <a:t>nằm</a:t>
            </a:r>
            <a:r>
              <a:rPr lang="en-US" dirty="0"/>
              <a:t> </a:t>
            </a:r>
            <a:r>
              <a:rPr lang="en-US" dirty="0" err="1"/>
              <a:t>trong</a:t>
            </a:r>
            <a:r>
              <a:rPr lang="en-US" dirty="0"/>
              <a:t> </a:t>
            </a:r>
            <a:r>
              <a:rPr lang="en-US" dirty="0" err="1"/>
              <a:t>các</a:t>
            </a:r>
            <a:r>
              <a:rPr lang="en-US" dirty="0"/>
              <a:t> Domain models (</a:t>
            </a:r>
            <a:r>
              <a:rPr lang="en-US" dirty="0" err="1"/>
              <a:t>mô</a:t>
            </a:r>
            <a:r>
              <a:rPr lang="en-US" dirty="0"/>
              <a:t> </a:t>
            </a:r>
            <a:r>
              <a:rPr lang="en-US" dirty="0" err="1"/>
              <a:t>hình</a:t>
            </a:r>
            <a:r>
              <a:rPr lang="en-US" dirty="0"/>
              <a:t> </a:t>
            </a:r>
            <a:r>
              <a:rPr lang="en-US" dirty="0" err="1"/>
              <a:t>miền</a:t>
            </a:r>
            <a:r>
              <a:rPr lang="en-US" dirty="0"/>
              <a:t>) </a:t>
            </a:r>
            <a:r>
              <a:rPr lang="en-US" dirty="0" err="1"/>
              <a:t>hoặc</a:t>
            </a:r>
            <a:r>
              <a:rPr lang="en-US" dirty="0"/>
              <a:t> Entities (</a:t>
            </a:r>
            <a:r>
              <a:rPr lang="en-US" dirty="0" err="1"/>
              <a:t>thực</a:t>
            </a:r>
            <a:r>
              <a:rPr lang="en-US" dirty="0"/>
              <a:t> </a:t>
            </a:r>
            <a:r>
              <a:rPr lang="en-US" dirty="0" err="1"/>
              <a:t>thể</a:t>
            </a:r>
            <a:r>
              <a:rPr lang="en-US" dirty="0"/>
              <a:t>)</a:t>
            </a:r>
          </a:p>
          <a:p>
            <a:endParaRPr lang="en-US" b="1" dirty="0"/>
          </a:p>
        </p:txBody>
      </p:sp>
    </p:spTree>
    <p:extLst>
      <p:ext uri="{BB962C8B-B14F-4D97-AF65-F5344CB8AC3E}">
        <p14:creationId xmlns:p14="http://schemas.microsoft.com/office/powerpoint/2010/main" val="1507814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Tính đóng gói (Encapsulation):</a:t>
            </a:r>
            <a:endParaRPr lang="vi-VN" dirty="0"/>
          </a:p>
          <a:p>
            <a:pPr>
              <a:buFont typeface="Arial" panose="020B0604020202020204" pitchFamily="34" charset="0"/>
              <a:buChar char="•"/>
            </a:pPr>
            <a:r>
              <a:rPr lang="vi-VN" dirty="0"/>
              <a:t>Các thuộc tính của đối tượng thường được khai báo là private (riêng tư) để bảo vệ dữ liệu và tránh bị thay đổi trực tiếp từ bên ngoài.</a:t>
            </a:r>
          </a:p>
          <a:p>
            <a:pPr>
              <a:buFont typeface="Arial" panose="020B0604020202020204" pitchFamily="34" charset="0"/>
              <a:buChar char="•"/>
            </a:pPr>
            <a:r>
              <a:rPr lang="vi-VN" dirty="0"/>
              <a:t>Getters và setters cung cấp một cơ chế </a:t>
            </a:r>
            <a:r>
              <a:rPr lang="vi-VN" b="1" dirty="0"/>
              <a:t>kiểm soát</a:t>
            </a:r>
            <a:r>
              <a:rPr lang="vi-VN" dirty="0"/>
              <a:t> để truy cập và thay đổi giá trị của các thuộc tính này.</a:t>
            </a:r>
          </a:p>
          <a:p>
            <a:r>
              <a:rPr lang="vi-VN" b="1" dirty="0"/>
              <a:t>Yêu cầu của Framework:</a:t>
            </a:r>
            <a:endParaRPr lang="vi-VN" dirty="0"/>
          </a:p>
          <a:p>
            <a:pPr>
              <a:buFont typeface="Arial" panose="020B0604020202020204" pitchFamily="34" charset="0"/>
              <a:buChar char="•"/>
            </a:pPr>
            <a:r>
              <a:rPr lang="vi-VN" dirty="0"/>
              <a:t>Một số framework như JPA (Java Persistence API) và Hibernate sử dụng cơ chế </a:t>
            </a:r>
            <a:r>
              <a:rPr lang="vi-VN" b="1" dirty="0"/>
              <a:t>reflection</a:t>
            </a:r>
            <a:r>
              <a:rPr lang="vi-VN" dirty="0"/>
              <a:t> (phản xạ) để tương tác với các trường của đối tượng.</a:t>
            </a:r>
          </a:p>
          <a:p>
            <a:pPr>
              <a:buFont typeface="Arial" panose="020B0604020202020204" pitchFamily="34" charset="0"/>
              <a:buChar char="•"/>
            </a:pPr>
            <a:r>
              <a:rPr lang="vi-VN" dirty="0"/>
              <a:t>Chúng thường yêu cầu các getter và setter chuẩn để truy cập vào các thuộc tính của entity (thực thể).</a:t>
            </a:r>
          </a:p>
          <a:p>
            <a:r>
              <a:rPr lang="vi-VN" b="1" dirty="0"/>
              <a:t>Kiểm tra và logic:</a:t>
            </a:r>
            <a:endParaRPr lang="vi-VN" dirty="0"/>
          </a:p>
          <a:p>
            <a:pPr>
              <a:buFont typeface="Arial" panose="020B0604020202020204" pitchFamily="34" charset="0"/>
              <a:buChar char="•"/>
            </a:pPr>
            <a:r>
              <a:rPr lang="vi-VN" dirty="0"/>
              <a:t>Bạn có thể thêm logic </a:t>
            </a:r>
            <a:r>
              <a:rPr lang="vi-VN" b="1" dirty="0"/>
              <a:t>kiểm tra</a:t>
            </a:r>
            <a:r>
              <a:rPr lang="vi-VN" dirty="0"/>
              <a:t> vào setter để đảm bảo dữ liệu được gán là hợp lệ (ví dụ: kiểm tra định dạng, giới hạn giá trị).</a:t>
            </a:r>
          </a:p>
          <a:p>
            <a:pPr>
              <a:buFont typeface="Arial" panose="020B0604020202020204" pitchFamily="34" charset="0"/>
              <a:buChar char="•"/>
            </a:pPr>
            <a:r>
              <a:rPr lang="vi-VN" dirty="0"/>
              <a:t>Bạn cũng có thể thực hiện các xử lý khác trong setter, ví dụ: cập nhật các trường liên quan, thông báo sự thay đổi,...</a:t>
            </a:r>
          </a:p>
          <a:p>
            <a:endParaRPr lang="en-US" dirty="0"/>
          </a:p>
        </p:txBody>
      </p:sp>
    </p:spTree>
    <p:extLst>
      <p:ext uri="{BB962C8B-B14F-4D97-AF65-F5344CB8AC3E}">
        <p14:creationId xmlns:p14="http://schemas.microsoft.com/office/powerpoint/2010/main" val="1584927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2405439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Repository là một interface cung cấp các thao tác CRUD (Create, Read, Update, Delete) cho các Entity (thực thể).</a:t>
            </a:r>
            <a:r>
              <a:rPr lang="vi-VN" dirty="0"/>
              <a:t> Nó đóng vai trò là cầu nối giữa ứng dụng của bạn và cơ sở dữ liệu. </a:t>
            </a:r>
            <a:endParaRPr lang="en-US" dirty="0"/>
          </a:p>
          <a:p>
            <a:r>
              <a:rPr lang="vi-VN" b="1" dirty="0"/>
              <a:t>Repository thường kế thừa từ JpaRepository, CrudRepository, hoặc PagingAndSortingRepository.</a:t>
            </a:r>
            <a:r>
              <a:rPr lang="vi-VN" dirty="0"/>
              <a:t> Các interface này cung cấp các phương thức sẵn có để thực hiện các thao tác cơ bản với cơ sở dữ liệu.</a:t>
            </a:r>
            <a:endParaRPr lang="en-US" dirty="0"/>
          </a:p>
          <a:p>
            <a:r>
              <a:rPr lang="vi-VN" dirty="0"/>
              <a:t>Được đánh dấu bằng @Repository (tùy chọn cho Spring Data):</a:t>
            </a:r>
            <a:endParaRPr lang="en-US" dirty="0"/>
          </a:p>
          <a:p>
            <a:r>
              <a:rPr lang="vi-VN" dirty="0"/>
              <a:t>Hỗ trợ các truy vấn tùy chỉnh thông qua tên phương thức hoặc @Query:</a:t>
            </a:r>
            <a:endParaRPr lang="en-US" dirty="0"/>
          </a:p>
          <a:p>
            <a:endParaRPr lang="en-US" dirty="0"/>
          </a:p>
        </p:txBody>
      </p:sp>
    </p:spTree>
    <p:extLst>
      <p:ext uri="{BB962C8B-B14F-4D97-AF65-F5344CB8AC3E}">
        <p14:creationId xmlns:p14="http://schemas.microsoft.com/office/powerpoint/2010/main" val="2972130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Service chứa logic nghiệp vụ của ứng dụng.</a:t>
            </a:r>
            <a:r>
              <a:rPr lang="vi-VN" dirty="0"/>
              <a:t> Nó là nơi tập trung các quy tắc, xử lý và tính toán liên quan đến nghiệp vụ của ứng dụng. </a:t>
            </a:r>
            <a:endParaRPr lang="en-US" dirty="0"/>
          </a:p>
          <a:p>
            <a:r>
              <a:rPr lang="vi-VN" b="1" dirty="0"/>
              <a:t>Service đóng vai trò là cầu nối giữa Controller và Repository.</a:t>
            </a:r>
            <a:r>
              <a:rPr lang="vi-VN" dirty="0"/>
              <a:t> Controller nhận yêu cầu từ người dùng, gọi Service để xử lý logic nghiệp vụ, và Service sử dụng Repository để tương tác với cơ sở dữ liệu.</a:t>
            </a:r>
            <a:endParaRPr lang="en-US" dirty="0"/>
          </a:p>
          <a:p>
            <a:r>
              <a:rPr lang="vi-VN" dirty="0"/>
              <a:t>Được đánh dấu bằng @Service:</a:t>
            </a:r>
            <a:endParaRPr lang="en-US" dirty="0"/>
          </a:p>
          <a:p>
            <a:r>
              <a:rPr lang="vi-VN" dirty="0"/>
              <a:t>Gọi Repository để thực hiện các thao tác với cơ sở dữ liệu:</a:t>
            </a:r>
            <a:endParaRPr lang="en-US" dirty="0"/>
          </a:p>
          <a:p>
            <a:r>
              <a:rPr lang="vi-VN" dirty="0"/>
              <a:t>Đóng gói logic nghiệp vụ để giữ cho Controller đơn giản:</a:t>
            </a:r>
            <a:endParaRPr lang="en-US" dirty="0"/>
          </a:p>
        </p:txBody>
      </p:sp>
    </p:spTree>
    <p:extLst>
      <p:ext uri="{BB962C8B-B14F-4D97-AF65-F5344CB8AC3E}">
        <p14:creationId xmlns:p14="http://schemas.microsoft.com/office/powerpoint/2010/main" val="357028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Controller xử lý các HTTP request từ client và gửi response (phản hồi) về cho client.</a:t>
            </a:r>
            <a:r>
              <a:rPr lang="vi-VN" dirty="0"/>
              <a:t> Nó là điểm tiếp nhận các yêu cầu từ người dùng hoặc từ các hệ thống khác. </a:t>
            </a:r>
            <a:endParaRPr lang="en-US" dirty="0"/>
          </a:p>
          <a:p>
            <a:r>
              <a:rPr lang="vi-VN" b="1" dirty="0"/>
              <a:t>Controller gọi Service layer (tầng dịch vụ) để xử lý logic nghiệp vụ.</a:t>
            </a:r>
            <a:r>
              <a:rPr lang="vi-VN" dirty="0"/>
              <a:t> Sau khi xử lý, Controller sẽ trả kết quả về cho client.</a:t>
            </a:r>
            <a:endParaRPr lang="en-US" dirty="0"/>
          </a:p>
          <a:p>
            <a:r>
              <a:rPr lang="vi-VN" dirty="0"/>
              <a:t>Được đánh dấu bằng @RestController hoặc @Controller:</a:t>
            </a:r>
            <a:endParaRPr lang="en-US" dirty="0"/>
          </a:p>
          <a:p>
            <a:r>
              <a:rPr lang="en-US" dirty="0" err="1"/>
              <a:t>Ánh</a:t>
            </a:r>
            <a:r>
              <a:rPr lang="en-US" dirty="0"/>
              <a:t> </a:t>
            </a:r>
            <a:r>
              <a:rPr lang="en-US" dirty="0" err="1"/>
              <a:t>xạ</a:t>
            </a:r>
            <a:r>
              <a:rPr lang="en-US" dirty="0"/>
              <a:t> </a:t>
            </a:r>
            <a:r>
              <a:rPr lang="en-US" dirty="0" err="1"/>
              <a:t>các</a:t>
            </a:r>
            <a:r>
              <a:rPr lang="en-US" dirty="0"/>
              <a:t> HTTP endpoint </a:t>
            </a:r>
            <a:r>
              <a:rPr lang="en-US" dirty="0" err="1"/>
              <a:t>bằng</a:t>
            </a:r>
            <a:r>
              <a:rPr lang="en-US" dirty="0"/>
              <a:t> @RequestMapping, @GetMapping, @PostMapping,...:</a:t>
            </a:r>
          </a:p>
          <a:p>
            <a:r>
              <a:rPr lang="vi-VN" dirty="0"/>
              <a:t>Xử lý input và output dưới dạng JSON hoặc các định dạng khác bằng @RequestBody và @ResponseBody:</a:t>
            </a:r>
            <a:endParaRPr lang="en-US" dirty="0"/>
          </a:p>
        </p:txBody>
      </p:sp>
    </p:spTree>
    <p:extLst>
      <p:ext uri="{BB962C8B-B14F-4D97-AF65-F5344CB8AC3E}">
        <p14:creationId xmlns:p14="http://schemas.microsoft.com/office/powerpoint/2010/main" val="2366772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Client </a:t>
            </a:r>
            <a:r>
              <a:rPr lang="fr-FR" b="1" dirty="0" err="1"/>
              <a:t>Request</a:t>
            </a:r>
            <a:r>
              <a:rPr lang="fr-FR" b="1" dirty="0"/>
              <a:t> (</a:t>
            </a:r>
            <a:r>
              <a:rPr lang="fr-FR" b="1" dirty="0" err="1"/>
              <a:t>Yêu</a:t>
            </a:r>
            <a:r>
              <a:rPr lang="fr-FR" b="1" dirty="0"/>
              <a:t> </a:t>
            </a:r>
            <a:r>
              <a:rPr lang="fr-FR" b="1" dirty="0" err="1"/>
              <a:t>cầu</a:t>
            </a:r>
            <a:r>
              <a:rPr lang="fr-FR" b="1" dirty="0"/>
              <a:t> </a:t>
            </a:r>
            <a:r>
              <a:rPr lang="fr-FR" b="1" dirty="0" err="1"/>
              <a:t>từ</a:t>
            </a:r>
            <a:r>
              <a:rPr lang="fr-FR" b="1" dirty="0"/>
              <a:t> Client):</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Controller Handling (</a:t>
            </a:r>
            <a:r>
              <a:rPr lang="en-US" b="1" dirty="0" err="1"/>
              <a:t>Xử</a:t>
            </a:r>
            <a:r>
              <a:rPr lang="en-US" b="1" dirty="0"/>
              <a:t> </a:t>
            </a:r>
            <a:r>
              <a:rPr lang="en-US" b="1" dirty="0" err="1"/>
              <a:t>lý</a:t>
            </a:r>
            <a:r>
              <a:rPr lang="en-US" b="1" dirty="0"/>
              <a:t> </a:t>
            </a:r>
            <a:r>
              <a:rPr lang="en-US" b="1" dirty="0" err="1"/>
              <a:t>bởi</a:t>
            </a:r>
            <a:r>
              <a:rPr lang="en-US" b="1" dirty="0"/>
              <a:t> Controller):</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Service Logic (Logic </a:t>
            </a:r>
            <a:r>
              <a:rPr lang="fr-FR" b="1" dirty="0" err="1"/>
              <a:t>của</a:t>
            </a:r>
            <a:r>
              <a:rPr lang="fr-FR" b="1" dirty="0"/>
              <a:t> Service):</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Repository Operations (Thao </a:t>
            </a:r>
            <a:r>
              <a:rPr lang="en-US" b="1" dirty="0" err="1"/>
              <a:t>tác</a:t>
            </a:r>
            <a:r>
              <a:rPr lang="en-US" b="1" dirty="0"/>
              <a:t> </a:t>
            </a:r>
            <a:r>
              <a:rPr lang="en-US" b="1" dirty="0" err="1"/>
              <a:t>của</a:t>
            </a:r>
            <a:r>
              <a:rPr lang="en-US" b="1" dirty="0"/>
              <a:t> Repository):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Response to Client (</a:t>
            </a:r>
            <a:r>
              <a:rPr lang="en-US" b="1" dirty="0" err="1"/>
              <a:t>Phản</a:t>
            </a:r>
            <a:r>
              <a:rPr lang="en-US" b="1" dirty="0"/>
              <a:t> </a:t>
            </a:r>
            <a:r>
              <a:rPr lang="en-US" b="1" dirty="0" err="1"/>
              <a:t>hồi</a:t>
            </a:r>
            <a:r>
              <a:rPr lang="en-US" b="1" dirty="0"/>
              <a:t> </a:t>
            </a:r>
            <a:r>
              <a:rPr lang="en-US" b="1" dirty="0" err="1"/>
              <a:t>cho</a:t>
            </a:r>
            <a:r>
              <a:rPr lang="en-US" b="1" dirty="0"/>
              <a:t> Client):</a:t>
            </a:r>
            <a:endParaRPr lang="en-US" dirty="0"/>
          </a:p>
          <a:p>
            <a:endParaRPr lang="en-US" dirty="0"/>
          </a:p>
        </p:txBody>
      </p:sp>
    </p:spTree>
    <p:extLst>
      <p:ext uri="{BB962C8B-B14F-4D97-AF65-F5344CB8AC3E}">
        <p14:creationId xmlns:p14="http://schemas.microsoft.com/office/powerpoint/2010/main" val="144615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US" dirty="0"/>
          </a:p>
        </p:txBody>
      </p:sp>
    </p:spTree>
    <p:extLst>
      <p:ext uri="{BB962C8B-B14F-4D97-AF65-F5344CB8AC3E}">
        <p14:creationId xmlns:p14="http://schemas.microsoft.com/office/powerpoint/2010/main" val="4066088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Web Layer (Tầng Web):</a:t>
            </a:r>
            <a:r>
              <a:rPr lang="vi-VN" dirty="0"/>
              <a:t> Nơi tiếp nhận các request từ bên ngoài (ví dụ: từ trình duyệt web, ứng dụng di động,...). Layer này bao gồm các </a:t>
            </a:r>
            <a:r>
              <a:rPr lang="vi-VN" b="1" dirty="0"/>
              <a:t>Controllers</a:t>
            </a:r>
            <a:r>
              <a:rPr lang="vi-VN" dirty="0"/>
              <a:t> (xử lý request), </a:t>
            </a:r>
            <a:r>
              <a:rPr lang="vi-VN" b="1" dirty="0"/>
              <a:t>Exception Handlers</a:t>
            </a:r>
            <a:r>
              <a:rPr lang="vi-VN" dirty="0"/>
              <a:t> (xử lý lỗi), </a:t>
            </a:r>
            <a:r>
              <a:rPr lang="vi-VN" b="1" dirty="0"/>
              <a:t>Filters</a:t>
            </a:r>
            <a:r>
              <a:rPr lang="vi-VN" dirty="0"/>
              <a:t> (lọc request), </a:t>
            </a:r>
            <a:r>
              <a:rPr lang="vi-VN" b="1" dirty="0"/>
              <a:t>View Templates</a:t>
            </a:r>
            <a:r>
              <a:rPr lang="vi-VN" dirty="0"/>
              <a:t> (hiển thị giao diện),... </a:t>
            </a:r>
            <a:endParaRPr lang="en-US" dirty="0"/>
          </a:p>
          <a:p>
            <a:r>
              <a:rPr lang="vi-VN" b="1" dirty="0"/>
              <a:t>Service Layer (Tầng Dịch vụ):</a:t>
            </a:r>
            <a:r>
              <a:rPr lang="vi-VN" dirty="0"/>
              <a:t> Chứa logic nghiệp vụ của ứng dụng. Layer này bao gồm các </a:t>
            </a:r>
            <a:r>
              <a:rPr lang="vi-VN" b="1" dirty="0"/>
              <a:t>Application Services</a:t>
            </a:r>
            <a:r>
              <a:rPr lang="vi-VN" dirty="0"/>
              <a:t> (dịch vụ ứng dụng) và </a:t>
            </a:r>
            <a:r>
              <a:rPr lang="vi-VN" b="1" dirty="0"/>
              <a:t>Infrastructure Services</a:t>
            </a:r>
            <a:r>
              <a:rPr lang="vi-VN" dirty="0"/>
              <a:t> (dịch vụ hạ tầng). </a:t>
            </a:r>
            <a:r>
              <a:rPr lang="vi-VN" b="1" dirty="0"/>
              <a:t>Repository Layer (Tầng Repository):</a:t>
            </a:r>
            <a:r>
              <a:rPr lang="vi-VN" dirty="0"/>
              <a:t> Tương tác với cơ sở dữ liệu để lưu trữ và truy xuất dữ liệu. Layer này bao gồm các </a:t>
            </a:r>
            <a:endParaRPr lang="en-US" dirty="0"/>
          </a:p>
          <a:p>
            <a:r>
              <a:rPr lang="vi-VN" b="1" dirty="0"/>
              <a:t>Repository Interfaces</a:t>
            </a:r>
            <a:r>
              <a:rPr lang="vi-VN" dirty="0"/>
              <a:t> (interface định nghĩa các thao tác với dữ liệu) và </a:t>
            </a:r>
            <a:r>
              <a:rPr lang="vi-VN" b="1" dirty="0"/>
              <a:t>Implementations</a:t>
            </a:r>
            <a:r>
              <a:rPr lang="vi-VN" dirty="0"/>
              <a:t> (lớp implement các interface này). </a:t>
            </a:r>
            <a:endParaRPr lang="en-US" dirty="0"/>
          </a:p>
          <a:p>
            <a:r>
              <a:rPr lang="vi-VN" b="1" dirty="0"/>
              <a:t>Domain Model (Mô hình Miền):</a:t>
            </a:r>
            <a:r>
              <a:rPr lang="vi-VN" dirty="0"/>
              <a:t> Biểu diễn các khái niệm và quy tắc nghiệp vụ của ứng dụng. Nó bao gồm các </a:t>
            </a:r>
            <a:r>
              <a:rPr lang="vi-VN" b="1" dirty="0"/>
              <a:t>Domain Services</a:t>
            </a:r>
            <a:r>
              <a:rPr lang="vi-VN" dirty="0"/>
              <a:t> (dịch vụ miền), </a:t>
            </a:r>
            <a:r>
              <a:rPr lang="vi-VN" b="1" dirty="0"/>
              <a:t>Entities</a:t>
            </a:r>
            <a:r>
              <a:rPr lang="vi-VN" dirty="0"/>
              <a:t> (thực thể) và </a:t>
            </a:r>
            <a:r>
              <a:rPr lang="vi-VN" b="1" dirty="0"/>
              <a:t>Value Objects</a:t>
            </a:r>
            <a:r>
              <a:rPr lang="vi-VN" dirty="0"/>
              <a:t> (đối tượng giá trị).</a:t>
            </a:r>
            <a:endParaRPr lang="en-US" dirty="0"/>
          </a:p>
          <a:p>
            <a:r>
              <a:rPr lang="en-US" dirty="0" err="1"/>
              <a:t>Mối</a:t>
            </a:r>
            <a:r>
              <a:rPr lang="en-US" dirty="0"/>
              <a:t> </a:t>
            </a:r>
            <a:r>
              <a:rPr lang="en-US" dirty="0" err="1"/>
              <a:t>quan</a:t>
            </a:r>
            <a:r>
              <a:rPr lang="en-US" dirty="0"/>
              <a:t> </a:t>
            </a:r>
            <a:r>
              <a:rPr lang="en-US" dirty="0" err="1"/>
              <a:t>hệ</a:t>
            </a:r>
            <a:r>
              <a:rPr lang="en-US" dirty="0"/>
              <a:t> layer và </a:t>
            </a:r>
            <a:r>
              <a:rPr lang="en-US" dirty="0" err="1"/>
              <a:t>loại</a:t>
            </a:r>
            <a:r>
              <a:rPr lang="en-US" dirty="0"/>
              <a:t> </a:t>
            </a:r>
            <a:r>
              <a:rPr lang="en-US" dirty="0" err="1"/>
              <a:t>dữ</a:t>
            </a:r>
            <a:r>
              <a:rPr lang="en-US" dirty="0"/>
              <a:t> </a:t>
            </a:r>
            <a:r>
              <a:rPr lang="en-US" dirty="0" err="1"/>
              <a:t>liệu</a:t>
            </a:r>
            <a:endParaRPr lang="en-US" dirty="0"/>
          </a:p>
          <a:p>
            <a:r>
              <a:rPr lang="vi-VN" b="1" dirty="0"/>
              <a:t>Web Layer:</a:t>
            </a:r>
            <a:r>
              <a:rPr lang="vi-VN" dirty="0"/>
              <a:t> Sử dụng cả dữ liệu Public (thông qua DTOs) và dữ liệu Private (thông qua Service Layer). </a:t>
            </a:r>
            <a:endParaRPr lang="en-US" dirty="0"/>
          </a:p>
          <a:p>
            <a:r>
              <a:rPr lang="vi-VN" b="1" dirty="0"/>
              <a:t>Service Layer:</a:t>
            </a:r>
            <a:r>
              <a:rPr lang="vi-VN" dirty="0"/>
              <a:t> Chỉ làm việc với dữ liệu Private, được lấy từ Repository Layer và xử lý theo logic nghiệp vụ. </a:t>
            </a:r>
            <a:endParaRPr lang="en-US" dirty="0"/>
          </a:p>
          <a:p>
            <a:r>
              <a:rPr lang="vi-VN" b="1" dirty="0"/>
              <a:t>Repository Layer:</a:t>
            </a:r>
            <a:r>
              <a:rPr lang="vi-VN" dirty="0"/>
              <a:t> Lưu trữ và truy xuất dữ liệu Private từ cơ sở dữ liệu. </a:t>
            </a:r>
            <a:endParaRPr lang="en-US" dirty="0"/>
          </a:p>
          <a:p>
            <a:r>
              <a:rPr lang="vi-VN" b="1" dirty="0"/>
              <a:t>Domain Model:</a:t>
            </a:r>
            <a:r>
              <a:rPr lang="vi-VN" dirty="0"/>
              <a:t> Chứa dữ liệu Private và các quy tắc nghiệp vụ liên quan đến dữ liệu này.</a:t>
            </a:r>
            <a:endParaRPr lang="en-US" dirty="0"/>
          </a:p>
        </p:txBody>
      </p:sp>
    </p:spTree>
    <p:extLst>
      <p:ext uri="{BB962C8B-B14F-4D97-AF65-F5344CB8AC3E}">
        <p14:creationId xmlns:p14="http://schemas.microsoft.com/office/powerpoint/2010/main" val="23248280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b="1" dirty="0"/>
              <a:t>TO (Data Transfer Object - Đối tượng truyền dữ liệu):</a:t>
            </a:r>
            <a:endParaRPr lang="vi-VN" dirty="0"/>
          </a:p>
          <a:p>
            <a:pPr>
              <a:buFont typeface="Arial" panose="020B0604020202020204" pitchFamily="34" charset="0"/>
              <a:buChar char="•"/>
            </a:pPr>
            <a:r>
              <a:rPr lang="vi-VN" b="1" dirty="0"/>
              <a:t>Định nghĩa:</a:t>
            </a:r>
            <a:endParaRPr lang="vi-VN" dirty="0"/>
          </a:p>
          <a:p>
            <a:pPr marL="742950" lvl="1" indent="-285750">
              <a:buFont typeface="Arial" panose="020B0604020202020204" pitchFamily="34" charset="0"/>
              <a:buChar char="•"/>
            </a:pPr>
            <a:r>
              <a:rPr lang="vi-VN" dirty="0"/>
              <a:t>DTO là các class được thiết kế để đóng gói dữ liệu để truyền tải giữa các layer của ứng dụng hoặc giữa ứng dụng của bạn với bên ngoài (ví dụ: qua API).</a:t>
            </a:r>
          </a:p>
          <a:p>
            <a:pPr marL="742950" lvl="1" indent="-285750">
              <a:buFont typeface="Arial" panose="020B0604020202020204" pitchFamily="34" charset="0"/>
              <a:buChar char="•"/>
            </a:pPr>
            <a:r>
              <a:rPr lang="vi-VN" dirty="0"/>
              <a:t>DTO</a:t>
            </a:r>
          </a:p>
          <a:p>
            <a:pPr>
              <a:buFont typeface="Arial" panose="020B0604020202020204" pitchFamily="34" charset="0"/>
              <a:buChar char="•"/>
            </a:pPr>
            <a:r>
              <a:rPr lang="vi-VN" b="1" dirty="0"/>
              <a:t>Mục </a:t>
            </a:r>
            <a:r>
              <a:rPr lang="vi-VN" b="1" dirty="0" err="1"/>
              <a:t>đích:</a:t>
            </a:r>
            <a:r>
              <a:rPr lang="vi-VN" dirty="0" err="1"/>
              <a:t>chỉ</a:t>
            </a:r>
            <a:r>
              <a:rPr lang="vi-VN" dirty="0"/>
              <a:t> chứa dữ liệu và không chứa </a:t>
            </a:r>
            <a:r>
              <a:rPr lang="vi-VN" dirty="0" err="1"/>
              <a:t>logic</a:t>
            </a:r>
            <a:r>
              <a:rPr lang="vi-VN" dirty="0"/>
              <a:t> nghiệp vụ.</a:t>
            </a:r>
          </a:p>
          <a:p>
            <a:pPr marL="742950" lvl="1" indent="-285750">
              <a:buFont typeface="Arial" panose="020B0604020202020204" pitchFamily="34" charset="0"/>
              <a:buChar char="•"/>
            </a:pPr>
            <a:r>
              <a:rPr lang="vi-VN" b="1" dirty="0"/>
              <a:t>Giảm lượng dữ liệu không cần thiết được truyền tải:</a:t>
            </a:r>
            <a:r>
              <a:rPr lang="vi-VN" dirty="0"/>
              <a:t> DTO chỉ chứa các thông tin cần thiết cho một mục đích cụ thể, giúp giảm kích thước dữ liệu được truyền tải và tăng hiệu quả giao tiếp.</a:t>
            </a:r>
          </a:p>
          <a:p>
            <a:pPr marL="742950" lvl="1" indent="-285750">
              <a:buFont typeface="Arial" panose="020B0604020202020204" pitchFamily="34" charset="0"/>
              <a:buChar char="•"/>
            </a:pPr>
            <a:r>
              <a:rPr lang="vi-VN" b="1" dirty="0"/>
              <a:t>Tăng cường bảo mật:</a:t>
            </a:r>
            <a:r>
              <a:rPr lang="vi-VN" dirty="0"/>
              <a:t> DTO có thể được thiết kế để không chứa các thông tin nhạy cảm, giúp bảo vệ dữ liệu khỏi bị lộ ra ngoài.</a:t>
            </a:r>
          </a:p>
          <a:p>
            <a:pPr marL="742950" lvl="1" indent="-285750">
              <a:buFont typeface="Arial" panose="020B0604020202020204" pitchFamily="34" charset="0"/>
              <a:buChar char="•"/>
            </a:pPr>
            <a:r>
              <a:rPr lang="vi-VN" b="1" dirty="0"/>
              <a:t>Tách biệt các layer:</a:t>
            </a:r>
            <a:r>
              <a:rPr lang="vi-VN" dirty="0"/>
              <a:t> DTO giúp tách biệt các layer của ứng dụng, giảm sự phụ thuộc giữa chúng.</a:t>
            </a:r>
          </a:p>
          <a:p>
            <a:pPr>
              <a:buFont typeface="Arial" panose="020B0604020202020204" pitchFamily="34" charset="0"/>
              <a:buChar char="•"/>
            </a:pPr>
            <a:r>
              <a:rPr lang="vi-VN" b="1" dirty="0"/>
              <a:t>Ví dụ:</a:t>
            </a:r>
            <a:endParaRPr lang="vi-VN" dirty="0"/>
          </a:p>
          <a:p>
            <a:pPr marL="742950" lvl="1" indent="-285750">
              <a:buFont typeface="Arial" panose="020B0604020202020204" pitchFamily="34" charset="0"/>
              <a:buChar char="•"/>
            </a:pPr>
            <a:r>
              <a:rPr lang="vi-VN" dirty="0"/>
              <a:t>Khi bạn muốn lấy thông tin của một người dùng, bạn có thể không cần lấy toàn bộ thông tin (ví dụ: mật khẩu, địa chỉ email,...) mà chỉ cần lấy tên, tuổi và một số thông tin khác. Lúc này, bạn có thể sử dụng một DTO để chứa các thông tin này và trả về cho client.</a:t>
            </a:r>
          </a:p>
          <a:p>
            <a:r>
              <a:rPr lang="vi-VN" b="1" dirty="0"/>
              <a:t>2. Domain Model (Mô hình miền):</a:t>
            </a:r>
            <a:endParaRPr lang="vi-VN" dirty="0"/>
          </a:p>
          <a:p>
            <a:pPr>
              <a:buFont typeface="Arial" panose="020B0604020202020204" pitchFamily="34" charset="0"/>
              <a:buChar char="•"/>
            </a:pPr>
            <a:r>
              <a:rPr lang="vi-VN" b="1" dirty="0"/>
              <a:t>Định nghĩa:</a:t>
            </a:r>
            <a:endParaRPr lang="vi-VN" dirty="0"/>
          </a:p>
          <a:p>
            <a:pPr marL="742950" lvl="1" indent="-285750">
              <a:buFont typeface="Arial" panose="020B0604020202020204" pitchFamily="34" charset="0"/>
              <a:buChar char="•"/>
            </a:pPr>
            <a:r>
              <a:rPr lang="vi-VN" dirty="0"/>
              <a:t>Domain Model là các class đại diện cho các khái niệm và quy tắc nghiệp vụ của một lĩnh vực cụ thể (ví dụ: khách hàng, sản phẩm, đơn hàng,...).</a:t>
            </a:r>
          </a:p>
          <a:p>
            <a:pPr marL="742950" lvl="1" indent="-285750">
              <a:buFont typeface="Arial" panose="020B0604020202020204" pitchFamily="34" charset="0"/>
              <a:buChar char="•"/>
            </a:pPr>
            <a:r>
              <a:rPr lang="vi-VN" dirty="0"/>
              <a:t>Domain Model chứa dữ liệu và logic nghiệp vụ liên quan đến các khái niệm này.</a:t>
            </a:r>
          </a:p>
          <a:p>
            <a:pPr>
              <a:buFont typeface="Arial" panose="020B0604020202020204" pitchFamily="34" charset="0"/>
              <a:buChar char="•"/>
            </a:pPr>
            <a:r>
              <a:rPr lang="vi-VN" b="1" dirty="0"/>
              <a:t>Đặc điểm:</a:t>
            </a:r>
            <a:endParaRPr lang="vi-VN" dirty="0"/>
          </a:p>
          <a:p>
            <a:pPr marL="742950" lvl="1" indent="-285750">
              <a:buFont typeface="Arial" panose="020B0604020202020204" pitchFamily="34" charset="0"/>
              <a:buChar char="•"/>
            </a:pPr>
            <a:r>
              <a:rPr lang="vi-VN" dirty="0"/>
              <a:t>Thể hiện các khái niệm và quy tắc nghiệp vụ của ứng dụng.</a:t>
            </a:r>
          </a:p>
          <a:p>
            <a:pPr marL="742950" lvl="1" indent="-285750">
              <a:buFont typeface="Arial" panose="020B0604020202020204" pitchFamily="34" charset="0"/>
              <a:buChar char="•"/>
            </a:pPr>
            <a:r>
              <a:rPr lang="vi-VN" dirty="0"/>
              <a:t>Chứa dữ liệu và logic nghiệp vụ liên quan đến các khái niệm.</a:t>
            </a:r>
          </a:p>
          <a:p>
            <a:pPr marL="742950" lvl="1" indent="-285750">
              <a:buFont typeface="Arial" panose="020B0604020202020204" pitchFamily="34" charset="0"/>
              <a:buChar char="•"/>
            </a:pPr>
            <a:r>
              <a:rPr lang="vi-VN" dirty="0"/>
              <a:t>Có thể bao gồm các class đại diện cho kết quả tính toán hoặc tham số đầu vào cho các dịch vụ tính toán.</a:t>
            </a:r>
          </a:p>
          <a:p>
            <a:pPr>
              <a:buFont typeface="Arial" panose="020B0604020202020204" pitchFamily="34" charset="0"/>
              <a:buChar char="•"/>
            </a:pPr>
            <a:r>
              <a:rPr lang="vi-VN" b="1" dirty="0"/>
              <a:t>Ví dụ:</a:t>
            </a:r>
            <a:endParaRPr lang="vi-VN" dirty="0"/>
          </a:p>
          <a:p>
            <a:pPr marL="742950" lvl="1" indent="-285750">
              <a:buFont typeface="Arial" panose="020B0604020202020204" pitchFamily="34" charset="0"/>
              <a:buChar char="•"/>
            </a:pPr>
            <a:r>
              <a:rPr lang="vi-VN" dirty="0"/>
              <a:t>Trong ứng dụng quản lý bán hàng, Customer (khách hàng), Product (sản phẩm), Order (đơn hàng),... là các Domain Model.</a:t>
            </a:r>
          </a:p>
          <a:p>
            <a:r>
              <a:rPr lang="vi-VN" b="1" dirty="0"/>
              <a:t>3. Entity (Thực thể):</a:t>
            </a:r>
            <a:endParaRPr lang="vi-VN" dirty="0"/>
          </a:p>
          <a:p>
            <a:pPr>
              <a:buFont typeface="Arial" panose="020B0604020202020204" pitchFamily="34" charset="0"/>
              <a:buChar char="•"/>
            </a:pPr>
            <a:r>
              <a:rPr lang="vi-VN" b="1" dirty="0"/>
              <a:t>Định nghĩa:</a:t>
            </a:r>
            <a:endParaRPr lang="vi-VN" dirty="0"/>
          </a:p>
          <a:p>
            <a:pPr marL="742950" lvl="1" indent="-285750">
              <a:buFont typeface="Arial" panose="020B0604020202020204" pitchFamily="34" charset="0"/>
              <a:buChar char="•"/>
            </a:pPr>
            <a:r>
              <a:rPr lang="vi-VN" dirty="0"/>
              <a:t>Entity là một loại Domain Model đặc biệt, đại diện cho một bảng trong cơ sở dữ liệu.</a:t>
            </a:r>
          </a:p>
          <a:p>
            <a:pPr marL="742950" lvl="1" indent="-285750">
              <a:buFont typeface="Arial" panose="020B0604020202020204" pitchFamily="34" charset="0"/>
              <a:buChar char="•"/>
            </a:pPr>
            <a:r>
              <a:rPr lang="vi-VN" dirty="0"/>
              <a:t>Entity có thể được ánh xạ tới cơ sở dữ liệu và chỉ có Entity mới có thể biểu diễn dữ liệu trong cơ sở dữ liệu.</a:t>
            </a:r>
          </a:p>
          <a:p>
            <a:pPr>
              <a:buFont typeface="Arial" panose="020B0604020202020204" pitchFamily="34" charset="0"/>
              <a:buChar char="•"/>
            </a:pPr>
            <a:r>
              <a:rPr lang="vi-VN" b="1" dirty="0"/>
              <a:t>Đặc điểm:</a:t>
            </a:r>
            <a:endParaRPr lang="vi-VN" dirty="0"/>
          </a:p>
          <a:p>
            <a:pPr marL="742950" lvl="1" indent="-285750">
              <a:buFont typeface="Arial" panose="020B0604020202020204" pitchFamily="34" charset="0"/>
              <a:buChar char="•"/>
            </a:pPr>
            <a:r>
              <a:rPr lang="vi-VN" dirty="0"/>
              <a:t>Tương ứng với một bảng trong cơ sở dữ liệu.</a:t>
            </a:r>
          </a:p>
          <a:p>
            <a:pPr marL="742950" lvl="1" indent="-285750">
              <a:buFont typeface="Arial" panose="020B0604020202020204" pitchFamily="34" charset="0"/>
              <a:buChar char="•"/>
            </a:pPr>
            <a:r>
              <a:rPr lang="vi-VN" dirty="0"/>
              <a:t>Có một ID duy nhất để phân biệt các Entity khác nhau.</a:t>
            </a:r>
          </a:p>
          <a:p>
            <a:pPr marL="742950" lvl="1" indent="-285750">
              <a:buFont typeface="Arial" panose="020B0604020202020204" pitchFamily="34" charset="0"/>
              <a:buChar char="•"/>
            </a:pPr>
            <a:r>
              <a:rPr lang="vi-VN" dirty="0"/>
              <a:t>Có thể được lưu trữ và truy xuất từ cơ sở dữ liệu.</a:t>
            </a:r>
          </a:p>
          <a:p>
            <a:pPr>
              <a:buFont typeface="Arial" panose="020B0604020202020204" pitchFamily="34" charset="0"/>
              <a:buChar char="•"/>
            </a:pPr>
            <a:r>
              <a:rPr lang="vi-VN" b="1" dirty="0"/>
              <a:t>Ví dụ:</a:t>
            </a:r>
            <a:endParaRPr lang="vi-VN" dirty="0"/>
          </a:p>
          <a:p>
            <a:pPr marL="742950" lvl="1" indent="-285750">
              <a:buFont typeface="Arial" panose="020B0604020202020204" pitchFamily="34" charset="0"/>
              <a:buChar char="•"/>
            </a:pPr>
            <a:r>
              <a:rPr lang="vi-VN" dirty="0"/>
              <a:t>Trong ứng dụng quản lý bán hàng, Customer, Product, Order cũng là các Entity nếu chúng được lưu trữ trong cơ sở dữ liệu.</a:t>
            </a:r>
          </a:p>
          <a:p>
            <a:r>
              <a:rPr lang="vi-VN" b="1" dirty="0"/>
              <a:t>Mối quan hệ giữa DTO, Domain Model và Entity:</a:t>
            </a:r>
            <a:endParaRPr lang="vi-VN" dirty="0"/>
          </a:p>
          <a:p>
            <a:pPr>
              <a:buFont typeface="Arial" panose="020B0604020202020204" pitchFamily="34" charset="0"/>
              <a:buChar char="•"/>
            </a:pPr>
            <a:r>
              <a:rPr lang="vi-VN" b="1" dirty="0"/>
              <a:t>DTO:</a:t>
            </a:r>
            <a:r>
              <a:rPr lang="vi-VN" dirty="0"/>
              <a:t> Được sử dụng để truyền dữ liệu giữa các layer và giữa ứng dụng với bên ngoài.</a:t>
            </a:r>
          </a:p>
          <a:p>
            <a:pPr>
              <a:buFont typeface="Arial" panose="020B0604020202020204" pitchFamily="34" charset="0"/>
              <a:buChar char="•"/>
            </a:pPr>
            <a:r>
              <a:rPr lang="vi-VN" b="1" dirty="0"/>
              <a:t>Domain Model:</a:t>
            </a:r>
            <a:r>
              <a:rPr lang="vi-VN" dirty="0"/>
              <a:t> Đại diện cho các khái niệm và quy tắc nghiệp vụ của ứng dụng.</a:t>
            </a:r>
          </a:p>
          <a:p>
            <a:pPr>
              <a:buFont typeface="Arial" panose="020B0604020202020204" pitchFamily="34" charset="0"/>
              <a:buChar char="•"/>
            </a:pPr>
            <a:r>
              <a:rPr lang="vi-VN" b="1" dirty="0"/>
              <a:t>Entity:</a:t>
            </a:r>
            <a:r>
              <a:rPr lang="vi-VN" dirty="0"/>
              <a:t> Là một loại Domain Model đặc biệt, đại diện cho một bảng trong cơ sở dữ liệu.</a:t>
            </a:r>
          </a:p>
          <a:p>
            <a:endParaRPr lang="en-US" dirty="0"/>
          </a:p>
        </p:txBody>
      </p:sp>
    </p:spTree>
    <p:extLst>
      <p:ext uri="{BB962C8B-B14F-4D97-AF65-F5344CB8AC3E}">
        <p14:creationId xmlns:p14="http://schemas.microsoft.com/office/powerpoint/2010/main" val="3235214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r>
              <a:rPr lang="vi-VN" dirty="0"/>
              <a:t>Trong Spring, các object (đối tượng) tạo nên nền tảng của ứng dụng và được quản lý bởi Spring IoC container (Inversion of Control container - bộ chứa điều khiển nghịch đảo) được gọi là </a:t>
            </a:r>
            <a:r>
              <a:rPr lang="vi-VN" b="1" dirty="0"/>
              <a:t>Beans</a:t>
            </a:r>
            <a:r>
              <a:rPr lang="vi-VN" dirty="0"/>
              <a:t>. </a:t>
            </a:r>
            <a:endParaRPr lang="en-US" dirty="0"/>
          </a:p>
          <a:p>
            <a:r>
              <a:rPr lang="vi-VN" b="1" dirty="0" err="1"/>
              <a:t>Instantiation</a:t>
            </a:r>
            <a:r>
              <a:rPr lang="vi-VN" b="1" dirty="0"/>
              <a:t> (Khởi tạo):</a:t>
            </a:r>
            <a:endParaRPr lang="vi-VN" dirty="0"/>
          </a:p>
          <a:p>
            <a:pPr>
              <a:buFont typeface="Arial" panose="020B0604020202020204" pitchFamily="34" charset="0"/>
              <a:buChar char="•"/>
            </a:pPr>
            <a:r>
              <a:rPr lang="vi-VN" dirty="0"/>
              <a:t>Spring IoC container tạo ra một instance (thể hiện) của Bean.</a:t>
            </a:r>
          </a:p>
          <a:p>
            <a:pPr>
              <a:buFont typeface="Arial" panose="020B0604020202020204" pitchFamily="34" charset="0"/>
              <a:buChar char="•"/>
            </a:pPr>
            <a:r>
              <a:rPr lang="vi-VN" dirty="0"/>
              <a:t>Constructor của Bean được gọi trong giai đoạn này.</a:t>
            </a:r>
          </a:p>
          <a:p>
            <a:r>
              <a:rPr lang="vi-VN" b="1" dirty="0"/>
              <a:t>Populate Properties (Điền thuộc tính):</a:t>
            </a:r>
            <a:endParaRPr lang="vi-VN" dirty="0"/>
          </a:p>
          <a:p>
            <a:pPr>
              <a:buFont typeface="Arial" panose="020B0604020202020204" pitchFamily="34" charset="0"/>
              <a:buChar char="•"/>
            </a:pPr>
            <a:r>
              <a:rPr lang="vi-VN" dirty="0"/>
              <a:t>Spring IoC container gán giá trị cho các thuộc tính của Bean.</a:t>
            </a:r>
          </a:p>
          <a:p>
            <a:pPr>
              <a:buFont typeface="Arial" panose="020B0604020202020204" pitchFamily="34" charset="0"/>
              <a:buChar char="•"/>
            </a:pPr>
            <a:r>
              <a:rPr lang="vi-VN" dirty="0"/>
              <a:t>Các setter method (phương thức setter) được gọi trong giai đoạn này.</a:t>
            </a:r>
          </a:p>
          <a:p>
            <a:r>
              <a:rPr lang="vi-VN" b="1" dirty="0"/>
              <a:t>BeanNameAware setBeanName():</a:t>
            </a:r>
            <a:endParaRPr lang="vi-VN" dirty="0"/>
          </a:p>
          <a:p>
            <a:pPr>
              <a:buFont typeface="Arial" panose="020B0604020202020204" pitchFamily="34" charset="0"/>
              <a:buChar char="•"/>
            </a:pPr>
            <a:r>
              <a:rPr lang="vi-VN" dirty="0"/>
              <a:t>Nếu Bean implement interface BeanNameAware, method setBeanName() sẽ được gọi để truyền tên của Bean cho Bean đó.</a:t>
            </a:r>
          </a:p>
          <a:p>
            <a:r>
              <a:rPr lang="vi-VN" b="1" dirty="0"/>
              <a:t>BeanClassLoaderAware setBeanClassLoader():</a:t>
            </a:r>
            <a:endParaRPr lang="vi-VN" dirty="0"/>
          </a:p>
          <a:p>
            <a:pPr>
              <a:buFont typeface="Arial" panose="020B0604020202020204" pitchFamily="34" charset="0"/>
              <a:buChar char="•"/>
            </a:pPr>
            <a:r>
              <a:rPr lang="vi-VN" dirty="0"/>
              <a:t>Nếu Bean implement interface BeanClassLoaderAware, method setBeanClassLoader() sẽ được gọi để truyền class loader cho Bean đó.</a:t>
            </a:r>
          </a:p>
          <a:p>
            <a:r>
              <a:rPr lang="vi-VN" b="1" dirty="0"/>
              <a:t>BeanFactoryAware setBeanFactory():</a:t>
            </a:r>
            <a:endParaRPr lang="vi-VN" dirty="0"/>
          </a:p>
          <a:p>
            <a:pPr>
              <a:buFont typeface="Arial" panose="020B0604020202020204" pitchFamily="34" charset="0"/>
              <a:buChar char="•"/>
            </a:pPr>
            <a:r>
              <a:rPr lang="vi-VN" dirty="0"/>
              <a:t>Nếu Bean implement interface BeanFactoryAware, method setBeanFactory() sẽ được gọi để truyền BeanFactory cho Bean đó.</a:t>
            </a:r>
          </a:p>
          <a:p>
            <a:r>
              <a:rPr lang="vi-VN" b="1" dirty="0"/>
              <a:t>BeanPostProcessor beforeInitialization (Trước khi khởi tạo):</a:t>
            </a:r>
            <a:endParaRPr lang="vi-VN" dirty="0"/>
          </a:p>
          <a:p>
            <a:pPr>
              <a:buFont typeface="Arial" panose="020B0604020202020204" pitchFamily="34" charset="0"/>
              <a:buChar char="•"/>
            </a:pPr>
            <a:r>
              <a:rPr lang="vi-VN" dirty="0"/>
              <a:t>Method postProcessBeforeInitialization() của BeanPostProcessor được gọi trước khi Bean được khởi tạo.</a:t>
            </a:r>
          </a:p>
          <a:p>
            <a:pPr>
              <a:buFont typeface="Arial" panose="020B0604020202020204" pitchFamily="34" charset="0"/>
              <a:buChar char="•"/>
            </a:pPr>
            <a:r>
              <a:rPr lang="vi-VN" dirty="0"/>
              <a:t>Đây là điểm mở rộng để tùy chỉnh Bean trước khi nó được khởi tạo (ví dụ: thay đổi cấu hình, thêm annotation,...).</a:t>
            </a:r>
          </a:p>
          <a:p>
            <a:r>
              <a:rPr lang="vi-VN" b="1" dirty="0"/>
              <a:t>@PostConstruct:</a:t>
            </a:r>
            <a:endParaRPr lang="vi-VN" dirty="0"/>
          </a:p>
          <a:p>
            <a:pPr>
              <a:buFont typeface="Arial" panose="020B0604020202020204" pitchFamily="34" charset="0"/>
              <a:buChar char="•"/>
            </a:pPr>
            <a:r>
              <a:rPr lang="vi-VN" dirty="0"/>
              <a:t>Nếu Bean có annotation @PostConstruct, method được đánh dấu bởi annotation này sẽ được gọi.</a:t>
            </a:r>
          </a:p>
          <a:p>
            <a:pPr>
              <a:buFont typeface="Arial" panose="020B0604020202020204" pitchFamily="34" charset="0"/>
              <a:buChar char="•"/>
            </a:pPr>
            <a:r>
              <a:rPr lang="vi-VN" dirty="0"/>
              <a:t>Đây là một cách khác để thực hiện các thao tác khởi tạo sau khi các thuộc tính của Bean đã được gán giá trị.</a:t>
            </a:r>
          </a:p>
          <a:p>
            <a:r>
              <a:rPr lang="vi-VN" b="1" dirty="0"/>
              <a:t>InitializingBean afterPropertiesSet():</a:t>
            </a:r>
            <a:endParaRPr lang="vi-VN" dirty="0"/>
          </a:p>
          <a:p>
            <a:pPr>
              <a:buFont typeface="Arial" panose="020B0604020202020204" pitchFamily="34" charset="0"/>
              <a:buChar char="•"/>
            </a:pPr>
            <a:r>
              <a:rPr lang="vi-VN" dirty="0"/>
              <a:t>Nếu Bean implement interface InitializingBean, method afterPropertiesSet() sẽ được gọi.</a:t>
            </a:r>
          </a:p>
          <a:p>
            <a:pPr>
              <a:buFont typeface="Arial" panose="020B0604020202020204" pitchFamily="34" charset="0"/>
              <a:buChar char="•"/>
            </a:pPr>
            <a:r>
              <a:rPr lang="vi-VN" dirty="0"/>
              <a:t>Đây là một cách khác để thực hiện các thao tác khởi tạo sau khi các thuộc tính của Bean đã được gán giá trị.</a:t>
            </a:r>
          </a:p>
          <a:p>
            <a:r>
              <a:rPr lang="vi-VN" b="1" dirty="0"/>
              <a:t>init-method:</a:t>
            </a:r>
            <a:endParaRPr lang="vi-VN" dirty="0"/>
          </a:p>
          <a:p>
            <a:pPr>
              <a:buFont typeface="Arial" panose="020B0604020202020204" pitchFamily="34" charset="0"/>
              <a:buChar char="•"/>
            </a:pPr>
            <a:r>
              <a:rPr lang="vi-VN" dirty="0"/>
              <a:t>Nếu Bean được cấu hình với thuộc tính init-method trong file cấu hình (ví dụ: applicationContext.xml), method được chỉ định sẽ được gọi.</a:t>
            </a:r>
          </a:p>
          <a:p>
            <a:pPr>
              <a:buFont typeface="Arial" panose="020B0604020202020204" pitchFamily="34" charset="0"/>
              <a:buChar char="•"/>
            </a:pPr>
            <a:r>
              <a:rPr lang="vi-VN" dirty="0"/>
              <a:t>Đây là một cách khác để thực hiện các thao tác khởi tạo.</a:t>
            </a:r>
          </a:p>
          <a:p>
            <a:r>
              <a:rPr lang="vi-VN" b="1" dirty="0"/>
              <a:t>BeanPostProcessor postProcessAfterInitialization (Sau khi khởi tạo):</a:t>
            </a:r>
            <a:endParaRPr lang="vi-VN" dirty="0"/>
          </a:p>
          <a:p>
            <a:pPr>
              <a:buFont typeface="Arial" panose="020B0604020202020204" pitchFamily="34" charset="0"/>
              <a:buChar char="•"/>
            </a:pPr>
            <a:r>
              <a:rPr lang="vi-VN" dirty="0"/>
              <a:t>Method postProcessAfterInitialization() của BeanPostProcessor được gọi sau khi Bean được khởi tạo.</a:t>
            </a:r>
          </a:p>
          <a:p>
            <a:pPr>
              <a:buFont typeface="Arial" panose="020B0604020202020204" pitchFamily="34" charset="0"/>
              <a:buChar char="•"/>
            </a:pPr>
            <a:r>
              <a:rPr lang="vi-VN" dirty="0"/>
              <a:t>Đây là điểm mở rộng để tùy chỉnh Bean sau khi nó được khởi tạo.</a:t>
            </a:r>
          </a:p>
          <a:p>
            <a:r>
              <a:rPr lang="vi-VN" b="1" dirty="0"/>
              <a:t>Bean is ready to use (Bean đã sẵn sàng để sử dụng):</a:t>
            </a:r>
            <a:endParaRPr lang="vi-VN" dirty="0"/>
          </a:p>
          <a:p>
            <a:pPr>
              <a:buFont typeface="Arial" panose="020B0604020202020204" pitchFamily="34" charset="0"/>
              <a:buChar char="•"/>
            </a:pPr>
            <a:r>
              <a:rPr lang="vi-VN" dirty="0"/>
              <a:t>Bean đã được khởi tạo và sẵn sàng để được sử dụng bởi ứng dụng.</a:t>
            </a:r>
          </a:p>
          <a:p>
            <a:r>
              <a:rPr lang="vi-VN" b="1" dirty="0"/>
              <a:t>Bean is performing task (Bean đang thực hiện nhiệm vụ):</a:t>
            </a:r>
            <a:endParaRPr lang="vi-VN" dirty="0"/>
          </a:p>
          <a:p>
            <a:pPr>
              <a:buFont typeface="Arial" panose="020B0604020202020204" pitchFamily="34" charset="0"/>
              <a:buChar char="•"/>
            </a:pPr>
            <a:r>
              <a:rPr lang="vi-VN" dirty="0"/>
              <a:t>Bean thực hiện các nhiệm vụ được giao.</a:t>
            </a:r>
          </a:p>
          <a:p>
            <a:r>
              <a:rPr lang="vi-VN" b="1" dirty="0"/>
              <a:t>DisposableBean destroy():</a:t>
            </a:r>
            <a:endParaRPr lang="vi-VN" dirty="0"/>
          </a:p>
          <a:p>
            <a:pPr>
              <a:buFont typeface="Arial" panose="020B0604020202020204" pitchFamily="34" charset="0"/>
              <a:buChar char="•"/>
            </a:pPr>
            <a:r>
              <a:rPr lang="vi-VN" dirty="0"/>
              <a:t>Nếu Bean implement interface DisposableBean, method destroy() sẽ được gọi khi Bean bị hủy bỏ.</a:t>
            </a:r>
          </a:p>
          <a:p>
            <a:pPr>
              <a:buFont typeface="Arial" panose="020B0604020202020204" pitchFamily="34" charset="0"/>
              <a:buChar char="•"/>
            </a:pPr>
            <a:r>
              <a:rPr lang="vi-VN" dirty="0"/>
              <a:t>Đây là nơi để thực hiện các thao tác dọn dẹp tài nguyên (ví dụ: đóng kết nối, giải phóng bộ nhớ,...).</a:t>
            </a:r>
          </a:p>
          <a:p>
            <a:r>
              <a:rPr lang="vi-VN" b="1" dirty="0"/>
              <a:t>destroy method:</a:t>
            </a:r>
            <a:endParaRPr lang="vi-VN" dirty="0"/>
          </a:p>
          <a:p>
            <a:pPr>
              <a:buFont typeface="Arial" panose="020B0604020202020204" pitchFamily="34" charset="0"/>
              <a:buChar char="•"/>
            </a:pPr>
            <a:r>
              <a:rPr lang="vi-VN" dirty="0"/>
              <a:t>Nếu Bean được cấu hình với thuộc tính destroy-method trong file cấu hình, method được chỉ định sẽ được gọi khi Bean bị hủy bỏ.</a:t>
            </a:r>
          </a:p>
          <a:p>
            <a:pPr>
              <a:buFont typeface="Arial" panose="020B0604020202020204" pitchFamily="34" charset="0"/>
              <a:buChar char="•"/>
            </a:pPr>
            <a:r>
              <a:rPr lang="vi-VN" dirty="0"/>
              <a:t>Đây là một cách khác để thực hiện các thao tác dọn dẹp.</a:t>
            </a:r>
          </a:p>
          <a:p>
            <a:r>
              <a:rPr lang="vi-VN" b="1" dirty="0"/>
              <a:t>@PreDestroy:</a:t>
            </a:r>
            <a:endParaRPr lang="vi-VN" dirty="0"/>
          </a:p>
          <a:p>
            <a:pPr>
              <a:buFont typeface="Arial" panose="020B0604020202020204" pitchFamily="34" charset="0"/>
              <a:buChar char="•"/>
            </a:pPr>
            <a:r>
              <a:rPr lang="vi-VN" dirty="0"/>
              <a:t>Nếu Bean có annotation @PreDestroy, method được đánh dấu bởi annotation này sẽ được gọi trước khi Bean bị hủy bỏ.</a:t>
            </a:r>
          </a:p>
          <a:p>
            <a:pPr>
              <a:buFont typeface="Arial" panose="020B0604020202020204" pitchFamily="34" charset="0"/>
              <a:buChar char="•"/>
            </a:pPr>
            <a:r>
              <a:rPr lang="vi-VN" dirty="0"/>
              <a:t>Đây là một cách khác để thực hiện các thao tác dọn dẹp.</a:t>
            </a:r>
          </a:p>
          <a:p>
            <a:r>
              <a:rPr lang="vi-VN" b="1" dirty="0"/>
              <a:t>IoC container about to remove bean (IoC container chuẩn bị xóa bean):</a:t>
            </a:r>
            <a:endParaRPr lang="vi-VN" dirty="0"/>
          </a:p>
          <a:p>
            <a:pPr>
              <a:buFont typeface="Arial" panose="020B0604020202020204" pitchFamily="34" charset="0"/>
              <a:buChar char="•"/>
            </a:pPr>
            <a:r>
              <a:rPr lang="vi-VN" dirty="0"/>
              <a:t>Spring IoC container chuẩn bị xóa Bean khỏi bộ nhớ.</a:t>
            </a:r>
          </a:p>
          <a:p>
            <a:r>
              <a:rPr lang="vi-VN" b="1" dirty="0"/>
              <a:t>Garbage Collection (GC - Thu gom rác):</a:t>
            </a:r>
            <a:endParaRPr lang="vi-VN" dirty="0"/>
          </a:p>
          <a:p>
            <a:pPr>
              <a:buFont typeface="Arial" panose="020B0604020202020204" pitchFamily="34" charset="0"/>
              <a:buChar char="•"/>
            </a:pPr>
            <a:r>
              <a:rPr lang="vi-VN" dirty="0"/>
              <a:t>Java Garbage Collector (GC) sẽ thu gom Bean khi nó không còn được sử dụng nữa.</a:t>
            </a:r>
          </a:p>
          <a:p>
            <a:pPr>
              <a:buFont typeface="Arial" panose="020B0604020202020204" pitchFamily="34" charset="0"/>
              <a:buChar char="•"/>
            </a:pPr>
            <a:r>
              <a:rPr lang="vi-VN" dirty="0"/>
              <a:t>Method finalize() (nếu được định nghĩa) sẽ được gọi trước khi Bean bị GC.</a:t>
            </a:r>
          </a:p>
          <a:p>
            <a:endParaRPr lang="en-US" dirty="0"/>
          </a:p>
        </p:txBody>
      </p:sp>
    </p:spTree>
    <p:extLst>
      <p:ext uri="{BB962C8B-B14F-4D97-AF65-F5344CB8AC3E}">
        <p14:creationId xmlns:p14="http://schemas.microsoft.com/office/powerpoint/2010/main" val="3351058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E9FEC1-483B-425E-B0C1-B8B1F2119B26}"/>
              </a:ext>
            </a:extLst>
          </p:cNvPr>
          <p:cNvSpPr>
            <a:spLocks noGrp="1"/>
          </p:cNvSpPr>
          <p:nvPr>
            <p:ph type="body" sz="quarter" idx="10" hasCustomPrompt="1"/>
          </p:nvPr>
        </p:nvSpPr>
        <p:spPr>
          <a:xfrm>
            <a:off x="744135" y="2597642"/>
            <a:ext cx="12960668" cy="2633081"/>
          </a:xfrm>
          <a:prstGeom prst="rect">
            <a:avLst/>
          </a:prstGeom>
        </p:spPr>
        <p:txBody>
          <a:bodyPr/>
          <a:lstStyle>
            <a:lvl1pPr marL="0" indent="0" algn="ctr">
              <a:buNone/>
              <a:defRPr sz="5760" b="1">
                <a:solidFill>
                  <a:schemeClr val="bg1"/>
                </a:solidFill>
                <a:latin typeface="Arial" panose="020B0604020202020204" pitchFamily="34" charset="0"/>
                <a:cs typeface="Arial" panose="020B0604020202020204" pitchFamily="34" charset="0"/>
              </a:defRPr>
            </a:lvl1pPr>
          </a:lstStyle>
          <a:p>
            <a:pPr lvl="0"/>
            <a:r>
              <a:rPr lang="en-US" dirty="0"/>
              <a:t>Click to add title</a:t>
            </a:r>
          </a:p>
        </p:txBody>
      </p:sp>
      <p:sp>
        <p:nvSpPr>
          <p:cNvPr id="8" name="Text Placeholder 7">
            <a:extLst>
              <a:ext uri="{FF2B5EF4-FFF2-40B4-BE49-F238E27FC236}">
                <a16:creationId xmlns:a16="http://schemas.microsoft.com/office/drawing/2014/main" id="{33B98C62-0FD9-4624-8D35-021561432891}"/>
              </a:ext>
            </a:extLst>
          </p:cNvPr>
          <p:cNvSpPr>
            <a:spLocks noGrp="1"/>
          </p:cNvSpPr>
          <p:nvPr>
            <p:ph type="body" sz="quarter" idx="11" hasCustomPrompt="1"/>
          </p:nvPr>
        </p:nvSpPr>
        <p:spPr>
          <a:xfrm>
            <a:off x="744134" y="5320406"/>
            <a:ext cx="12960668" cy="495300"/>
          </a:xfrm>
          <a:prstGeom prst="rect">
            <a:avLst/>
          </a:prstGeom>
        </p:spPr>
        <p:txBody>
          <a:bodyPr/>
          <a:lstStyle>
            <a:lvl1pPr marL="0" indent="0" algn="ctr">
              <a:buNone/>
              <a:defRPr sz="2400">
                <a:solidFill>
                  <a:schemeClr val="bg1"/>
                </a:solidFill>
                <a:latin typeface="Arial" panose="020B0604020202020204" pitchFamily="34" charset="0"/>
                <a:cs typeface="Arial" panose="020B0604020202020204" pitchFamily="34" charset="0"/>
              </a:defRPr>
            </a:lvl1pPr>
          </a:lstStyle>
          <a:p>
            <a:pPr lvl="0"/>
            <a:r>
              <a:rPr lang="en-US" dirty="0"/>
              <a:t>Click to add sub-title</a:t>
            </a:r>
          </a:p>
        </p:txBody>
      </p:sp>
      <p:sp>
        <p:nvSpPr>
          <p:cNvPr id="9" name="Slide Number Placeholder 4">
            <a:extLst>
              <a:ext uri="{FF2B5EF4-FFF2-40B4-BE49-F238E27FC236}">
                <a16:creationId xmlns:a16="http://schemas.microsoft.com/office/drawing/2014/main" id="{5EB812CF-FC02-4C33-A206-BCF1436A39B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159907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957C91-5AD0-4461-941C-245F034364DB}"/>
              </a:ext>
            </a:extLst>
          </p:cNvPr>
          <p:cNvSpPr>
            <a:spLocks noGrp="1"/>
          </p:cNvSpPr>
          <p:nvPr>
            <p:ph type="subTitle" idx="1"/>
          </p:nvPr>
        </p:nvSpPr>
        <p:spPr>
          <a:xfrm>
            <a:off x="746999" y="1906924"/>
            <a:ext cx="13155431" cy="5486400"/>
          </a:xfrm>
        </p:spPr>
        <p:txBody>
          <a:bodyPr/>
          <a:lstStyle>
            <a:lvl1pPr marL="0" indent="0" algn="l">
              <a:lnSpc>
                <a:spcPct val="150000"/>
              </a:lnSpc>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dirty="0"/>
              <a:t>Click to edit Master subtitle style</a:t>
            </a:r>
          </a:p>
        </p:txBody>
      </p:sp>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973646" y="-13709"/>
            <a:ext cx="10656755" cy="947534"/>
          </a:xfrm>
          <a:prstGeom prst="rect">
            <a:avLst/>
          </a:prstGeom>
        </p:spPr>
        <p:txBody>
          <a:bodyPr vert="horz" lIns="109728" tIns="54864" rIns="109728" bIns="54864"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sz="3600" dirty="0"/>
          </a:p>
        </p:txBody>
      </p:sp>
      <p:sp>
        <p:nvSpPr>
          <p:cNvPr id="8" name="Slide Number Placeholder 4">
            <a:extLst>
              <a:ext uri="{FF2B5EF4-FFF2-40B4-BE49-F238E27FC236}">
                <a16:creationId xmlns:a16="http://schemas.microsoft.com/office/drawing/2014/main" id="{DBAE61E2-5E8A-4CA1-8C1E-1106F4E462E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DA09F63-7F7A-4F6B-8B0F-50384B0193BD}"/>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51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747000" y="1917577"/>
            <a:ext cx="13166084" cy="5494778"/>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4">
            <a:extLst>
              <a:ext uri="{FF2B5EF4-FFF2-40B4-BE49-F238E27FC236}">
                <a16:creationId xmlns:a16="http://schemas.microsoft.com/office/drawing/2014/main" id="{9F4D43A2-E4DB-497D-9B5D-E32D9E64BECA}"/>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22B04073-83B8-47CB-9F12-D7CD4B660F09}"/>
              </a:ext>
            </a:extLst>
          </p:cNvPr>
          <p:cNvSpPr>
            <a:spLocks noGrp="1"/>
          </p:cNvSpPr>
          <p:nvPr>
            <p:ph type="title"/>
          </p:nvPr>
        </p:nvSpPr>
        <p:spPr>
          <a:xfrm>
            <a:off x="629085" y="23152"/>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405949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747001" y="1917578"/>
            <a:ext cx="13166084" cy="5497052"/>
          </a:xfrm>
        </p:spPr>
        <p:txBody>
          <a:bodyPr/>
          <a:lstStyle>
            <a:lvl1pPr marL="0" indent="0">
              <a:lnSpc>
                <a:spcPct val="150000"/>
              </a:lnSpc>
              <a:buNone/>
              <a:defRPr sz="2880">
                <a:solidFill>
                  <a:srgbClr val="0070C0"/>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dirty="0"/>
              <a:t>Click to edit Master text styles</a:t>
            </a:r>
          </a:p>
        </p:txBody>
      </p:sp>
      <p:sp>
        <p:nvSpPr>
          <p:cNvPr id="6" name="Slide Number Placeholder 4">
            <a:extLst>
              <a:ext uri="{FF2B5EF4-FFF2-40B4-BE49-F238E27FC236}">
                <a16:creationId xmlns:a16="http://schemas.microsoft.com/office/drawing/2014/main" id="{BA76B584-4F94-4DD1-9943-77A2F3AF15C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040D9B5B-D231-4612-89E6-B4776226BA7C}"/>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107828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747000" y="1928230"/>
            <a:ext cx="6568200" cy="5484126"/>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7327130" y="1928230"/>
            <a:ext cx="6568199" cy="5484126"/>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4">
            <a:extLst>
              <a:ext uri="{FF2B5EF4-FFF2-40B4-BE49-F238E27FC236}">
                <a16:creationId xmlns:a16="http://schemas.microsoft.com/office/drawing/2014/main" id="{E6FCE726-79EE-487F-9798-E531C3475E8B}"/>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3FB126F2-FBF5-4556-AAF5-1ECB22E17B0D}"/>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041146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747000" y="1923930"/>
            <a:ext cx="6568200" cy="988694"/>
          </a:xfrm>
        </p:spPr>
        <p:txBody>
          <a:bodyPr anchor="b"/>
          <a:lstStyle>
            <a:lvl1pPr marL="0" indent="0">
              <a:lnSpc>
                <a:spcPct val="150000"/>
              </a:lnSpc>
              <a:buNone/>
              <a:defRPr sz="2880" b="1">
                <a:latin typeface="+mj-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746999" y="3014858"/>
            <a:ext cx="6568199" cy="4412737"/>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7315201" y="1923930"/>
            <a:ext cx="6568199" cy="988694"/>
          </a:xfrm>
        </p:spPr>
        <p:txBody>
          <a:bodyPr anchor="b"/>
          <a:lstStyle>
            <a:lvl1pPr marL="0" indent="0">
              <a:lnSpc>
                <a:spcPct val="150000"/>
              </a:lnSpc>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7315199" y="3014858"/>
            <a:ext cx="6568200" cy="4412737"/>
          </a:xfrm>
        </p:spPr>
        <p:txBody>
          <a:bodyPr/>
          <a:lstStyle>
            <a:lvl1pPr>
              <a:lnSpc>
                <a:spcPct val="150000"/>
              </a:lnSpc>
              <a:defRPr>
                <a:latin typeface="+mj-lt"/>
              </a:defRPr>
            </a:lvl1pPr>
            <a:lvl2pPr>
              <a:lnSpc>
                <a:spcPct val="150000"/>
              </a:lnSpc>
              <a:defRPr>
                <a:latin typeface="+mj-lt"/>
              </a:defRPr>
            </a:lvl2pPr>
            <a:lvl3pPr>
              <a:lnSpc>
                <a:spcPct val="150000"/>
              </a:lnSpc>
              <a:defRPr>
                <a:latin typeface="+mj-lt"/>
              </a:defRPr>
            </a:lvl3pPr>
            <a:lvl4pPr>
              <a:lnSpc>
                <a:spcPct val="150000"/>
              </a:lnSpc>
              <a:defRPr>
                <a:latin typeface="+mj-lt"/>
              </a:defRPr>
            </a:lvl4pPr>
            <a:lvl5pPr>
              <a:lnSpc>
                <a:spcPct val="150000"/>
              </a:lnSpc>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a:extLst>
              <a:ext uri="{FF2B5EF4-FFF2-40B4-BE49-F238E27FC236}">
                <a16:creationId xmlns:a16="http://schemas.microsoft.com/office/drawing/2014/main" id="{EDD1D7D5-B40B-4404-87A7-8074677D8997}"/>
              </a:ext>
            </a:extLst>
          </p:cNvPr>
          <p:cNvSpPr>
            <a:spLocks noGrp="1"/>
          </p:cNvSpPr>
          <p:nvPr>
            <p:ph type="sldNum" sz="quarter" idx="11"/>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11" name="Title Placeholder 1">
            <a:extLst>
              <a:ext uri="{FF2B5EF4-FFF2-40B4-BE49-F238E27FC236}">
                <a16:creationId xmlns:a16="http://schemas.microsoft.com/office/drawing/2014/main" id="{401B562F-EFD8-422F-B98E-C48C0F73AC49}"/>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3072891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7972AD-1D52-4C38-A4F1-BA8AAFF97032}"/>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7" name="Title Placeholder 1">
            <a:extLst>
              <a:ext uri="{FF2B5EF4-FFF2-40B4-BE49-F238E27FC236}">
                <a16:creationId xmlns:a16="http://schemas.microsoft.com/office/drawing/2014/main" id="{70797FE1-3F5B-4DD2-B196-B7AAF6628D62}"/>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95009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923181" y="1928230"/>
            <a:ext cx="7947173" cy="5475746"/>
          </a:xfrm>
        </p:spPr>
        <p:txBody>
          <a:bodyPr/>
          <a:lstStyle>
            <a:lvl1pPr>
              <a:defRPr sz="3840">
                <a:latin typeface="+mj-lt"/>
              </a:defRPr>
            </a:lvl1pPr>
            <a:lvl2pPr>
              <a:defRPr sz="3360">
                <a:latin typeface="+mj-lt"/>
              </a:defRPr>
            </a:lvl2pPr>
            <a:lvl3pPr>
              <a:defRPr sz="2880">
                <a:latin typeface="+mj-lt"/>
              </a:defRPr>
            </a:lvl3pPr>
            <a:lvl4pPr>
              <a:defRPr sz="2400">
                <a:latin typeface="+mj-lt"/>
              </a:defRPr>
            </a:lvl4pPr>
            <a:lvl5pPr>
              <a:defRPr sz="2400">
                <a:latin typeface="+mj-lt"/>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747000" y="1928231"/>
            <a:ext cx="4809852" cy="547574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AEEB6E2B-6FA2-4169-B497-FAE2CD95A8B1}"/>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479BEDD5-9D69-4F36-BBA7-2ED62B0AD6F3}"/>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072529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859262" y="1928230"/>
            <a:ext cx="8011092" cy="5465093"/>
          </a:xfrm>
        </p:spPr>
        <p:txBody>
          <a:bodyPr>
            <a:normAutofit/>
          </a:bodyPr>
          <a:lstStyle>
            <a:lvl1pPr marL="0" indent="0">
              <a:buNone/>
              <a:defRPr sz="336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dirty="0"/>
              <a:t>Click icon to add picture</a:t>
            </a:r>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747000" y="1928231"/>
            <a:ext cx="4779926" cy="5465093"/>
          </a:xfrm>
        </p:spPr>
        <p:txBody>
          <a:bodyPr>
            <a:normAutofit/>
          </a:bodyPr>
          <a:lstStyle>
            <a:lvl1pPr marL="0" indent="0">
              <a:buNone/>
              <a:defRPr sz="28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dirty="0"/>
              <a:t>Click to edit Master text styles</a:t>
            </a:r>
          </a:p>
        </p:txBody>
      </p:sp>
      <p:sp>
        <p:nvSpPr>
          <p:cNvPr id="7" name="Slide Number Placeholder 4">
            <a:extLst>
              <a:ext uri="{FF2B5EF4-FFF2-40B4-BE49-F238E27FC236}">
                <a16:creationId xmlns:a16="http://schemas.microsoft.com/office/drawing/2014/main" id="{722E68E5-0D29-4AF4-99F7-1F5BCDCEB05F}"/>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9" name="Title Placeholder 1">
            <a:extLst>
              <a:ext uri="{FF2B5EF4-FFF2-40B4-BE49-F238E27FC236}">
                <a16:creationId xmlns:a16="http://schemas.microsoft.com/office/drawing/2014/main" id="{7BED9312-A7F8-456D-9D54-D034D097842E}"/>
              </a:ext>
            </a:extLst>
          </p:cNvPr>
          <p:cNvSpPr>
            <a:spLocks noGrp="1"/>
          </p:cNvSpPr>
          <p:nvPr>
            <p:ph type="title"/>
          </p:nvPr>
        </p:nvSpPr>
        <p:spPr>
          <a:xfrm>
            <a:off x="629085" y="13105"/>
            <a:ext cx="10975981" cy="54864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36064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746999" y="1917578"/>
            <a:ext cx="13155431" cy="549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4">
            <a:extLst>
              <a:ext uri="{FF2B5EF4-FFF2-40B4-BE49-F238E27FC236}">
                <a16:creationId xmlns:a16="http://schemas.microsoft.com/office/drawing/2014/main" id="{93D0DE23-B8AD-4136-812D-27D46B8ADC8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
        <p:nvSpPr>
          <p:cNvPr id="8" name="Title Placeholder 1">
            <a:extLst>
              <a:ext uri="{FF2B5EF4-FFF2-40B4-BE49-F238E27FC236}">
                <a16:creationId xmlns:a16="http://schemas.microsoft.com/office/drawing/2014/main" id="{5A661BC8-CBE6-40B1-BF65-3DDC3730BEA8}"/>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2226324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746999" y="1906924"/>
            <a:ext cx="13155431" cy="55054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1">
            <a:extLst>
              <a:ext uri="{FF2B5EF4-FFF2-40B4-BE49-F238E27FC236}">
                <a16:creationId xmlns:a16="http://schemas.microsoft.com/office/drawing/2014/main" id="{AF7114A3-57EF-412A-8AEB-90C1FF86B1F4}"/>
              </a:ext>
            </a:extLst>
          </p:cNvPr>
          <p:cNvSpPr>
            <a:spLocks noGrp="1"/>
          </p:cNvSpPr>
          <p:nvPr>
            <p:ph type="title"/>
          </p:nvPr>
        </p:nvSpPr>
        <p:spPr>
          <a:xfrm>
            <a:off x="629085" y="0"/>
            <a:ext cx="10975981" cy="5486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6" name="Slide Number Placeholder 4">
            <a:extLst>
              <a:ext uri="{FF2B5EF4-FFF2-40B4-BE49-F238E27FC236}">
                <a16:creationId xmlns:a16="http://schemas.microsoft.com/office/drawing/2014/main" id="{291FBA3B-7B9C-4B9A-93C5-F00783BA10B9}"/>
              </a:ext>
            </a:extLst>
          </p:cNvPr>
          <p:cNvSpPr>
            <a:spLocks noGrp="1"/>
          </p:cNvSpPr>
          <p:nvPr>
            <p:ph type="sldNum" sz="quarter" idx="4"/>
          </p:nvPr>
        </p:nvSpPr>
        <p:spPr>
          <a:xfrm>
            <a:off x="11099750" y="762762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3378322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ext Placeholder 5">
            <a:extLst>
              <a:ext uri="{FF2B5EF4-FFF2-40B4-BE49-F238E27FC236}">
                <a16:creationId xmlns:a16="http://schemas.microsoft.com/office/drawing/2014/main" id="{81110BB5-4CAA-4D6D-B0E5-CD6E3D5444C4}"/>
              </a:ext>
            </a:extLst>
          </p:cNvPr>
          <p:cNvSpPr>
            <a:spLocks noGrp="1"/>
          </p:cNvSpPr>
          <p:nvPr>
            <p:ph type="body" sz="quarter" idx="10" hasCustomPrompt="1"/>
          </p:nvPr>
        </p:nvSpPr>
        <p:spPr>
          <a:xfrm>
            <a:off x="0" y="3123888"/>
            <a:ext cx="14630400" cy="2633081"/>
          </a:xfrm>
          <a:prstGeom prst="rect">
            <a:avLst/>
          </a:prstGeom>
        </p:spPr>
        <p:txBody>
          <a:bodyPr/>
          <a:lstStyle>
            <a:lvl1pPr marL="0" indent="0" algn="ctr">
              <a:buNone/>
              <a:defRPr sz="7200" b="1">
                <a:solidFill>
                  <a:schemeClr val="bg1"/>
                </a:solidFill>
                <a:latin typeface="Arial" panose="020B0604020202020204" pitchFamily="34" charset="0"/>
                <a:cs typeface="Arial" panose="020B0604020202020204" pitchFamily="34" charset="0"/>
              </a:defRPr>
            </a:lvl1pPr>
          </a:lstStyle>
          <a:p>
            <a:pPr lvl="0"/>
            <a:r>
              <a:rPr lang="en-US" dirty="0"/>
              <a:t>THANK YOU</a:t>
            </a:r>
          </a:p>
        </p:txBody>
      </p:sp>
      <p:sp>
        <p:nvSpPr>
          <p:cNvPr id="3" name="Slide Number Placeholder 4">
            <a:extLst>
              <a:ext uri="{FF2B5EF4-FFF2-40B4-BE49-F238E27FC236}">
                <a16:creationId xmlns:a16="http://schemas.microsoft.com/office/drawing/2014/main" id="{3B7D03F5-A2EB-443F-8808-CB92782BB9DC}"/>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97459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jp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166A51-751E-4C91-AF12-35FEA5D260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6909" y="832674"/>
            <a:ext cx="3516583" cy="1579366"/>
          </a:xfrm>
          <a:prstGeom prst="rect">
            <a:avLst/>
          </a:prstGeom>
        </p:spPr>
      </p:pic>
      <p:sp>
        <p:nvSpPr>
          <p:cNvPr id="5" name="Slide Number Placeholder 4">
            <a:extLst>
              <a:ext uri="{FF2B5EF4-FFF2-40B4-BE49-F238E27FC236}">
                <a16:creationId xmlns:a16="http://schemas.microsoft.com/office/drawing/2014/main" id="{95B40CFA-9026-435C-9897-175C51B6BE55}"/>
              </a:ext>
            </a:extLst>
          </p:cNvPr>
          <p:cNvSpPr>
            <a:spLocks noGrp="1"/>
          </p:cNvSpPr>
          <p:nvPr>
            <p:ph type="sldNum" sz="quarter" idx="4"/>
          </p:nvPr>
        </p:nvSpPr>
        <p:spPr>
          <a:xfrm>
            <a:off x="11338560" y="7773417"/>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690241652"/>
      </p:ext>
    </p:extLst>
  </p:cSld>
  <p:clrMap bg1="lt1" tx1="dk1" bg2="lt2" tx2="dk2" accent1="accent1" accent2="accent2" accent3="accent3" accent4="accent4" accent5="accent5" accent6="accent6" hlink="hlink" folHlink="folHlink"/>
  <p:sldLayoutIdLst>
    <p:sldLayoutId id="2147483661"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17655" y="28597"/>
            <a:ext cx="10975981" cy="560070"/>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747000" y="1576675"/>
            <a:ext cx="13136400" cy="58356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1278EBD5-1C90-47B8-ADFB-BF109E3CF4A6}"/>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rgbClr val="00B0F0"/>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pic>
        <p:nvPicPr>
          <p:cNvPr id="7" name="Picture 6">
            <a:extLst>
              <a:ext uri="{FF2B5EF4-FFF2-40B4-BE49-F238E27FC236}">
                <a16:creationId xmlns:a16="http://schemas.microsoft.com/office/drawing/2014/main" id="{53EC741C-2937-40DA-B5CD-6BDD68A49B8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138661" y="153680"/>
            <a:ext cx="1744740" cy="309905"/>
          </a:xfrm>
          <a:prstGeom prst="rect">
            <a:avLst/>
          </a:prstGeom>
        </p:spPr>
      </p:pic>
    </p:spTree>
    <p:extLst>
      <p:ext uri="{BB962C8B-B14F-4D97-AF65-F5344CB8AC3E}">
        <p14:creationId xmlns:p14="http://schemas.microsoft.com/office/powerpoint/2010/main" val="20165981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p:txStyles>
    <p:titleStyle>
      <a:lvl1pPr algn="l" defTabSz="1097280" rtl="0" eaLnBrk="1" latinLnBrk="0" hangingPunct="1">
        <a:lnSpc>
          <a:spcPct val="90000"/>
        </a:lnSpc>
        <a:spcBef>
          <a:spcPct val="0"/>
        </a:spcBef>
        <a:buNone/>
        <a:defRPr sz="2760" b="1" kern="1200" baseline="0">
          <a:solidFill>
            <a:schemeClr val="bg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9FC78E-716C-42DD-9A91-4572741330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5079" y="2575224"/>
            <a:ext cx="5100239" cy="486910"/>
          </a:xfrm>
          <a:prstGeom prst="rect">
            <a:avLst/>
          </a:prstGeom>
        </p:spPr>
      </p:pic>
      <p:pic>
        <p:nvPicPr>
          <p:cNvPr id="3" name="Picture 2" descr="A picture containing icon&#10;&#10;Description automatically generated">
            <a:extLst>
              <a:ext uri="{FF2B5EF4-FFF2-40B4-BE49-F238E27FC236}">
                <a16:creationId xmlns:a16="http://schemas.microsoft.com/office/drawing/2014/main" id="{7D5A94FF-61CC-4076-B3C5-90D92D651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4395" y="662825"/>
            <a:ext cx="3661606" cy="1644498"/>
          </a:xfrm>
          <a:prstGeom prst="rect">
            <a:avLst/>
          </a:prstGeom>
        </p:spPr>
      </p:pic>
      <p:sp>
        <p:nvSpPr>
          <p:cNvPr id="6" name="Slide Number Placeholder 4">
            <a:extLst>
              <a:ext uri="{FF2B5EF4-FFF2-40B4-BE49-F238E27FC236}">
                <a16:creationId xmlns:a16="http://schemas.microsoft.com/office/drawing/2014/main" id="{536F9F23-BD13-46C8-A1F1-15DBEB1CBFF4}"/>
              </a:ext>
            </a:extLst>
          </p:cNvPr>
          <p:cNvSpPr>
            <a:spLocks noGrp="1"/>
          </p:cNvSpPr>
          <p:nvPr>
            <p:ph type="sldNum" sz="quarter" idx="4"/>
          </p:nvPr>
        </p:nvSpPr>
        <p:spPr>
          <a:xfrm>
            <a:off x="11338560" y="7791451"/>
            <a:ext cx="3291840" cy="438150"/>
          </a:xfrm>
          <a:prstGeom prst="rect">
            <a:avLst/>
          </a:prstGeom>
        </p:spPr>
        <p:txBody>
          <a:bodyPr vert="horz" lIns="91440" tIns="45720" rIns="91440" bIns="45720" rtlCol="0" anchor="ctr"/>
          <a:lstStyle>
            <a:lvl1pPr algn="r">
              <a:defRPr sz="1440">
                <a:solidFill>
                  <a:schemeClr val="bg1"/>
                </a:solidFill>
                <a:latin typeface="Arial" panose="020B0604020202020204" pitchFamily="34" charset="0"/>
                <a:cs typeface="Arial" panose="020B0604020202020204" pitchFamily="34" charset="0"/>
              </a:defRPr>
            </a:lvl1pPr>
          </a:lstStyle>
          <a:p>
            <a:fld id="{31D26D55-0A22-487A-A687-61FB58A6F16A}" type="slidenum">
              <a:rPr lang="en-US" smtClean="0"/>
              <a:pPr/>
              <a:t>‹#›</a:t>
            </a:fld>
            <a:endParaRPr lang="en-US" dirty="0"/>
          </a:p>
        </p:txBody>
      </p:sp>
    </p:spTree>
    <p:extLst>
      <p:ext uri="{BB962C8B-B14F-4D97-AF65-F5344CB8AC3E}">
        <p14:creationId xmlns:p14="http://schemas.microsoft.com/office/powerpoint/2010/main" val="2556741362"/>
      </p:ext>
    </p:extLst>
  </p:cSld>
  <p:clrMap bg1="lt1" tx1="dk1" bg2="lt2" tx2="dk2" accent1="accent1" accent2="accent2" accent3="accent3" accent4="accent4" accent5="accent5" accent6="accent6" hlink="hlink" folHlink="folHlink"/>
  <p:sldLayoutIdLst>
    <p:sldLayoutId id="2147483684" r:id="rId1"/>
  </p:sldLayoutIdLst>
  <p:hf hdr="0" ft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start.spring.io/"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EACC5C-4747-42C2-9BF5-D1B4A984743F}"/>
              </a:ext>
            </a:extLst>
          </p:cNvPr>
          <p:cNvSpPr>
            <a:spLocks noGrp="1"/>
          </p:cNvSpPr>
          <p:nvPr>
            <p:ph type="body" sz="quarter" idx="10"/>
          </p:nvPr>
        </p:nvSpPr>
        <p:spPr/>
        <p:txBody>
          <a:bodyPr/>
          <a:lstStyle/>
          <a:p>
            <a:r>
              <a:rPr lang="en-US" dirty="0"/>
              <a:t>Java Spring Boot &amp; RESTful API</a:t>
            </a:r>
          </a:p>
        </p:txBody>
      </p:sp>
      <p:sp>
        <p:nvSpPr>
          <p:cNvPr id="3" name="Text Placeholder 2">
            <a:extLst>
              <a:ext uri="{FF2B5EF4-FFF2-40B4-BE49-F238E27FC236}">
                <a16:creationId xmlns:a16="http://schemas.microsoft.com/office/drawing/2014/main" id="{230F2B9A-60B9-45E8-BBFF-DC81B2A1274F}"/>
              </a:ext>
            </a:extLst>
          </p:cNvPr>
          <p:cNvSpPr>
            <a:spLocks noGrp="1"/>
          </p:cNvSpPr>
          <p:nvPr>
            <p:ph type="body"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6948CFE-703F-41E2-8287-36611713304E}"/>
              </a:ext>
            </a:extLst>
          </p:cNvPr>
          <p:cNvSpPr>
            <a:spLocks noGrp="1"/>
          </p:cNvSpPr>
          <p:nvPr>
            <p:ph type="sldNum" sz="quarter" idx="4"/>
          </p:nvPr>
        </p:nvSpPr>
        <p:spPr/>
        <p:txBody>
          <a:bodyPr/>
          <a:lstStyle/>
          <a:p>
            <a:fld id="{31D26D55-0A22-487A-A687-61FB58A6F16A}" type="slidenum">
              <a:rPr lang="en-US" smtClean="0"/>
              <a:pPr/>
              <a:t>1</a:t>
            </a:fld>
            <a:endParaRPr lang="en-US" dirty="0"/>
          </a:p>
        </p:txBody>
      </p:sp>
    </p:spTree>
    <p:extLst>
      <p:ext uri="{BB962C8B-B14F-4D97-AF65-F5344CB8AC3E}">
        <p14:creationId xmlns:p14="http://schemas.microsoft.com/office/powerpoint/2010/main" val="1253848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02DBD5-DB19-4170-8B05-C22AB4A5D8DA}"/>
              </a:ext>
            </a:extLst>
          </p:cNvPr>
          <p:cNvSpPr>
            <a:spLocks noGrp="1"/>
          </p:cNvSpPr>
          <p:nvPr>
            <p:ph idx="1"/>
          </p:nvPr>
        </p:nvSpPr>
        <p:spPr/>
        <p:txBody>
          <a:bodyPr>
            <a:normAutofit lnSpcReduction="10000"/>
          </a:bodyPr>
          <a:lstStyle/>
          <a:p>
            <a:r>
              <a:rPr lang="en-US" dirty="0"/>
              <a:t>Spring Boot is a framework that simplifies and accelerates Java application development.</a:t>
            </a:r>
          </a:p>
          <a:p>
            <a:r>
              <a:rPr lang="en-US" dirty="0"/>
              <a:t>Particularly for web applications and APIs.</a:t>
            </a:r>
          </a:p>
          <a:p>
            <a:pPr>
              <a:buFont typeface="Arial" panose="020B0604020202020204" pitchFamily="34" charset="0"/>
              <a:buChar char="•"/>
            </a:pPr>
            <a:r>
              <a:rPr lang="en-US" b="1" dirty="0"/>
              <a:t>Key features:</a:t>
            </a:r>
          </a:p>
          <a:p>
            <a:pPr lvl="1"/>
            <a:r>
              <a:rPr lang="en-US" dirty="0"/>
              <a:t>Minimal configuration.</a:t>
            </a:r>
          </a:p>
          <a:p>
            <a:pPr lvl="1"/>
            <a:r>
              <a:rPr lang="en-US" dirty="0"/>
              <a:t>Built-in integration with popular libraries.</a:t>
            </a:r>
          </a:p>
          <a:p>
            <a:pPr lvl="1"/>
            <a:r>
              <a:rPr lang="en-US" dirty="0"/>
              <a:t>Support for standalone applications (embedded server).</a:t>
            </a:r>
          </a:p>
          <a:p>
            <a:endParaRPr lang="en-US" dirty="0"/>
          </a:p>
        </p:txBody>
      </p:sp>
      <p:sp>
        <p:nvSpPr>
          <p:cNvPr id="3" name="Slide Number Placeholder 2">
            <a:extLst>
              <a:ext uri="{FF2B5EF4-FFF2-40B4-BE49-F238E27FC236}">
                <a16:creationId xmlns:a16="http://schemas.microsoft.com/office/drawing/2014/main" id="{8C65A15F-3E67-4D9F-B85F-1C335E44D1D4}"/>
              </a:ext>
            </a:extLst>
          </p:cNvPr>
          <p:cNvSpPr>
            <a:spLocks noGrp="1"/>
          </p:cNvSpPr>
          <p:nvPr>
            <p:ph type="sldNum" sz="quarter" idx="4"/>
          </p:nvPr>
        </p:nvSpPr>
        <p:spPr/>
        <p:txBody>
          <a:bodyPr/>
          <a:lstStyle/>
          <a:p>
            <a:fld id="{31D26D55-0A22-487A-A687-61FB58A6F16A}" type="slidenum">
              <a:rPr lang="en-US" smtClean="0"/>
              <a:pPr/>
              <a:t>2</a:t>
            </a:fld>
            <a:endParaRPr lang="en-US" dirty="0"/>
          </a:p>
        </p:txBody>
      </p:sp>
      <p:sp>
        <p:nvSpPr>
          <p:cNvPr id="4" name="Title 3">
            <a:extLst>
              <a:ext uri="{FF2B5EF4-FFF2-40B4-BE49-F238E27FC236}">
                <a16:creationId xmlns:a16="http://schemas.microsoft.com/office/drawing/2014/main" id="{AAECE243-1FBC-4C28-983E-3C8741420890}"/>
              </a:ext>
            </a:extLst>
          </p:cNvPr>
          <p:cNvSpPr>
            <a:spLocks noGrp="1"/>
          </p:cNvSpPr>
          <p:nvPr>
            <p:ph type="title"/>
          </p:nvPr>
        </p:nvSpPr>
        <p:spPr/>
        <p:txBody>
          <a:bodyPr/>
          <a:lstStyle/>
          <a:p>
            <a:r>
              <a:rPr lang="en-US" dirty="0"/>
              <a:t>Java Spring Boot</a:t>
            </a:r>
          </a:p>
        </p:txBody>
      </p:sp>
    </p:spTree>
    <p:extLst>
      <p:ext uri="{BB962C8B-B14F-4D97-AF65-F5344CB8AC3E}">
        <p14:creationId xmlns:p14="http://schemas.microsoft.com/office/powerpoint/2010/main" val="1128137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2157C7-894D-47FD-A187-3F846F9A2C1F}"/>
              </a:ext>
            </a:extLst>
          </p:cNvPr>
          <p:cNvSpPr>
            <a:spLocks noGrp="1"/>
          </p:cNvSpPr>
          <p:nvPr>
            <p:ph idx="1"/>
          </p:nvPr>
        </p:nvSpPr>
        <p:spPr/>
        <p:txBody>
          <a:bodyPr>
            <a:normAutofit fontScale="92500" lnSpcReduction="20000"/>
          </a:bodyPr>
          <a:lstStyle/>
          <a:p>
            <a:r>
              <a:rPr lang="en-US" dirty="0"/>
              <a:t>Main advantages:</a:t>
            </a:r>
          </a:p>
          <a:p>
            <a:pPr lvl="1"/>
            <a:r>
              <a:rPr lang="en-US" dirty="0"/>
              <a:t>Faster development process.</a:t>
            </a:r>
          </a:p>
          <a:p>
            <a:pPr lvl="1"/>
            <a:r>
              <a:rPr lang="en-US" dirty="0"/>
              <a:t>Seamless integration with external services (databases, messaging).</a:t>
            </a:r>
          </a:p>
          <a:p>
            <a:pPr lvl="1"/>
            <a:r>
              <a:rPr lang="en-US" dirty="0"/>
              <a:t>Efficient dependency management with Maven/Gradle.</a:t>
            </a:r>
          </a:p>
          <a:p>
            <a:pPr lvl="1"/>
            <a:r>
              <a:rPr lang="en-US" dirty="0"/>
              <a:t>Large community and extensive documentation.</a:t>
            </a:r>
          </a:p>
          <a:p>
            <a:r>
              <a:rPr lang="en-US" dirty="0"/>
              <a:t>Comparison with other frameworks:</a:t>
            </a:r>
          </a:p>
          <a:p>
            <a:pPr lvl="1"/>
            <a:r>
              <a:rPr lang="en-US" dirty="0"/>
              <a:t>More flexible than traditional Java frameworks (e.g., Java EE).</a:t>
            </a:r>
          </a:p>
          <a:p>
            <a:r>
              <a:rPr lang="en-US" dirty="0"/>
              <a:t>Limitation: dependencies increase the size of the application.</a:t>
            </a:r>
          </a:p>
        </p:txBody>
      </p:sp>
      <p:sp>
        <p:nvSpPr>
          <p:cNvPr id="3" name="Slide Number Placeholder 2">
            <a:extLst>
              <a:ext uri="{FF2B5EF4-FFF2-40B4-BE49-F238E27FC236}">
                <a16:creationId xmlns:a16="http://schemas.microsoft.com/office/drawing/2014/main" id="{7AC96594-1E66-45F8-A57A-A7B4EE40A52C}"/>
              </a:ext>
            </a:extLst>
          </p:cNvPr>
          <p:cNvSpPr>
            <a:spLocks noGrp="1"/>
          </p:cNvSpPr>
          <p:nvPr>
            <p:ph type="sldNum" sz="quarter" idx="4"/>
          </p:nvPr>
        </p:nvSpPr>
        <p:spPr/>
        <p:txBody>
          <a:bodyPr/>
          <a:lstStyle/>
          <a:p>
            <a:fld id="{31D26D55-0A22-487A-A687-61FB58A6F16A}" type="slidenum">
              <a:rPr lang="en-US" smtClean="0"/>
              <a:pPr/>
              <a:t>3</a:t>
            </a:fld>
            <a:endParaRPr lang="en-US" dirty="0"/>
          </a:p>
        </p:txBody>
      </p:sp>
      <p:sp>
        <p:nvSpPr>
          <p:cNvPr id="4" name="Title 3">
            <a:extLst>
              <a:ext uri="{FF2B5EF4-FFF2-40B4-BE49-F238E27FC236}">
                <a16:creationId xmlns:a16="http://schemas.microsoft.com/office/drawing/2014/main" id="{CAB47F89-A081-48D6-9601-39205A305C1A}"/>
              </a:ext>
            </a:extLst>
          </p:cNvPr>
          <p:cNvSpPr>
            <a:spLocks noGrp="1"/>
          </p:cNvSpPr>
          <p:nvPr>
            <p:ph type="title"/>
          </p:nvPr>
        </p:nvSpPr>
        <p:spPr/>
        <p:txBody>
          <a:bodyPr/>
          <a:lstStyle/>
          <a:p>
            <a:r>
              <a:rPr lang="en-US" dirty="0"/>
              <a:t>Why Spring?</a:t>
            </a:r>
          </a:p>
        </p:txBody>
      </p:sp>
    </p:spTree>
    <p:extLst>
      <p:ext uri="{BB962C8B-B14F-4D97-AF65-F5344CB8AC3E}">
        <p14:creationId xmlns:p14="http://schemas.microsoft.com/office/powerpoint/2010/main" val="2315308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A31E6F-14B8-462E-9F75-7B09D18FF53F}"/>
              </a:ext>
            </a:extLst>
          </p:cNvPr>
          <p:cNvSpPr>
            <a:spLocks noGrp="1"/>
          </p:cNvSpPr>
          <p:nvPr>
            <p:ph idx="1"/>
          </p:nvPr>
        </p:nvSpPr>
        <p:spPr>
          <a:xfrm>
            <a:off x="747000" y="1917577"/>
            <a:ext cx="6377700" cy="5494778"/>
          </a:xfrm>
        </p:spPr>
        <p:txBody>
          <a:bodyPr/>
          <a:lstStyle/>
          <a:p>
            <a:r>
              <a:rPr lang="en-US" dirty="0"/>
              <a:t>MVC:</a:t>
            </a:r>
          </a:p>
          <a:p>
            <a:pPr lvl="1"/>
            <a:r>
              <a:rPr lang="en-US" dirty="0"/>
              <a:t>Core layers: Controller (API layer).</a:t>
            </a:r>
          </a:p>
          <a:p>
            <a:pPr lvl="1"/>
            <a:r>
              <a:rPr lang="en-US" dirty="0"/>
              <a:t>Service (Business logic).</a:t>
            </a:r>
          </a:p>
          <a:p>
            <a:pPr lvl="1"/>
            <a:r>
              <a:rPr lang="en-US" dirty="0"/>
              <a:t>Repository (Data access)</a:t>
            </a:r>
          </a:p>
        </p:txBody>
      </p:sp>
      <p:sp>
        <p:nvSpPr>
          <p:cNvPr id="3" name="Slide Number Placeholder 2">
            <a:extLst>
              <a:ext uri="{FF2B5EF4-FFF2-40B4-BE49-F238E27FC236}">
                <a16:creationId xmlns:a16="http://schemas.microsoft.com/office/drawing/2014/main" id="{39F2993F-5849-4C50-A827-9B0564DB1500}"/>
              </a:ext>
            </a:extLst>
          </p:cNvPr>
          <p:cNvSpPr>
            <a:spLocks noGrp="1"/>
          </p:cNvSpPr>
          <p:nvPr>
            <p:ph type="sldNum" sz="quarter" idx="4"/>
          </p:nvPr>
        </p:nvSpPr>
        <p:spPr/>
        <p:txBody>
          <a:bodyPr/>
          <a:lstStyle/>
          <a:p>
            <a:fld id="{31D26D55-0A22-487A-A687-61FB58A6F16A}" type="slidenum">
              <a:rPr lang="en-US" smtClean="0"/>
              <a:pPr/>
              <a:t>4</a:t>
            </a:fld>
            <a:endParaRPr lang="en-US" dirty="0"/>
          </a:p>
        </p:txBody>
      </p:sp>
      <p:sp>
        <p:nvSpPr>
          <p:cNvPr id="4" name="Title 3">
            <a:extLst>
              <a:ext uri="{FF2B5EF4-FFF2-40B4-BE49-F238E27FC236}">
                <a16:creationId xmlns:a16="http://schemas.microsoft.com/office/drawing/2014/main" id="{FA322B05-F402-4BFE-8CD1-F84C71661FF1}"/>
              </a:ext>
            </a:extLst>
          </p:cNvPr>
          <p:cNvSpPr>
            <a:spLocks noGrp="1"/>
          </p:cNvSpPr>
          <p:nvPr>
            <p:ph type="title"/>
          </p:nvPr>
        </p:nvSpPr>
        <p:spPr/>
        <p:txBody>
          <a:bodyPr/>
          <a:lstStyle/>
          <a:p>
            <a:r>
              <a:rPr lang="en-US" dirty="0"/>
              <a:t>Spring Boot Architecture	</a:t>
            </a:r>
          </a:p>
        </p:txBody>
      </p:sp>
      <p:pic>
        <p:nvPicPr>
          <p:cNvPr id="2053" name="Picture 5">
            <a:extLst>
              <a:ext uri="{FF2B5EF4-FFF2-40B4-BE49-F238E27FC236}">
                <a16:creationId xmlns:a16="http://schemas.microsoft.com/office/drawing/2014/main" id="{358BB3D4-3D39-4BC2-979E-C5015B0E77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8725" y="1702311"/>
            <a:ext cx="7877175" cy="5051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115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4B59AC-26A4-4232-9437-ACFFDE972868}"/>
              </a:ext>
            </a:extLst>
          </p:cNvPr>
          <p:cNvSpPr>
            <a:spLocks noGrp="1"/>
          </p:cNvSpPr>
          <p:nvPr>
            <p:ph idx="1"/>
          </p:nvPr>
        </p:nvSpPr>
        <p:spPr/>
        <p:txBody>
          <a:bodyPr/>
          <a:lstStyle/>
          <a:p>
            <a:r>
              <a:rPr lang="en-US" b="1" dirty="0"/>
              <a:t>REST</a:t>
            </a:r>
            <a:r>
              <a:rPr lang="en-US" dirty="0"/>
              <a:t> (Representational State Transfer): An architectural style for building web services.</a:t>
            </a:r>
          </a:p>
          <a:p>
            <a:pPr>
              <a:buFont typeface="Arial" panose="020B0604020202020204" pitchFamily="34" charset="0"/>
              <a:buChar char="•"/>
            </a:pPr>
            <a:r>
              <a:rPr lang="en-US" b="1" dirty="0"/>
              <a:t>Key features:</a:t>
            </a:r>
          </a:p>
          <a:p>
            <a:pPr lvl="1"/>
            <a:r>
              <a:rPr lang="en-US" dirty="0"/>
              <a:t>Uses HTTP methods (GET, POST, PUT, DELETE).</a:t>
            </a:r>
          </a:p>
          <a:p>
            <a:pPr lvl="1"/>
            <a:r>
              <a:rPr lang="en-US" dirty="0"/>
              <a:t>Data is typically returned in JSON or XML format.</a:t>
            </a:r>
          </a:p>
          <a:p>
            <a:endParaRPr lang="en-US" dirty="0"/>
          </a:p>
        </p:txBody>
      </p:sp>
      <p:sp>
        <p:nvSpPr>
          <p:cNvPr id="3" name="Slide Number Placeholder 2">
            <a:extLst>
              <a:ext uri="{FF2B5EF4-FFF2-40B4-BE49-F238E27FC236}">
                <a16:creationId xmlns:a16="http://schemas.microsoft.com/office/drawing/2014/main" id="{D816E32C-8ACE-4B80-89CF-3B5E50F872C0}"/>
              </a:ext>
            </a:extLst>
          </p:cNvPr>
          <p:cNvSpPr>
            <a:spLocks noGrp="1"/>
          </p:cNvSpPr>
          <p:nvPr>
            <p:ph type="sldNum" sz="quarter" idx="4"/>
          </p:nvPr>
        </p:nvSpPr>
        <p:spPr/>
        <p:txBody>
          <a:bodyPr/>
          <a:lstStyle/>
          <a:p>
            <a:fld id="{31D26D55-0A22-487A-A687-61FB58A6F16A}" type="slidenum">
              <a:rPr lang="en-US" smtClean="0"/>
              <a:pPr/>
              <a:t>5</a:t>
            </a:fld>
            <a:endParaRPr lang="en-US" dirty="0"/>
          </a:p>
        </p:txBody>
      </p:sp>
      <p:sp>
        <p:nvSpPr>
          <p:cNvPr id="4" name="Title 3">
            <a:extLst>
              <a:ext uri="{FF2B5EF4-FFF2-40B4-BE49-F238E27FC236}">
                <a16:creationId xmlns:a16="http://schemas.microsoft.com/office/drawing/2014/main" id="{4F76EE78-A606-4141-9B31-2AA86CA2EBF1}"/>
              </a:ext>
            </a:extLst>
          </p:cNvPr>
          <p:cNvSpPr>
            <a:spLocks noGrp="1"/>
          </p:cNvSpPr>
          <p:nvPr>
            <p:ph type="title"/>
          </p:nvPr>
        </p:nvSpPr>
        <p:spPr/>
        <p:txBody>
          <a:bodyPr/>
          <a:lstStyle/>
          <a:p>
            <a:r>
              <a:rPr lang="en-US" dirty="0"/>
              <a:t>RESTful API</a:t>
            </a:r>
          </a:p>
        </p:txBody>
      </p:sp>
    </p:spTree>
    <p:extLst>
      <p:ext uri="{BB962C8B-B14F-4D97-AF65-F5344CB8AC3E}">
        <p14:creationId xmlns:p14="http://schemas.microsoft.com/office/powerpoint/2010/main" val="1181968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682944-9925-4CED-A922-028B1C36252B}"/>
              </a:ext>
            </a:extLst>
          </p:cNvPr>
          <p:cNvSpPr>
            <a:spLocks noGrp="1"/>
          </p:cNvSpPr>
          <p:nvPr>
            <p:ph idx="1"/>
          </p:nvPr>
        </p:nvSpPr>
        <p:spPr>
          <a:xfrm>
            <a:off x="747000" y="1068491"/>
            <a:ext cx="13166084" cy="4209214"/>
          </a:xfrm>
        </p:spPr>
        <p:txBody>
          <a:bodyPr>
            <a:normAutofit fontScale="85000" lnSpcReduction="20000"/>
          </a:bodyPr>
          <a:lstStyle/>
          <a:p>
            <a:r>
              <a:rPr lang="en-US" dirty="0"/>
              <a:t>Proper use of HTTP status codes (200 OK, 404 Not Found, 500 Internal Server Error).</a:t>
            </a:r>
          </a:p>
          <a:p>
            <a:r>
              <a:rPr lang="en-US" dirty="0"/>
              <a:t>Consistent and clear URIs.</a:t>
            </a:r>
          </a:p>
          <a:p>
            <a:r>
              <a:rPr lang="en-US" dirty="0"/>
              <a:t>Stateless: No session information stored on the server.</a:t>
            </a:r>
          </a:p>
          <a:p>
            <a:r>
              <a:rPr lang="en-US" dirty="0"/>
              <a:t>Support for JSON or XML formats.</a:t>
            </a:r>
          </a:p>
          <a:p>
            <a:r>
              <a:rPr lang="en-US" dirty="0"/>
              <a:t>HTTP methods:</a:t>
            </a:r>
          </a:p>
        </p:txBody>
      </p:sp>
      <p:sp>
        <p:nvSpPr>
          <p:cNvPr id="3" name="Slide Number Placeholder 2">
            <a:extLst>
              <a:ext uri="{FF2B5EF4-FFF2-40B4-BE49-F238E27FC236}">
                <a16:creationId xmlns:a16="http://schemas.microsoft.com/office/drawing/2014/main" id="{16783822-DAEA-4E14-A262-96484C1A83E4}"/>
              </a:ext>
            </a:extLst>
          </p:cNvPr>
          <p:cNvSpPr>
            <a:spLocks noGrp="1"/>
          </p:cNvSpPr>
          <p:nvPr>
            <p:ph type="sldNum" sz="quarter" idx="4"/>
          </p:nvPr>
        </p:nvSpPr>
        <p:spPr/>
        <p:txBody>
          <a:bodyPr/>
          <a:lstStyle/>
          <a:p>
            <a:fld id="{31D26D55-0A22-487A-A687-61FB58A6F16A}" type="slidenum">
              <a:rPr lang="en-US" smtClean="0"/>
              <a:pPr/>
              <a:t>6</a:t>
            </a:fld>
            <a:endParaRPr lang="en-US" dirty="0"/>
          </a:p>
        </p:txBody>
      </p:sp>
      <p:sp>
        <p:nvSpPr>
          <p:cNvPr id="4" name="Title 3">
            <a:extLst>
              <a:ext uri="{FF2B5EF4-FFF2-40B4-BE49-F238E27FC236}">
                <a16:creationId xmlns:a16="http://schemas.microsoft.com/office/drawing/2014/main" id="{97545EEC-8699-44BB-A3B0-E8AEF94E5646}"/>
              </a:ext>
            </a:extLst>
          </p:cNvPr>
          <p:cNvSpPr>
            <a:spLocks noGrp="1"/>
          </p:cNvSpPr>
          <p:nvPr>
            <p:ph type="title"/>
          </p:nvPr>
        </p:nvSpPr>
        <p:spPr/>
        <p:txBody>
          <a:bodyPr/>
          <a:lstStyle/>
          <a:p>
            <a:r>
              <a:rPr lang="en-US" dirty="0"/>
              <a:t>Principles of RESTful API Design</a:t>
            </a:r>
          </a:p>
        </p:txBody>
      </p:sp>
      <p:graphicFrame>
        <p:nvGraphicFramePr>
          <p:cNvPr id="6" name="Table 5">
            <a:extLst>
              <a:ext uri="{FF2B5EF4-FFF2-40B4-BE49-F238E27FC236}">
                <a16:creationId xmlns:a16="http://schemas.microsoft.com/office/drawing/2014/main" id="{C3C239BC-3BDA-420F-8C8B-812BAC25784B}"/>
              </a:ext>
            </a:extLst>
          </p:cNvPr>
          <p:cNvGraphicFramePr>
            <a:graphicFrameLocks/>
          </p:cNvGraphicFramePr>
          <p:nvPr>
            <p:extLst>
              <p:ext uri="{D42A27DB-BD31-4B8C-83A1-F6EECF244321}">
                <p14:modId xmlns:p14="http://schemas.microsoft.com/office/powerpoint/2010/main" val="3765739145"/>
              </p:ext>
            </p:extLst>
          </p:nvPr>
        </p:nvGraphicFramePr>
        <p:xfrm>
          <a:off x="732631" y="5277705"/>
          <a:ext cx="13165137" cy="2103120"/>
        </p:xfrm>
        <a:graphic>
          <a:graphicData uri="http://schemas.openxmlformats.org/drawingml/2006/table">
            <a:tbl>
              <a:tblPr firstRow="1" bandRow="1">
                <a:tableStyleId>{5C22544A-7EE6-4342-B048-85BDC9FD1C3A}</a:tableStyleId>
              </a:tblPr>
              <a:tblGrid>
                <a:gridCol w="4388379">
                  <a:extLst>
                    <a:ext uri="{9D8B030D-6E8A-4147-A177-3AD203B41FA5}">
                      <a16:colId xmlns:a16="http://schemas.microsoft.com/office/drawing/2014/main" val="3259920618"/>
                    </a:ext>
                  </a:extLst>
                </a:gridCol>
                <a:gridCol w="4388379">
                  <a:extLst>
                    <a:ext uri="{9D8B030D-6E8A-4147-A177-3AD203B41FA5}">
                      <a16:colId xmlns:a16="http://schemas.microsoft.com/office/drawing/2014/main" val="1291331547"/>
                    </a:ext>
                  </a:extLst>
                </a:gridCol>
                <a:gridCol w="4388379">
                  <a:extLst>
                    <a:ext uri="{9D8B030D-6E8A-4147-A177-3AD203B41FA5}">
                      <a16:colId xmlns:a16="http://schemas.microsoft.com/office/drawing/2014/main" val="788899799"/>
                    </a:ext>
                  </a:extLst>
                </a:gridCol>
              </a:tblGrid>
              <a:tr h="370840">
                <a:tc>
                  <a:txBody>
                    <a:bodyPr/>
                    <a:lstStyle/>
                    <a:p>
                      <a:r>
                        <a:rPr lang="en-US" dirty="0"/>
                        <a:t>HTTP Method</a:t>
                      </a:r>
                    </a:p>
                  </a:txBody>
                  <a:tcPr anchor="ctr"/>
                </a:tc>
                <a:tc>
                  <a:txBody>
                    <a:bodyPr/>
                    <a:lstStyle/>
                    <a:p>
                      <a:r>
                        <a:rPr lang="en-US" dirty="0"/>
                        <a:t>Purpose</a:t>
                      </a:r>
                    </a:p>
                  </a:txBody>
                  <a:tcPr anchor="ctr"/>
                </a:tc>
                <a:tc>
                  <a:txBody>
                    <a:bodyPr/>
                    <a:lstStyle/>
                    <a:p>
                      <a:r>
                        <a:rPr lang="en-US" dirty="0"/>
                        <a:t>Example URL</a:t>
                      </a:r>
                    </a:p>
                  </a:txBody>
                  <a:tcPr anchor="ctr"/>
                </a:tc>
                <a:extLst>
                  <a:ext uri="{0D108BD9-81ED-4DB2-BD59-A6C34878D82A}">
                    <a16:rowId xmlns:a16="http://schemas.microsoft.com/office/drawing/2014/main" val="2005917983"/>
                  </a:ext>
                </a:extLst>
              </a:tr>
              <a:tr h="370840">
                <a:tc>
                  <a:txBody>
                    <a:bodyPr/>
                    <a:lstStyle/>
                    <a:p>
                      <a:r>
                        <a:rPr lang="en-US" dirty="0"/>
                        <a:t>GET</a:t>
                      </a:r>
                    </a:p>
                  </a:txBody>
                  <a:tcPr anchor="ctr"/>
                </a:tc>
                <a:tc>
                  <a:txBody>
                    <a:bodyPr/>
                    <a:lstStyle/>
                    <a:p>
                      <a:r>
                        <a:rPr lang="en-US" dirty="0"/>
                        <a:t>Retrieve data</a:t>
                      </a:r>
                    </a:p>
                  </a:txBody>
                  <a:tcPr anchor="ctr"/>
                </a:tc>
                <a:tc>
                  <a:txBody>
                    <a:bodyPr/>
                    <a:lstStyle/>
                    <a:p>
                      <a:r>
                        <a:rPr lang="en-US" dirty="0"/>
                        <a:t>/users</a:t>
                      </a:r>
                    </a:p>
                  </a:txBody>
                  <a:tcPr anchor="ctr"/>
                </a:tc>
                <a:extLst>
                  <a:ext uri="{0D108BD9-81ED-4DB2-BD59-A6C34878D82A}">
                    <a16:rowId xmlns:a16="http://schemas.microsoft.com/office/drawing/2014/main" val="2937165882"/>
                  </a:ext>
                </a:extLst>
              </a:tr>
              <a:tr h="370840">
                <a:tc>
                  <a:txBody>
                    <a:bodyPr/>
                    <a:lstStyle/>
                    <a:p>
                      <a:r>
                        <a:rPr lang="en-US" dirty="0"/>
                        <a:t>POST</a:t>
                      </a:r>
                    </a:p>
                  </a:txBody>
                  <a:tcPr anchor="ctr"/>
                </a:tc>
                <a:tc>
                  <a:txBody>
                    <a:bodyPr/>
                    <a:lstStyle/>
                    <a:p>
                      <a:r>
                        <a:rPr lang="en-US"/>
                        <a:t>Add new data</a:t>
                      </a:r>
                    </a:p>
                  </a:txBody>
                  <a:tcPr anchor="ctr"/>
                </a:tc>
                <a:tc>
                  <a:txBody>
                    <a:bodyPr/>
                    <a:lstStyle/>
                    <a:p>
                      <a:r>
                        <a:rPr lang="en-US" dirty="0"/>
                        <a:t>/users</a:t>
                      </a:r>
                    </a:p>
                  </a:txBody>
                  <a:tcPr anchor="ctr"/>
                </a:tc>
                <a:extLst>
                  <a:ext uri="{0D108BD9-81ED-4DB2-BD59-A6C34878D82A}">
                    <a16:rowId xmlns:a16="http://schemas.microsoft.com/office/drawing/2014/main" val="2312957478"/>
                  </a:ext>
                </a:extLst>
              </a:tr>
              <a:tr h="370840">
                <a:tc>
                  <a:txBody>
                    <a:bodyPr/>
                    <a:lstStyle/>
                    <a:p>
                      <a:r>
                        <a:rPr lang="en-US" dirty="0"/>
                        <a:t>PUT</a:t>
                      </a:r>
                    </a:p>
                  </a:txBody>
                  <a:tcPr anchor="ctr"/>
                </a:tc>
                <a:tc>
                  <a:txBody>
                    <a:bodyPr/>
                    <a:lstStyle/>
                    <a:p>
                      <a:r>
                        <a:rPr lang="en-US"/>
                        <a:t>Update existing data</a:t>
                      </a:r>
                    </a:p>
                  </a:txBody>
                  <a:tcPr anchor="ctr"/>
                </a:tc>
                <a:tc>
                  <a:txBody>
                    <a:bodyPr/>
                    <a:lstStyle/>
                    <a:p>
                      <a:r>
                        <a:rPr lang="en-US" dirty="0"/>
                        <a:t>/users/{id}</a:t>
                      </a:r>
                    </a:p>
                  </a:txBody>
                  <a:tcPr anchor="ctr"/>
                </a:tc>
                <a:extLst>
                  <a:ext uri="{0D108BD9-81ED-4DB2-BD59-A6C34878D82A}">
                    <a16:rowId xmlns:a16="http://schemas.microsoft.com/office/drawing/2014/main" val="3739101899"/>
                  </a:ext>
                </a:extLst>
              </a:tr>
              <a:tr h="370840">
                <a:tc>
                  <a:txBody>
                    <a:bodyPr/>
                    <a:lstStyle/>
                    <a:p>
                      <a:r>
                        <a:rPr lang="en-US" dirty="0"/>
                        <a:t>DELETE</a:t>
                      </a:r>
                    </a:p>
                  </a:txBody>
                  <a:tcPr anchor="ctr"/>
                </a:tc>
                <a:tc>
                  <a:txBody>
                    <a:bodyPr/>
                    <a:lstStyle/>
                    <a:p>
                      <a:r>
                        <a:rPr lang="en-US" dirty="0"/>
                        <a:t>Delete data</a:t>
                      </a:r>
                    </a:p>
                  </a:txBody>
                  <a:tcPr anchor="ctr"/>
                </a:tc>
                <a:tc>
                  <a:txBody>
                    <a:bodyPr/>
                    <a:lstStyle/>
                    <a:p>
                      <a:r>
                        <a:rPr lang="en-US" dirty="0"/>
                        <a:t>/users/{id}</a:t>
                      </a:r>
                    </a:p>
                  </a:txBody>
                  <a:tcPr anchor="ctr"/>
                </a:tc>
                <a:extLst>
                  <a:ext uri="{0D108BD9-81ED-4DB2-BD59-A6C34878D82A}">
                    <a16:rowId xmlns:a16="http://schemas.microsoft.com/office/drawing/2014/main" val="3868672935"/>
                  </a:ext>
                </a:extLst>
              </a:tr>
            </a:tbl>
          </a:graphicData>
        </a:graphic>
      </p:graphicFrame>
    </p:spTree>
    <p:extLst>
      <p:ext uri="{BB962C8B-B14F-4D97-AF65-F5344CB8AC3E}">
        <p14:creationId xmlns:p14="http://schemas.microsoft.com/office/powerpoint/2010/main" val="603947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19735B-016B-462C-8B01-0AC75CA64AF1}"/>
              </a:ext>
            </a:extLst>
          </p:cNvPr>
          <p:cNvSpPr>
            <a:spLocks noGrp="1"/>
          </p:cNvSpPr>
          <p:nvPr>
            <p:ph idx="1"/>
          </p:nvPr>
        </p:nvSpPr>
        <p:spPr/>
        <p:txBody>
          <a:bodyPr/>
          <a:lstStyle/>
          <a:p>
            <a:r>
              <a:rPr lang="en-US" b="1" dirty="0"/>
              <a:t>Endpoint</a:t>
            </a:r>
            <a:r>
              <a:rPr lang="en-US" dirty="0"/>
              <a:t>: GET /</a:t>
            </a:r>
            <a:r>
              <a:rPr lang="en-US" dirty="0" err="1"/>
              <a:t>api</a:t>
            </a:r>
            <a:r>
              <a:rPr lang="en-US" dirty="0"/>
              <a:t>/users</a:t>
            </a:r>
          </a:p>
          <a:p>
            <a:r>
              <a:rPr lang="en-US" b="1" dirty="0"/>
              <a:t>Description</a:t>
            </a:r>
            <a:r>
              <a:rPr lang="en-US" dirty="0"/>
              <a:t>: Retrieve a list of all users.</a:t>
            </a:r>
          </a:p>
          <a:p>
            <a:r>
              <a:rPr lang="en-US" b="1" dirty="0"/>
              <a:t>Example Request</a:t>
            </a:r>
            <a:r>
              <a:rPr lang="en-US" dirty="0"/>
              <a:t>: GET /</a:t>
            </a:r>
            <a:r>
              <a:rPr lang="en-US" dirty="0" err="1"/>
              <a:t>api</a:t>
            </a:r>
            <a:r>
              <a:rPr lang="en-US" dirty="0"/>
              <a:t>/users</a:t>
            </a:r>
          </a:p>
          <a:p>
            <a:r>
              <a:rPr lang="en-US" b="1" dirty="0"/>
              <a:t>Example Response (200 OK)</a:t>
            </a:r>
            <a:r>
              <a:rPr lang="en-US" dirty="0"/>
              <a:t>:</a:t>
            </a:r>
          </a:p>
        </p:txBody>
      </p:sp>
      <p:sp>
        <p:nvSpPr>
          <p:cNvPr id="3" name="Slide Number Placeholder 2">
            <a:extLst>
              <a:ext uri="{FF2B5EF4-FFF2-40B4-BE49-F238E27FC236}">
                <a16:creationId xmlns:a16="http://schemas.microsoft.com/office/drawing/2014/main" id="{657B6D4C-1F6B-4FCD-B57A-DDCB4D6CEC51}"/>
              </a:ext>
            </a:extLst>
          </p:cNvPr>
          <p:cNvSpPr>
            <a:spLocks noGrp="1"/>
          </p:cNvSpPr>
          <p:nvPr>
            <p:ph type="sldNum" sz="quarter" idx="4"/>
          </p:nvPr>
        </p:nvSpPr>
        <p:spPr/>
        <p:txBody>
          <a:bodyPr/>
          <a:lstStyle/>
          <a:p>
            <a:fld id="{31D26D55-0A22-487A-A687-61FB58A6F16A}" type="slidenum">
              <a:rPr lang="en-US" smtClean="0"/>
              <a:pPr/>
              <a:t>7</a:t>
            </a:fld>
            <a:endParaRPr lang="en-US" dirty="0"/>
          </a:p>
        </p:txBody>
      </p:sp>
      <p:sp>
        <p:nvSpPr>
          <p:cNvPr id="4" name="Title 3">
            <a:extLst>
              <a:ext uri="{FF2B5EF4-FFF2-40B4-BE49-F238E27FC236}">
                <a16:creationId xmlns:a16="http://schemas.microsoft.com/office/drawing/2014/main" id="{153D744E-DC48-4A97-914E-BFEF3B3AA082}"/>
              </a:ext>
            </a:extLst>
          </p:cNvPr>
          <p:cNvSpPr>
            <a:spLocks noGrp="1"/>
          </p:cNvSpPr>
          <p:nvPr>
            <p:ph type="title"/>
          </p:nvPr>
        </p:nvSpPr>
        <p:spPr/>
        <p:txBody>
          <a:bodyPr/>
          <a:lstStyle/>
          <a:p>
            <a:r>
              <a:rPr lang="en-US" dirty="0"/>
              <a:t>RESTful API Example</a:t>
            </a:r>
          </a:p>
        </p:txBody>
      </p:sp>
      <p:pic>
        <p:nvPicPr>
          <p:cNvPr id="6" name="Picture 5">
            <a:extLst>
              <a:ext uri="{FF2B5EF4-FFF2-40B4-BE49-F238E27FC236}">
                <a16:creationId xmlns:a16="http://schemas.microsoft.com/office/drawing/2014/main" id="{55F5AA23-4F91-4081-A23E-088088772A24}"/>
              </a:ext>
            </a:extLst>
          </p:cNvPr>
          <p:cNvPicPr>
            <a:picLocks noChangeAspect="1"/>
          </p:cNvPicPr>
          <p:nvPr/>
        </p:nvPicPr>
        <p:blipFill>
          <a:blip r:embed="rId2"/>
          <a:stretch>
            <a:fillRect/>
          </a:stretch>
        </p:blipFill>
        <p:spPr>
          <a:xfrm>
            <a:off x="8017793" y="3645770"/>
            <a:ext cx="5895291" cy="4092822"/>
          </a:xfrm>
          <a:prstGeom prst="rect">
            <a:avLst/>
          </a:prstGeom>
        </p:spPr>
      </p:pic>
    </p:spTree>
    <p:extLst>
      <p:ext uri="{BB962C8B-B14F-4D97-AF65-F5344CB8AC3E}">
        <p14:creationId xmlns:p14="http://schemas.microsoft.com/office/powerpoint/2010/main" val="4030731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187A6D-463E-4CB2-B030-4DBD45D38958}"/>
              </a:ext>
            </a:extLst>
          </p:cNvPr>
          <p:cNvSpPr>
            <a:spLocks noGrp="1"/>
          </p:cNvSpPr>
          <p:nvPr>
            <p:ph idx="1"/>
          </p:nvPr>
        </p:nvSpPr>
        <p:spPr/>
        <p:txBody>
          <a:bodyPr>
            <a:normAutofit/>
          </a:bodyPr>
          <a:lstStyle/>
          <a:p>
            <a:r>
              <a:rPr lang="en-US" dirty="0"/>
              <a:t>Required tools:</a:t>
            </a:r>
          </a:p>
          <a:p>
            <a:pPr lvl="1"/>
            <a:r>
              <a:rPr lang="en-US" dirty="0"/>
              <a:t>JDK (Java Development Kit).</a:t>
            </a:r>
          </a:p>
          <a:p>
            <a:pPr lvl="1"/>
            <a:r>
              <a:rPr lang="en-US" dirty="0"/>
              <a:t>IDE (IntelliJ IDEA, Eclipse).</a:t>
            </a:r>
          </a:p>
          <a:p>
            <a:pPr lvl="1"/>
            <a:r>
              <a:rPr lang="en-US" dirty="0"/>
              <a:t>Maven or Gradle.</a:t>
            </a:r>
          </a:p>
          <a:p>
            <a:r>
              <a:rPr lang="en-US" dirty="0"/>
              <a:t>References:</a:t>
            </a:r>
          </a:p>
          <a:p>
            <a:pPr lvl="1"/>
            <a:r>
              <a:rPr lang="en-US" dirty="0"/>
              <a:t>Use Spring Initializer (</a:t>
            </a:r>
            <a:r>
              <a:rPr lang="en-US" dirty="0">
                <a:hlinkClick r:id="rId2"/>
              </a:rPr>
              <a:t>https://start.spring.io</a:t>
            </a:r>
            <a:r>
              <a:rPr lang="en-US" dirty="0"/>
              <a:t>).</a:t>
            </a:r>
          </a:p>
          <a:p>
            <a:pPr lvl="1"/>
            <a:r>
              <a:rPr lang="en-US" dirty="0"/>
              <a:t>Choose dependencies: Spring Web, Spring Data JPA, MySQL Driver.</a:t>
            </a:r>
          </a:p>
        </p:txBody>
      </p:sp>
      <p:sp>
        <p:nvSpPr>
          <p:cNvPr id="3" name="Slide Number Placeholder 2">
            <a:extLst>
              <a:ext uri="{FF2B5EF4-FFF2-40B4-BE49-F238E27FC236}">
                <a16:creationId xmlns:a16="http://schemas.microsoft.com/office/drawing/2014/main" id="{4E73F20E-1162-48FB-A221-D135F8536724}"/>
              </a:ext>
            </a:extLst>
          </p:cNvPr>
          <p:cNvSpPr>
            <a:spLocks noGrp="1"/>
          </p:cNvSpPr>
          <p:nvPr>
            <p:ph type="sldNum" sz="quarter" idx="4"/>
          </p:nvPr>
        </p:nvSpPr>
        <p:spPr/>
        <p:txBody>
          <a:bodyPr/>
          <a:lstStyle/>
          <a:p>
            <a:fld id="{31D26D55-0A22-487A-A687-61FB58A6F16A}" type="slidenum">
              <a:rPr lang="en-US" smtClean="0"/>
              <a:pPr/>
              <a:t>8</a:t>
            </a:fld>
            <a:endParaRPr lang="en-US" dirty="0"/>
          </a:p>
        </p:txBody>
      </p:sp>
      <p:sp>
        <p:nvSpPr>
          <p:cNvPr id="4" name="Title 3">
            <a:extLst>
              <a:ext uri="{FF2B5EF4-FFF2-40B4-BE49-F238E27FC236}">
                <a16:creationId xmlns:a16="http://schemas.microsoft.com/office/drawing/2014/main" id="{BD3BA2D5-A5B4-444C-B25E-148966D32109}"/>
              </a:ext>
            </a:extLst>
          </p:cNvPr>
          <p:cNvSpPr>
            <a:spLocks noGrp="1"/>
          </p:cNvSpPr>
          <p:nvPr>
            <p:ph type="title"/>
          </p:nvPr>
        </p:nvSpPr>
        <p:spPr/>
        <p:txBody>
          <a:bodyPr/>
          <a:lstStyle/>
          <a:p>
            <a:r>
              <a:rPr lang="en-US" dirty="0"/>
              <a:t>Prerequisite of Spring Boot</a:t>
            </a:r>
          </a:p>
        </p:txBody>
      </p:sp>
    </p:spTree>
    <p:extLst>
      <p:ext uri="{BB962C8B-B14F-4D97-AF65-F5344CB8AC3E}">
        <p14:creationId xmlns:p14="http://schemas.microsoft.com/office/powerpoint/2010/main" val="2654672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A25BFD-E801-42AD-A6C3-ADD6596D8F47}"/>
              </a:ext>
            </a:extLst>
          </p:cNvPr>
          <p:cNvSpPr>
            <a:spLocks noGrp="1"/>
          </p:cNvSpPr>
          <p:nvPr>
            <p:ph idx="1"/>
          </p:nvPr>
        </p:nvSpPr>
        <p:spPr/>
        <p:txBody>
          <a:bodyPr/>
          <a:lstStyle/>
          <a:p>
            <a:pPr marL="514350" indent="-514350">
              <a:buFont typeface="+mj-lt"/>
              <a:buAutoNum type="arabicPeriod"/>
            </a:pPr>
            <a:r>
              <a:rPr lang="en-US" dirty="0"/>
              <a:t>Using Simple MAVEN project in Eclipse IDE.</a:t>
            </a:r>
          </a:p>
          <a:p>
            <a:pPr marL="514350" indent="-514350">
              <a:buFont typeface="+mj-lt"/>
              <a:buAutoNum type="arabicPeriod"/>
            </a:pPr>
            <a:r>
              <a:rPr lang="en-US" dirty="0"/>
              <a:t>STS IDE (Spring Tool Suite) </a:t>
            </a:r>
          </a:p>
          <a:p>
            <a:pPr marL="514350" indent="-514350">
              <a:buFont typeface="+mj-lt"/>
              <a:buAutoNum type="arabicPeriod"/>
            </a:pPr>
            <a:r>
              <a:rPr lang="en-US" b="1" dirty="0"/>
              <a:t>Spring Boot </a:t>
            </a:r>
            <a:r>
              <a:rPr lang="en-US" b="1" dirty="0" err="1"/>
              <a:t>Initializr</a:t>
            </a:r>
            <a:r>
              <a:rPr lang="en-US" b="1" dirty="0"/>
              <a:t> </a:t>
            </a:r>
          </a:p>
          <a:p>
            <a:pPr marL="514350" indent="-514350">
              <a:buFont typeface="+mj-lt"/>
              <a:buAutoNum type="arabicPeriod"/>
            </a:pPr>
            <a:r>
              <a:rPr lang="en-US" dirty="0"/>
              <a:t>Spring Boot CLI (Command Line Interface)</a:t>
            </a:r>
          </a:p>
        </p:txBody>
      </p:sp>
      <p:sp>
        <p:nvSpPr>
          <p:cNvPr id="3" name="Slide Number Placeholder 2">
            <a:extLst>
              <a:ext uri="{FF2B5EF4-FFF2-40B4-BE49-F238E27FC236}">
                <a16:creationId xmlns:a16="http://schemas.microsoft.com/office/drawing/2014/main" id="{19D7C9F0-B0B1-4263-915A-2A31772A11FB}"/>
              </a:ext>
            </a:extLst>
          </p:cNvPr>
          <p:cNvSpPr>
            <a:spLocks noGrp="1"/>
          </p:cNvSpPr>
          <p:nvPr>
            <p:ph type="sldNum" sz="quarter" idx="4"/>
          </p:nvPr>
        </p:nvSpPr>
        <p:spPr/>
        <p:txBody>
          <a:bodyPr/>
          <a:lstStyle/>
          <a:p>
            <a:fld id="{31D26D55-0A22-487A-A687-61FB58A6F16A}" type="slidenum">
              <a:rPr lang="en-US" smtClean="0"/>
              <a:pPr/>
              <a:t>9</a:t>
            </a:fld>
            <a:endParaRPr lang="en-US" dirty="0"/>
          </a:p>
        </p:txBody>
      </p:sp>
      <p:sp>
        <p:nvSpPr>
          <p:cNvPr id="4" name="Title 3">
            <a:extLst>
              <a:ext uri="{FF2B5EF4-FFF2-40B4-BE49-F238E27FC236}">
                <a16:creationId xmlns:a16="http://schemas.microsoft.com/office/drawing/2014/main" id="{A8344E17-8972-4F75-B81E-E0B5D9FA744C}"/>
              </a:ext>
            </a:extLst>
          </p:cNvPr>
          <p:cNvSpPr>
            <a:spLocks noGrp="1"/>
          </p:cNvSpPr>
          <p:nvPr>
            <p:ph type="title"/>
          </p:nvPr>
        </p:nvSpPr>
        <p:spPr/>
        <p:txBody>
          <a:bodyPr/>
          <a:lstStyle/>
          <a:p>
            <a:r>
              <a:rPr lang="en-US" dirty="0"/>
              <a:t>Create Spring Boot Project</a:t>
            </a:r>
          </a:p>
        </p:txBody>
      </p:sp>
    </p:spTree>
    <p:extLst>
      <p:ext uri="{BB962C8B-B14F-4D97-AF65-F5344CB8AC3E}">
        <p14:creationId xmlns:p14="http://schemas.microsoft.com/office/powerpoint/2010/main" val="128518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32A2A0-3523-498E-BE05-C0B35C26E9AE}"/>
              </a:ext>
            </a:extLst>
          </p:cNvPr>
          <p:cNvSpPr>
            <a:spLocks noGrp="1"/>
          </p:cNvSpPr>
          <p:nvPr>
            <p:ph type="sldNum" sz="quarter" idx="4"/>
          </p:nvPr>
        </p:nvSpPr>
        <p:spPr/>
        <p:txBody>
          <a:bodyPr/>
          <a:lstStyle/>
          <a:p>
            <a:fld id="{31D26D55-0A22-487A-A687-61FB58A6F16A}" type="slidenum">
              <a:rPr lang="en-US" smtClean="0"/>
              <a:pPr/>
              <a:t>10</a:t>
            </a:fld>
            <a:endParaRPr lang="en-US" dirty="0"/>
          </a:p>
        </p:txBody>
      </p:sp>
      <p:sp>
        <p:nvSpPr>
          <p:cNvPr id="4" name="Title 3">
            <a:extLst>
              <a:ext uri="{FF2B5EF4-FFF2-40B4-BE49-F238E27FC236}">
                <a16:creationId xmlns:a16="http://schemas.microsoft.com/office/drawing/2014/main" id="{6092E8D5-7B82-45C8-8957-A9BA846442B2}"/>
              </a:ext>
            </a:extLst>
          </p:cNvPr>
          <p:cNvSpPr>
            <a:spLocks noGrp="1"/>
          </p:cNvSpPr>
          <p:nvPr>
            <p:ph type="title"/>
          </p:nvPr>
        </p:nvSpPr>
        <p:spPr/>
        <p:txBody>
          <a:bodyPr>
            <a:normAutofit/>
          </a:bodyPr>
          <a:lstStyle/>
          <a:p>
            <a:r>
              <a:rPr lang="en-US" b="1" dirty="0"/>
              <a:t>Spring Boot </a:t>
            </a:r>
            <a:r>
              <a:rPr lang="en-US" b="1" dirty="0" err="1"/>
              <a:t>Initializr</a:t>
            </a:r>
            <a:r>
              <a:rPr lang="en-US" b="1" dirty="0"/>
              <a:t> </a:t>
            </a:r>
            <a:endParaRPr lang="en-US" dirty="0"/>
          </a:p>
        </p:txBody>
      </p:sp>
      <p:sp>
        <p:nvSpPr>
          <p:cNvPr id="6" name="Content Placeholder 1">
            <a:extLst>
              <a:ext uri="{FF2B5EF4-FFF2-40B4-BE49-F238E27FC236}">
                <a16:creationId xmlns:a16="http://schemas.microsoft.com/office/drawing/2014/main" id="{FA59899B-D6B7-40BB-9F51-01E197E3375E}"/>
              </a:ext>
            </a:extLst>
          </p:cNvPr>
          <p:cNvSpPr txBox="1">
            <a:spLocks/>
          </p:cNvSpPr>
          <p:nvPr/>
        </p:nvSpPr>
        <p:spPr>
          <a:xfrm>
            <a:off x="747000" y="992777"/>
            <a:ext cx="6920897" cy="6419578"/>
          </a:xfrm>
          <a:prstGeom prst="rect">
            <a:avLst/>
          </a:prstGeom>
        </p:spPr>
        <p:txBody>
          <a:bodyPr vert="horz" lIns="91440" tIns="45720" rIns="91440" bIns="45720" rtlCol="0">
            <a:normAutofit fontScale="77500" lnSpcReduction="20000"/>
          </a:bodyPr>
          <a:lstStyle>
            <a:lvl1pPr marL="274320" indent="-274320" algn="l" defTabSz="1097280" rtl="0" eaLnBrk="1" latinLnBrk="0" hangingPunct="1">
              <a:lnSpc>
                <a:spcPct val="150000"/>
              </a:lnSpc>
              <a:spcBef>
                <a:spcPts val="1200"/>
              </a:spcBef>
              <a:buFont typeface="Arial" panose="020B0604020202020204" pitchFamily="34" charset="0"/>
              <a:buChar char="•"/>
              <a:defRPr sz="3360" kern="1200">
                <a:solidFill>
                  <a:schemeClr val="tx1"/>
                </a:solidFill>
                <a:latin typeface="+mj-lt"/>
                <a:ea typeface="+mn-ea"/>
                <a:cs typeface="+mn-cs"/>
              </a:defRPr>
            </a:lvl1pPr>
            <a:lvl2pPr marL="822960" indent="-274320" algn="l" defTabSz="1097280" rtl="0" eaLnBrk="1" latinLnBrk="0" hangingPunct="1">
              <a:lnSpc>
                <a:spcPct val="150000"/>
              </a:lnSpc>
              <a:spcBef>
                <a:spcPts val="600"/>
              </a:spcBef>
              <a:buFont typeface="Arial" panose="020B0604020202020204" pitchFamily="34" charset="0"/>
              <a:buChar char="•"/>
              <a:defRPr sz="2880" kern="1200">
                <a:solidFill>
                  <a:schemeClr val="tx1"/>
                </a:solidFill>
                <a:latin typeface="+mj-lt"/>
                <a:ea typeface="+mn-ea"/>
                <a:cs typeface="+mn-cs"/>
              </a:defRPr>
            </a:lvl2pPr>
            <a:lvl3pPr marL="1371600" indent="-274320" algn="l" defTabSz="1097280" rtl="0" eaLnBrk="1" latinLnBrk="0" hangingPunct="1">
              <a:lnSpc>
                <a:spcPct val="150000"/>
              </a:lnSpc>
              <a:spcBef>
                <a:spcPts val="600"/>
              </a:spcBef>
              <a:buFont typeface="Arial" panose="020B0604020202020204" pitchFamily="34" charset="0"/>
              <a:buChar char="•"/>
              <a:defRPr sz="2400" kern="1200">
                <a:solidFill>
                  <a:schemeClr val="tx1"/>
                </a:solidFill>
                <a:latin typeface="+mj-lt"/>
                <a:ea typeface="+mn-ea"/>
                <a:cs typeface="+mn-cs"/>
              </a:defRPr>
            </a:lvl3pPr>
            <a:lvl4pPr marL="1920240" indent="-274320" algn="l" defTabSz="1097280" rtl="0" eaLnBrk="1" latinLnBrk="0" hangingPunct="1">
              <a:lnSpc>
                <a:spcPct val="150000"/>
              </a:lnSpc>
              <a:spcBef>
                <a:spcPts val="600"/>
              </a:spcBef>
              <a:buFont typeface="Arial" panose="020B0604020202020204" pitchFamily="34" charset="0"/>
              <a:buChar char="•"/>
              <a:defRPr sz="2160" kern="1200">
                <a:solidFill>
                  <a:schemeClr val="tx1"/>
                </a:solidFill>
                <a:latin typeface="+mj-lt"/>
                <a:ea typeface="+mn-ea"/>
                <a:cs typeface="+mn-cs"/>
              </a:defRPr>
            </a:lvl4pPr>
            <a:lvl5pPr marL="2468880" indent="-274320" algn="l" defTabSz="1097280" rtl="0" eaLnBrk="1" latinLnBrk="0" hangingPunct="1">
              <a:lnSpc>
                <a:spcPct val="150000"/>
              </a:lnSpc>
              <a:spcBef>
                <a:spcPts val="600"/>
              </a:spcBef>
              <a:buFont typeface="Arial" panose="020B0604020202020204" pitchFamily="34" charset="0"/>
              <a:buChar char="•"/>
              <a:defRPr sz="2160" kern="1200">
                <a:solidFill>
                  <a:schemeClr val="tx1"/>
                </a:solidFill>
                <a:latin typeface="+mj-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lang="en-US" b="1" dirty="0"/>
              <a:t>P</a:t>
            </a:r>
            <a:r>
              <a:rPr lang="vi-VN" b="1" dirty="0"/>
              <a:t>roject</a:t>
            </a:r>
            <a:r>
              <a:rPr lang="vi-VN" dirty="0"/>
              <a:t>: </a:t>
            </a:r>
            <a:r>
              <a:rPr lang="en-US" dirty="0"/>
              <a:t>choose </a:t>
            </a:r>
            <a:r>
              <a:rPr lang="vi-VN" dirty="0"/>
              <a:t>package manager nào, Maven </a:t>
            </a:r>
            <a:r>
              <a:rPr lang="en-US" dirty="0"/>
              <a:t>or </a:t>
            </a:r>
            <a:r>
              <a:rPr lang="vi-VN" dirty="0"/>
              <a:t>Gradle.</a:t>
            </a:r>
          </a:p>
          <a:p>
            <a:r>
              <a:rPr lang="vi-VN" b="1" dirty="0"/>
              <a:t>Language</a:t>
            </a:r>
            <a:r>
              <a:rPr lang="vi-VN" dirty="0"/>
              <a:t>: Java</a:t>
            </a:r>
            <a:r>
              <a:rPr lang="en-US" dirty="0"/>
              <a:t>.</a:t>
            </a:r>
            <a:endParaRPr lang="vi-VN" dirty="0"/>
          </a:p>
          <a:p>
            <a:r>
              <a:rPr lang="vi-VN" b="1" dirty="0"/>
              <a:t>Spring Boot</a:t>
            </a:r>
            <a:r>
              <a:rPr lang="vi-VN" dirty="0"/>
              <a:t>: </a:t>
            </a:r>
            <a:r>
              <a:rPr lang="en-US" dirty="0"/>
              <a:t>versions, </a:t>
            </a:r>
            <a:r>
              <a:rPr lang="vi-VN" dirty="0"/>
              <a:t>SNAPSHOT </a:t>
            </a:r>
            <a:r>
              <a:rPr lang="en-US" dirty="0"/>
              <a:t>is not-recommended.</a:t>
            </a:r>
            <a:endParaRPr lang="vi-VN" dirty="0"/>
          </a:p>
          <a:p>
            <a:r>
              <a:rPr lang="en-US" b="1" dirty="0"/>
              <a:t>F</a:t>
            </a:r>
            <a:r>
              <a:rPr lang="vi-VN" b="1" dirty="0"/>
              <a:t>ile build</a:t>
            </a:r>
            <a:r>
              <a:rPr lang="vi-VN" dirty="0"/>
              <a:t>: JAR</a:t>
            </a:r>
            <a:r>
              <a:rPr lang="en-US" dirty="0"/>
              <a:t>.</a:t>
            </a:r>
            <a:endParaRPr lang="vi-VN" dirty="0"/>
          </a:p>
          <a:p>
            <a:r>
              <a:rPr lang="vi-VN" b="1" dirty="0"/>
              <a:t>Java</a:t>
            </a:r>
            <a:r>
              <a:rPr lang="vi-VN" dirty="0"/>
              <a:t>: </a:t>
            </a:r>
            <a:r>
              <a:rPr lang="en-US" dirty="0"/>
              <a:t>Java version.</a:t>
            </a:r>
          </a:p>
          <a:p>
            <a:r>
              <a:rPr lang="en-US" b="1" dirty="0"/>
              <a:t>D</a:t>
            </a:r>
            <a:r>
              <a:rPr lang="vi-VN" b="1" dirty="0"/>
              <a:t>ependency</a:t>
            </a:r>
            <a:r>
              <a:rPr lang="en-US" b="1" dirty="0"/>
              <a:t>: </a:t>
            </a:r>
            <a:r>
              <a:rPr lang="en-US" dirty="0"/>
              <a:t>add-in libraries, recommends Spring Web, Lombok, </a:t>
            </a:r>
            <a:r>
              <a:rPr lang="en-US" dirty="0" err="1"/>
              <a:t>Thymeleaf</a:t>
            </a:r>
            <a:r>
              <a:rPr lang="en-US" dirty="0"/>
              <a:t>.</a:t>
            </a:r>
          </a:p>
        </p:txBody>
      </p:sp>
      <p:pic>
        <p:nvPicPr>
          <p:cNvPr id="8196" name="Picture 4">
            <a:extLst>
              <a:ext uri="{FF2B5EF4-FFF2-40B4-BE49-F238E27FC236}">
                <a16:creationId xmlns:a16="http://schemas.microsoft.com/office/drawing/2014/main" id="{737EBB80-6259-4228-906E-B42762DE1BC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802860" y="1917700"/>
            <a:ext cx="6593780" cy="4394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240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2A2F12-4169-446C-97A2-D1639CCD472A}"/>
              </a:ext>
            </a:extLst>
          </p:cNvPr>
          <p:cNvSpPr>
            <a:spLocks noGrp="1"/>
          </p:cNvSpPr>
          <p:nvPr>
            <p:ph idx="1"/>
          </p:nvPr>
        </p:nvSpPr>
        <p:spPr>
          <a:xfrm>
            <a:off x="747000" y="1917577"/>
            <a:ext cx="9819100" cy="5494778"/>
          </a:xfrm>
        </p:spPr>
        <p:txBody>
          <a:bodyPr/>
          <a:lstStyle/>
          <a:p>
            <a:r>
              <a:rPr lang="fr-FR" b="1" dirty="0"/>
              <a:t>src/main/java</a:t>
            </a:r>
            <a:r>
              <a:rPr lang="fr-FR" dirty="0"/>
              <a:t>: </a:t>
            </a:r>
            <a:r>
              <a:rPr lang="fr-FR" dirty="0" err="1"/>
              <a:t>Contains</a:t>
            </a:r>
            <a:r>
              <a:rPr lang="fr-FR" dirty="0"/>
              <a:t> source code.</a:t>
            </a:r>
          </a:p>
          <a:p>
            <a:r>
              <a:rPr lang="fr-FR" b="1" dirty="0"/>
              <a:t>src/main/</a:t>
            </a:r>
            <a:r>
              <a:rPr lang="fr-FR" b="1" dirty="0" err="1"/>
              <a:t>resources</a:t>
            </a:r>
            <a:r>
              <a:rPr lang="fr-FR" dirty="0"/>
              <a:t>: Configuration files (</a:t>
            </a:r>
            <a:r>
              <a:rPr lang="fr-FR" dirty="0" err="1"/>
              <a:t>application.properties</a:t>
            </a:r>
            <a:r>
              <a:rPr lang="fr-FR" dirty="0"/>
              <a:t>).</a:t>
            </a:r>
            <a:endParaRPr lang="en-US" dirty="0"/>
          </a:p>
        </p:txBody>
      </p:sp>
      <p:sp>
        <p:nvSpPr>
          <p:cNvPr id="3" name="Slide Number Placeholder 2">
            <a:extLst>
              <a:ext uri="{FF2B5EF4-FFF2-40B4-BE49-F238E27FC236}">
                <a16:creationId xmlns:a16="http://schemas.microsoft.com/office/drawing/2014/main" id="{BDABFEF6-69E2-4A8E-B009-108193EE29EB}"/>
              </a:ext>
            </a:extLst>
          </p:cNvPr>
          <p:cNvSpPr>
            <a:spLocks noGrp="1"/>
          </p:cNvSpPr>
          <p:nvPr>
            <p:ph type="sldNum" sz="quarter" idx="4"/>
          </p:nvPr>
        </p:nvSpPr>
        <p:spPr/>
        <p:txBody>
          <a:bodyPr/>
          <a:lstStyle/>
          <a:p>
            <a:fld id="{31D26D55-0A22-487A-A687-61FB58A6F16A}" type="slidenum">
              <a:rPr lang="en-US" smtClean="0"/>
              <a:pPr/>
              <a:t>11</a:t>
            </a:fld>
            <a:endParaRPr lang="en-US" dirty="0"/>
          </a:p>
        </p:txBody>
      </p:sp>
      <p:sp>
        <p:nvSpPr>
          <p:cNvPr id="4" name="Title 3">
            <a:extLst>
              <a:ext uri="{FF2B5EF4-FFF2-40B4-BE49-F238E27FC236}">
                <a16:creationId xmlns:a16="http://schemas.microsoft.com/office/drawing/2014/main" id="{3CC04AD0-4592-422C-813D-E3645655BAE5}"/>
              </a:ext>
            </a:extLst>
          </p:cNvPr>
          <p:cNvSpPr>
            <a:spLocks noGrp="1"/>
          </p:cNvSpPr>
          <p:nvPr>
            <p:ph type="title"/>
          </p:nvPr>
        </p:nvSpPr>
        <p:spPr/>
        <p:txBody>
          <a:bodyPr/>
          <a:lstStyle/>
          <a:p>
            <a:r>
              <a:rPr lang="en-US" dirty="0"/>
              <a:t>Spring Boot Project Structure</a:t>
            </a:r>
          </a:p>
        </p:txBody>
      </p:sp>
      <p:pic>
        <p:nvPicPr>
          <p:cNvPr id="6149" name="Picture 5">
            <a:extLst>
              <a:ext uri="{FF2B5EF4-FFF2-40B4-BE49-F238E27FC236}">
                <a16:creationId xmlns:a16="http://schemas.microsoft.com/office/drawing/2014/main" id="{7B4E3CE1-D4D3-49E1-9BBE-304757201E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5040"/>
          <a:stretch/>
        </p:blipFill>
        <p:spPr bwMode="auto">
          <a:xfrm>
            <a:off x="10948399" y="886595"/>
            <a:ext cx="2298892" cy="6741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817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1043ED-4B2C-4921-ABC2-20589DD8F507}"/>
              </a:ext>
            </a:extLst>
          </p:cNvPr>
          <p:cNvSpPr>
            <a:spLocks noGrp="1"/>
          </p:cNvSpPr>
          <p:nvPr>
            <p:ph idx="1"/>
          </p:nvPr>
        </p:nvSpPr>
        <p:spPr/>
        <p:txBody>
          <a:bodyPr>
            <a:normAutofit fontScale="92500" lnSpcReduction="10000"/>
          </a:bodyPr>
          <a:lstStyle/>
          <a:p>
            <a:r>
              <a:rPr lang="en-US" dirty="0"/>
              <a:t>Definition:</a:t>
            </a:r>
          </a:p>
          <a:p>
            <a:pPr lvl="1"/>
            <a:r>
              <a:rPr lang="en-US" dirty="0"/>
              <a:t>An Entity represents a table in the database. </a:t>
            </a:r>
          </a:p>
          <a:p>
            <a:pPr lvl="1"/>
            <a:r>
              <a:rPr lang="en-US" dirty="0"/>
              <a:t>Each instance of the entity corresponds to a row in the table.</a:t>
            </a:r>
          </a:p>
          <a:p>
            <a:r>
              <a:rPr lang="en-US" dirty="0"/>
              <a:t>Key Features:</a:t>
            </a:r>
          </a:p>
          <a:p>
            <a:pPr lvl="1"/>
            <a:r>
              <a:rPr lang="en-US" dirty="0"/>
              <a:t>Annotated with </a:t>
            </a:r>
            <a:r>
              <a:rPr lang="en-US" b="1" dirty="0"/>
              <a:t>@Entity</a:t>
            </a:r>
            <a:r>
              <a:rPr lang="en-US" dirty="0"/>
              <a:t>.</a:t>
            </a:r>
          </a:p>
          <a:p>
            <a:pPr lvl="1"/>
            <a:r>
              <a:rPr lang="en-US" dirty="0"/>
              <a:t>Maps fields to database columns using </a:t>
            </a:r>
            <a:r>
              <a:rPr lang="en-US" b="1" dirty="0"/>
              <a:t>@Column</a:t>
            </a:r>
            <a:r>
              <a:rPr lang="en-US" dirty="0"/>
              <a:t>.</a:t>
            </a:r>
          </a:p>
          <a:p>
            <a:pPr lvl="1"/>
            <a:r>
              <a:rPr lang="en-US" dirty="0"/>
              <a:t>Typically includes </a:t>
            </a:r>
            <a:r>
              <a:rPr lang="en-US" b="1" dirty="0"/>
              <a:t>@Id</a:t>
            </a:r>
            <a:r>
              <a:rPr lang="en-US" dirty="0"/>
              <a:t> for the primary key and </a:t>
            </a:r>
            <a:r>
              <a:rPr lang="en-US" b="1" dirty="0"/>
              <a:t>@GeneratedValue</a:t>
            </a:r>
            <a:r>
              <a:rPr lang="en-US" dirty="0"/>
              <a:t> for auto-increment.</a:t>
            </a:r>
          </a:p>
        </p:txBody>
      </p:sp>
      <p:sp>
        <p:nvSpPr>
          <p:cNvPr id="3" name="Slide Number Placeholder 2">
            <a:extLst>
              <a:ext uri="{FF2B5EF4-FFF2-40B4-BE49-F238E27FC236}">
                <a16:creationId xmlns:a16="http://schemas.microsoft.com/office/drawing/2014/main" id="{2CAF7E5A-AB46-4B8C-886B-0875CCA737EC}"/>
              </a:ext>
            </a:extLst>
          </p:cNvPr>
          <p:cNvSpPr>
            <a:spLocks noGrp="1"/>
          </p:cNvSpPr>
          <p:nvPr>
            <p:ph type="sldNum" sz="quarter" idx="4"/>
          </p:nvPr>
        </p:nvSpPr>
        <p:spPr/>
        <p:txBody>
          <a:bodyPr/>
          <a:lstStyle/>
          <a:p>
            <a:fld id="{31D26D55-0A22-487A-A687-61FB58A6F16A}" type="slidenum">
              <a:rPr lang="en-US" smtClean="0"/>
              <a:pPr/>
              <a:t>12</a:t>
            </a:fld>
            <a:endParaRPr lang="en-US" dirty="0"/>
          </a:p>
        </p:txBody>
      </p:sp>
      <p:sp>
        <p:nvSpPr>
          <p:cNvPr id="4" name="Title 3">
            <a:extLst>
              <a:ext uri="{FF2B5EF4-FFF2-40B4-BE49-F238E27FC236}">
                <a16:creationId xmlns:a16="http://schemas.microsoft.com/office/drawing/2014/main" id="{C851C34B-BCAD-4CC4-8550-A729A826433B}"/>
              </a:ext>
            </a:extLst>
          </p:cNvPr>
          <p:cNvSpPr>
            <a:spLocks noGrp="1"/>
          </p:cNvSpPr>
          <p:nvPr>
            <p:ph type="title"/>
          </p:nvPr>
        </p:nvSpPr>
        <p:spPr/>
        <p:txBody>
          <a:bodyPr/>
          <a:lstStyle/>
          <a:p>
            <a:r>
              <a:rPr lang="en-US" dirty="0"/>
              <a:t>Creating a Entity</a:t>
            </a:r>
          </a:p>
        </p:txBody>
      </p:sp>
    </p:spTree>
    <p:extLst>
      <p:ext uri="{BB962C8B-B14F-4D97-AF65-F5344CB8AC3E}">
        <p14:creationId xmlns:p14="http://schemas.microsoft.com/office/powerpoint/2010/main" val="3994218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34849C5-11D7-43E5-B455-D75C45F55F15}"/>
              </a:ext>
            </a:extLst>
          </p:cNvPr>
          <p:cNvPicPr>
            <a:picLocks noGrp="1" noChangeAspect="1"/>
          </p:cNvPicPr>
          <p:nvPr>
            <p:ph idx="1"/>
          </p:nvPr>
        </p:nvPicPr>
        <p:blipFill>
          <a:blip r:embed="rId2"/>
          <a:stretch>
            <a:fillRect/>
          </a:stretch>
        </p:blipFill>
        <p:spPr>
          <a:xfrm>
            <a:off x="1293513" y="1146639"/>
            <a:ext cx="6870710" cy="6252975"/>
          </a:xfrm>
        </p:spPr>
      </p:pic>
      <p:sp>
        <p:nvSpPr>
          <p:cNvPr id="3" name="Slide Number Placeholder 2">
            <a:extLst>
              <a:ext uri="{FF2B5EF4-FFF2-40B4-BE49-F238E27FC236}">
                <a16:creationId xmlns:a16="http://schemas.microsoft.com/office/drawing/2014/main" id="{63220B93-5677-4F02-80C7-BE5FE86370BB}"/>
              </a:ext>
            </a:extLst>
          </p:cNvPr>
          <p:cNvSpPr>
            <a:spLocks noGrp="1"/>
          </p:cNvSpPr>
          <p:nvPr>
            <p:ph type="sldNum" sz="quarter" idx="4"/>
          </p:nvPr>
        </p:nvSpPr>
        <p:spPr/>
        <p:txBody>
          <a:bodyPr/>
          <a:lstStyle/>
          <a:p>
            <a:fld id="{31D26D55-0A22-487A-A687-61FB58A6F16A}" type="slidenum">
              <a:rPr lang="en-US" smtClean="0"/>
              <a:pPr/>
              <a:t>13</a:t>
            </a:fld>
            <a:endParaRPr lang="en-US" dirty="0"/>
          </a:p>
        </p:txBody>
      </p:sp>
      <p:sp>
        <p:nvSpPr>
          <p:cNvPr id="4" name="Title 3">
            <a:extLst>
              <a:ext uri="{FF2B5EF4-FFF2-40B4-BE49-F238E27FC236}">
                <a16:creationId xmlns:a16="http://schemas.microsoft.com/office/drawing/2014/main" id="{37A77F39-FC2C-49CF-BD7E-ECF2D145A68C}"/>
              </a:ext>
            </a:extLst>
          </p:cNvPr>
          <p:cNvSpPr>
            <a:spLocks noGrp="1"/>
          </p:cNvSpPr>
          <p:nvPr>
            <p:ph type="title"/>
          </p:nvPr>
        </p:nvSpPr>
        <p:spPr/>
        <p:txBody>
          <a:bodyPr/>
          <a:lstStyle/>
          <a:p>
            <a:r>
              <a:rPr lang="en-US" dirty="0"/>
              <a:t>Entity Example</a:t>
            </a:r>
          </a:p>
        </p:txBody>
      </p:sp>
      <p:pic>
        <p:nvPicPr>
          <p:cNvPr id="10" name="Picture 9">
            <a:extLst>
              <a:ext uri="{FF2B5EF4-FFF2-40B4-BE49-F238E27FC236}">
                <a16:creationId xmlns:a16="http://schemas.microsoft.com/office/drawing/2014/main" id="{B4662596-6902-40D0-A65A-2EFA965851C8}"/>
              </a:ext>
            </a:extLst>
          </p:cNvPr>
          <p:cNvPicPr>
            <a:picLocks noChangeAspect="1"/>
          </p:cNvPicPr>
          <p:nvPr/>
        </p:nvPicPr>
        <p:blipFill>
          <a:blip r:embed="rId3"/>
          <a:stretch>
            <a:fillRect/>
          </a:stretch>
        </p:blipFill>
        <p:spPr>
          <a:xfrm>
            <a:off x="9040512" y="1024647"/>
            <a:ext cx="4296375" cy="6496957"/>
          </a:xfrm>
          <a:prstGeom prst="rect">
            <a:avLst/>
          </a:prstGeom>
        </p:spPr>
      </p:pic>
    </p:spTree>
    <p:extLst>
      <p:ext uri="{BB962C8B-B14F-4D97-AF65-F5344CB8AC3E}">
        <p14:creationId xmlns:p14="http://schemas.microsoft.com/office/powerpoint/2010/main" val="59019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D3A30E-223C-4A48-914C-B97DBAE5F5AD}"/>
              </a:ext>
            </a:extLst>
          </p:cNvPr>
          <p:cNvSpPr>
            <a:spLocks noGrp="1"/>
          </p:cNvSpPr>
          <p:nvPr>
            <p:ph idx="1"/>
          </p:nvPr>
        </p:nvSpPr>
        <p:spPr/>
        <p:txBody>
          <a:bodyPr>
            <a:normAutofit/>
          </a:bodyPr>
          <a:lstStyle/>
          <a:p>
            <a:r>
              <a:rPr lang="en-US" b="1" dirty="0"/>
              <a:t>Public</a:t>
            </a:r>
            <a:r>
              <a:rPr lang="en-US" dirty="0"/>
              <a:t>: </a:t>
            </a:r>
          </a:p>
          <a:p>
            <a:pPr lvl="1"/>
            <a:r>
              <a:rPr lang="en-US" dirty="0"/>
              <a:t>exchanging or sharing with external systems via REST APIs </a:t>
            </a:r>
          </a:p>
          <a:p>
            <a:pPr lvl="1"/>
            <a:r>
              <a:rPr lang="en-US" dirty="0"/>
              <a:t>communication with other services in a microservices architecture.</a:t>
            </a:r>
          </a:p>
          <a:p>
            <a:r>
              <a:rPr lang="en-US" b="1" dirty="0"/>
              <a:t>Private</a:t>
            </a:r>
            <a:r>
              <a:rPr lang="en-US" dirty="0"/>
              <a:t>: </a:t>
            </a:r>
          </a:p>
          <a:p>
            <a:pPr lvl="1"/>
            <a:r>
              <a:rPr lang="en-US" dirty="0"/>
              <a:t>data used internally within the application, which should not be exposed to external systems. </a:t>
            </a:r>
          </a:p>
          <a:p>
            <a:pPr lvl="1"/>
            <a:r>
              <a:rPr lang="en-US" dirty="0"/>
              <a:t>This data resides within Domain models or Entities.</a:t>
            </a:r>
          </a:p>
          <a:p>
            <a:endParaRPr lang="en-US" dirty="0"/>
          </a:p>
        </p:txBody>
      </p:sp>
      <p:sp>
        <p:nvSpPr>
          <p:cNvPr id="3" name="Slide Number Placeholder 2">
            <a:extLst>
              <a:ext uri="{FF2B5EF4-FFF2-40B4-BE49-F238E27FC236}">
                <a16:creationId xmlns:a16="http://schemas.microsoft.com/office/drawing/2014/main" id="{EC37A5C3-95CF-43E3-914D-082AFF30278A}"/>
              </a:ext>
            </a:extLst>
          </p:cNvPr>
          <p:cNvSpPr>
            <a:spLocks noGrp="1"/>
          </p:cNvSpPr>
          <p:nvPr>
            <p:ph type="sldNum" sz="quarter" idx="4"/>
          </p:nvPr>
        </p:nvSpPr>
        <p:spPr/>
        <p:txBody>
          <a:bodyPr/>
          <a:lstStyle/>
          <a:p>
            <a:fld id="{31D26D55-0A22-487A-A687-61FB58A6F16A}" type="slidenum">
              <a:rPr lang="en-US" smtClean="0"/>
              <a:pPr/>
              <a:t>14</a:t>
            </a:fld>
            <a:endParaRPr lang="en-US" dirty="0"/>
          </a:p>
        </p:txBody>
      </p:sp>
      <p:sp>
        <p:nvSpPr>
          <p:cNvPr id="4" name="Title 3">
            <a:extLst>
              <a:ext uri="{FF2B5EF4-FFF2-40B4-BE49-F238E27FC236}">
                <a16:creationId xmlns:a16="http://schemas.microsoft.com/office/drawing/2014/main" id="{80928DB7-7CB1-4716-822A-F506AF5493DD}"/>
              </a:ext>
            </a:extLst>
          </p:cNvPr>
          <p:cNvSpPr>
            <a:spLocks noGrp="1"/>
          </p:cNvSpPr>
          <p:nvPr>
            <p:ph type="title"/>
          </p:nvPr>
        </p:nvSpPr>
        <p:spPr/>
        <p:txBody>
          <a:bodyPr/>
          <a:lstStyle/>
          <a:p>
            <a:r>
              <a:rPr lang="en-US" dirty="0"/>
              <a:t>Public &amp; Private</a:t>
            </a:r>
          </a:p>
        </p:txBody>
      </p:sp>
    </p:spTree>
    <p:extLst>
      <p:ext uri="{BB962C8B-B14F-4D97-AF65-F5344CB8AC3E}">
        <p14:creationId xmlns:p14="http://schemas.microsoft.com/office/powerpoint/2010/main" val="1894612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302EE2-B8E2-46D9-87BF-67093A719EFD}"/>
              </a:ext>
            </a:extLst>
          </p:cNvPr>
          <p:cNvSpPr>
            <a:spLocks noGrp="1"/>
          </p:cNvSpPr>
          <p:nvPr>
            <p:ph idx="1"/>
          </p:nvPr>
        </p:nvSpPr>
        <p:spPr/>
        <p:txBody>
          <a:bodyPr>
            <a:normAutofit fontScale="77500" lnSpcReduction="20000"/>
          </a:bodyPr>
          <a:lstStyle/>
          <a:p>
            <a:r>
              <a:rPr lang="en-US" dirty="0"/>
              <a:t>Encapsulation:</a:t>
            </a:r>
          </a:p>
          <a:p>
            <a:pPr lvl="1"/>
            <a:r>
              <a:rPr lang="en-US" dirty="0"/>
              <a:t>Fields are private to protect the data and provide controlled access.</a:t>
            </a:r>
          </a:p>
          <a:p>
            <a:pPr lvl="1"/>
            <a:r>
              <a:rPr lang="en-US" dirty="0"/>
              <a:t>Getters and setters allow controlled manipulation of the data.</a:t>
            </a:r>
          </a:p>
          <a:p>
            <a:r>
              <a:rPr lang="en-US" dirty="0"/>
              <a:t>Framework Requirements:</a:t>
            </a:r>
          </a:p>
          <a:p>
            <a:pPr lvl="1"/>
            <a:r>
              <a:rPr lang="en-US" b="1" dirty="0"/>
              <a:t>JPA and Hibernate</a:t>
            </a:r>
            <a:r>
              <a:rPr lang="en-US" dirty="0"/>
              <a:t> rely on reflection to interact with fields.</a:t>
            </a:r>
          </a:p>
          <a:p>
            <a:pPr lvl="1"/>
            <a:r>
              <a:rPr lang="en-US" dirty="0"/>
              <a:t>They often require standard getter and setter methods to access the entity’s attributes.</a:t>
            </a:r>
          </a:p>
          <a:p>
            <a:r>
              <a:rPr lang="en-US" dirty="0"/>
              <a:t>Validation or Logic:</a:t>
            </a:r>
          </a:p>
          <a:p>
            <a:pPr lvl="1"/>
            <a:r>
              <a:rPr lang="en-US" dirty="0"/>
              <a:t>Setters can be enhanced to include validation or additional logic when assigning values.</a:t>
            </a:r>
          </a:p>
          <a:p>
            <a:r>
              <a:rPr lang="en-US" dirty="0"/>
              <a:t>Automatic Getters and Setters: </a:t>
            </a:r>
            <a:r>
              <a:rPr lang="en-US" b="1" dirty="0"/>
              <a:t>Lombok</a:t>
            </a:r>
            <a:r>
              <a:rPr lang="en-US" dirty="0"/>
              <a:t> </a:t>
            </a:r>
          </a:p>
        </p:txBody>
      </p:sp>
      <p:sp>
        <p:nvSpPr>
          <p:cNvPr id="3" name="Slide Number Placeholder 2">
            <a:extLst>
              <a:ext uri="{FF2B5EF4-FFF2-40B4-BE49-F238E27FC236}">
                <a16:creationId xmlns:a16="http://schemas.microsoft.com/office/drawing/2014/main" id="{3A51EF8C-0B0C-4720-BC4A-6F260448F76F}"/>
              </a:ext>
            </a:extLst>
          </p:cNvPr>
          <p:cNvSpPr>
            <a:spLocks noGrp="1"/>
          </p:cNvSpPr>
          <p:nvPr>
            <p:ph type="sldNum" sz="quarter" idx="4"/>
          </p:nvPr>
        </p:nvSpPr>
        <p:spPr/>
        <p:txBody>
          <a:bodyPr/>
          <a:lstStyle/>
          <a:p>
            <a:fld id="{31D26D55-0A22-487A-A687-61FB58A6F16A}" type="slidenum">
              <a:rPr lang="en-US" smtClean="0"/>
              <a:pPr/>
              <a:t>15</a:t>
            </a:fld>
            <a:endParaRPr lang="en-US" dirty="0"/>
          </a:p>
        </p:txBody>
      </p:sp>
      <p:sp>
        <p:nvSpPr>
          <p:cNvPr id="4" name="Title 3">
            <a:extLst>
              <a:ext uri="{FF2B5EF4-FFF2-40B4-BE49-F238E27FC236}">
                <a16:creationId xmlns:a16="http://schemas.microsoft.com/office/drawing/2014/main" id="{47A04940-0D2D-4970-963F-F8BA7E500D22}"/>
              </a:ext>
            </a:extLst>
          </p:cNvPr>
          <p:cNvSpPr>
            <a:spLocks noGrp="1"/>
          </p:cNvSpPr>
          <p:nvPr>
            <p:ph type="title"/>
          </p:nvPr>
        </p:nvSpPr>
        <p:spPr/>
        <p:txBody>
          <a:bodyPr/>
          <a:lstStyle/>
          <a:p>
            <a:r>
              <a:rPr lang="en-US" dirty="0"/>
              <a:t>Getters &amp; Setters</a:t>
            </a:r>
          </a:p>
        </p:txBody>
      </p:sp>
    </p:spTree>
    <p:extLst>
      <p:ext uri="{BB962C8B-B14F-4D97-AF65-F5344CB8AC3E}">
        <p14:creationId xmlns:p14="http://schemas.microsoft.com/office/powerpoint/2010/main" val="2693173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07A81A-9298-4FED-84A4-5FC85F1B7EAF}"/>
              </a:ext>
            </a:extLst>
          </p:cNvPr>
          <p:cNvSpPr>
            <a:spLocks noGrp="1"/>
          </p:cNvSpPr>
          <p:nvPr>
            <p:ph idx="1"/>
          </p:nvPr>
        </p:nvSpPr>
        <p:spPr>
          <a:xfrm>
            <a:off x="747000" y="1917577"/>
            <a:ext cx="7393700" cy="5494778"/>
          </a:xfrm>
        </p:spPr>
        <p:txBody>
          <a:bodyPr/>
          <a:lstStyle/>
          <a:p>
            <a:r>
              <a:rPr lang="en-US" b="1" dirty="0"/>
              <a:t>@Getter</a:t>
            </a:r>
            <a:r>
              <a:rPr lang="en-US" dirty="0"/>
              <a:t> and </a:t>
            </a:r>
            <a:r>
              <a:rPr lang="en-US" b="1" dirty="0"/>
              <a:t>@Setter</a:t>
            </a:r>
            <a:r>
              <a:rPr lang="en-US" dirty="0"/>
              <a:t>: Automatically generate getter and setter methods.</a:t>
            </a:r>
          </a:p>
          <a:p>
            <a:r>
              <a:rPr lang="en-US" b="1" dirty="0"/>
              <a:t>@NoArgsConstructor</a:t>
            </a:r>
            <a:r>
              <a:rPr lang="en-US" dirty="0"/>
              <a:t>: Automatically generate a default constructor.</a:t>
            </a:r>
          </a:p>
        </p:txBody>
      </p:sp>
      <p:sp>
        <p:nvSpPr>
          <p:cNvPr id="3" name="Slide Number Placeholder 2">
            <a:extLst>
              <a:ext uri="{FF2B5EF4-FFF2-40B4-BE49-F238E27FC236}">
                <a16:creationId xmlns:a16="http://schemas.microsoft.com/office/drawing/2014/main" id="{6387E268-A620-467D-AFCF-F289896C1FDE}"/>
              </a:ext>
            </a:extLst>
          </p:cNvPr>
          <p:cNvSpPr>
            <a:spLocks noGrp="1"/>
          </p:cNvSpPr>
          <p:nvPr>
            <p:ph type="sldNum" sz="quarter" idx="4"/>
          </p:nvPr>
        </p:nvSpPr>
        <p:spPr/>
        <p:txBody>
          <a:bodyPr/>
          <a:lstStyle/>
          <a:p>
            <a:fld id="{31D26D55-0A22-487A-A687-61FB58A6F16A}" type="slidenum">
              <a:rPr lang="en-US" smtClean="0"/>
              <a:pPr/>
              <a:t>16</a:t>
            </a:fld>
            <a:endParaRPr lang="en-US" dirty="0"/>
          </a:p>
        </p:txBody>
      </p:sp>
      <p:sp>
        <p:nvSpPr>
          <p:cNvPr id="4" name="Title 3">
            <a:extLst>
              <a:ext uri="{FF2B5EF4-FFF2-40B4-BE49-F238E27FC236}">
                <a16:creationId xmlns:a16="http://schemas.microsoft.com/office/drawing/2014/main" id="{5CD7A139-C025-41D8-B6D6-AD1127195647}"/>
              </a:ext>
            </a:extLst>
          </p:cNvPr>
          <p:cNvSpPr>
            <a:spLocks noGrp="1"/>
          </p:cNvSpPr>
          <p:nvPr>
            <p:ph type="title"/>
          </p:nvPr>
        </p:nvSpPr>
        <p:spPr/>
        <p:txBody>
          <a:bodyPr/>
          <a:lstStyle/>
          <a:p>
            <a:r>
              <a:rPr lang="en-US" dirty="0"/>
              <a:t>Entity with Lombok</a:t>
            </a:r>
          </a:p>
        </p:txBody>
      </p:sp>
      <p:pic>
        <p:nvPicPr>
          <p:cNvPr id="13" name="Picture 12">
            <a:extLst>
              <a:ext uri="{FF2B5EF4-FFF2-40B4-BE49-F238E27FC236}">
                <a16:creationId xmlns:a16="http://schemas.microsoft.com/office/drawing/2014/main" id="{5EB859C8-6EF4-4D2C-969E-4B9F8D06F0B1}"/>
              </a:ext>
            </a:extLst>
          </p:cNvPr>
          <p:cNvPicPr>
            <a:picLocks noChangeAspect="1"/>
          </p:cNvPicPr>
          <p:nvPr/>
        </p:nvPicPr>
        <p:blipFill>
          <a:blip r:embed="rId3"/>
          <a:stretch>
            <a:fillRect/>
          </a:stretch>
        </p:blipFill>
        <p:spPr>
          <a:xfrm>
            <a:off x="8052406" y="1457538"/>
            <a:ext cx="6094685" cy="6170083"/>
          </a:xfrm>
          <a:prstGeom prst="rect">
            <a:avLst/>
          </a:prstGeom>
        </p:spPr>
      </p:pic>
    </p:spTree>
    <p:extLst>
      <p:ext uri="{BB962C8B-B14F-4D97-AF65-F5344CB8AC3E}">
        <p14:creationId xmlns:p14="http://schemas.microsoft.com/office/powerpoint/2010/main" val="2078357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63BA2C-1024-478C-8E67-5D96D27E46B8}"/>
              </a:ext>
            </a:extLst>
          </p:cNvPr>
          <p:cNvSpPr>
            <a:spLocks noGrp="1"/>
          </p:cNvSpPr>
          <p:nvPr>
            <p:ph idx="1"/>
          </p:nvPr>
        </p:nvSpPr>
        <p:spPr/>
        <p:txBody>
          <a:bodyPr>
            <a:normAutofit fontScale="85000" lnSpcReduction="10000"/>
          </a:bodyPr>
          <a:lstStyle/>
          <a:p>
            <a:r>
              <a:rPr lang="en-US" dirty="0"/>
              <a:t>Definition:</a:t>
            </a:r>
          </a:p>
          <a:p>
            <a:pPr lvl="1"/>
            <a:r>
              <a:rPr lang="en-US" dirty="0"/>
              <a:t>A Repository is an interface that provides CRUD operations for entities. It communicates with the database.</a:t>
            </a:r>
          </a:p>
          <a:p>
            <a:pPr lvl="1"/>
            <a:r>
              <a:rPr lang="en-US" dirty="0"/>
              <a:t>Typically extends </a:t>
            </a:r>
            <a:r>
              <a:rPr lang="en-US" b="1" dirty="0" err="1"/>
              <a:t>JpaRepository</a:t>
            </a:r>
            <a:r>
              <a:rPr lang="en-US" dirty="0"/>
              <a:t>, </a:t>
            </a:r>
            <a:r>
              <a:rPr lang="en-US" b="1" dirty="0" err="1"/>
              <a:t>CrudRepository</a:t>
            </a:r>
            <a:r>
              <a:rPr lang="en-US" dirty="0"/>
              <a:t>, or </a:t>
            </a:r>
            <a:r>
              <a:rPr lang="en-US" b="1" dirty="0" err="1"/>
              <a:t>PagingAndSortingRepository</a:t>
            </a:r>
            <a:r>
              <a:rPr lang="en-US" dirty="0"/>
              <a:t>.</a:t>
            </a:r>
          </a:p>
          <a:p>
            <a:r>
              <a:rPr lang="en-US" dirty="0"/>
              <a:t>Key Features:</a:t>
            </a:r>
          </a:p>
          <a:p>
            <a:pPr lvl="1"/>
            <a:r>
              <a:rPr lang="en-US" dirty="0"/>
              <a:t>Annotated with </a:t>
            </a:r>
            <a:r>
              <a:rPr lang="en-US" b="1" dirty="0"/>
              <a:t>@Repository</a:t>
            </a:r>
            <a:r>
              <a:rPr lang="en-US" dirty="0"/>
              <a:t> (optional for Spring Data).</a:t>
            </a:r>
          </a:p>
          <a:p>
            <a:pPr lvl="1"/>
            <a:r>
              <a:rPr lang="en-US" dirty="0"/>
              <a:t>Offers pre-defined methods like </a:t>
            </a:r>
            <a:r>
              <a:rPr lang="en-US" b="1" dirty="0" err="1"/>
              <a:t>findAll</a:t>
            </a:r>
            <a:r>
              <a:rPr lang="en-US" b="1" dirty="0"/>
              <a:t>()</a:t>
            </a:r>
            <a:r>
              <a:rPr lang="en-US" dirty="0"/>
              <a:t>, </a:t>
            </a:r>
            <a:r>
              <a:rPr lang="en-US" b="1" dirty="0"/>
              <a:t>save()</a:t>
            </a:r>
            <a:r>
              <a:rPr lang="en-US" dirty="0"/>
              <a:t>, </a:t>
            </a:r>
            <a:r>
              <a:rPr lang="en-US" b="1" dirty="0" err="1"/>
              <a:t>deleteById</a:t>
            </a:r>
            <a:r>
              <a:rPr lang="en-US" b="1" dirty="0"/>
              <a:t>()</a:t>
            </a:r>
            <a:r>
              <a:rPr lang="en-US" dirty="0"/>
              <a:t>.</a:t>
            </a:r>
          </a:p>
          <a:p>
            <a:pPr lvl="1"/>
            <a:r>
              <a:rPr lang="en-US" dirty="0"/>
              <a:t>Supports custom queries via method names or </a:t>
            </a:r>
            <a:r>
              <a:rPr lang="en-US" b="1" dirty="0"/>
              <a:t>@Query</a:t>
            </a:r>
            <a:r>
              <a:rPr lang="en-US" dirty="0"/>
              <a:t>.</a:t>
            </a:r>
          </a:p>
        </p:txBody>
      </p:sp>
      <p:sp>
        <p:nvSpPr>
          <p:cNvPr id="3" name="Slide Number Placeholder 2">
            <a:extLst>
              <a:ext uri="{FF2B5EF4-FFF2-40B4-BE49-F238E27FC236}">
                <a16:creationId xmlns:a16="http://schemas.microsoft.com/office/drawing/2014/main" id="{7A805E79-9B88-41B6-98CB-756E0F17CB05}"/>
              </a:ext>
            </a:extLst>
          </p:cNvPr>
          <p:cNvSpPr>
            <a:spLocks noGrp="1"/>
          </p:cNvSpPr>
          <p:nvPr>
            <p:ph type="sldNum" sz="quarter" idx="4"/>
          </p:nvPr>
        </p:nvSpPr>
        <p:spPr/>
        <p:txBody>
          <a:bodyPr/>
          <a:lstStyle/>
          <a:p>
            <a:fld id="{31D26D55-0A22-487A-A687-61FB58A6F16A}" type="slidenum">
              <a:rPr lang="en-US" smtClean="0"/>
              <a:pPr/>
              <a:t>17</a:t>
            </a:fld>
            <a:endParaRPr lang="en-US" dirty="0"/>
          </a:p>
        </p:txBody>
      </p:sp>
      <p:sp>
        <p:nvSpPr>
          <p:cNvPr id="4" name="Title 3">
            <a:extLst>
              <a:ext uri="{FF2B5EF4-FFF2-40B4-BE49-F238E27FC236}">
                <a16:creationId xmlns:a16="http://schemas.microsoft.com/office/drawing/2014/main" id="{1CB25A32-B621-48C6-828A-B91D3C956892}"/>
              </a:ext>
            </a:extLst>
          </p:cNvPr>
          <p:cNvSpPr>
            <a:spLocks noGrp="1"/>
          </p:cNvSpPr>
          <p:nvPr>
            <p:ph type="title"/>
          </p:nvPr>
        </p:nvSpPr>
        <p:spPr/>
        <p:txBody>
          <a:bodyPr/>
          <a:lstStyle/>
          <a:p>
            <a:r>
              <a:rPr lang="en-US" dirty="0"/>
              <a:t>Creating a Repository</a:t>
            </a:r>
          </a:p>
        </p:txBody>
      </p:sp>
    </p:spTree>
    <p:extLst>
      <p:ext uri="{BB962C8B-B14F-4D97-AF65-F5344CB8AC3E}">
        <p14:creationId xmlns:p14="http://schemas.microsoft.com/office/powerpoint/2010/main" val="2366127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9EB9DE9-912D-4A0E-BF95-2ECFDF429DF1}"/>
              </a:ext>
            </a:extLst>
          </p:cNvPr>
          <p:cNvPicPr>
            <a:picLocks noGrp="1" noChangeAspect="1"/>
          </p:cNvPicPr>
          <p:nvPr>
            <p:ph idx="1"/>
          </p:nvPr>
        </p:nvPicPr>
        <p:blipFill>
          <a:blip r:embed="rId2"/>
          <a:stretch>
            <a:fillRect/>
          </a:stretch>
        </p:blipFill>
        <p:spPr>
          <a:xfrm>
            <a:off x="1035462" y="2408584"/>
            <a:ext cx="12908871" cy="3412432"/>
          </a:xfrm>
        </p:spPr>
      </p:pic>
      <p:sp>
        <p:nvSpPr>
          <p:cNvPr id="3" name="Slide Number Placeholder 2">
            <a:extLst>
              <a:ext uri="{FF2B5EF4-FFF2-40B4-BE49-F238E27FC236}">
                <a16:creationId xmlns:a16="http://schemas.microsoft.com/office/drawing/2014/main" id="{34BFE2E4-AE08-4577-A917-BB623080B900}"/>
              </a:ext>
            </a:extLst>
          </p:cNvPr>
          <p:cNvSpPr>
            <a:spLocks noGrp="1"/>
          </p:cNvSpPr>
          <p:nvPr>
            <p:ph type="sldNum" sz="quarter" idx="4"/>
          </p:nvPr>
        </p:nvSpPr>
        <p:spPr/>
        <p:txBody>
          <a:bodyPr/>
          <a:lstStyle/>
          <a:p>
            <a:fld id="{31D26D55-0A22-487A-A687-61FB58A6F16A}" type="slidenum">
              <a:rPr lang="en-US" smtClean="0"/>
              <a:pPr/>
              <a:t>18</a:t>
            </a:fld>
            <a:endParaRPr lang="en-US" dirty="0"/>
          </a:p>
        </p:txBody>
      </p:sp>
      <p:sp>
        <p:nvSpPr>
          <p:cNvPr id="4" name="Title 3">
            <a:extLst>
              <a:ext uri="{FF2B5EF4-FFF2-40B4-BE49-F238E27FC236}">
                <a16:creationId xmlns:a16="http://schemas.microsoft.com/office/drawing/2014/main" id="{BD59A93B-370A-4D37-9BF5-1F6E2A6C0AEA}"/>
              </a:ext>
            </a:extLst>
          </p:cNvPr>
          <p:cNvSpPr>
            <a:spLocks noGrp="1"/>
          </p:cNvSpPr>
          <p:nvPr>
            <p:ph type="title"/>
          </p:nvPr>
        </p:nvSpPr>
        <p:spPr/>
        <p:txBody>
          <a:bodyPr/>
          <a:lstStyle/>
          <a:p>
            <a:r>
              <a:rPr lang="en-US" dirty="0"/>
              <a:t>Repository Example</a:t>
            </a:r>
          </a:p>
        </p:txBody>
      </p:sp>
    </p:spTree>
    <p:extLst>
      <p:ext uri="{BB962C8B-B14F-4D97-AF65-F5344CB8AC3E}">
        <p14:creationId xmlns:p14="http://schemas.microsoft.com/office/powerpoint/2010/main" val="744675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690461-A94F-4129-A3D7-05B8B340EE66}"/>
              </a:ext>
            </a:extLst>
          </p:cNvPr>
          <p:cNvSpPr>
            <a:spLocks noGrp="1"/>
          </p:cNvSpPr>
          <p:nvPr>
            <p:ph idx="1"/>
          </p:nvPr>
        </p:nvSpPr>
        <p:spPr/>
        <p:txBody>
          <a:bodyPr/>
          <a:lstStyle/>
          <a:p>
            <a:r>
              <a:rPr lang="en-US" dirty="0"/>
              <a:t>Definition: A Service contains the business logic of the application. It acts as a bridge between the controller and the repository.</a:t>
            </a:r>
          </a:p>
          <a:p>
            <a:r>
              <a:rPr lang="en-US" dirty="0"/>
              <a:t>Key Features:</a:t>
            </a:r>
          </a:p>
          <a:p>
            <a:pPr lvl="1"/>
            <a:r>
              <a:rPr lang="en-US" dirty="0"/>
              <a:t>Annotated with </a:t>
            </a:r>
            <a:r>
              <a:rPr lang="en-US" b="1" dirty="0"/>
              <a:t>@Service</a:t>
            </a:r>
            <a:r>
              <a:rPr lang="en-US" dirty="0"/>
              <a:t>.</a:t>
            </a:r>
          </a:p>
          <a:p>
            <a:pPr lvl="1"/>
            <a:r>
              <a:rPr lang="en-US" dirty="0"/>
              <a:t>Calls the repository to perform database operations.</a:t>
            </a:r>
          </a:p>
          <a:p>
            <a:pPr lvl="1"/>
            <a:r>
              <a:rPr lang="en-US" dirty="0"/>
              <a:t>Encapsulates business logic to keep controllers simple.</a:t>
            </a:r>
          </a:p>
        </p:txBody>
      </p:sp>
      <p:sp>
        <p:nvSpPr>
          <p:cNvPr id="3" name="Slide Number Placeholder 2">
            <a:extLst>
              <a:ext uri="{FF2B5EF4-FFF2-40B4-BE49-F238E27FC236}">
                <a16:creationId xmlns:a16="http://schemas.microsoft.com/office/drawing/2014/main" id="{E924FF85-C86C-4F92-B987-D2920CFF4563}"/>
              </a:ext>
            </a:extLst>
          </p:cNvPr>
          <p:cNvSpPr>
            <a:spLocks noGrp="1"/>
          </p:cNvSpPr>
          <p:nvPr>
            <p:ph type="sldNum" sz="quarter" idx="4"/>
          </p:nvPr>
        </p:nvSpPr>
        <p:spPr/>
        <p:txBody>
          <a:bodyPr/>
          <a:lstStyle/>
          <a:p>
            <a:fld id="{31D26D55-0A22-487A-A687-61FB58A6F16A}" type="slidenum">
              <a:rPr lang="en-US" smtClean="0"/>
              <a:pPr/>
              <a:t>19</a:t>
            </a:fld>
            <a:endParaRPr lang="en-US" dirty="0"/>
          </a:p>
        </p:txBody>
      </p:sp>
      <p:sp>
        <p:nvSpPr>
          <p:cNvPr id="4" name="Title 3">
            <a:extLst>
              <a:ext uri="{FF2B5EF4-FFF2-40B4-BE49-F238E27FC236}">
                <a16:creationId xmlns:a16="http://schemas.microsoft.com/office/drawing/2014/main" id="{FD246F47-2E6D-413F-B1BB-120FEAAED08B}"/>
              </a:ext>
            </a:extLst>
          </p:cNvPr>
          <p:cNvSpPr>
            <a:spLocks noGrp="1"/>
          </p:cNvSpPr>
          <p:nvPr>
            <p:ph type="title"/>
          </p:nvPr>
        </p:nvSpPr>
        <p:spPr/>
        <p:txBody>
          <a:bodyPr/>
          <a:lstStyle/>
          <a:p>
            <a:r>
              <a:rPr lang="en-US" dirty="0"/>
              <a:t>Creating an Service</a:t>
            </a:r>
          </a:p>
        </p:txBody>
      </p:sp>
    </p:spTree>
    <p:extLst>
      <p:ext uri="{BB962C8B-B14F-4D97-AF65-F5344CB8AC3E}">
        <p14:creationId xmlns:p14="http://schemas.microsoft.com/office/powerpoint/2010/main" val="2374884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7518599-FC01-445F-A2C2-89F0E5B5F885}"/>
              </a:ext>
            </a:extLst>
          </p:cNvPr>
          <p:cNvPicPr>
            <a:picLocks noGrp="1" noChangeAspect="1"/>
          </p:cNvPicPr>
          <p:nvPr>
            <p:ph idx="1"/>
          </p:nvPr>
        </p:nvPicPr>
        <p:blipFill>
          <a:blip r:embed="rId2"/>
          <a:stretch>
            <a:fillRect/>
          </a:stretch>
        </p:blipFill>
        <p:spPr>
          <a:xfrm>
            <a:off x="421916" y="1656171"/>
            <a:ext cx="6677384" cy="4887071"/>
          </a:xfrm>
        </p:spPr>
      </p:pic>
      <p:sp>
        <p:nvSpPr>
          <p:cNvPr id="3" name="Slide Number Placeholder 2">
            <a:extLst>
              <a:ext uri="{FF2B5EF4-FFF2-40B4-BE49-F238E27FC236}">
                <a16:creationId xmlns:a16="http://schemas.microsoft.com/office/drawing/2014/main" id="{68A28562-4DEE-4439-899D-C42C0E194178}"/>
              </a:ext>
            </a:extLst>
          </p:cNvPr>
          <p:cNvSpPr>
            <a:spLocks noGrp="1"/>
          </p:cNvSpPr>
          <p:nvPr>
            <p:ph type="sldNum" sz="quarter" idx="4"/>
          </p:nvPr>
        </p:nvSpPr>
        <p:spPr/>
        <p:txBody>
          <a:bodyPr/>
          <a:lstStyle/>
          <a:p>
            <a:fld id="{31D26D55-0A22-487A-A687-61FB58A6F16A}" type="slidenum">
              <a:rPr lang="en-US" smtClean="0"/>
              <a:pPr/>
              <a:t>20</a:t>
            </a:fld>
            <a:endParaRPr lang="en-US" dirty="0"/>
          </a:p>
        </p:txBody>
      </p:sp>
      <p:sp>
        <p:nvSpPr>
          <p:cNvPr id="4" name="Title 3">
            <a:extLst>
              <a:ext uri="{FF2B5EF4-FFF2-40B4-BE49-F238E27FC236}">
                <a16:creationId xmlns:a16="http://schemas.microsoft.com/office/drawing/2014/main" id="{316A7E1C-3133-4A55-B1BB-CCB61E6960A6}"/>
              </a:ext>
            </a:extLst>
          </p:cNvPr>
          <p:cNvSpPr>
            <a:spLocks noGrp="1"/>
          </p:cNvSpPr>
          <p:nvPr>
            <p:ph type="title"/>
          </p:nvPr>
        </p:nvSpPr>
        <p:spPr/>
        <p:txBody>
          <a:bodyPr/>
          <a:lstStyle/>
          <a:p>
            <a:r>
              <a:rPr lang="en-US" dirty="0"/>
              <a:t>Service Example</a:t>
            </a:r>
          </a:p>
        </p:txBody>
      </p:sp>
      <p:pic>
        <p:nvPicPr>
          <p:cNvPr id="10" name="Picture 9">
            <a:extLst>
              <a:ext uri="{FF2B5EF4-FFF2-40B4-BE49-F238E27FC236}">
                <a16:creationId xmlns:a16="http://schemas.microsoft.com/office/drawing/2014/main" id="{8072C676-8908-4ED6-B970-9292538719FA}"/>
              </a:ext>
            </a:extLst>
          </p:cNvPr>
          <p:cNvPicPr>
            <a:picLocks noChangeAspect="1"/>
          </p:cNvPicPr>
          <p:nvPr/>
        </p:nvPicPr>
        <p:blipFill rotWithShape="1">
          <a:blip r:embed="rId3"/>
          <a:srcRect r="6321"/>
          <a:stretch/>
        </p:blipFill>
        <p:spPr>
          <a:xfrm>
            <a:off x="7167799" y="1872347"/>
            <a:ext cx="7223792" cy="4454718"/>
          </a:xfrm>
          <a:prstGeom prst="rect">
            <a:avLst/>
          </a:prstGeom>
        </p:spPr>
      </p:pic>
    </p:spTree>
    <p:extLst>
      <p:ext uri="{BB962C8B-B14F-4D97-AF65-F5344CB8AC3E}">
        <p14:creationId xmlns:p14="http://schemas.microsoft.com/office/powerpoint/2010/main" val="3162710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B91854-1ABB-48AF-A5C2-96879D25C159}"/>
              </a:ext>
            </a:extLst>
          </p:cNvPr>
          <p:cNvSpPr>
            <a:spLocks noGrp="1"/>
          </p:cNvSpPr>
          <p:nvPr>
            <p:ph idx="1"/>
          </p:nvPr>
        </p:nvSpPr>
        <p:spPr/>
        <p:txBody>
          <a:bodyPr>
            <a:normAutofit fontScale="85000" lnSpcReduction="10000"/>
          </a:bodyPr>
          <a:lstStyle/>
          <a:p>
            <a:r>
              <a:rPr lang="en-US" dirty="0"/>
              <a:t>Definition:</a:t>
            </a:r>
          </a:p>
          <a:p>
            <a:pPr lvl="1"/>
            <a:r>
              <a:rPr lang="en-US" dirty="0"/>
              <a:t>A Controller handles HTTP requests from the client and sends responses.</a:t>
            </a:r>
          </a:p>
          <a:p>
            <a:pPr lvl="1"/>
            <a:r>
              <a:rPr lang="en-US" dirty="0"/>
              <a:t>It calls the service layer to process business logic.</a:t>
            </a:r>
          </a:p>
          <a:p>
            <a:r>
              <a:rPr lang="en-US" dirty="0"/>
              <a:t>Key Features:</a:t>
            </a:r>
          </a:p>
          <a:p>
            <a:pPr lvl="1"/>
            <a:r>
              <a:rPr lang="en-US" dirty="0"/>
              <a:t>Annotated with </a:t>
            </a:r>
            <a:r>
              <a:rPr lang="en-US" b="1" dirty="0"/>
              <a:t>@RestController</a:t>
            </a:r>
            <a:r>
              <a:rPr lang="en-US" dirty="0"/>
              <a:t> or </a:t>
            </a:r>
            <a:r>
              <a:rPr lang="en-US" b="1" dirty="0"/>
              <a:t>@Controller</a:t>
            </a:r>
            <a:r>
              <a:rPr lang="en-US" dirty="0"/>
              <a:t>.</a:t>
            </a:r>
          </a:p>
          <a:p>
            <a:pPr lvl="1"/>
            <a:r>
              <a:rPr lang="en-US" dirty="0"/>
              <a:t>Maps HTTP endpoints using </a:t>
            </a:r>
            <a:r>
              <a:rPr lang="en-US" b="1" dirty="0"/>
              <a:t>@RequestMapping</a:t>
            </a:r>
            <a:r>
              <a:rPr lang="en-US" dirty="0"/>
              <a:t>, </a:t>
            </a:r>
            <a:r>
              <a:rPr lang="en-US" b="1" dirty="0"/>
              <a:t>@GetMapping</a:t>
            </a:r>
            <a:r>
              <a:rPr lang="en-US" dirty="0"/>
              <a:t>, </a:t>
            </a:r>
            <a:r>
              <a:rPr lang="en-US" b="1" dirty="0"/>
              <a:t>@PostMapping</a:t>
            </a:r>
            <a:r>
              <a:rPr lang="en-US" dirty="0"/>
              <a:t>, etc.</a:t>
            </a:r>
          </a:p>
          <a:p>
            <a:pPr lvl="1"/>
            <a:r>
              <a:rPr lang="en-US" dirty="0"/>
              <a:t>Handles input and output as JSON or other formats using </a:t>
            </a:r>
            <a:r>
              <a:rPr lang="en-US" b="1" dirty="0"/>
              <a:t>@RequestBody </a:t>
            </a:r>
            <a:r>
              <a:rPr lang="en-US" dirty="0"/>
              <a:t>and </a:t>
            </a:r>
            <a:r>
              <a:rPr lang="en-US" b="1" dirty="0"/>
              <a:t>@ResponseBody</a:t>
            </a:r>
            <a:r>
              <a:rPr lang="en-US" dirty="0"/>
              <a:t>.</a:t>
            </a:r>
          </a:p>
        </p:txBody>
      </p:sp>
      <p:sp>
        <p:nvSpPr>
          <p:cNvPr id="3" name="Slide Number Placeholder 2">
            <a:extLst>
              <a:ext uri="{FF2B5EF4-FFF2-40B4-BE49-F238E27FC236}">
                <a16:creationId xmlns:a16="http://schemas.microsoft.com/office/drawing/2014/main" id="{0C41B953-C2E1-4B09-A96B-6264FE6BEDE9}"/>
              </a:ext>
            </a:extLst>
          </p:cNvPr>
          <p:cNvSpPr>
            <a:spLocks noGrp="1"/>
          </p:cNvSpPr>
          <p:nvPr>
            <p:ph type="sldNum" sz="quarter" idx="4"/>
          </p:nvPr>
        </p:nvSpPr>
        <p:spPr/>
        <p:txBody>
          <a:bodyPr/>
          <a:lstStyle/>
          <a:p>
            <a:fld id="{31D26D55-0A22-487A-A687-61FB58A6F16A}" type="slidenum">
              <a:rPr lang="en-US" smtClean="0"/>
              <a:pPr/>
              <a:t>21</a:t>
            </a:fld>
            <a:endParaRPr lang="en-US" dirty="0"/>
          </a:p>
        </p:txBody>
      </p:sp>
      <p:sp>
        <p:nvSpPr>
          <p:cNvPr id="4" name="Title 3">
            <a:extLst>
              <a:ext uri="{FF2B5EF4-FFF2-40B4-BE49-F238E27FC236}">
                <a16:creationId xmlns:a16="http://schemas.microsoft.com/office/drawing/2014/main" id="{3FAFEF90-2480-4DF2-9842-ABD5E212EB3E}"/>
              </a:ext>
            </a:extLst>
          </p:cNvPr>
          <p:cNvSpPr>
            <a:spLocks noGrp="1"/>
          </p:cNvSpPr>
          <p:nvPr>
            <p:ph type="title"/>
          </p:nvPr>
        </p:nvSpPr>
        <p:spPr/>
        <p:txBody>
          <a:bodyPr/>
          <a:lstStyle/>
          <a:p>
            <a:r>
              <a:rPr lang="en-US" dirty="0"/>
              <a:t>Creating a Controller</a:t>
            </a:r>
          </a:p>
        </p:txBody>
      </p:sp>
    </p:spTree>
    <p:extLst>
      <p:ext uri="{BB962C8B-B14F-4D97-AF65-F5344CB8AC3E}">
        <p14:creationId xmlns:p14="http://schemas.microsoft.com/office/powerpoint/2010/main" val="1067905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2065A08-80C6-44FA-B14F-C18BA965FF34}"/>
              </a:ext>
            </a:extLst>
          </p:cNvPr>
          <p:cNvPicPr>
            <a:picLocks noGrp="1" noChangeAspect="1"/>
          </p:cNvPicPr>
          <p:nvPr>
            <p:ph idx="1"/>
          </p:nvPr>
        </p:nvPicPr>
        <p:blipFill>
          <a:blip r:embed="rId2"/>
          <a:stretch>
            <a:fillRect/>
          </a:stretch>
        </p:blipFill>
        <p:spPr>
          <a:xfrm>
            <a:off x="629085" y="1581404"/>
            <a:ext cx="5930449" cy="5066791"/>
          </a:xfrm>
        </p:spPr>
      </p:pic>
      <p:sp>
        <p:nvSpPr>
          <p:cNvPr id="3" name="Slide Number Placeholder 2">
            <a:extLst>
              <a:ext uri="{FF2B5EF4-FFF2-40B4-BE49-F238E27FC236}">
                <a16:creationId xmlns:a16="http://schemas.microsoft.com/office/drawing/2014/main" id="{7AE4C3ED-68F1-40AA-B0AF-586261C68B21}"/>
              </a:ext>
            </a:extLst>
          </p:cNvPr>
          <p:cNvSpPr>
            <a:spLocks noGrp="1"/>
          </p:cNvSpPr>
          <p:nvPr>
            <p:ph type="sldNum" sz="quarter" idx="4"/>
          </p:nvPr>
        </p:nvSpPr>
        <p:spPr/>
        <p:txBody>
          <a:bodyPr/>
          <a:lstStyle/>
          <a:p>
            <a:fld id="{31D26D55-0A22-487A-A687-61FB58A6F16A}" type="slidenum">
              <a:rPr lang="en-US" smtClean="0"/>
              <a:pPr/>
              <a:t>22</a:t>
            </a:fld>
            <a:endParaRPr lang="en-US" dirty="0"/>
          </a:p>
        </p:txBody>
      </p:sp>
      <p:sp>
        <p:nvSpPr>
          <p:cNvPr id="4" name="Title 3">
            <a:extLst>
              <a:ext uri="{FF2B5EF4-FFF2-40B4-BE49-F238E27FC236}">
                <a16:creationId xmlns:a16="http://schemas.microsoft.com/office/drawing/2014/main" id="{EDECFB96-20F0-472D-BD70-EC34333F356D}"/>
              </a:ext>
            </a:extLst>
          </p:cNvPr>
          <p:cNvSpPr>
            <a:spLocks noGrp="1"/>
          </p:cNvSpPr>
          <p:nvPr>
            <p:ph type="title"/>
          </p:nvPr>
        </p:nvSpPr>
        <p:spPr/>
        <p:txBody>
          <a:bodyPr/>
          <a:lstStyle/>
          <a:p>
            <a:r>
              <a:rPr lang="en-US" dirty="0"/>
              <a:t>Controller Example</a:t>
            </a:r>
          </a:p>
        </p:txBody>
      </p:sp>
      <p:pic>
        <p:nvPicPr>
          <p:cNvPr id="8" name="Picture 7">
            <a:extLst>
              <a:ext uri="{FF2B5EF4-FFF2-40B4-BE49-F238E27FC236}">
                <a16:creationId xmlns:a16="http://schemas.microsoft.com/office/drawing/2014/main" id="{53D9CC85-FB2A-4AD4-9F55-65B658BA57A7}"/>
              </a:ext>
            </a:extLst>
          </p:cNvPr>
          <p:cNvPicPr>
            <a:picLocks noChangeAspect="1"/>
          </p:cNvPicPr>
          <p:nvPr/>
        </p:nvPicPr>
        <p:blipFill>
          <a:blip r:embed="rId3"/>
          <a:stretch>
            <a:fillRect/>
          </a:stretch>
        </p:blipFill>
        <p:spPr>
          <a:xfrm>
            <a:off x="7181490" y="1821534"/>
            <a:ext cx="6822935" cy="4586529"/>
          </a:xfrm>
          <a:prstGeom prst="rect">
            <a:avLst/>
          </a:prstGeom>
        </p:spPr>
      </p:pic>
    </p:spTree>
    <p:extLst>
      <p:ext uri="{BB962C8B-B14F-4D97-AF65-F5344CB8AC3E}">
        <p14:creationId xmlns:p14="http://schemas.microsoft.com/office/powerpoint/2010/main" val="3321389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8BCB3A-1BD1-4F9B-B79D-129EDFEE7EB1}"/>
              </a:ext>
            </a:extLst>
          </p:cNvPr>
          <p:cNvSpPr>
            <a:spLocks noGrp="1"/>
          </p:cNvSpPr>
          <p:nvPr>
            <p:ph idx="1"/>
          </p:nvPr>
        </p:nvSpPr>
        <p:spPr/>
        <p:txBody>
          <a:bodyPr>
            <a:normAutofit fontScale="70000" lnSpcReduction="20000"/>
          </a:bodyPr>
          <a:lstStyle/>
          <a:p>
            <a:pPr marL="514350" indent="-514350">
              <a:buFont typeface="+mj-lt"/>
              <a:buAutoNum type="arabicPeriod"/>
            </a:pPr>
            <a:r>
              <a:rPr lang="en-US" dirty="0"/>
              <a:t>Client Request: A client sends an HTTP request (e.g., GET, POST) to an endpoint defined in the Controller.</a:t>
            </a:r>
          </a:p>
          <a:p>
            <a:pPr marL="514350" indent="-514350">
              <a:buFont typeface="+mj-lt"/>
              <a:buAutoNum type="arabicPeriod"/>
            </a:pPr>
            <a:r>
              <a:rPr lang="en-US" dirty="0"/>
              <a:t>Controller Handling: The Controller processes the request and invokes the appropriate method in the Service.</a:t>
            </a:r>
          </a:p>
          <a:p>
            <a:pPr marL="514350" indent="-514350">
              <a:buFont typeface="+mj-lt"/>
              <a:buAutoNum type="arabicPeriod"/>
            </a:pPr>
            <a:r>
              <a:rPr lang="en-US" dirty="0"/>
              <a:t>Service Logic: The Service executes the business logic and interacts with the Repository to fetch or persist data.</a:t>
            </a:r>
          </a:p>
          <a:p>
            <a:pPr marL="514350" indent="-514350">
              <a:buFont typeface="+mj-lt"/>
              <a:buAutoNum type="arabicPeriod"/>
            </a:pPr>
            <a:r>
              <a:rPr lang="en-US" dirty="0"/>
              <a:t>Repository Operations: The Repository interacts with the database to execute queries and returns the results to the Service.</a:t>
            </a:r>
          </a:p>
          <a:p>
            <a:pPr marL="514350" indent="-514350">
              <a:buFont typeface="+mj-lt"/>
              <a:buAutoNum type="arabicPeriod"/>
            </a:pPr>
            <a:r>
              <a:rPr lang="en-US" dirty="0"/>
              <a:t>Response to Client: The Controller sends the response back to the client, usually in JSON format.</a:t>
            </a:r>
          </a:p>
        </p:txBody>
      </p:sp>
      <p:sp>
        <p:nvSpPr>
          <p:cNvPr id="3" name="Slide Number Placeholder 2">
            <a:extLst>
              <a:ext uri="{FF2B5EF4-FFF2-40B4-BE49-F238E27FC236}">
                <a16:creationId xmlns:a16="http://schemas.microsoft.com/office/drawing/2014/main" id="{90F6B464-820B-4F26-BC85-FF85358C4B8B}"/>
              </a:ext>
            </a:extLst>
          </p:cNvPr>
          <p:cNvSpPr>
            <a:spLocks noGrp="1"/>
          </p:cNvSpPr>
          <p:nvPr>
            <p:ph type="sldNum" sz="quarter" idx="4"/>
          </p:nvPr>
        </p:nvSpPr>
        <p:spPr/>
        <p:txBody>
          <a:bodyPr/>
          <a:lstStyle/>
          <a:p>
            <a:fld id="{31D26D55-0A22-487A-A687-61FB58A6F16A}" type="slidenum">
              <a:rPr lang="en-US" smtClean="0"/>
              <a:pPr/>
              <a:t>23</a:t>
            </a:fld>
            <a:endParaRPr lang="en-US" dirty="0"/>
          </a:p>
        </p:txBody>
      </p:sp>
      <p:sp>
        <p:nvSpPr>
          <p:cNvPr id="4" name="Title 3">
            <a:extLst>
              <a:ext uri="{FF2B5EF4-FFF2-40B4-BE49-F238E27FC236}">
                <a16:creationId xmlns:a16="http://schemas.microsoft.com/office/drawing/2014/main" id="{B3C2809E-5D4C-4AD4-839A-53AE59979188}"/>
              </a:ext>
            </a:extLst>
          </p:cNvPr>
          <p:cNvSpPr>
            <a:spLocks noGrp="1"/>
          </p:cNvSpPr>
          <p:nvPr>
            <p:ph type="title"/>
          </p:nvPr>
        </p:nvSpPr>
        <p:spPr/>
        <p:txBody>
          <a:bodyPr/>
          <a:lstStyle/>
          <a:p>
            <a:r>
              <a:rPr lang="en-US" dirty="0"/>
              <a:t>How Request Flow?</a:t>
            </a:r>
          </a:p>
        </p:txBody>
      </p:sp>
    </p:spTree>
    <p:extLst>
      <p:ext uri="{BB962C8B-B14F-4D97-AF65-F5344CB8AC3E}">
        <p14:creationId xmlns:p14="http://schemas.microsoft.com/office/powerpoint/2010/main" val="3273083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FB45F9-9E24-4DFB-8D28-833C43813970}"/>
              </a:ext>
            </a:extLst>
          </p:cNvPr>
          <p:cNvSpPr>
            <a:spLocks noGrp="1"/>
          </p:cNvSpPr>
          <p:nvPr>
            <p:ph idx="1"/>
          </p:nvPr>
        </p:nvSpPr>
        <p:spPr>
          <a:xfrm>
            <a:off x="535742" y="1809433"/>
            <a:ext cx="6453900" cy="5494778"/>
          </a:xfrm>
        </p:spPr>
        <p:txBody>
          <a:bodyPr>
            <a:normAutofit fontScale="85000" lnSpcReduction="20000"/>
          </a:bodyPr>
          <a:lstStyle/>
          <a:p>
            <a:r>
              <a:rPr lang="en-US" dirty="0"/>
              <a:t>Build:</a:t>
            </a:r>
          </a:p>
          <a:p>
            <a:pPr lvl="1"/>
            <a:r>
              <a:rPr lang="vi-VN" dirty="0"/>
              <a:t>Maven </a:t>
            </a:r>
            <a:endParaRPr lang="en-US" dirty="0"/>
          </a:p>
          <a:p>
            <a:pPr lvl="2"/>
            <a:r>
              <a:rPr lang="en-US" dirty="0"/>
              <a:t>T</a:t>
            </a:r>
            <a:r>
              <a:rPr lang="vi-VN" dirty="0"/>
              <a:t>ask jar</a:t>
            </a:r>
            <a:r>
              <a:rPr lang="en-US" dirty="0"/>
              <a:t>.</a:t>
            </a:r>
          </a:p>
          <a:p>
            <a:pPr lvl="2"/>
            <a:r>
              <a:rPr lang="en-US" dirty="0"/>
              <a:t>Output: .JAR file inside target folder</a:t>
            </a:r>
          </a:p>
          <a:p>
            <a:pPr lvl="1"/>
            <a:r>
              <a:rPr lang="vi-VN" dirty="0"/>
              <a:t>Gradle</a:t>
            </a:r>
            <a:endParaRPr lang="en-US" dirty="0"/>
          </a:p>
          <a:p>
            <a:pPr lvl="2"/>
            <a:r>
              <a:rPr lang="en-US" dirty="0"/>
              <a:t>Task </a:t>
            </a:r>
            <a:r>
              <a:rPr lang="vi-VN" dirty="0"/>
              <a:t>bootJar.</a:t>
            </a:r>
            <a:endParaRPr lang="en-US" dirty="0"/>
          </a:p>
          <a:p>
            <a:pPr lvl="2"/>
            <a:r>
              <a:rPr lang="en-US" dirty="0"/>
              <a:t>Output: .JAR file inside target folder =&gt; build =&gt; libs</a:t>
            </a:r>
          </a:p>
          <a:p>
            <a:r>
              <a:rPr lang="en-US" dirty="0"/>
              <a:t>Run build:</a:t>
            </a:r>
          </a:p>
          <a:p>
            <a:pPr lvl="1"/>
            <a:r>
              <a:rPr lang="en-US" dirty="0"/>
              <a:t>java -jar [project].jar</a:t>
            </a:r>
          </a:p>
          <a:p>
            <a:pPr marL="0" indent="0">
              <a:buNone/>
            </a:pPr>
            <a:endParaRPr lang="en-US" dirty="0"/>
          </a:p>
        </p:txBody>
      </p:sp>
      <p:sp>
        <p:nvSpPr>
          <p:cNvPr id="3" name="Slide Number Placeholder 2">
            <a:extLst>
              <a:ext uri="{FF2B5EF4-FFF2-40B4-BE49-F238E27FC236}">
                <a16:creationId xmlns:a16="http://schemas.microsoft.com/office/drawing/2014/main" id="{151E986B-0E97-40F6-A2FB-8F17742369AE}"/>
              </a:ext>
            </a:extLst>
          </p:cNvPr>
          <p:cNvSpPr>
            <a:spLocks noGrp="1"/>
          </p:cNvSpPr>
          <p:nvPr>
            <p:ph type="sldNum" sz="quarter" idx="4"/>
          </p:nvPr>
        </p:nvSpPr>
        <p:spPr/>
        <p:txBody>
          <a:bodyPr/>
          <a:lstStyle/>
          <a:p>
            <a:fld id="{31D26D55-0A22-487A-A687-61FB58A6F16A}" type="slidenum">
              <a:rPr lang="en-US" smtClean="0"/>
              <a:pPr/>
              <a:t>24</a:t>
            </a:fld>
            <a:endParaRPr lang="en-US" dirty="0"/>
          </a:p>
        </p:txBody>
      </p:sp>
      <p:sp>
        <p:nvSpPr>
          <p:cNvPr id="4" name="Title 3">
            <a:extLst>
              <a:ext uri="{FF2B5EF4-FFF2-40B4-BE49-F238E27FC236}">
                <a16:creationId xmlns:a16="http://schemas.microsoft.com/office/drawing/2014/main" id="{80CDD20D-A7F8-44E4-A92F-C5BF23433DF8}"/>
              </a:ext>
            </a:extLst>
          </p:cNvPr>
          <p:cNvSpPr>
            <a:spLocks noGrp="1"/>
          </p:cNvSpPr>
          <p:nvPr>
            <p:ph type="title"/>
          </p:nvPr>
        </p:nvSpPr>
        <p:spPr/>
        <p:txBody>
          <a:bodyPr/>
          <a:lstStyle/>
          <a:p>
            <a:r>
              <a:rPr lang="en-US" dirty="0"/>
              <a:t>Project Build &amp; Run</a:t>
            </a:r>
          </a:p>
        </p:txBody>
      </p:sp>
      <p:pic>
        <p:nvPicPr>
          <p:cNvPr id="16388" name="Picture 4">
            <a:extLst>
              <a:ext uri="{FF2B5EF4-FFF2-40B4-BE49-F238E27FC236}">
                <a16:creationId xmlns:a16="http://schemas.microsoft.com/office/drawing/2014/main" id="{AF7DA9F2-54AB-4AC0-815D-AB58A006EB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642" y="1697723"/>
            <a:ext cx="7218373" cy="5283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253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E3F10E-7CA8-4B5A-8A08-D5787A42BDFF}"/>
              </a:ext>
            </a:extLst>
          </p:cNvPr>
          <p:cNvSpPr>
            <a:spLocks noGrp="1"/>
          </p:cNvSpPr>
          <p:nvPr>
            <p:ph type="sldNum" sz="quarter" idx="4"/>
          </p:nvPr>
        </p:nvSpPr>
        <p:spPr/>
        <p:txBody>
          <a:bodyPr/>
          <a:lstStyle/>
          <a:p>
            <a:fld id="{31D26D55-0A22-487A-A687-61FB58A6F16A}" type="slidenum">
              <a:rPr lang="en-US" smtClean="0"/>
              <a:pPr/>
              <a:t>25</a:t>
            </a:fld>
            <a:endParaRPr lang="en-US" dirty="0"/>
          </a:p>
        </p:txBody>
      </p:sp>
      <p:sp>
        <p:nvSpPr>
          <p:cNvPr id="4" name="Title 3">
            <a:extLst>
              <a:ext uri="{FF2B5EF4-FFF2-40B4-BE49-F238E27FC236}">
                <a16:creationId xmlns:a16="http://schemas.microsoft.com/office/drawing/2014/main" id="{6C6AFF5B-A57A-46C7-B9DE-D30409ECE923}"/>
              </a:ext>
            </a:extLst>
          </p:cNvPr>
          <p:cNvSpPr>
            <a:spLocks noGrp="1"/>
          </p:cNvSpPr>
          <p:nvPr>
            <p:ph type="title"/>
          </p:nvPr>
        </p:nvSpPr>
        <p:spPr/>
        <p:txBody>
          <a:bodyPr/>
          <a:lstStyle/>
          <a:p>
            <a:r>
              <a:rPr lang="en-US" dirty="0"/>
              <a:t>Data Types</a:t>
            </a:r>
          </a:p>
        </p:txBody>
      </p:sp>
      <p:pic>
        <p:nvPicPr>
          <p:cNvPr id="17412" name="Picture 4">
            <a:extLst>
              <a:ext uri="{FF2B5EF4-FFF2-40B4-BE49-F238E27FC236}">
                <a16:creationId xmlns:a16="http://schemas.microsoft.com/office/drawing/2014/main" id="{F2CEB64B-1CCE-4ED5-AC56-A34098FDB1D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73584" y="1534605"/>
            <a:ext cx="11883231" cy="5160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911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AB45B8-C405-4527-B65B-0B6D263E9350}"/>
              </a:ext>
            </a:extLst>
          </p:cNvPr>
          <p:cNvSpPr>
            <a:spLocks noGrp="1"/>
          </p:cNvSpPr>
          <p:nvPr>
            <p:ph idx="1"/>
          </p:nvPr>
        </p:nvSpPr>
        <p:spPr/>
        <p:txBody>
          <a:bodyPr>
            <a:normAutofit fontScale="62500" lnSpcReduction="20000"/>
          </a:bodyPr>
          <a:lstStyle/>
          <a:p>
            <a:r>
              <a:rPr lang="en-US" b="1" dirty="0"/>
              <a:t>DTO (Data Transfer Object)</a:t>
            </a:r>
            <a:r>
              <a:rPr lang="en-US" dirty="0"/>
              <a:t>: </a:t>
            </a:r>
          </a:p>
          <a:p>
            <a:pPr lvl="1"/>
            <a:r>
              <a:rPr lang="en-US" dirty="0"/>
              <a:t>Classes designed to encapsulate data for transfer .</a:t>
            </a:r>
          </a:p>
          <a:p>
            <a:pPr lvl="1"/>
            <a:r>
              <a:rPr lang="en-US" dirty="0"/>
              <a:t>Reduce unnecessary information being transferred and to enhance security.</a:t>
            </a:r>
          </a:p>
          <a:p>
            <a:r>
              <a:rPr lang="en-US" b="1" dirty="0"/>
              <a:t>Domain Model</a:t>
            </a:r>
            <a:r>
              <a:rPr lang="en-US" dirty="0"/>
              <a:t>: </a:t>
            </a:r>
          </a:p>
          <a:p>
            <a:pPr lvl="1"/>
            <a:r>
              <a:rPr lang="en-US" dirty="0"/>
              <a:t>Classes representing domains, essentially the business objects such as Client, Report, Department, etc. </a:t>
            </a:r>
          </a:p>
          <a:p>
            <a:pPr lvl="1"/>
            <a:r>
              <a:rPr lang="en-US" dirty="0"/>
              <a:t>In a real-world application, classes that represent calculation results or input parameters for calculation services are also considered domain models.</a:t>
            </a:r>
          </a:p>
          <a:p>
            <a:r>
              <a:rPr lang="en-US" b="1" dirty="0"/>
              <a:t>Entity</a:t>
            </a:r>
            <a:r>
              <a:rPr lang="en-US" dirty="0"/>
              <a:t>: </a:t>
            </a:r>
          </a:p>
          <a:p>
            <a:pPr lvl="1"/>
            <a:r>
              <a:rPr lang="en-US" dirty="0"/>
              <a:t>Entities are a type of domain model.</a:t>
            </a:r>
          </a:p>
          <a:p>
            <a:pPr lvl="1"/>
            <a:r>
              <a:rPr lang="en-US" dirty="0"/>
              <a:t>Specifically correspond to tables in a database and can be mapped to the database. </a:t>
            </a:r>
          </a:p>
          <a:p>
            <a:pPr lvl="1"/>
            <a:r>
              <a:rPr lang="en-US" dirty="0"/>
              <a:t>Only entities can represent data in the database.</a:t>
            </a:r>
          </a:p>
          <a:p>
            <a:endParaRPr lang="en-US" dirty="0"/>
          </a:p>
        </p:txBody>
      </p:sp>
      <p:sp>
        <p:nvSpPr>
          <p:cNvPr id="3" name="Slide Number Placeholder 2">
            <a:extLst>
              <a:ext uri="{FF2B5EF4-FFF2-40B4-BE49-F238E27FC236}">
                <a16:creationId xmlns:a16="http://schemas.microsoft.com/office/drawing/2014/main" id="{C11DC124-B49B-405A-8908-47F789B6813A}"/>
              </a:ext>
            </a:extLst>
          </p:cNvPr>
          <p:cNvSpPr>
            <a:spLocks noGrp="1"/>
          </p:cNvSpPr>
          <p:nvPr>
            <p:ph type="sldNum" sz="quarter" idx="4"/>
          </p:nvPr>
        </p:nvSpPr>
        <p:spPr/>
        <p:txBody>
          <a:bodyPr/>
          <a:lstStyle/>
          <a:p>
            <a:fld id="{31D26D55-0A22-487A-A687-61FB58A6F16A}" type="slidenum">
              <a:rPr lang="en-US" smtClean="0"/>
              <a:pPr/>
              <a:t>26</a:t>
            </a:fld>
            <a:endParaRPr lang="en-US" dirty="0"/>
          </a:p>
        </p:txBody>
      </p:sp>
      <p:sp>
        <p:nvSpPr>
          <p:cNvPr id="4" name="Title 3">
            <a:extLst>
              <a:ext uri="{FF2B5EF4-FFF2-40B4-BE49-F238E27FC236}">
                <a16:creationId xmlns:a16="http://schemas.microsoft.com/office/drawing/2014/main" id="{95A6234B-1917-4195-A8A1-00808A5647B5}"/>
              </a:ext>
            </a:extLst>
          </p:cNvPr>
          <p:cNvSpPr>
            <a:spLocks noGrp="1"/>
          </p:cNvSpPr>
          <p:nvPr>
            <p:ph type="title"/>
          </p:nvPr>
        </p:nvSpPr>
        <p:spPr/>
        <p:txBody>
          <a:bodyPr/>
          <a:lstStyle/>
          <a:p>
            <a:r>
              <a:rPr lang="en-US" dirty="0"/>
              <a:t>Data Types</a:t>
            </a:r>
          </a:p>
        </p:txBody>
      </p:sp>
    </p:spTree>
    <p:extLst>
      <p:ext uri="{BB962C8B-B14F-4D97-AF65-F5344CB8AC3E}">
        <p14:creationId xmlns:p14="http://schemas.microsoft.com/office/powerpoint/2010/main" val="1661365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AE65A59-F977-48FC-8033-C79D4F6C0157}"/>
              </a:ext>
            </a:extLst>
          </p:cNvPr>
          <p:cNvSpPr>
            <a:spLocks noGrp="1"/>
          </p:cNvSpPr>
          <p:nvPr>
            <p:ph type="sldNum" sz="quarter" idx="4"/>
          </p:nvPr>
        </p:nvSpPr>
        <p:spPr/>
        <p:txBody>
          <a:bodyPr/>
          <a:lstStyle/>
          <a:p>
            <a:fld id="{31D26D55-0A22-487A-A687-61FB58A6F16A}" type="slidenum">
              <a:rPr lang="en-US" smtClean="0"/>
              <a:pPr/>
              <a:t>27</a:t>
            </a:fld>
            <a:endParaRPr lang="en-US" dirty="0"/>
          </a:p>
        </p:txBody>
      </p:sp>
      <p:sp>
        <p:nvSpPr>
          <p:cNvPr id="4" name="Title 3">
            <a:extLst>
              <a:ext uri="{FF2B5EF4-FFF2-40B4-BE49-F238E27FC236}">
                <a16:creationId xmlns:a16="http://schemas.microsoft.com/office/drawing/2014/main" id="{B7A516C1-1982-49FD-A527-802D6302B728}"/>
              </a:ext>
            </a:extLst>
          </p:cNvPr>
          <p:cNvSpPr>
            <a:spLocks noGrp="1"/>
          </p:cNvSpPr>
          <p:nvPr>
            <p:ph type="title"/>
          </p:nvPr>
        </p:nvSpPr>
        <p:spPr/>
        <p:txBody>
          <a:bodyPr/>
          <a:lstStyle/>
          <a:p>
            <a:r>
              <a:rPr lang="en-US" dirty="0"/>
              <a:t>Bean Life Cycle</a:t>
            </a:r>
          </a:p>
        </p:txBody>
      </p:sp>
      <p:sp>
        <p:nvSpPr>
          <p:cNvPr id="6" name="Content Placeholder 5">
            <a:extLst>
              <a:ext uri="{FF2B5EF4-FFF2-40B4-BE49-F238E27FC236}">
                <a16:creationId xmlns:a16="http://schemas.microsoft.com/office/drawing/2014/main" id="{5413794A-F68A-46F7-80D2-9052DE41DB47}"/>
              </a:ext>
            </a:extLst>
          </p:cNvPr>
          <p:cNvSpPr>
            <a:spLocks noGrp="1"/>
          </p:cNvSpPr>
          <p:nvPr>
            <p:ph idx="1"/>
          </p:nvPr>
        </p:nvSpPr>
        <p:spPr>
          <a:xfrm>
            <a:off x="747000" y="1917577"/>
            <a:ext cx="7495300" cy="5494778"/>
          </a:xfrm>
        </p:spPr>
        <p:txBody>
          <a:bodyPr>
            <a:normAutofit fontScale="92500" lnSpcReduction="10000"/>
          </a:bodyPr>
          <a:lstStyle/>
          <a:p>
            <a:r>
              <a:rPr lang="en-US" dirty="0"/>
              <a:t>In Spring, the objects that form the backbone of your application and that are managed by the Spring IoC container are called beans. </a:t>
            </a:r>
          </a:p>
          <a:p>
            <a:r>
              <a:rPr lang="en-US" dirty="0"/>
              <a:t>A bean is an object that is instantiated, assembled, and otherwise managed by a Spring IoC container (named </a:t>
            </a:r>
            <a:r>
              <a:rPr lang="en-US" b="1" dirty="0" err="1"/>
              <a:t>ApplicationContext</a:t>
            </a:r>
            <a:r>
              <a:rPr lang="en-US" b="1" dirty="0"/>
              <a:t> </a:t>
            </a:r>
            <a:r>
              <a:rPr lang="en-US" dirty="0"/>
              <a:t>).</a:t>
            </a:r>
          </a:p>
        </p:txBody>
      </p:sp>
      <p:pic>
        <p:nvPicPr>
          <p:cNvPr id="18434" name="Picture 2">
            <a:extLst>
              <a:ext uri="{FF2B5EF4-FFF2-40B4-BE49-F238E27FC236}">
                <a16:creationId xmlns:a16="http://schemas.microsoft.com/office/drawing/2014/main" id="{32CE2BA6-5FC9-4C2C-927D-EB756647E4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2300" y="2209800"/>
            <a:ext cx="603885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512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8624E3-8353-4585-A805-909B46DE1C14}"/>
              </a:ext>
            </a:extLst>
          </p:cNvPr>
          <p:cNvSpPr>
            <a:spLocks noGrp="1"/>
          </p:cNvSpPr>
          <p:nvPr>
            <p:ph idx="1"/>
          </p:nvPr>
        </p:nvSpPr>
        <p:spPr/>
        <p:txBody>
          <a:bodyPr/>
          <a:lstStyle/>
          <a:p>
            <a:r>
              <a:rPr lang="en-US" dirty="0"/>
              <a:t>https://spring.io/guides/tutorials/spring-boot-kotlin</a:t>
            </a:r>
          </a:p>
        </p:txBody>
      </p:sp>
      <p:sp>
        <p:nvSpPr>
          <p:cNvPr id="3" name="Slide Number Placeholder 2">
            <a:extLst>
              <a:ext uri="{FF2B5EF4-FFF2-40B4-BE49-F238E27FC236}">
                <a16:creationId xmlns:a16="http://schemas.microsoft.com/office/drawing/2014/main" id="{C7FFE52E-3D8D-4375-811A-84876ECF6FD6}"/>
              </a:ext>
            </a:extLst>
          </p:cNvPr>
          <p:cNvSpPr>
            <a:spLocks noGrp="1"/>
          </p:cNvSpPr>
          <p:nvPr>
            <p:ph type="sldNum" sz="quarter" idx="4"/>
          </p:nvPr>
        </p:nvSpPr>
        <p:spPr/>
        <p:txBody>
          <a:bodyPr/>
          <a:lstStyle/>
          <a:p>
            <a:fld id="{31D26D55-0A22-487A-A687-61FB58A6F16A}" type="slidenum">
              <a:rPr lang="en-US" smtClean="0"/>
              <a:pPr/>
              <a:t>28</a:t>
            </a:fld>
            <a:endParaRPr lang="en-US" dirty="0"/>
          </a:p>
        </p:txBody>
      </p:sp>
      <p:sp>
        <p:nvSpPr>
          <p:cNvPr id="4" name="Title 3">
            <a:extLst>
              <a:ext uri="{FF2B5EF4-FFF2-40B4-BE49-F238E27FC236}">
                <a16:creationId xmlns:a16="http://schemas.microsoft.com/office/drawing/2014/main" id="{9731E294-0FC7-4B24-81D9-462E2E6C484E}"/>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1206203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521CC8-6AFB-40F2-BA4D-E59E797F1A05}"/>
              </a:ext>
            </a:extLst>
          </p:cNvPr>
          <p:cNvSpPr>
            <a:spLocks noGrp="1"/>
          </p:cNvSpPr>
          <p:nvPr>
            <p:ph type="body" sz="quarter" idx="10"/>
          </p:nvPr>
        </p:nvSpPr>
        <p:spPr/>
        <p:txBody>
          <a:bodyPr/>
          <a:lstStyle/>
          <a:p>
            <a:endParaRPr lang="en-US" dirty="0"/>
          </a:p>
        </p:txBody>
      </p:sp>
      <p:sp>
        <p:nvSpPr>
          <p:cNvPr id="3" name="Slide Number Placeholder 2">
            <a:extLst>
              <a:ext uri="{FF2B5EF4-FFF2-40B4-BE49-F238E27FC236}">
                <a16:creationId xmlns:a16="http://schemas.microsoft.com/office/drawing/2014/main" id="{ED53F442-82F2-4F8B-AAE4-41782D9CF6B7}"/>
              </a:ext>
            </a:extLst>
          </p:cNvPr>
          <p:cNvSpPr>
            <a:spLocks noGrp="1"/>
          </p:cNvSpPr>
          <p:nvPr>
            <p:ph type="sldNum" sz="quarter" idx="4"/>
          </p:nvPr>
        </p:nvSpPr>
        <p:spPr/>
        <p:txBody>
          <a:bodyPr/>
          <a:lstStyle/>
          <a:p>
            <a:fld id="{31D26D55-0A22-487A-A687-61FB58A6F16A}" type="slidenum">
              <a:rPr lang="en-US" smtClean="0"/>
              <a:pPr/>
              <a:t>29</a:t>
            </a:fld>
            <a:endParaRPr lang="en-US" dirty="0"/>
          </a:p>
        </p:txBody>
      </p:sp>
    </p:spTree>
    <p:extLst>
      <p:ext uri="{BB962C8B-B14F-4D97-AF65-F5344CB8AC3E}">
        <p14:creationId xmlns:p14="http://schemas.microsoft.com/office/powerpoint/2010/main" val="171151008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A1FCA969-387E-4DB4-9551-88DE0367AE2C}"/>
    </a:ext>
  </a:extLst>
</a:theme>
</file>

<file path=ppt/theme/theme2.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40093B85-BF9A-493F-85B6-14614628567D}"/>
    </a:ext>
  </a:extLst>
</a:theme>
</file>

<file path=ppt/theme/theme3.xml><?xml version="1.0" encoding="utf-8"?>
<a:theme xmlns:a="http://schemas.openxmlformats.org/drawingml/2006/main" name="End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3010-chapter1" id="{AB987AF6-F5B5-40B1-B7B2-011B4456F90D}" vid="{271355E2-C430-4D72-871F-A29EDD8FE0B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43E0CE-0EC2-4040-A6ED-E96764A33B46}">
  <ds:schemaRefs>
    <ds:schemaRef ds:uri="http://schemas.microsoft.com/office/2006/documentManagement/types"/>
    <ds:schemaRef ds:uri="http://purl.org/dc/dcmitype/"/>
    <ds:schemaRef ds:uri="http://schemas.openxmlformats.org/package/2006/metadata/core-properties"/>
    <ds:schemaRef ds:uri="http://purl.org/dc/elements/1.1/"/>
    <ds:schemaRef ds:uri="http://www.w3.org/XML/1998/namespace"/>
    <ds:schemaRef ds:uri="http://purl.org/dc/terms/"/>
    <ds:schemaRef ds:uri="http://schemas.microsoft.com/office/infopath/2007/PartnerControls"/>
    <ds:schemaRef ds:uri="0daeb402-9d2e-4002-a65f-37a660ceb8fd"/>
    <ds:schemaRef ds:uri="6e9c558a-331c-4b2a-9422-cc1872e64aa6"/>
    <ds:schemaRef ds:uri="http://schemas.microsoft.com/office/2006/metadata/properties"/>
  </ds:schemaRefs>
</ds:datastoreItem>
</file>

<file path=customXml/itemProps2.xml><?xml version="1.0" encoding="utf-8"?>
<ds:datastoreItem xmlns:ds="http://schemas.openxmlformats.org/officeDocument/2006/customXml" ds:itemID="{650B1BF4-3751-4B01-94B6-FAFE0FF468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A76FAAE-3935-445E-B5DA-7C5C5407C15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cmc-uni-slide-template</Template>
  <TotalTime>22874</TotalTime>
  <Words>4874</Words>
  <Application>Microsoft Office PowerPoint</Application>
  <PresentationFormat>Custom</PresentationFormat>
  <Paragraphs>394</Paragraphs>
  <Slides>29</Slides>
  <Notes>18</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29</vt:i4>
      </vt:variant>
    </vt:vector>
  </HeadingPairs>
  <TitlesOfParts>
    <vt:vector size="35" baseType="lpstr">
      <vt:lpstr>Arial</vt:lpstr>
      <vt:lpstr>Montserrat</vt:lpstr>
      <vt:lpstr>Times New Roman</vt:lpstr>
      <vt:lpstr>Opening slide</vt:lpstr>
      <vt:lpstr>Body slide</vt:lpstr>
      <vt:lpstr>Ending slide</vt:lpstr>
      <vt:lpstr>PowerPoint Presentation</vt:lpstr>
      <vt:lpstr>Java Spring Boot</vt:lpstr>
      <vt:lpstr>Why Spring?</vt:lpstr>
      <vt:lpstr>Spring Boot Architecture </vt:lpstr>
      <vt:lpstr>RESTful API</vt:lpstr>
      <vt:lpstr>Principles of RESTful API Design</vt:lpstr>
      <vt:lpstr>RESTful API Example</vt:lpstr>
      <vt:lpstr>Prerequisite of Spring Boot</vt:lpstr>
      <vt:lpstr>Create Spring Boot Project</vt:lpstr>
      <vt:lpstr>Spring Boot Initializr </vt:lpstr>
      <vt:lpstr>Spring Boot Project Structure</vt:lpstr>
      <vt:lpstr>Creating a Entity</vt:lpstr>
      <vt:lpstr>Entity Example</vt:lpstr>
      <vt:lpstr>Public &amp; Private</vt:lpstr>
      <vt:lpstr>Getters &amp; Setters</vt:lpstr>
      <vt:lpstr>Entity with Lombok</vt:lpstr>
      <vt:lpstr>Creating a Repository</vt:lpstr>
      <vt:lpstr>Repository Example</vt:lpstr>
      <vt:lpstr>Creating an Service</vt:lpstr>
      <vt:lpstr>Service Example</vt:lpstr>
      <vt:lpstr>Creating a Controller</vt:lpstr>
      <vt:lpstr>Controller Example</vt:lpstr>
      <vt:lpstr>How Request Flow?</vt:lpstr>
      <vt:lpstr>Project Build &amp; Run</vt:lpstr>
      <vt:lpstr>Data Types</vt:lpstr>
      <vt:lpstr>Data Types</vt:lpstr>
      <vt:lpstr>Bean Life Cycle</vt:lpstr>
      <vt:lpstr>References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Hung. Nguyen Viet - CMCU</cp:lastModifiedBy>
  <cp:revision>49</cp:revision>
  <dcterms:created xsi:type="dcterms:W3CDTF">2024-12-09T10:47:32Z</dcterms:created>
  <dcterms:modified xsi:type="dcterms:W3CDTF">2026-01-21T00:36:57Z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