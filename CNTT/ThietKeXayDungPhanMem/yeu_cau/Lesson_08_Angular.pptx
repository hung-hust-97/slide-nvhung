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0" r:id="rId4"/>
    <p:sldMasterId id="2147483672" r:id="rId5"/>
    <p:sldMasterId id="2147483683" r:id="rId6"/>
  </p:sldMasterIdLst>
  <p:notesMasterIdLst>
    <p:notesMasterId r:id="rId32"/>
  </p:notesMasterIdLst>
  <p:sldIdLst>
    <p:sldId id="267" r:id="rId7"/>
    <p:sldId id="285" r:id="rId8"/>
    <p:sldId id="286" r:id="rId9"/>
    <p:sldId id="287" r:id="rId10"/>
    <p:sldId id="288" r:id="rId11"/>
    <p:sldId id="289" r:id="rId12"/>
    <p:sldId id="291" r:id="rId13"/>
    <p:sldId id="292" r:id="rId14"/>
    <p:sldId id="293" r:id="rId15"/>
    <p:sldId id="294" r:id="rId16"/>
    <p:sldId id="295" r:id="rId17"/>
    <p:sldId id="297" r:id="rId18"/>
    <p:sldId id="298" r:id="rId19"/>
    <p:sldId id="299" r:id="rId20"/>
    <p:sldId id="300" r:id="rId21"/>
    <p:sldId id="301" r:id="rId22"/>
    <p:sldId id="296" r:id="rId23"/>
    <p:sldId id="302" r:id="rId24"/>
    <p:sldId id="303" r:id="rId25"/>
    <p:sldId id="304" r:id="rId26"/>
    <p:sldId id="305" r:id="rId27"/>
    <p:sldId id="307" r:id="rId28"/>
    <p:sldId id="306" r:id="rId29"/>
    <p:sldId id="308" r:id="rId30"/>
    <p:sldId id="269" r:id="rId31"/>
  </p:sldIdLst>
  <p:sldSz cx="14630400" cy="8229600"/>
  <p:notesSz cx="8229600" cy="14630400"/>
  <p:embeddedFontLst>
    <p:embeddedFont>
      <p:font typeface="Consolas" panose="020B0609020204030204" pitchFamily="49" charset="0"/>
      <p:regular r:id="rId33"/>
      <p:bold r:id="rId34"/>
      <p:italic r:id="rId35"/>
      <p:boldItalic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87B1A43-F16A-4175-A28C-6EA17110B356}">
          <p14:sldIdLst>
            <p14:sldId id="267"/>
            <p14:sldId id="285"/>
            <p14:sldId id="286"/>
            <p14:sldId id="287"/>
            <p14:sldId id="288"/>
            <p14:sldId id="289"/>
            <p14:sldId id="291"/>
            <p14:sldId id="292"/>
          </p14:sldIdLst>
        </p14:section>
        <p14:section name="hand-on" id="{26B40F75-5483-4A26-B643-E921D33E5AAF}">
          <p14:sldIdLst>
            <p14:sldId id="293"/>
            <p14:sldId id="294"/>
            <p14:sldId id="295"/>
            <p14:sldId id="297"/>
            <p14:sldId id="298"/>
            <p14:sldId id="299"/>
            <p14:sldId id="300"/>
            <p14:sldId id="301"/>
            <p14:sldId id="296"/>
            <p14:sldId id="302"/>
            <p14:sldId id="303"/>
            <p14:sldId id="304"/>
            <p14:sldId id="305"/>
            <p14:sldId id="307"/>
            <p14:sldId id="306"/>
            <p14:sldId id="30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458357-15C2-482A-9BC2-4009F5DDB8AF}" v="2" dt="2026-02-25T02:24:18.1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741" autoAdjust="0"/>
    <p:restoredTop sz="77699" autoAdjust="0"/>
  </p:normalViewPr>
  <p:slideViewPr>
    <p:cSldViewPr snapToGrid="0" snapToObjects="1">
      <p:cViewPr>
        <p:scale>
          <a:sx n="48" d="100"/>
          <a:sy n="48" d="100"/>
        </p:scale>
        <p:origin x="1275" y="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theme" Target="theme/theme1.xml"/><Relationship Id="rId21" Type="http://schemas.openxmlformats.org/officeDocument/2006/relationships/slide" Target="slides/slide15.xml"/><Relationship Id="rId34" Type="http://schemas.openxmlformats.org/officeDocument/2006/relationships/font" Target="fonts/font2.fntdata"/><Relationship Id="rId42" Type="http://schemas.microsoft.com/office/2015/10/relationships/revisionInfo" Target="revisionInfo.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notesMaster" Target="notesMasters/notesMaster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font" Target="fonts/font4.fntdata"/><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font" Target="fonts/font3.fntdata"/><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font" Target="fonts/font1.fntdata"/><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ng. Nguyen Viet - CMCU" userId="c51906a1-f569-4298-817a-9a14a5d7b82c" providerId="ADAL" clId="{4F5E3F8A-AF6A-421E-BD32-7F7F29FAA2DE}"/>
    <pc:docChg chg="undo custSel modSld">
      <pc:chgData name="Hung. Nguyen Viet - CMCU" userId="c51906a1-f569-4298-817a-9a14a5d7b82c" providerId="ADAL" clId="{4F5E3F8A-AF6A-421E-BD32-7F7F29FAA2DE}" dt="2026-02-25T02:39:26.694" v="15" actId="20577"/>
      <pc:docMkLst>
        <pc:docMk/>
      </pc:docMkLst>
      <pc:sldChg chg="modSp mod">
        <pc:chgData name="Hung. Nguyen Viet - CMCU" userId="c51906a1-f569-4298-817a-9a14a5d7b82c" providerId="ADAL" clId="{4F5E3F8A-AF6A-421E-BD32-7F7F29FAA2DE}" dt="2026-02-25T02:24:17.746" v="5" actId="20577"/>
        <pc:sldMkLst>
          <pc:docMk/>
          <pc:sldMk cId="2248088158" sldId="291"/>
        </pc:sldMkLst>
        <pc:spChg chg="mod">
          <ac:chgData name="Hung. Nguyen Viet - CMCU" userId="c51906a1-f569-4298-817a-9a14a5d7b82c" providerId="ADAL" clId="{4F5E3F8A-AF6A-421E-BD32-7F7F29FAA2DE}" dt="2026-02-25T02:24:17.746" v="5" actId="20577"/>
          <ac:spMkLst>
            <pc:docMk/>
            <pc:sldMk cId="2248088158" sldId="291"/>
            <ac:spMk id="2" creationId="{397F7690-6816-E211-4FF6-8303129A6A4C}"/>
          </ac:spMkLst>
        </pc:spChg>
      </pc:sldChg>
      <pc:sldChg chg="modSp mod">
        <pc:chgData name="Hung. Nguyen Viet - CMCU" userId="c51906a1-f569-4298-817a-9a14a5d7b82c" providerId="ADAL" clId="{4F5E3F8A-AF6A-421E-BD32-7F7F29FAA2DE}" dt="2026-02-25T02:25:24.134" v="14" actId="20577"/>
        <pc:sldMkLst>
          <pc:docMk/>
          <pc:sldMk cId="1567604564" sldId="292"/>
        </pc:sldMkLst>
        <pc:spChg chg="mod">
          <ac:chgData name="Hung. Nguyen Viet - CMCU" userId="c51906a1-f569-4298-817a-9a14a5d7b82c" providerId="ADAL" clId="{4F5E3F8A-AF6A-421E-BD32-7F7F29FAA2DE}" dt="2026-02-25T02:25:24.134" v="14" actId="20577"/>
          <ac:spMkLst>
            <pc:docMk/>
            <pc:sldMk cId="1567604564" sldId="292"/>
            <ac:spMk id="2" creationId="{397F7690-6816-E211-4FF6-8303129A6A4C}"/>
          </ac:spMkLst>
        </pc:spChg>
      </pc:sldChg>
      <pc:sldChg chg="modNotesTx">
        <pc:chgData name="Hung. Nguyen Viet - CMCU" userId="c51906a1-f569-4298-817a-9a14a5d7b82c" providerId="ADAL" clId="{4F5E3F8A-AF6A-421E-BD32-7F7F29FAA2DE}" dt="2026-02-25T02:39:26.694" v="15" actId="20577"/>
        <pc:sldMkLst>
          <pc:docMk/>
          <pc:sldMk cId="3499827207" sldId="30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2099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0" dirty="0"/>
              <a:t>Angular là một framework ứng dụng web front-end dựa trên TypeScript, được duy trì bởi Google.</a:t>
            </a:r>
          </a:p>
          <a:p>
            <a:r>
              <a:rPr lang="vi-VN" b="0" dirty="0"/>
              <a:t>Nó là một nền tảng để xây dựng các ứng dụng web động, trang đơn (SPA).</a:t>
            </a:r>
          </a:p>
          <a:p>
            <a:r>
              <a:rPr lang="vi-VN" b="0" dirty="0"/>
              <a:t>Angular cho phép các nhà phát triển xây dựng các ứng dụng phía máy khách phong phú một cách dễ dàng bằng cách sử dụng các công nghệ web hiện đại như HTML, CSS và JavaScript (hoặc TypeScript).</a:t>
            </a:r>
          </a:p>
          <a:p>
            <a:endParaRPr lang="en-US" b="0" dirty="0"/>
          </a:p>
        </p:txBody>
      </p:sp>
    </p:spTree>
    <p:extLst>
      <p:ext uri="{BB962C8B-B14F-4D97-AF65-F5344CB8AC3E}">
        <p14:creationId xmlns:p14="http://schemas.microsoft.com/office/powerpoint/2010/main" val="36362147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lnSpc>
                <a:spcPct val="130000"/>
              </a:lnSpc>
            </a:pPr>
            <a:r>
              <a:rPr lang="en-US" sz="3350" b="1" dirty="0">
                <a:cs typeface="Arial"/>
              </a:rPr>
              <a:t>Component-Based Architecture:</a:t>
            </a:r>
          </a:p>
          <a:p>
            <a:pPr lvl="1">
              <a:lnSpc>
                <a:spcPct val="130000"/>
              </a:lnSpc>
              <a:buFont typeface="Courier New" panose="020B0604020202020204" pitchFamily="34" charset="0"/>
              <a:buChar char="o"/>
            </a:pPr>
            <a:r>
              <a:rPr lang="en-US" sz="2850" dirty="0">
                <a:cs typeface="Arial"/>
              </a:rPr>
              <a:t>Applications are built using modular, reusable components, each with its own logic, view, and style.</a:t>
            </a:r>
          </a:p>
          <a:p>
            <a:pPr>
              <a:lnSpc>
                <a:spcPct val="130000"/>
              </a:lnSpc>
            </a:pPr>
            <a:r>
              <a:rPr lang="en-US" sz="3350" b="1" dirty="0">
                <a:cs typeface="Arial"/>
              </a:rPr>
              <a:t>Two-Way Data Binding:</a:t>
            </a:r>
            <a:endParaRPr lang="en-US" dirty="0">
              <a:cs typeface="Arial"/>
            </a:endParaRPr>
          </a:p>
          <a:p>
            <a:pPr lvl="1">
              <a:lnSpc>
                <a:spcPct val="130000"/>
              </a:lnSpc>
              <a:buFont typeface="Courier New" panose="020B0604020202020204" pitchFamily="34" charset="0"/>
              <a:buChar char="o"/>
            </a:pPr>
            <a:r>
              <a:rPr lang="en-US" sz="2850" dirty="0">
                <a:cs typeface="Arial"/>
              </a:rPr>
              <a:t>Synchronizes data between the model (business logic) and the view (UI) in real-time.</a:t>
            </a:r>
          </a:p>
          <a:p>
            <a:pPr>
              <a:lnSpc>
                <a:spcPct val="130000"/>
              </a:lnSpc>
            </a:pPr>
            <a:r>
              <a:rPr lang="en-US" sz="3350" b="1" dirty="0">
                <a:cs typeface="Arial"/>
              </a:rPr>
              <a:t>Dependency Injection (DI):</a:t>
            </a:r>
            <a:endParaRPr lang="en-US" dirty="0">
              <a:cs typeface="Arial"/>
            </a:endParaRPr>
          </a:p>
          <a:p>
            <a:pPr lvl="1">
              <a:lnSpc>
                <a:spcPct val="130000"/>
              </a:lnSpc>
              <a:buFont typeface="Courier New" panose="020B0604020202020204" pitchFamily="34" charset="0"/>
              <a:buChar char="o"/>
            </a:pPr>
            <a:r>
              <a:rPr lang="en-US" sz="2850" dirty="0" err="1">
                <a:cs typeface="Arial"/>
              </a:rPr>
              <a:t>Angular's</a:t>
            </a:r>
            <a:r>
              <a:rPr lang="en-US" sz="2850" dirty="0">
                <a:cs typeface="Arial"/>
              </a:rPr>
              <a:t> DI system allows the creation and management of services, promoting modularity and maintainability.</a:t>
            </a:r>
          </a:p>
          <a:p>
            <a:pPr>
              <a:lnSpc>
                <a:spcPct val="130000"/>
              </a:lnSpc>
            </a:pPr>
            <a:r>
              <a:rPr lang="en-US" sz="3350" b="1" dirty="0">
                <a:cs typeface="Arial"/>
              </a:rPr>
              <a:t>Directives:</a:t>
            </a:r>
            <a:endParaRPr lang="en-US" b="1" dirty="0">
              <a:cs typeface="Arial"/>
            </a:endParaRPr>
          </a:p>
          <a:p>
            <a:pPr lvl="1">
              <a:lnSpc>
                <a:spcPct val="130000"/>
              </a:lnSpc>
              <a:buFont typeface="Courier New" panose="020B0604020202020204" pitchFamily="34" charset="0"/>
              <a:buChar char="o"/>
            </a:pPr>
            <a:r>
              <a:rPr lang="en-US" sz="2850" dirty="0">
                <a:cs typeface="Arial"/>
              </a:rPr>
              <a:t>Extend the HTML vocabulary by creating custom behaviors (*</a:t>
            </a:r>
            <a:r>
              <a:rPr lang="en-US" sz="2850" dirty="0" err="1">
                <a:cs typeface="Arial"/>
              </a:rPr>
              <a:t>ngIf</a:t>
            </a:r>
            <a:r>
              <a:rPr lang="en-US" sz="2850" dirty="0">
                <a:cs typeface="Arial"/>
              </a:rPr>
              <a:t>, *</a:t>
            </a:r>
            <a:r>
              <a:rPr lang="en-US" sz="2850" dirty="0" err="1">
                <a:cs typeface="Arial"/>
              </a:rPr>
              <a:t>ngFor</a:t>
            </a:r>
            <a:r>
              <a:rPr lang="en-US" sz="2850" dirty="0">
                <a:cs typeface="Arial"/>
              </a:rPr>
              <a:t>, etc.).</a:t>
            </a:r>
          </a:p>
          <a:p>
            <a:pPr>
              <a:lnSpc>
                <a:spcPct val="130000"/>
              </a:lnSpc>
            </a:pPr>
            <a:r>
              <a:rPr lang="en-US" sz="3350" b="1" dirty="0" err="1">
                <a:cs typeface="Arial"/>
              </a:rPr>
              <a:t>RxJS</a:t>
            </a:r>
            <a:r>
              <a:rPr lang="en-US" sz="3350" b="1" dirty="0">
                <a:cs typeface="Arial"/>
              </a:rPr>
              <a:t> and Observables:</a:t>
            </a:r>
            <a:endParaRPr lang="en-US" dirty="0">
              <a:cs typeface="Arial"/>
            </a:endParaRPr>
          </a:p>
          <a:p>
            <a:pPr lvl="1">
              <a:lnSpc>
                <a:spcPct val="130000"/>
              </a:lnSpc>
              <a:buFont typeface="Courier New" panose="020B0604020202020204" pitchFamily="34" charset="0"/>
              <a:buChar char="o"/>
            </a:pPr>
            <a:r>
              <a:rPr lang="en-US" sz="2850" dirty="0">
                <a:cs typeface="Arial"/>
              </a:rPr>
              <a:t>Enables reactive programming for handling asynchronous operations like HTTP requests and event streams.</a:t>
            </a:r>
          </a:p>
          <a:p>
            <a:endParaRPr lang="en-US" sz="3350" dirty="0">
              <a:cs typeface="Arial"/>
            </a:endParaRPr>
          </a:p>
          <a:p>
            <a:endParaRPr lang="en-US" dirty="0"/>
          </a:p>
        </p:txBody>
      </p:sp>
    </p:spTree>
    <p:extLst>
      <p:ext uri="{BB962C8B-B14F-4D97-AF65-F5344CB8AC3E}">
        <p14:creationId xmlns:p14="http://schemas.microsoft.com/office/powerpoint/2010/main" val="2754495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Kiến Trúc Dựa Trên Component:</a:t>
            </a:r>
            <a:endParaRPr lang="vi-VN" dirty="0"/>
          </a:p>
          <a:p>
            <a:pPr>
              <a:buFont typeface="Arial" panose="020B0604020202020204" pitchFamily="34" charset="0"/>
              <a:buChar char="•"/>
            </a:pPr>
            <a:r>
              <a:rPr lang="vi-VN" dirty="0"/>
              <a:t>Ứng dụng được xây dựng bằng cách sử dụng các component mô-đun, có thể tái sử dụng, mỗi component có logic, view và style riêng.</a:t>
            </a:r>
          </a:p>
          <a:p>
            <a:r>
              <a:rPr lang="vi-VN" b="1" dirty="0"/>
              <a:t>Data Binding Hai Chiều:</a:t>
            </a:r>
            <a:endParaRPr lang="vi-VN" dirty="0"/>
          </a:p>
          <a:p>
            <a:pPr>
              <a:buFont typeface="Arial" panose="020B0604020202020204" pitchFamily="34" charset="0"/>
              <a:buChar char="•"/>
            </a:pPr>
            <a:r>
              <a:rPr lang="vi-VN" dirty="0"/>
              <a:t>Đồng bộ hóa dữ liệu giữa model (logic nghiệp vụ) và view (UI) theo thời gian thực.</a:t>
            </a:r>
          </a:p>
          <a:p>
            <a:r>
              <a:rPr lang="vi-VN" b="1" dirty="0"/>
              <a:t>Dependency Injection (DI):</a:t>
            </a:r>
            <a:endParaRPr lang="vi-VN" dirty="0"/>
          </a:p>
          <a:p>
            <a:pPr>
              <a:buFont typeface="Arial" panose="020B0604020202020204" pitchFamily="34" charset="0"/>
              <a:buChar char="•"/>
            </a:pPr>
            <a:r>
              <a:rPr lang="vi-VN" dirty="0"/>
              <a:t>Hệ thống DI của Angular cho phép tạo và quản lý các service, thúc đẩy tính mô-đun và khả năng bảo trì.</a:t>
            </a:r>
          </a:p>
          <a:p>
            <a:r>
              <a:rPr lang="vi-VN" b="1" dirty="0"/>
              <a:t>Directives:</a:t>
            </a:r>
            <a:endParaRPr lang="vi-VN" dirty="0"/>
          </a:p>
          <a:p>
            <a:pPr>
              <a:buFont typeface="Arial" panose="020B0604020202020204" pitchFamily="34" charset="0"/>
              <a:buChar char="•"/>
            </a:pPr>
            <a:r>
              <a:rPr lang="vi-VN" dirty="0"/>
              <a:t>Mở rộng từ vựng HTML bằng cách tạo các hành vi tùy chỉnh (*ngIf, *ngFor, v.v.).</a:t>
            </a:r>
          </a:p>
          <a:p>
            <a:r>
              <a:rPr lang="vi-VN" b="1" dirty="0"/>
              <a:t>RxJS và Observables:</a:t>
            </a:r>
            <a:endParaRPr lang="vi-VN" dirty="0"/>
          </a:p>
          <a:p>
            <a:pPr>
              <a:buFont typeface="Arial" panose="020B0604020202020204" pitchFamily="34" charset="0"/>
              <a:buChar char="•"/>
            </a:pPr>
            <a:r>
              <a:rPr lang="vi-VN" dirty="0"/>
              <a:t>Cho phép lập trình phản ứng để xử lý các hoạt động không đồng bộ như yêu cầu HTTP và luồng sự kiện.</a:t>
            </a:r>
          </a:p>
          <a:p>
            <a:endParaRPr lang="en-US" dirty="0"/>
          </a:p>
        </p:txBody>
      </p:sp>
    </p:spTree>
    <p:extLst>
      <p:ext uri="{BB962C8B-B14F-4D97-AF65-F5344CB8AC3E}">
        <p14:creationId xmlns:p14="http://schemas.microsoft.com/office/powerpoint/2010/main" val="2926663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en-US" b="1" dirty="0"/>
              <a:t>Components là </a:t>
            </a:r>
            <a:r>
              <a:rPr lang="en-US" b="1" dirty="0" err="1"/>
              <a:t>các</a:t>
            </a:r>
            <a:r>
              <a:rPr lang="en-US" b="1" dirty="0"/>
              <a:t> </a:t>
            </a:r>
            <a:r>
              <a:rPr lang="en-US" b="1" dirty="0" err="1"/>
              <a:t>khối</a:t>
            </a:r>
            <a:r>
              <a:rPr lang="en-US" b="1" dirty="0"/>
              <a:t> </a:t>
            </a:r>
            <a:r>
              <a:rPr lang="en-US" b="1" dirty="0" err="1"/>
              <a:t>xây</a:t>
            </a:r>
            <a:r>
              <a:rPr lang="en-US" b="1" dirty="0"/>
              <a:t> </a:t>
            </a:r>
            <a:r>
              <a:rPr lang="en-US" b="1" dirty="0" err="1"/>
              <a:t>dựng</a:t>
            </a:r>
            <a:r>
              <a:rPr lang="en-US" b="1" dirty="0"/>
              <a:t> </a:t>
            </a:r>
            <a:r>
              <a:rPr lang="en-US" b="1" dirty="0" err="1"/>
              <a:t>của</a:t>
            </a:r>
            <a:r>
              <a:rPr lang="en-US" b="1" dirty="0"/>
              <a:t> </a:t>
            </a:r>
            <a:r>
              <a:rPr lang="en-US" b="1" dirty="0" err="1"/>
              <a:t>ứng</a:t>
            </a:r>
            <a:r>
              <a:rPr lang="en-US" b="1" dirty="0"/>
              <a:t> </a:t>
            </a:r>
            <a:r>
              <a:rPr lang="en-US" b="1" dirty="0" err="1"/>
              <a:t>dụng</a:t>
            </a:r>
            <a:r>
              <a:rPr lang="en-US" b="1" dirty="0"/>
              <a:t> Angular. </a:t>
            </a:r>
            <a:r>
              <a:rPr lang="en-US" b="1" dirty="0" err="1"/>
              <a:t>Mỗi</a:t>
            </a:r>
            <a:r>
              <a:rPr lang="en-US" b="1" dirty="0"/>
              <a:t> component bao </a:t>
            </a:r>
            <a:r>
              <a:rPr lang="en-US" b="1" dirty="0" err="1"/>
              <a:t>gồm</a:t>
            </a:r>
            <a:r>
              <a:rPr lang="en-US" b="1" dirty="0"/>
              <a:t>:</a:t>
            </a:r>
            <a:endParaRPr lang="en-US" dirty="0"/>
          </a:p>
          <a:p>
            <a:pPr>
              <a:buFont typeface="Arial" panose="020B0604020202020204" pitchFamily="34" charset="0"/>
              <a:buChar char="•"/>
            </a:pPr>
            <a:r>
              <a:rPr lang="en-US" b="1" dirty="0"/>
              <a:t>HTML Template (Mẫu HTML):</a:t>
            </a:r>
            <a:r>
              <a:rPr lang="en-US" dirty="0"/>
              <a:t> </a:t>
            </a:r>
            <a:r>
              <a:rPr lang="en-US" dirty="0" err="1"/>
              <a:t>Định</a:t>
            </a:r>
            <a:r>
              <a:rPr lang="en-US" dirty="0"/>
              <a:t> </a:t>
            </a:r>
            <a:r>
              <a:rPr lang="en-US" dirty="0" err="1"/>
              <a:t>nghĩa</a:t>
            </a:r>
            <a:r>
              <a:rPr lang="en-US" dirty="0"/>
              <a:t> UI.</a:t>
            </a:r>
          </a:p>
          <a:p>
            <a:pPr>
              <a:buFont typeface="Arial" panose="020B0604020202020204" pitchFamily="34" charset="0"/>
              <a:buChar char="•"/>
            </a:pPr>
            <a:r>
              <a:rPr lang="en-US" b="1" dirty="0"/>
              <a:t>CSS/</a:t>
            </a:r>
            <a:r>
              <a:rPr lang="en-US" b="1" dirty="0" err="1"/>
              <a:t>SCSS</a:t>
            </a:r>
            <a:r>
              <a:rPr lang="en-US" b="1" dirty="0"/>
              <a:t> Styles (</a:t>
            </a:r>
            <a:r>
              <a:rPr lang="en-US" b="1" dirty="0" err="1"/>
              <a:t>Kiểu</a:t>
            </a:r>
            <a:r>
              <a:rPr lang="en-US" b="1" dirty="0"/>
              <a:t> CSS/</a:t>
            </a:r>
            <a:r>
              <a:rPr lang="en-US" b="1" dirty="0" err="1"/>
              <a:t>SCSS</a:t>
            </a:r>
            <a:r>
              <a:rPr lang="en-US" b="1" dirty="0"/>
              <a:t>):</a:t>
            </a:r>
            <a:r>
              <a:rPr lang="en-US" dirty="0"/>
              <a:t> </a:t>
            </a:r>
            <a:r>
              <a:rPr lang="en-US" dirty="0" err="1"/>
              <a:t>Định</a:t>
            </a:r>
            <a:r>
              <a:rPr lang="en-US" dirty="0"/>
              <a:t> </a:t>
            </a:r>
            <a:r>
              <a:rPr lang="en-US" dirty="0" err="1"/>
              <a:t>nghĩa</a:t>
            </a:r>
            <a:r>
              <a:rPr lang="en-US" dirty="0"/>
              <a:t> </a:t>
            </a:r>
            <a:r>
              <a:rPr lang="en-US" dirty="0" err="1"/>
              <a:t>giao</a:t>
            </a:r>
            <a:r>
              <a:rPr lang="en-US" dirty="0"/>
              <a:t> </a:t>
            </a:r>
            <a:r>
              <a:rPr lang="en-US" dirty="0" err="1"/>
              <a:t>diện</a:t>
            </a:r>
            <a:r>
              <a:rPr lang="en-US" dirty="0"/>
              <a:t>.</a:t>
            </a:r>
          </a:p>
          <a:p>
            <a:pPr>
              <a:buFont typeface="Arial" panose="020B0604020202020204" pitchFamily="34" charset="0"/>
              <a:buChar char="•"/>
            </a:pPr>
            <a:r>
              <a:rPr lang="en-US" b="1" dirty="0"/>
              <a:t>TypeScript Class (</a:t>
            </a:r>
            <a:r>
              <a:rPr lang="en-US" b="1" dirty="0" err="1"/>
              <a:t>Lớp</a:t>
            </a:r>
            <a:r>
              <a:rPr lang="en-US" b="1" dirty="0"/>
              <a:t> TypeScript):</a:t>
            </a:r>
            <a:r>
              <a:rPr lang="en-US" dirty="0"/>
              <a:t> </a:t>
            </a:r>
            <a:r>
              <a:rPr lang="en-US" dirty="0" err="1"/>
              <a:t>Chứa</a:t>
            </a:r>
            <a:r>
              <a:rPr lang="en-US" dirty="0"/>
              <a:t> logic.</a:t>
            </a:r>
          </a:p>
          <a:p>
            <a:endParaRPr lang="en-US" dirty="0"/>
          </a:p>
        </p:txBody>
      </p:sp>
    </p:spTree>
    <p:extLst>
      <p:ext uri="{BB962C8B-B14F-4D97-AF65-F5344CB8AC3E}">
        <p14:creationId xmlns:p14="http://schemas.microsoft.com/office/powerpoint/2010/main" val="25625387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dirty="0"/>
              <a:t>Modules là các vùng chứa cho một khối mã gắn kết được dành riêng cho một miền hoặc tính năng cụ thể.</a:t>
            </a:r>
            <a:endParaRPr lang="en-US" dirty="0"/>
          </a:p>
        </p:txBody>
      </p:sp>
    </p:spTree>
    <p:extLst>
      <p:ext uri="{BB962C8B-B14F-4D97-AF65-F5344CB8AC3E}">
        <p14:creationId xmlns:p14="http://schemas.microsoft.com/office/powerpoint/2010/main" val="31707997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en-US" b="1" dirty="0"/>
              <a:t>Directives </a:t>
            </a:r>
            <a:r>
              <a:rPr lang="en-US" b="1" dirty="0" err="1"/>
              <a:t>thêm</a:t>
            </a:r>
            <a:r>
              <a:rPr lang="en-US" b="1" dirty="0"/>
              <a:t> </a:t>
            </a:r>
            <a:r>
              <a:rPr lang="en-US" b="1" dirty="0" err="1"/>
              <a:t>hành</a:t>
            </a:r>
            <a:r>
              <a:rPr lang="en-US" b="1" dirty="0"/>
              <a:t> vi vào </a:t>
            </a:r>
            <a:r>
              <a:rPr lang="en-US" b="1" dirty="0" err="1"/>
              <a:t>các</a:t>
            </a:r>
            <a:r>
              <a:rPr lang="en-US" b="1" dirty="0"/>
              <a:t> </a:t>
            </a:r>
            <a:r>
              <a:rPr lang="en-US" b="1" dirty="0" err="1"/>
              <a:t>phần</a:t>
            </a:r>
            <a:r>
              <a:rPr lang="en-US" b="1" dirty="0"/>
              <a:t> </a:t>
            </a:r>
            <a:r>
              <a:rPr lang="en-US" b="1" dirty="0" err="1"/>
              <a:t>tử</a:t>
            </a:r>
            <a:r>
              <a:rPr lang="en-US" b="1" dirty="0"/>
              <a:t> </a:t>
            </a:r>
            <a:r>
              <a:rPr lang="en-US" b="1" dirty="0" err="1"/>
              <a:t>hoặc</a:t>
            </a:r>
            <a:r>
              <a:rPr lang="en-US" b="1" dirty="0"/>
              <a:t> templates.</a:t>
            </a:r>
            <a:endParaRPr lang="en-US" dirty="0"/>
          </a:p>
          <a:p>
            <a:pPr>
              <a:buFont typeface="Arial" panose="020B0604020202020204" pitchFamily="34" charset="0"/>
              <a:buChar char="•"/>
            </a:pPr>
            <a:r>
              <a:rPr lang="en-US" b="1" dirty="0"/>
              <a:t>Structural Directives (Directives </a:t>
            </a:r>
            <a:r>
              <a:rPr lang="en-US" b="1" dirty="0" err="1"/>
              <a:t>Cấu</a:t>
            </a:r>
            <a:r>
              <a:rPr lang="en-US" b="1" dirty="0"/>
              <a:t> Trúc):</a:t>
            </a:r>
            <a:r>
              <a:rPr lang="en-US" dirty="0"/>
              <a:t> Thay </a:t>
            </a:r>
            <a:r>
              <a:rPr lang="en-US" dirty="0" err="1"/>
              <a:t>đổi</a:t>
            </a:r>
            <a:r>
              <a:rPr lang="en-US" dirty="0"/>
              <a:t> </a:t>
            </a:r>
            <a:r>
              <a:rPr lang="en-US" dirty="0" err="1"/>
              <a:t>cấu</a:t>
            </a:r>
            <a:r>
              <a:rPr lang="en-US" dirty="0"/>
              <a:t> </a:t>
            </a:r>
            <a:r>
              <a:rPr lang="en-US" dirty="0" err="1"/>
              <a:t>trúc</a:t>
            </a:r>
            <a:r>
              <a:rPr lang="en-US" dirty="0"/>
              <a:t> DOM (</a:t>
            </a:r>
            <a:r>
              <a:rPr lang="en-US" dirty="0" err="1"/>
              <a:t>ví</a:t>
            </a:r>
            <a:r>
              <a:rPr lang="en-US" dirty="0"/>
              <a:t> </a:t>
            </a:r>
            <a:r>
              <a:rPr lang="en-US" dirty="0" err="1"/>
              <a:t>dụ</a:t>
            </a:r>
            <a:r>
              <a:rPr lang="en-US" dirty="0"/>
              <a:t>: *</a:t>
            </a:r>
            <a:r>
              <a:rPr lang="en-US" dirty="0" err="1"/>
              <a:t>ngIf</a:t>
            </a:r>
            <a:r>
              <a:rPr lang="en-US" dirty="0"/>
              <a:t>, *</a:t>
            </a:r>
            <a:r>
              <a:rPr lang="en-US" dirty="0" err="1"/>
              <a:t>ngFor</a:t>
            </a:r>
            <a:r>
              <a:rPr lang="en-US" dirty="0"/>
              <a:t>).</a:t>
            </a:r>
          </a:p>
          <a:p>
            <a:pPr>
              <a:buFont typeface="Arial" panose="020B0604020202020204" pitchFamily="34" charset="0"/>
              <a:buChar char="•"/>
            </a:pPr>
            <a:r>
              <a:rPr lang="en-US" b="1" dirty="0"/>
              <a:t>Attribute Directives (Directives </a:t>
            </a:r>
            <a:r>
              <a:rPr lang="en-US" b="1" dirty="0" err="1"/>
              <a:t>Thuộc</a:t>
            </a:r>
            <a:r>
              <a:rPr lang="en-US" b="1" dirty="0"/>
              <a:t> </a:t>
            </a:r>
            <a:r>
              <a:rPr lang="en-US" b="1" dirty="0" err="1"/>
              <a:t>Tính</a:t>
            </a:r>
            <a:r>
              <a:rPr lang="en-US" b="1" dirty="0"/>
              <a:t>):</a:t>
            </a:r>
            <a:r>
              <a:rPr lang="en-US" dirty="0"/>
              <a:t> Thay </a:t>
            </a:r>
            <a:r>
              <a:rPr lang="en-US" dirty="0" err="1"/>
              <a:t>đổi</a:t>
            </a:r>
            <a:r>
              <a:rPr lang="en-US" dirty="0"/>
              <a:t> </a:t>
            </a:r>
            <a:r>
              <a:rPr lang="en-US" dirty="0" err="1"/>
              <a:t>giao</a:t>
            </a:r>
            <a:r>
              <a:rPr lang="en-US" dirty="0"/>
              <a:t> </a:t>
            </a:r>
            <a:r>
              <a:rPr lang="en-US" dirty="0" err="1"/>
              <a:t>diện</a:t>
            </a:r>
            <a:r>
              <a:rPr lang="en-US" dirty="0"/>
              <a:t> </a:t>
            </a:r>
            <a:r>
              <a:rPr lang="en-US" dirty="0" err="1"/>
              <a:t>hoặc</a:t>
            </a:r>
            <a:r>
              <a:rPr lang="en-US" dirty="0"/>
              <a:t> </a:t>
            </a:r>
            <a:r>
              <a:rPr lang="en-US" dirty="0" err="1"/>
              <a:t>hành</a:t>
            </a:r>
            <a:r>
              <a:rPr lang="en-US" dirty="0"/>
              <a:t> vi </a:t>
            </a:r>
            <a:r>
              <a:rPr lang="en-US" dirty="0" err="1"/>
              <a:t>của</a:t>
            </a:r>
            <a:r>
              <a:rPr lang="en-US" dirty="0"/>
              <a:t> </a:t>
            </a:r>
            <a:r>
              <a:rPr lang="en-US" dirty="0" err="1"/>
              <a:t>một</a:t>
            </a:r>
            <a:r>
              <a:rPr lang="en-US" dirty="0"/>
              <a:t> </a:t>
            </a:r>
            <a:r>
              <a:rPr lang="en-US" dirty="0" err="1"/>
              <a:t>phần</a:t>
            </a:r>
            <a:r>
              <a:rPr lang="en-US" dirty="0"/>
              <a:t> </a:t>
            </a:r>
            <a:r>
              <a:rPr lang="en-US" dirty="0" err="1"/>
              <a:t>tử</a:t>
            </a:r>
            <a:r>
              <a:rPr lang="en-US" dirty="0"/>
              <a:t> (</a:t>
            </a:r>
            <a:r>
              <a:rPr lang="en-US" dirty="0" err="1"/>
              <a:t>ví</a:t>
            </a:r>
            <a:r>
              <a:rPr lang="en-US" dirty="0"/>
              <a:t> </a:t>
            </a:r>
            <a:r>
              <a:rPr lang="en-US" dirty="0" err="1"/>
              <a:t>dụ</a:t>
            </a:r>
            <a:r>
              <a:rPr lang="en-US" dirty="0"/>
              <a:t>: [</a:t>
            </a:r>
            <a:r>
              <a:rPr lang="en-US" dirty="0" err="1"/>
              <a:t>ngStyle</a:t>
            </a:r>
            <a:r>
              <a:rPr lang="en-US" dirty="0"/>
              <a:t>], [</a:t>
            </a:r>
            <a:r>
              <a:rPr lang="en-US" dirty="0" err="1"/>
              <a:t>ngClass</a:t>
            </a:r>
            <a:r>
              <a:rPr lang="en-US" dirty="0"/>
              <a:t>]).</a:t>
            </a:r>
          </a:p>
          <a:p>
            <a:endParaRPr lang="en-US" dirty="0"/>
          </a:p>
        </p:txBody>
      </p:sp>
    </p:spTree>
    <p:extLst>
      <p:ext uri="{BB962C8B-B14F-4D97-AF65-F5344CB8AC3E}">
        <p14:creationId xmlns:p14="http://schemas.microsoft.com/office/powerpoint/2010/main" val="9860321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0" dirty="0"/>
              <a:t>Services xử lý logic nghiệp vụ và chia sẻ dữ liệu. Chúng có thể được inject (tiêm) và thúc đẩy khả năng tái sử dụng.</a:t>
            </a:r>
          </a:p>
          <a:p>
            <a:r>
              <a:rPr lang="vi-VN" b="0" dirty="0"/>
              <a:t>Service Ví Dụ:</a:t>
            </a:r>
          </a:p>
          <a:p>
            <a:r>
              <a:rPr lang="vi-VN" b="0" dirty="0"/>
              <a:t>Sử Dụng Service:</a:t>
            </a:r>
          </a:p>
          <a:p>
            <a:endParaRPr lang="en-US" b="0" dirty="0"/>
          </a:p>
        </p:txBody>
      </p:sp>
    </p:spTree>
    <p:extLst>
      <p:ext uri="{BB962C8B-B14F-4D97-AF65-F5344CB8AC3E}">
        <p14:creationId xmlns:p14="http://schemas.microsoft.com/office/powerpoint/2010/main" val="40674208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Cấu Trúc Thư Mục Dự Án Angular:</a:t>
            </a:r>
            <a:endParaRPr lang="vi-VN" dirty="0"/>
          </a:p>
          <a:p>
            <a:pPr>
              <a:buFont typeface="Arial" panose="020B0604020202020204" pitchFamily="34" charset="0"/>
              <a:buChar char="•"/>
            </a:pPr>
            <a:r>
              <a:rPr lang="vi-VN" b="1" dirty="0"/>
              <a:t>src/:</a:t>
            </a:r>
            <a:r>
              <a:rPr lang="vi-VN" dirty="0"/>
              <a:t> Thư mục chính chứa mã nguồn ứng dụng của bạn.</a:t>
            </a:r>
          </a:p>
          <a:p>
            <a:pPr>
              <a:buFont typeface="Arial" panose="020B0604020202020204" pitchFamily="34" charset="0"/>
              <a:buChar char="•"/>
            </a:pPr>
            <a:r>
              <a:rPr lang="vi-VN" b="1" dirty="0"/>
              <a:t>app/:</a:t>
            </a:r>
            <a:r>
              <a:rPr lang="vi-VN" dirty="0"/>
              <a:t> Chứa module gốc (app.module.ts), component gốc (app.component.ts) và các module tính năng, components, services và file routing khác.</a:t>
            </a:r>
          </a:p>
          <a:p>
            <a:pPr>
              <a:buFont typeface="Arial" panose="020B0604020202020204" pitchFamily="34" charset="0"/>
              <a:buChar char="•"/>
            </a:pPr>
            <a:r>
              <a:rPr lang="vi-VN" b="1" dirty="0"/>
              <a:t>assets/:</a:t>
            </a:r>
            <a:r>
              <a:rPr lang="vi-VN" dirty="0"/>
              <a:t> Các tài sản tĩnh có thể truy cập trực tiếp như hình ảnh, phông chữ và các tài nguyên khác.</a:t>
            </a:r>
          </a:p>
          <a:p>
            <a:pPr>
              <a:buFont typeface="Arial" panose="020B0604020202020204" pitchFamily="34" charset="0"/>
              <a:buChar char="•"/>
            </a:pPr>
            <a:r>
              <a:rPr lang="vi-VN" b="1" dirty="0"/>
              <a:t>environments/:</a:t>
            </a:r>
            <a:r>
              <a:rPr lang="vi-VN" dirty="0"/>
              <a:t> Các cấu hình dành riêng cho môi trường.</a:t>
            </a:r>
          </a:p>
          <a:p>
            <a:pPr>
              <a:buFont typeface="Arial" panose="020B0604020202020204" pitchFamily="34" charset="0"/>
              <a:buChar char="•"/>
            </a:pPr>
            <a:r>
              <a:rPr lang="vi-VN" b="1" dirty="0"/>
              <a:t>index.html:</a:t>
            </a:r>
            <a:r>
              <a:rPr lang="vi-VN" dirty="0"/>
              <a:t> File HTML trang đơn nơi ứng dụng Angular được bootstrap.</a:t>
            </a:r>
          </a:p>
          <a:p>
            <a:pPr>
              <a:buFont typeface="Arial" panose="020B0604020202020204" pitchFamily="34" charset="0"/>
              <a:buChar char="•"/>
            </a:pPr>
            <a:r>
              <a:rPr lang="vi-VN" b="1" dirty="0"/>
              <a:t>main.ts:</a:t>
            </a:r>
            <a:r>
              <a:rPr lang="vi-VN" dirty="0"/>
              <a:t> Điểm vào của ứng dụng.</a:t>
            </a:r>
          </a:p>
          <a:p>
            <a:pPr>
              <a:buFont typeface="Arial" panose="020B0604020202020204" pitchFamily="34" charset="0"/>
              <a:buChar char="•"/>
            </a:pPr>
            <a:r>
              <a:rPr lang="vi-VN" b="1" dirty="0"/>
              <a:t>polyfills.ts:</a:t>
            </a:r>
            <a:r>
              <a:rPr lang="vi-VN" dirty="0"/>
              <a:t> Bao gồm các polyfills cần thiết cho khả năng tương thích của trình duyệt.</a:t>
            </a:r>
          </a:p>
          <a:p>
            <a:pPr>
              <a:buFont typeface="Arial" panose="020B0604020202020204" pitchFamily="34" charset="0"/>
              <a:buChar char="•"/>
            </a:pPr>
            <a:r>
              <a:rPr lang="vi-VN" b="1" dirty="0"/>
              <a:t>styles.css:</a:t>
            </a:r>
            <a:r>
              <a:rPr lang="vi-VN" dirty="0"/>
              <a:t> Các style toàn cục cho ứng dụng.</a:t>
            </a:r>
          </a:p>
          <a:p>
            <a:endParaRPr lang="en-US" dirty="0"/>
          </a:p>
        </p:txBody>
      </p:sp>
    </p:spTree>
    <p:extLst>
      <p:ext uri="{BB962C8B-B14F-4D97-AF65-F5344CB8AC3E}">
        <p14:creationId xmlns:p14="http://schemas.microsoft.com/office/powerpoint/2010/main" val="24078522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dirty="0"/>
              <a:t>Data binding (Ràng buộc dữ liệu) trong Angular là một cơ chế kết nối dữ liệu của ứng dụng (model) với view (template HTML), cho phép dữ liệu luân chuyển liền mạch giữa chúng.</a:t>
            </a:r>
            <a:endParaRPr lang="en-US" dirty="0"/>
          </a:p>
        </p:txBody>
      </p:sp>
    </p:spTree>
    <p:extLst>
      <p:ext uri="{BB962C8B-B14F-4D97-AF65-F5344CB8AC3E}">
        <p14:creationId xmlns:p14="http://schemas.microsoft.com/office/powerpoint/2010/main" val="33552477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en-US" b="1" dirty="0" err="1"/>
              <a:t>Hiển</a:t>
            </a:r>
            <a:r>
              <a:rPr lang="en-US" b="1" dirty="0"/>
              <a:t> </a:t>
            </a:r>
            <a:r>
              <a:rPr lang="en-US" b="1" dirty="0" err="1"/>
              <a:t>thị</a:t>
            </a:r>
            <a:r>
              <a:rPr lang="en-US" b="1" dirty="0"/>
              <a:t> dữ </a:t>
            </a:r>
            <a:r>
              <a:rPr lang="en-US" b="1" dirty="0" err="1"/>
              <a:t>liệu</a:t>
            </a:r>
            <a:r>
              <a:rPr lang="en-US" b="1" dirty="0"/>
              <a:t> </a:t>
            </a:r>
            <a:r>
              <a:rPr lang="en-US" b="1" dirty="0" err="1"/>
              <a:t>động</a:t>
            </a:r>
            <a:r>
              <a:rPr lang="en-US" b="1" dirty="0"/>
              <a:t> </a:t>
            </a:r>
            <a:r>
              <a:rPr lang="en-US" b="1" dirty="0" err="1"/>
              <a:t>từ</a:t>
            </a:r>
            <a:r>
              <a:rPr lang="en-US" b="1" dirty="0"/>
              <a:t> component </a:t>
            </a:r>
            <a:r>
              <a:rPr lang="en-US" b="1" dirty="0" err="1"/>
              <a:t>trong</a:t>
            </a:r>
            <a:r>
              <a:rPr lang="en-US" b="1" dirty="0"/>
              <a:t> view.</a:t>
            </a:r>
            <a:endParaRPr lang="en-US" dirty="0"/>
          </a:p>
          <a:p>
            <a:r>
              <a:rPr lang="en-US" b="1" dirty="0" err="1"/>
              <a:t>Sử</a:t>
            </a:r>
            <a:r>
              <a:rPr lang="en-US" b="1" dirty="0"/>
              <a:t> </a:t>
            </a:r>
            <a:r>
              <a:rPr lang="en-US" b="1" dirty="0" err="1"/>
              <a:t>dụng</a:t>
            </a:r>
            <a:r>
              <a:rPr lang="en-US" b="1" dirty="0"/>
              <a:t> </a:t>
            </a:r>
            <a:r>
              <a:rPr lang="en-US" b="1" dirty="0" err="1"/>
              <a:t>cú</a:t>
            </a:r>
            <a:r>
              <a:rPr lang="en-US" b="1" dirty="0"/>
              <a:t> </a:t>
            </a:r>
            <a:r>
              <a:rPr lang="en-US" b="1" dirty="0" err="1"/>
              <a:t>pháp</a:t>
            </a:r>
            <a:r>
              <a:rPr lang="en-US" b="1" dirty="0"/>
              <a:t> {{ ... }}.</a:t>
            </a:r>
            <a:endParaRPr lang="en-US" dirty="0"/>
          </a:p>
          <a:p>
            <a:r>
              <a:rPr lang="en-US" b="1" dirty="0" err="1"/>
              <a:t>Ví</a:t>
            </a:r>
            <a:r>
              <a:rPr lang="en-US" b="1" dirty="0"/>
              <a:t> </a:t>
            </a:r>
            <a:r>
              <a:rPr lang="en-US" b="1" dirty="0" err="1"/>
              <a:t>dụ</a:t>
            </a:r>
            <a:r>
              <a:rPr lang="en-US" b="1" dirty="0"/>
              <a:t>:</a:t>
            </a:r>
            <a:endParaRPr lang="en-US" dirty="0"/>
          </a:p>
          <a:p>
            <a:pPr>
              <a:buFont typeface="Arial" panose="020B0604020202020204" pitchFamily="34" charset="0"/>
              <a:buChar char="•"/>
            </a:pPr>
            <a:r>
              <a:rPr lang="en-US" b="1" dirty="0"/>
              <a:t>Component (TypeScript):</a:t>
            </a:r>
            <a:endParaRPr lang="en-US" dirty="0"/>
          </a:p>
          <a:p>
            <a:pPr>
              <a:buFont typeface="Arial" panose="020B0604020202020204" pitchFamily="34" charset="0"/>
              <a:buChar char="•"/>
            </a:pPr>
            <a:r>
              <a:rPr lang="en-US" b="1" dirty="0"/>
              <a:t>Template (HTML):</a:t>
            </a:r>
            <a:endParaRPr lang="en-US" dirty="0"/>
          </a:p>
          <a:p>
            <a:endParaRPr lang="en-US" dirty="0"/>
          </a:p>
        </p:txBody>
      </p:sp>
    </p:spTree>
    <p:extLst>
      <p:ext uri="{BB962C8B-B14F-4D97-AF65-F5344CB8AC3E}">
        <p14:creationId xmlns:p14="http://schemas.microsoft.com/office/powerpoint/2010/main" val="37973845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en-US" b="1" dirty="0" err="1"/>
              <a:t>Ràng</a:t>
            </a:r>
            <a:r>
              <a:rPr lang="en-US" b="1" dirty="0"/>
              <a:t> </a:t>
            </a:r>
            <a:r>
              <a:rPr lang="en-US" b="1" dirty="0" err="1"/>
              <a:t>buộc</a:t>
            </a:r>
            <a:r>
              <a:rPr lang="en-US" b="1" dirty="0"/>
              <a:t> </a:t>
            </a:r>
            <a:r>
              <a:rPr lang="en-US" b="1" dirty="0" err="1"/>
              <a:t>giá</a:t>
            </a:r>
            <a:r>
              <a:rPr lang="en-US" b="1" dirty="0"/>
              <a:t> </a:t>
            </a:r>
            <a:r>
              <a:rPr lang="en-US" b="1" dirty="0" err="1"/>
              <a:t>trị</a:t>
            </a:r>
            <a:r>
              <a:rPr lang="en-US" b="1" dirty="0"/>
              <a:t> </a:t>
            </a:r>
            <a:r>
              <a:rPr lang="en-US" b="1" dirty="0" err="1"/>
              <a:t>từ</a:t>
            </a:r>
            <a:r>
              <a:rPr lang="en-US" b="1" dirty="0"/>
              <a:t> component đến </a:t>
            </a:r>
            <a:r>
              <a:rPr lang="en-US" b="1" dirty="0" err="1"/>
              <a:t>một</a:t>
            </a:r>
            <a:r>
              <a:rPr lang="en-US" b="1" dirty="0"/>
              <a:t> </a:t>
            </a:r>
            <a:r>
              <a:rPr lang="en-US" b="1" dirty="0" err="1"/>
              <a:t>thuộc</a:t>
            </a:r>
            <a:r>
              <a:rPr lang="en-US" b="1" dirty="0"/>
              <a:t> </a:t>
            </a:r>
            <a:r>
              <a:rPr lang="en-US" b="1" dirty="0" err="1"/>
              <a:t>tính</a:t>
            </a:r>
            <a:r>
              <a:rPr lang="en-US" b="1" dirty="0"/>
              <a:t> </a:t>
            </a:r>
            <a:r>
              <a:rPr lang="en-US" b="1" dirty="0" err="1"/>
              <a:t>phần</a:t>
            </a:r>
            <a:r>
              <a:rPr lang="en-US" b="1" dirty="0"/>
              <a:t> </a:t>
            </a:r>
            <a:r>
              <a:rPr lang="en-US" b="1" dirty="0" err="1"/>
              <a:t>tử</a:t>
            </a:r>
            <a:r>
              <a:rPr lang="en-US" b="1" dirty="0"/>
              <a:t> HTML (</a:t>
            </a:r>
            <a:r>
              <a:rPr lang="en-US" b="1" dirty="0" err="1"/>
              <a:t>không</a:t>
            </a:r>
            <a:r>
              <a:rPr lang="en-US" b="1" dirty="0"/>
              <a:t> phải </a:t>
            </a:r>
            <a:r>
              <a:rPr lang="en-US" b="1" dirty="0" err="1"/>
              <a:t>thuộc</a:t>
            </a:r>
            <a:r>
              <a:rPr lang="en-US" b="1" dirty="0"/>
              <a:t> </a:t>
            </a:r>
            <a:r>
              <a:rPr lang="en-US" b="1" dirty="0" err="1"/>
              <a:t>tính</a:t>
            </a:r>
            <a:r>
              <a:rPr lang="en-US" b="1" dirty="0"/>
              <a:t> HTML).</a:t>
            </a:r>
            <a:endParaRPr lang="en-US" dirty="0"/>
          </a:p>
          <a:p>
            <a:r>
              <a:rPr lang="en-US" b="1" dirty="0" err="1"/>
              <a:t>Sử</a:t>
            </a:r>
            <a:r>
              <a:rPr lang="en-US" b="1" dirty="0"/>
              <a:t> </a:t>
            </a:r>
            <a:r>
              <a:rPr lang="en-US" b="1" dirty="0" err="1"/>
              <a:t>dụng</a:t>
            </a:r>
            <a:r>
              <a:rPr lang="en-US" b="1" dirty="0"/>
              <a:t> </a:t>
            </a:r>
            <a:r>
              <a:rPr lang="en-US" b="1" dirty="0" err="1"/>
              <a:t>cú</a:t>
            </a:r>
            <a:r>
              <a:rPr lang="en-US" b="1" dirty="0"/>
              <a:t> </a:t>
            </a:r>
            <a:r>
              <a:rPr lang="en-US" b="1" dirty="0" err="1"/>
              <a:t>pháp</a:t>
            </a:r>
            <a:r>
              <a:rPr lang="en-US" b="1" dirty="0"/>
              <a:t> [property]="value".</a:t>
            </a:r>
            <a:endParaRPr lang="en-US" dirty="0"/>
          </a:p>
          <a:p>
            <a:r>
              <a:rPr lang="en-US" b="1" dirty="0" err="1"/>
              <a:t>Ví</a:t>
            </a:r>
            <a:r>
              <a:rPr lang="en-US" b="1" dirty="0"/>
              <a:t> </a:t>
            </a:r>
            <a:r>
              <a:rPr lang="en-US" b="1" dirty="0" err="1"/>
              <a:t>dụ</a:t>
            </a:r>
            <a:r>
              <a:rPr lang="en-US" b="1" dirty="0"/>
              <a:t>:</a:t>
            </a:r>
            <a:endParaRPr lang="en-US" dirty="0"/>
          </a:p>
          <a:p>
            <a:pPr>
              <a:buFont typeface="Arial" panose="020B0604020202020204" pitchFamily="34" charset="0"/>
              <a:buChar char="•"/>
            </a:pPr>
            <a:r>
              <a:rPr lang="en-US" b="1" dirty="0"/>
              <a:t>Component (TypeScript):</a:t>
            </a:r>
            <a:endParaRPr lang="en-US" dirty="0"/>
          </a:p>
          <a:p>
            <a:pPr>
              <a:buFont typeface="Arial" panose="020B0604020202020204" pitchFamily="34" charset="0"/>
              <a:buChar char="•"/>
            </a:pPr>
            <a:r>
              <a:rPr lang="en-US" b="1" dirty="0"/>
              <a:t>Template (HTML):</a:t>
            </a:r>
            <a:endParaRPr lang="en-US" dirty="0"/>
          </a:p>
          <a:p>
            <a:endParaRPr lang="en-US" dirty="0"/>
          </a:p>
        </p:txBody>
      </p:sp>
    </p:spTree>
    <p:extLst>
      <p:ext uri="{BB962C8B-B14F-4D97-AF65-F5344CB8AC3E}">
        <p14:creationId xmlns:p14="http://schemas.microsoft.com/office/powerpoint/2010/main" val="5581450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Xử lý các sự kiện do người dùng tạo ra (ví dụ: click, nhấn phím).</a:t>
            </a:r>
            <a:endParaRPr lang="vi-VN" dirty="0"/>
          </a:p>
          <a:p>
            <a:r>
              <a:rPr lang="vi-VN" b="1" dirty="0"/>
              <a:t>Sử dụng cú pháp (event)="handler".</a:t>
            </a:r>
            <a:endParaRPr lang="vi-VN" dirty="0"/>
          </a:p>
          <a:p>
            <a:r>
              <a:rPr lang="vi-VN" b="1" dirty="0"/>
              <a:t>Ví dụ:</a:t>
            </a:r>
            <a:endParaRPr lang="vi-VN" dirty="0"/>
          </a:p>
          <a:p>
            <a:pPr>
              <a:buFont typeface="Arial" panose="020B0604020202020204" pitchFamily="34" charset="0"/>
              <a:buChar char="•"/>
            </a:pPr>
            <a:r>
              <a:rPr lang="vi-VN" b="1" dirty="0"/>
              <a:t>Component (TypeScript):</a:t>
            </a:r>
            <a:endParaRPr lang="vi-VN" dirty="0"/>
          </a:p>
          <a:p>
            <a:pPr>
              <a:buFont typeface="Arial" panose="020B0604020202020204" pitchFamily="34" charset="0"/>
              <a:buChar char="•"/>
            </a:pPr>
            <a:r>
              <a:rPr lang="vi-VN" b="1" dirty="0"/>
              <a:t>Template (HTML):</a:t>
            </a:r>
            <a:endParaRPr lang="vi-VN" dirty="0"/>
          </a:p>
        </p:txBody>
      </p:sp>
    </p:spTree>
    <p:extLst>
      <p:ext uri="{BB962C8B-B14F-4D97-AF65-F5344CB8AC3E}">
        <p14:creationId xmlns:p14="http://schemas.microsoft.com/office/powerpoint/2010/main" val="18780517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en-US" sz="1200" dirty="0">
                <a:ea typeface="+mj-lt"/>
                <a:cs typeface="+mj-lt"/>
              </a:rPr>
              <a:t>Synchronizes data between the </a:t>
            </a:r>
            <a:r>
              <a:rPr lang="en-US" sz="1200" b="1" dirty="0">
                <a:ea typeface="+mj-lt"/>
                <a:cs typeface="+mj-lt"/>
              </a:rPr>
              <a:t>component (model)</a:t>
            </a:r>
            <a:r>
              <a:rPr lang="en-US" sz="1200" dirty="0">
                <a:ea typeface="+mj-lt"/>
                <a:cs typeface="+mj-lt"/>
              </a:rPr>
              <a:t> and the </a:t>
            </a:r>
            <a:r>
              <a:rPr lang="en-US" sz="1200" b="1" dirty="0">
                <a:ea typeface="+mj-lt"/>
                <a:cs typeface="+mj-lt"/>
              </a:rPr>
              <a:t>view</a:t>
            </a:r>
            <a:r>
              <a:rPr lang="en-US" sz="1200" dirty="0">
                <a:ea typeface="+mj-lt"/>
                <a:cs typeface="+mj-lt"/>
              </a:rPr>
              <a:t>.</a:t>
            </a:r>
            <a:endParaRPr lang="en-US" dirty="0">
              <a:cs typeface="Arial" panose="020B0604020202020204"/>
            </a:endParaRPr>
          </a:p>
          <a:p>
            <a:r>
              <a:rPr lang="en-US" sz="1200" dirty="0">
                <a:ea typeface="+mj-lt"/>
                <a:cs typeface="+mj-lt"/>
              </a:rPr>
              <a:t>Uses the </a:t>
            </a:r>
            <a:r>
              <a:rPr lang="en-US" sz="1200" b="1" dirty="0">
                <a:latin typeface="Consolas"/>
              </a:rPr>
              <a:t>[(</a:t>
            </a:r>
            <a:r>
              <a:rPr lang="en-US" sz="1200" b="1" dirty="0" err="1">
                <a:latin typeface="Consolas"/>
              </a:rPr>
              <a:t>ngModel</a:t>
            </a:r>
            <a:r>
              <a:rPr lang="en-US" sz="1200" b="1" dirty="0">
                <a:latin typeface="Consolas"/>
              </a:rPr>
              <a:t>)]</a:t>
            </a:r>
            <a:r>
              <a:rPr lang="en-US" sz="1200" dirty="0">
                <a:ea typeface="+mj-lt"/>
                <a:cs typeface="+mj-lt"/>
              </a:rPr>
              <a:t> directive.</a:t>
            </a:r>
            <a:endParaRPr lang="en-US" dirty="0"/>
          </a:p>
          <a:p>
            <a:r>
              <a:rPr lang="en-US" sz="1200" dirty="0">
                <a:ea typeface="+mj-lt"/>
                <a:cs typeface="+mj-lt"/>
              </a:rPr>
              <a:t>Requires importing the </a:t>
            </a:r>
            <a:r>
              <a:rPr lang="en-US" sz="1200" b="1" dirty="0" err="1">
                <a:ea typeface="+mj-lt"/>
                <a:cs typeface="+mj-lt"/>
              </a:rPr>
              <a:t>FormsModule</a:t>
            </a:r>
            <a:r>
              <a:rPr lang="en-US" sz="1200" dirty="0">
                <a:ea typeface="+mj-lt"/>
                <a:cs typeface="+mj-lt"/>
              </a:rPr>
              <a:t> in </a:t>
            </a:r>
            <a:r>
              <a:rPr lang="en-US" sz="1200" dirty="0" err="1">
                <a:latin typeface="Consolas"/>
              </a:rPr>
              <a:t>app.module.ts</a:t>
            </a:r>
            <a:r>
              <a:rPr lang="en-US" sz="1200" dirty="0">
                <a:ea typeface="+mj-lt"/>
                <a:cs typeface="+mj-lt"/>
              </a:rPr>
              <a:t>.</a:t>
            </a:r>
            <a:endParaRPr lang="en-US" dirty="0"/>
          </a:p>
          <a:p>
            <a:pPr marL="0" indent="0">
              <a:buNone/>
            </a:pPr>
            <a:endParaRPr lang="en-US" sz="1200" dirty="0">
              <a:cs typeface="Arial"/>
            </a:endParaRPr>
          </a:p>
          <a:p>
            <a:endParaRPr lang="en-US" sz="1200" dirty="0">
              <a:cs typeface="Arial"/>
            </a:endParaRPr>
          </a:p>
          <a:p>
            <a:endParaRPr lang="en-US" dirty="0"/>
          </a:p>
        </p:txBody>
      </p:sp>
    </p:spTree>
    <p:extLst>
      <p:ext uri="{BB962C8B-B14F-4D97-AF65-F5344CB8AC3E}">
        <p14:creationId xmlns:p14="http://schemas.microsoft.com/office/powerpoint/2010/main" val="9296612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en-US" b="1" dirty="0"/>
              <a:t>Structural Directives (Directives </a:t>
            </a:r>
            <a:r>
              <a:rPr lang="en-US" b="1" dirty="0" err="1"/>
              <a:t>Cấu</a:t>
            </a:r>
            <a:r>
              <a:rPr lang="en-US" b="1" dirty="0"/>
              <a:t> Trúc) </a:t>
            </a:r>
            <a:r>
              <a:rPr lang="en-US" b="1" dirty="0" err="1"/>
              <a:t>trong</a:t>
            </a:r>
            <a:r>
              <a:rPr lang="en-US" b="1" dirty="0"/>
              <a:t> Angular là </a:t>
            </a:r>
            <a:r>
              <a:rPr lang="en-US" b="1" dirty="0" err="1"/>
              <a:t>các</a:t>
            </a:r>
            <a:r>
              <a:rPr lang="en-US" b="1" dirty="0"/>
              <a:t> directives </a:t>
            </a:r>
            <a:r>
              <a:rPr lang="en-US" b="1" dirty="0" err="1"/>
              <a:t>thay</a:t>
            </a:r>
            <a:r>
              <a:rPr lang="en-US" b="1" dirty="0"/>
              <a:t> </a:t>
            </a:r>
            <a:r>
              <a:rPr lang="en-US" b="1" dirty="0" err="1"/>
              <a:t>đổi</a:t>
            </a:r>
            <a:r>
              <a:rPr lang="en-US" b="1" dirty="0"/>
              <a:t> </a:t>
            </a:r>
            <a:r>
              <a:rPr lang="en-US" b="1" dirty="0" err="1"/>
              <a:t>cấu</a:t>
            </a:r>
            <a:r>
              <a:rPr lang="en-US" b="1" dirty="0"/>
              <a:t> </a:t>
            </a:r>
            <a:r>
              <a:rPr lang="en-US" b="1" dirty="0" err="1"/>
              <a:t>trúc</a:t>
            </a:r>
            <a:r>
              <a:rPr lang="en-US" b="1" dirty="0"/>
              <a:t> DOM </a:t>
            </a:r>
            <a:r>
              <a:rPr lang="en-US" b="1" dirty="0" err="1"/>
              <a:t>bằng</a:t>
            </a:r>
            <a:r>
              <a:rPr lang="en-US" b="1" dirty="0"/>
              <a:t> </a:t>
            </a:r>
            <a:r>
              <a:rPr lang="en-US" b="1" dirty="0" err="1"/>
              <a:t>cách</a:t>
            </a:r>
            <a:r>
              <a:rPr lang="en-US" b="1" dirty="0"/>
              <a:t> </a:t>
            </a:r>
            <a:r>
              <a:rPr lang="en-US" b="1" dirty="0" err="1"/>
              <a:t>thêm</a:t>
            </a:r>
            <a:r>
              <a:rPr lang="en-US" b="1" dirty="0"/>
              <a:t> </a:t>
            </a:r>
            <a:r>
              <a:rPr lang="en-US" b="1" dirty="0" err="1"/>
              <a:t>hoặc</a:t>
            </a:r>
            <a:r>
              <a:rPr lang="en-US" b="1" dirty="0"/>
              <a:t> </a:t>
            </a:r>
            <a:r>
              <a:rPr lang="en-US" b="1" dirty="0" err="1"/>
              <a:t>xóa</a:t>
            </a:r>
            <a:r>
              <a:rPr lang="en-US" b="1" dirty="0"/>
              <a:t> </a:t>
            </a:r>
            <a:r>
              <a:rPr lang="en-US" b="1" dirty="0" err="1"/>
              <a:t>các</a:t>
            </a:r>
            <a:r>
              <a:rPr lang="en-US" b="1" dirty="0"/>
              <a:t> </a:t>
            </a:r>
            <a:r>
              <a:rPr lang="en-US" b="1" dirty="0" err="1"/>
              <a:t>phần</a:t>
            </a:r>
            <a:r>
              <a:rPr lang="en-US" b="1" dirty="0"/>
              <a:t> </a:t>
            </a:r>
            <a:r>
              <a:rPr lang="en-US" b="1" dirty="0" err="1"/>
              <a:t>tử</a:t>
            </a:r>
            <a:r>
              <a:rPr lang="en-US" b="1" dirty="0"/>
              <a:t>.</a:t>
            </a:r>
            <a:endParaRPr lang="en-US" dirty="0"/>
          </a:p>
          <a:p>
            <a:r>
              <a:rPr lang="en-US" b="1" dirty="0"/>
              <a:t>Thay </a:t>
            </a:r>
            <a:r>
              <a:rPr lang="en-US" b="1" dirty="0" err="1"/>
              <a:t>đổi</a:t>
            </a:r>
            <a:r>
              <a:rPr lang="en-US" b="1" dirty="0"/>
              <a:t> bố </a:t>
            </a:r>
            <a:r>
              <a:rPr lang="en-US" b="1" dirty="0" err="1"/>
              <a:t>cục</a:t>
            </a:r>
            <a:r>
              <a:rPr lang="en-US" b="1" dirty="0"/>
              <a:t> </a:t>
            </a:r>
            <a:r>
              <a:rPr lang="en-US" b="1" dirty="0" err="1"/>
              <a:t>của</a:t>
            </a:r>
            <a:r>
              <a:rPr lang="en-US" b="1" dirty="0"/>
              <a:t> view </a:t>
            </a:r>
            <a:r>
              <a:rPr lang="en-US" b="1" dirty="0" err="1"/>
              <a:t>bằng</a:t>
            </a:r>
            <a:r>
              <a:rPr lang="en-US" b="1" dirty="0"/>
              <a:t> </a:t>
            </a:r>
            <a:r>
              <a:rPr lang="en-US" b="1" dirty="0" err="1"/>
              <a:t>cách</a:t>
            </a:r>
            <a:r>
              <a:rPr lang="en-US" b="1" dirty="0"/>
              <a:t> </a:t>
            </a:r>
            <a:r>
              <a:rPr lang="en-US" b="1" dirty="0" err="1"/>
              <a:t>thay</a:t>
            </a:r>
            <a:r>
              <a:rPr lang="en-US" b="1" dirty="0"/>
              <a:t> </a:t>
            </a:r>
            <a:r>
              <a:rPr lang="en-US" b="1" dirty="0" err="1"/>
              <a:t>đổi</a:t>
            </a:r>
            <a:r>
              <a:rPr lang="en-US" b="1" dirty="0"/>
              <a:t> </a:t>
            </a:r>
            <a:r>
              <a:rPr lang="en-US" b="1" dirty="0" err="1"/>
              <a:t>động</a:t>
            </a:r>
            <a:r>
              <a:rPr lang="en-US" b="1" dirty="0"/>
              <a:t> </a:t>
            </a:r>
            <a:r>
              <a:rPr lang="en-US" b="1" dirty="0" err="1"/>
              <a:t>cây</a:t>
            </a:r>
            <a:r>
              <a:rPr lang="en-US" b="1" dirty="0"/>
              <a:t> DOM.</a:t>
            </a:r>
            <a:endParaRPr lang="en-US" dirty="0"/>
          </a:p>
          <a:p>
            <a:r>
              <a:rPr lang="en-US" b="1" dirty="0"/>
              <a:t>Các </a:t>
            </a:r>
            <a:r>
              <a:rPr lang="en-US" b="1" dirty="0" err="1"/>
              <a:t>loại</a:t>
            </a:r>
            <a:r>
              <a:rPr lang="en-US" b="1" dirty="0"/>
              <a:t> </a:t>
            </a:r>
            <a:r>
              <a:rPr lang="en-US" b="1" dirty="0" err="1"/>
              <a:t>chính</a:t>
            </a:r>
            <a:r>
              <a:rPr lang="en-US" b="1" dirty="0"/>
              <a:t>:</a:t>
            </a:r>
            <a:endParaRPr lang="en-US" dirty="0"/>
          </a:p>
          <a:p>
            <a:pPr>
              <a:buFont typeface="Arial" panose="020B0604020202020204" pitchFamily="34" charset="0"/>
              <a:buChar char="•"/>
            </a:pPr>
            <a:r>
              <a:rPr lang="en-US" b="1" dirty="0" err="1"/>
              <a:t>ngIf</a:t>
            </a:r>
            <a:endParaRPr lang="en-US" dirty="0"/>
          </a:p>
          <a:p>
            <a:pPr>
              <a:buFont typeface="Arial" panose="020B0604020202020204" pitchFamily="34" charset="0"/>
              <a:buChar char="•"/>
            </a:pPr>
            <a:r>
              <a:rPr lang="en-US" b="1" dirty="0" err="1"/>
              <a:t>ngFor</a:t>
            </a:r>
            <a:endParaRPr lang="en-US" dirty="0"/>
          </a:p>
          <a:p>
            <a:pPr>
              <a:buFont typeface="Arial" panose="020B0604020202020204" pitchFamily="34" charset="0"/>
              <a:buChar char="•"/>
            </a:pPr>
            <a:r>
              <a:rPr lang="en-US" b="1" dirty="0" err="1"/>
              <a:t>ngSwitch</a:t>
            </a:r>
            <a:endParaRPr lang="en-US" dirty="0"/>
          </a:p>
          <a:p>
            <a:endParaRPr lang="en-US" dirty="0"/>
          </a:p>
        </p:txBody>
      </p:sp>
    </p:spTree>
    <p:extLst>
      <p:ext uri="{BB962C8B-B14F-4D97-AF65-F5344CB8AC3E}">
        <p14:creationId xmlns:p14="http://schemas.microsoft.com/office/powerpoint/2010/main" val="40343654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err="1"/>
              <a:t>Hiển</a:t>
            </a:r>
            <a:r>
              <a:rPr lang="en-US" b="1" dirty="0"/>
              <a:t> </a:t>
            </a:r>
            <a:r>
              <a:rPr lang="en-US" b="1" dirty="0" err="1"/>
              <a:t>thị</a:t>
            </a:r>
            <a:r>
              <a:rPr lang="en-US" b="1" dirty="0"/>
              <a:t> </a:t>
            </a:r>
            <a:r>
              <a:rPr lang="en-US" b="1" dirty="0" err="1"/>
              <a:t>hoặc</a:t>
            </a:r>
            <a:r>
              <a:rPr lang="en-US" b="1" dirty="0"/>
              <a:t> </a:t>
            </a:r>
            <a:r>
              <a:rPr lang="en-US" b="1" dirty="0" err="1"/>
              <a:t>xóa</a:t>
            </a:r>
            <a:r>
              <a:rPr lang="en-US" b="1" dirty="0"/>
              <a:t> </a:t>
            </a:r>
            <a:r>
              <a:rPr lang="en-US" b="1" dirty="0" err="1"/>
              <a:t>một</a:t>
            </a:r>
            <a:r>
              <a:rPr lang="en-US" b="1" dirty="0"/>
              <a:t> </a:t>
            </a:r>
            <a:r>
              <a:rPr lang="en-US" b="1" dirty="0" err="1"/>
              <a:t>phần</a:t>
            </a:r>
            <a:r>
              <a:rPr lang="en-US" b="1" dirty="0"/>
              <a:t> </a:t>
            </a:r>
            <a:r>
              <a:rPr lang="en-US" b="1" dirty="0" err="1"/>
              <a:t>tử</a:t>
            </a:r>
            <a:r>
              <a:rPr lang="en-US" b="1" dirty="0"/>
              <a:t> </a:t>
            </a:r>
            <a:r>
              <a:rPr lang="en-US" b="1" dirty="0" err="1"/>
              <a:t>dựa</a:t>
            </a:r>
            <a:r>
              <a:rPr lang="en-US" b="1" dirty="0"/>
              <a:t> </a:t>
            </a:r>
            <a:r>
              <a:rPr lang="en-US" b="1" dirty="0" err="1"/>
              <a:t>trên</a:t>
            </a:r>
            <a:r>
              <a:rPr lang="en-US" b="1" dirty="0"/>
              <a:t> </a:t>
            </a:r>
            <a:r>
              <a:rPr lang="en-US" b="1" dirty="0" err="1"/>
              <a:t>một</a:t>
            </a:r>
            <a:r>
              <a:rPr lang="en-US" b="1" dirty="0"/>
              <a:t> </a:t>
            </a:r>
            <a:r>
              <a:rPr lang="en-US" b="1" dirty="0" err="1"/>
              <a:t>điều</a:t>
            </a:r>
            <a:r>
              <a:rPr lang="en-US" b="1" dirty="0"/>
              <a:t> </a:t>
            </a:r>
            <a:r>
              <a:rPr lang="en-US" b="1" dirty="0" err="1"/>
              <a:t>kiện</a:t>
            </a:r>
            <a:r>
              <a:rPr lang="en-US" b="1" dirty="0"/>
              <a:t> </a:t>
            </a:r>
            <a:r>
              <a:rPr lang="en-US" b="1" dirty="0" err="1"/>
              <a:t>boolean</a:t>
            </a:r>
            <a:r>
              <a:rPr lang="en-US" b="1" dirty="0"/>
              <a:t>.</a:t>
            </a:r>
            <a:endParaRPr lang="en-US" dirty="0"/>
          </a:p>
          <a:p>
            <a:endParaRPr lang="en-US" dirty="0"/>
          </a:p>
        </p:txBody>
      </p:sp>
    </p:spTree>
    <p:extLst>
      <p:ext uri="{BB962C8B-B14F-4D97-AF65-F5344CB8AC3E}">
        <p14:creationId xmlns:p14="http://schemas.microsoft.com/office/powerpoint/2010/main" val="42766215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err="1"/>
              <a:t>Lặp</a:t>
            </a:r>
            <a:r>
              <a:rPr lang="en-US" b="1" dirty="0"/>
              <a:t> qua </a:t>
            </a:r>
            <a:r>
              <a:rPr lang="en-US" b="1" dirty="0" err="1"/>
              <a:t>một</a:t>
            </a:r>
            <a:r>
              <a:rPr lang="en-US" b="1" dirty="0"/>
              <a:t> </a:t>
            </a:r>
            <a:r>
              <a:rPr lang="en-US" b="1" dirty="0" err="1"/>
              <a:t>tập</a:t>
            </a:r>
            <a:r>
              <a:rPr lang="en-US" b="1" dirty="0"/>
              <a:t> </a:t>
            </a:r>
            <a:r>
              <a:rPr lang="en-US" b="1" dirty="0" err="1"/>
              <a:t>hợp</a:t>
            </a:r>
            <a:r>
              <a:rPr lang="en-US" b="1" dirty="0"/>
              <a:t> (</a:t>
            </a:r>
            <a:r>
              <a:rPr lang="en-US" b="1" dirty="0" err="1"/>
              <a:t>ví</a:t>
            </a:r>
            <a:r>
              <a:rPr lang="en-US" b="1" dirty="0"/>
              <a:t> </a:t>
            </a:r>
            <a:r>
              <a:rPr lang="en-US" b="1" dirty="0" err="1"/>
              <a:t>dụ</a:t>
            </a:r>
            <a:r>
              <a:rPr lang="en-US" b="1" dirty="0"/>
              <a:t>: </a:t>
            </a:r>
            <a:r>
              <a:rPr lang="en-US" b="1" dirty="0" err="1"/>
              <a:t>một</a:t>
            </a:r>
            <a:r>
              <a:rPr lang="en-US" b="1" dirty="0"/>
              <a:t> </a:t>
            </a:r>
            <a:r>
              <a:rPr lang="en-US" b="1" dirty="0" err="1"/>
              <a:t>mảng</a:t>
            </a:r>
            <a:r>
              <a:rPr lang="en-US" b="1" dirty="0"/>
              <a:t>) </a:t>
            </a:r>
            <a:r>
              <a:rPr lang="en-US" b="1" dirty="0" err="1"/>
              <a:t>và</a:t>
            </a:r>
            <a:r>
              <a:rPr lang="en-US" b="1" dirty="0"/>
              <a:t> </a:t>
            </a:r>
            <a:r>
              <a:rPr lang="en-US" b="1" dirty="0" err="1"/>
              <a:t>hiển</a:t>
            </a:r>
            <a:r>
              <a:rPr lang="en-US" b="1" dirty="0"/>
              <a:t> </a:t>
            </a:r>
            <a:r>
              <a:rPr lang="en-US" b="1" dirty="0" err="1"/>
              <a:t>thị</a:t>
            </a:r>
            <a:r>
              <a:rPr lang="en-US" b="1" dirty="0"/>
              <a:t> </a:t>
            </a:r>
            <a:r>
              <a:rPr lang="en-US" b="1" dirty="0" err="1"/>
              <a:t>một</a:t>
            </a:r>
            <a:r>
              <a:rPr lang="en-US" b="1" dirty="0"/>
              <a:t> template </a:t>
            </a:r>
            <a:r>
              <a:rPr lang="en-US" b="1" dirty="0" err="1"/>
              <a:t>cho</a:t>
            </a:r>
            <a:r>
              <a:rPr lang="en-US" b="1" dirty="0"/>
              <a:t> </a:t>
            </a:r>
            <a:r>
              <a:rPr lang="en-US" b="1" dirty="0" err="1"/>
              <a:t>mỗi</a:t>
            </a:r>
            <a:r>
              <a:rPr lang="en-US" b="1" dirty="0"/>
              <a:t> </a:t>
            </a:r>
            <a:r>
              <a:rPr lang="en-US" b="1" dirty="0" err="1"/>
              <a:t>phần</a:t>
            </a:r>
            <a:r>
              <a:rPr lang="en-US" b="1" dirty="0"/>
              <a:t> </a:t>
            </a:r>
            <a:r>
              <a:rPr lang="en-US" b="1" dirty="0" err="1"/>
              <a:t>tử</a:t>
            </a:r>
            <a:r>
              <a:rPr lang="en-US" b="1" dirty="0"/>
              <a:t>.</a:t>
            </a:r>
            <a:endParaRPr lang="en-US" dirty="0"/>
          </a:p>
          <a:p>
            <a:endParaRPr lang="en-US" dirty="0"/>
          </a:p>
        </p:txBody>
      </p:sp>
    </p:spTree>
    <p:extLst>
      <p:ext uri="{BB962C8B-B14F-4D97-AF65-F5344CB8AC3E}">
        <p14:creationId xmlns:p14="http://schemas.microsoft.com/office/powerpoint/2010/main" val="24080367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Hiển </a:t>
            </a:r>
            <a:r>
              <a:rPr lang="en-US" b="1" dirty="0" err="1"/>
              <a:t>thị</a:t>
            </a:r>
            <a:r>
              <a:rPr lang="en-US" b="1" dirty="0"/>
              <a:t> </a:t>
            </a:r>
            <a:r>
              <a:rPr lang="en-US" b="1" dirty="0" err="1"/>
              <a:t>một</a:t>
            </a:r>
            <a:r>
              <a:rPr lang="en-US" b="1" dirty="0"/>
              <a:t> </a:t>
            </a:r>
            <a:r>
              <a:rPr lang="en-US" b="1" dirty="0" err="1"/>
              <a:t>phần</a:t>
            </a:r>
            <a:r>
              <a:rPr lang="en-US" b="1" dirty="0"/>
              <a:t> </a:t>
            </a:r>
            <a:r>
              <a:rPr lang="en-US" b="1" dirty="0" err="1"/>
              <a:t>tử</a:t>
            </a:r>
            <a:r>
              <a:rPr lang="en-US" b="1" dirty="0"/>
              <a:t> </a:t>
            </a:r>
            <a:r>
              <a:rPr lang="en-US" b="1" dirty="0" err="1"/>
              <a:t>từ</a:t>
            </a:r>
            <a:r>
              <a:rPr lang="en-US" b="1" dirty="0"/>
              <a:t> </a:t>
            </a:r>
            <a:r>
              <a:rPr lang="en-US" b="1" dirty="0" err="1"/>
              <a:t>một</a:t>
            </a:r>
            <a:r>
              <a:rPr lang="en-US" b="1" dirty="0"/>
              <a:t> </a:t>
            </a:r>
            <a:r>
              <a:rPr lang="en-US" b="1" dirty="0" err="1"/>
              <a:t>tập</a:t>
            </a:r>
            <a:r>
              <a:rPr lang="en-US" b="1" dirty="0"/>
              <a:t> </a:t>
            </a:r>
            <a:r>
              <a:rPr lang="en-US" b="1" dirty="0" err="1"/>
              <a:t>hợp</a:t>
            </a:r>
            <a:r>
              <a:rPr lang="en-US" b="1" dirty="0"/>
              <a:t> </a:t>
            </a:r>
            <a:r>
              <a:rPr lang="en-US" b="1" dirty="0" err="1"/>
              <a:t>các</a:t>
            </a:r>
            <a:r>
              <a:rPr lang="en-US" b="1" dirty="0"/>
              <a:t> </a:t>
            </a:r>
            <a:r>
              <a:rPr lang="en-US" b="1" dirty="0" err="1"/>
              <a:t>phần</a:t>
            </a:r>
            <a:r>
              <a:rPr lang="en-US" b="1" dirty="0"/>
              <a:t> </a:t>
            </a:r>
            <a:r>
              <a:rPr lang="en-US" b="1" dirty="0" err="1"/>
              <a:t>tử</a:t>
            </a:r>
            <a:r>
              <a:rPr lang="en-US" b="1" dirty="0"/>
              <a:t> </a:t>
            </a:r>
            <a:r>
              <a:rPr lang="en-US" b="1" dirty="0" err="1"/>
              <a:t>dựa</a:t>
            </a:r>
            <a:r>
              <a:rPr lang="en-US" b="1" dirty="0"/>
              <a:t> </a:t>
            </a:r>
            <a:r>
              <a:rPr lang="en-US" b="1" dirty="0" err="1"/>
              <a:t>trên</a:t>
            </a:r>
            <a:r>
              <a:rPr lang="en-US" b="1" dirty="0"/>
              <a:t> </a:t>
            </a:r>
            <a:r>
              <a:rPr lang="en-US" b="1" dirty="0" err="1"/>
              <a:t>một</a:t>
            </a:r>
            <a:r>
              <a:rPr lang="en-US" b="1" dirty="0"/>
              <a:t> </a:t>
            </a:r>
            <a:r>
              <a:rPr lang="en-US" b="1" dirty="0" err="1"/>
              <a:t>điều</a:t>
            </a:r>
            <a:r>
              <a:rPr lang="en-US" b="1" dirty="0"/>
              <a:t> </a:t>
            </a:r>
            <a:r>
              <a:rPr lang="en-US" b="1" dirty="0" err="1"/>
              <a:t>kiện</a:t>
            </a:r>
            <a:r>
              <a:rPr lang="en-US" b="1" dirty="0"/>
              <a:t>.</a:t>
            </a:r>
            <a:endParaRPr lang="en-US" dirty="0"/>
          </a:p>
          <a:p>
            <a:endParaRPr lang="en-US" dirty="0"/>
          </a:p>
        </p:txBody>
      </p:sp>
    </p:spTree>
    <p:extLst>
      <p:ext uri="{BB962C8B-B14F-4D97-AF65-F5344CB8AC3E}">
        <p14:creationId xmlns:p14="http://schemas.microsoft.com/office/powerpoint/2010/main" val="20958114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en-US" b="1" dirty="0"/>
              <a:t>Explanation</a:t>
            </a:r>
            <a:endParaRPr lang="en-US" dirty="0"/>
          </a:p>
          <a:p>
            <a:pPr marL="285750" indent="-285750">
              <a:buFont typeface="Arial"/>
              <a:buChar char="•"/>
            </a:pPr>
            <a:r>
              <a:rPr lang="en-US" b="1" dirty="0"/>
              <a:t>Directive Class:</a:t>
            </a:r>
            <a:endParaRPr lang="en-US" dirty="0"/>
          </a:p>
          <a:p>
            <a:pPr marL="285750" lvl="1" indent="-285750">
              <a:buFont typeface="Arial"/>
              <a:buChar char="•"/>
            </a:pPr>
            <a:r>
              <a:rPr lang="en-US" dirty="0"/>
              <a:t>The </a:t>
            </a:r>
            <a:r>
              <a:rPr lang="en-US" dirty="0" err="1"/>
              <a:t>appRepeat</a:t>
            </a:r>
            <a:r>
              <a:rPr lang="en-US" dirty="0"/>
              <a:t> directive dynamically adds the &lt;ng-template&gt; content to the DOM multiple times using </a:t>
            </a:r>
            <a:r>
              <a:rPr lang="en-US" dirty="0" err="1"/>
              <a:t>ViewContainerRef.createEmbeddedView</a:t>
            </a:r>
            <a:r>
              <a:rPr lang="en-US" dirty="0"/>
              <a:t>().</a:t>
            </a:r>
            <a:endParaRPr lang="en-US" dirty="0">
              <a:ea typeface="Calibri"/>
              <a:cs typeface="Calibri"/>
            </a:endParaRPr>
          </a:p>
          <a:p>
            <a:pPr marL="285750" indent="-285750">
              <a:buFont typeface="Arial"/>
              <a:buChar char="•"/>
            </a:pPr>
            <a:r>
              <a:rPr lang="en-US" b="1" dirty="0"/>
              <a:t>Dynamic Context:</a:t>
            </a:r>
            <a:endParaRPr lang="en-US" dirty="0"/>
          </a:p>
          <a:p>
            <a:pPr marL="285750" lvl="1" indent="-285750">
              <a:buFont typeface="Arial"/>
              <a:buChar char="•"/>
            </a:pPr>
            <a:r>
              <a:rPr lang="en-US" dirty="0"/>
              <a:t>The </a:t>
            </a:r>
            <a:r>
              <a:rPr lang="en-US" dirty="0" err="1"/>
              <a:t>createEmbeddedView</a:t>
            </a:r>
            <a:r>
              <a:rPr lang="en-US" dirty="0"/>
              <a:t>() method allows passing a context object. Here, index is passed to track the current iteration.</a:t>
            </a:r>
            <a:endParaRPr lang="en-US" dirty="0">
              <a:ea typeface="Calibri"/>
              <a:cs typeface="Calibri"/>
            </a:endParaRPr>
          </a:p>
          <a:p>
            <a:pPr marL="285750" indent="-285750">
              <a:buFont typeface="Arial"/>
              <a:buChar char="•"/>
            </a:pPr>
            <a:r>
              <a:rPr lang="en-US" b="1" dirty="0"/>
              <a:t>Dynamic Inputs:</a:t>
            </a:r>
            <a:endParaRPr lang="en-US" dirty="0"/>
          </a:p>
          <a:p>
            <a:pPr marL="285750" lvl="1" indent="-285750">
              <a:buFont typeface="Arial"/>
              <a:buChar char="•"/>
            </a:pPr>
            <a:r>
              <a:rPr lang="en-US" dirty="0"/>
              <a:t>The @Input() setter listens for changes in the times property and updates the DOM accordingly.</a:t>
            </a:r>
            <a:endParaRPr lang="en-US" dirty="0">
              <a:ea typeface="Calibri"/>
              <a:cs typeface="Calibri"/>
            </a:endParaRPr>
          </a:p>
          <a:p>
            <a:pPr marL="285750" indent="-285750">
              <a:buFont typeface="Arial"/>
              <a:buChar char="•"/>
            </a:pPr>
            <a:r>
              <a:rPr lang="en-US" b="1" dirty="0"/>
              <a:t>Component Integration:</a:t>
            </a:r>
            <a:endParaRPr lang="en-US" dirty="0"/>
          </a:p>
          <a:p>
            <a:pPr marL="285750" lvl="1" indent="-285750">
              <a:buFont typeface="Arial"/>
              <a:buChar char="•"/>
            </a:pPr>
            <a:r>
              <a:rPr lang="en-US" dirty="0"/>
              <a:t>The directive can be reused wherever dynamic repetition of an element is needed.</a:t>
            </a:r>
          </a:p>
          <a:p>
            <a:endParaRPr lang="en-US" dirty="0">
              <a:ea typeface="Calibri"/>
              <a:cs typeface="Calibri"/>
            </a:endParaRPr>
          </a:p>
          <a:p>
            <a:endParaRPr lang="en-US" dirty="0"/>
          </a:p>
        </p:txBody>
      </p:sp>
    </p:spTree>
    <p:extLst>
      <p:ext uri="{BB962C8B-B14F-4D97-AF65-F5344CB8AC3E}">
        <p14:creationId xmlns:p14="http://schemas.microsoft.com/office/powerpoint/2010/main" val="2415236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a:t>Giải </a:t>
            </a:r>
            <a:r>
              <a:rPr lang="vi-VN" b="1" dirty="0"/>
              <a:t>thích:</a:t>
            </a:r>
            <a:endParaRPr lang="vi-VN" dirty="0"/>
          </a:p>
          <a:p>
            <a:pPr>
              <a:buFont typeface="Arial" panose="020B0604020202020204" pitchFamily="34" charset="0"/>
              <a:buChar char="•"/>
            </a:pPr>
            <a:r>
              <a:rPr lang="vi-VN" b="1" dirty="0"/>
              <a:t>Lớp Directive:</a:t>
            </a:r>
            <a:endParaRPr lang="vi-VN" dirty="0"/>
          </a:p>
          <a:p>
            <a:pPr marL="742950" lvl="1" indent="-285750">
              <a:buFont typeface="Arial" panose="020B0604020202020204" pitchFamily="34" charset="0"/>
              <a:buChar char="•"/>
            </a:pPr>
            <a:r>
              <a:rPr lang="vi-VN" dirty="0"/>
              <a:t>Directive appRepeat thêm động nội dung &lt;ng-template&gt; vào DOM nhiều lần bằng cách sử dụng ViewContainerRef.createEmbeddedView().</a:t>
            </a:r>
          </a:p>
          <a:p>
            <a:pPr>
              <a:buFont typeface="Arial" panose="020B0604020202020204" pitchFamily="34" charset="0"/>
              <a:buChar char="•"/>
            </a:pPr>
            <a:r>
              <a:rPr lang="vi-VN" b="1" dirty="0"/>
              <a:t>Ngữ Cảnh Động:</a:t>
            </a:r>
            <a:endParaRPr lang="vi-VN" dirty="0"/>
          </a:p>
          <a:p>
            <a:pPr marL="742950" lvl="1" indent="-285750">
              <a:buFont typeface="Arial" panose="020B0604020202020204" pitchFamily="34" charset="0"/>
              <a:buChar char="•"/>
            </a:pPr>
            <a:r>
              <a:rPr lang="vi-VN" dirty="0"/>
              <a:t>Phương thức createEmbeddedView() cho phép truyền một đối tượng ngữ cảnh. Ở đây, index được truyền vào để theo dõi lần lặp hiện tại.</a:t>
            </a:r>
          </a:p>
          <a:p>
            <a:pPr>
              <a:buFont typeface="Arial" panose="020B0604020202020204" pitchFamily="34" charset="0"/>
              <a:buChar char="•"/>
            </a:pPr>
            <a:r>
              <a:rPr lang="vi-VN" b="1" dirty="0"/>
              <a:t>Đầu Vào Động:</a:t>
            </a:r>
            <a:endParaRPr lang="vi-VN" dirty="0"/>
          </a:p>
          <a:p>
            <a:pPr marL="742950" lvl="1" indent="-285750">
              <a:buFont typeface="Arial" panose="020B0604020202020204" pitchFamily="34" charset="0"/>
              <a:buChar char="•"/>
            </a:pPr>
            <a:r>
              <a:rPr lang="vi-VN" dirty="0"/>
              <a:t>Setter @Input() lắng nghe các thay đổi trong thuộc tính times và cập nhật DOM tương ứng.</a:t>
            </a:r>
          </a:p>
          <a:p>
            <a:pPr>
              <a:buFont typeface="Arial" panose="020B0604020202020204" pitchFamily="34" charset="0"/>
              <a:buChar char="•"/>
            </a:pPr>
            <a:r>
              <a:rPr lang="vi-VN" b="1" dirty="0"/>
              <a:t>Tích Hợp Component:</a:t>
            </a:r>
            <a:endParaRPr lang="vi-VN" dirty="0"/>
          </a:p>
          <a:p>
            <a:pPr marL="742950" lvl="1" indent="-285750">
              <a:buFont typeface="Arial" panose="020B0604020202020204" pitchFamily="34" charset="0"/>
              <a:buChar char="•"/>
            </a:pPr>
            <a:r>
              <a:rPr lang="vi-VN" dirty="0"/>
              <a:t>Directive có thể được tái sử dụng ở bất cứ đâu cần lặp lại động một phần tử.</a:t>
            </a:r>
          </a:p>
        </p:txBody>
      </p:sp>
    </p:spTree>
    <p:extLst>
      <p:ext uri="{BB962C8B-B14F-4D97-AF65-F5344CB8AC3E}">
        <p14:creationId xmlns:p14="http://schemas.microsoft.com/office/powerpoint/2010/main" val="31971817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en-US" b="1" dirty="0"/>
              <a:t>Ứng </a:t>
            </a:r>
            <a:r>
              <a:rPr lang="en-US" b="1" dirty="0" err="1"/>
              <a:t>Dụng</a:t>
            </a:r>
            <a:r>
              <a:rPr lang="en-US" b="1" dirty="0"/>
              <a:t> Danh </a:t>
            </a:r>
            <a:r>
              <a:rPr lang="en-US" b="1" dirty="0" err="1"/>
              <a:t>Sách</a:t>
            </a:r>
            <a:r>
              <a:rPr lang="en-US" b="1" dirty="0"/>
              <a:t> Việc Cần Làm (To-Do List Application)</a:t>
            </a:r>
            <a:endParaRPr lang="en-US" dirty="0"/>
          </a:p>
          <a:p>
            <a:pPr>
              <a:buFont typeface="Arial" panose="020B0604020202020204" pitchFamily="34" charset="0"/>
              <a:buChar char="•"/>
            </a:pPr>
            <a:r>
              <a:rPr lang="en-US" b="1" dirty="0"/>
              <a:t>CRUD </a:t>
            </a:r>
            <a:r>
              <a:rPr lang="en-US" b="1" dirty="0" err="1"/>
              <a:t>các</a:t>
            </a:r>
            <a:r>
              <a:rPr lang="en-US" b="1" dirty="0"/>
              <a:t> công việc</a:t>
            </a:r>
            <a:endParaRPr lang="en-US" dirty="0"/>
          </a:p>
          <a:p>
            <a:pPr>
              <a:buFont typeface="Arial" panose="020B0604020202020204" pitchFamily="34" charset="0"/>
              <a:buChar char="•"/>
            </a:pPr>
            <a:r>
              <a:rPr lang="en-US" b="1" dirty="0"/>
              <a:t>Thay </a:t>
            </a:r>
            <a:r>
              <a:rPr lang="en-US" b="1" dirty="0" err="1"/>
              <a:t>đổi</a:t>
            </a:r>
            <a:r>
              <a:rPr lang="en-US" b="1" dirty="0"/>
              <a:t> </a:t>
            </a:r>
            <a:r>
              <a:rPr lang="en-US" b="1" dirty="0" err="1"/>
              <a:t>trạng</a:t>
            </a:r>
            <a:r>
              <a:rPr lang="en-US" b="1" dirty="0"/>
              <a:t> </a:t>
            </a:r>
            <a:r>
              <a:rPr lang="en-US" b="1" dirty="0" err="1"/>
              <a:t>thái</a:t>
            </a:r>
            <a:r>
              <a:rPr lang="en-US" b="1" dirty="0"/>
              <a:t> công việc</a:t>
            </a:r>
            <a:endParaRPr lang="en-US" dirty="0"/>
          </a:p>
          <a:p>
            <a:pPr>
              <a:buFont typeface="Arial" panose="020B0604020202020204" pitchFamily="34" charset="0"/>
              <a:buChar char="•"/>
            </a:pPr>
            <a:r>
              <a:rPr lang="en-US" b="1" dirty="0" err="1"/>
              <a:t>Ràng</a:t>
            </a:r>
            <a:r>
              <a:rPr lang="en-US" b="1" dirty="0"/>
              <a:t> </a:t>
            </a:r>
            <a:r>
              <a:rPr lang="en-US" b="1" dirty="0" err="1"/>
              <a:t>buộc</a:t>
            </a:r>
            <a:r>
              <a:rPr lang="en-US" b="1" dirty="0"/>
              <a:t> view </a:t>
            </a:r>
            <a:r>
              <a:rPr lang="en-US" b="1" dirty="0" err="1"/>
              <a:t>với</a:t>
            </a:r>
            <a:r>
              <a:rPr lang="en-US" b="1" dirty="0"/>
              <a:t> dữ </a:t>
            </a:r>
            <a:r>
              <a:rPr lang="en-US" b="1" dirty="0" err="1"/>
              <a:t>liệu</a:t>
            </a:r>
            <a:endParaRPr lang="en-US" dirty="0"/>
          </a:p>
          <a:p>
            <a:pPr>
              <a:buFont typeface="Arial" panose="020B0604020202020204" pitchFamily="34" charset="0"/>
              <a:buChar char="•"/>
            </a:pPr>
            <a:r>
              <a:rPr lang="en-US" b="1" dirty="0"/>
              <a:t>Directive để </a:t>
            </a:r>
            <a:r>
              <a:rPr lang="en-US" b="1" dirty="0" err="1"/>
              <a:t>lọc</a:t>
            </a:r>
            <a:r>
              <a:rPr lang="en-US" b="1" dirty="0"/>
              <a:t> </a:t>
            </a:r>
            <a:r>
              <a:rPr lang="en-US" b="1" dirty="0" err="1"/>
              <a:t>các</a:t>
            </a:r>
            <a:r>
              <a:rPr lang="en-US" b="1" dirty="0"/>
              <a:t> công việc</a:t>
            </a:r>
            <a:endParaRPr lang="en-US" dirty="0"/>
          </a:p>
          <a:p>
            <a:endParaRPr lang="en-US" dirty="0"/>
          </a:p>
        </p:txBody>
      </p:sp>
    </p:spTree>
    <p:extLst>
      <p:ext uri="{BB962C8B-B14F-4D97-AF65-F5344CB8AC3E}">
        <p14:creationId xmlns:p14="http://schemas.microsoft.com/office/powerpoint/2010/main" val="10701695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FE9FEC1-483B-425E-B0C1-B8B1F2119B26}"/>
              </a:ext>
            </a:extLst>
          </p:cNvPr>
          <p:cNvSpPr>
            <a:spLocks noGrp="1"/>
          </p:cNvSpPr>
          <p:nvPr>
            <p:ph type="body" sz="quarter" idx="10" hasCustomPrompt="1"/>
          </p:nvPr>
        </p:nvSpPr>
        <p:spPr>
          <a:xfrm>
            <a:off x="744135" y="2597642"/>
            <a:ext cx="12960668" cy="2633081"/>
          </a:xfrm>
          <a:prstGeom prst="rect">
            <a:avLst/>
          </a:prstGeom>
        </p:spPr>
        <p:txBody>
          <a:bodyPr/>
          <a:lstStyle>
            <a:lvl1pPr marL="0" indent="0" algn="ctr">
              <a:buNone/>
              <a:defRPr sz="5760" b="1">
                <a:solidFill>
                  <a:schemeClr val="bg1"/>
                </a:solidFill>
                <a:latin typeface="Arial" panose="020B0604020202020204" pitchFamily="34" charset="0"/>
                <a:cs typeface="Arial" panose="020B0604020202020204" pitchFamily="34" charset="0"/>
              </a:defRPr>
            </a:lvl1pPr>
          </a:lstStyle>
          <a:p>
            <a:pPr lvl="0"/>
            <a:r>
              <a:rPr lang="en-US" dirty="0"/>
              <a:t>Click to add title</a:t>
            </a:r>
          </a:p>
        </p:txBody>
      </p:sp>
      <p:sp>
        <p:nvSpPr>
          <p:cNvPr id="8" name="Text Placeholder 7">
            <a:extLst>
              <a:ext uri="{FF2B5EF4-FFF2-40B4-BE49-F238E27FC236}">
                <a16:creationId xmlns:a16="http://schemas.microsoft.com/office/drawing/2014/main" id="{33B98C62-0FD9-4624-8D35-021561432891}"/>
              </a:ext>
            </a:extLst>
          </p:cNvPr>
          <p:cNvSpPr>
            <a:spLocks noGrp="1"/>
          </p:cNvSpPr>
          <p:nvPr>
            <p:ph type="body" sz="quarter" idx="11" hasCustomPrompt="1"/>
          </p:nvPr>
        </p:nvSpPr>
        <p:spPr>
          <a:xfrm>
            <a:off x="744134" y="5320406"/>
            <a:ext cx="12960668" cy="495300"/>
          </a:xfrm>
          <a:prstGeom prst="rect">
            <a:avLst/>
          </a:prstGeom>
        </p:spPr>
        <p:txBody>
          <a:bodyPr/>
          <a:lstStyle>
            <a:lvl1pPr marL="0" indent="0" algn="ctr">
              <a:buNone/>
              <a:defRPr sz="2400">
                <a:solidFill>
                  <a:schemeClr val="bg1"/>
                </a:solidFill>
                <a:latin typeface="Arial" panose="020B0604020202020204" pitchFamily="34" charset="0"/>
                <a:cs typeface="Arial" panose="020B0604020202020204" pitchFamily="34" charset="0"/>
              </a:defRPr>
            </a:lvl1pPr>
          </a:lstStyle>
          <a:p>
            <a:pPr lvl="0"/>
            <a:r>
              <a:rPr lang="en-US" dirty="0"/>
              <a:t>Click to add sub-title</a:t>
            </a:r>
          </a:p>
        </p:txBody>
      </p:sp>
      <p:sp>
        <p:nvSpPr>
          <p:cNvPr id="9" name="Slide Number Placeholder 4">
            <a:extLst>
              <a:ext uri="{FF2B5EF4-FFF2-40B4-BE49-F238E27FC236}">
                <a16:creationId xmlns:a16="http://schemas.microsoft.com/office/drawing/2014/main" id="{5EB812CF-FC02-4C33-A206-BCF1436A39B4}"/>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1599074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A957C91-5AD0-4461-941C-245F034364DB}"/>
              </a:ext>
            </a:extLst>
          </p:cNvPr>
          <p:cNvSpPr>
            <a:spLocks noGrp="1"/>
          </p:cNvSpPr>
          <p:nvPr>
            <p:ph type="subTitle" idx="1"/>
          </p:nvPr>
        </p:nvSpPr>
        <p:spPr>
          <a:xfrm>
            <a:off x="746999" y="1906924"/>
            <a:ext cx="13155431" cy="5486400"/>
          </a:xfrm>
        </p:spPr>
        <p:txBody>
          <a:bodyPr/>
          <a:lstStyle>
            <a:lvl1pPr marL="0" indent="0" algn="l">
              <a:lnSpc>
                <a:spcPct val="150000"/>
              </a:lnSpc>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dirty="0"/>
              <a:t>Click to edit Master subtitle style</a:t>
            </a:r>
          </a:p>
        </p:txBody>
      </p:sp>
      <p:sp>
        <p:nvSpPr>
          <p:cNvPr id="7" name="Title 1">
            <a:extLst>
              <a:ext uri="{FF2B5EF4-FFF2-40B4-BE49-F238E27FC236}">
                <a16:creationId xmlns:a16="http://schemas.microsoft.com/office/drawing/2014/main" id="{1E181B04-7A0A-4201-BF8A-A7E924267571}"/>
              </a:ext>
            </a:extLst>
          </p:cNvPr>
          <p:cNvSpPr txBox="1">
            <a:spLocks/>
          </p:cNvSpPr>
          <p:nvPr userDrawn="1"/>
        </p:nvSpPr>
        <p:spPr>
          <a:xfrm>
            <a:off x="3973646" y="-13709"/>
            <a:ext cx="10656755" cy="947534"/>
          </a:xfrm>
          <a:prstGeom prst="rect">
            <a:avLst/>
          </a:prstGeom>
        </p:spPr>
        <p:txBody>
          <a:bodyPr vert="horz" lIns="109728" tIns="54864" rIns="109728" bIns="54864" rtlCol="0" anchor="ctr">
            <a:normAutofit/>
          </a:bodyPr>
          <a:lstStyle>
            <a:lvl1pPr algn="ctr" defTabSz="914400" rtl="0" eaLnBrk="1" latinLnBrk="0" hangingPunct="1">
              <a:lnSpc>
                <a:spcPct val="90000"/>
              </a:lnSpc>
              <a:spcBef>
                <a:spcPct val="0"/>
              </a:spcBef>
              <a:buNone/>
              <a:defRPr sz="3000" b="1" kern="1200">
                <a:solidFill>
                  <a:schemeClr val="tx1"/>
                </a:solidFill>
                <a:latin typeface="+mj-lt"/>
                <a:ea typeface="+mj-ea"/>
                <a:cs typeface="+mj-cs"/>
              </a:defRPr>
            </a:lvl1pPr>
          </a:lstStyle>
          <a:p>
            <a:endParaRPr lang="en-US" sz="3600" dirty="0"/>
          </a:p>
        </p:txBody>
      </p:sp>
      <p:sp>
        <p:nvSpPr>
          <p:cNvPr id="8" name="Slide Number Placeholder 4">
            <a:extLst>
              <a:ext uri="{FF2B5EF4-FFF2-40B4-BE49-F238E27FC236}">
                <a16:creationId xmlns:a16="http://schemas.microsoft.com/office/drawing/2014/main" id="{DBAE61E2-5E8A-4CA1-8C1E-1106F4E462E9}"/>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7DA09F63-7F7A-4F6B-8B0F-50384B0193BD}"/>
              </a:ext>
            </a:extLst>
          </p:cNvPr>
          <p:cNvSpPr>
            <a:spLocks noGrp="1"/>
          </p:cNvSpPr>
          <p:nvPr>
            <p:ph type="title"/>
          </p:nvPr>
        </p:nvSpPr>
        <p:spPr>
          <a:xfrm>
            <a:off x="629085" y="23152"/>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451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F51A7-6B22-4874-8FC5-ED388E5D187B}"/>
              </a:ext>
            </a:extLst>
          </p:cNvPr>
          <p:cNvSpPr>
            <a:spLocks noGrp="1"/>
          </p:cNvSpPr>
          <p:nvPr>
            <p:ph idx="1"/>
          </p:nvPr>
        </p:nvSpPr>
        <p:spPr>
          <a:xfrm>
            <a:off x="747000" y="1917577"/>
            <a:ext cx="13166084" cy="5494778"/>
          </a:xfrm>
        </p:spPr>
        <p:txBody>
          <a:bodyPr/>
          <a:lstStyle>
            <a:lvl1pPr>
              <a:lnSpc>
                <a:spcPct val="150000"/>
              </a:lnSpc>
              <a:defRPr>
                <a:latin typeface="+mj-lt"/>
              </a:defRPr>
            </a:lvl1pPr>
            <a:lvl2pPr>
              <a:lnSpc>
                <a:spcPct val="150000"/>
              </a:lnSpc>
              <a:defRPr>
                <a:latin typeface="+mj-lt"/>
              </a:defRPr>
            </a:lvl2pPr>
            <a:lvl3pPr>
              <a:lnSpc>
                <a:spcPct val="150000"/>
              </a:lnSpc>
              <a:defRPr>
                <a:latin typeface="+mj-lt"/>
              </a:defRPr>
            </a:lvl3pPr>
            <a:lvl4pPr>
              <a:lnSpc>
                <a:spcPct val="150000"/>
              </a:lnSpc>
              <a:defRPr>
                <a:latin typeface="+mj-lt"/>
              </a:defRPr>
            </a:lvl4pPr>
            <a:lvl5pPr>
              <a:lnSpc>
                <a:spcPct val="150000"/>
              </a:lnSpc>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4">
            <a:extLst>
              <a:ext uri="{FF2B5EF4-FFF2-40B4-BE49-F238E27FC236}">
                <a16:creationId xmlns:a16="http://schemas.microsoft.com/office/drawing/2014/main" id="{9F4D43A2-E4DB-497D-9B5D-E32D9E64BECA}"/>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22B04073-83B8-47CB-9F12-D7CD4B660F09}"/>
              </a:ext>
            </a:extLst>
          </p:cNvPr>
          <p:cNvSpPr>
            <a:spLocks noGrp="1"/>
          </p:cNvSpPr>
          <p:nvPr>
            <p:ph type="title"/>
          </p:nvPr>
        </p:nvSpPr>
        <p:spPr>
          <a:xfrm>
            <a:off x="629085" y="23152"/>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405949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A6E213-C056-49F2-8A77-C3C4C25F42D3}"/>
              </a:ext>
            </a:extLst>
          </p:cNvPr>
          <p:cNvSpPr>
            <a:spLocks noGrp="1"/>
          </p:cNvSpPr>
          <p:nvPr>
            <p:ph type="body" idx="1"/>
          </p:nvPr>
        </p:nvSpPr>
        <p:spPr>
          <a:xfrm>
            <a:off x="747001" y="1917578"/>
            <a:ext cx="13166084" cy="5497052"/>
          </a:xfrm>
        </p:spPr>
        <p:txBody>
          <a:bodyPr/>
          <a:lstStyle>
            <a:lvl1pPr marL="0" indent="0">
              <a:lnSpc>
                <a:spcPct val="150000"/>
              </a:lnSpc>
              <a:buNone/>
              <a:defRPr sz="2880">
                <a:solidFill>
                  <a:srgbClr val="0070C0"/>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dirty="0"/>
              <a:t>Click to edit Master text styles</a:t>
            </a:r>
          </a:p>
        </p:txBody>
      </p:sp>
      <p:sp>
        <p:nvSpPr>
          <p:cNvPr id="6" name="Slide Number Placeholder 4">
            <a:extLst>
              <a:ext uri="{FF2B5EF4-FFF2-40B4-BE49-F238E27FC236}">
                <a16:creationId xmlns:a16="http://schemas.microsoft.com/office/drawing/2014/main" id="{BA76B584-4F94-4DD1-9943-77A2F3AF15CF}"/>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040D9B5B-D231-4612-89E6-B4776226BA7C}"/>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107828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5F5726-7887-4ED4-A172-AF9307881508}"/>
              </a:ext>
            </a:extLst>
          </p:cNvPr>
          <p:cNvSpPr>
            <a:spLocks noGrp="1"/>
          </p:cNvSpPr>
          <p:nvPr>
            <p:ph sz="half" idx="1"/>
          </p:nvPr>
        </p:nvSpPr>
        <p:spPr>
          <a:xfrm>
            <a:off x="747000" y="1928230"/>
            <a:ext cx="6568200" cy="5484126"/>
          </a:xfrm>
        </p:spPr>
        <p:txBody>
          <a:bodyPr/>
          <a:lstStyle>
            <a:lvl1pPr>
              <a:lnSpc>
                <a:spcPct val="150000"/>
              </a:lnSpc>
              <a:defRPr>
                <a:latin typeface="+mj-lt"/>
              </a:defRPr>
            </a:lvl1pPr>
            <a:lvl2pPr>
              <a:lnSpc>
                <a:spcPct val="150000"/>
              </a:lnSpc>
              <a:defRPr>
                <a:latin typeface="+mj-lt"/>
              </a:defRPr>
            </a:lvl2pPr>
            <a:lvl3pPr>
              <a:lnSpc>
                <a:spcPct val="150000"/>
              </a:lnSpc>
              <a:defRPr>
                <a:latin typeface="+mj-lt"/>
              </a:defRPr>
            </a:lvl3pPr>
            <a:lvl4pPr>
              <a:lnSpc>
                <a:spcPct val="150000"/>
              </a:lnSpc>
              <a:defRPr>
                <a:latin typeface="+mj-lt"/>
              </a:defRPr>
            </a:lvl4pPr>
            <a:lvl5pPr>
              <a:lnSpc>
                <a:spcPct val="150000"/>
              </a:lnSpc>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CA0F843-3E9A-4C49-A1AC-A3FA71EF7350}"/>
              </a:ext>
            </a:extLst>
          </p:cNvPr>
          <p:cNvSpPr>
            <a:spLocks noGrp="1"/>
          </p:cNvSpPr>
          <p:nvPr>
            <p:ph sz="half" idx="2"/>
          </p:nvPr>
        </p:nvSpPr>
        <p:spPr>
          <a:xfrm>
            <a:off x="7327130" y="1928230"/>
            <a:ext cx="6568199" cy="5484126"/>
          </a:xfrm>
        </p:spPr>
        <p:txBody>
          <a:bodyPr/>
          <a:lstStyle>
            <a:lvl1pPr>
              <a:lnSpc>
                <a:spcPct val="150000"/>
              </a:lnSpc>
              <a:defRPr>
                <a:latin typeface="+mj-lt"/>
              </a:defRPr>
            </a:lvl1pPr>
            <a:lvl2pPr>
              <a:lnSpc>
                <a:spcPct val="150000"/>
              </a:lnSpc>
              <a:defRPr>
                <a:latin typeface="+mj-lt"/>
              </a:defRPr>
            </a:lvl2pPr>
            <a:lvl3pPr>
              <a:lnSpc>
                <a:spcPct val="150000"/>
              </a:lnSpc>
              <a:defRPr>
                <a:latin typeface="+mj-lt"/>
              </a:defRPr>
            </a:lvl3pPr>
            <a:lvl4pPr>
              <a:lnSpc>
                <a:spcPct val="150000"/>
              </a:lnSpc>
              <a:defRPr>
                <a:latin typeface="+mj-lt"/>
              </a:defRPr>
            </a:lvl4pPr>
            <a:lvl5pPr>
              <a:lnSpc>
                <a:spcPct val="150000"/>
              </a:lnSpc>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4">
            <a:extLst>
              <a:ext uri="{FF2B5EF4-FFF2-40B4-BE49-F238E27FC236}">
                <a16:creationId xmlns:a16="http://schemas.microsoft.com/office/drawing/2014/main" id="{E6FCE726-79EE-487F-9798-E531C3475E8B}"/>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3FB126F2-FBF5-4556-AAF5-1ECB22E17B0D}"/>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041146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41CF06-6B06-4E7F-82EA-7C5047EA60A1}"/>
              </a:ext>
            </a:extLst>
          </p:cNvPr>
          <p:cNvSpPr>
            <a:spLocks noGrp="1"/>
          </p:cNvSpPr>
          <p:nvPr>
            <p:ph type="body" idx="1"/>
          </p:nvPr>
        </p:nvSpPr>
        <p:spPr>
          <a:xfrm>
            <a:off x="747000" y="1923930"/>
            <a:ext cx="6568200" cy="988694"/>
          </a:xfrm>
        </p:spPr>
        <p:txBody>
          <a:bodyPr anchor="b"/>
          <a:lstStyle>
            <a:lvl1pPr marL="0" indent="0">
              <a:lnSpc>
                <a:spcPct val="150000"/>
              </a:lnSpc>
              <a:buNone/>
              <a:defRPr sz="2880" b="1">
                <a:latin typeface="+mj-lt"/>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4FD9E841-81B0-403F-B4A9-7ACB7AAF8E75}"/>
              </a:ext>
            </a:extLst>
          </p:cNvPr>
          <p:cNvSpPr>
            <a:spLocks noGrp="1"/>
          </p:cNvSpPr>
          <p:nvPr>
            <p:ph sz="half" idx="2"/>
          </p:nvPr>
        </p:nvSpPr>
        <p:spPr>
          <a:xfrm>
            <a:off x="746999" y="3014858"/>
            <a:ext cx="6568199" cy="4412737"/>
          </a:xfrm>
        </p:spPr>
        <p:txBody>
          <a:bodyPr/>
          <a:lstStyle>
            <a:lvl1pPr>
              <a:lnSpc>
                <a:spcPct val="150000"/>
              </a:lnSpc>
              <a:defRPr>
                <a:latin typeface="+mj-lt"/>
              </a:defRPr>
            </a:lvl1pPr>
            <a:lvl2pPr>
              <a:lnSpc>
                <a:spcPct val="150000"/>
              </a:lnSpc>
              <a:defRPr>
                <a:latin typeface="+mj-lt"/>
              </a:defRPr>
            </a:lvl2pPr>
            <a:lvl3pPr>
              <a:lnSpc>
                <a:spcPct val="150000"/>
              </a:lnSpc>
              <a:defRPr>
                <a:latin typeface="+mj-lt"/>
              </a:defRPr>
            </a:lvl3pPr>
            <a:lvl4pPr>
              <a:lnSpc>
                <a:spcPct val="150000"/>
              </a:lnSpc>
              <a:defRPr>
                <a:latin typeface="+mj-lt"/>
              </a:defRPr>
            </a:lvl4pPr>
            <a:lvl5pPr>
              <a:lnSpc>
                <a:spcPct val="150000"/>
              </a:lnSpc>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0BB9AEE-2F75-43DB-921D-43380FB8C592}"/>
              </a:ext>
            </a:extLst>
          </p:cNvPr>
          <p:cNvSpPr>
            <a:spLocks noGrp="1"/>
          </p:cNvSpPr>
          <p:nvPr>
            <p:ph type="body" sz="quarter" idx="3"/>
          </p:nvPr>
        </p:nvSpPr>
        <p:spPr>
          <a:xfrm>
            <a:off x="7315201" y="1923930"/>
            <a:ext cx="6568199" cy="988694"/>
          </a:xfrm>
        </p:spPr>
        <p:txBody>
          <a:bodyPr anchor="b"/>
          <a:lstStyle>
            <a:lvl1pPr marL="0" indent="0">
              <a:lnSpc>
                <a:spcPct val="150000"/>
              </a:lnSpc>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4F1E4C2-CBB6-4430-BE56-3BF9E9AA8B7D}"/>
              </a:ext>
            </a:extLst>
          </p:cNvPr>
          <p:cNvSpPr>
            <a:spLocks noGrp="1"/>
          </p:cNvSpPr>
          <p:nvPr>
            <p:ph sz="quarter" idx="4"/>
          </p:nvPr>
        </p:nvSpPr>
        <p:spPr>
          <a:xfrm>
            <a:off x="7315199" y="3014858"/>
            <a:ext cx="6568200" cy="4412737"/>
          </a:xfrm>
        </p:spPr>
        <p:txBody>
          <a:bodyPr/>
          <a:lstStyle>
            <a:lvl1pPr>
              <a:lnSpc>
                <a:spcPct val="150000"/>
              </a:lnSpc>
              <a:defRPr>
                <a:latin typeface="+mj-lt"/>
              </a:defRPr>
            </a:lvl1pPr>
            <a:lvl2pPr>
              <a:lnSpc>
                <a:spcPct val="150000"/>
              </a:lnSpc>
              <a:defRPr>
                <a:latin typeface="+mj-lt"/>
              </a:defRPr>
            </a:lvl2pPr>
            <a:lvl3pPr>
              <a:lnSpc>
                <a:spcPct val="150000"/>
              </a:lnSpc>
              <a:defRPr>
                <a:latin typeface="+mj-lt"/>
              </a:defRPr>
            </a:lvl3pPr>
            <a:lvl4pPr>
              <a:lnSpc>
                <a:spcPct val="150000"/>
              </a:lnSpc>
              <a:defRPr>
                <a:latin typeface="+mj-lt"/>
              </a:defRPr>
            </a:lvl4pPr>
            <a:lvl5pPr>
              <a:lnSpc>
                <a:spcPct val="150000"/>
              </a:lnSpc>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4">
            <a:extLst>
              <a:ext uri="{FF2B5EF4-FFF2-40B4-BE49-F238E27FC236}">
                <a16:creationId xmlns:a16="http://schemas.microsoft.com/office/drawing/2014/main" id="{EDD1D7D5-B40B-4404-87A7-8074677D8997}"/>
              </a:ext>
            </a:extLst>
          </p:cNvPr>
          <p:cNvSpPr>
            <a:spLocks noGrp="1"/>
          </p:cNvSpPr>
          <p:nvPr>
            <p:ph type="sldNum" sz="quarter" idx="11"/>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11" name="Title Placeholder 1">
            <a:extLst>
              <a:ext uri="{FF2B5EF4-FFF2-40B4-BE49-F238E27FC236}">
                <a16:creationId xmlns:a16="http://schemas.microsoft.com/office/drawing/2014/main" id="{401B562F-EFD8-422F-B98E-C48C0F73AC49}"/>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3072891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37972AD-1D52-4C38-A4F1-BA8AAFF97032}"/>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7" name="Title Placeholder 1">
            <a:extLst>
              <a:ext uri="{FF2B5EF4-FFF2-40B4-BE49-F238E27FC236}">
                <a16:creationId xmlns:a16="http://schemas.microsoft.com/office/drawing/2014/main" id="{70797FE1-3F5B-4DD2-B196-B7AAF6628D62}"/>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950097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BB3D6C-BEF2-4E06-A9B0-9A309DB3444E}"/>
              </a:ext>
            </a:extLst>
          </p:cNvPr>
          <p:cNvSpPr>
            <a:spLocks noGrp="1"/>
          </p:cNvSpPr>
          <p:nvPr>
            <p:ph idx="1"/>
          </p:nvPr>
        </p:nvSpPr>
        <p:spPr>
          <a:xfrm>
            <a:off x="5923181" y="1928230"/>
            <a:ext cx="7947173" cy="5475746"/>
          </a:xfrm>
        </p:spPr>
        <p:txBody>
          <a:bodyPr/>
          <a:lstStyle>
            <a:lvl1pPr>
              <a:defRPr sz="3840">
                <a:latin typeface="+mj-lt"/>
              </a:defRPr>
            </a:lvl1pPr>
            <a:lvl2pPr>
              <a:defRPr sz="3360">
                <a:latin typeface="+mj-lt"/>
              </a:defRPr>
            </a:lvl2pPr>
            <a:lvl3pPr>
              <a:defRPr sz="2880">
                <a:latin typeface="+mj-lt"/>
              </a:defRPr>
            </a:lvl3pPr>
            <a:lvl4pPr>
              <a:defRPr sz="2400">
                <a:latin typeface="+mj-lt"/>
              </a:defRPr>
            </a:lvl4pPr>
            <a:lvl5pPr>
              <a:defRPr sz="2400">
                <a:latin typeface="+mj-lt"/>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48ECDB52-24E0-4CBA-AE63-33BD3EF657F8}"/>
              </a:ext>
            </a:extLst>
          </p:cNvPr>
          <p:cNvSpPr>
            <a:spLocks noGrp="1"/>
          </p:cNvSpPr>
          <p:nvPr>
            <p:ph type="body" sz="half" idx="2"/>
          </p:nvPr>
        </p:nvSpPr>
        <p:spPr>
          <a:xfrm>
            <a:off x="747000" y="1928231"/>
            <a:ext cx="4809852" cy="547574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dirty="0"/>
              <a:t>Click to edit Master text styles</a:t>
            </a:r>
          </a:p>
        </p:txBody>
      </p:sp>
      <p:sp>
        <p:nvSpPr>
          <p:cNvPr id="7" name="Slide Number Placeholder 4">
            <a:extLst>
              <a:ext uri="{FF2B5EF4-FFF2-40B4-BE49-F238E27FC236}">
                <a16:creationId xmlns:a16="http://schemas.microsoft.com/office/drawing/2014/main" id="{AEEB6E2B-6FA2-4169-B497-FAE2CD95A8B1}"/>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479BEDD5-9D69-4F36-BBA7-2ED62B0AD6F3}"/>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072529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6D3D43A-8744-40D7-AFFD-6F0B4A4ECB2C}"/>
              </a:ext>
            </a:extLst>
          </p:cNvPr>
          <p:cNvSpPr>
            <a:spLocks noGrp="1"/>
          </p:cNvSpPr>
          <p:nvPr>
            <p:ph type="pic" idx="1"/>
          </p:nvPr>
        </p:nvSpPr>
        <p:spPr>
          <a:xfrm>
            <a:off x="5859262" y="1928230"/>
            <a:ext cx="8011092" cy="5465093"/>
          </a:xfrm>
        </p:spPr>
        <p:txBody>
          <a:bodyPr>
            <a:normAutofit/>
          </a:bodyPr>
          <a:lstStyle>
            <a:lvl1pPr marL="0" indent="0">
              <a:buNone/>
              <a:defRPr sz="336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dirty="0"/>
              <a:t>Click icon to add picture</a:t>
            </a:r>
          </a:p>
        </p:txBody>
      </p:sp>
      <p:sp>
        <p:nvSpPr>
          <p:cNvPr id="4" name="Text Placeholder 3">
            <a:extLst>
              <a:ext uri="{FF2B5EF4-FFF2-40B4-BE49-F238E27FC236}">
                <a16:creationId xmlns:a16="http://schemas.microsoft.com/office/drawing/2014/main" id="{ED85C3DD-CC1C-4A73-BCDA-09DF7D09C2C1}"/>
              </a:ext>
            </a:extLst>
          </p:cNvPr>
          <p:cNvSpPr>
            <a:spLocks noGrp="1"/>
          </p:cNvSpPr>
          <p:nvPr>
            <p:ph type="body" sz="half" idx="2"/>
          </p:nvPr>
        </p:nvSpPr>
        <p:spPr>
          <a:xfrm>
            <a:off x="747000" y="1928231"/>
            <a:ext cx="4779926" cy="5465093"/>
          </a:xfrm>
        </p:spPr>
        <p:txBody>
          <a:bodyPr>
            <a:normAutofit/>
          </a:bodyPr>
          <a:lstStyle>
            <a:lvl1pPr marL="0" indent="0">
              <a:buNone/>
              <a:defRPr sz="288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dirty="0"/>
              <a:t>Click to edit Master text styles</a:t>
            </a:r>
          </a:p>
        </p:txBody>
      </p:sp>
      <p:sp>
        <p:nvSpPr>
          <p:cNvPr id="7" name="Slide Number Placeholder 4">
            <a:extLst>
              <a:ext uri="{FF2B5EF4-FFF2-40B4-BE49-F238E27FC236}">
                <a16:creationId xmlns:a16="http://schemas.microsoft.com/office/drawing/2014/main" id="{722E68E5-0D29-4AF4-99F7-1F5BCDCEB05F}"/>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7BED9312-A7F8-456D-9D54-D034D097842E}"/>
              </a:ext>
            </a:extLst>
          </p:cNvPr>
          <p:cNvSpPr>
            <a:spLocks noGrp="1"/>
          </p:cNvSpPr>
          <p:nvPr>
            <p:ph type="title"/>
          </p:nvPr>
        </p:nvSpPr>
        <p:spPr>
          <a:xfrm>
            <a:off x="629085" y="13105"/>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360645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38B93FDE-0843-445A-8B34-9092D666FC3E}"/>
              </a:ext>
            </a:extLst>
          </p:cNvPr>
          <p:cNvSpPr>
            <a:spLocks noGrp="1"/>
          </p:cNvSpPr>
          <p:nvPr>
            <p:ph type="body" orient="vert" idx="1"/>
          </p:nvPr>
        </p:nvSpPr>
        <p:spPr>
          <a:xfrm>
            <a:off x="746999" y="1917578"/>
            <a:ext cx="13155431" cy="54947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4">
            <a:extLst>
              <a:ext uri="{FF2B5EF4-FFF2-40B4-BE49-F238E27FC236}">
                <a16:creationId xmlns:a16="http://schemas.microsoft.com/office/drawing/2014/main" id="{93D0DE23-B8AD-4136-812D-27D46B8ADC89}"/>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5A661BC8-CBE6-40B1-BF65-3DDC3730BEA8}"/>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2226324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8781CC48-27A5-4590-A158-B24464D8BE2C}"/>
              </a:ext>
            </a:extLst>
          </p:cNvPr>
          <p:cNvSpPr>
            <a:spLocks noGrp="1"/>
          </p:cNvSpPr>
          <p:nvPr>
            <p:ph type="body" orient="vert" idx="1"/>
          </p:nvPr>
        </p:nvSpPr>
        <p:spPr>
          <a:xfrm>
            <a:off x="746999" y="1906924"/>
            <a:ext cx="13155431" cy="55054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Placeholder 1">
            <a:extLst>
              <a:ext uri="{FF2B5EF4-FFF2-40B4-BE49-F238E27FC236}">
                <a16:creationId xmlns:a16="http://schemas.microsoft.com/office/drawing/2014/main" id="{AF7114A3-57EF-412A-8AEB-90C1FF86B1F4}"/>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6" name="Slide Number Placeholder 4">
            <a:extLst>
              <a:ext uri="{FF2B5EF4-FFF2-40B4-BE49-F238E27FC236}">
                <a16:creationId xmlns:a16="http://schemas.microsoft.com/office/drawing/2014/main" id="{291FBA3B-7B9C-4B9A-93C5-F00783BA10B9}"/>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3378322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ext Placeholder 5">
            <a:extLst>
              <a:ext uri="{FF2B5EF4-FFF2-40B4-BE49-F238E27FC236}">
                <a16:creationId xmlns:a16="http://schemas.microsoft.com/office/drawing/2014/main" id="{81110BB5-4CAA-4D6D-B0E5-CD6E3D5444C4}"/>
              </a:ext>
            </a:extLst>
          </p:cNvPr>
          <p:cNvSpPr>
            <a:spLocks noGrp="1"/>
          </p:cNvSpPr>
          <p:nvPr>
            <p:ph type="body" sz="quarter" idx="10" hasCustomPrompt="1"/>
          </p:nvPr>
        </p:nvSpPr>
        <p:spPr>
          <a:xfrm>
            <a:off x="0" y="3123888"/>
            <a:ext cx="14630400" cy="2633081"/>
          </a:xfrm>
          <a:prstGeom prst="rect">
            <a:avLst/>
          </a:prstGeom>
        </p:spPr>
        <p:txBody>
          <a:bodyPr/>
          <a:lstStyle>
            <a:lvl1pPr marL="0" indent="0" algn="ctr">
              <a:buNone/>
              <a:defRPr sz="7200" b="1">
                <a:solidFill>
                  <a:schemeClr val="bg1"/>
                </a:solidFill>
                <a:latin typeface="Arial" panose="020B0604020202020204" pitchFamily="34" charset="0"/>
                <a:cs typeface="Arial" panose="020B0604020202020204" pitchFamily="34" charset="0"/>
              </a:defRPr>
            </a:lvl1pPr>
          </a:lstStyle>
          <a:p>
            <a:pPr lvl="0"/>
            <a:r>
              <a:rPr lang="en-US" dirty="0"/>
              <a:t>THANK YOU</a:t>
            </a:r>
          </a:p>
        </p:txBody>
      </p:sp>
      <p:sp>
        <p:nvSpPr>
          <p:cNvPr id="3" name="Slide Number Placeholder 4">
            <a:extLst>
              <a:ext uri="{FF2B5EF4-FFF2-40B4-BE49-F238E27FC236}">
                <a16:creationId xmlns:a16="http://schemas.microsoft.com/office/drawing/2014/main" id="{3B7D03F5-A2EB-443F-8808-CB92782BB9DC}"/>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974592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4.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jp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166A51-751E-4C91-AF12-35FEA5D260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56909" y="832674"/>
            <a:ext cx="3516583" cy="1579366"/>
          </a:xfrm>
          <a:prstGeom prst="rect">
            <a:avLst/>
          </a:prstGeom>
        </p:spPr>
      </p:pic>
      <p:sp>
        <p:nvSpPr>
          <p:cNvPr id="5" name="Slide Number Placeholder 4">
            <a:extLst>
              <a:ext uri="{FF2B5EF4-FFF2-40B4-BE49-F238E27FC236}">
                <a16:creationId xmlns:a16="http://schemas.microsoft.com/office/drawing/2014/main" id="{95B40CFA-9026-435C-9897-175C51B6BE55}"/>
              </a:ext>
            </a:extLst>
          </p:cNvPr>
          <p:cNvSpPr>
            <a:spLocks noGrp="1"/>
          </p:cNvSpPr>
          <p:nvPr>
            <p:ph type="sldNum" sz="quarter" idx="4"/>
          </p:nvPr>
        </p:nvSpPr>
        <p:spPr>
          <a:xfrm>
            <a:off x="11338560" y="7773417"/>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2690241652"/>
      </p:ext>
    </p:extLst>
  </p:cSld>
  <p:clrMap bg1="lt1" tx1="dk1" bg2="lt2" tx2="dk2" accent1="accent1" accent2="accent2" accent3="accent3" accent4="accent4" accent5="accent5" accent6="accent6" hlink="hlink" folHlink="folHlink"/>
  <p:sldLayoutIdLst>
    <p:sldLayoutId id="2147483661" r:id="rId1"/>
  </p:sldLayoutIdLst>
  <p:hf hdr="0" ftr="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16BAF0-010B-4DE2-BDEA-F2879C620864}"/>
              </a:ext>
            </a:extLst>
          </p:cNvPr>
          <p:cNvSpPr>
            <a:spLocks noGrp="1"/>
          </p:cNvSpPr>
          <p:nvPr>
            <p:ph type="title"/>
          </p:nvPr>
        </p:nvSpPr>
        <p:spPr>
          <a:xfrm>
            <a:off x="617655" y="28597"/>
            <a:ext cx="10975981" cy="560070"/>
          </a:xfrm>
          <a:prstGeom prst="rect">
            <a:avLst/>
          </a:prstGeom>
        </p:spPr>
        <p:txBody>
          <a:bodyPr vert="horz" lIns="91440" tIns="45720" rIns="91440" bIns="45720" rtlCol="0" anchor="ctr">
            <a:normAutofit/>
          </a:bodyPr>
          <a:lstStyle/>
          <a:p>
            <a:endParaRPr lang="en-US" dirty="0"/>
          </a:p>
        </p:txBody>
      </p:sp>
      <p:sp>
        <p:nvSpPr>
          <p:cNvPr id="3" name="Text Placeholder 2">
            <a:extLst>
              <a:ext uri="{FF2B5EF4-FFF2-40B4-BE49-F238E27FC236}">
                <a16:creationId xmlns:a16="http://schemas.microsoft.com/office/drawing/2014/main" id="{73FBB290-2494-4607-B867-D433D7531872}"/>
              </a:ext>
            </a:extLst>
          </p:cNvPr>
          <p:cNvSpPr>
            <a:spLocks noGrp="1"/>
          </p:cNvSpPr>
          <p:nvPr>
            <p:ph type="body" idx="1"/>
          </p:nvPr>
        </p:nvSpPr>
        <p:spPr>
          <a:xfrm>
            <a:off x="747000" y="1576675"/>
            <a:ext cx="13136400" cy="583568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4">
            <a:extLst>
              <a:ext uri="{FF2B5EF4-FFF2-40B4-BE49-F238E27FC236}">
                <a16:creationId xmlns:a16="http://schemas.microsoft.com/office/drawing/2014/main" id="{1278EBD5-1C90-47B8-ADFB-BF109E3CF4A6}"/>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pic>
        <p:nvPicPr>
          <p:cNvPr id="7" name="Picture 6">
            <a:extLst>
              <a:ext uri="{FF2B5EF4-FFF2-40B4-BE49-F238E27FC236}">
                <a16:creationId xmlns:a16="http://schemas.microsoft.com/office/drawing/2014/main" id="{53EC741C-2937-40DA-B5CD-6BDD68A49B8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2138661" y="153680"/>
            <a:ext cx="1744740" cy="309905"/>
          </a:xfrm>
          <a:prstGeom prst="rect">
            <a:avLst/>
          </a:prstGeom>
        </p:spPr>
      </p:pic>
    </p:spTree>
    <p:extLst>
      <p:ext uri="{BB962C8B-B14F-4D97-AF65-F5344CB8AC3E}">
        <p14:creationId xmlns:p14="http://schemas.microsoft.com/office/powerpoint/2010/main" val="201659814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Lst>
  <p:hf hdr="0" ftr="0"/>
  <p:txStyles>
    <p:titleStyle>
      <a:lvl1pPr algn="l" defTabSz="1097280" rtl="0" eaLnBrk="1" latinLnBrk="0" hangingPunct="1">
        <a:lnSpc>
          <a:spcPct val="90000"/>
        </a:lnSpc>
        <a:spcBef>
          <a:spcPct val="0"/>
        </a:spcBef>
        <a:buNone/>
        <a:defRPr sz="2760" b="1" kern="1200" baseline="0">
          <a:solidFill>
            <a:schemeClr val="bg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j-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j-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C9FC78E-716C-42DD-9A91-4572741330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65079" y="2575224"/>
            <a:ext cx="5100239" cy="486910"/>
          </a:xfrm>
          <a:prstGeom prst="rect">
            <a:avLst/>
          </a:prstGeom>
        </p:spPr>
      </p:pic>
      <p:pic>
        <p:nvPicPr>
          <p:cNvPr id="3" name="Picture 2" descr="A picture containing icon&#10;&#10;Description automatically generated">
            <a:extLst>
              <a:ext uri="{FF2B5EF4-FFF2-40B4-BE49-F238E27FC236}">
                <a16:creationId xmlns:a16="http://schemas.microsoft.com/office/drawing/2014/main" id="{7D5A94FF-61CC-4076-B3C5-90D92D6517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84395" y="662825"/>
            <a:ext cx="3661606" cy="1644498"/>
          </a:xfrm>
          <a:prstGeom prst="rect">
            <a:avLst/>
          </a:prstGeom>
        </p:spPr>
      </p:pic>
      <p:sp>
        <p:nvSpPr>
          <p:cNvPr id="6" name="Slide Number Placeholder 4">
            <a:extLst>
              <a:ext uri="{FF2B5EF4-FFF2-40B4-BE49-F238E27FC236}">
                <a16:creationId xmlns:a16="http://schemas.microsoft.com/office/drawing/2014/main" id="{536F9F23-BD13-46C8-A1F1-15DBEB1CBFF4}"/>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2556741362"/>
      </p:ext>
    </p:extLst>
  </p:cSld>
  <p:clrMap bg1="lt1" tx1="dk1" bg2="lt2" tx2="dk2" accent1="accent1" accent2="accent2" accent3="accent3" accent4="accent4" accent5="accent5" accent6="accent6" hlink="hlink" folHlink="folHlink"/>
  <p:sldLayoutIdLst>
    <p:sldLayoutId id="2147483684" r:id="rId1"/>
  </p:sldLayoutIdLst>
  <p:hf hdr="0" ftr="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8EACC5C-4747-42C2-9BF5-D1B4A984743F}"/>
              </a:ext>
            </a:extLst>
          </p:cNvPr>
          <p:cNvSpPr>
            <a:spLocks noGrp="1"/>
          </p:cNvSpPr>
          <p:nvPr>
            <p:ph type="body" sz="quarter" idx="10"/>
          </p:nvPr>
        </p:nvSpPr>
        <p:spPr/>
        <p:txBody>
          <a:bodyPr lIns="91440" tIns="45720" rIns="91440" bIns="45720" anchor="t"/>
          <a:lstStyle/>
          <a:p>
            <a:r>
              <a:rPr lang="en-US" sz="5750" dirty="0">
                <a:latin typeface="Arial"/>
                <a:cs typeface="Arial"/>
              </a:rPr>
              <a:t>Angular Framework</a:t>
            </a:r>
            <a:endParaRPr lang="en-US" dirty="0"/>
          </a:p>
        </p:txBody>
      </p:sp>
      <p:sp>
        <p:nvSpPr>
          <p:cNvPr id="3" name="Text Placeholder 2">
            <a:extLst>
              <a:ext uri="{FF2B5EF4-FFF2-40B4-BE49-F238E27FC236}">
                <a16:creationId xmlns:a16="http://schemas.microsoft.com/office/drawing/2014/main" id="{230F2B9A-60B9-45E8-BBFF-DC81B2A1274F}"/>
              </a:ext>
            </a:extLst>
          </p:cNvPr>
          <p:cNvSpPr>
            <a:spLocks noGrp="1"/>
          </p:cNvSpPr>
          <p:nvPr>
            <p:ph type="body"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6948CFE-703F-41E2-8287-36611713304E}"/>
              </a:ext>
            </a:extLst>
          </p:cNvPr>
          <p:cNvSpPr>
            <a:spLocks noGrp="1"/>
          </p:cNvSpPr>
          <p:nvPr>
            <p:ph type="sldNum" sz="quarter" idx="4"/>
          </p:nvPr>
        </p:nvSpPr>
        <p:spPr/>
        <p:txBody>
          <a:bodyPr/>
          <a:lstStyle/>
          <a:p>
            <a:fld id="{31D26D55-0A22-487A-A687-61FB58A6F16A}" type="slidenum">
              <a:rPr lang="en-US" smtClean="0"/>
              <a:pPr/>
              <a:t>1</a:t>
            </a:fld>
            <a:endParaRPr lang="en-US" dirty="0"/>
          </a:p>
        </p:txBody>
      </p:sp>
    </p:spTree>
    <p:extLst>
      <p:ext uri="{BB962C8B-B14F-4D97-AF65-F5344CB8AC3E}">
        <p14:creationId xmlns:p14="http://schemas.microsoft.com/office/powerpoint/2010/main" val="1253848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0515296-4E23-95C1-06E7-DC09C8A89122}"/>
              </a:ext>
            </a:extLst>
          </p:cNvPr>
          <p:cNvSpPr>
            <a:spLocks noGrp="1"/>
          </p:cNvSpPr>
          <p:nvPr>
            <p:ph idx="1"/>
          </p:nvPr>
        </p:nvSpPr>
        <p:spPr/>
        <p:txBody>
          <a:bodyPr vert="horz" lIns="91440" tIns="45720" rIns="91440" bIns="45720" rtlCol="0" anchor="t">
            <a:normAutofit lnSpcReduction="10000"/>
          </a:bodyPr>
          <a:lstStyle/>
          <a:p>
            <a:r>
              <a:rPr lang="en-US" sz="3350" dirty="0">
                <a:ea typeface="+mj-lt"/>
                <a:cs typeface="+mj-lt"/>
              </a:rPr>
              <a:t>Angular is a TypeScript-based front-end web application framework maintained by Google. </a:t>
            </a:r>
          </a:p>
          <a:p>
            <a:r>
              <a:rPr lang="en-US" sz="3350" dirty="0">
                <a:ea typeface="+mj-lt"/>
                <a:cs typeface="+mj-lt"/>
              </a:rPr>
              <a:t>It is a platform for building dynamic, single-page web applications (SPAs). </a:t>
            </a:r>
          </a:p>
          <a:p>
            <a:r>
              <a:rPr lang="en-US" sz="3350" dirty="0">
                <a:ea typeface="+mj-lt"/>
                <a:cs typeface="+mj-lt"/>
              </a:rPr>
              <a:t>Angular allows developers to build rich, client-side applications with ease using modern web technologies like HTML, CSS, and JavaScript (or TypeScript).</a:t>
            </a:r>
            <a:endParaRPr lang="en-US" sz="3350" dirty="0">
              <a:cs typeface="Arial"/>
            </a:endParaRPr>
          </a:p>
          <a:p>
            <a:endParaRPr lang="en-US" sz="3350" dirty="0">
              <a:cs typeface="Arial"/>
            </a:endParaRPr>
          </a:p>
        </p:txBody>
      </p:sp>
      <p:sp>
        <p:nvSpPr>
          <p:cNvPr id="3" name="Slide Number Placeholder 2">
            <a:extLst>
              <a:ext uri="{FF2B5EF4-FFF2-40B4-BE49-F238E27FC236}">
                <a16:creationId xmlns:a16="http://schemas.microsoft.com/office/drawing/2014/main" id="{FECD84A0-05CA-BAB5-4186-098D6F78ED86}"/>
              </a:ext>
            </a:extLst>
          </p:cNvPr>
          <p:cNvSpPr>
            <a:spLocks noGrp="1"/>
          </p:cNvSpPr>
          <p:nvPr>
            <p:ph type="sldNum" sz="quarter" idx="4"/>
          </p:nvPr>
        </p:nvSpPr>
        <p:spPr/>
        <p:txBody>
          <a:bodyPr/>
          <a:lstStyle/>
          <a:p>
            <a:fld id="{31D26D55-0A22-487A-A687-61FB58A6F16A}" type="slidenum">
              <a:rPr lang="en-US" smtClean="0"/>
              <a:pPr/>
              <a:t>2</a:t>
            </a:fld>
            <a:endParaRPr lang="en-US" dirty="0"/>
          </a:p>
        </p:txBody>
      </p:sp>
      <p:sp>
        <p:nvSpPr>
          <p:cNvPr id="4" name="Title 3">
            <a:extLst>
              <a:ext uri="{FF2B5EF4-FFF2-40B4-BE49-F238E27FC236}">
                <a16:creationId xmlns:a16="http://schemas.microsoft.com/office/drawing/2014/main" id="{8F92C91B-0293-105A-6A91-B06F6FBBD81E}"/>
              </a:ext>
            </a:extLst>
          </p:cNvPr>
          <p:cNvSpPr>
            <a:spLocks noGrp="1"/>
          </p:cNvSpPr>
          <p:nvPr>
            <p:ph type="title"/>
          </p:nvPr>
        </p:nvSpPr>
        <p:spPr/>
        <p:txBody>
          <a:bodyPr/>
          <a:lstStyle/>
          <a:p>
            <a:r>
              <a:rPr lang="en-US" sz="2750" dirty="0">
                <a:ea typeface="+mj-lt"/>
                <a:cs typeface="+mj-lt"/>
              </a:rPr>
              <a:t>Angular</a:t>
            </a:r>
            <a:endParaRPr lang="en-US" dirty="0"/>
          </a:p>
        </p:txBody>
      </p:sp>
    </p:spTree>
    <p:extLst>
      <p:ext uri="{BB962C8B-B14F-4D97-AF65-F5344CB8AC3E}">
        <p14:creationId xmlns:p14="http://schemas.microsoft.com/office/powerpoint/2010/main" val="2673573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5B9758-06C1-92BD-4A68-AD482DDE2E1B}"/>
              </a:ext>
            </a:extLst>
          </p:cNvPr>
          <p:cNvSpPr>
            <a:spLocks noGrp="1"/>
          </p:cNvSpPr>
          <p:nvPr>
            <p:ph idx="1"/>
          </p:nvPr>
        </p:nvSpPr>
        <p:spPr/>
        <p:txBody>
          <a:bodyPr vert="horz" lIns="91440" tIns="45720" rIns="91440" bIns="45720" rtlCol="0" anchor="t">
            <a:normAutofit fontScale="70000" lnSpcReduction="20000"/>
          </a:bodyPr>
          <a:lstStyle/>
          <a:p>
            <a:pPr>
              <a:lnSpc>
                <a:spcPct val="130000"/>
              </a:lnSpc>
            </a:pPr>
            <a:r>
              <a:rPr lang="en-US" sz="3350" b="1" dirty="0">
                <a:cs typeface="Arial"/>
              </a:rPr>
              <a:t>Component-Based Architecture:</a:t>
            </a:r>
          </a:p>
          <a:p>
            <a:pPr lvl="1">
              <a:lnSpc>
                <a:spcPct val="130000"/>
              </a:lnSpc>
              <a:buFont typeface="Courier New" panose="020B0604020202020204" pitchFamily="34" charset="0"/>
              <a:buChar char="o"/>
            </a:pPr>
            <a:r>
              <a:rPr lang="en-US" sz="2850" dirty="0">
                <a:cs typeface="Arial"/>
              </a:rPr>
              <a:t>Applications are built using modular, reusable components, each with its own logic, view, and style.</a:t>
            </a:r>
          </a:p>
          <a:p>
            <a:pPr>
              <a:lnSpc>
                <a:spcPct val="130000"/>
              </a:lnSpc>
            </a:pPr>
            <a:r>
              <a:rPr lang="en-US" sz="3350" b="1" dirty="0">
                <a:cs typeface="Arial"/>
              </a:rPr>
              <a:t>Two-Way Data Binding:</a:t>
            </a:r>
            <a:endParaRPr lang="en-US" dirty="0">
              <a:cs typeface="Arial"/>
            </a:endParaRPr>
          </a:p>
          <a:p>
            <a:pPr lvl="1">
              <a:lnSpc>
                <a:spcPct val="130000"/>
              </a:lnSpc>
              <a:buFont typeface="Courier New" panose="020B0604020202020204" pitchFamily="34" charset="0"/>
              <a:buChar char="o"/>
            </a:pPr>
            <a:r>
              <a:rPr lang="en-US" sz="2850" dirty="0">
                <a:cs typeface="Arial"/>
              </a:rPr>
              <a:t>Synchronizes data between the model (business logic) and the view (UI) in real-time.</a:t>
            </a:r>
          </a:p>
          <a:p>
            <a:pPr>
              <a:lnSpc>
                <a:spcPct val="130000"/>
              </a:lnSpc>
            </a:pPr>
            <a:r>
              <a:rPr lang="en-US" sz="3350" b="1" dirty="0">
                <a:cs typeface="Arial"/>
              </a:rPr>
              <a:t>Dependency Injection (DI):</a:t>
            </a:r>
            <a:endParaRPr lang="en-US" dirty="0">
              <a:cs typeface="Arial"/>
            </a:endParaRPr>
          </a:p>
          <a:p>
            <a:pPr lvl="1">
              <a:lnSpc>
                <a:spcPct val="130000"/>
              </a:lnSpc>
              <a:buFont typeface="Courier New" panose="020B0604020202020204" pitchFamily="34" charset="0"/>
              <a:buChar char="o"/>
            </a:pPr>
            <a:r>
              <a:rPr lang="en-US" sz="2850" dirty="0" err="1">
                <a:cs typeface="Arial"/>
              </a:rPr>
              <a:t>Angular's</a:t>
            </a:r>
            <a:r>
              <a:rPr lang="en-US" sz="2850" dirty="0">
                <a:cs typeface="Arial"/>
              </a:rPr>
              <a:t> DI system allows the creation and management of services, promoting modularity and maintainability.</a:t>
            </a:r>
          </a:p>
          <a:p>
            <a:pPr>
              <a:lnSpc>
                <a:spcPct val="130000"/>
              </a:lnSpc>
            </a:pPr>
            <a:r>
              <a:rPr lang="en-US" sz="3350" b="1" dirty="0">
                <a:cs typeface="Arial"/>
              </a:rPr>
              <a:t>Directives:</a:t>
            </a:r>
            <a:endParaRPr lang="en-US" b="1" dirty="0">
              <a:cs typeface="Arial"/>
            </a:endParaRPr>
          </a:p>
          <a:p>
            <a:pPr lvl="1">
              <a:lnSpc>
                <a:spcPct val="130000"/>
              </a:lnSpc>
              <a:buFont typeface="Courier New" panose="020B0604020202020204" pitchFamily="34" charset="0"/>
              <a:buChar char="o"/>
            </a:pPr>
            <a:r>
              <a:rPr lang="en-US" sz="2850" dirty="0">
                <a:cs typeface="Arial"/>
              </a:rPr>
              <a:t>Extend the HTML vocabulary by creating custom behaviors (*</a:t>
            </a:r>
            <a:r>
              <a:rPr lang="en-US" sz="2850" dirty="0" err="1">
                <a:cs typeface="Arial"/>
              </a:rPr>
              <a:t>ngIf</a:t>
            </a:r>
            <a:r>
              <a:rPr lang="en-US" sz="2850" dirty="0">
                <a:cs typeface="Arial"/>
              </a:rPr>
              <a:t>, *</a:t>
            </a:r>
            <a:r>
              <a:rPr lang="en-US" sz="2850" dirty="0" err="1">
                <a:cs typeface="Arial"/>
              </a:rPr>
              <a:t>ngFor</a:t>
            </a:r>
            <a:r>
              <a:rPr lang="en-US" sz="2850" dirty="0">
                <a:cs typeface="Arial"/>
              </a:rPr>
              <a:t>, etc.).</a:t>
            </a:r>
          </a:p>
          <a:p>
            <a:pPr>
              <a:lnSpc>
                <a:spcPct val="130000"/>
              </a:lnSpc>
            </a:pPr>
            <a:r>
              <a:rPr lang="en-US" sz="3350" b="1" dirty="0" err="1">
                <a:cs typeface="Arial"/>
              </a:rPr>
              <a:t>RxJS</a:t>
            </a:r>
            <a:r>
              <a:rPr lang="en-US" sz="3350" b="1" dirty="0">
                <a:cs typeface="Arial"/>
              </a:rPr>
              <a:t> and Observables:</a:t>
            </a:r>
            <a:endParaRPr lang="en-US" dirty="0">
              <a:cs typeface="Arial"/>
            </a:endParaRPr>
          </a:p>
          <a:p>
            <a:pPr lvl="1">
              <a:lnSpc>
                <a:spcPct val="130000"/>
              </a:lnSpc>
              <a:buFont typeface="Courier New" panose="020B0604020202020204" pitchFamily="34" charset="0"/>
              <a:buChar char="o"/>
            </a:pPr>
            <a:r>
              <a:rPr lang="en-US" sz="2850" dirty="0">
                <a:cs typeface="Arial"/>
              </a:rPr>
              <a:t>Enables reactive programming for handling asynchronous operations like HTTP requests and event streams.</a:t>
            </a:r>
          </a:p>
          <a:p>
            <a:endParaRPr lang="en-US" sz="3350" dirty="0">
              <a:cs typeface="Arial"/>
            </a:endParaRPr>
          </a:p>
        </p:txBody>
      </p:sp>
      <p:sp>
        <p:nvSpPr>
          <p:cNvPr id="3" name="Slide Number Placeholder 2">
            <a:extLst>
              <a:ext uri="{FF2B5EF4-FFF2-40B4-BE49-F238E27FC236}">
                <a16:creationId xmlns:a16="http://schemas.microsoft.com/office/drawing/2014/main" id="{9D72D9BB-1244-11C2-41F8-F52BDFE2BBAE}"/>
              </a:ext>
            </a:extLst>
          </p:cNvPr>
          <p:cNvSpPr>
            <a:spLocks noGrp="1"/>
          </p:cNvSpPr>
          <p:nvPr>
            <p:ph type="sldNum" sz="quarter" idx="4"/>
          </p:nvPr>
        </p:nvSpPr>
        <p:spPr/>
        <p:txBody>
          <a:bodyPr/>
          <a:lstStyle/>
          <a:p>
            <a:fld id="{31D26D55-0A22-487A-A687-61FB58A6F16A}" type="slidenum">
              <a:rPr lang="en-US" smtClean="0"/>
              <a:pPr/>
              <a:t>3</a:t>
            </a:fld>
            <a:endParaRPr lang="en-US" dirty="0"/>
          </a:p>
        </p:txBody>
      </p:sp>
      <p:sp>
        <p:nvSpPr>
          <p:cNvPr id="4" name="Title 3">
            <a:extLst>
              <a:ext uri="{FF2B5EF4-FFF2-40B4-BE49-F238E27FC236}">
                <a16:creationId xmlns:a16="http://schemas.microsoft.com/office/drawing/2014/main" id="{5B086BE5-5C74-7B85-0063-FA03B6A89133}"/>
              </a:ext>
            </a:extLst>
          </p:cNvPr>
          <p:cNvSpPr>
            <a:spLocks noGrp="1"/>
          </p:cNvSpPr>
          <p:nvPr>
            <p:ph type="title"/>
          </p:nvPr>
        </p:nvSpPr>
        <p:spPr/>
        <p:txBody>
          <a:bodyPr/>
          <a:lstStyle/>
          <a:p>
            <a:r>
              <a:rPr lang="en-US" sz="2750" dirty="0">
                <a:ea typeface="+mj-lt"/>
                <a:cs typeface="+mj-lt"/>
              </a:rPr>
              <a:t>Key Features of Angular (1)</a:t>
            </a:r>
            <a:endParaRPr lang="en-US" dirty="0"/>
          </a:p>
        </p:txBody>
      </p:sp>
    </p:spTree>
    <p:extLst>
      <p:ext uri="{BB962C8B-B14F-4D97-AF65-F5344CB8AC3E}">
        <p14:creationId xmlns:p14="http://schemas.microsoft.com/office/powerpoint/2010/main" val="5756135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D7B968-4493-129D-572B-9A140594F26A}"/>
              </a:ext>
            </a:extLst>
          </p:cNvPr>
          <p:cNvSpPr>
            <a:spLocks noGrp="1"/>
          </p:cNvSpPr>
          <p:nvPr>
            <p:ph idx="1"/>
          </p:nvPr>
        </p:nvSpPr>
        <p:spPr/>
        <p:txBody>
          <a:bodyPr vert="horz" lIns="91440" tIns="45720" rIns="91440" bIns="45720" rtlCol="0" anchor="t">
            <a:normAutofit fontScale="70000" lnSpcReduction="20000"/>
          </a:bodyPr>
          <a:lstStyle/>
          <a:p>
            <a:pPr>
              <a:lnSpc>
                <a:spcPct val="130000"/>
              </a:lnSpc>
            </a:pPr>
            <a:r>
              <a:rPr lang="en-US" sz="3350" b="1" dirty="0">
                <a:cs typeface="Arial"/>
              </a:rPr>
              <a:t>Routing and Navigation:</a:t>
            </a:r>
          </a:p>
          <a:p>
            <a:pPr lvl="1">
              <a:lnSpc>
                <a:spcPct val="130000"/>
              </a:lnSpc>
              <a:buFont typeface="Courier New" panose="020B0604020202020204" pitchFamily="34" charset="0"/>
              <a:buChar char="o"/>
            </a:pPr>
            <a:r>
              <a:rPr lang="en-US" sz="2850" dirty="0" err="1">
                <a:cs typeface="Arial"/>
              </a:rPr>
              <a:t>Angular's</a:t>
            </a:r>
            <a:r>
              <a:rPr lang="en-US" sz="2850" dirty="0">
                <a:cs typeface="Arial"/>
              </a:rPr>
              <a:t> router allows navigation between views in a SPA.</a:t>
            </a:r>
            <a:endParaRPr lang="en-US" sz="2850">
              <a:cs typeface="Arial"/>
            </a:endParaRPr>
          </a:p>
          <a:p>
            <a:pPr>
              <a:lnSpc>
                <a:spcPct val="130000"/>
              </a:lnSpc>
            </a:pPr>
            <a:r>
              <a:rPr lang="en-US" sz="3350" b="1" dirty="0">
                <a:cs typeface="Arial"/>
              </a:rPr>
              <a:t>Built-In Modules:</a:t>
            </a:r>
            <a:endParaRPr lang="en-US" b="1" dirty="0">
              <a:cs typeface="Arial"/>
            </a:endParaRPr>
          </a:p>
          <a:p>
            <a:pPr lvl="1">
              <a:lnSpc>
                <a:spcPct val="130000"/>
              </a:lnSpc>
              <a:buFont typeface="Courier New" panose="020B0604020202020204" pitchFamily="34" charset="0"/>
              <a:buChar char="o"/>
            </a:pPr>
            <a:r>
              <a:rPr lang="en-US" sz="2850" dirty="0">
                <a:cs typeface="Arial"/>
              </a:rPr>
              <a:t>Features like forms, HTTP client, animations, and testing are provided out of the box.</a:t>
            </a:r>
          </a:p>
          <a:p>
            <a:pPr>
              <a:lnSpc>
                <a:spcPct val="130000"/>
              </a:lnSpc>
            </a:pPr>
            <a:r>
              <a:rPr lang="en-US" sz="3350" b="1" dirty="0">
                <a:cs typeface="Arial"/>
              </a:rPr>
              <a:t>Ahead-of-Time (AOT) Compilation:</a:t>
            </a:r>
            <a:endParaRPr lang="en-US" b="1" dirty="0">
              <a:cs typeface="Arial"/>
            </a:endParaRPr>
          </a:p>
          <a:p>
            <a:pPr lvl="1">
              <a:lnSpc>
                <a:spcPct val="130000"/>
              </a:lnSpc>
              <a:buFont typeface="Courier New" panose="020B0604020202020204" pitchFamily="34" charset="0"/>
              <a:buChar char="o"/>
            </a:pPr>
            <a:r>
              <a:rPr lang="en-US" sz="2850" dirty="0">
                <a:cs typeface="Arial" panose="020B0604020202020204"/>
              </a:rPr>
              <a:t>Angular compiles HTML templates and TypeScript code into JavaScript before runtime for better performance.</a:t>
            </a:r>
          </a:p>
          <a:p>
            <a:pPr>
              <a:lnSpc>
                <a:spcPct val="130000"/>
              </a:lnSpc>
            </a:pPr>
            <a:r>
              <a:rPr lang="en-US" sz="3350" b="1" dirty="0">
                <a:ea typeface="+mj-lt"/>
                <a:cs typeface="+mj-lt"/>
              </a:rPr>
              <a:t>CLI Tooling:</a:t>
            </a:r>
            <a:endParaRPr lang="en-US" b="1" dirty="0">
              <a:cs typeface="Arial"/>
            </a:endParaRPr>
          </a:p>
          <a:p>
            <a:pPr lvl="1">
              <a:lnSpc>
                <a:spcPct val="130000"/>
              </a:lnSpc>
              <a:buFont typeface="Courier New" panose="020B0604020202020204" pitchFamily="34" charset="0"/>
              <a:buChar char="o"/>
            </a:pPr>
            <a:r>
              <a:rPr lang="en-US" sz="2850" dirty="0">
                <a:cs typeface="Arial"/>
              </a:rPr>
              <a:t>Angular CLI (Command Line Interface) provides powerful scaffolding, building, testing, and deploying tools.</a:t>
            </a:r>
          </a:p>
          <a:p>
            <a:pPr>
              <a:lnSpc>
                <a:spcPct val="130000"/>
              </a:lnSpc>
            </a:pPr>
            <a:r>
              <a:rPr lang="en-US" sz="3350" b="1" dirty="0">
                <a:cs typeface="Arial"/>
              </a:rPr>
              <a:t>Cross-Platform Development:</a:t>
            </a:r>
            <a:endParaRPr lang="en-US" b="1" dirty="0">
              <a:cs typeface="Arial"/>
            </a:endParaRPr>
          </a:p>
          <a:p>
            <a:pPr lvl="1">
              <a:lnSpc>
                <a:spcPct val="130000"/>
              </a:lnSpc>
              <a:buFont typeface="Courier New" panose="020B0604020202020204" pitchFamily="34" charset="0"/>
              <a:buChar char="o"/>
            </a:pPr>
            <a:r>
              <a:rPr lang="en-US" sz="2850" dirty="0">
                <a:cs typeface="Arial"/>
              </a:rPr>
              <a:t>Build progressive web apps (PWAs), mobile apps, and desktop apps using Angular.</a:t>
            </a:r>
          </a:p>
          <a:p>
            <a:endParaRPr lang="en-US" sz="3350" dirty="0">
              <a:cs typeface="Arial"/>
            </a:endParaRPr>
          </a:p>
        </p:txBody>
      </p:sp>
      <p:sp>
        <p:nvSpPr>
          <p:cNvPr id="3" name="Slide Number Placeholder 2">
            <a:extLst>
              <a:ext uri="{FF2B5EF4-FFF2-40B4-BE49-F238E27FC236}">
                <a16:creationId xmlns:a16="http://schemas.microsoft.com/office/drawing/2014/main" id="{54AF4AB8-5685-16BA-0EE3-8DB535707A90}"/>
              </a:ext>
            </a:extLst>
          </p:cNvPr>
          <p:cNvSpPr>
            <a:spLocks noGrp="1"/>
          </p:cNvSpPr>
          <p:nvPr>
            <p:ph type="sldNum" sz="quarter" idx="4"/>
          </p:nvPr>
        </p:nvSpPr>
        <p:spPr/>
        <p:txBody>
          <a:bodyPr/>
          <a:lstStyle/>
          <a:p>
            <a:fld id="{31D26D55-0A22-487A-A687-61FB58A6F16A}" type="slidenum">
              <a:rPr lang="en-US" smtClean="0"/>
              <a:pPr/>
              <a:t>4</a:t>
            </a:fld>
            <a:endParaRPr lang="en-US" dirty="0"/>
          </a:p>
        </p:txBody>
      </p:sp>
      <p:sp>
        <p:nvSpPr>
          <p:cNvPr id="4" name="Title 3">
            <a:extLst>
              <a:ext uri="{FF2B5EF4-FFF2-40B4-BE49-F238E27FC236}">
                <a16:creationId xmlns:a16="http://schemas.microsoft.com/office/drawing/2014/main" id="{DBB80CC9-D1F6-C5EC-91C2-5E67D9F0CFCB}"/>
              </a:ext>
            </a:extLst>
          </p:cNvPr>
          <p:cNvSpPr>
            <a:spLocks noGrp="1"/>
          </p:cNvSpPr>
          <p:nvPr>
            <p:ph type="title"/>
          </p:nvPr>
        </p:nvSpPr>
        <p:spPr/>
        <p:txBody>
          <a:bodyPr>
            <a:normAutofit/>
          </a:bodyPr>
          <a:lstStyle/>
          <a:p>
            <a:r>
              <a:rPr lang="en-US" sz="2800" dirty="0">
                <a:cs typeface="Arial"/>
              </a:rPr>
              <a:t>Key Features of Angular (2)</a:t>
            </a:r>
            <a:endParaRPr lang="en-US" sz="2800" b="0" dirty="0">
              <a:solidFill>
                <a:srgbClr val="000000"/>
              </a:solidFill>
              <a:cs typeface="Arial"/>
            </a:endParaRPr>
          </a:p>
        </p:txBody>
      </p:sp>
    </p:spTree>
    <p:extLst>
      <p:ext uri="{BB962C8B-B14F-4D97-AF65-F5344CB8AC3E}">
        <p14:creationId xmlns:p14="http://schemas.microsoft.com/office/powerpoint/2010/main" val="1671746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7F7690-6816-E211-4FF6-8303129A6A4C}"/>
              </a:ext>
            </a:extLst>
          </p:cNvPr>
          <p:cNvSpPr>
            <a:spLocks noGrp="1"/>
          </p:cNvSpPr>
          <p:nvPr>
            <p:ph idx="1"/>
          </p:nvPr>
        </p:nvSpPr>
        <p:spPr/>
        <p:txBody>
          <a:bodyPr vert="horz" lIns="91440" tIns="45720" rIns="91440" bIns="45720" rtlCol="0" anchor="t">
            <a:normAutofit/>
          </a:bodyPr>
          <a:lstStyle/>
          <a:p>
            <a:r>
              <a:rPr lang="en-US" sz="3350" dirty="0">
                <a:ea typeface="+mj-lt"/>
                <a:cs typeface="+mj-lt"/>
              </a:rPr>
              <a:t>Components are the building blocks of Angular applications. Each component consists of:</a:t>
            </a:r>
            <a:endParaRPr lang="en-US" dirty="0">
              <a:cs typeface="Arial" panose="020B0604020202020204"/>
            </a:endParaRPr>
          </a:p>
          <a:p>
            <a:pPr lvl="1">
              <a:buFont typeface="Courier New" panose="020B0604020202020204" pitchFamily="34" charset="0"/>
              <a:buChar char="o"/>
            </a:pPr>
            <a:r>
              <a:rPr lang="en-US" sz="2850" b="1" dirty="0">
                <a:ea typeface="+mj-lt"/>
                <a:cs typeface="+mj-lt"/>
              </a:rPr>
              <a:t>HTML Template</a:t>
            </a:r>
            <a:r>
              <a:rPr lang="en-US" sz="2850" dirty="0">
                <a:ea typeface="+mj-lt"/>
                <a:cs typeface="+mj-lt"/>
              </a:rPr>
              <a:t>: Defines the UI.</a:t>
            </a:r>
            <a:endParaRPr lang="en-US" sz="2850" dirty="0">
              <a:cs typeface="Arial"/>
            </a:endParaRPr>
          </a:p>
          <a:p>
            <a:pPr lvl="1">
              <a:buFont typeface="Courier New" panose="020B0604020202020204" pitchFamily="34" charset="0"/>
              <a:buChar char="o"/>
            </a:pPr>
            <a:r>
              <a:rPr lang="en-US" sz="2850" b="1" dirty="0">
                <a:ea typeface="+mj-lt"/>
                <a:cs typeface="+mj-lt"/>
              </a:rPr>
              <a:t>CSS/SCSS Styles</a:t>
            </a:r>
            <a:r>
              <a:rPr lang="en-US" sz="2850" dirty="0">
                <a:ea typeface="+mj-lt"/>
                <a:cs typeface="+mj-lt"/>
              </a:rPr>
              <a:t>: Defines the appearance.</a:t>
            </a:r>
            <a:endParaRPr lang="en-US" sz="2850" dirty="0">
              <a:cs typeface="Arial"/>
            </a:endParaRPr>
          </a:p>
          <a:p>
            <a:pPr lvl="1">
              <a:buFont typeface="Courier New" panose="020B0604020202020204" pitchFamily="34" charset="0"/>
              <a:buChar char="o"/>
            </a:pPr>
            <a:r>
              <a:rPr lang="en-US" sz="2850" b="1" dirty="0">
                <a:ea typeface="+mj-lt"/>
                <a:cs typeface="+mj-lt"/>
              </a:rPr>
              <a:t>TypeScript Class</a:t>
            </a:r>
            <a:r>
              <a:rPr lang="en-US" sz="2850" dirty="0">
                <a:ea typeface="+mj-lt"/>
                <a:cs typeface="+mj-lt"/>
              </a:rPr>
              <a:t>: Contains the logic.</a:t>
            </a:r>
            <a:endParaRPr lang="en-US" sz="2850" dirty="0">
              <a:cs typeface="Arial"/>
            </a:endParaRPr>
          </a:p>
          <a:p>
            <a:pPr marL="0" indent="0">
              <a:buNone/>
            </a:pPr>
            <a:endParaRPr lang="en-US" sz="3350" dirty="0">
              <a:cs typeface="Arial"/>
            </a:endParaRPr>
          </a:p>
        </p:txBody>
      </p:sp>
      <p:sp>
        <p:nvSpPr>
          <p:cNvPr id="3" name="Slide Number Placeholder 2">
            <a:extLst>
              <a:ext uri="{FF2B5EF4-FFF2-40B4-BE49-F238E27FC236}">
                <a16:creationId xmlns:a16="http://schemas.microsoft.com/office/drawing/2014/main" id="{C2A137C9-A63E-4EF0-312F-E925B7C2AC8A}"/>
              </a:ext>
            </a:extLst>
          </p:cNvPr>
          <p:cNvSpPr>
            <a:spLocks noGrp="1"/>
          </p:cNvSpPr>
          <p:nvPr>
            <p:ph type="sldNum" sz="quarter" idx="4"/>
          </p:nvPr>
        </p:nvSpPr>
        <p:spPr/>
        <p:txBody>
          <a:bodyPr/>
          <a:lstStyle/>
          <a:p>
            <a:fld id="{31D26D55-0A22-487A-A687-61FB58A6F16A}" type="slidenum">
              <a:rPr lang="en-US" smtClean="0"/>
              <a:pPr/>
              <a:t>5</a:t>
            </a:fld>
            <a:endParaRPr lang="en-US" dirty="0"/>
          </a:p>
        </p:txBody>
      </p:sp>
      <p:sp>
        <p:nvSpPr>
          <p:cNvPr id="4" name="Title 3">
            <a:extLst>
              <a:ext uri="{FF2B5EF4-FFF2-40B4-BE49-F238E27FC236}">
                <a16:creationId xmlns:a16="http://schemas.microsoft.com/office/drawing/2014/main" id="{881F4103-46F8-FB71-265B-ECFC9935AD1E}"/>
              </a:ext>
            </a:extLst>
          </p:cNvPr>
          <p:cNvSpPr>
            <a:spLocks noGrp="1"/>
          </p:cNvSpPr>
          <p:nvPr>
            <p:ph type="title"/>
          </p:nvPr>
        </p:nvSpPr>
        <p:spPr/>
        <p:txBody>
          <a:bodyPr/>
          <a:lstStyle/>
          <a:p>
            <a:r>
              <a:rPr lang="en-US" sz="2750" dirty="0">
                <a:cs typeface="Arial"/>
              </a:rPr>
              <a:t>Angular Basic Concept: Components</a:t>
            </a:r>
            <a:endParaRPr lang="en-US" dirty="0"/>
          </a:p>
        </p:txBody>
      </p:sp>
    </p:spTree>
    <p:extLst>
      <p:ext uri="{BB962C8B-B14F-4D97-AF65-F5344CB8AC3E}">
        <p14:creationId xmlns:p14="http://schemas.microsoft.com/office/powerpoint/2010/main" val="34144449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7F7690-6816-E211-4FF6-8303129A6A4C}"/>
              </a:ext>
            </a:extLst>
          </p:cNvPr>
          <p:cNvSpPr>
            <a:spLocks noGrp="1"/>
          </p:cNvSpPr>
          <p:nvPr>
            <p:ph idx="1"/>
          </p:nvPr>
        </p:nvSpPr>
        <p:spPr/>
        <p:txBody>
          <a:bodyPr vert="horz" lIns="91440" tIns="45720" rIns="91440" bIns="45720" rtlCol="0" anchor="t">
            <a:normAutofit/>
          </a:bodyPr>
          <a:lstStyle/>
          <a:p>
            <a:r>
              <a:rPr lang="en-US" sz="3350" dirty="0">
                <a:ea typeface="+mj-lt"/>
                <a:cs typeface="+mj-lt"/>
              </a:rPr>
              <a:t>Modules are containers for a cohesive block of code dedicated to a specific domain or feature.</a:t>
            </a:r>
            <a:endParaRPr lang="en-US" sz="3350" dirty="0">
              <a:cs typeface="Arial"/>
            </a:endParaRPr>
          </a:p>
        </p:txBody>
      </p:sp>
      <p:sp>
        <p:nvSpPr>
          <p:cNvPr id="3" name="Slide Number Placeholder 2">
            <a:extLst>
              <a:ext uri="{FF2B5EF4-FFF2-40B4-BE49-F238E27FC236}">
                <a16:creationId xmlns:a16="http://schemas.microsoft.com/office/drawing/2014/main" id="{C2A137C9-A63E-4EF0-312F-E925B7C2AC8A}"/>
              </a:ext>
            </a:extLst>
          </p:cNvPr>
          <p:cNvSpPr>
            <a:spLocks noGrp="1"/>
          </p:cNvSpPr>
          <p:nvPr>
            <p:ph type="sldNum" sz="quarter" idx="4"/>
          </p:nvPr>
        </p:nvSpPr>
        <p:spPr/>
        <p:txBody>
          <a:bodyPr/>
          <a:lstStyle/>
          <a:p>
            <a:fld id="{31D26D55-0A22-487A-A687-61FB58A6F16A}" type="slidenum">
              <a:rPr lang="en-US" smtClean="0"/>
              <a:pPr/>
              <a:t>6</a:t>
            </a:fld>
            <a:endParaRPr lang="en-US" dirty="0"/>
          </a:p>
        </p:txBody>
      </p:sp>
      <p:sp>
        <p:nvSpPr>
          <p:cNvPr id="4" name="Title 3">
            <a:extLst>
              <a:ext uri="{FF2B5EF4-FFF2-40B4-BE49-F238E27FC236}">
                <a16:creationId xmlns:a16="http://schemas.microsoft.com/office/drawing/2014/main" id="{881F4103-46F8-FB71-265B-ECFC9935AD1E}"/>
              </a:ext>
            </a:extLst>
          </p:cNvPr>
          <p:cNvSpPr>
            <a:spLocks noGrp="1"/>
          </p:cNvSpPr>
          <p:nvPr>
            <p:ph type="title"/>
          </p:nvPr>
        </p:nvSpPr>
        <p:spPr/>
        <p:txBody>
          <a:bodyPr/>
          <a:lstStyle/>
          <a:p>
            <a:r>
              <a:rPr lang="en-US" sz="2750" dirty="0">
                <a:cs typeface="Arial"/>
              </a:rPr>
              <a:t>Angular Basic Concept: Modules</a:t>
            </a:r>
            <a:endParaRPr lang="en-US" dirty="0"/>
          </a:p>
        </p:txBody>
      </p:sp>
      <p:pic>
        <p:nvPicPr>
          <p:cNvPr id="5" name="Picture 4" descr="A screen shot of a computer program&#10;&#10;Description automatically generated">
            <a:extLst>
              <a:ext uri="{FF2B5EF4-FFF2-40B4-BE49-F238E27FC236}">
                <a16:creationId xmlns:a16="http://schemas.microsoft.com/office/drawing/2014/main" id="{403EC7E8-BA04-28E5-C91F-57E697F558CC}"/>
              </a:ext>
            </a:extLst>
          </p:cNvPr>
          <p:cNvPicPr>
            <a:picLocks noChangeAspect="1"/>
          </p:cNvPicPr>
          <p:nvPr/>
        </p:nvPicPr>
        <p:blipFill>
          <a:blip r:embed="rId3"/>
          <a:stretch>
            <a:fillRect/>
          </a:stretch>
        </p:blipFill>
        <p:spPr>
          <a:xfrm>
            <a:off x="6288657" y="3267345"/>
            <a:ext cx="6452558" cy="3817008"/>
          </a:xfrm>
          <a:prstGeom prst="rect">
            <a:avLst/>
          </a:prstGeom>
        </p:spPr>
      </p:pic>
    </p:spTree>
    <p:extLst>
      <p:ext uri="{BB962C8B-B14F-4D97-AF65-F5344CB8AC3E}">
        <p14:creationId xmlns:p14="http://schemas.microsoft.com/office/powerpoint/2010/main" val="907479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7F7690-6816-E211-4FF6-8303129A6A4C}"/>
              </a:ext>
            </a:extLst>
          </p:cNvPr>
          <p:cNvSpPr>
            <a:spLocks noGrp="1"/>
          </p:cNvSpPr>
          <p:nvPr>
            <p:ph idx="1"/>
          </p:nvPr>
        </p:nvSpPr>
        <p:spPr/>
        <p:txBody>
          <a:bodyPr vert="horz" lIns="91440" tIns="45720" rIns="91440" bIns="45720" rtlCol="0" anchor="t">
            <a:normAutofit/>
          </a:bodyPr>
          <a:lstStyle/>
          <a:p>
            <a:r>
              <a:rPr lang="en-US" sz="3350" dirty="0">
                <a:ea typeface="+mj-lt"/>
                <a:cs typeface="+mj-lt"/>
              </a:rPr>
              <a:t>Directives add behavior to elements or templates.</a:t>
            </a:r>
          </a:p>
          <a:p>
            <a:pPr lvl="1">
              <a:buFont typeface="Courier New" panose="020B0604020202020204" pitchFamily="34" charset="0"/>
              <a:buChar char="o"/>
            </a:pPr>
            <a:r>
              <a:rPr lang="en-US" sz="2850" dirty="0">
                <a:ea typeface="+mj-lt"/>
                <a:cs typeface="+mj-lt"/>
              </a:rPr>
              <a:t>Structural Directives: Alter the DOM structure (e.g., </a:t>
            </a:r>
            <a:r>
              <a:rPr lang="en-US" sz="2850" dirty="0">
                <a:latin typeface="Arial"/>
                <a:ea typeface="+mj-lt"/>
                <a:cs typeface="+mj-lt"/>
              </a:rPr>
              <a:t>*</a:t>
            </a:r>
            <a:r>
              <a:rPr lang="en-US" sz="2850" dirty="0" err="1">
                <a:latin typeface="Arial"/>
                <a:ea typeface="+mj-lt"/>
                <a:cs typeface="+mj-lt"/>
              </a:rPr>
              <a:t>ngIf</a:t>
            </a:r>
            <a:r>
              <a:rPr lang="en-US" sz="2850" dirty="0">
                <a:ea typeface="+mj-lt"/>
                <a:cs typeface="+mj-lt"/>
              </a:rPr>
              <a:t>, </a:t>
            </a:r>
            <a:r>
              <a:rPr lang="en-US" sz="2850" dirty="0">
                <a:latin typeface="Arial"/>
                <a:ea typeface="+mj-lt"/>
                <a:cs typeface="+mj-lt"/>
              </a:rPr>
              <a:t>*</a:t>
            </a:r>
            <a:r>
              <a:rPr lang="en-US" sz="2850" dirty="0" err="1">
                <a:latin typeface="Arial"/>
                <a:ea typeface="+mj-lt"/>
                <a:cs typeface="+mj-lt"/>
              </a:rPr>
              <a:t>ngFor</a:t>
            </a:r>
            <a:r>
              <a:rPr lang="en-US" sz="2850" dirty="0">
                <a:ea typeface="+mj-lt"/>
                <a:cs typeface="+mj-lt"/>
              </a:rPr>
              <a:t>).</a:t>
            </a:r>
            <a:endParaRPr lang="en-US" sz="2850" dirty="0">
              <a:cs typeface="Arial"/>
            </a:endParaRPr>
          </a:p>
          <a:p>
            <a:pPr lvl="1">
              <a:buFont typeface="Courier New" panose="020B0604020202020204" pitchFamily="34" charset="0"/>
              <a:buChar char="o"/>
            </a:pPr>
            <a:r>
              <a:rPr lang="en-US" sz="2850" dirty="0">
                <a:ea typeface="+mj-lt"/>
                <a:cs typeface="+mj-lt"/>
              </a:rPr>
              <a:t>Attribute Directives: Change the appearance or behavior of an element (e.g., </a:t>
            </a:r>
            <a:r>
              <a:rPr lang="en-US" sz="2850" dirty="0">
                <a:latin typeface="Arial"/>
                <a:ea typeface="+mj-lt"/>
                <a:cs typeface="+mj-lt"/>
              </a:rPr>
              <a:t>[</a:t>
            </a:r>
            <a:r>
              <a:rPr lang="en-US" sz="2850" dirty="0" err="1">
                <a:latin typeface="Arial"/>
                <a:ea typeface="+mj-lt"/>
                <a:cs typeface="+mj-lt"/>
              </a:rPr>
              <a:t>ngStyle</a:t>
            </a:r>
            <a:r>
              <a:rPr lang="en-US" sz="2850" dirty="0">
                <a:latin typeface="Arial"/>
                <a:ea typeface="+mj-lt"/>
                <a:cs typeface="+mj-lt"/>
              </a:rPr>
              <a:t>]</a:t>
            </a:r>
            <a:r>
              <a:rPr lang="en-US" sz="2850" dirty="0">
                <a:ea typeface="+mj-lt"/>
                <a:cs typeface="+mj-lt"/>
              </a:rPr>
              <a:t>, </a:t>
            </a:r>
            <a:r>
              <a:rPr lang="en-US" sz="2850" dirty="0">
                <a:latin typeface="Arial"/>
                <a:ea typeface="+mj-lt"/>
                <a:cs typeface="+mj-lt"/>
              </a:rPr>
              <a:t>[</a:t>
            </a:r>
            <a:r>
              <a:rPr lang="en-US" sz="2850" dirty="0" err="1">
                <a:latin typeface="Arial"/>
                <a:ea typeface="+mj-lt"/>
                <a:cs typeface="+mj-lt"/>
              </a:rPr>
              <a:t>ngClass</a:t>
            </a:r>
            <a:r>
              <a:rPr lang="en-US" sz="2850" dirty="0">
                <a:latin typeface="Arial"/>
                <a:ea typeface="+mj-lt"/>
                <a:cs typeface="+mj-lt"/>
              </a:rPr>
              <a:t>]</a:t>
            </a:r>
            <a:r>
              <a:rPr lang="en-US" sz="2850" dirty="0">
                <a:ea typeface="+mj-lt"/>
                <a:cs typeface="+mj-lt"/>
              </a:rPr>
              <a:t>).</a:t>
            </a:r>
            <a:endParaRPr lang="en-US" sz="2850" dirty="0">
              <a:cs typeface="Arial"/>
            </a:endParaRPr>
          </a:p>
          <a:p>
            <a:endParaRPr lang="en-US" sz="3350" dirty="0">
              <a:cs typeface="Arial"/>
            </a:endParaRPr>
          </a:p>
        </p:txBody>
      </p:sp>
      <p:sp>
        <p:nvSpPr>
          <p:cNvPr id="3" name="Slide Number Placeholder 2">
            <a:extLst>
              <a:ext uri="{FF2B5EF4-FFF2-40B4-BE49-F238E27FC236}">
                <a16:creationId xmlns:a16="http://schemas.microsoft.com/office/drawing/2014/main" id="{C2A137C9-A63E-4EF0-312F-E925B7C2AC8A}"/>
              </a:ext>
            </a:extLst>
          </p:cNvPr>
          <p:cNvSpPr>
            <a:spLocks noGrp="1"/>
          </p:cNvSpPr>
          <p:nvPr>
            <p:ph type="sldNum" sz="quarter" idx="4"/>
          </p:nvPr>
        </p:nvSpPr>
        <p:spPr/>
        <p:txBody>
          <a:bodyPr/>
          <a:lstStyle/>
          <a:p>
            <a:fld id="{31D26D55-0A22-487A-A687-61FB58A6F16A}" type="slidenum">
              <a:rPr lang="en-US" smtClean="0"/>
              <a:pPr/>
              <a:t>7</a:t>
            </a:fld>
            <a:endParaRPr lang="en-US" dirty="0"/>
          </a:p>
        </p:txBody>
      </p:sp>
      <p:sp>
        <p:nvSpPr>
          <p:cNvPr id="4" name="Title 3">
            <a:extLst>
              <a:ext uri="{FF2B5EF4-FFF2-40B4-BE49-F238E27FC236}">
                <a16:creationId xmlns:a16="http://schemas.microsoft.com/office/drawing/2014/main" id="{881F4103-46F8-FB71-265B-ECFC9935AD1E}"/>
              </a:ext>
            </a:extLst>
          </p:cNvPr>
          <p:cNvSpPr>
            <a:spLocks noGrp="1"/>
          </p:cNvSpPr>
          <p:nvPr>
            <p:ph type="title"/>
          </p:nvPr>
        </p:nvSpPr>
        <p:spPr/>
        <p:txBody>
          <a:bodyPr/>
          <a:lstStyle/>
          <a:p>
            <a:r>
              <a:rPr lang="en-US" sz="2750" dirty="0">
                <a:cs typeface="Arial"/>
              </a:rPr>
              <a:t>Angular Basic Concept: Directives</a:t>
            </a:r>
            <a:endParaRPr lang="en-US" dirty="0"/>
          </a:p>
        </p:txBody>
      </p:sp>
    </p:spTree>
    <p:extLst>
      <p:ext uri="{BB962C8B-B14F-4D97-AF65-F5344CB8AC3E}">
        <p14:creationId xmlns:p14="http://schemas.microsoft.com/office/powerpoint/2010/main" val="22480881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7F7690-6816-E211-4FF6-8303129A6A4C}"/>
              </a:ext>
            </a:extLst>
          </p:cNvPr>
          <p:cNvSpPr>
            <a:spLocks noGrp="1"/>
          </p:cNvSpPr>
          <p:nvPr>
            <p:ph idx="1"/>
          </p:nvPr>
        </p:nvSpPr>
        <p:spPr>
          <a:xfrm>
            <a:off x="747000" y="1279222"/>
            <a:ext cx="13166084" cy="5494778"/>
          </a:xfrm>
        </p:spPr>
        <p:txBody>
          <a:bodyPr vert="horz" lIns="91440" tIns="45720" rIns="91440" bIns="45720" rtlCol="0" anchor="t">
            <a:normAutofit/>
          </a:bodyPr>
          <a:lstStyle/>
          <a:p>
            <a:pPr>
              <a:lnSpc>
                <a:spcPct val="130000"/>
              </a:lnSpc>
            </a:pPr>
            <a:r>
              <a:rPr lang="en-US" sz="3350" dirty="0">
                <a:cs typeface="Arial"/>
              </a:rPr>
              <a:t>Services handle business logic and data sharing. They are injectable and promote reusability.</a:t>
            </a:r>
          </a:p>
          <a:p>
            <a:pPr>
              <a:lnSpc>
                <a:spcPct val="130000"/>
              </a:lnSpc>
            </a:pPr>
            <a:r>
              <a:rPr lang="en-US" sz="3350" dirty="0">
                <a:cs typeface="Arial"/>
              </a:rPr>
              <a:t>Example Service:</a:t>
            </a:r>
          </a:p>
          <a:p>
            <a:pPr>
              <a:lnSpc>
                <a:spcPct val="130000"/>
              </a:lnSpc>
            </a:pPr>
            <a:r>
              <a:rPr lang="en-US" sz="3350" dirty="0">
                <a:cs typeface="Arial"/>
              </a:rPr>
              <a:t>Using the Service:</a:t>
            </a:r>
            <a:endParaRPr lang="en-US" dirty="0"/>
          </a:p>
          <a:p>
            <a:endParaRPr lang="en-US" sz="3350" dirty="0">
              <a:cs typeface="Arial"/>
            </a:endParaRPr>
          </a:p>
        </p:txBody>
      </p:sp>
      <p:sp>
        <p:nvSpPr>
          <p:cNvPr id="3" name="Slide Number Placeholder 2">
            <a:extLst>
              <a:ext uri="{FF2B5EF4-FFF2-40B4-BE49-F238E27FC236}">
                <a16:creationId xmlns:a16="http://schemas.microsoft.com/office/drawing/2014/main" id="{C2A137C9-A63E-4EF0-312F-E925B7C2AC8A}"/>
              </a:ext>
            </a:extLst>
          </p:cNvPr>
          <p:cNvSpPr>
            <a:spLocks noGrp="1"/>
          </p:cNvSpPr>
          <p:nvPr>
            <p:ph type="sldNum" sz="quarter" idx="4"/>
          </p:nvPr>
        </p:nvSpPr>
        <p:spPr/>
        <p:txBody>
          <a:bodyPr/>
          <a:lstStyle/>
          <a:p>
            <a:fld id="{31D26D55-0A22-487A-A687-61FB58A6F16A}" type="slidenum">
              <a:rPr lang="en-US" smtClean="0"/>
              <a:pPr/>
              <a:t>8</a:t>
            </a:fld>
            <a:endParaRPr lang="en-US" dirty="0"/>
          </a:p>
        </p:txBody>
      </p:sp>
      <p:sp>
        <p:nvSpPr>
          <p:cNvPr id="4" name="Title 3">
            <a:extLst>
              <a:ext uri="{FF2B5EF4-FFF2-40B4-BE49-F238E27FC236}">
                <a16:creationId xmlns:a16="http://schemas.microsoft.com/office/drawing/2014/main" id="{881F4103-46F8-FB71-265B-ECFC9935AD1E}"/>
              </a:ext>
            </a:extLst>
          </p:cNvPr>
          <p:cNvSpPr>
            <a:spLocks noGrp="1"/>
          </p:cNvSpPr>
          <p:nvPr>
            <p:ph type="title"/>
          </p:nvPr>
        </p:nvSpPr>
        <p:spPr/>
        <p:txBody>
          <a:bodyPr/>
          <a:lstStyle/>
          <a:p>
            <a:r>
              <a:rPr lang="en-US" sz="2750" dirty="0">
                <a:cs typeface="Arial"/>
              </a:rPr>
              <a:t>Angular Basic Concept: Services</a:t>
            </a:r>
            <a:endParaRPr lang="en-US" dirty="0"/>
          </a:p>
        </p:txBody>
      </p:sp>
      <p:pic>
        <p:nvPicPr>
          <p:cNvPr id="5" name="Picture 4" descr="A screen shot of a computer program&#10;&#10;Description automatically generated">
            <a:extLst>
              <a:ext uri="{FF2B5EF4-FFF2-40B4-BE49-F238E27FC236}">
                <a16:creationId xmlns:a16="http://schemas.microsoft.com/office/drawing/2014/main" id="{84DEED83-9C82-9F51-6DB8-E6FE8284EC95}"/>
              </a:ext>
            </a:extLst>
          </p:cNvPr>
          <p:cNvPicPr>
            <a:picLocks noChangeAspect="1"/>
          </p:cNvPicPr>
          <p:nvPr/>
        </p:nvPicPr>
        <p:blipFill>
          <a:blip r:embed="rId3"/>
          <a:stretch>
            <a:fillRect/>
          </a:stretch>
        </p:blipFill>
        <p:spPr>
          <a:xfrm>
            <a:off x="5057775" y="2639862"/>
            <a:ext cx="4514850" cy="2190750"/>
          </a:xfrm>
          <a:prstGeom prst="rect">
            <a:avLst/>
          </a:prstGeom>
        </p:spPr>
      </p:pic>
      <p:pic>
        <p:nvPicPr>
          <p:cNvPr id="6" name="Picture 5" descr="A computer screen with colorful text&#10;&#10;Description automatically generated">
            <a:extLst>
              <a:ext uri="{FF2B5EF4-FFF2-40B4-BE49-F238E27FC236}">
                <a16:creationId xmlns:a16="http://schemas.microsoft.com/office/drawing/2014/main" id="{5ECF417B-0673-AA1D-55EB-C216B39AF006}"/>
              </a:ext>
            </a:extLst>
          </p:cNvPr>
          <p:cNvPicPr>
            <a:picLocks noChangeAspect="1"/>
          </p:cNvPicPr>
          <p:nvPr/>
        </p:nvPicPr>
        <p:blipFill>
          <a:blip r:embed="rId4"/>
          <a:stretch>
            <a:fillRect/>
          </a:stretch>
        </p:blipFill>
        <p:spPr>
          <a:xfrm>
            <a:off x="5057146" y="4837352"/>
            <a:ext cx="4619625" cy="2695575"/>
          </a:xfrm>
          <a:prstGeom prst="rect">
            <a:avLst/>
          </a:prstGeom>
        </p:spPr>
      </p:pic>
    </p:spTree>
    <p:extLst>
      <p:ext uri="{BB962C8B-B14F-4D97-AF65-F5344CB8AC3E}">
        <p14:creationId xmlns:p14="http://schemas.microsoft.com/office/powerpoint/2010/main" val="1567604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91F81B-2A0A-7239-3376-FEE468523EE8}"/>
              </a:ext>
            </a:extLst>
          </p:cNvPr>
          <p:cNvSpPr>
            <a:spLocks noGrp="1"/>
          </p:cNvSpPr>
          <p:nvPr>
            <p:ph idx="1"/>
          </p:nvPr>
        </p:nvSpPr>
        <p:spPr/>
        <p:txBody>
          <a:bodyPr vert="horz" lIns="91440" tIns="45720" rIns="91440" bIns="45720" rtlCol="0" anchor="t">
            <a:normAutofit/>
          </a:bodyPr>
          <a:lstStyle/>
          <a:p>
            <a:r>
              <a:rPr lang="en-US" sz="3350" dirty="0" err="1">
                <a:cs typeface="Arial"/>
              </a:rPr>
              <a:t>NodeJs</a:t>
            </a:r>
            <a:endParaRPr lang="en-US" dirty="0" err="1">
              <a:cs typeface="Arial"/>
            </a:endParaRPr>
          </a:p>
          <a:p>
            <a:r>
              <a:rPr lang="en-US" sz="3350" dirty="0">
                <a:cs typeface="Arial"/>
              </a:rPr>
              <a:t>Angular CLI</a:t>
            </a:r>
          </a:p>
          <a:p>
            <a:r>
              <a:rPr lang="en-US" sz="3350" dirty="0">
                <a:cs typeface="Arial"/>
              </a:rPr>
              <a:t>Init: </a:t>
            </a:r>
            <a:r>
              <a:rPr lang="en-US" sz="3350" dirty="0">
                <a:ea typeface="+mj-lt"/>
                <a:cs typeface="+mj-lt"/>
              </a:rPr>
              <a:t>ng new &lt;project-name&gt;</a:t>
            </a:r>
          </a:p>
          <a:p>
            <a:r>
              <a:rPr lang="en-US" sz="3350" dirty="0">
                <a:cs typeface="Arial"/>
              </a:rPr>
              <a:t>Start app: ng serve</a:t>
            </a:r>
          </a:p>
        </p:txBody>
      </p:sp>
      <p:sp>
        <p:nvSpPr>
          <p:cNvPr id="3" name="Slide Number Placeholder 2">
            <a:extLst>
              <a:ext uri="{FF2B5EF4-FFF2-40B4-BE49-F238E27FC236}">
                <a16:creationId xmlns:a16="http://schemas.microsoft.com/office/drawing/2014/main" id="{D5CCAC70-DF88-E6C3-30D5-2590E82E185A}"/>
              </a:ext>
            </a:extLst>
          </p:cNvPr>
          <p:cNvSpPr>
            <a:spLocks noGrp="1"/>
          </p:cNvSpPr>
          <p:nvPr>
            <p:ph type="sldNum" sz="quarter" idx="4"/>
          </p:nvPr>
        </p:nvSpPr>
        <p:spPr/>
        <p:txBody>
          <a:bodyPr/>
          <a:lstStyle/>
          <a:p>
            <a:fld id="{31D26D55-0A22-487A-A687-61FB58A6F16A}" type="slidenum">
              <a:rPr lang="en-US" smtClean="0"/>
              <a:pPr/>
              <a:t>9</a:t>
            </a:fld>
            <a:endParaRPr lang="en-US" dirty="0"/>
          </a:p>
        </p:txBody>
      </p:sp>
      <p:sp>
        <p:nvSpPr>
          <p:cNvPr id="4" name="Title 3">
            <a:extLst>
              <a:ext uri="{FF2B5EF4-FFF2-40B4-BE49-F238E27FC236}">
                <a16:creationId xmlns:a16="http://schemas.microsoft.com/office/drawing/2014/main" id="{4B07C7D2-F20B-754C-9141-5F72DAC1FC6D}"/>
              </a:ext>
            </a:extLst>
          </p:cNvPr>
          <p:cNvSpPr>
            <a:spLocks noGrp="1"/>
          </p:cNvSpPr>
          <p:nvPr>
            <p:ph type="title"/>
          </p:nvPr>
        </p:nvSpPr>
        <p:spPr/>
        <p:txBody>
          <a:bodyPr/>
          <a:lstStyle/>
          <a:p>
            <a:r>
              <a:rPr lang="en-US" sz="2750" dirty="0">
                <a:cs typeface="Arial"/>
              </a:rPr>
              <a:t>Angular Install</a:t>
            </a:r>
            <a:endParaRPr lang="en-US" dirty="0"/>
          </a:p>
        </p:txBody>
      </p:sp>
    </p:spTree>
    <p:extLst>
      <p:ext uri="{BB962C8B-B14F-4D97-AF65-F5344CB8AC3E}">
        <p14:creationId xmlns:p14="http://schemas.microsoft.com/office/powerpoint/2010/main" val="1200768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 shot of a computer&#10;&#10;Description automatically generated">
            <a:extLst>
              <a:ext uri="{FF2B5EF4-FFF2-40B4-BE49-F238E27FC236}">
                <a16:creationId xmlns:a16="http://schemas.microsoft.com/office/drawing/2014/main" id="{9FC8DC38-82D7-5D94-3694-CE669ECCC30C}"/>
              </a:ext>
            </a:extLst>
          </p:cNvPr>
          <p:cNvPicPr>
            <a:picLocks noGrp="1" noChangeAspect="1"/>
          </p:cNvPicPr>
          <p:nvPr>
            <p:ph idx="1"/>
          </p:nvPr>
        </p:nvPicPr>
        <p:blipFill>
          <a:blip r:embed="rId3"/>
          <a:stretch>
            <a:fillRect/>
          </a:stretch>
        </p:blipFill>
        <p:spPr>
          <a:xfrm>
            <a:off x="11999260" y="830649"/>
            <a:ext cx="1858650" cy="7013027"/>
          </a:xfrm>
        </p:spPr>
      </p:pic>
      <p:sp>
        <p:nvSpPr>
          <p:cNvPr id="3" name="Slide Number Placeholder 2">
            <a:extLst>
              <a:ext uri="{FF2B5EF4-FFF2-40B4-BE49-F238E27FC236}">
                <a16:creationId xmlns:a16="http://schemas.microsoft.com/office/drawing/2014/main" id="{5E75F261-4B11-5AA9-05EE-D4BBF84ECA0D}"/>
              </a:ext>
            </a:extLst>
          </p:cNvPr>
          <p:cNvSpPr>
            <a:spLocks noGrp="1"/>
          </p:cNvSpPr>
          <p:nvPr>
            <p:ph type="sldNum" sz="quarter" idx="4"/>
          </p:nvPr>
        </p:nvSpPr>
        <p:spPr/>
        <p:txBody>
          <a:bodyPr/>
          <a:lstStyle/>
          <a:p>
            <a:fld id="{31D26D55-0A22-487A-A687-61FB58A6F16A}" type="slidenum">
              <a:rPr lang="en-US" smtClean="0"/>
              <a:pPr/>
              <a:t>10</a:t>
            </a:fld>
            <a:endParaRPr lang="en-US" dirty="0"/>
          </a:p>
        </p:txBody>
      </p:sp>
      <p:sp>
        <p:nvSpPr>
          <p:cNvPr id="4" name="Title 3">
            <a:extLst>
              <a:ext uri="{FF2B5EF4-FFF2-40B4-BE49-F238E27FC236}">
                <a16:creationId xmlns:a16="http://schemas.microsoft.com/office/drawing/2014/main" id="{617A6BFA-A5B8-343E-BD7A-017B18A5D508}"/>
              </a:ext>
            </a:extLst>
          </p:cNvPr>
          <p:cNvSpPr>
            <a:spLocks noGrp="1"/>
          </p:cNvSpPr>
          <p:nvPr>
            <p:ph type="title"/>
          </p:nvPr>
        </p:nvSpPr>
        <p:spPr/>
        <p:txBody>
          <a:bodyPr/>
          <a:lstStyle/>
          <a:p>
            <a:r>
              <a:rPr lang="en-US" sz="2750" dirty="0">
                <a:cs typeface="Arial"/>
              </a:rPr>
              <a:t>Project Structure</a:t>
            </a:r>
            <a:endParaRPr lang="en-US" dirty="0"/>
          </a:p>
        </p:txBody>
      </p:sp>
      <p:sp>
        <p:nvSpPr>
          <p:cNvPr id="7" name="Content Placeholder 1">
            <a:extLst>
              <a:ext uri="{FF2B5EF4-FFF2-40B4-BE49-F238E27FC236}">
                <a16:creationId xmlns:a16="http://schemas.microsoft.com/office/drawing/2014/main" id="{53567D5D-F433-3772-C2FD-FDB190267119}"/>
              </a:ext>
            </a:extLst>
          </p:cNvPr>
          <p:cNvSpPr txBox="1">
            <a:spLocks/>
          </p:cNvSpPr>
          <p:nvPr/>
        </p:nvSpPr>
        <p:spPr>
          <a:xfrm>
            <a:off x="747000" y="934166"/>
            <a:ext cx="11251021" cy="6478189"/>
          </a:xfrm>
          <a:prstGeom prst="rect">
            <a:avLst/>
          </a:prstGeom>
        </p:spPr>
        <p:txBody>
          <a:bodyPr vert="horz" lIns="91440" tIns="45720" rIns="91440" bIns="45720" rtlCol="0" anchor="t">
            <a:normAutofit fontScale="77500" lnSpcReduction="20000"/>
          </a:bodyPr>
          <a:lstStyle>
            <a:lvl1pPr marL="274320" indent="-274320" algn="l" defTabSz="1097280" rtl="0" eaLnBrk="1" latinLnBrk="0" hangingPunct="1">
              <a:lnSpc>
                <a:spcPct val="150000"/>
              </a:lnSpc>
              <a:spcBef>
                <a:spcPts val="1200"/>
              </a:spcBef>
              <a:buFont typeface="Arial" panose="020B0604020202020204" pitchFamily="34" charset="0"/>
              <a:buChar char="•"/>
              <a:defRPr sz="3360" kern="1200">
                <a:solidFill>
                  <a:schemeClr val="tx1"/>
                </a:solidFill>
                <a:latin typeface="+mj-lt"/>
                <a:ea typeface="+mn-ea"/>
                <a:cs typeface="+mn-cs"/>
              </a:defRPr>
            </a:lvl1pPr>
            <a:lvl2pPr marL="822960" indent="-274320" algn="l" defTabSz="1097280" rtl="0" eaLnBrk="1" latinLnBrk="0" hangingPunct="1">
              <a:lnSpc>
                <a:spcPct val="150000"/>
              </a:lnSpc>
              <a:spcBef>
                <a:spcPts val="600"/>
              </a:spcBef>
              <a:buFont typeface="Arial" panose="020B0604020202020204" pitchFamily="34" charset="0"/>
              <a:buChar char="•"/>
              <a:defRPr sz="2880" kern="1200">
                <a:solidFill>
                  <a:schemeClr val="tx1"/>
                </a:solidFill>
                <a:latin typeface="+mj-lt"/>
                <a:ea typeface="+mn-ea"/>
                <a:cs typeface="+mn-cs"/>
              </a:defRPr>
            </a:lvl2pPr>
            <a:lvl3pPr marL="1371600" indent="-274320" algn="l" defTabSz="1097280" rtl="0" eaLnBrk="1" latinLnBrk="0" hangingPunct="1">
              <a:lnSpc>
                <a:spcPct val="150000"/>
              </a:lnSpc>
              <a:spcBef>
                <a:spcPts val="600"/>
              </a:spcBef>
              <a:buFont typeface="Arial" panose="020B0604020202020204" pitchFamily="34" charset="0"/>
              <a:buChar char="•"/>
              <a:defRPr sz="2400" kern="1200">
                <a:solidFill>
                  <a:schemeClr val="tx1"/>
                </a:solidFill>
                <a:latin typeface="+mj-lt"/>
                <a:ea typeface="+mn-ea"/>
                <a:cs typeface="+mn-cs"/>
              </a:defRPr>
            </a:lvl3pPr>
            <a:lvl4pPr marL="1920240" indent="-274320" algn="l" defTabSz="1097280" rtl="0" eaLnBrk="1" latinLnBrk="0" hangingPunct="1">
              <a:lnSpc>
                <a:spcPct val="150000"/>
              </a:lnSpc>
              <a:spcBef>
                <a:spcPts val="600"/>
              </a:spcBef>
              <a:buFont typeface="Arial" panose="020B0604020202020204" pitchFamily="34" charset="0"/>
              <a:buChar char="•"/>
              <a:defRPr sz="2160" kern="1200">
                <a:solidFill>
                  <a:schemeClr val="tx1"/>
                </a:solidFill>
                <a:latin typeface="+mj-lt"/>
                <a:ea typeface="+mn-ea"/>
                <a:cs typeface="+mn-cs"/>
              </a:defRPr>
            </a:lvl4pPr>
            <a:lvl5pPr marL="2468880" indent="-274320" algn="l" defTabSz="1097280" rtl="0" eaLnBrk="1" latinLnBrk="0" hangingPunct="1">
              <a:lnSpc>
                <a:spcPct val="150000"/>
              </a:lnSpc>
              <a:spcBef>
                <a:spcPts val="600"/>
              </a:spcBef>
              <a:buFont typeface="Arial" panose="020B0604020202020204" pitchFamily="34" charset="0"/>
              <a:buChar char="•"/>
              <a:defRPr sz="2160" kern="1200">
                <a:solidFill>
                  <a:schemeClr val="tx1"/>
                </a:solidFill>
                <a:latin typeface="+mj-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a:lnSpc>
                <a:spcPct val="130000"/>
              </a:lnSpc>
            </a:pPr>
            <a:r>
              <a:rPr lang="en-US" sz="3350" dirty="0" err="1">
                <a:latin typeface="Arial"/>
                <a:cs typeface="Arial"/>
              </a:rPr>
              <a:t>src</a:t>
            </a:r>
            <a:r>
              <a:rPr lang="en-US" sz="3350" dirty="0">
                <a:latin typeface="Arial"/>
                <a:cs typeface="Arial"/>
              </a:rPr>
              <a:t>/: main folder containing your application’s </a:t>
            </a:r>
            <a:r>
              <a:rPr lang="en-US" sz="3350" dirty="0">
                <a:ea typeface="+mj-lt"/>
                <a:cs typeface="+mj-lt"/>
              </a:rPr>
              <a:t>source code.</a:t>
            </a:r>
            <a:endParaRPr lang="en-US" sz="3350" dirty="0">
              <a:cs typeface="Arial" panose="020B0604020202020204"/>
            </a:endParaRPr>
          </a:p>
          <a:p>
            <a:pPr>
              <a:lnSpc>
                <a:spcPct val="130000"/>
              </a:lnSpc>
            </a:pPr>
            <a:r>
              <a:rPr lang="en-US" sz="3350" dirty="0">
                <a:ea typeface="+mj-lt"/>
                <a:cs typeface="+mj-lt"/>
              </a:rPr>
              <a:t>app/: contains the root module (</a:t>
            </a:r>
            <a:r>
              <a:rPr lang="en-US" sz="3350" dirty="0" err="1">
                <a:ea typeface="+mj-lt"/>
                <a:cs typeface="+mj-lt"/>
              </a:rPr>
              <a:t>app.module.ts</a:t>
            </a:r>
            <a:r>
              <a:rPr lang="en-US" sz="3350" dirty="0">
                <a:ea typeface="+mj-lt"/>
                <a:cs typeface="+mj-lt"/>
              </a:rPr>
              <a:t>), root component (</a:t>
            </a:r>
            <a:r>
              <a:rPr lang="en-US" sz="3350" dirty="0" err="1">
                <a:ea typeface="+mj-lt"/>
                <a:cs typeface="+mj-lt"/>
              </a:rPr>
              <a:t>app.component.ts</a:t>
            </a:r>
            <a:r>
              <a:rPr lang="en-US" sz="3350" dirty="0">
                <a:ea typeface="+mj-lt"/>
                <a:cs typeface="+mj-lt"/>
              </a:rPr>
              <a:t>), and other feature modules, components, services, and routing files.</a:t>
            </a:r>
            <a:endParaRPr lang="en-US" sz="3350" dirty="0">
              <a:cs typeface="Arial" panose="020B0604020202020204"/>
            </a:endParaRPr>
          </a:p>
          <a:p>
            <a:pPr>
              <a:lnSpc>
                <a:spcPct val="130000"/>
              </a:lnSpc>
            </a:pPr>
            <a:r>
              <a:rPr lang="en-US" sz="3350" dirty="0">
                <a:ea typeface="+mj-lt"/>
                <a:cs typeface="+mj-lt"/>
              </a:rPr>
              <a:t>assets/: directly accessible static assets like images, fonts, and other resources.</a:t>
            </a:r>
          </a:p>
          <a:p>
            <a:pPr>
              <a:lnSpc>
                <a:spcPct val="130000"/>
              </a:lnSpc>
            </a:pPr>
            <a:r>
              <a:rPr lang="en-US" sz="3350" dirty="0">
                <a:ea typeface="+mj-lt"/>
                <a:cs typeface="+mj-lt"/>
              </a:rPr>
              <a:t>environments/: Environment-specific configurations.</a:t>
            </a:r>
            <a:endParaRPr lang="en-US" sz="3350" dirty="0">
              <a:cs typeface="Arial" panose="020B0604020202020204"/>
            </a:endParaRPr>
          </a:p>
          <a:p>
            <a:pPr>
              <a:lnSpc>
                <a:spcPct val="130000"/>
              </a:lnSpc>
            </a:pPr>
            <a:r>
              <a:rPr lang="en-US" sz="3350" dirty="0">
                <a:ea typeface="+mj-lt"/>
                <a:cs typeface="+mj-lt"/>
              </a:rPr>
              <a:t>index.html: the single-page HTML file where the Angular application is bootstrapped.</a:t>
            </a:r>
            <a:endParaRPr lang="en-US" sz="3350" dirty="0">
              <a:cs typeface="Arial" panose="020B0604020202020204"/>
            </a:endParaRPr>
          </a:p>
          <a:p>
            <a:pPr>
              <a:lnSpc>
                <a:spcPct val="130000"/>
              </a:lnSpc>
            </a:pPr>
            <a:r>
              <a:rPr lang="en-US" sz="3350" dirty="0" err="1">
                <a:ea typeface="+mj-lt"/>
                <a:cs typeface="+mj-lt"/>
              </a:rPr>
              <a:t>main.ts</a:t>
            </a:r>
            <a:r>
              <a:rPr lang="en-US" sz="3350" dirty="0">
                <a:ea typeface="+mj-lt"/>
                <a:cs typeface="+mj-lt"/>
              </a:rPr>
              <a:t>: the entry point of the application.</a:t>
            </a:r>
            <a:endParaRPr lang="en-US" sz="3350" dirty="0">
              <a:cs typeface="Arial" panose="020B0604020202020204"/>
            </a:endParaRPr>
          </a:p>
          <a:p>
            <a:pPr>
              <a:lnSpc>
                <a:spcPct val="130000"/>
              </a:lnSpc>
            </a:pPr>
            <a:r>
              <a:rPr lang="en-US" sz="3350" dirty="0" err="1">
                <a:ea typeface="+mj-lt"/>
                <a:cs typeface="+mj-lt"/>
              </a:rPr>
              <a:t>polyfills.ts</a:t>
            </a:r>
            <a:r>
              <a:rPr lang="en-US" sz="3350" dirty="0">
                <a:ea typeface="+mj-lt"/>
                <a:cs typeface="+mj-lt"/>
              </a:rPr>
              <a:t>: includes </a:t>
            </a:r>
            <a:r>
              <a:rPr lang="en-US" sz="3350" dirty="0" err="1">
                <a:ea typeface="+mj-lt"/>
                <a:cs typeface="+mj-lt"/>
              </a:rPr>
              <a:t>polyfills</a:t>
            </a:r>
            <a:r>
              <a:rPr lang="en-US" sz="3350" dirty="0">
                <a:ea typeface="+mj-lt"/>
                <a:cs typeface="+mj-lt"/>
              </a:rPr>
              <a:t> required for browser compatibility.</a:t>
            </a:r>
            <a:endParaRPr lang="en-US" sz="3350" dirty="0">
              <a:cs typeface="Arial" panose="020B0604020202020204"/>
            </a:endParaRPr>
          </a:p>
          <a:p>
            <a:pPr>
              <a:lnSpc>
                <a:spcPct val="130000"/>
              </a:lnSpc>
            </a:pPr>
            <a:r>
              <a:rPr lang="en-US" sz="3350" dirty="0">
                <a:ea typeface="+mj-lt"/>
                <a:cs typeface="+mj-lt"/>
              </a:rPr>
              <a:t>styles.css: global styles for the application.</a:t>
            </a:r>
            <a:endParaRPr lang="en-US" dirty="0">
              <a:cs typeface="Arial" panose="020B0604020202020204"/>
            </a:endParaRPr>
          </a:p>
          <a:p>
            <a:endParaRPr lang="en-US" sz="3350" dirty="0">
              <a:cs typeface="Arial"/>
            </a:endParaRPr>
          </a:p>
        </p:txBody>
      </p:sp>
    </p:spTree>
    <p:extLst>
      <p:ext uri="{BB962C8B-B14F-4D97-AF65-F5344CB8AC3E}">
        <p14:creationId xmlns:p14="http://schemas.microsoft.com/office/powerpoint/2010/main" val="531249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F74557C-454F-4F24-E2A0-9DA2A3D1782F}"/>
              </a:ext>
            </a:extLst>
          </p:cNvPr>
          <p:cNvSpPr>
            <a:spLocks noGrp="1"/>
          </p:cNvSpPr>
          <p:nvPr>
            <p:ph idx="1"/>
          </p:nvPr>
        </p:nvSpPr>
        <p:spPr>
          <a:xfrm>
            <a:off x="747000" y="1917577"/>
            <a:ext cx="7955732" cy="5494778"/>
          </a:xfrm>
        </p:spPr>
        <p:txBody>
          <a:bodyPr vert="horz" lIns="91440" tIns="45720" rIns="91440" bIns="45720" rtlCol="0" anchor="t">
            <a:normAutofit/>
          </a:bodyPr>
          <a:lstStyle/>
          <a:p>
            <a:r>
              <a:rPr lang="en-US" sz="3350" dirty="0">
                <a:cs typeface="Arial"/>
              </a:rPr>
              <a:t>Data binding in Angular is a mechanism that connects the application's data (model) with the view (HTML template), allowing data to flow seamlessly between them.</a:t>
            </a:r>
            <a:endParaRPr lang="en-US" dirty="0"/>
          </a:p>
        </p:txBody>
      </p:sp>
      <p:sp>
        <p:nvSpPr>
          <p:cNvPr id="3" name="Slide Number Placeholder 2">
            <a:extLst>
              <a:ext uri="{FF2B5EF4-FFF2-40B4-BE49-F238E27FC236}">
                <a16:creationId xmlns:a16="http://schemas.microsoft.com/office/drawing/2014/main" id="{7386E72A-B7A7-A30A-E549-F5BB62117521}"/>
              </a:ext>
            </a:extLst>
          </p:cNvPr>
          <p:cNvSpPr>
            <a:spLocks noGrp="1"/>
          </p:cNvSpPr>
          <p:nvPr>
            <p:ph type="sldNum" sz="quarter" idx="4"/>
          </p:nvPr>
        </p:nvSpPr>
        <p:spPr/>
        <p:txBody>
          <a:bodyPr/>
          <a:lstStyle/>
          <a:p>
            <a:fld id="{31D26D55-0A22-487A-A687-61FB58A6F16A}" type="slidenum">
              <a:rPr lang="en-US" smtClean="0"/>
              <a:pPr/>
              <a:t>11</a:t>
            </a:fld>
            <a:endParaRPr lang="en-US" dirty="0"/>
          </a:p>
        </p:txBody>
      </p:sp>
      <p:sp>
        <p:nvSpPr>
          <p:cNvPr id="4" name="Title 3">
            <a:extLst>
              <a:ext uri="{FF2B5EF4-FFF2-40B4-BE49-F238E27FC236}">
                <a16:creationId xmlns:a16="http://schemas.microsoft.com/office/drawing/2014/main" id="{F5B91334-4D71-36BE-A070-7D03DA2CBFC7}"/>
              </a:ext>
            </a:extLst>
          </p:cNvPr>
          <p:cNvSpPr>
            <a:spLocks noGrp="1"/>
          </p:cNvSpPr>
          <p:nvPr>
            <p:ph type="title"/>
          </p:nvPr>
        </p:nvSpPr>
        <p:spPr/>
        <p:txBody>
          <a:bodyPr>
            <a:normAutofit/>
          </a:bodyPr>
          <a:lstStyle/>
          <a:p>
            <a:r>
              <a:rPr lang="en-US" sz="2750" dirty="0">
                <a:solidFill>
                  <a:srgbClr val="F0F6FC"/>
                </a:solidFill>
              </a:rPr>
              <a:t>Angular Data Binding</a:t>
            </a:r>
            <a:endParaRPr lang="en-US" sz="2750" dirty="0"/>
          </a:p>
        </p:txBody>
      </p:sp>
      <p:pic>
        <p:nvPicPr>
          <p:cNvPr id="5" name="Picture 4" descr="What Is Angular Data Binding? Types &amp; Example">
            <a:extLst>
              <a:ext uri="{FF2B5EF4-FFF2-40B4-BE49-F238E27FC236}">
                <a16:creationId xmlns:a16="http://schemas.microsoft.com/office/drawing/2014/main" id="{17157BF2-DD9C-61CD-E150-E7CCE593E2AA}"/>
              </a:ext>
            </a:extLst>
          </p:cNvPr>
          <p:cNvPicPr>
            <a:picLocks noChangeAspect="1"/>
          </p:cNvPicPr>
          <p:nvPr/>
        </p:nvPicPr>
        <p:blipFill>
          <a:blip r:embed="rId3"/>
          <a:stretch>
            <a:fillRect/>
          </a:stretch>
        </p:blipFill>
        <p:spPr>
          <a:xfrm>
            <a:off x="8669547" y="2389223"/>
            <a:ext cx="5900466" cy="4538082"/>
          </a:xfrm>
          <a:prstGeom prst="rect">
            <a:avLst/>
          </a:prstGeom>
        </p:spPr>
      </p:pic>
    </p:spTree>
    <p:extLst>
      <p:ext uri="{BB962C8B-B14F-4D97-AF65-F5344CB8AC3E}">
        <p14:creationId xmlns:p14="http://schemas.microsoft.com/office/powerpoint/2010/main" val="1510572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1F8542-DCCD-2D14-7F8D-9EFBE50BC688}"/>
              </a:ext>
            </a:extLst>
          </p:cNvPr>
          <p:cNvSpPr>
            <a:spLocks noGrp="1"/>
          </p:cNvSpPr>
          <p:nvPr>
            <p:ph idx="1"/>
          </p:nvPr>
        </p:nvSpPr>
        <p:spPr>
          <a:xfrm>
            <a:off x="747000" y="1261969"/>
            <a:ext cx="13166084" cy="5494778"/>
          </a:xfrm>
        </p:spPr>
        <p:txBody>
          <a:bodyPr vert="horz" lIns="91440" tIns="45720" rIns="91440" bIns="45720" rtlCol="0" anchor="t">
            <a:normAutofit/>
          </a:bodyPr>
          <a:lstStyle/>
          <a:p>
            <a:r>
              <a:rPr lang="en-US" sz="3350" dirty="0">
                <a:ea typeface="+mj-lt"/>
                <a:cs typeface="+mj-lt"/>
              </a:rPr>
              <a:t>Displays dynamic data from the component in the view.</a:t>
            </a:r>
          </a:p>
          <a:p>
            <a:r>
              <a:rPr lang="en-US" sz="3350" dirty="0">
                <a:ea typeface="+mj-lt"/>
                <a:cs typeface="+mj-lt"/>
              </a:rPr>
              <a:t>Uses the </a:t>
            </a:r>
            <a:r>
              <a:rPr lang="en-US" sz="3350" b="1" dirty="0">
                <a:latin typeface="Consolas"/>
                <a:cs typeface="Arial"/>
              </a:rPr>
              <a:t>{{ ... }}</a:t>
            </a:r>
            <a:r>
              <a:rPr lang="en-US" sz="3350" dirty="0">
                <a:ea typeface="+mj-lt"/>
                <a:cs typeface="+mj-lt"/>
              </a:rPr>
              <a:t> syntax.</a:t>
            </a:r>
            <a:endParaRPr lang="en-US" dirty="0">
              <a:ea typeface="+mj-lt"/>
              <a:cs typeface="+mj-lt"/>
            </a:endParaRPr>
          </a:p>
          <a:p>
            <a:r>
              <a:rPr lang="en-US" sz="3350" dirty="0">
                <a:ea typeface="+mj-lt"/>
                <a:cs typeface="+mj-lt"/>
              </a:rPr>
              <a:t>Example:</a:t>
            </a:r>
          </a:p>
          <a:p>
            <a:pPr lvl="1">
              <a:buFont typeface="Courier New" panose="020B0604020202020204" pitchFamily="34" charset="0"/>
              <a:buChar char="o"/>
            </a:pPr>
            <a:r>
              <a:rPr lang="en-US" sz="2850" dirty="0">
                <a:ea typeface="+mj-lt"/>
                <a:cs typeface="+mj-lt"/>
              </a:rPr>
              <a:t>Component (TypeScript):</a:t>
            </a:r>
          </a:p>
          <a:p>
            <a:pPr lvl="1">
              <a:buFont typeface="Courier New" panose="020B0604020202020204" pitchFamily="34" charset="0"/>
              <a:buChar char="o"/>
            </a:pPr>
            <a:r>
              <a:rPr lang="en-US" sz="2850" dirty="0">
                <a:ea typeface="+mj-lt"/>
                <a:cs typeface="+mj-lt"/>
              </a:rPr>
              <a:t>Template (HTML):</a:t>
            </a:r>
          </a:p>
        </p:txBody>
      </p:sp>
      <p:sp>
        <p:nvSpPr>
          <p:cNvPr id="3" name="Slide Number Placeholder 2">
            <a:extLst>
              <a:ext uri="{FF2B5EF4-FFF2-40B4-BE49-F238E27FC236}">
                <a16:creationId xmlns:a16="http://schemas.microsoft.com/office/drawing/2014/main" id="{1C74076E-CF0B-5905-1752-4FB367787E54}"/>
              </a:ext>
            </a:extLst>
          </p:cNvPr>
          <p:cNvSpPr>
            <a:spLocks noGrp="1"/>
          </p:cNvSpPr>
          <p:nvPr>
            <p:ph type="sldNum" sz="quarter" idx="4"/>
          </p:nvPr>
        </p:nvSpPr>
        <p:spPr/>
        <p:txBody>
          <a:bodyPr/>
          <a:lstStyle/>
          <a:p>
            <a:fld id="{31D26D55-0A22-487A-A687-61FB58A6F16A}" type="slidenum">
              <a:rPr lang="en-US" smtClean="0"/>
              <a:pPr/>
              <a:t>12</a:t>
            </a:fld>
            <a:endParaRPr lang="en-US" dirty="0"/>
          </a:p>
        </p:txBody>
      </p:sp>
      <p:sp>
        <p:nvSpPr>
          <p:cNvPr id="4" name="Title 3">
            <a:extLst>
              <a:ext uri="{FF2B5EF4-FFF2-40B4-BE49-F238E27FC236}">
                <a16:creationId xmlns:a16="http://schemas.microsoft.com/office/drawing/2014/main" id="{0106B5AA-8B38-D2E7-527C-2AD75A66E08D}"/>
              </a:ext>
            </a:extLst>
          </p:cNvPr>
          <p:cNvSpPr>
            <a:spLocks noGrp="1"/>
          </p:cNvSpPr>
          <p:nvPr>
            <p:ph type="title"/>
          </p:nvPr>
        </p:nvSpPr>
        <p:spPr/>
        <p:txBody>
          <a:bodyPr/>
          <a:lstStyle/>
          <a:p>
            <a:r>
              <a:rPr lang="en-US"/>
              <a:t>Interpolation</a:t>
            </a:r>
          </a:p>
        </p:txBody>
      </p:sp>
      <p:pic>
        <p:nvPicPr>
          <p:cNvPr id="5" name="Picture 4" descr="A screen shot of a computer program&#10;&#10;Description automatically generated">
            <a:extLst>
              <a:ext uri="{FF2B5EF4-FFF2-40B4-BE49-F238E27FC236}">
                <a16:creationId xmlns:a16="http://schemas.microsoft.com/office/drawing/2014/main" id="{5756AE39-CF89-D70A-48D0-9701C92EEF17}"/>
              </a:ext>
            </a:extLst>
          </p:cNvPr>
          <p:cNvPicPr>
            <a:picLocks noChangeAspect="1"/>
          </p:cNvPicPr>
          <p:nvPr/>
        </p:nvPicPr>
        <p:blipFill>
          <a:blip r:embed="rId3"/>
          <a:stretch>
            <a:fillRect/>
          </a:stretch>
        </p:blipFill>
        <p:spPr>
          <a:xfrm>
            <a:off x="8242809" y="2076091"/>
            <a:ext cx="5252947" cy="5336875"/>
          </a:xfrm>
          <a:prstGeom prst="rect">
            <a:avLst/>
          </a:prstGeom>
        </p:spPr>
      </p:pic>
      <p:pic>
        <p:nvPicPr>
          <p:cNvPr id="6" name="Picture 5">
            <a:extLst>
              <a:ext uri="{FF2B5EF4-FFF2-40B4-BE49-F238E27FC236}">
                <a16:creationId xmlns:a16="http://schemas.microsoft.com/office/drawing/2014/main" id="{CA7FA9AD-D394-73E5-A2E1-A9F88F68C172}"/>
              </a:ext>
            </a:extLst>
          </p:cNvPr>
          <p:cNvPicPr>
            <a:picLocks noChangeAspect="1"/>
          </p:cNvPicPr>
          <p:nvPr/>
        </p:nvPicPr>
        <p:blipFill>
          <a:blip r:embed="rId4"/>
          <a:stretch>
            <a:fillRect/>
          </a:stretch>
        </p:blipFill>
        <p:spPr>
          <a:xfrm>
            <a:off x="1109124" y="6052328"/>
            <a:ext cx="6615202" cy="921229"/>
          </a:xfrm>
          <a:prstGeom prst="rect">
            <a:avLst/>
          </a:prstGeom>
        </p:spPr>
      </p:pic>
    </p:spTree>
    <p:extLst>
      <p:ext uri="{BB962C8B-B14F-4D97-AF65-F5344CB8AC3E}">
        <p14:creationId xmlns:p14="http://schemas.microsoft.com/office/powerpoint/2010/main" val="2698336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AFF0525-AEEF-9316-A1A9-5AB89742418C}"/>
              </a:ext>
            </a:extLst>
          </p:cNvPr>
          <p:cNvSpPr>
            <a:spLocks noGrp="1"/>
          </p:cNvSpPr>
          <p:nvPr>
            <p:ph idx="1"/>
          </p:nvPr>
        </p:nvSpPr>
        <p:spPr>
          <a:xfrm>
            <a:off x="747000" y="1365486"/>
            <a:ext cx="13166084" cy="5494778"/>
          </a:xfrm>
        </p:spPr>
        <p:txBody>
          <a:bodyPr vert="horz" lIns="91440" tIns="45720" rIns="91440" bIns="45720" rtlCol="0" anchor="t">
            <a:normAutofit/>
          </a:bodyPr>
          <a:lstStyle/>
          <a:p>
            <a:r>
              <a:rPr lang="en-US" sz="3350" dirty="0">
                <a:ea typeface="+mj-lt"/>
                <a:cs typeface="+mj-lt"/>
              </a:rPr>
              <a:t>Binds the value from the component to an </a:t>
            </a:r>
            <a:r>
              <a:rPr lang="en-US" sz="3350" b="1" dirty="0">
                <a:ea typeface="+mj-lt"/>
                <a:cs typeface="+mj-lt"/>
              </a:rPr>
              <a:t>HTML element property</a:t>
            </a:r>
            <a:r>
              <a:rPr lang="en-US" sz="3350" dirty="0">
                <a:ea typeface="+mj-lt"/>
                <a:cs typeface="+mj-lt"/>
              </a:rPr>
              <a:t> (not an attribute).</a:t>
            </a:r>
            <a:endParaRPr lang="en-US" dirty="0">
              <a:cs typeface="Arial" panose="020B0604020202020204"/>
            </a:endParaRPr>
          </a:p>
          <a:p>
            <a:r>
              <a:rPr lang="en-US" sz="3350" dirty="0">
                <a:ea typeface="+mj-lt"/>
                <a:cs typeface="+mj-lt"/>
              </a:rPr>
              <a:t>Uses the </a:t>
            </a:r>
            <a:r>
              <a:rPr lang="en-US" sz="3350" b="1" dirty="0">
                <a:latin typeface="Consolas"/>
              </a:rPr>
              <a:t>[property]="value"</a:t>
            </a:r>
            <a:r>
              <a:rPr lang="en-US" sz="3350" dirty="0">
                <a:ea typeface="+mj-lt"/>
                <a:cs typeface="+mj-lt"/>
              </a:rPr>
              <a:t> syntax.</a:t>
            </a:r>
            <a:endParaRPr lang="en-US" dirty="0"/>
          </a:p>
          <a:p>
            <a:r>
              <a:rPr lang="en-US" sz="3400" dirty="0">
                <a:cs typeface="Arial"/>
              </a:rPr>
              <a:t>Example:</a:t>
            </a:r>
          </a:p>
          <a:p>
            <a:pPr lvl="1">
              <a:buFont typeface="Courier New,monospace" panose="020B0604020202020204" pitchFamily="34" charset="0"/>
              <a:buChar char="o"/>
            </a:pPr>
            <a:r>
              <a:rPr lang="en-US" sz="2900" dirty="0">
                <a:cs typeface="Arial"/>
              </a:rPr>
              <a:t>Component (TypeScript):</a:t>
            </a:r>
          </a:p>
          <a:p>
            <a:pPr lvl="1">
              <a:buFont typeface="Courier New,monospace" panose="020B0604020202020204" pitchFamily="34" charset="0"/>
              <a:buChar char="o"/>
            </a:pPr>
            <a:r>
              <a:rPr lang="en-US" sz="2900" dirty="0">
                <a:cs typeface="Arial"/>
              </a:rPr>
              <a:t>Template (HTML):</a:t>
            </a:r>
            <a:endParaRPr lang="en-US" dirty="0"/>
          </a:p>
          <a:p>
            <a:endParaRPr lang="en-US" sz="3350" dirty="0">
              <a:cs typeface="Arial"/>
            </a:endParaRPr>
          </a:p>
        </p:txBody>
      </p:sp>
      <p:sp>
        <p:nvSpPr>
          <p:cNvPr id="3" name="Slide Number Placeholder 2">
            <a:extLst>
              <a:ext uri="{FF2B5EF4-FFF2-40B4-BE49-F238E27FC236}">
                <a16:creationId xmlns:a16="http://schemas.microsoft.com/office/drawing/2014/main" id="{47018760-8F49-9AA4-3D0D-8FB80E9687D8}"/>
              </a:ext>
            </a:extLst>
          </p:cNvPr>
          <p:cNvSpPr>
            <a:spLocks noGrp="1"/>
          </p:cNvSpPr>
          <p:nvPr>
            <p:ph type="sldNum" sz="quarter" idx="4"/>
          </p:nvPr>
        </p:nvSpPr>
        <p:spPr/>
        <p:txBody>
          <a:bodyPr/>
          <a:lstStyle/>
          <a:p>
            <a:fld id="{31D26D55-0A22-487A-A687-61FB58A6F16A}" type="slidenum">
              <a:rPr lang="en-US" smtClean="0"/>
              <a:pPr/>
              <a:t>13</a:t>
            </a:fld>
            <a:endParaRPr lang="en-US" dirty="0"/>
          </a:p>
        </p:txBody>
      </p:sp>
      <p:sp>
        <p:nvSpPr>
          <p:cNvPr id="4" name="Title 3">
            <a:extLst>
              <a:ext uri="{FF2B5EF4-FFF2-40B4-BE49-F238E27FC236}">
                <a16:creationId xmlns:a16="http://schemas.microsoft.com/office/drawing/2014/main" id="{78EAFA42-E16E-DE88-E826-4EE9923CCB90}"/>
              </a:ext>
            </a:extLst>
          </p:cNvPr>
          <p:cNvSpPr>
            <a:spLocks noGrp="1"/>
          </p:cNvSpPr>
          <p:nvPr>
            <p:ph type="title"/>
          </p:nvPr>
        </p:nvSpPr>
        <p:spPr/>
        <p:txBody>
          <a:bodyPr>
            <a:normAutofit/>
          </a:bodyPr>
          <a:lstStyle/>
          <a:p>
            <a:r>
              <a:rPr lang="en-US" sz="2750" dirty="0"/>
              <a:t>Property Binding</a:t>
            </a:r>
            <a:endParaRPr lang="en-US" dirty="0"/>
          </a:p>
        </p:txBody>
      </p:sp>
      <p:pic>
        <p:nvPicPr>
          <p:cNvPr id="5" name="Picture 4" descr="A screen shot of a computer program&#10;&#10;Description automatically generated">
            <a:extLst>
              <a:ext uri="{FF2B5EF4-FFF2-40B4-BE49-F238E27FC236}">
                <a16:creationId xmlns:a16="http://schemas.microsoft.com/office/drawing/2014/main" id="{460EBB83-2A77-4BD2-A12D-5D8131220761}"/>
              </a:ext>
            </a:extLst>
          </p:cNvPr>
          <p:cNvPicPr>
            <a:picLocks noChangeAspect="1"/>
          </p:cNvPicPr>
          <p:nvPr/>
        </p:nvPicPr>
        <p:blipFill>
          <a:blip r:embed="rId3"/>
          <a:stretch>
            <a:fillRect/>
          </a:stretch>
        </p:blipFill>
        <p:spPr>
          <a:xfrm>
            <a:off x="8638816" y="3253057"/>
            <a:ext cx="5651379" cy="3845583"/>
          </a:xfrm>
          <a:prstGeom prst="rect">
            <a:avLst/>
          </a:prstGeom>
        </p:spPr>
      </p:pic>
      <p:pic>
        <p:nvPicPr>
          <p:cNvPr id="6" name="Picture 5">
            <a:extLst>
              <a:ext uri="{FF2B5EF4-FFF2-40B4-BE49-F238E27FC236}">
                <a16:creationId xmlns:a16="http://schemas.microsoft.com/office/drawing/2014/main" id="{79972BEC-5E4D-91C4-BB16-CA4EF27CE49B}"/>
              </a:ext>
            </a:extLst>
          </p:cNvPr>
          <p:cNvPicPr>
            <a:picLocks noChangeAspect="1"/>
          </p:cNvPicPr>
          <p:nvPr/>
        </p:nvPicPr>
        <p:blipFill>
          <a:blip r:embed="rId4"/>
          <a:stretch>
            <a:fillRect/>
          </a:stretch>
        </p:blipFill>
        <p:spPr>
          <a:xfrm>
            <a:off x="972180" y="6306359"/>
            <a:ext cx="6337000" cy="792731"/>
          </a:xfrm>
          <a:prstGeom prst="rect">
            <a:avLst/>
          </a:prstGeom>
        </p:spPr>
      </p:pic>
    </p:spTree>
    <p:extLst>
      <p:ext uri="{BB962C8B-B14F-4D97-AF65-F5344CB8AC3E}">
        <p14:creationId xmlns:p14="http://schemas.microsoft.com/office/powerpoint/2010/main" val="10391554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7030DC2-5D4C-E75D-F800-E3D8A5EC5F78}"/>
              </a:ext>
            </a:extLst>
          </p:cNvPr>
          <p:cNvSpPr>
            <a:spLocks noGrp="1"/>
          </p:cNvSpPr>
          <p:nvPr>
            <p:ph idx="1"/>
          </p:nvPr>
        </p:nvSpPr>
        <p:spPr/>
        <p:txBody>
          <a:bodyPr vert="horz" lIns="91440" tIns="45720" rIns="91440" bIns="45720" rtlCol="0" anchor="t">
            <a:normAutofit/>
          </a:bodyPr>
          <a:lstStyle/>
          <a:p>
            <a:r>
              <a:rPr lang="en-US" sz="3350" dirty="0">
                <a:ea typeface="+mj-lt"/>
                <a:cs typeface="+mj-lt"/>
              </a:rPr>
              <a:t>Handles user-generated events (e.g., clicks, keypresses).</a:t>
            </a:r>
            <a:endParaRPr lang="en-US" dirty="0">
              <a:cs typeface="Arial" panose="020B0604020202020204"/>
            </a:endParaRPr>
          </a:p>
          <a:p>
            <a:r>
              <a:rPr lang="en-US" sz="3350" dirty="0">
                <a:ea typeface="+mj-lt"/>
                <a:cs typeface="+mj-lt"/>
              </a:rPr>
              <a:t>Uses the </a:t>
            </a:r>
            <a:r>
              <a:rPr lang="en-US" sz="3350" b="1" dirty="0">
                <a:latin typeface="Consolas"/>
              </a:rPr>
              <a:t>(event)="handler"</a:t>
            </a:r>
            <a:r>
              <a:rPr lang="en-US" sz="3350" dirty="0">
                <a:ea typeface="+mj-lt"/>
                <a:cs typeface="+mj-lt"/>
              </a:rPr>
              <a:t> syntax.</a:t>
            </a:r>
            <a:endParaRPr lang="en-US" dirty="0"/>
          </a:p>
          <a:p>
            <a:r>
              <a:rPr lang="en-US" sz="3400" dirty="0">
                <a:cs typeface="Arial"/>
              </a:rPr>
              <a:t>Example:</a:t>
            </a:r>
          </a:p>
          <a:p>
            <a:pPr lvl="1">
              <a:buFont typeface="Courier New,monospace" panose="020B0604020202020204" pitchFamily="34" charset="0"/>
              <a:buChar char="o"/>
            </a:pPr>
            <a:r>
              <a:rPr lang="en-US" sz="2900" dirty="0">
                <a:cs typeface="Arial"/>
              </a:rPr>
              <a:t>Component (TypeScript):</a:t>
            </a:r>
          </a:p>
          <a:p>
            <a:pPr lvl="1">
              <a:buFont typeface="Courier New,monospace" panose="020B0604020202020204" pitchFamily="34" charset="0"/>
              <a:buChar char="o"/>
            </a:pPr>
            <a:r>
              <a:rPr lang="en-US" sz="2900" dirty="0">
                <a:cs typeface="Arial"/>
              </a:rPr>
              <a:t>Template (HTML):</a:t>
            </a:r>
            <a:endParaRPr lang="en-US" dirty="0"/>
          </a:p>
          <a:p>
            <a:endParaRPr lang="en-US" sz="3350" dirty="0">
              <a:cs typeface="Arial"/>
            </a:endParaRPr>
          </a:p>
        </p:txBody>
      </p:sp>
      <p:sp>
        <p:nvSpPr>
          <p:cNvPr id="3" name="Slide Number Placeholder 2">
            <a:extLst>
              <a:ext uri="{FF2B5EF4-FFF2-40B4-BE49-F238E27FC236}">
                <a16:creationId xmlns:a16="http://schemas.microsoft.com/office/drawing/2014/main" id="{2AC4B547-13EA-01CF-9B08-CC811A2DD5D2}"/>
              </a:ext>
            </a:extLst>
          </p:cNvPr>
          <p:cNvSpPr>
            <a:spLocks noGrp="1"/>
          </p:cNvSpPr>
          <p:nvPr>
            <p:ph type="sldNum" sz="quarter" idx="4"/>
          </p:nvPr>
        </p:nvSpPr>
        <p:spPr/>
        <p:txBody>
          <a:bodyPr/>
          <a:lstStyle/>
          <a:p>
            <a:fld id="{31D26D55-0A22-487A-A687-61FB58A6F16A}" type="slidenum">
              <a:rPr lang="en-US" smtClean="0"/>
              <a:pPr/>
              <a:t>14</a:t>
            </a:fld>
            <a:endParaRPr lang="en-US" dirty="0"/>
          </a:p>
        </p:txBody>
      </p:sp>
      <p:sp>
        <p:nvSpPr>
          <p:cNvPr id="4" name="Title 3">
            <a:extLst>
              <a:ext uri="{FF2B5EF4-FFF2-40B4-BE49-F238E27FC236}">
                <a16:creationId xmlns:a16="http://schemas.microsoft.com/office/drawing/2014/main" id="{E7E41818-8908-DD6D-5509-E0C911792DC4}"/>
              </a:ext>
            </a:extLst>
          </p:cNvPr>
          <p:cNvSpPr>
            <a:spLocks noGrp="1"/>
          </p:cNvSpPr>
          <p:nvPr>
            <p:ph type="title"/>
          </p:nvPr>
        </p:nvSpPr>
        <p:spPr/>
        <p:txBody>
          <a:bodyPr/>
          <a:lstStyle/>
          <a:p>
            <a:r>
              <a:rPr lang="en-US"/>
              <a:t>Event Binding</a:t>
            </a:r>
          </a:p>
        </p:txBody>
      </p:sp>
      <p:pic>
        <p:nvPicPr>
          <p:cNvPr id="5" name="Picture 4" descr="A screen shot of a computer program&#10;&#10;Description automatically generated">
            <a:extLst>
              <a:ext uri="{FF2B5EF4-FFF2-40B4-BE49-F238E27FC236}">
                <a16:creationId xmlns:a16="http://schemas.microsoft.com/office/drawing/2014/main" id="{E0086C57-5702-E801-7819-97B3971005A6}"/>
              </a:ext>
            </a:extLst>
          </p:cNvPr>
          <p:cNvPicPr>
            <a:picLocks noChangeAspect="1"/>
          </p:cNvPicPr>
          <p:nvPr/>
        </p:nvPicPr>
        <p:blipFill>
          <a:blip r:embed="rId3"/>
          <a:stretch>
            <a:fillRect/>
          </a:stretch>
        </p:blipFill>
        <p:spPr>
          <a:xfrm>
            <a:off x="8365197" y="3065073"/>
            <a:ext cx="5870814" cy="4152540"/>
          </a:xfrm>
          <a:prstGeom prst="rect">
            <a:avLst/>
          </a:prstGeom>
        </p:spPr>
      </p:pic>
      <p:pic>
        <p:nvPicPr>
          <p:cNvPr id="6" name="Picture 5">
            <a:extLst>
              <a:ext uri="{FF2B5EF4-FFF2-40B4-BE49-F238E27FC236}">
                <a16:creationId xmlns:a16="http://schemas.microsoft.com/office/drawing/2014/main" id="{26747F9B-ED08-5080-3A9B-34146B4DFCA5}"/>
              </a:ext>
            </a:extLst>
          </p:cNvPr>
          <p:cNvPicPr>
            <a:picLocks noChangeAspect="1"/>
          </p:cNvPicPr>
          <p:nvPr/>
        </p:nvPicPr>
        <p:blipFill>
          <a:blip r:embed="rId4"/>
          <a:stretch>
            <a:fillRect/>
          </a:stretch>
        </p:blipFill>
        <p:spPr>
          <a:xfrm>
            <a:off x="633053" y="6649080"/>
            <a:ext cx="7515585" cy="538612"/>
          </a:xfrm>
          <a:prstGeom prst="rect">
            <a:avLst/>
          </a:prstGeom>
        </p:spPr>
      </p:pic>
    </p:spTree>
    <p:extLst>
      <p:ext uri="{BB962C8B-B14F-4D97-AF65-F5344CB8AC3E}">
        <p14:creationId xmlns:p14="http://schemas.microsoft.com/office/powerpoint/2010/main" val="4880346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5EE7302-3D41-7798-5869-F40F15DB7EBB}"/>
              </a:ext>
            </a:extLst>
          </p:cNvPr>
          <p:cNvSpPr>
            <a:spLocks noGrp="1"/>
          </p:cNvSpPr>
          <p:nvPr>
            <p:ph idx="1"/>
          </p:nvPr>
        </p:nvSpPr>
        <p:spPr/>
        <p:txBody>
          <a:bodyPr vert="horz" lIns="91440" tIns="45720" rIns="91440" bIns="45720" rtlCol="0" anchor="t">
            <a:normAutofit/>
          </a:bodyPr>
          <a:lstStyle/>
          <a:p>
            <a:r>
              <a:rPr lang="en-US" sz="3350" dirty="0">
                <a:ea typeface="+mj-lt"/>
                <a:cs typeface="+mj-lt"/>
              </a:rPr>
              <a:t>Synchronizes data between the </a:t>
            </a:r>
            <a:r>
              <a:rPr lang="en-US" sz="3350" b="1" dirty="0">
                <a:ea typeface="+mj-lt"/>
                <a:cs typeface="+mj-lt"/>
              </a:rPr>
              <a:t>component (model)</a:t>
            </a:r>
            <a:r>
              <a:rPr lang="en-US" sz="3350" dirty="0">
                <a:ea typeface="+mj-lt"/>
                <a:cs typeface="+mj-lt"/>
              </a:rPr>
              <a:t> and the </a:t>
            </a:r>
            <a:r>
              <a:rPr lang="en-US" sz="3350" b="1" dirty="0">
                <a:ea typeface="+mj-lt"/>
                <a:cs typeface="+mj-lt"/>
              </a:rPr>
              <a:t>view</a:t>
            </a:r>
            <a:r>
              <a:rPr lang="en-US" sz="3350" dirty="0">
                <a:ea typeface="+mj-lt"/>
                <a:cs typeface="+mj-lt"/>
              </a:rPr>
              <a:t>.</a:t>
            </a:r>
            <a:endParaRPr lang="en-US" dirty="0">
              <a:cs typeface="Arial" panose="020B0604020202020204"/>
            </a:endParaRPr>
          </a:p>
          <a:p>
            <a:r>
              <a:rPr lang="en-US" sz="3350" dirty="0">
                <a:ea typeface="+mj-lt"/>
                <a:cs typeface="+mj-lt"/>
              </a:rPr>
              <a:t>Uses the </a:t>
            </a:r>
            <a:r>
              <a:rPr lang="en-US" sz="3350" b="1" dirty="0">
                <a:latin typeface="Consolas"/>
              </a:rPr>
              <a:t>[(</a:t>
            </a:r>
            <a:r>
              <a:rPr lang="en-US" sz="3350" b="1" dirty="0" err="1">
                <a:latin typeface="Consolas"/>
              </a:rPr>
              <a:t>ngModel</a:t>
            </a:r>
            <a:r>
              <a:rPr lang="en-US" sz="3350" b="1" dirty="0">
                <a:latin typeface="Consolas"/>
              </a:rPr>
              <a:t>)]</a:t>
            </a:r>
            <a:r>
              <a:rPr lang="en-US" sz="3350" dirty="0">
                <a:ea typeface="+mj-lt"/>
                <a:cs typeface="+mj-lt"/>
              </a:rPr>
              <a:t> directive.</a:t>
            </a:r>
            <a:endParaRPr lang="en-US" dirty="0"/>
          </a:p>
          <a:p>
            <a:r>
              <a:rPr lang="en-US" sz="3350" dirty="0">
                <a:ea typeface="+mj-lt"/>
                <a:cs typeface="+mj-lt"/>
              </a:rPr>
              <a:t>Requires importing the </a:t>
            </a:r>
            <a:r>
              <a:rPr lang="en-US" sz="3350" b="1" dirty="0" err="1">
                <a:ea typeface="+mj-lt"/>
                <a:cs typeface="+mj-lt"/>
              </a:rPr>
              <a:t>FormsModule</a:t>
            </a:r>
            <a:r>
              <a:rPr lang="en-US" sz="3350" dirty="0">
                <a:ea typeface="+mj-lt"/>
                <a:cs typeface="+mj-lt"/>
              </a:rPr>
              <a:t> in </a:t>
            </a:r>
            <a:r>
              <a:rPr lang="en-US" sz="3350" dirty="0" err="1">
                <a:latin typeface="Consolas"/>
              </a:rPr>
              <a:t>app.module.ts</a:t>
            </a:r>
            <a:r>
              <a:rPr lang="en-US" sz="3350" dirty="0">
                <a:ea typeface="+mj-lt"/>
                <a:cs typeface="+mj-lt"/>
              </a:rPr>
              <a:t>.</a:t>
            </a:r>
            <a:endParaRPr lang="en-US" dirty="0"/>
          </a:p>
          <a:p>
            <a:pPr marL="0" indent="0">
              <a:buNone/>
            </a:pPr>
            <a:endParaRPr lang="en-US" sz="3400" dirty="0">
              <a:cs typeface="Arial"/>
            </a:endParaRPr>
          </a:p>
          <a:p>
            <a:endParaRPr lang="en-US" sz="3350" dirty="0">
              <a:cs typeface="Arial"/>
            </a:endParaRPr>
          </a:p>
        </p:txBody>
      </p:sp>
      <p:sp>
        <p:nvSpPr>
          <p:cNvPr id="3" name="Slide Number Placeholder 2">
            <a:extLst>
              <a:ext uri="{FF2B5EF4-FFF2-40B4-BE49-F238E27FC236}">
                <a16:creationId xmlns:a16="http://schemas.microsoft.com/office/drawing/2014/main" id="{C3EC021C-F0A5-FDBE-2F46-1359715FC556}"/>
              </a:ext>
            </a:extLst>
          </p:cNvPr>
          <p:cNvSpPr>
            <a:spLocks noGrp="1"/>
          </p:cNvSpPr>
          <p:nvPr>
            <p:ph type="sldNum" sz="quarter" idx="4"/>
          </p:nvPr>
        </p:nvSpPr>
        <p:spPr/>
        <p:txBody>
          <a:bodyPr/>
          <a:lstStyle/>
          <a:p>
            <a:fld id="{31D26D55-0A22-487A-A687-61FB58A6F16A}" type="slidenum">
              <a:rPr lang="en-US" smtClean="0"/>
              <a:pPr/>
              <a:t>15</a:t>
            </a:fld>
            <a:endParaRPr lang="en-US" dirty="0"/>
          </a:p>
        </p:txBody>
      </p:sp>
      <p:sp>
        <p:nvSpPr>
          <p:cNvPr id="4" name="Title 3">
            <a:extLst>
              <a:ext uri="{FF2B5EF4-FFF2-40B4-BE49-F238E27FC236}">
                <a16:creationId xmlns:a16="http://schemas.microsoft.com/office/drawing/2014/main" id="{9F400B04-065D-4E20-DC43-73F6DC2113B3}"/>
              </a:ext>
            </a:extLst>
          </p:cNvPr>
          <p:cNvSpPr>
            <a:spLocks noGrp="1"/>
          </p:cNvSpPr>
          <p:nvPr>
            <p:ph type="title"/>
          </p:nvPr>
        </p:nvSpPr>
        <p:spPr/>
        <p:txBody>
          <a:bodyPr/>
          <a:lstStyle/>
          <a:p>
            <a:r>
              <a:rPr lang="en-US" sz="2750" dirty="0">
                <a:ea typeface="+mj-lt"/>
                <a:cs typeface="+mj-lt"/>
              </a:rPr>
              <a:t>Two-Way Binding</a:t>
            </a:r>
            <a:endParaRPr lang="en-US" dirty="0"/>
          </a:p>
        </p:txBody>
      </p:sp>
    </p:spTree>
    <p:extLst>
      <p:ext uri="{BB962C8B-B14F-4D97-AF65-F5344CB8AC3E}">
        <p14:creationId xmlns:p14="http://schemas.microsoft.com/office/powerpoint/2010/main" val="3449327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2EFE8CA-2269-B4AF-37A3-8C28E5276702}"/>
              </a:ext>
            </a:extLst>
          </p:cNvPr>
          <p:cNvPicPr>
            <a:picLocks noGrp="1" noChangeAspect="1"/>
          </p:cNvPicPr>
          <p:nvPr>
            <p:ph idx="1"/>
          </p:nvPr>
        </p:nvPicPr>
        <p:blipFill>
          <a:blip r:embed="rId2"/>
          <a:stretch>
            <a:fillRect/>
          </a:stretch>
        </p:blipFill>
        <p:spPr>
          <a:xfrm>
            <a:off x="863645" y="1212962"/>
            <a:ext cx="6221441" cy="3971026"/>
          </a:xfrm>
        </p:spPr>
      </p:pic>
      <p:sp>
        <p:nvSpPr>
          <p:cNvPr id="3" name="Slide Number Placeholder 2">
            <a:extLst>
              <a:ext uri="{FF2B5EF4-FFF2-40B4-BE49-F238E27FC236}">
                <a16:creationId xmlns:a16="http://schemas.microsoft.com/office/drawing/2014/main" id="{477C2E4A-5F77-E444-FAB8-3147F7A53859}"/>
              </a:ext>
            </a:extLst>
          </p:cNvPr>
          <p:cNvSpPr>
            <a:spLocks noGrp="1"/>
          </p:cNvSpPr>
          <p:nvPr>
            <p:ph type="sldNum" sz="quarter" idx="4"/>
          </p:nvPr>
        </p:nvSpPr>
        <p:spPr/>
        <p:txBody>
          <a:bodyPr/>
          <a:lstStyle/>
          <a:p>
            <a:fld id="{31D26D55-0A22-487A-A687-61FB58A6F16A}" type="slidenum">
              <a:rPr lang="en-US" smtClean="0"/>
              <a:pPr/>
              <a:t>16</a:t>
            </a:fld>
            <a:endParaRPr lang="en-US" dirty="0"/>
          </a:p>
        </p:txBody>
      </p:sp>
      <p:sp>
        <p:nvSpPr>
          <p:cNvPr id="4" name="Title 3">
            <a:extLst>
              <a:ext uri="{FF2B5EF4-FFF2-40B4-BE49-F238E27FC236}">
                <a16:creationId xmlns:a16="http://schemas.microsoft.com/office/drawing/2014/main" id="{D13C3B1A-954B-380B-79C7-ABCBC7F16F1B}"/>
              </a:ext>
            </a:extLst>
          </p:cNvPr>
          <p:cNvSpPr>
            <a:spLocks noGrp="1"/>
          </p:cNvSpPr>
          <p:nvPr>
            <p:ph type="title"/>
          </p:nvPr>
        </p:nvSpPr>
        <p:spPr/>
        <p:txBody>
          <a:bodyPr/>
          <a:lstStyle/>
          <a:p>
            <a:r>
              <a:rPr lang="en-US" sz="2750" b="1" baseline="0" dirty="0">
                <a:solidFill>
                  <a:srgbClr val="FFFFFF"/>
                </a:solidFill>
                <a:latin typeface="Arial"/>
              </a:rPr>
              <a:t>Two-Way Binding</a:t>
            </a:r>
            <a:r>
              <a:rPr lang="en-US" sz="2750" dirty="0">
                <a:latin typeface="Arial"/>
                <a:ea typeface="Arial"/>
                <a:cs typeface="Arial"/>
              </a:rPr>
              <a:t>​ Example</a:t>
            </a:r>
            <a:endParaRPr lang="en-US" dirty="0"/>
          </a:p>
        </p:txBody>
      </p:sp>
      <p:pic>
        <p:nvPicPr>
          <p:cNvPr id="6" name="Picture 5" descr="A black background with pink letters&#10;&#10;Description automatically generated">
            <a:extLst>
              <a:ext uri="{FF2B5EF4-FFF2-40B4-BE49-F238E27FC236}">
                <a16:creationId xmlns:a16="http://schemas.microsoft.com/office/drawing/2014/main" id="{55F709A6-74CF-F49C-0558-81C86C0B63B2}"/>
              </a:ext>
            </a:extLst>
          </p:cNvPr>
          <p:cNvPicPr>
            <a:picLocks noChangeAspect="1"/>
          </p:cNvPicPr>
          <p:nvPr/>
        </p:nvPicPr>
        <p:blipFill>
          <a:blip r:embed="rId3"/>
          <a:stretch>
            <a:fillRect/>
          </a:stretch>
        </p:blipFill>
        <p:spPr>
          <a:xfrm>
            <a:off x="1670469" y="5648954"/>
            <a:ext cx="8908570" cy="1124129"/>
          </a:xfrm>
          <a:prstGeom prst="rect">
            <a:avLst/>
          </a:prstGeom>
        </p:spPr>
      </p:pic>
      <p:pic>
        <p:nvPicPr>
          <p:cNvPr id="7" name="Picture 6" descr="A screen shot of a computer program&#10;&#10;Description automatically generated">
            <a:extLst>
              <a:ext uri="{FF2B5EF4-FFF2-40B4-BE49-F238E27FC236}">
                <a16:creationId xmlns:a16="http://schemas.microsoft.com/office/drawing/2014/main" id="{F169EF23-E80B-62AD-169B-FDC3EAFE396B}"/>
              </a:ext>
            </a:extLst>
          </p:cNvPr>
          <p:cNvPicPr>
            <a:picLocks noChangeAspect="1"/>
          </p:cNvPicPr>
          <p:nvPr/>
        </p:nvPicPr>
        <p:blipFill>
          <a:blip r:embed="rId4"/>
          <a:stretch>
            <a:fillRect/>
          </a:stretch>
        </p:blipFill>
        <p:spPr>
          <a:xfrm>
            <a:off x="7316278" y="1208956"/>
            <a:ext cx="6381390" cy="3965634"/>
          </a:xfrm>
          <a:prstGeom prst="rect">
            <a:avLst/>
          </a:prstGeom>
        </p:spPr>
      </p:pic>
    </p:spTree>
    <p:extLst>
      <p:ext uri="{BB962C8B-B14F-4D97-AF65-F5344CB8AC3E}">
        <p14:creationId xmlns:p14="http://schemas.microsoft.com/office/powerpoint/2010/main" val="27866023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BCD775F2-011F-E41D-00AE-1D89FBC242DE}"/>
              </a:ext>
            </a:extLst>
          </p:cNvPr>
          <p:cNvGraphicFramePr>
            <a:graphicFrameLocks noGrp="1"/>
          </p:cNvGraphicFramePr>
          <p:nvPr>
            <p:ph idx="1"/>
            <p:extLst>
              <p:ext uri="{D42A27DB-BD31-4B8C-83A1-F6EECF244321}">
                <p14:modId xmlns:p14="http://schemas.microsoft.com/office/powerpoint/2010/main" val="2618608902"/>
              </p:ext>
            </p:extLst>
          </p:nvPr>
        </p:nvGraphicFramePr>
        <p:xfrm>
          <a:off x="730460" y="1227587"/>
          <a:ext cx="13165135" cy="6356604"/>
        </p:xfrm>
        <a:graphic>
          <a:graphicData uri="http://schemas.openxmlformats.org/drawingml/2006/table">
            <a:tbl>
              <a:tblPr firstRow="1" bandRow="1">
                <a:tableStyleId>{5C22544A-7EE6-4342-B048-85BDC9FD1C3A}</a:tableStyleId>
              </a:tblPr>
              <a:tblGrid>
                <a:gridCol w="2633027">
                  <a:extLst>
                    <a:ext uri="{9D8B030D-6E8A-4147-A177-3AD203B41FA5}">
                      <a16:colId xmlns:a16="http://schemas.microsoft.com/office/drawing/2014/main" val="1623718086"/>
                    </a:ext>
                  </a:extLst>
                </a:gridCol>
                <a:gridCol w="2633027">
                  <a:extLst>
                    <a:ext uri="{9D8B030D-6E8A-4147-A177-3AD203B41FA5}">
                      <a16:colId xmlns:a16="http://schemas.microsoft.com/office/drawing/2014/main" val="2366220869"/>
                    </a:ext>
                  </a:extLst>
                </a:gridCol>
                <a:gridCol w="2633027">
                  <a:extLst>
                    <a:ext uri="{9D8B030D-6E8A-4147-A177-3AD203B41FA5}">
                      <a16:colId xmlns:a16="http://schemas.microsoft.com/office/drawing/2014/main" val="271254043"/>
                    </a:ext>
                  </a:extLst>
                </a:gridCol>
                <a:gridCol w="2633027">
                  <a:extLst>
                    <a:ext uri="{9D8B030D-6E8A-4147-A177-3AD203B41FA5}">
                      <a16:colId xmlns:a16="http://schemas.microsoft.com/office/drawing/2014/main" val="3763605741"/>
                    </a:ext>
                  </a:extLst>
                </a:gridCol>
                <a:gridCol w="2633027">
                  <a:extLst>
                    <a:ext uri="{9D8B030D-6E8A-4147-A177-3AD203B41FA5}">
                      <a16:colId xmlns:a16="http://schemas.microsoft.com/office/drawing/2014/main" val="3155616440"/>
                    </a:ext>
                  </a:extLst>
                </a:gridCol>
              </a:tblGrid>
              <a:tr h="370840">
                <a:tc>
                  <a:txBody>
                    <a:bodyPr/>
                    <a:lstStyle/>
                    <a:p>
                      <a:pPr lvl="0">
                        <a:buNone/>
                      </a:pPr>
                      <a:r>
                        <a:rPr lang="en-US" sz="2150" b="0" i="0" u="none" strike="noStrike" noProof="0" dirty="0">
                          <a:latin typeface="Times New Roman"/>
                        </a:rPr>
                        <a:t>Type</a:t>
                      </a:r>
                      <a:endParaRPr lang="en-US" dirty="0"/>
                    </a:p>
                  </a:txBody>
                  <a:tcPr/>
                </a:tc>
                <a:tc>
                  <a:txBody>
                    <a:bodyPr/>
                    <a:lstStyle/>
                    <a:p>
                      <a:pPr lvl="0">
                        <a:buNone/>
                      </a:pPr>
                      <a:r>
                        <a:rPr lang="en-US" sz="2150" b="0" i="0" u="none" strike="noStrike" noProof="0" dirty="0"/>
                        <a:t>Direction</a:t>
                      </a:r>
                      <a:endParaRPr lang="en-US" dirty="0"/>
                    </a:p>
                  </a:txBody>
                  <a:tcPr/>
                </a:tc>
                <a:tc>
                  <a:txBody>
                    <a:bodyPr/>
                    <a:lstStyle/>
                    <a:p>
                      <a:pPr lvl="0">
                        <a:buNone/>
                      </a:pPr>
                      <a:r>
                        <a:rPr lang="en-US" sz="2150" b="0" i="0" u="none" strike="noStrike" noProof="0" dirty="0">
                          <a:latin typeface="Times New Roman"/>
                        </a:rPr>
                        <a:t>Syntax</a:t>
                      </a:r>
                      <a:endParaRPr lang="en-US" dirty="0"/>
                    </a:p>
                  </a:txBody>
                  <a:tcPr/>
                </a:tc>
                <a:tc>
                  <a:txBody>
                    <a:bodyPr/>
                    <a:lstStyle/>
                    <a:p>
                      <a:pPr lvl="0">
                        <a:buNone/>
                      </a:pPr>
                      <a:r>
                        <a:rPr lang="en-US" sz="2150" b="0" i="0" u="none" strike="noStrike" noProof="0" dirty="0">
                          <a:latin typeface="Times New Roman"/>
                        </a:rPr>
                        <a:t>Description</a:t>
                      </a:r>
                      <a:endParaRPr lang="en-US" dirty="0"/>
                    </a:p>
                  </a:txBody>
                  <a:tcPr/>
                </a:tc>
                <a:tc>
                  <a:txBody>
                    <a:bodyPr/>
                    <a:lstStyle/>
                    <a:p>
                      <a:pPr lvl="0" algn="l">
                        <a:lnSpc>
                          <a:spcPct val="100000"/>
                        </a:lnSpc>
                        <a:spcBef>
                          <a:spcPts val="0"/>
                        </a:spcBef>
                        <a:spcAft>
                          <a:spcPts val="0"/>
                        </a:spcAft>
                        <a:buNone/>
                      </a:pPr>
                      <a:r>
                        <a:rPr lang="en-US" b="1" dirty="0"/>
                        <a:t>Use Case</a:t>
                      </a:r>
                      <a:endParaRPr lang="en-US" dirty="0"/>
                    </a:p>
                  </a:txBody>
                  <a:tcPr/>
                </a:tc>
                <a:extLst>
                  <a:ext uri="{0D108BD9-81ED-4DB2-BD59-A6C34878D82A}">
                    <a16:rowId xmlns:a16="http://schemas.microsoft.com/office/drawing/2014/main" val="2671839142"/>
                  </a:ext>
                </a:extLst>
              </a:tr>
              <a:tr h="370840">
                <a:tc>
                  <a:txBody>
                    <a:bodyPr/>
                    <a:lstStyle/>
                    <a:p>
                      <a:pPr lvl="0" algn="l">
                        <a:lnSpc>
                          <a:spcPct val="100000"/>
                        </a:lnSpc>
                        <a:spcBef>
                          <a:spcPts val="0"/>
                        </a:spcBef>
                        <a:spcAft>
                          <a:spcPts val="0"/>
                        </a:spcAft>
                        <a:buNone/>
                      </a:pPr>
                      <a:r>
                        <a:rPr lang="en-US" b="1" dirty="0"/>
                        <a:t>1. Interpolation</a:t>
                      </a:r>
                      <a:endParaRPr lang="en-US" dirty="0"/>
                    </a:p>
                    <a:p>
                      <a:pPr lvl="0">
                        <a:buNone/>
                      </a:pPr>
                      <a:endParaRPr lang="en-US" dirty="0"/>
                    </a:p>
                  </a:txBody>
                  <a:tcPr/>
                </a:tc>
                <a:tc>
                  <a:txBody>
                    <a:bodyPr/>
                    <a:lstStyle/>
                    <a:p>
                      <a:pPr lvl="0">
                        <a:buNone/>
                      </a:pPr>
                      <a:r>
                        <a:rPr lang="en-US" sz="2150" b="0" i="0" u="none" strike="noStrike" baseline="0" noProof="0" dirty="0">
                          <a:solidFill>
                            <a:srgbClr val="0070C0"/>
                          </a:solidFill>
                          <a:latin typeface="Times New Roman"/>
                        </a:rPr>
                        <a:t>Component → View</a:t>
                      </a:r>
                      <a:endParaRPr lang="en-US" dirty="0"/>
                    </a:p>
                  </a:txBody>
                  <a:tcPr/>
                </a:tc>
                <a:tc>
                  <a:txBody>
                    <a:bodyPr/>
                    <a:lstStyle/>
                    <a:p>
                      <a:pPr lvl="0">
                        <a:buNone/>
                      </a:pPr>
                      <a:r>
                        <a:rPr lang="en-US" sz="2150" b="0" i="0" u="none" strike="noStrike" noProof="0" dirty="0">
                          <a:latin typeface="Times New Roman"/>
                        </a:rPr>
                        <a:t>{{ expression }}</a:t>
                      </a:r>
                      <a:endParaRPr lang="en-US" dirty="0"/>
                    </a:p>
                  </a:txBody>
                  <a:tcPr/>
                </a:tc>
                <a:tc>
                  <a:txBody>
                    <a:bodyPr/>
                    <a:lstStyle/>
                    <a:p>
                      <a:pPr lvl="0">
                        <a:buNone/>
                      </a:pPr>
                      <a:r>
                        <a:rPr lang="en-US" sz="2150" b="0" i="0" u="none" strike="noStrike" noProof="0" dirty="0">
                          <a:latin typeface="Times New Roman"/>
                        </a:rPr>
                        <a:t>Displays dynamic data from the component in the HTML view.</a:t>
                      </a:r>
                      <a:endParaRPr lang="en-US" dirty="0"/>
                    </a:p>
                  </a:txBody>
                  <a:tcPr/>
                </a:tc>
                <a:tc>
                  <a:txBody>
                    <a:bodyPr/>
                    <a:lstStyle/>
                    <a:p>
                      <a:pPr lvl="0">
                        <a:buNone/>
                      </a:pPr>
                      <a:r>
                        <a:rPr lang="en-US" sz="2150" b="0" i="0" u="none" strike="noStrike" noProof="0" dirty="0"/>
                        <a:t>Display component data in the view.</a:t>
                      </a:r>
                      <a:endParaRPr lang="en-US" dirty="0"/>
                    </a:p>
                  </a:txBody>
                  <a:tcPr/>
                </a:tc>
                <a:extLst>
                  <a:ext uri="{0D108BD9-81ED-4DB2-BD59-A6C34878D82A}">
                    <a16:rowId xmlns:a16="http://schemas.microsoft.com/office/drawing/2014/main" val="1029557305"/>
                  </a:ext>
                </a:extLst>
              </a:tr>
              <a:tr h="370840">
                <a:tc>
                  <a:txBody>
                    <a:bodyPr/>
                    <a:lstStyle/>
                    <a:p>
                      <a:pPr lvl="0">
                        <a:buNone/>
                      </a:pPr>
                      <a:r>
                        <a:rPr lang="en-US" sz="2150" b="1" i="0" u="none" strike="noStrike" noProof="0" dirty="0">
                          <a:latin typeface="Times New Roman"/>
                        </a:rPr>
                        <a:t>2. Property Binding</a:t>
                      </a:r>
                      <a:endParaRPr lang="en-US" b="1" dirty="0"/>
                    </a:p>
                  </a:txBody>
                  <a:tcPr/>
                </a:tc>
                <a:tc>
                  <a:txBody>
                    <a:bodyPr/>
                    <a:lstStyle/>
                    <a:p>
                      <a:pPr lvl="0">
                        <a:buNone/>
                      </a:pPr>
                      <a:r>
                        <a:rPr lang="en-US" sz="2150" b="0" i="0" u="none" strike="noStrike" noProof="0" dirty="0"/>
                        <a:t>Component → View</a:t>
                      </a:r>
                      <a:endParaRPr lang="en-US" dirty="0"/>
                    </a:p>
                  </a:txBody>
                  <a:tcPr/>
                </a:tc>
                <a:tc>
                  <a:txBody>
                    <a:bodyPr/>
                    <a:lstStyle/>
                    <a:p>
                      <a:pPr lvl="0">
                        <a:buNone/>
                      </a:pPr>
                      <a:r>
                        <a:rPr lang="en-US" sz="2150" b="0" i="0" u="none" strike="noStrike" noProof="0" dirty="0">
                          <a:latin typeface="Times New Roman"/>
                        </a:rPr>
                        <a:t>[property]="value"</a:t>
                      </a:r>
                      <a:endParaRPr lang="en-US" dirty="0"/>
                    </a:p>
                  </a:txBody>
                  <a:tcPr/>
                </a:tc>
                <a:tc>
                  <a:txBody>
                    <a:bodyPr/>
                    <a:lstStyle/>
                    <a:p>
                      <a:pPr lvl="0">
                        <a:buNone/>
                      </a:pPr>
                      <a:r>
                        <a:rPr lang="en-US" sz="2150" b="0" i="0" u="none" strike="noStrike" noProof="0" dirty="0">
                          <a:latin typeface="Times New Roman"/>
                        </a:rPr>
                        <a:t>Binds data from the component to an HTML element property.</a:t>
                      </a:r>
                      <a:endParaRPr lang="en-US" dirty="0"/>
                    </a:p>
                  </a:txBody>
                  <a:tcPr/>
                </a:tc>
                <a:tc>
                  <a:txBody>
                    <a:bodyPr/>
                    <a:lstStyle/>
                    <a:p>
                      <a:pPr lvl="0">
                        <a:buNone/>
                      </a:pPr>
                      <a:r>
                        <a:rPr lang="en-US" sz="2150" b="0" i="0" u="none" strike="noStrike" noProof="0" dirty="0"/>
                        <a:t>Bind values to HTML element properties.</a:t>
                      </a:r>
                      <a:endParaRPr lang="en-US" dirty="0"/>
                    </a:p>
                  </a:txBody>
                  <a:tcPr/>
                </a:tc>
                <a:extLst>
                  <a:ext uri="{0D108BD9-81ED-4DB2-BD59-A6C34878D82A}">
                    <a16:rowId xmlns:a16="http://schemas.microsoft.com/office/drawing/2014/main" val="4028569681"/>
                  </a:ext>
                </a:extLst>
              </a:tr>
              <a:tr h="370840">
                <a:tc>
                  <a:txBody>
                    <a:bodyPr/>
                    <a:lstStyle/>
                    <a:p>
                      <a:pPr lvl="0">
                        <a:buNone/>
                      </a:pPr>
                      <a:r>
                        <a:rPr lang="en-US" sz="2150" b="1" i="0" u="none" strike="noStrike" noProof="0" dirty="0">
                          <a:latin typeface="Times New Roman"/>
                        </a:rPr>
                        <a:t>3. Event Binding</a:t>
                      </a:r>
                      <a:endParaRPr lang="en-US" b="1" dirty="0"/>
                    </a:p>
                  </a:txBody>
                  <a:tcPr/>
                </a:tc>
                <a:tc>
                  <a:txBody>
                    <a:bodyPr/>
                    <a:lstStyle/>
                    <a:p>
                      <a:pPr lvl="0" algn="l">
                        <a:lnSpc>
                          <a:spcPct val="100000"/>
                        </a:lnSpc>
                        <a:spcBef>
                          <a:spcPts val="0"/>
                        </a:spcBef>
                        <a:spcAft>
                          <a:spcPts val="0"/>
                        </a:spcAft>
                        <a:buNone/>
                      </a:pPr>
                      <a:r>
                        <a:rPr lang="en-US" dirty="0"/>
                        <a:t>View → Component</a:t>
                      </a:r>
                    </a:p>
                    <a:p>
                      <a:pPr lvl="0">
                        <a:buNone/>
                      </a:pPr>
                      <a:endParaRPr lang="en-US" sz="2150" b="0" i="0" u="none" strike="noStrike" noProof="0" dirty="0">
                        <a:latin typeface="Times New Roman"/>
                      </a:endParaRPr>
                    </a:p>
                  </a:txBody>
                  <a:tcPr/>
                </a:tc>
                <a:tc>
                  <a:txBody>
                    <a:bodyPr/>
                    <a:lstStyle/>
                    <a:p>
                      <a:pPr lvl="0">
                        <a:buNone/>
                      </a:pPr>
                      <a:r>
                        <a:rPr lang="en-US" sz="2150" b="0" i="0" u="none" strike="noStrike" noProof="0" dirty="0">
                          <a:latin typeface="Times New Roman"/>
                        </a:rPr>
                        <a:t>(event)="handler"</a:t>
                      </a:r>
                      <a:endParaRPr lang="en-US" dirty="0"/>
                    </a:p>
                  </a:txBody>
                  <a:tcPr/>
                </a:tc>
                <a:tc>
                  <a:txBody>
                    <a:bodyPr/>
                    <a:lstStyle/>
                    <a:p>
                      <a:pPr lvl="0">
                        <a:buNone/>
                      </a:pPr>
                      <a:r>
                        <a:rPr lang="en-US" sz="2150" b="0" i="0" u="none" strike="noStrike" noProof="0" dirty="0">
                          <a:latin typeface="Times New Roman"/>
                        </a:rPr>
                        <a:t>Handles user events like clicks or input changes by invoking a method in the component.</a:t>
                      </a:r>
                      <a:endParaRPr lang="en-US" dirty="0"/>
                    </a:p>
                  </a:txBody>
                  <a:tcPr/>
                </a:tc>
                <a:tc>
                  <a:txBody>
                    <a:bodyPr/>
                    <a:lstStyle/>
                    <a:p>
                      <a:pPr lvl="0">
                        <a:buNone/>
                      </a:pPr>
                      <a:r>
                        <a:rPr lang="en-US" sz="2150" b="0" i="0" u="none" strike="noStrike" noProof="0" dirty="0"/>
                        <a:t>Capture user events and execute logic.</a:t>
                      </a:r>
                      <a:endParaRPr lang="en-US" dirty="0"/>
                    </a:p>
                  </a:txBody>
                  <a:tcPr/>
                </a:tc>
                <a:extLst>
                  <a:ext uri="{0D108BD9-81ED-4DB2-BD59-A6C34878D82A}">
                    <a16:rowId xmlns:a16="http://schemas.microsoft.com/office/drawing/2014/main" val="2587999300"/>
                  </a:ext>
                </a:extLst>
              </a:tr>
              <a:tr h="370840">
                <a:tc>
                  <a:txBody>
                    <a:bodyPr/>
                    <a:lstStyle/>
                    <a:p>
                      <a:pPr lvl="0">
                        <a:buNone/>
                      </a:pPr>
                      <a:r>
                        <a:rPr lang="en-US" sz="2150" b="1" i="0" u="none" strike="noStrike" noProof="0" dirty="0">
                          <a:latin typeface="Times New Roman"/>
                        </a:rPr>
                        <a:t>4. Two-Way Binding</a:t>
                      </a:r>
                      <a:endParaRPr lang="en-US" b="1" dirty="0"/>
                    </a:p>
                  </a:txBody>
                  <a:tcPr/>
                </a:tc>
                <a:tc>
                  <a:txBody>
                    <a:bodyPr/>
                    <a:lstStyle/>
                    <a:p>
                      <a:pPr lvl="0">
                        <a:buNone/>
                      </a:pPr>
                      <a:r>
                        <a:rPr lang="en-US" sz="2150" b="0" i="0" u="none" strike="noStrike" noProof="0" dirty="0"/>
                        <a:t>Component ↔ View</a:t>
                      </a:r>
                      <a:endParaRPr lang="en-US" dirty="0"/>
                    </a:p>
                  </a:txBody>
                  <a:tcPr/>
                </a:tc>
                <a:tc>
                  <a:txBody>
                    <a:bodyPr/>
                    <a:lstStyle/>
                    <a:p>
                      <a:pPr lvl="0">
                        <a:buNone/>
                      </a:pPr>
                      <a:r>
                        <a:rPr lang="en-US" sz="2150" b="0" i="0" u="none" strike="noStrike" noProof="0" dirty="0">
                          <a:latin typeface="Times New Roman"/>
                        </a:rPr>
                        <a:t>[(</a:t>
                      </a:r>
                      <a:r>
                        <a:rPr lang="en-US" sz="2150" b="0" i="0" u="none" strike="noStrike" noProof="0" dirty="0" err="1">
                          <a:latin typeface="Times New Roman"/>
                        </a:rPr>
                        <a:t>ngModel</a:t>
                      </a:r>
                      <a:r>
                        <a:rPr lang="en-US" sz="2150" b="0" i="0" u="none" strike="noStrike" noProof="0" dirty="0">
                          <a:latin typeface="Times New Roman"/>
                        </a:rPr>
                        <a:t>)]="value"</a:t>
                      </a:r>
                      <a:endParaRPr lang="en-US" dirty="0"/>
                    </a:p>
                  </a:txBody>
                  <a:tcPr/>
                </a:tc>
                <a:tc>
                  <a:txBody>
                    <a:bodyPr/>
                    <a:lstStyle/>
                    <a:p>
                      <a:pPr lvl="0">
                        <a:buNone/>
                      </a:pPr>
                      <a:r>
                        <a:rPr lang="en-US" sz="2150" b="0" i="0" u="none" strike="noStrike" noProof="0" dirty="0">
                          <a:latin typeface="Times New Roman"/>
                        </a:rPr>
                        <a:t>Synchronizes data between the component and the view.</a:t>
                      </a:r>
                      <a:endParaRPr lang="en-US" dirty="0"/>
                    </a:p>
                  </a:txBody>
                  <a:tcPr/>
                </a:tc>
                <a:tc>
                  <a:txBody>
                    <a:bodyPr/>
                    <a:lstStyle/>
                    <a:p>
                      <a:pPr lvl="0">
                        <a:buNone/>
                      </a:pPr>
                      <a:r>
                        <a:rPr lang="en-US" sz="2150" b="0" i="0" u="none" strike="noStrike" noProof="0" dirty="0"/>
                        <a:t>Synchronize model and view for form inputs.</a:t>
                      </a:r>
                      <a:endParaRPr lang="en-US" dirty="0"/>
                    </a:p>
                  </a:txBody>
                  <a:tcPr/>
                </a:tc>
                <a:extLst>
                  <a:ext uri="{0D108BD9-81ED-4DB2-BD59-A6C34878D82A}">
                    <a16:rowId xmlns:a16="http://schemas.microsoft.com/office/drawing/2014/main" val="1470434396"/>
                  </a:ext>
                </a:extLst>
              </a:tr>
            </a:tbl>
          </a:graphicData>
        </a:graphic>
      </p:graphicFrame>
      <p:sp>
        <p:nvSpPr>
          <p:cNvPr id="3" name="Slide Number Placeholder 2">
            <a:extLst>
              <a:ext uri="{FF2B5EF4-FFF2-40B4-BE49-F238E27FC236}">
                <a16:creationId xmlns:a16="http://schemas.microsoft.com/office/drawing/2014/main" id="{28A0DDEC-0ADD-E41E-0D9F-6276640DB4C5}"/>
              </a:ext>
            </a:extLst>
          </p:cNvPr>
          <p:cNvSpPr>
            <a:spLocks noGrp="1"/>
          </p:cNvSpPr>
          <p:nvPr>
            <p:ph type="sldNum" sz="quarter" idx="4"/>
          </p:nvPr>
        </p:nvSpPr>
        <p:spPr/>
        <p:txBody>
          <a:bodyPr/>
          <a:lstStyle/>
          <a:p>
            <a:fld id="{31D26D55-0A22-487A-A687-61FB58A6F16A}" type="slidenum">
              <a:rPr lang="en-US" smtClean="0"/>
              <a:pPr/>
              <a:t>17</a:t>
            </a:fld>
            <a:endParaRPr lang="en-US" dirty="0"/>
          </a:p>
        </p:txBody>
      </p:sp>
      <p:sp>
        <p:nvSpPr>
          <p:cNvPr id="4" name="Title 3">
            <a:extLst>
              <a:ext uri="{FF2B5EF4-FFF2-40B4-BE49-F238E27FC236}">
                <a16:creationId xmlns:a16="http://schemas.microsoft.com/office/drawing/2014/main" id="{9393AD0F-4A9C-71DD-93CA-A7227273766A}"/>
              </a:ext>
            </a:extLst>
          </p:cNvPr>
          <p:cNvSpPr>
            <a:spLocks noGrp="1"/>
          </p:cNvSpPr>
          <p:nvPr>
            <p:ph type="title"/>
          </p:nvPr>
        </p:nvSpPr>
        <p:spPr/>
        <p:txBody>
          <a:bodyPr/>
          <a:lstStyle/>
          <a:p>
            <a:r>
              <a:rPr lang="en-US" sz="2750" dirty="0">
                <a:ea typeface="+mj-lt"/>
                <a:cs typeface="+mj-lt"/>
              </a:rPr>
              <a:t>Data Binding Summary</a:t>
            </a:r>
            <a:endParaRPr lang="en-US" dirty="0"/>
          </a:p>
        </p:txBody>
      </p:sp>
    </p:spTree>
    <p:extLst>
      <p:ext uri="{BB962C8B-B14F-4D97-AF65-F5344CB8AC3E}">
        <p14:creationId xmlns:p14="http://schemas.microsoft.com/office/powerpoint/2010/main" val="25351534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5D5E434-E31F-7FC2-B440-CDEBF65D4E14}"/>
              </a:ext>
            </a:extLst>
          </p:cNvPr>
          <p:cNvSpPr>
            <a:spLocks noGrp="1"/>
          </p:cNvSpPr>
          <p:nvPr>
            <p:ph idx="1"/>
          </p:nvPr>
        </p:nvSpPr>
        <p:spPr/>
        <p:txBody>
          <a:bodyPr vert="horz" lIns="91440" tIns="45720" rIns="91440" bIns="45720" rtlCol="0" anchor="t">
            <a:normAutofit fontScale="92500"/>
          </a:bodyPr>
          <a:lstStyle/>
          <a:p>
            <a:r>
              <a:rPr lang="en-US" sz="3350" b="1" dirty="0">
                <a:ea typeface="+mj-lt"/>
                <a:cs typeface="+mj-lt"/>
              </a:rPr>
              <a:t>Structural Directives</a:t>
            </a:r>
            <a:r>
              <a:rPr lang="en-US" sz="3350" dirty="0">
                <a:ea typeface="+mj-lt"/>
                <a:cs typeface="+mj-lt"/>
              </a:rPr>
              <a:t> in Angular are directives that modify the structure of the DOM by adding or removing elements. </a:t>
            </a:r>
            <a:endParaRPr lang="en-US" dirty="0">
              <a:ea typeface="+mj-lt"/>
              <a:cs typeface="+mj-lt"/>
            </a:endParaRPr>
          </a:p>
          <a:p>
            <a:r>
              <a:rPr lang="en-US" sz="3350" dirty="0">
                <a:ea typeface="+mj-lt"/>
                <a:cs typeface="+mj-lt"/>
              </a:rPr>
              <a:t>Change the layout of the view by dynamically altering the DOM tree.</a:t>
            </a:r>
          </a:p>
          <a:p>
            <a:r>
              <a:rPr lang="en-US" sz="3350" dirty="0">
                <a:cs typeface="Arial"/>
              </a:rPr>
              <a:t>Key types:</a:t>
            </a:r>
          </a:p>
          <a:p>
            <a:pPr lvl="1">
              <a:buFont typeface="Courier New" panose="020B0604020202020204" pitchFamily="34" charset="0"/>
              <a:buChar char="o"/>
            </a:pPr>
            <a:r>
              <a:rPr lang="en-US" sz="2850" dirty="0" err="1">
                <a:ea typeface="+mj-lt"/>
                <a:cs typeface="+mj-lt"/>
              </a:rPr>
              <a:t>ngIf</a:t>
            </a:r>
          </a:p>
          <a:p>
            <a:pPr lvl="1">
              <a:buFont typeface="Courier New" panose="020B0604020202020204" pitchFamily="34" charset="0"/>
              <a:buChar char="o"/>
            </a:pPr>
            <a:r>
              <a:rPr lang="en-US" sz="2850" dirty="0" err="1">
                <a:ea typeface="+mj-lt"/>
                <a:cs typeface="+mj-lt"/>
              </a:rPr>
              <a:t>ngFor</a:t>
            </a:r>
          </a:p>
          <a:p>
            <a:pPr lvl="1">
              <a:buFont typeface="Courier New" panose="020B0604020202020204" pitchFamily="34" charset="0"/>
              <a:buChar char="o"/>
            </a:pPr>
            <a:r>
              <a:rPr lang="en-US" sz="2850" dirty="0" err="1">
                <a:ea typeface="+mj-lt"/>
                <a:cs typeface="+mj-lt"/>
              </a:rPr>
              <a:t>ngSwitch</a:t>
            </a:r>
            <a:endParaRPr lang="en-US" sz="2850" dirty="0" err="1">
              <a:cs typeface="Arial"/>
            </a:endParaRPr>
          </a:p>
        </p:txBody>
      </p:sp>
      <p:sp>
        <p:nvSpPr>
          <p:cNvPr id="3" name="Slide Number Placeholder 2">
            <a:extLst>
              <a:ext uri="{FF2B5EF4-FFF2-40B4-BE49-F238E27FC236}">
                <a16:creationId xmlns:a16="http://schemas.microsoft.com/office/drawing/2014/main" id="{337FF7E2-50C1-A12B-3D07-F89E5B3A38AC}"/>
              </a:ext>
            </a:extLst>
          </p:cNvPr>
          <p:cNvSpPr>
            <a:spLocks noGrp="1"/>
          </p:cNvSpPr>
          <p:nvPr>
            <p:ph type="sldNum" sz="quarter" idx="4"/>
          </p:nvPr>
        </p:nvSpPr>
        <p:spPr/>
        <p:txBody>
          <a:bodyPr/>
          <a:lstStyle/>
          <a:p>
            <a:fld id="{31D26D55-0A22-487A-A687-61FB58A6F16A}" type="slidenum">
              <a:rPr lang="en-US" smtClean="0"/>
              <a:pPr/>
              <a:t>18</a:t>
            </a:fld>
            <a:endParaRPr lang="en-US" dirty="0"/>
          </a:p>
        </p:txBody>
      </p:sp>
      <p:sp>
        <p:nvSpPr>
          <p:cNvPr id="4" name="Title 3">
            <a:extLst>
              <a:ext uri="{FF2B5EF4-FFF2-40B4-BE49-F238E27FC236}">
                <a16:creationId xmlns:a16="http://schemas.microsoft.com/office/drawing/2014/main" id="{6F75DD6A-D9F8-8F08-0BB3-314F73CF4AE3}"/>
              </a:ext>
            </a:extLst>
          </p:cNvPr>
          <p:cNvSpPr>
            <a:spLocks noGrp="1"/>
          </p:cNvSpPr>
          <p:nvPr>
            <p:ph type="title"/>
          </p:nvPr>
        </p:nvSpPr>
        <p:spPr/>
        <p:txBody>
          <a:bodyPr>
            <a:normAutofit/>
          </a:bodyPr>
          <a:lstStyle/>
          <a:p>
            <a:r>
              <a:rPr lang="en-US" sz="2750" dirty="0">
                <a:cs typeface="Arial"/>
              </a:rPr>
              <a:t>Angular Structure Directive</a:t>
            </a:r>
            <a:endParaRPr lang="en-US" dirty="0"/>
          </a:p>
        </p:txBody>
      </p:sp>
    </p:spTree>
    <p:extLst>
      <p:ext uri="{BB962C8B-B14F-4D97-AF65-F5344CB8AC3E}">
        <p14:creationId xmlns:p14="http://schemas.microsoft.com/office/powerpoint/2010/main" val="23363569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A76A488-8515-D935-DD9D-9C0D3DB1D665}"/>
              </a:ext>
            </a:extLst>
          </p:cNvPr>
          <p:cNvSpPr>
            <a:spLocks noGrp="1"/>
          </p:cNvSpPr>
          <p:nvPr>
            <p:ph idx="1"/>
          </p:nvPr>
        </p:nvSpPr>
        <p:spPr>
          <a:xfrm>
            <a:off x="747000" y="1917577"/>
            <a:ext cx="6558251" cy="5494778"/>
          </a:xfrm>
        </p:spPr>
        <p:txBody>
          <a:bodyPr vert="horz" lIns="91440" tIns="45720" rIns="91440" bIns="45720" rtlCol="0" anchor="t">
            <a:normAutofit/>
          </a:bodyPr>
          <a:lstStyle/>
          <a:p>
            <a:r>
              <a:rPr lang="en-US" sz="3350" dirty="0">
                <a:ea typeface="+mj-lt"/>
                <a:cs typeface="+mj-lt"/>
              </a:rPr>
              <a:t>Displays or removes an element based on a </a:t>
            </a:r>
            <a:r>
              <a:rPr lang="en-US" sz="3350" dirty="0" err="1">
                <a:ea typeface="+mj-lt"/>
                <a:cs typeface="+mj-lt"/>
              </a:rPr>
              <a:t>boolean</a:t>
            </a:r>
            <a:r>
              <a:rPr lang="en-US" sz="3350" dirty="0">
                <a:ea typeface="+mj-lt"/>
                <a:cs typeface="+mj-lt"/>
              </a:rPr>
              <a:t> condition.</a:t>
            </a:r>
            <a:endParaRPr lang="en-US" dirty="0"/>
          </a:p>
        </p:txBody>
      </p:sp>
      <p:sp>
        <p:nvSpPr>
          <p:cNvPr id="3" name="Slide Number Placeholder 2">
            <a:extLst>
              <a:ext uri="{FF2B5EF4-FFF2-40B4-BE49-F238E27FC236}">
                <a16:creationId xmlns:a16="http://schemas.microsoft.com/office/drawing/2014/main" id="{3DE36D68-B518-5808-5004-CFF6774D2EB6}"/>
              </a:ext>
            </a:extLst>
          </p:cNvPr>
          <p:cNvSpPr>
            <a:spLocks noGrp="1"/>
          </p:cNvSpPr>
          <p:nvPr>
            <p:ph type="sldNum" sz="quarter" idx="4"/>
          </p:nvPr>
        </p:nvSpPr>
        <p:spPr/>
        <p:txBody>
          <a:bodyPr/>
          <a:lstStyle/>
          <a:p>
            <a:fld id="{31D26D55-0A22-487A-A687-61FB58A6F16A}" type="slidenum">
              <a:rPr lang="en-US" smtClean="0"/>
              <a:pPr/>
              <a:t>19</a:t>
            </a:fld>
            <a:endParaRPr lang="en-US" dirty="0"/>
          </a:p>
        </p:txBody>
      </p:sp>
      <p:sp>
        <p:nvSpPr>
          <p:cNvPr id="4" name="Title 3">
            <a:extLst>
              <a:ext uri="{FF2B5EF4-FFF2-40B4-BE49-F238E27FC236}">
                <a16:creationId xmlns:a16="http://schemas.microsoft.com/office/drawing/2014/main" id="{670A3A63-FC6B-19B6-2958-99CD4FE19823}"/>
              </a:ext>
            </a:extLst>
          </p:cNvPr>
          <p:cNvSpPr>
            <a:spLocks noGrp="1"/>
          </p:cNvSpPr>
          <p:nvPr>
            <p:ph type="title"/>
          </p:nvPr>
        </p:nvSpPr>
        <p:spPr/>
        <p:txBody>
          <a:bodyPr/>
          <a:lstStyle/>
          <a:p>
            <a:r>
              <a:rPr lang="en-US" sz="2750" dirty="0"/>
              <a:t>*</a:t>
            </a:r>
            <a:r>
              <a:rPr lang="en-US" sz="2750" dirty="0" err="1"/>
              <a:t>ngIf</a:t>
            </a:r>
            <a:r>
              <a:rPr lang="en-US" sz="2750" dirty="0"/>
              <a:t> </a:t>
            </a:r>
            <a:r>
              <a:rPr lang="en-US" sz="2800" dirty="0"/>
              <a:t>Directive</a:t>
            </a:r>
            <a:endParaRPr lang="en-US" sz="2750" dirty="0">
              <a:cs typeface="Arial"/>
            </a:endParaRPr>
          </a:p>
        </p:txBody>
      </p:sp>
      <p:pic>
        <p:nvPicPr>
          <p:cNvPr id="7" name="Picture 6" descr="A screen shot of a computer program&#10;&#10;Description automatically generated">
            <a:extLst>
              <a:ext uri="{FF2B5EF4-FFF2-40B4-BE49-F238E27FC236}">
                <a16:creationId xmlns:a16="http://schemas.microsoft.com/office/drawing/2014/main" id="{93374255-B94C-DA13-51D6-13A706F3BC06}"/>
              </a:ext>
            </a:extLst>
          </p:cNvPr>
          <p:cNvPicPr>
            <a:picLocks noChangeAspect="1"/>
          </p:cNvPicPr>
          <p:nvPr/>
        </p:nvPicPr>
        <p:blipFill>
          <a:blip r:embed="rId3"/>
          <a:stretch>
            <a:fillRect/>
          </a:stretch>
        </p:blipFill>
        <p:spPr>
          <a:xfrm>
            <a:off x="7813645" y="1499290"/>
            <a:ext cx="5490174" cy="5921134"/>
          </a:xfrm>
          <a:prstGeom prst="rect">
            <a:avLst/>
          </a:prstGeom>
        </p:spPr>
      </p:pic>
    </p:spTree>
    <p:extLst>
      <p:ext uri="{BB962C8B-B14F-4D97-AF65-F5344CB8AC3E}">
        <p14:creationId xmlns:p14="http://schemas.microsoft.com/office/powerpoint/2010/main" val="6020994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31799A4-2D64-F61C-B12C-762BD74B0BFC}"/>
              </a:ext>
            </a:extLst>
          </p:cNvPr>
          <p:cNvSpPr>
            <a:spLocks noGrp="1"/>
          </p:cNvSpPr>
          <p:nvPr>
            <p:ph idx="1"/>
          </p:nvPr>
        </p:nvSpPr>
        <p:spPr>
          <a:xfrm>
            <a:off x="747000" y="1917577"/>
            <a:ext cx="7696937" cy="5494778"/>
          </a:xfrm>
        </p:spPr>
        <p:txBody>
          <a:bodyPr vert="horz" lIns="91440" tIns="45720" rIns="91440" bIns="45720" rtlCol="0" anchor="t">
            <a:normAutofit/>
          </a:bodyPr>
          <a:lstStyle/>
          <a:p>
            <a:r>
              <a:rPr lang="en-US" sz="3350" dirty="0">
                <a:ea typeface="+mj-lt"/>
                <a:cs typeface="+mj-lt"/>
              </a:rPr>
              <a:t>Iterates over a collection (e.g., an array) and renders a template for each item.</a:t>
            </a:r>
            <a:endParaRPr lang="en-US" dirty="0"/>
          </a:p>
        </p:txBody>
      </p:sp>
      <p:sp>
        <p:nvSpPr>
          <p:cNvPr id="3" name="Slide Number Placeholder 2">
            <a:extLst>
              <a:ext uri="{FF2B5EF4-FFF2-40B4-BE49-F238E27FC236}">
                <a16:creationId xmlns:a16="http://schemas.microsoft.com/office/drawing/2014/main" id="{BEA0EABB-C426-56D6-0CE5-6C4AF28C7BB1}"/>
              </a:ext>
            </a:extLst>
          </p:cNvPr>
          <p:cNvSpPr>
            <a:spLocks noGrp="1"/>
          </p:cNvSpPr>
          <p:nvPr>
            <p:ph type="sldNum" sz="quarter" idx="4"/>
          </p:nvPr>
        </p:nvSpPr>
        <p:spPr/>
        <p:txBody>
          <a:bodyPr/>
          <a:lstStyle/>
          <a:p>
            <a:fld id="{31D26D55-0A22-487A-A687-61FB58A6F16A}" type="slidenum">
              <a:rPr lang="en-US" smtClean="0"/>
              <a:pPr/>
              <a:t>20</a:t>
            </a:fld>
            <a:endParaRPr lang="en-US" dirty="0"/>
          </a:p>
        </p:txBody>
      </p:sp>
      <p:sp>
        <p:nvSpPr>
          <p:cNvPr id="4" name="Title 3">
            <a:extLst>
              <a:ext uri="{FF2B5EF4-FFF2-40B4-BE49-F238E27FC236}">
                <a16:creationId xmlns:a16="http://schemas.microsoft.com/office/drawing/2014/main" id="{79086912-1290-2906-9E00-98FDB1B9D54E}"/>
              </a:ext>
            </a:extLst>
          </p:cNvPr>
          <p:cNvSpPr>
            <a:spLocks noGrp="1"/>
          </p:cNvSpPr>
          <p:nvPr>
            <p:ph type="title"/>
          </p:nvPr>
        </p:nvSpPr>
        <p:spPr/>
        <p:txBody>
          <a:bodyPr/>
          <a:lstStyle/>
          <a:p>
            <a:r>
              <a:rPr lang="en-US" sz="2750" dirty="0">
                <a:latin typeface="Arial"/>
                <a:cs typeface="Arial"/>
              </a:rPr>
              <a:t>*</a:t>
            </a:r>
            <a:r>
              <a:rPr lang="en-US" sz="2750" dirty="0" err="1">
                <a:latin typeface="Arial"/>
                <a:cs typeface="Arial"/>
              </a:rPr>
              <a:t>ngFor</a:t>
            </a:r>
            <a:r>
              <a:rPr lang="en-US" sz="2750" dirty="0">
                <a:ea typeface="+mj-lt"/>
                <a:cs typeface="+mj-lt"/>
              </a:rPr>
              <a:t> Directive</a:t>
            </a:r>
            <a:endParaRPr lang="en-US" dirty="0"/>
          </a:p>
        </p:txBody>
      </p:sp>
      <p:pic>
        <p:nvPicPr>
          <p:cNvPr id="5" name="Picture 4" descr="A screen shot of a computer code&#10;&#10;Description automatically generated">
            <a:extLst>
              <a:ext uri="{FF2B5EF4-FFF2-40B4-BE49-F238E27FC236}">
                <a16:creationId xmlns:a16="http://schemas.microsoft.com/office/drawing/2014/main" id="{E6E1CFF8-90EE-29CF-E88E-0CEC10A7D1E2}"/>
              </a:ext>
            </a:extLst>
          </p:cNvPr>
          <p:cNvPicPr>
            <a:picLocks noChangeAspect="1"/>
          </p:cNvPicPr>
          <p:nvPr/>
        </p:nvPicPr>
        <p:blipFill>
          <a:blip r:embed="rId3"/>
          <a:stretch>
            <a:fillRect/>
          </a:stretch>
        </p:blipFill>
        <p:spPr>
          <a:xfrm>
            <a:off x="8564503" y="2284383"/>
            <a:ext cx="5696488" cy="4747762"/>
          </a:xfrm>
          <a:prstGeom prst="rect">
            <a:avLst/>
          </a:prstGeom>
        </p:spPr>
      </p:pic>
    </p:spTree>
    <p:extLst>
      <p:ext uri="{BB962C8B-B14F-4D97-AF65-F5344CB8AC3E}">
        <p14:creationId xmlns:p14="http://schemas.microsoft.com/office/powerpoint/2010/main" val="6374779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7DEDF6D-1797-B683-65CA-8B25026F772C}"/>
              </a:ext>
            </a:extLst>
          </p:cNvPr>
          <p:cNvSpPr>
            <a:spLocks noGrp="1"/>
          </p:cNvSpPr>
          <p:nvPr>
            <p:ph idx="1"/>
          </p:nvPr>
        </p:nvSpPr>
        <p:spPr>
          <a:xfrm>
            <a:off x="747000" y="1917577"/>
            <a:ext cx="6092425" cy="5494778"/>
          </a:xfrm>
        </p:spPr>
        <p:txBody>
          <a:bodyPr vert="horz" lIns="91440" tIns="45720" rIns="91440" bIns="45720" rtlCol="0" anchor="t">
            <a:normAutofit/>
          </a:bodyPr>
          <a:lstStyle/>
          <a:p>
            <a:r>
              <a:rPr lang="en-US" sz="3350" dirty="0">
                <a:ea typeface="+mj-lt"/>
                <a:cs typeface="+mj-lt"/>
              </a:rPr>
              <a:t>Displays one element from a set of elements based on a condition.</a:t>
            </a:r>
            <a:endParaRPr lang="en-US" dirty="0"/>
          </a:p>
        </p:txBody>
      </p:sp>
      <p:sp>
        <p:nvSpPr>
          <p:cNvPr id="3" name="Slide Number Placeholder 2">
            <a:extLst>
              <a:ext uri="{FF2B5EF4-FFF2-40B4-BE49-F238E27FC236}">
                <a16:creationId xmlns:a16="http://schemas.microsoft.com/office/drawing/2014/main" id="{4ABBE3D6-EA75-C15F-5CAF-6CA12335651C}"/>
              </a:ext>
            </a:extLst>
          </p:cNvPr>
          <p:cNvSpPr>
            <a:spLocks noGrp="1"/>
          </p:cNvSpPr>
          <p:nvPr>
            <p:ph type="sldNum" sz="quarter" idx="4"/>
          </p:nvPr>
        </p:nvSpPr>
        <p:spPr/>
        <p:txBody>
          <a:bodyPr/>
          <a:lstStyle/>
          <a:p>
            <a:fld id="{31D26D55-0A22-487A-A687-61FB58A6F16A}" type="slidenum">
              <a:rPr lang="en-US" smtClean="0"/>
              <a:pPr/>
              <a:t>21</a:t>
            </a:fld>
            <a:endParaRPr lang="en-US" dirty="0"/>
          </a:p>
        </p:txBody>
      </p:sp>
      <p:sp>
        <p:nvSpPr>
          <p:cNvPr id="4" name="Title 3">
            <a:extLst>
              <a:ext uri="{FF2B5EF4-FFF2-40B4-BE49-F238E27FC236}">
                <a16:creationId xmlns:a16="http://schemas.microsoft.com/office/drawing/2014/main" id="{32280A25-8711-239A-5C70-474910DA23DB}"/>
              </a:ext>
            </a:extLst>
          </p:cNvPr>
          <p:cNvSpPr>
            <a:spLocks noGrp="1"/>
          </p:cNvSpPr>
          <p:nvPr>
            <p:ph type="title"/>
          </p:nvPr>
        </p:nvSpPr>
        <p:spPr/>
        <p:txBody>
          <a:bodyPr/>
          <a:lstStyle/>
          <a:p>
            <a:r>
              <a:rPr lang="en-US" sz="2750" dirty="0">
                <a:latin typeface="Arial"/>
                <a:cs typeface="Arial"/>
              </a:rPr>
              <a:t>*</a:t>
            </a:r>
            <a:r>
              <a:rPr lang="en-US" sz="2750" dirty="0" err="1">
                <a:latin typeface="Arial"/>
                <a:cs typeface="Arial"/>
              </a:rPr>
              <a:t>ngSwitch</a:t>
            </a:r>
            <a:r>
              <a:rPr lang="en-US" sz="2750" dirty="0">
                <a:ea typeface="+mj-lt"/>
                <a:cs typeface="+mj-lt"/>
              </a:rPr>
              <a:t> Directive</a:t>
            </a:r>
            <a:endParaRPr lang="en-US" dirty="0"/>
          </a:p>
        </p:txBody>
      </p:sp>
      <p:pic>
        <p:nvPicPr>
          <p:cNvPr id="5" name="Picture 4" descr="A computer screen shot of a program code&#10;&#10;Description automatically generated">
            <a:extLst>
              <a:ext uri="{FF2B5EF4-FFF2-40B4-BE49-F238E27FC236}">
                <a16:creationId xmlns:a16="http://schemas.microsoft.com/office/drawing/2014/main" id="{834CAE96-66FF-81A9-0AB5-B65FF1867B0F}"/>
              </a:ext>
            </a:extLst>
          </p:cNvPr>
          <p:cNvPicPr>
            <a:picLocks noChangeAspect="1"/>
          </p:cNvPicPr>
          <p:nvPr/>
        </p:nvPicPr>
        <p:blipFill>
          <a:blip r:embed="rId3"/>
          <a:stretch>
            <a:fillRect/>
          </a:stretch>
        </p:blipFill>
        <p:spPr>
          <a:xfrm>
            <a:off x="7314840" y="1645578"/>
            <a:ext cx="6556794" cy="6025370"/>
          </a:xfrm>
          <a:prstGeom prst="rect">
            <a:avLst/>
          </a:prstGeom>
        </p:spPr>
      </p:pic>
    </p:spTree>
    <p:extLst>
      <p:ext uri="{BB962C8B-B14F-4D97-AF65-F5344CB8AC3E}">
        <p14:creationId xmlns:p14="http://schemas.microsoft.com/office/powerpoint/2010/main" val="13425541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014AFE-4F49-EDE3-CC11-8E46DAEDD9B6}"/>
              </a:ext>
            </a:extLst>
          </p:cNvPr>
          <p:cNvSpPr>
            <a:spLocks noGrp="1"/>
          </p:cNvSpPr>
          <p:nvPr>
            <p:ph idx="1"/>
          </p:nvPr>
        </p:nvSpPr>
        <p:spPr/>
        <p:txBody>
          <a:bodyPr vert="horz" lIns="91440" tIns="45720" rIns="91440" bIns="45720" rtlCol="0" anchor="t">
            <a:normAutofit/>
          </a:bodyPr>
          <a:lstStyle/>
          <a:p>
            <a:r>
              <a:rPr lang="en-US" sz="2800" dirty="0">
                <a:cs typeface="Arial"/>
              </a:rPr>
              <a:t>Custom structural directives to manipulate the DOM based on custom logic.</a:t>
            </a:r>
          </a:p>
          <a:p>
            <a:r>
              <a:rPr lang="en-US" sz="2800" dirty="0">
                <a:cs typeface="Arial"/>
              </a:rPr>
              <a:t>Steps:</a:t>
            </a:r>
          </a:p>
          <a:p>
            <a:pPr lvl="1">
              <a:buFont typeface="Courier New,monospace" panose="020B0604020202020204" pitchFamily="34" charset="0"/>
              <a:buChar char="o"/>
            </a:pPr>
            <a:r>
              <a:rPr lang="en-US" sz="2400" dirty="0">
                <a:cs typeface="Arial"/>
              </a:rPr>
              <a:t>Create Directive</a:t>
            </a:r>
          </a:p>
          <a:p>
            <a:pPr lvl="1">
              <a:buFont typeface="Courier New,monospace" panose="020B0604020202020204" pitchFamily="34" charset="0"/>
              <a:buChar char="o"/>
            </a:pPr>
            <a:r>
              <a:rPr lang="en-US" sz="2400" dirty="0">
                <a:cs typeface="Arial"/>
              </a:rPr>
              <a:t>Use Directive</a:t>
            </a:r>
          </a:p>
          <a:p>
            <a:pPr lvl="1">
              <a:buFont typeface="Courier New,monospace" panose="020B0604020202020204" pitchFamily="34" charset="0"/>
              <a:buChar char="o"/>
            </a:pPr>
            <a:r>
              <a:rPr lang="en-US" sz="2400" dirty="0">
                <a:cs typeface="Arial"/>
              </a:rPr>
              <a:t>Declare the Directive in a Module</a:t>
            </a:r>
          </a:p>
          <a:p>
            <a:endParaRPr lang="en-US" sz="3350" dirty="0">
              <a:cs typeface="Arial"/>
            </a:endParaRPr>
          </a:p>
        </p:txBody>
      </p:sp>
      <p:sp>
        <p:nvSpPr>
          <p:cNvPr id="3" name="Slide Number Placeholder 2">
            <a:extLst>
              <a:ext uri="{FF2B5EF4-FFF2-40B4-BE49-F238E27FC236}">
                <a16:creationId xmlns:a16="http://schemas.microsoft.com/office/drawing/2014/main" id="{FD62B8B2-39D1-767B-4364-0CEDA356DD95}"/>
              </a:ext>
            </a:extLst>
          </p:cNvPr>
          <p:cNvSpPr>
            <a:spLocks noGrp="1"/>
          </p:cNvSpPr>
          <p:nvPr>
            <p:ph type="sldNum" sz="quarter" idx="4"/>
          </p:nvPr>
        </p:nvSpPr>
        <p:spPr/>
        <p:txBody>
          <a:bodyPr/>
          <a:lstStyle/>
          <a:p>
            <a:fld id="{31D26D55-0A22-487A-A687-61FB58A6F16A}" type="slidenum">
              <a:rPr lang="en-US" smtClean="0"/>
              <a:pPr/>
              <a:t>22</a:t>
            </a:fld>
            <a:endParaRPr lang="en-US" dirty="0"/>
          </a:p>
        </p:txBody>
      </p:sp>
      <p:sp>
        <p:nvSpPr>
          <p:cNvPr id="4" name="Title 3">
            <a:extLst>
              <a:ext uri="{FF2B5EF4-FFF2-40B4-BE49-F238E27FC236}">
                <a16:creationId xmlns:a16="http://schemas.microsoft.com/office/drawing/2014/main" id="{6DD91011-71BE-E0AA-986F-AA9A025E89C0}"/>
              </a:ext>
            </a:extLst>
          </p:cNvPr>
          <p:cNvSpPr>
            <a:spLocks noGrp="1"/>
          </p:cNvSpPr>
          <p:nvPr>
            <p:ph type="title"/>
          </p:nvPr>
        </p:nvSpPr>
        <p:spPr/>
        <p:txBody>
          <a:bodyPr>
            <a:normAutofit/>
          </a:bodyPr>
          <a:lstStyle/>
          <a:p>
            <a:r>
              <a:rPr lang="en-US" sz="2800" dirty="0">
                <a:cs typeface="Arial"/>
              </a:rPr>
              <a:t>Custom Structural Directives</a:t>
            </a:r>
            <a:endParaRPr lang="en-US" sz="2800" b="0" dirty="0">
              <a:solidFill>
                <a:srgbClr val="000000"/>
              </a:solidFill>
              <a:cs typeface="Arial"/>
            </a:endParaRPr>
          </a:p>
        </p:txBody>
      </p:sp>
    </p:spTree>
    <p:extLst>
      <p:ext uri="{BB962C8B-B14F-4D97-AF65-F5344CB8AC3E}">
        <p14:creationId xmlns:p14="http://schemas.microsoft.com/office/powerpoint/2010/main" val="15191296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A91B734-DAB6-D737-C432-D33DD1A5E806}"/>
              </a:ext>
            </a:extLst>
          </p:cNvPr>
          <p:cNvSpPr>
            <a:spLocks noGrp="1"/>
          </p:cNvSpPr>
          <p:nvPr>
            <p:ph idx="1"/>
          </p:nvPr>
        </p:nvSpPr>
        <p:spPr>
          <a:xfrm>
            <a:off x="350186" y="1917577"/>
            <a:ext cx="5764619" cy="5494778"/>
          </a:xfrm>
        </p:spPr>
        <p:txBody>
          <a:bodyPr vert="horz" lIns="91440" tIns="45720" rIns="91440" bIns="45720" rtlCol="0" anchor="t">
            <a:normAutofit fontScale="92500" lnSpcReduction="10000"/>
          </a:bodyPr>
          <a:lstStyle/>
          <a:p>
            <a:r>
              <a:rPr lang="en-US" sz="3350" dirty="0">
                <a:ea typeface="+mj-lt"/>
                <a:cs typeface="+mj-lt"/>
              </a:rPr>
              <a:t>Create a custom structural directive that repeats an element a specified number of times in the DOM.</a:t>
            </a:r>
          </a:p>
          <a:p>
            <a:r>
              <a:rPr lang="en-US" sz="3350" dirty="0">
                <a:cs typeface="Arial"/>
              </a:rPr>
              <a:t>Result:</a:t>
            </a:r>
          </a:p>
          <a:p>
            <a:pPr marL="548640" lvl="1" indent="0">
              <a:buNone/>
            </a:pPr>
            <a:r>
              <a:rPr lang="en-US" sz="2850" dirty="0">
                <a:ea typeface="+mj-lt"/>
                <a:cs typeface="+mj-lt"/>
              </a:rPr>
              <a:t>&lt;div&gt;This is repetition #1.&lt;/div&gt; &lt;div&gt;This is repetition #2.&lt;/div&gt; &lt;div&gt;This is repetition #3.&lt;/div&gt;</a:t>
            </a:r>
            <a:endParaRPr lang="en-US" sz="2850" dirty="0">
              <a:cs typeface="Arial"/>
            </a:endParaRPr>
          </a:p>
          <a:p>
            <a:endParaRPr lang="en-US" sz="3350" dirty="0">
              <a:cs typeface="Arial"/>
            </a:endParaRPr>
          </a:p>
        </p:txBody>
      </p:sp>
      <p:sp>
        <p:nvSpPr>
          <p:cNvPr id="3" name="Slide Number Placeholder 2">
            <a:extLst>
              <a:ext uri="{FF2B5EF4-FFF2-40B4-BE49-F238E27FC236}">
                <a16:creationId xmlns:a16="http://schemas.microsoft.com/office/drawing/2014/main" id="{6BE34C66-70D2-4D11-3BA1-1C3A04C36755}"/>
              </a:ext>
            </a:extLst>
          </p:cNvPr>
          <p:cNvSpPr>
            <a:spLocks noGrp="1"/>
          </p:cNvSpPr>
          <p:nvPr>
            <p:ph type="sldNum" sz="quarter" idx="4"/>
          </p:nvPr>
        </p:nvSpPr>
        <p:spPr/>
        <p:txBody>
          <a:bodyPr/>
          <a:lstStyle/>
          <a:p>
            <a:fld id="{31D26D55-0A22-487A-A687-61FB58A6F16A}" type="slidenum">
              <a:rPr lang="en-US" smtClean="0"/>
              <a:pPr/>
              <a:t>23</a:t>
            </a:fld>
            <a:endParaRPr lang="en-US" dirty="0"/>
          </a:p>
        </p:txBody>
      </p:sp>
      <p:sp>
        <p:nvSpPr>
          <p:cNvPr id="4" name="Title 3">
            <a:extLst>
              <a:ext uri="{FF2B5EF4-FFF2-40B4-BE49-F238E27FC236}">
                <a16:creationId xmlns:a16="http://schemas.microsoft.com/office/drawing/2014/main" id="{202AD0CB-3C2E-490E-D555-DE8CE9FA0C15}"/>
              </a:ext>
            </a:extLst>
          </p:cNvPr>
          <p:cNvSpPr>
            <a:spLocks noGrp="1"/>
          </p:cNvSpPr>
          <p:nvPr>
            <p:ph type="title"/>
          </p:nvPr>
        </p:nvSpPr>
        <p:spPr/>
        <p:txBody>
          <a:bodyPr/>
          <a:lstStyle/>
          <a:p>
            <a:r>
              <a:rPr lang="en-US" sz="2750" dirty="0">
                <a:ea typeface="+mj-lt"/>
                <a:cs typeface="+mj-lt"/>
              </a:rPr>
              <a:t>Custom Structural Directives Example</a:t>
            </a:r>
            <a:endParaRPr lang="en-US" dirty="0"/>
          </a:p>
        </p:txBody>
      </p:sp>
      <p:pic>
        <p:nvPicPr>
          <p:cNvPr id="5" name="Picture 4" descr="A screen shot of a computer code&#10;&#10;Description automatically generated">
            <a:extLst>
              <a:ext uri="{FF2B5EF4-FFF2-40B4-BE49-F238E27FC236}">
                <a16:creationId xmlns:a16="http://schemas.microsoft.com/office/drawing/2014/main" id="{ABC531B4-9546-B551-20CC-8B2E9A68FC9C}"/>
              </a:ext>
            </a:extLst>
          </p:cNvPr>
          <p:cNvPicPr>
            <a:picLocks noChangeAspect="1"/>
          </p:cNvPicPr>
          <p:nvPr/>
        </p:nvPicPr>
        <p:blipFill>
          <a:blip r:embed="rId3"/>
          <a:stretch>
            <a:fillRect/>
          </a:stretch>
        </p:blipFill>
        <p:spPr>
          <a:xfrm>
            <a:off x="6182803" y="792911"/>
            <a:ext cx="4197111" cy="2986178"/>
          </a:xfrm>
          <a:prstGeom prst="rect">
            <a:avLst/>
          </a:prstGeom>
        </p:spPr>
      </p:pic>
      <p:pic>
        <p:nvPicPr>
          <p:cNvPr id="6" name="Picture 5" descr="A screen shot of a computer program&#10;&#10;Description automatically generated">
            <a:extLst>
              <a:ext uri="{FF2B5EF4-FFF2-40B4-BE49-F238E27FC236}">
                <a16:creationId xmlns:a16="http://schemas.microsoft.com/office/drawing/2014/main" id="{9FB25863-AF9F-7A0F-95E0-943A8228B070}"/>
              </a:ext>
            </a:extLst>
          </p:cNvPr>
          <p:cNvPicPr>
            <a:picLocks noChangeAspect="1"/>
          </p:cNvPicPr>
          <p:nvPr/>
        </p:nvPicPr>
        <p:blipFill>
          <a:blip r:embed="rId4"/>
          <a:stretch>
            <a:fillRect/>
          </a:stretch>
        </p:blipFill>
        <p:spPr>
          <a:xfrm>
            <a:off x="10395010" y="2277463"/>
            <a:ext cx="4019550" cy="4295775"/>
          </a:xfrm>
          <a:prstGeom prst="rect">
            <a:avLst/>
          </a:prstGeom>
        </p:spPr>
      </p:pic>
      <p:pic>
        <p:nvPicPr>
          <p:cNvPr id="7" name="Picture 6" descr="A screen shot of a computer program&#10;&#10;Description automatically generated">
            <a:extLst>
              <a:ext uri="{FF2B5EF4-FFF2-40B4-BE49-F238E27FC236}">
                <a16:creationId xmlns:a16="http://schemas.microsoft.com/office/drawing/2014/main" id="{F3FDA498-8155-1DBD-D8B8-6F174C8D450C}"/>
              </a:ext>
            </a:extLst>
          </p:cNvPr>
          <p:cNvPicPr>
            <a:picLocks noChangeAspect="1"/>
          </p:cNvPicPr>
          <p:nvPr/>
        </p:nvPicPr>
        <p:blipFill>
          <a:blip r:embed="rId5"/>
          <a:stretch>
            <a:fillRect/>
          </a:stretch>
        </p:blipFill>
        <p:spPr>
          <a:xfrm>
            <a:off x="6307886" y="4222630"/>
            <a:ext cx="3981450" cy="3200400"/>
          </a:xfrm>
          <a:prstGeom prst="rect">
            <a:avLst/>
          </a:prstGeom>
        </p:spPr>
      </p:pic>
    </p:spTree>
    <p:extLst>
      <p:ext uri="{BB962C8B-B14F-4D97-AF65-F5344CB8AC3E}">
        <p14:creationId xmlns:p14="http://schemas.microsoft.com/office/powerpoint/2010/main" val="34998272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A980F5-AAE0-E44C-6C73-0A1649AC47FF}"/>
              </a:ext>
            </a:extLst>
          </p:cNvPr>
          <p:cNvSpPr>
            <a:spLocks noGrp="1"/>
          </p:cNvSpPr>
          <p:nvPr>
            <p:ph idx="1"/>
          </p:nvPr>
        </p:nvSpPr>
        <p:spPr/>
        <p:txBody>
          <a:bodyPr vert="horz" lIns="91440" tIns="45720" rIns="91440" bIns="45720" rtlCol="0" anchor="t">
            <a:normAutofit/>
          </a:bodyPr>
          <a:lstStyle/>
          <a:p>
            <a:r>
              <a:rPr lang="en-US" sz="3350" dirty="0">
                <a:ea typeface="+mj-lt"/>
                <a:cs typeface="+mj-lt"/>
              </a:rPr>
              <a:t>To-Do List Application</a:t>
            </a:r>
          </a:p>
          <a:p>
            <a:pPr lvl="1">
              <a:buFont typeface="Courier New" panose="020B0604020202020204" pitchFamily="34" charset="0"/>
              <a:buChar char="o"/>
            </a:pPr>
            <a:r>
              <a:rPr lang="en-US" sz="2850" dirty="0">
                <a:cs typeface="Arial"/>
              </a:rPr>
              <a:t>CRUD tasks</a:t>
            </a:r>
          </a:p>
          <a:p>
            <a:pPr lvl="1">
              <a:buFont typeface="Courier New" panose="020B0604020202020204" pitchFamily="34" charset="0"/>
              <a:buChar char="o"/>
            </a:pPr>
            <a:r>
              <a:rPr lang="en-US" sz="2850" dirty="0">
                <a:cs typeface="Arial"/>
              </a:rPr>
              <a:t>Change tasks status</a:t>
            </a:r>
          </a:p>
          <a:p>
            <a:pPr lvl="1">
              <a:buFont typeface="Courier New" panose="020B0604020202020204" pitchFamily="34" charset="0"/>
              <a:buChar char="o"/>
            </a:pPr>
            <a:r>
              <a:rPr lang="en-US" sz="2850" dirty="0">
                <a:cs typeface="Arial"/>
              </a:rPr>
              <a:t>Binding views with data</a:t>
            </a:r>
          </a:p>
          <a:p>
            <a:pPr lvl="1">
              <a:buFont typeface="Courier New" panose="020B0604020202020204" pitchFamily="34" charset="0"/>
              <a:buChar char="o"/>
            </a:pPr>
            <a:r>
              <a:rPr lang="en-US" sz="2850" dirty="0">
                <a:cs typeface="Arial"/>
              </a:rPr>
              <a:t>Directive for filter tasks</a:t>
            </a:r>
          </a:p>
        </p:txBody>
      </p:sp>
      <p:sp>
        <p:nvSpPr>
          <p:cNvPr id="3" name="Slide Number Placeholder 2">
            <a:extLst>
              <a:ext uri="{FF2B5EF4-FFF2-40B4-BE49-F238E27FC236}">
                <a16:creationId xmlns:a16="http://schemas.microsoft.com/office/drawing/2014/main" id="{B1644854-7DB3-DE38-F994-F990DD6DDFE7}"/>
              </a:ext>
            </a:extLst>
          </p:cNvPr>
          <p:cNvSpPr>
            <a:spLocks noGrp="1"/>
          </p:cNvSpPr>
          <p:nvPr>
            <p:ph type="sldNum" sz="quarter" idx="4"/>
          </p:nvPr>
        </p:nvSpPr>
        <p:spPr/>
        <p:txBody>
          <a:bodyPr/>
          <a:lstStyle/>
          <a:p>
            <a:fld id="{31D26D55-0A22-487A-A687-61FB58A6F16A}" type="slidenum">
              <a:rPr lang="en-US" smtClean="0"/>
              <a:pPr/>
              <a:t>24</a:t>
            </a:fld>
            <a:endParaRPr lang="en-US" dirty="0"/>
          </a:p>
        </p:txBody>
      </p:sp>
      <p:sp>
        <p:nvSpPr>
          <p:cNvPr id="4" name="Title 3">
            <a:extLst>
              <a:ext uri="{FF2B5EF4-FFF2-40B4-BE49-F238E27FC236}">
                <a16:creationId xmlns:a16="http://schemas.microsoft.com/office/drawing/2014/main" id="{E92E3733-0112-4B7B-8EB2-3709D3DF04E8}"/>
              </a:ext>
            </a:extLst>
          </p:cNvPr>
          <p:cNvSpPr>
            <a:spLocks noGrp="1"/>
          </p:cNvSpPr>
          <p:nvPr>
            <p:ph type="title"/>
          </p:nvPr>
        </p:nvSpPr>
        <p:spPr/>
        <p:txBody>
          <a:bodyPr/>
          <a:lstStyle/>
          <a:p>
            <a:r>
              <a:rPr lang="en-US" sz="2750" dirty="0">
                <a:cs typeface="Arial"/>
              </a:rPr>
              <a:t>Practice</a:t>
            </a:r>
            <a:endParaRPr lang="en-US" dirty="0"/>
          </a:p>
        </p:txBody>
      </p:sp>
    </p:spTree>
    <p:extLst>
      <p:ext uri="{BB962C8B-B14F-4D97-AF65-F5344CB8AC3E}">
        <p14:creationId xmlns:p14="http://schemas.microsoft.com/office/powerpoint/2010/main" val="7699242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521CC8-6AFB-40F2-BA4D-E59E797F1A05}"/>
              </a:ext>
            </a:extLst>
          </p:cNvPr>
          <p:cNvSpPr>
            <a:spLocks noGrp="1"/>
          </p:cNvSpPr>
          <p:nvPr>
            <p:ph type="body" sz="quarter" idx="10"/>
          </p:nvPr>
        </p:nvSpPr>
        <p:spPr/>
        <p:txBody>
          <a:bodyPr/>
          <a:lstStyle/>
          <a:p>
            <a:endParaRPr lang="en-US" dirty="0"/>
          </a:p>
        </p:txBody>
      </p:sp>
      <p:sp>
        <p:nvSpPr>
          <p:cNvPr id="3" name="Slide Number Placeholder 2">
            <a:extLst>
              <a:ext uri="{FF2B5EF4-FFF2-40B4-BE49-F238E27FC236}">
                <a16:creationId xmlns:a16="http://schemas.microsoft.com/office/drawing/2014/main" id="{ED53F442-82F2-4F8B-AAE4-41782D9CF6B7}"/>
              </a:ext>
            </a:extLst>
          </p:cNvPr>
          <p:cNvSpPr>
            <a:spLocks noGrp="1"/>
          </p:cNvSpPr>
          <p:nvPr>
            <p:ph type="sldNum" sz="quarter" idx="4"/>
          </p:nvPr>
        </p:nvSpPr>
        <p:spPr/>
        <p:txBody>
          <a:bodyPr/>
          <a:lstStyle/>
          <a:p>
            <a:fld id="{31D26D55-0A22-487A-A687-61FB58A6F16A}" type="slidenum">
              <a:rPr lang="en-US" smtClean="0"/>
              <a:pPr/>
              <a:t>25</a:t>
            </a:fld>
            <a:endParaRPr lang="en-US" dirty="0"/>
          </a:p>
        </p:txBody>
      </p:sp>
    </p:spTree>
    <p:extLst>
      <p:ext uri="{BB962C8B-B14F-4D97-AF65-F5344CB8AC3E}">
        <p14:creationId xmlns:p14="http://schemas.microsoft.com/office/powerpoint/2010/main" val="1711510086"/>
      </p:ext>
    </p:extLst>
  </p:cSld>
  <p:clrMapOvr>
    <a:masterClrMapping/>
  </p:clrMapOvr>
</p:sld>
</file>

<file path=ppt/theme/theme1.xml><?xml version="1.0" encoding="utf-8"?>
<a:theme xmlns:a="http://schemas.openxmlformats.org/drawingml/2006/main" name="Opening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A1FCA969-387E-4DB4-9551-88DE0367AE2C}"/>
    </a:ext>
  </a:extLst>
</a:theme>
</file>

<file path=ppt/theme/theme2.xml><?xml version="1.0" encoding="utf-8"?>
<a:theme xmlns:a="http://schemas.openxmlformats.org/drawingml/2006/main" name="Body slide">
  <a:themeElements>
    <a:clrScheme name="pptx template 1">
      <a:dk1>
        <a:srgbClr val="0070C0"/>
      </a:dk1>
      <a:lt1>
        <a:sysClr val="window" lastClr="FFFFFF"/>
      </a:lt1>
      <a:dk2>
        <a:srgbClr val="0070C0"/>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40093B85-BF9A-493F-85B6-14614628567D}"/>
    </a:ext>
  </a:extLst>
</a:theme>
</file>

<file path=ppt/theme/theme3.xml><?xml version="1.0" encoding="utf-8"?>
<a:theme xmlns:a="http://schemas.openxmlformats.org/drawingml/2006/main" name="Ending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271355E2-C430-4D72-871F-A29EDD8FE0B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e9c558a-331c-4b2a-9422-cc1872e64aa6">
      <Terms xmlns="http://schemas.microsoft.com/office/infopath/2007/PartnerControls"/>
    </lcf76f155ced4ddcb4097134ff3c332f>
    <TaxCatchAll xmlns="0daeb402-9d2e-4002-a65f-37a660ceb8f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307973FBAC0FD44AFF67A0CF8CAB7ED" ma:contentTypeVersion="15" ma:contentTypeDescription="Create a new document." ma:contentTypeScope="" ma:versionID="74905d119c205581eaedd23186ce405f">
  <xsd:schema xmlns:xsd="http://www.w3.org/2001/XMLSchema" xmlns:xs="http://www.w3.org/2001/XMLSchema" xmlns:p="http://schemas.microsoft.com/office/2006/metadata/properties" xmlns:ns2="6e9c558a-331c-4b2a-9422-cc1872e64aa6" xmlns:ns3="0daeb402-9d2e-4002-a65f-37a660ceb8fd" targetNamespace="http://schemas.microsoft.com/office/2006/metadata/properties" ma:root="true" ma:fieldsID="708587739f1abd74a42e448662f10547" ns2:_="" ns3:_="">
    <xsd:import namespace="6e9c558a-331c-4b2a-9422-cc1872e64aa6"/>
    <xsd:import namespace="0daeb402-9d2e-4002-a65f-37a660ceb8f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9c558a-331c-4b2a-9422-cc1872e64a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8aa48d64-e0f2-481a-8596-878e2f0ebd5d"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daeb402-9d2e-4002-a65f-37a660ceb8f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dc41332e-9ceb-47bb-9b4b-dcfc7eb8757e}" ma:internalName="TaxCatchAll" ma:showField="CatchAllData" ma:web="0daeb402-9d2e-4002-a65f-37a660ceb8f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DDA90FF-0A4A-4B10-8551-C78BB6377D48}">
  <ds:schemaRefs>
    <ds:schemaRef ds:uri="http://schemas.openxmlformats.org/package/2006/metadata/core-properties"/>
    <ds:schemaRef ds:uri="http://purl.org/dc/dcmitype/"/>
    <ds:schemaRef ds:uri="http://purl.org/dc/elements/1.1/"/>
    <ds:schemaRef ds:uri="0daeb402-9d2e-4002-a65f-37a660ceb8fd"/>
    <ds:schemaRef ds:uri="http://purl.org/dc/terms/"/>
    <ds:schemaRef ds:uri="http://schemas.microsoft.com/office/infopath/2007/PartnerControls"/>
    <ds:schemaRef ds:uri="http://schemas.microsoft.com/office/2006/documentManagement/types"/>
    <ds:schemaRef ds:uri="6e9c558a-331c-4b2a-9422-cc1872e64aa6"/>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756A60B7-C6CB-4106-8D4F-3F3C7B7285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9c558a-331c-4b2a-9422-cc1872e64aa6"/>
    <ds:schemaRef ds:uri="0daeb402-9d2e-4002-a65f-37a660ceb8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AB60971-2D89-4BE4-83C2-9918DDAC6F6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cmc-uni-slide-template</Template>
  <TotalTime>22363</TotalTime>
  <Words>2207</Words>
  <Application>Microsoft Office PowerPoint</Application>
  <PresentationFormat>Custom</PresentationFormat>
  <Paragraphs>256</Paragraphs>
  <Slides>25</Slides>
  <Notes>20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25</vt:i4>
      </vt:variant>
    </vt:vector>
  </HeadingPairs>
  <TitlesOfParts>
    <vt:vector size="34" baseType="lpstr">
      <vt:lpstr>Calibri</vt:lpstr>
      <vt:lpstr>Courier New</vt:lpstr>
      <vt:lpstr>Consolas</vt:lpstr>
      <vt:lpstr>Courier New,monospace</vt:lpstr>
      <vt:lpstr>Arial</vt:lpstr>
      <vt:lpstr>Times New Roman</vt:lpstr>
      <vt:lpstr>Opening slide</vt:lpstr>
      <vt:lpstr>Body slide</vt:lpstr>
      <vt:lpstr>Ending slide</vt:lpstr>
      <vt:lpstr>PowerPoint Presentation</vt:lpstr>
      <vt:lpstr>Angular</vt:lpstr>
      <vt:lpstr>Key Features of Angular (1)</vt:lpstr>
      <vt:lpstr>Key Features of Angular (2)</vt:lpstr>
      <vt:lpstr>Angular Basic Concept: Components</vt:lpstr>
      <vt:lpstr>Angular Basic Concept: Modules</vt:lpstr>
      <vt:lpstr>Angular Basic Concept: Directives</vt:lpstr>
      <vt:lpstr>Angular Basic Concept: Services</vt:lpstr>
      <vt:lpstr>Angular Install</vt:lpstr>
      <vt:lpstr>Project Structure</vt:lpstr>
      <vt:lpstr>Angular Data Binding</vt:lpstr>
      <vt:lpstr>Interpolation</vt:lpstr>
      <vt:lpstr>Property Binding</vt:lpstr>
      <vt:lpstr>Event Binding</vt:lpstr>
      <vt:lpstr>Two-Way Binding</vt:lpstr>
      <vt:lpstr>Two-Way Binding​ Example</vt:lpstr>
      <vt:lpstr>Data Binding Summary</vt:lpstr>
      <vt:lpstr>Angular Structure Directive</vt:lpstr>
      <vt:lpstr>*ngIf Directive</vt:lpstr>
      <vt:lpstr>*ngFor Directive</vt:lpstr>
      <vt:lpstr>*ngSwitch Directive</vt:lpstr>
      <vt:lpstr>Custom Structural Directives</vt:lpstr>
      <vt:lpstr>Custom Structural Directives Example</vt:lpstr>
      <vt:lpstr>Practice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Hung. Nguyen Viet - CMC ATI</cp:lastModifiedBy>
  <cp:revision>864</cp:revision>
  <dcterms:created xsi:type="dcterms:W3CDTF">2024-12-09T10:47:32Z</dcterms:created>
  <dcterms:modified xsi:type="dcterms:W3CDTF">2026-02-25T02:39:29Z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0x010100B307973FBAC0FD44AFF67A0CF8CAB7ED</vt:lpwstr>
  </property>
</Properties>
</file>